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notesSlides/notesSlide10.xml" ContentType="application/vnd.openxmlformats-officedocument.presentationml.notesSlide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tags/tag4.xml" ContentType="application/vnd.openxmlformats-officedocument.presentationml.tags+xml"/>
  <Override PartName="/ppt/notesSlides/notesSlide12.xml" ContentType="application/vnd.openxmlformats-officedocument.presentationml.notesSlide+xml"/>
  <Override PartName="/ppt/tags/tag5.xml" ContentType="application/vnd.openxmlformats-officedocument.presentationml.tags+xml"/>
  <Override PartName="/ppt/notesSlides/notesSlide13.xml" ContentType="application/vnd.openxmlformats-officedocument.presentationml.notesSlide+xml"/>
  <Override PartName="/ppt/tags/tag6.xml" ContentType="application/vnd.openxmlformats-officedocument.presentationml.tags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tags/tag8.xml" ContentType="application/vnd.openxmlformats-officedocument.presentationml.tags+xml"/>
  <Override PartName="/ppt/notesSlides/notesSlide16.xml" ContentType="application/vnd.openxmlformats-officedocument.presentationml.notesSlide+xml"/>
  <Override PartName="/ppt/tags/tag9.xml" ContentType="application/vnd.openxmlformats-officedocument.presentationml.tags+xml"/>
  <Override PartName="/ppt/notesSlides/notesSlide17.xml" ContentType="application/vnd.openxmlformats-officedocument.presentationml.notesSlide+xml"/>
  <Override PartName="/ppt/tags/tag10.xml" ContentType="application/vnd.openxmlformats-officedocument.presentationml.tags+xml"/>
  <Override PartName="/ppt/notesSlides/notesSlide18.xml" ContentType="application/vnd.openxmlformats-officedocument.presentationml.notesSlide+xml"/>
  <Override PartName="/ppt/tags/tag11.xml" ContentType="application/vnd.openxmlformats-officedocument.presentationml.tags+xml"/>
  <Override PartName="/ppt/notesSlides/notesSlide19.xml" ContentType="application/vnd.openxmlformats-officedocument.presentationml.notesSlide+xml"/>
  <Override PartName="/ppt/tags/tag12.xml" ContentType="application/vnd.openxmlformats-officedocument.presentationml.tags+xml"/>
  <Override PartName="/ppt/notesSlides/notesSlide20.xml" ContentType="application/vnd.openxmlformats-officedocument.presentationml.notesSlide+xml"/>
  <Override PartName="/ppt/tags/tag13.xml" ContentType="application/vnd.openxmlformats-officedocument.presentationml.tags+xml"/>
  <Override PartName="/ppt/notesSlides/notesSlide21.xml" ContentType="application/vnd.openxmlformats-officedocument.presentationml.notesSlide+xml"/>
  <Override PartName="/ppt/tags/tag14.xml" ContentType="application/vnd.openxmlformats-officedocument.presentationml.tags+xml"/>
  <Override PartName="/ppt/notesSlides/notesSlide22.xml" ContentType="application/vnd.openxmlformats-officedocument.presentationml.notesSlide+xml"/>
  <Override PartName="/ppt/tags/tag15.xml" ContentType="application/vnd.openxmlformats-officedocument.presentationml.tags+xml"/>
  <Override PartName="/ppt/notesSlides/notesSlide23.xml" ContentType="application/vnd.openxmlformats-officedocument.presentationml.notesSlide+xml"/>
  <Override PartName="/ppt/tags/tag16.xml" ContentType="application/vnd.openxmlformats-officedocument.presentationml.tags+xml"/>
  <Override PartName="/ppt/notesSlides/notesSlide24.xml" ContentType="application/vnd.openxmlformats-officedocument.presentationml.notesSlide+xml"/>
  <Override PartName="/ppt/tags/tag17.xml" ContentType="application/vnd.openxmlformats-officedocument.presentationml.tags+xml"/>
  <Override PartName="/ppt/notesSlides/notesSlide25.xml" ContentType="application/vnd.openxmlformats-officedocument.presentationml.notesSlide+xml"/>
  <Override PartName="/ppt/tags/tag18.xml" ContentType="application/vnd.openxmlformats-officedocument.presentationml.tags+xml"/>
  <Override PartName="/ppt/notesSlides/notesSlide26.xml" ContentType="application/vnd.openxmlformats-officedocument.presentationml.notesSlide+xml"/>
  <Override PartName="/ppt/tags/tag19.xml" ContentType="application/vnd.openxmlformats-officedocument.presentationml.tags+xml"/>
  <Override PartName="/ppt/notesSlides/notesSlide27.xml" ContentType="application/vnd.openxmlformats-officedocument.presentationml.notesSlide+xml"/>
  <Override PartName="/ppt/tags/tag20.xml" ContentType="application/vnd.openxmlformats-officedocument.presentationml.tags+xml"/>
  <Override PartName="/ppt/notesSlides/notesSlide28.xml" ContentType="application/vnd.openxmlformats-officedocument.presentationml.notesSlide+xml"/>
  <Override PartName="/ppt/tags/tag21.xml" ContentType="application/vnd.openxmlformats-officedocument.presentationml.tags+xml"/>
  <Override PartName="/ppt/notesSlides/notesSlide29.xml" ContentType="application/vnd.openxmlformats-officedocument.presentationml.notesSlide+xml"/>
  <Override PartName="/ppt/tags/tag22.xml" ContentType="application/vnd.openxmlformats-officedocument.presentationml.tags+xml"/>
  <Override PartName="/ppt/notesSlides/notesSlide30.xml" ContentType="application/vnd.openxmlformats-officedocument.presentationml.notesSlide+xml"/>
  <Override PartName="/ppt/tags/tag23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24.xml" ContentType="application/vnd.openxmlformats-officedocument.presentationml.tags+xml"/>
  <Override PartName="/ppt/notesSlides/notesSlide33.xml" ContentType="application/vnd.openxmlformats-officedocument.presentationml.notesSlide+xml"/>
  <Override PartName="/ppt/tags/tag25.xml" ContentType="application/vnd.openxmlformats-officedocument.presentationml.tags+xml"/>
  <Override PartName="/ppt/notesSlides/notesSlide34.xml" ContentType="application/vnd.openxmlformats-officedocument.presentationml.notesSlide+xml"/>
  <Override PartName="/ppt/tags/tag26.xml" ContentType="application/vnd.openxmlformats-officedocument.presentationml.tags+xml"/>
  <Override PartName="/ppt/notesSlides/notesSlide35.xml" ContentType="application/vnd.openxmlformats-officedocument.presentationml.notesSlide+xml"/>
  <Override PartName="/ppt/tags/tag27.xml" ContentType="application/vnd.openxmlformats-officedocument.presentationml.tags+xml"/>
  <Override PartName="/ppt/notesSlides/notesSlide36.xml" ContentType="application/vnd.openxmlformats-officedocument.presentationml.notesSlide+xml"/>
  <Override PartName="/ppt/tags/tag28.xml" ContentType="application/vnd.openxmlformats-officedocument.presentationml.tags+xml"/>
  <Override PartName="/ppt/notesSlides/notesSlide37.xml" ContentType="application/vnd.openxmlformats-officedocument.presentationml.notesSlide+xml"/>
  <Override PartName="/ppt/tags/tag29.xml" ContentType="application/vnd.openxmlformats-officedocument.presentationml.tags+xml"/>
  <Override PartName="/ppt/notesSlides/notesSlide38.xml" ContentType="application/vnd.openxmlformats-officedocument.presentationml.notesSlide+xml"/>
  <Override PartName="/ppt/tags/tag30.xml" ContentType="application/vnd.openxmlformats-officedocument.presentationml.tags+xml"/>
  <Override PartName="/ppt/notesSlides/notesSlide39.xml" ContentType="application/vnd.openxmlformats-officedocument.presentationml.notesSlide+xml"/>
  <Override PartName="/ppt/tags/tag31.xml" ContentType="application/vnd.openxmlformats-officedocument.presentationml.tags+xml"/>
  <Override PartName="/ppt/notesSlides/notesSlide40.xml" ContentType="application/vnd.openxmlformats-officedocument.presentationml.notesSlide+xml"/>
  <Override PartName="/ppt/tags/tag32.xml" ContentType="application/vnd.openxmlformats-officedocument.presentationml.tags+xml"/>
  <Override PartName="/ppt/notesSlides/notesSlide41.xml" ContentType="application/vnd.openxmlformats-officedocument.presentationml.notesSlide+xml"/>
  <Override PartName="/ppt/tags/tag33.xml" ContentType="application/vnd.openxmlformats-officedocument.presentationml.tags+xml"/>
  <Override PartName="/ppt/notesSlides/notesSlide42.xml" ContentType="application/vnd.openxmlformats-officedocument.presentationml.notesSlide+xml"/>
  <Override PartName="/ppt/tags/tag34.xml" ContentType="application/vnd.openxmlformats-officedocument.presentationml.tags+xml"/>
  <Override PartName="/ppt/notesSlides/notesSlide43.xml" ContentType="application/vnd.openxmlformats-officedocument.presentationml.notesSlide+xml"/>
  <Override PartName="/ppt/tags/tag35.xml" ContentType="application/vnd.openxmlformats-officedocument.presentationml.tags+xml"/>
  <Override PartName="/ppt/notesSlides/notesSlide44.xml" ContentType="application/vnd.openxmlformats-officedocument.presentationml.notesSlide+xml"/>
  <Override PartName="/ppt/tags/tag36.xml" ContentType="application/vnd.openxmlformats-officedocument.presentationml.tags+xml"/>
  <Override PartName="/ppt/notesSlides/notesSlide45.xml" ContentType="application/vnd.openxmlformats-officedocument.presentationml.notesSlide+xml"/>
  <Override PartName="/ppt/tags/tag37.xml" ContentType="application/vnd.openxmlformats-officedocument.presentationml.tag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320" r:id="rId2"/>
    <p:sldId id="1207" r:id="rId3"/>
    <p:sldId id="1208" r:id="rId4"/>
    <p:sldId id="1209" r:id="rId5"/>
    <p:sldId id="258" r:id="rId6"/>
    <p:sldId id="260" r:id="rId7"/>
    <p:sldId id="346" r:id="rId8"/>
    <p:sldId id="1210" r:id="rId9"/>
    <p:sldId id="712" r:id="rId10"/>
    <p:sldId id="929" r:id="rId11"/>
    <p:sldId id="708" r:id="rId12"/>
    <p:sldId id="922" r:id="rId13"/>
    <p:sldId id="617" r:id="rId14"/>
    <p:sldId id="869" r:id="rId15"/>
    <p:sldId id="870" r:id="rId16"/>
    <p:sldId id="940" r:id="rId17"/>
    <p:sldId id="727" r:id="rId18"/>
    <p:sldId id="871" r:id="rId19"/>
    <p:sldId id="919" r:id="rId20"/>
    <p:sldId id="881" r:id="rId21"/>
    <p:sldId id="904" r:id="rId22"/>
    <p:sldId id="884" r:id="rId23"/>
    <p:sldId id="907" r:id="rId24"/>
    <p:sldId id="908" r:id="rId25"/>
    <p:sldId id="910" r:id="rId26"/>
    <p:sldId id="911" r:id="rId27"/>
    <p:sldId id="912" r:id="rId28"/>
    <p:sldId id="914" r:id="rId29"/>
    <p:sldId id="916" r:id="rId30"/>
    <p:sldId id="915" r:id="rId31"/>
    <p:sldId id="903" r:id="rId32"/>
    <p:sldId id="1211" r:id="rId33"/>
    <p:sldId id="393" r:id="rId34"/>
    <p:sldId id="395" r:id="rId35"/>
    <p:sldId id="398" r:id="rId36"/>
    <p:sldId id="399" r:id="rId37"/>
    <p:sldId id="378" r:id="rId38"/>
    <p:sldId id="379" r:id="rId39"/>
    <p:sldId id="381" r:id="rId40"/>
    <p:sldId id="382" r:id="rId41"/>
    <p:sldId id="383" r:id="rId42"/>
    <p:sldId id="384" r:id="rId43"/>
    <p:sldId id="403" r:id="rId44"/>
    <p:sldId id="405" r:id="rId45"/>
    <p:sldId id="401" r:id="rId46"/>
    <p:sldId id="407" r:id="rId47"/>
    <p:sldId id="347" r:id="rId48"/>
    <p:sldId id="1206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68"/>
    <p:restoredTop sz="82041" autoAdjust="0"/>
  </p:normalViewPr>
  <p:slideViewPr>
    <p:cSldViewPr snapToGrid="0" snapToObjects="1">
      <p:cViewPr varScale="1">
        <p:scale>
          <a:sx n="104" d="100"/>
          <a:sy n="104" d="100"/>
        </p:scale>
        <p:origin x="2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BFF4-16CE-FF42-8F98-AF276FA50BA1}" type="datetimeFigureOut">
              <a:rPr lang="en-US" smtClean="0"/>
              <a:t>3/28/22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3E036-A4CB-E845-BE6C-EA1CA9E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4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2054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6520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0558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9319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9305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1980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4570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6484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1925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8312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31380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2847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2613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30908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6814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8481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3909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26374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6075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51635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27903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80362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80230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20784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22274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41854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04418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27778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37764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5402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6167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8835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32875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53418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9280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1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4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5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3/28/22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3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3/28/22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3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3/28/22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3/28/22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7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3/28/22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6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3/28/22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7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6A743-70A3-BB43-8075-433ED5A57AC5}" type="datetimeFigureOut">
              <a:rPr lang="en-US" smtClean="0"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2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.emf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2.emf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jp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tags" Target="../tags/tag3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1.sv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0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45.tiff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notesSlide" Target="../notesSlides/notesSlide17.xml"/><Relationship Id="rId7" Type="http://schemas.openxmlformats.org/officeDocument/2006/relationships/hyperlink" Target="https://amturing.acm.org/award_winners/codd_1000892.cfm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hyperlink" Target="https://www.youtube.com/watch?v=iDVsNqFEkB0" TargetMode="External"/><Relationship Id="rId5" Type="http://schemas.openxmlformats.org/officeDocument/2006/relationships/hyperlink" Target="https://amturing.acm.org/award_winners/bachman_9385610.cfm" TargetMode="External"/><Relationship Id="rId4" Type="http://schemas.openxmlformats.org/officeDocument/2006/relationships/hyperlink" Target="https://dl.acm.org/doi/abs/10.1145/1147376.1147382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2.emf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4" Type="http://schemas.openxmlformats.org/officeDocument/2006/relationships/image" Target="../media/image2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Relationship Id="rId4" Type="http://schemas.openxmlformats.org/officeDocument/2006/relationships/image" Target="../media/image47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943" y="406878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713303"/>
            <a:ext cx="9144001" cy="169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CS 348: Lecture 20</a:t>
            </a:r>
          </a:p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Acknowledgements &amp; Beyond CS 348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277" y="2551191"/>
            <a:ext cx="7716204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Semih </a:t>
            </a:r>
            <a:r>
              <a:rPr lang="en-US" sz="30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Salihoğlu</a:t>
            </a:r>
            <a:endParaRPr lang="en-US" sz="30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March 29,</a:t>
            </a:r>
            <a:r>
              <a:rPr lang="en-US" sz="3000" kern="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CA9E7-4B07-304C-A86C-AE26580E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79" y="4395915"/>
            <a:ext cx="6800643" cy="92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Announcements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F7A96B-031C-8D48-8710-7302C726A66B}"/>
              </a:ext>
            </a:extLst>
          </p:cNvPr>
          <p:cNvSpPr txBox="1"/>
          <p:nvPr/>
        </p:nvSpPr>
        <p:spPr>
          <a:xfrm>
            <a:off x="83452" y="773927"/>
            <a:ext cx="9060548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A5 due on April 1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midnight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A6 will be released on April 4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midnight (you have 24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Cumulative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Expect Relational Algebra Question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Expect SQL Question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Expect a Processing or Optimization Question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Expect a Transaction Question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But other topics will be covered too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Length will be fair</a:t>
            </a:r>
          </a:p>
        </p:txBody>
      </p:sp>
    </p:spTree>
    <p:extLst>
      <p:ext uri="{BB962C8B-B14F-4D97-AF65-F5344CB8AC3E}">
        <p14:creationId xmlns:p14="http://schemas.microsoft.com/office/powerpoint/2010/main" val="391116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Outline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F7A96B-031C-8D48-8710-7302C726A66B}"/>
              </a:ext>
            </a:extLst>
          </p:cNvPr>
          <p:cNvSpPr txBox="1"/>
          <p:nvPr/>
        </p:nvSpPr>
        <p:spPr>
          <a:xfrm>
            <a:off x="83452" y="773927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Courses/Topics Beyond 348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GraphflowDB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Graph Database Management Systems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MapReduce</a:t>
            </a:r>
          </a:p>
        </p:txBody>
      </p:sp>
    </p:spTree>
    <p:extLst>
      <p:ext uri="{BB962C8B-B14F-4D97-AF65-F5344CB8AC3E}">
        <p14:creationId xmlns:p14="http://schemas.microsoft.com/office/powerpoint/2010/main" val="3474656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Outline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F7A96B-031C-8D48-8710-7302C726A66B}"/>
              </a:ext>
            </a:extLst>
          </p:cNvPr>
          <p:cNvSpPr txBox="1"/>
          <p:nvPr/>
        </p:nvSpPr>
        <p:spPr>
          <a:xfrm>
            <a:off x="83452" y="773927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Courses/Topics Beyond 348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GraphflowDB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Graph Database Management Systems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MapReduce</a:t>
            </a:r>
          </a:p>
        </p:txBody>
      </p:sp>
    </p:spTree>
    <p:extLst>
      <p:ext uri="{BB962C8B-B14F-4D97-AF65-F5344CB8AC3E}">
        <p14:creationId xmlns:p14="http://schemas.microsoft.com/office/powerpoint/2010/main" val="3883371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716691" y="1137154"/>
            <a:ext cx="8007179" cy="2877155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16691" y="4087284"/>
            <a:ext cx="3990463" cy="177736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491339" y="1210129"/>
            <a:ext cx="553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User/Administrator Perspective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657" y="4122965"/>
            <a:ext cx="3547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DBMS Architect/Implementer Perspective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29" y="1579461"/>
            <a:ext cx="37743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726"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Primary Database Management System Features</a:t>
            </a:r>
            <a:endParaRPr lang="en-US" dirty="0"/>
          </a:p>
          <a:p>
            <a:pPr marL="285750" indent="-192024">
              <a:buFont typeface="Arial"/>
              <a:buChar char="•"/>
            </a:pPr>
            <a:r>
              <a:rPr lang="en-US" dirty="0"/>
              <a:t>Data Model: Relational Model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High Level Query Language: Relational Algebra &amp; SQL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Integrity Constraints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Indexes/Views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180" y="4638050"/>
            <a:ext cx="3916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92024">
              <a:buFont typeface="Arial"/>
              <a:buChar char="•"/>
            </a:pPr>
            <a:r>
              <a:rPr lang="en-US" dirty="0"/>
              <a:t>Physical Record Design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Query Planning and Optimization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Indexes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1157" y="4079018"/>
            <a:ext cx="3725004" cy="1474095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940417" y="4101391"/>
            <a:ext cx="314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Other (Last 1/2 Lectures)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9077" y="4414571"/>
            <a:ext cx="36741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92024">
              <a:buFont typeface="Arial"/>
              <a:buChar char="•"/>
            </a:pPr>
            <a:r>
              <a:rPr lang="en-US" dirty="0"/>
              <a:t>Graph DBMSs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MapReduce: Distributed Data Processing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CS 348 Diagram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06C098F-ABA0-EE4A-9035-553F708C2449}"/>
              </a:ext>
            </a:extLst>
          </p:cNvPr>
          <p:cNvSpPr txBox="1"/>
          <p:nvPr/>
        </p:nvSpPr>
        <p:spPr>
          <a:xfrm>
            <a:off x="4618323" y="1592745"/>
            <a:ext cx="3774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726"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Relational Database Design</a:t>
            </a:r>
            <a:endParaRPr lang="en-US" dirty="0"/>
          </a:p>
          <a:p>
            <a:pPr marL="285750" indent="-192024">
              <a:buFont typeface="Arial"/>
              <a:buChar char="•"/>
            </a:pPr>
            <a:r>
              <a:rPr lang="en-US" dirty="0"/>
              <a:t>E/R Models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Normal Forms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57804-943E-4144-8C4C-1CEA51607891}"/>
              </a:ext>
            </a:extLst>
          </p:cNvPr>
          <p:cNvSpPr txBox="1"/>
          <p:nvPr/>
        </p:nvSpPr>
        <p:spPr>
          <a:xfrm>
            <a:off x="4261751" y="2928263"/>
            <a:ext cx="4418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726"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How To Program A DBMS (0.5-1 lecture)</a:t>
            </a:r>
            <a:endParaRPr lang="en-US" dirty="0"/>
          </a:p>
          <a:p>
            <a:pPr marL="285750" indent="-192024">
              <a:buFont typeface="Arial"/>
              <a:buChar char="•"/>
            </a:pPr>
            <a:r>
              <a:rPr lang="en-US" dirty="0"/>
              <a:t>Embedded vs Dynamic SQL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Frameworks</a:t>
            </a:r>
          </a:p>
        </p:txBody>
      </p:sp>
    </p:spTree>
    <p:extLst>
      <p:ext uri="{BB962C8B-B14F-4D97-AF65-F5344CB8AC3E}">
        <p14:creationId xmlns:p14="http://schemas.microsoft.com/office/powerpoint/2010/main" val="163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Before/After CS 348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590639" y="1230229"/>
            <a:ext cx="1729730" cy="5317735"/>
            <a:chOff x="736076" y="1230229"/>
            <a:chExt cx="2121734" cy="5317735"/>
          </a:xfrm>
        </p:grpSpPr>
        <p:sp>
          <p:nvSpPr>
            <p:cNvPr id="2" name="Oval 1"/>
            <p:cNvSpPr/>
            <p:nvPr/>
          </p:nvSpPr>
          <p:spPr>
            <a:xfrm>
              <a:off x="1313386" y="1230229"/>
              <a:ext cx="1298448" cy="129844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392771" y="4940737"/>
              <a:ext cx="423131" cy="1607227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073898" y="4940737"/>
              <a:ext cx="423131" cy="1607227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051833" y="2548519"/>
              <a:ext cx="1805977" cy="289697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ounded Rectangle 35"/>
            <p:cNvSpPr/>
            <p:nvPr/>
          </p:nvSpPr>
          <p:spPr>
            <a:xfrm rot="2459486">
              <a:off x="736076" y="2433707"/>
              <a:ext cx="523391" cy="185113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428413" y="2344958"/>
            <a:ext cx="1888498" cy="4074573"/>
            <a:chOff x="541324" y="2473391"/>
            <a:chExt cx="2316486" cy="4074573"/>
          </a:xfrm>
        </p:grpSpPr>
        <p:sp>
          <p:nvSpPr>
            <p:cNvPr id="48" name="Rounded Rectangle 47"/>
            <p:cNvSpPr/>
            <p:nvPr/>
          </p:nvSpPr>
          <p:spPr>
            <a:xfrm>
              <a:off x="1392771" y="4940737"/>
              <a:ext cx="423131" cy="1607227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2073898" y="4940737"/>
              <a:ext cx="423131" cy="1607227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051833" y="2548519"/>
              <a:ext cx="1805977" cy="289697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ounded Rectangle 50"/>
            <p:cNvSpPr/>
            <p:nvPr/>
          </p:nvSpPr>
          <p:spPr>
            <a:xfrm rot="2459486">
              <a:off x="541324" y="2473391"/>
              <a:ext cx="523392" cy="185113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Smiley Face 56"/>
          <p:cNvSpPr/>
          <p:nvPr/>
        </p:nvSpPr>
        <p:spPr>
          <a:xfrm>
            <a:off x="7035130" y="1145837"/>
            <a:ext cx="1058551" cy="1373186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 rot="18730182">
            <a:off x="2292202" y="2385807"/>
            <a:ext cx="456872" cy="185113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/>
          <p:cNvSpPr/>
          <p:nvPr/>
        </p:nvSpPr>
        <p:spPr>
          <a:xfrm rot="18730182">
            <a:off x="8289472" y="2384124"/>
            <a:ext cx="456872" cy="185113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630898" y="3501266"/>
            <a:ext cx="1508289" cy="0"/>
          </a:xfrm>
          <a:prstGeom prst="straightConnector1">
            <a:avLst/>
          </a:prstGeom>
          <a:ln w="127000" cmpd="tri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2596159" y="3960179"/>
            <a:ext cx="4522080" cy="2484679"/>
            <a:chOff x="2786297" y="3909709"/>
            <a:chExt cx="4522080" cy="2484679"/>
          </a:xfrm>
        </p:grpSpPr>
        <p:sp>
          <p:nvSpPr>
            <p:cNvPr id="64" name="Cube 63"/>
            <p:cNvSpPr/>
            <p:nvPr/>
          </p:nvSpPr>
          <p:spPr>
            <a:xfrm>
              <a:off x="2788454" y="3909709"/>
              <a:ext cx="4519923" cy="2484679"/>
            </a:xfrm>
            <a:prstGeom prst="cube">
              <a:avLst/>
            </a:prstGeom>
            <a:solidFill>
              <a:srgbClr val="C4BD9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Block Arc 64"/>
            <p:cNvSpPr/>
            <p:nvPr/>
          </p:nvSpPr>
          <p:spPr>
            <a:xfrm>
              <a:off x="4595026" y="3957895"/>
              <a:ext cx="734299" cy="626223"/>
            </a:xfrm>
            <a:prstGeom prst="blockArc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786297" y="4645038"/>
              <a:ext cx="396808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itchFamily="2" charset="2"/>
                <a:buChar char="Ø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Relational Model, SQL</a:t>
              </a:r>
            </a:p>
            <a:p>
              <a:pPr marL="342900" indent="-342900">
                <a:buFont typeface="Wingdings" pitchFamily="2" charset="2"/>
                <a:buChar char="Ø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DB Design &amp; Tuning</a:t>
              </a:r>
            </a:p>
            <a:p>
              <a:pPr marL="342900" indent="-342900">
                <a:buFont typeface="Wingdings" pitchFamily="2" charset="2"/>
                <a:buChar char="Ø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Transactions</a:t>
              </a:r>
            </a:p>
            <a:p>
              <a:pPr marL="342900" indent="-342900">
                <a:buFont typeface="Wingdings" pitchFamily="2" charset="2"/>
                <a:buChar char="Ø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DB Internal Architecture</a:t>
              </a:r>
            </a:p>
          </p:txBody>
        </p:sp>
      </p:grpSp>
      <p:sp>
        <p:nvSpPr>
          <p:cNvPr id="28" name="Rounded Rectangular Callout 27">
            <a:extLst>
              <a:ext uri="{FF2B5EF4-FFF2-40B4-BE49-F238E27FC236}">
                <a16:creationId xmlns:a16="http://schemas.microsoft.com/office/drawing/2014/main" id="{F07003A8-BA59-104B-A72A-902EE148830C}"/>
              </a:ext>
            </a:extLst>
          </p:cNvPr>
          <p:cNvSpPr/>
          <p:nvPr/>
        </p:nvSpPr>
        <p:spPr>
          <a:xfrm>
            <a:off x="2346522" y="895275"/>
            <a:ext cx="4217719" cy="2295126"/>
          </a:xfrm>
          <a:prstGeom prst="wedgeRoundRectCallout">
            <a:avLst>
              <a:gd name="adj1" fmla="val 61829"/>
              <a:gd name="adj2" fmla="val -5894"/>
              <a:gd name="adj3" fmla="val 16667"/>
            </a:avLst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SAP, Oracle, Microsoft, IBM,  Snowflake, Databricks, Neo4j, </a:t>
            </a: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CockroachDB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GraphflowDB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vs NoSQL?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RDBMs vs GDBMs vs Key-Value or Document Store?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144224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61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24" y="-30397"/>
            <a:ext cx="9135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Beyond CS 348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8925" y="69876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942D2A7-3554-A14F-B69A-0179165E0CCA}"/>
              </a:ext>
            </a:extLst>
          </p:cNvPr>
          <p:cNvSpPr/>
          <p:nvPr/>
        </p:nvSpPr>
        <p:spPr>
          <a:xfrm>
            <a:off x="-16079" y="822673"/>
            <a:ext cx="9144000" cy="6163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CA" sz="2200" dirty="0">
                <a:latin typeface="Arial" panose="020B0604020202020204" pitchFamily="34" charset="0"/>
                <a:cs typeface="Arial" panose="020B0604020202020204" pitchFamily="34" charset="0"/>
              </a:rPr>
              <a:t>CS 448: Database Systems Implementation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CA" sz="2200" dirty="0">
                <a:latin typeface="Arial" panose="020B0604020202020204" pitchFamily="34" charset="0"/>
                <a:cs typeface="Arial" panose="020B0604020202020204" pitchFamily="34" charset="0"/>
              </a:rPr>
              <a:t>Design and implementation of core DBMS components:</a:t>
            </a: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 layout, disk-based data structures, indexing, query processing algorithms, query optimization, transactional concurrency control, logging and recovery. </a:t>
            </a:r>
            <a:endParaRPr lang="en-CA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CA" sz="2200" dirty="0">
                <a:latin typeface="Arial" panose="020B0604020202020204" pitchFamily="34" charset="0"/>
                <a:cs typeface="Arial" panose="020B0604020202020204" pitchFamily="34" charset="0"/>
              </a:rPr>
              <a:t>CS 451: Data-Intensive Distributed Computing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CA" sz="2200" dirty="0">
                <a:latin typeface="Arial" panose="020B0604020202020204" pitchFamily="34" charset="0"/>
                <a:cs typeface="Arial" panose="020B0604020202020204" pitchFamily="34" charset="0"/>
              </a:rPr>
              <a:t>How to scale data-intensive computations (e.g., petabyte scale)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CA" sz="2200" dirty="0">
                <a:latin typeface="Arial" panose="020B0604020202020204" pitchFamily="34" charset="0"/>
                <a:cs typeface="Arial" panose="020B0604020202020204" pitchFamily="34" charset="0"/>
              </a:rPr>
              <a:t>Big data stack, e.g., Spark, Storm, Hadoop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CA" sz="2200" dirty="0">
                <a:latin typeface="Arial" panose="020B0604020202020204" pitchFamily="34" charset="0"/>
                <a:cs typeface="Arial" panose="020B0604020202020204" pitchFamily="34" charset="0"/>
              </a:rPr>
              <a:t>Text, graphs, data mining, machine learning systems software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Interested in research on data processing and management systems?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Reach out to me and DSG faculty</a:t>
            </a:r>
            <a:r>
              <a:rPr lang="en-CA" sz="2200" dirty="0">
                <a:latin typeface="Arial" panose="020B0604020202020204" pitchFamily="34" charset="0"/>
                <a:cs typeface="Arial" panose="020B0604020202020204" pitchFamily="34" charset="0"/>
              </a:rPr>
              <a:t> for research positions.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26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Outline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F7A96B-031C-8D48-8710-7302C726A66B}"/>
              </a:ext>
            </a:extLst>
          </p:cNvPr>
          <p:cNvSpPr txBox="1"/>
          <p:nvPr/>
        </p:nvSpPr>
        <p:spPr>
          <a:xfrm>
            <a:off x="83452" y="773927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Courses/Topics Beyond 348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GraphflowDB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Graph Database Management Systems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MapReduce</a:t>
            </a:r>
          </a:p>
        </p:txBody>
      </p:sp>
    </p:spTree>
    <p:extLst>
      <p:ext uri="{BB962C8B-B14F-4D97-AF65-F5344CB8AC3E}">
        <p14:creationId xmlns:p14="http://schemas.microsoft.com/office/powerpoint/2010/main" val="125107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9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41BA65-44D2-4B4F-B7F0-08159246FEAB}"/>
              </a:ext>
            </a:extLst>
          </p:cNvPr>
          <p:cNvCxnSpPr/>
          <p:nvPr/>
        </p:nvCxnSpPr>
        <p:spPr>
          <a:xfrm>
            <a:off x="5679" y="1210974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AA938BE-47BD-4745-9337-0680DF1A0585}"/>
              </a:ext>
            </a:extLst>
          </p:cNvPr>
          <p:cNvSpPr txBox="1"/>
          <p:nvPr/>
        </p:nvSpPr>
        <p:spPr>
          <a:xfrm>
            <a:off x="111996" y="54019"/>
            <a:ext cx="9089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 algn="ctr"/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</a:rPr>
              <a:t>Graphs vs Tables? </a:t>
            </a:r>
          </a:p>
          <a:p>
            <a:pPr marL="274320" indent="-457200" algn="ctr"/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</a:rPr>
              <a:t>Never Ending Dichotomy in Data Models</a:t>
            </a:r>
            <a:endParaRPr lang="en-US" sz="3200" b="1" dirty="0">
              <a:solidFill>
                <a:srgbClr val="B90000"/>
              </a:solidFill>
              <a:latin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5E26D9-C173-F048-A5DC-9A881CDE4484}"/>
              </a:ext>
            </a:extLst>
          </p:cNvPr>
          <p:cNvSpPr/>
          <p:nvPr/>
        </p:nvSpPr>
        <p:spPr>
          <a:xfrm>
            <a:off x="5761" y="1271424"/>
            <a:ext cx="9132478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i="1" kern="0" dirty="0">
                <a:latin typeface="Arial"/>
                <a:cs typeface="Arial"/>
              </a:rPr>
              <a:t>Two of the most natural data structures to model </a:t>
            </a:r>
          </a:p>
          <a:p>
            <a:pPr algn="ctr">
              <a:lnSpc>
                <a:spcPct val="150000"/>
              </a:lnSpc>
            </a:pPr>
            <a:r>
              <a:rPr lang="en-US" sz="2400" i="1" kern="0" dirty="0">
                <a:latin typeface="Arial"/>
                <a:cs typeface="Arial"/>
              </a:rPr>
              <a:t>enterprise application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E4E95-EFC8-634E-9E40-3258CF400262}"/>
              </a:ext>
            </a:extLst>
          </p:cNvPr>
          <p:cNvSpPr/>
          <p:nvPr/>
        </p:nvSpPr>
        <p:spPr>
          <a:xfrm>
            <a:off x="523913" y="4996357"/>
            <a:ext cx="7530875" cy="1749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250"/>
              </a:lnSpc>
              <a:buFont typeface="Wingdings" pitchFamily="2" charset="2"/>
              <a:buChar char="Ø"/>
            </a:pPr>
            <a:r>
              <a:rPr lang="en-US" sz="2400" kern="0" dirty="0">
                <a:latin typeface="Arial"/>
                <a:cs typeface="Arial"/>
              </a:rPr>
              <a:t>Other data structures</a:t>
            </a:r>
          </a:p>
          <a:p>
            <a:pPr marL="914400" lvl="1" indent="-457200">
              <a:lnSpc>
                <a:spcPts val="3250"/>
              </a:lnSpc>
              <a:buFont typeface="Wingdings" pitchFamily="2" charset="2"/>
              <a:buChar char="Ø"/>
            </a:pPr>
            <a:r>
              <a:rPr lang="en-US" sz="2400" kern="0" dirty="0">
                <a:latin typeface="Arial"/>
                <a:cs typeface="Arial"/>
              </a:rPr>
              <a:t>Arrays/Matrices: images, videos, locations, etc.</a:t>
            </a:r>
          </a:p>
          <a:p>
            <a:pPr marL="914400" lvl="1" indent="-457200">
              <a:lnSpc>
                <a:spcPts val="3250"/>
              </a:lnSpc>
              <a:buFont typeface="Wingdings" pitchFamily="2" charset="2"/>
              <a:buChar char="Ø"/>
            </a:pPr>
            <a:r>
              <a:rPr lang="en-US" sz="2400" kern="0" dirty="0">
                <a:latin typeface="Arial"/>
                <a:cs typeface="Arial"/>
              </a:rPr>
              <a:t>Documents</a:t>
            </a:r>
          </a:p>
          <a:p>
            <a:pPr marL="914400" lvl="1" indent="-457200">
              <a:lnSpc>
                <a:spcPts val="3250"/>
              </a:lnSpc>
              <a:buFont typeface="Wingdings" pitchFamily="2" charset="2"/>
              <a:buChar char="Ø"/>
            </a:pPr>
            <a:r>
              <a:rPr lang="en-US" sz="2400" kern="0" dirty="0">
                <a:latin typeface="Arial"/>
                <a:cs typeface="Arial"/>
              </a:rPr>
              <a:t>Lists (earlier)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37E0855-C549-3F4E-AC4A-690596CB2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6" y="6496076"/>
            <a:ext cx="1009574" cy="33652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88F4B42B-B09E-9E43-A949-E3EEE26609BF}"/>
              </a:ext>
            </a:extLst>
          </p:cNvPr>
          <p:cNvGrpSpPr/>
          <p:nvPr/>
        </p:nvGrpSpPr>
        <p:grpSpPr>
          <a:xfrm>
            <a:off x="5045337" y="2100572"/>
            <a:ext cx="3993843" cy="2824119"/>
            <a:chOff x="4706404" y="1917215"/>
            <a:chExt cx="3993843" cy="282411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5DC857-180A-3C4E-8D8F-DB202143A3DA}"/>
                </a:ext>
              </a:extLst>
            </p:cNvPr>
            <p:cNvSpPr/>
            <p:nvPr/>
          </p:nvSpPr>
          <p:spPr>
            <a:xfrm>
              <a:off x="4758242" y="2803495"/>
              <a:ext cx="1049281" cy="10515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6A32C11-D15A-4A46-897C-3AC0B872CDD1}"/>
                </a:ext>
              </a:extLst>
            </p:cNvPr>
            <p:cNvSpPr/>
            <p:nvPr/>
          </p:nvSpPr>
          <p:spPr>
            <a:xfrm>
              <a:off x="7444244" y="1917215"/>
              <a:ext cx="1051560" cy="10515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8733894-EF5F-D644-8C52-3B80BED5AC6B}"/>
                </a:ext>
              </a:extLst>
            </p:cNvPr>
            <p:cNvCxnSpPr>
              <a:cxnSpLocks/>
              <a:stCxn id="8" idx="7"/>
              <a:endCxn id="10" idx="2"/>
            </p:cNvCxnSpPr>
            <p:nvPr/>
          </p:nvCxnSpPr>
          <p:spPr>
            <a:xfrm flipV="1">
              <a:off x="5653859" y="2442995"/>
              <a:ext cx="1790385" cy="514497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364DA0C-C984-3741-94B3-52D6265F0DB8}"/>
                </a:ext>
              </a:extLst>
            </p:cNvPr>
            <p:cNvSpPr/>
            <p:nvPr/>
          </p:nvSpPr>
          <p:spPr>
            <a:xfrm>
              <a:off x="4706404" y="3036585"/>
              <a:ext cx="1152956" cy="5171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100" kern="0" dirty="0">
                  <a:latin typeface="Arial"/>
                  <a:cs typeface="Arial"/>
                </a:rPr>
                <a:t>Entity 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EC24EC0-EC36-F644-AEC9-425502A89C1C}"/>
                </a:ext>
              </a:extLst>
            </p:cNvPr>
            <p:cNvSpPr/>
            <p:nvPr/>
          </p:nvSpPr>
          <p:spPr>
            <a:xfrm>
              <a:off x="7346589" y="2120504"/>
              <a:ext cx="1272760" cy="5171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100" kern="0" dirty="0">
                  <a:latin typeface="Arial"/>
                  <a:cs typeface="Arial"/>
                </a:rPr>
                <a:t>Entity B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3DFE6AD-B007-EE42-AECA-943DD73CA7F2}"/>
                </a:ext>
              </a:extLst>
            </p:cNvPr>
            <p:cNvSpPr/>
            <p:nvPr/>
          </p:nvSpPr>
          <p:spPr>
            <a:xfrm rot="20753799">
              <a:off x="5488785" y="2242139"/>
              <a:ext cx="1685136" cy="5171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100" kern="0" dirty="0">
                  <a:latin typeface="Arial"/>
                  <a:cs typeface="Arial"/>
                </a:rPr>
                <a:t>Relation X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6E4CBA3-266F-3841-A48D-C47B43211012}"/>
                </a:ext>
              </a:extLst>
            </p:cNvPr>
            <p:cNvSpPr/>
            <p:nvPr/>
          </p:nvSpPr>
          <p:spPr>
            <a:xfrm>
              <a:off x="7509290" y="3689774"/>
              <a:ext cx="1051560" cy="10515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BBB1197-2C0C-B740-93B3-76EDFC234A48}"/>
                </a:ext>
              </a:extLst>
            </p:cNvPr>
            <p:cNvSpPr/>
            <p:nvPr/>
          </p:nvSpPr>
          <p:spPr>
            <a:xfrm>
              <a:off x="7375590" y="3928849"/>
              <a:ext cx="1324657" cy="5171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100" kern="0" dirty="0">
                  <a:latin typeface="Arial"/>
                  <a:cs typeface="Arial"/>
                </a:rPr>
                <a:t>Entity C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F4D1330-163F-BD42-81DB-10D280686790}"/>
                </a:ext>
              </a:extLst>
            </p:cNvPr>
            <p:cNvCxnSpPr>
              <a:cxnSpLocks/>
              <a:stCxn id="8" idx="5"/>
              <a:endCxn id="18" idx="2"/>
            </p:cNvCxnSpPr>
            <p:nvPr/>
          </p:nvCxnSpPr>
          <p:spPr>
            <a:xfrm>
              <a:off x="5653859" y="3701058"/>
              <a:ext cx="1855431" cy="514496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6E6D20D-5F1F-CB44-9167-D8C28D7D18C8}"/>
                </a:ext>
              </a:extLst>
            </p:cNvPr>
            <p:cNvSpPr/>
            <p:nvPr/>
          </p:nvSpPr>
          <p:spPr>
            <a:xfrm rot="870324">
              <a:off x="5604126" y="3805356"/>
              <a:ext cx="1767562" cy="5171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100" kern="0" dirty="0">
                  <a:latin typeface="Arial"/>
                  <a:cs typeface="Arial"/>
                </a:rPr>
                <a:t>Relation Y</a:t>
              </a:r>
            </a:p>
          </p:txBody>
        </p:sp>
      </p:grpSp>
      <p:graphicFrame>
        <p:nvGraphicFramePr>
          <p:cNvPr id="29" name="Table 29">
            <a:extLst>
              <a:ext uri="{FF2B5EF4-FFF2-40B4-BE49-F238E27FC236}">
                <a16:creationId xmlns:a16="http://schemas.microsoft.com/office/drawing/2014/main" id="{8BEDD45F-C942-F948-BA2E-D853B5B0B880}"/>
              </a:ext>
            </a:extLst>
          </p:cNvPr>
          <p:cNvGraphicFramePr>
            <a:graphicFrameLocks noGrp="1"/>
          </p:cNvGraphicFramePr>
          <p:nvPr/>
        </p:nvGraphicFramePr>
        <p:xfrm>
          <a:off x="185502" y="2914366"/>
          <a:ext cx="1350684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50228">
                  <a:extLst>
                    <a:ext uri="{9D8B030D-6E8A-4147-A177-3AD203B41FA5}">
                      <a16:colId xmlns:a16="http://schemas.microsoft.com/office/drawing/2014/main" val="2233823912"/>
                    </a:ext>
                  </a:extLst>
                </a:gridCol>
                <a:gridCol w="450228">
                  <a:extLst>
                    <a:ext uri="{9D8B030D-6E8A-4147-A177-3AD203B41FA5}">
                      <a16:colId xmlns:a16="http://schemas.microsoft.com/office/drawing/2014/main" val="2520174948"/>
                    </a:ext>
                  </a:extLst>
                </a:gridCol>
                <a:gridCol w="450228">
                  <a:extLst>
                    <a:ext uri="{9D8B030D-6E8A-4147-A177-3AD203B41FA5}">
                      <a16:colId xmlns:a16="http://schemas.microsoft.com/office/drawing/2014/main" val="253147271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Entity 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331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7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281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43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334909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6EAA4CB-E2F3-7544-9B7C-47333BCD5BA2}"/>
              </a:ext>
            </a:extLst>
          </p:cNvPr>
          <p:cNvGraphicFramePr>
            <a:graphicFrameLocks noGrp="1"/>
          </p:cNvGraphicFramePr>
          <p:nvPr/>
        </p:nvGraphicFramePr>
        <p:xfrm>
          <a:off x="1738876" y="2914366"/>
          <a:ext cx="1049280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24640">
                  <a:extLst>
                    <a:ext uri="{9D8B030D-6E8A-4147-A177-3AD203B41FA5}">
                      <a16:colId xmlns:a16="http://schemas.microsoft.com/office/drawing/2014/main" val="2233823912"/>
                    </a:ext>
                  </a:extLst>
                </a:gridCol>
                <a:gridCol w="524640">
                  <a:extLst>
                    <a:ext uri="{9D8B030D-6E8A-4147-A177-3AD203B41FA5}">
                      <a16:colId xmlns:a16="http://schemas.microsoft.com/office/drawing/2014/main" val="252017494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Entity B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331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7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281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43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334909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99AF8B8-59CD-C247-9B5E-A55DC77608A1}"/>
              </a:ext>
            </a:extLst>
          </p:cNvPr>
          <p:cNvGraphicFramePr>
            <a:graphicFrameLocks noGrp="1"/>
          </p:cNvGraphicFramePr>
          <p:nvPr/>
        </p:nvGraphicFramePr>
        <p:xfrm>
          <a:off x="2990846" y="2914366"/>
          <a:ext cx="1714938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71646">
                  <a:extLst>
                    <a:ext uri="{9D8B030D-6E8A-4147-A177-3AD203B41FA5}">
                      <a16:colId xmlns:a16="http://schemas.microsoft.com/office/drawing/2014/main" val="2233823912"/>
                    </a:ext>
                  </a:extLst>
                </a:gridCol>
                <a:gridCol w="571646">
                  <a:extLst>
                    <a:ext uri="{9D8B030D-6E8A-4147-A177-3AD203B41FA5}">
                      <a16:colId xmlns:a16="http://schemas.microsoft.com/office/drawing/2014/main" val="2520174948"/>
                    </a:ext>
                  </a:extLst>
                </a:gridCol>
                <a:gridCol w="571646">
                  <a:extLst>
                    <a:ext uri="{9D8B030D-6E8A-4147-A177-3AD203B41FA5}">
                      <a16:colId xmlns:a16="http://schemas.microsoft.com/office/drawing/2014/main" val="253147271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Relation X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331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7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281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43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3349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044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10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41BA65-44D2-4B4F-B7F0-08159246FEAB}"/>
              </a:ext>
            </a:extLst>
          </p:cNvPr>
          <p:cNvCxnSpPr/>
          <p:nvPr/>
        </p:nvCxnSpPr>
        <p:spPr>
          <a:xfrm>
            <a:off x="-6509" y="7055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AA938BE-47BD-4745-9337-0680DF1A0585}"/>
              </a:ext>
            </a:extLst>
          </p:cNvPr>
          <p:cNvSpPr txBox="1"/>
          <p:nvPr/>
        </p:nvSpPr>
        <p:spPr>
          <a:xfrm>
            <a:off x="19126" y="25400"/>
            <a:ext cx="9089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</a:rPr>
              <a:t>Key Takeaway: Dual View of Enterprise Data</a:t>
            </a:r>
            <a:endParaRPr lang="en-US" sz="3200" b="1" dirty="0">
              <a:solidFill>
                <a:srgbClr val="B90000"/>
              </a:solidFill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B6285B-2819-2144-BB6C-36302C43F459}"/>
              </a:ext>
            </a:extLst>
          </p:cNvPr>
          <p:cNvSpPr/>
          <p:nvPr/>
        </p:nvSpPr>
        <p:spPr>
          <a:xfrm>
            <a:off x="5013" y="693180"/>
            <a:ext cx="9132478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kern="0" dirty="0">
                <a:latin typeface="Arial"/>
                <a:cs typeface="Arial"/>
              </a:rPr>
              <a:t>Graphs, tables, or arrays don’t exist in real world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kern="0" dirty="0">
                <a:latin typeface="Arial"/>
                <a:cs typeface="Arial"/>
              </a:rPr>
              <a:t>Real events/facts that enterprises store as records</a:t>
            </a:r>
          </a:p>
        </p:txBody>
      </p:sp>
      <p:pic>
        <p:nvPicPr>
          <p:cNvPr id="10" name="Graphic 9" descr="Female Profile">
            <a:extLst>
              <a:ext uri="{FF2B5EF4-FFF2-40B4-BE49-F238E27FC236}">
                <a16:creationId xmlns:a16="http://schemas.microsoft.com/office/drawing/2014/main" id="{827DF7B6-4582-6140-B8C0-765EC6CC2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3948" y="2202369"/>
            <a:ext cx="914400" cy="914400"/>
          </a:xfrm>
          <a:prstGeom prst="rect">
            <a:avLst/>
          </a:prstGeom>
        </p:spPr>
      </p:pic>
      <p:pic>
        <p:nvPicPr>
          <p:cNvPr id="14" name="Graphic 13" descr="User">
            <a:extLst>
              <a:ext uri="{FF2B5EF4-FFF2-40B4-BE49-F238E27FC236}">
                <a16:creationId xmlns:a16="http://schemas.microsoft.com/office/drawing/2014/main" id="{DEA98523-57C2-AA4A-A9E6-569F74155B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73774" y="2202369"/>
            <a:ext cx="914400" cy="914400"/>
          </a:xfrm>
          <a:prstGeom prst="rect">
            <a:avLst/>
          </a:prstGeom>
        </p:spPr>
      </p:pic>
      <p:pic>
        <p:nvPicPr>
          <p:cNvPr id="16" name="Graphic 15" descr="Suit">
            <a:extLst>
              <a:ext uri="{FF2B5EF4-FFF2-40B4-BE49-F238E27FC236}">
                <a16:creationId xmlns:a16="http://schemas.microsoft.com/office/drawing/2014/main" id="{E5634E8D-03E7-C945-8922-9C47D4BAA1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73774" y="3297363"/>
            <a:ext cx="914400" cy="914400"/>
          </a:xfrm>
          <a:prstGeom prst="rect">
            <a:avLst/>
          </a:prstGeom>
        </p:spPr>
      </p:pic>
      <p:pic>
        <p:nvPicPr>
          <p:cNvPr id="20" name="Graphic 19" descr="Headphones">
            <a:extLst>
              <a:ext uri="{FF2B5EF4-FFF2-40B4-BE49-F238E27FC236}">
                <a16:creationId xmlns:a16="http://schemas.microsoft.com/office/drawing/2014/main" id="{43BF34E6-8A62-5847-8A30-0D1981E7DD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03948" y="3297363"/>
            <a:ext cx="914400" cy="914400"/>
          </a:xfrm>
          <a:prstGeom prst="rect">
            <a:avLst/>
          </a:prstGeom>
        </p:spPr>
      </p:pic>
      <p:pic>
        <p:nvPicPr>
          <p:cNvPr id="22" name="Graphic 21" descr="House">
            <a:extLst>
              <a:ext uri="{FF2B5EF4-FFF2-40B4-BE49-F238E27FC236}">
                <a16:creationId xmlns:a16="http://schemas.microsoft.com/office/drawing/2014/main" id="{FFE945B2-86ED-464A-B546-9D198BEFBA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3426" y="3297363"/>
            <a:ext cx="914400" cy="914400"/>
          </a:xfrm>
          <a:prstGeom prst="rect">
            <a:avLst/>
          </a:prstGeom>
        </p:spPr>
      </p:pic>
      <p:pic>
        <p:nvPicPr>
          <p:cNvPr id="24" name="Graphic 23" descr="House">
            <a:extLst>
              <a:ext uri="{FF2B5EF4-FFF2-40B4-BE49-F238E27FC236}">
                <a16:creationId xmlns:a16="http://schemas.microsoft.com/office/drawing/2014/main" id="{8B8DB8A2-A9FB-9749-BDBD-94F08003231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43600" y="3297363"/>
            <a:ext cx="914400" cy="914400"/>
          </a:xfrm>
          <a:prstGeom prst="rect">
            <a:avLst/>
          </a:prstGeom>
        </p:spPr>
      </p:pic>
      <p:pic>
        <p:nvPicPr>
          <p:cNvPr id="26" name="Graphic 25" descr="Bank">
            <a:extLst>
              <a:ext uri="{FF2B5EF4-FFF2-40B4-BE49-F238E27FC236}">
                <a16:creationId xmlns:a16="http://schemas.microsoft.com/office/drawing/2014/main" id="{C8C1C045-8C82-834C-A5AB-917972B902A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43600" y="2202369"/>
            <a:ext cx="914400" cy="914400"/>
          </a:xfrm>
          <a:prstGeom prst="rect">
            <a:avLst/>
          </a:prstGeom>
        </p:spPr>
      </p:pic>
      <p:pic>
        <p:nvPicPr>
          <p:cNvPr id="31" name="Graphic 30" descr="Bank">
            <a:extLst>
              <a:ext uri="{FF2B5EF4-FFF2-40B4-BE49-F238E27FC236}">
                <a16:creationId xmlns:a16="http://schemas.microsoft.com/office/drawing/2014/main" id="{CDBAA366-9E11-9840-A4D0-56E9A76D7EF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413426" y="2202369"/>
            <a:ext cx="914400" cy="914400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210BF92-2105-9540-876C-61F53CBC5CE6}"/>
              </a:ext>
            </a:extLst>
          </p:cNvPr>
          <p:cNvGrpSpPr/>
          <p:nvPr/>
        </p:nvGrpSpPr>
        <p:grpSpPr>
          <a:xfrm>
            <a:off x="3090605" y="2055949"/>
            <a:ext cx="3227832" cy="2542032"/>
            <a:chOff x="308568" y="1616411"/>
            <a:chExt cx="3598820" cy="2831072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19EDDE4B-F589-0D40-BD72-5D4DB329B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08568" y="1616411"/>
              <a:ext cx="3598820" cy="2831072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00CDACAE-1A3E-5545-864B-A17D2AC4C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70482" y="2222450"/>
              <a:ext cx="1070421" cy="1261821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62ED046-D97C-3D4F-B2BF-1BEDC145305F}"/>
              </a:ext>
            </a:extLst>
          </p:cNvPr>
          <p:cNvGrpSpPr/>
          <p:nvPr/>
        </p:nvGrpSpPr>
        <p:grpSpPr>
          <a:xfrm>
            <a:off x="3090672" y="2051482"/>
            <a:ext cx="3228848" cy="2542032"/>
            <a:chOff x="10143664" y="1246695"/>
            <a:chExt cx="6667500" cy="5245100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B6B69F8E-E11B-E947-9E2C-EA57396A6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143664" y="1246695"/>
              <a:ext cx="6667500" cy="5245100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F99A0923-80C7-C244-912A-B13A57822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1076436" y="2738998"/>
              <a:ext cx="2629321" cy="1569440"/>
            </a:xfrm>
            <a:prstGeom prst="rect">
              <a:avLst/>
            </a:prstGeom>
          </p:spPr>
        </p:pic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D987AF01-8123-5549-A9E9-423D3FB7A56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126" y="6496076"/>
            <a:ext cx="1009574" cy="33652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23CD98B-A355-0149-9517-E5201747BBBD}"/>
              </a:ext>
            </a:extLst>
          </p:cNvPr>
          <p:cNvSpPr/>
          <p:nvPr/>
        </p:nvSpPr>
        <p:spPr>
          <a:xfrm>
            <a:off x="-23927" y="4970855"/>
            <a:ext cx="9132478" cy="1305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i="1" kern="0" dirty="0">
                <a:latin typeface="Arial"/>
                <a:cs typeface="Arial"/>
              </a:rPr>
              <a:t>More interesting question: When is one model more appropriate than another?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0082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7055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126" y="25400"/>
            <a:ext cx="908942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</a:rPr>
              <a:t>Graph Processing Systems</a:t>
            </a:r>
            <a:endParaRPr lang="en-US" sz="3200" b="1" dirty="0">
              <a:solidFill>
                <a:srgbClr val="B90000"/>
              </a:solidFill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>
                <a:latin typeface="Arial"/>
                <a:cs typeface="Arial"/>
              </a:rPr>
              <a:t>11</a:t>
            </a:fld>
            <a:endParaRPr lang="en-US">
              <a:latin typeface="Arial"/>
              <a:cs typeface="Arial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3397" y="1046640"/>
          <a:ext cx="8419321" cy="43467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1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7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38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338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43397" y="1034133"/>
            <a:ext cx="407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Graph DB Management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8833" y="1046643"/>
            <a:ext cx="259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RDF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176" y="3258659"/>
            <a:ext cx="3547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Graph Analytics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7578" y="3281787"/>
            <a:ext cx="3547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Graph Visualization Software</a:t>
            </a:r>
          </a:p>
        </p:txBody>
      </p:sp>
      <p:pic>
        <p:nvPicPr>
          <p:cNvPr id="26" name="Picture 25" descr="neo4j-icon.png"/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40" y="1398730"/>
            <a:ext cx="1325880" cy="512064"/>
          </a:xfrm>
          <a:prstGeom prst="rect">
            <a:avLst/>
          </a:prstGeom>
        </p:spPr>
      </p:pic>
      <p:pic>
        <p:nvPicPr>
          <p:cNvPr id="8" name="Picture 7" descr="tiger-graph-icon.png"/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08" y="1929528"/>
            <a:ext cx="1325880" cy="512064"/>
          </a:xfrm>
          <a:prstGeom prst="rect">
            <a:avLst/>
          </a:prstGeom>
        </p:spPr>
      </p:pic>
      <p:pic>
        <p:nvPicPr>
          <p:cNvPr id="13" name="Picture 12" descr="apache-jena.png"/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410" y="1634857"/>
            <a:ext cx="1325880" cy="512064"/>
          </a:xfrm>
          <a:prstGeom prst="rect">
            <a:avLst/>
          </a:prstGeom>
        </p:spPr>
      </p:pic>
      <p:pic>
        <p:nvPicPr>
          <p:cNvPr id="16" name="Picture 15" descr="allegro.png"/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410" y="2365803"/>
            <a:ext cx="1325880" cy="512064"/>
          </a:xfrm>
          <a:prstGeom prst="rect">
            <a:avLst/>
          </a:prstGeom>
        </p:spPr>
      </p:pic>
      <p:pic>
        <p:nvPicPr>
          <p:cNvPr id="30" name="Picture 29" descr="apache-giraph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27" y="3865620"/>
            <a:ext cx="703878" cy="683876"/>
          </a:xfrm>
          <a:prstGeom prst="rect">
            <a:avLst/>
          </a:prstGeom>
        </p:spPr>
      </p:pic>
      <p:pic>
        <p:nvPicPr>
          <p:cNvPr id="34" name="Picture 33" descr="networkx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739" y="3878054"/>
            <a:ext cx="935974" cy="659009"/>
          </a:xfrm>
          <a:prstGeom prst="rect">
            <a:avLst/>
          </a:prstGeom>
        </p:spPr>
      </p:pic>
      <p:pic>
        <p:nvPicPr>
          <p:cNvPr id="36" name="Picture 35" descr="gephi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834" y="3808328"/>
            <a:ext cx="1457505" cy="549342"/>
          </a:xfrm>
          <a:prstGeom prst="rect">
            <a:avLst/>
          </a:prstGeom>
        </p:spPr>
      </p:pic>
      <p:pic>
        <p:nvPicPr>
          <p:cNvPr id="37" name="Picture 36" descr="cytoscape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957" y="3663063"/>
            <a:ext cx="2175933" cy="683876"/>
          </a:xfrm>
          <a:prstGeom prst="rect">
            <a:avLst/>
          </a:prstGeom>
        </p:spPr>
      </p:pic>
      <p:pic>
        <p:nvPicPr>
          <p:cNvPr id="38" name="Picture 37" descr="linkurious.p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697" y="4355745"/>
            <a:ext cx="1591780" cy="463362"/>
          </a:xfrm>
          <a:prstGeom prst="rect">
            <a:avLst/>
          </a:prstGeom>
        </p:spPr>
      </p:pic>
      <p:pic>
        <p:nvPicPr>
          <p:cNvPr id="39" name="Picture 38" descr="tomsawyer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230" y="4331238"/>
            <a:ext cx="2069994" cy="463362"/>
          </a:xfrm>
          <a:prstGeom prst="rect">
            <a:avLst/>
          </a:prstGeom>
        </p:spPr>
      </p:pic>
      <p:pic>
        <p:nvPicPr>
          <p:cNvPr id="40" name="Picture 39" descr="graphflow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224" y="2449295"/>
            <a:ext cx="1474020" cy="678137"/>
          </a:xfrm>
          <a:prstGeom prst="rect">
            <a:avLst/>
          </a:prstGeom>
        </p:spPr>
      </p:pic>
      <p:grpSp>
        <p:nvGrpSpPr>
          <p:cNvPr id="44" name="Group 43"/>
          <p:cNvGrpSpPr/>
          <p:nvPr/>
        </p:nvGrpSpPr>
        <p:grpSpPr>
          <a:xfrm>
            <a:off x="1071476" y="3872397"/>
            <a:ext cx="996392" cy="670323"/>
            <a:chOff x="6452137" y="3097676"/>
            <a:chExt cx="1620904" cy="1141086"/>
          </a:xfrm>
        </p:grpSpPr>
        <p:sp>
          <p:nvSpPr>
            <p:cNvPr id="45" name="TextBox 44"/>
            <p:cNvSpPr txBox="1"/>
            <p:nvPr/>
          </p:nvSpPr>
          <p:spPr>
            <a:xfrm>
              <a:off x="6452137" y="3097676"/>
              <a:ext cx="1620904" cy="576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/>
                  <a:cs typeface="Arial"/>
                </a:rPr>
                <a:t>GPS</a:t>
              </a:r>
            </a:p>
          </p:txBody>
        </p:sp>
        <p:pic>
          <p:nvPicPr>
            <p:cNvPr id="46" name="Picture 45" descr="gps_icon.png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5828" y="3482534"/>
              <a:ext cx="921701" cy="756228"/>
            </a:xfrm>
            <a:prstGeom prst="rect">
              <a:avLst/>
            </a:prstGeom>
          </p:spPr>
        </p:pic>
      </p:grpSp>
      <p:pic>
        <p:nvPicPr>
          <p:cNvPr id="47" name="Picture 46" descr="neptune.png"/>
          <p:cNvPicPr preferRelativeResize="0"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625" y="1922605"/>
            <a:ext cx="1325880" cy="512064"/>
          </a:xfrm>
          <a:prstGeom prst="rect">
            <a:avLst/>
          </a:prstGeom>
        </p:spPr>
      </p:pic>
      <p:pic>
        <p:nvPicPr>
          <p:cNvPr id="48" name="Picture 47" descr="download.jpg"/>
          <p:cNvPicPr preferRelativeResize="0"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96" y="1628985"/>
            <a:ext cx="1325880" cy="512064"/>
          </a:xfrm>
          <a:prstGeom prst="rect">
            <a:avLst/>
          </a:prstGeom>
        </p:spPr>
      </p:pic>
      <p:pic>
        <p:nvPicPr>
          <p:cNvPr id="43" name="Picture 42" descr="neptune.png">
            <a:extLst>
              <a:ext uri="{FF2B5EF4-FFF2-40B4-BE49-F238E27FC236}">
                <a16:creationId xmlns:a16="http://schemas.microsoft.com/office/drawing/2014/main" id="{ABE6EC49-1C8A-8A49-B3C6-BD745AA28D96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671" y="2303741"/>
            <a:ext cx="1325880" cy="51206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E08CF66-3C0A-AF40-9288-6C33291F3CC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13683" y="4854111"/>
            <a:ext cx="1835737" cy="3749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57A837-562C-E646-9EE9-6AB30FDD2A3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6720" y="4728556"/>
            <a:ext cx="1735279" cy="5451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52320B-E72A-8B4C-BAB3-8F126DBF4294}"/>
              </a:ext>
            </a:extLst>
          </p:cNvPr>
          <p:cNvPicPr preferRelativeResize="0">
            <a:picLocks/>
          </p:cNvPicPr>
          <p:nvPr/>
        </p:nvPicPr>
        <p:blipFill>
          <a:blip r:embed="rId20"/>
          <a:stretch>
            <a:fillRect/>
          </a:stretch>
        </p:blipFill>
        <p:spPr>
          <a:xfrm>
            <a:off x="2609253" y="1425549"/>
            <a:ext cx="1325880" cy="51206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66808B1-C29B-7B49-84A3-4BE4F2DEFE1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126" y="6496076"/>
            <a:ext cx="1009574" cy="336524"/>
          </a:xfrm>
          <a:prstGeom prst="rect">
            <a:avLst/>
          </a:prstGeom>
        </p:spPr>
      </p:pic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FC45A8DA-C5FD-D047-AF44-EE62AC1845C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67584" y="4015585"/>
            <a:ext cx="1489294" cy="383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B9C6BC3-752E-4044-A2CF-129201E03A2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59816" y="4793876"/>
            <a:ext cx="1449841" cy="4145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112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7055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126" y="254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Are Graphs and Graph Systems Used In Practice?</a:t>
            </a:r>
            <a:endParaRPr lang="en-US" sz="2800" b="1" dirty="0">
              <a:solidFill>
                <a:srgbClr val="B9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12</a:t>
            </a:fld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75299" y="676710"/>
            <a:ext cx="4428713" cy="1261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700" dirty="0">
                <a:solidFill>
                  <a:prstClr val="black"/>
                </a:solidFill>
                <a:latin typeface="Arial"/>
                <a:cs typeface="Arial"/>
              </a:rPr>
              <a:t>A User Survey</a:t>
            </a:r>
          </a:p>
          <a:p>
            <a:pPr algn="ctr">
              <a:lnSpc>
                <a:spcPct val="150000"/>
              </a:lnSpc>
            </a:pPr>
            <a:r>
              <a:rPr lang="en-US" sz="2700" dirty="0" err="1">
                <a:solidFill>
                  <a:prstClr val="black"/>
                </a:solidFill>
                <a:latin typeface="Arial"/>
                <a:cs typeface="Arial"/>
              </a:rPr>
              <a:t>Sahu</a:t>
            </a:r>
            <a:r>
              <a:rPr lang="en-US" sz="2700" dirty="0">
                <a:solidFill>
                  <a:prstClr val="black"/>
                </a:solidFill>
                <a:latin typeface="Arial"/>
                <a:cs typeface="Arial"/>
              </a:rPr>
              <a:t> et. al. VLDBJ 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3786" y="2490766"/>
            <a:ext cx="4260795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>
                <a:latin typeface="Arial"/>
                <a:cs typeface="Arial"/>
              </a:rPr>
              <a:t>Q1: Graph Data?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>
                <a:latin typeface="Arial"/>
                <a:cs typeface="Arial"/>
              </a:rPr>
              <a:t>Q2: Graph Computations?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>
                <a:latin typeface="Arial"/>
                <a:cs typeface="Arial"/>
              </a:rPr>
              <a:t>Q3: Graph Software?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>
                <a:latin typeface="Arial"/>
                <a:cs typeface="Arial"/>
              </a:rPr>
              <a:t>Q4: Main Challenges?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>
                <a:latin typeface="Arial"/>
                <a:cs typeface="Arial"/>
              </a:rPr>
              <a:t>Q5: Applications?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1EDD3A24-26B5-384A-8846-CC2B18CF4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056" y="1892947"/>
            <a:ext cx="3539199" cy="45171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37CECF-20A8-7C48-9E27-2A0A89AB9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26" y="6601696"/>
            <a:ext cx="692709" cy="2309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50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7055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126" y="25400"/>
            <a:ext cx="90894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3000" kern="0" dirty="0">
                <a:solidFill>
                  <a:srgbClr val="000000"/>
                </a:solidFill>
                <a:latin typeface="Arial"/>
                <a:cs typeface="Arial"/>
              </a:rPr>
              <a:t>Graph Database Management Systems Overview</a:t>
            </a:r>
            <a:endParaRPr lang="en-US" sz="3000" b="1" dirty="0">
              <a:solidFill>
                <a:srgbClr val="B90000"/>
              </a:solidFill>
              <a:latin typeface="Arial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092" y="2514836"/>
            <a:ext cx="22295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/>
                <a:cs typeface="Arial"/>
              </a:rPr>
              <a:t>Labeled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5568" y="2539295"/>
            <a:ext cx="29278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/>
                <a:cs typeface="Arial"/>
              </a:rPr>
              <a:t>Graph-specific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6312" y="2553552"/>
            <a:ext cx="34495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/>
                <a:cs typeface="Arial"/>
              </a:rPr>
              <a:t>Storage: Graph-specific</a:t>
            </a:r>
          </a:p>
        </p:txBody>
      </p:sp>
      <p:sp>
        <p:nvSpPr>
          <p:cNvPr id="31" name="Oval 30"/>
          <p:cNvSpPr/>
          <p:nvPr/>
        </p:nvSpPr>
        <p:spPr>
          <a:xfrm>
            <a:off x="1113815" y="3492702"/>
            <a:ext cx="324555" cy="338667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1973969" y="4958887"/>
            <a:ext cx="324555" cy="338667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3" name="Oval 32"/>
          <p:cNvSpPr/>
          <p:nvPr/>
        </p:nvSpPr>
        <p:spPr>
          <a:xfrm>
            <a:off x="253661" y="4958887"/>
            <a:ext cx="324555" cy="338667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</a:p>
        </p:txBody>
      </p:sp>
      <p:cxnSp>
        <p:nvCxnSpPr>
          <p:cNvPr id="34" name="Straight Arrow Connector 33"/>
          <p:cNvCxnSpPr>
            <a:stCxn id="31" idx="4"/>
            <a:endCxn id="32" idx="2"/>
          </p:cNvCxnSpPr>
          <p:nvPr/>
        </p:nvCxnSpPr>
        <p:spPr>
          <a:xfrm>
            <a:off x="1276095" y="3831367"/>
            <a:ext cx="697877" cy="12968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3" idx="6"/>
            <a:endCxn id="31" idx="4"/>
          </p:cNvCxnSpPr>
          <p:nvPr/>
        </p:nvCxnSpPr>
        <p:spPr>
          <a:xfrm flipV="1">
            <a:off x="578214" y="3831367"/>
            <a:ext cx="697878" cy="12968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2" idx="2"/>
            <a:endCxn id="33" idx="6"/>
          </p:cNvCxnSpPr>
          <p:nvPr/>
        </p:nvCxnSpPr>
        <p:spPr>
          <a:xfrm flipH="1">
            <a:off x="578217" y="5128215"/>
            <a:ext cx="13957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0319" y="3140694"/>
            <a:ext cx="12971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 err="1">
                <a:latin typeface="Arial"/>
                <a:cs typeface="Arial"/>
              </a:rPr>
              <a:t>name:Alice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735844" y="5341856"/>
            <a:ext cx="12971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 err="1">
                <a:latin typeface="Arial"/>
                <a:cs typeface="Arial"/>
              </a:rPr>
              <a:t>name:Bob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-109860" y="5341856"/>
            <a:ext cx="12971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/>
                <a:cs typeface="Arial"/>
              </a:rPr>
              <a:t>name: Carol</a:t>
            </a:r>
          </a:p>
        </p:txBody>
      </p:sp>
      <p:sp>
        <p:nvSpPr>
          <p:cNvPr id="41" name="TextBox 40"/>
          <p:cNvSpPr txBox="1"/>
          <p:nvPr/>
        </p:nvSpPr>
        <p:spPr>
          <a:xfrm rot="17955739">
            <a:off x="98023" y="4191102"/>
            <a:ext cx="12971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/>
                <a:cs typeface="Arial"/>
              </a:rPr>
              <a:t>amount: 700</a:t>
            </a:r>
          </a:p>
        </p:txBody>
      </p:sp>
      <p:sp>
        <p:nvSpPr>
          <p:cNvPr id="56" name="TextBox 55"/>
          <p:cNvSpPr txBox="1"/>
          <p:nvPr/>
        </p:nvSpPr>
        <p:spPr>
          <a:xfrm rot="3631904">
            <a:off x="1105610" y="4180457"/>
            <a:ext cx="1492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/>
                <a:cs typeface="Arial"/>
              </a:rPr>
              <a:t>amount: 700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427" y="5128277"/>
            <a:ext cx="12971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/>
                <a:cs typeface="Arial"/>
              </a:rPr>
              <a:t>amount: 700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52121" y="3175283"/>
            <a:ext cx="34711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nsolas"/>
                <a:cs typeface="Consolas"/>
              </a:rPr>
              <a:t>MATCH a-&gt;b-&gt;</a:t>
            </a:r>
            <a:r>
              <a:rPr lang="en-US" sz="2200" dirty="0" err="1">
                <a:latin typeface="Consolas"/>
                <a:cs typeface="Consolas"/>
              </a:rPr>
              <a:t>c,c</a:t>
            </a:r>
            <a:r>
              <a:rPr lang="en-US" sz="2200" dirty="0">
                <a:latin typeface="Consolas"/>
                <a:cs typeface="Consolas"/>
              </a:rPr>
              <a:t>-&gt;a</a:t>
            </a:r>
          </a:p>
          <a:p>
            <a:r>
              <a:rPr lang="en-US" sz="2200" dirty="0">
                <a:latin typeface="Consolas"/>
                <a:cs typeface="Consolas"/>
              </a:rPr>
              <a:t>WHERE </a:t>
            </a:r>
            <a:r>
              <a:rPr lang="en-US" sz="2200" dirty="0" err="1">
                <a:latin typeface="Consolas"/>
                <a:cs typeface="Consolas"/>
              </a:rPr>
              <a:t>a.age</a:t>
            </a:r>
            <a:r>
              <a:rPr lang="en-US" sz="2200" dirty="0">
                <a:latin typeface="Consolas"/>
                <a:cs typeface="Consolas"/>
              </a:rPr>
              <a:t> &gt; 30</a:t>
            </a:r>
          </a:p>
          <a:p>
            <a:r>
              <a:rPr lang="en-US" sz="2200" dirty="0">
                <a:latin typeface="Consolas"/>
                <a:cs typeface="Consolas"/>
              </a:rPr>
              <a:t>RETURN (</a:t>
            </a:r>
            <a:r>
              <a:rPr lang="en-US" sz="2200" dirty="0" err="1">
                <a:latin typeface="Consolas"/>
                <a:cs typeface="Consolas"/>
              </a:rPr>
              <a:t>a,b</a:t>
            </a:r>
            <a:r>
              <a:rPr lang="en-US" sz="2200" dirty="0">
                <a:latin typeface="Consolas"/>
                <a:cs typeface="Consolas"/>
              </a:rPr>
              <a:t>).amount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6340447" y="3359073"/>
          <a:ext cx="2403060" cy="370840"/>
        </p:xfrm>
        <a:graphic>
          <a:graphicData uri="http://schemas.openxmlformats.org/drawingml/2006/table">
            <a:tbl>
              <a:tblPr firstRow="1" bandRow="1">
                <a:effectLst/>
                <a:tableStyleId>{08FB837D-C827-4EFA-A057-4D05807E0F7C}</a:tableStyleId>
              </a:tblPr>
              <a:tblGrid>
                <a:gridCol w="600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" name="Straight Connector 60"/>
          <p:cNvCxnSpPr/>
          <p:nvPr/>
        </p:nvCxnSpPr>
        <p:spPr>
          <a:xfrm>
            <a:off x="6649666" y="3648186"/>
            <a:ext cx="0" cy="463826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6454125" y="4089926"/>
          <a:ext cx="375478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3" name="Straight Connector 62"/>
          <p:cNvCxnSpPr/>
          <p:nvPr/>
        </p:nvCxnSpPr>
        <p:spPr>
          <a:xfrm>
            <a:off x="7280423" y="3648186"/>
            <a:ext cx="0" cy="463826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7084884" y="4089926"/>
          <a:ext cx="37547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5" name="Straight Connector 64"/>
          <p:cNvCxnSpPr/>
          <p:nvPr/>
        </p:nvCxnSpPr>
        <p:spPr>
          <a:xfrm>
            <a:off x="7864469" y="3648186"/>
            <a:ext cx="0" cy="463826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7668930" y="4089926"/>
          <a:ext cx="37547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" name="Straight Connector 66"/>
          <p:cNvCxnSpPr/>
          <p:nvPr/>
        </p:nvCxnSpPr>
        <p:spPr>
          <a:xfrm>
            <a:off x="8434332" y="3648186"/>
            <a:ext cx="0" cy="463826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8238792" y="4089926"/>
          <a:ext cx="37547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" name="Rectangle 70"/>
          <p:cNvSpPr/>
          <p:nvPr/>
        </p:nvSpPr>
        <p:spPr>
          <a:xfrm>
            <a:off x="5437730" y="5248222"/>
            <a:ext cx="368359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000000"/>
                </a:solidFill>
                <a:latin typeface="Arial"/>
                <a:cs typeface="Arial"/>
              </a:rPr>
              <a:t>Query Processor: Fast traversals, i.e., nested index loop joins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922308" y="6467475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>
                <a:latin typeface="Arial"/>
                <a:cs typeface="Arial"/>
              </a:rPr>
              <a:t>13</a:t>
            </a:fld>
            <a:endParaRPr lang="en-US" dirty="0">
              <a:latin typeface="Arial"/>
              <a:cs typeface="Aria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19658" y="594468"/>
            <a:ext cx="8974779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Read-optimized database management systems designed for read-heavy workloads with large many-to-many (n-n) joins</a:t>
            </a:r>
          </a:p>
        </p:txBody>
      </p:sp>
      <p:sp>
        <p:nvSpPr>
          <p:cNvPr id="42" name="Text Box 6">
            <a:extLst>
              <a:ext uri="{FF2B5EF4-FFF2-40B4-BE49-F238E27FC236}">
                <a16:creationId xmlns:a16="http://schemas.microsoft.com/office/drawing/2014/main" id="{0A8D724C-10D5-2F48-9034-FCEB3F60A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58" y="1924305"/>
            <a:ext cx="2077472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2400" u="sng" dirty="0">
                <a:solidFill>
                  <a:srgbClr val="0000CC"/>
                </a:solidFill>
                <a:latin typeface="Arial"/>
                <a:cs typeface="Arial"/>
              </a:rPr>
              <a:t>Data Model</a:t>
            </a:r>
          </a:p>
        </p:txBody>
      </p:sp>
      <p:sp>
        <p:nvSpPr>
          <p:cNvPr id="45" name="Text Box 8">
            <a:extLst>
              <a:ext uri="{FF2B5EF4-FFF2-40B4-BE49-F238E27FC236}">
                <a16:creationId xmlns:a16="http://schemas.microsoft.com/office/drawing/2014/main" id="{B61B57E0-F976-6E4D-8D71-7DD61553A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9364" y="1924305"/>
            <a:ext cx="2708366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2400" u="sng" dirty="0">
                <a:solidFill>
                  <a:srgbClr val="0000CC"/>
                </a:solidFill>
                <a:latin typeface="Arial"/>
                <a:cs typeface="Arial"/>
              </a:rPr>
              <a:t>Query Language</a:t>
            </a:r>
          </a:p>
        </p:txBody>
      </p:sp>
      <p:sp>
        <p:nvSpPr>
          <p:cNvPr id="46" name="Text Box 8">
            <a:extLst>
              <a:ext uri="{FF2B5EF4-FFF2-40B4-BE49-F238E27FC236}">
                <a16:creationId xmlns:a16="http://schemas.microsoft.com/office/drawing/2014/main" id="{48EA6870-FFB6-8F40-8059-5A6AF0699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4356" y="1924305"/>
            <a:ext cx="1210588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2400" u="sng" dirty="0">
                <a:solidFill>
                  <a:srgbClr val="0000CC"/>
                </a:solidFill>
                <a:latin typeface="Arial"/>
                <a:cs typeface="Arial"/>
              </a:rPr>
              <a:t>System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C7ABCA9-3817-024A-AB73-43DD47A72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6" y="6601696"/>
            <a:ext cx="692709" cy="2309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1791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/>
      <p:bldP spid="31" grpId="0" animBg="1"/>
      <p:bldP spid="32" grpId="0" animBg="1"/>
      <p:bldP spid="33" grpId="0" animBg="1"/>
      <p:bldP spid="38" grpId="0"/>
      <p:bldP spid="39" grpId="0"/>
      <p:bldP spid="40" grpId="0"/>
      <p:bldP spid="41" grpId="0"/>
      <p:bldP spid="56" grpId="0"/>
      <p:bldP spid="57" grpId="0"/>
      <p:bldP spid="59" grpId="0"/>
      <p:bldP spid="71" grpId="0"/>
      <p:bldP spid="42" grpId="0"/>
      <p:bldP spid="45" grpId="0"/>
      <p:bldP spid="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7055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08" y="20518"/>
            <a:ext cx="913749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9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Differences Between Native GDBMSs vs RDBMSs (1)</a:t>
            </a:r>
            <a:endParaRPr lang="en-US" sz="2900" b="1" dirty="0">
              <a:solidFill>
                <a:srgbClr val="B9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BF2E2C-8024-C142-B34B-5DB7FCB1D4E2}"/>
              </a:ext>
            </a:extLst>
          </p:cNvPr>
          <p:cNvSpPr/>
          <p:nvPr/>
        </p:nvSpPr>
        <p:spPr>
          <a:xfrm>
            <a:off x="-3822" y="710935"/>
            <a:ext cx="8933510" cy="5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Pre-defined/Pointer-based joins vs Value-based Joins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1BC308-6339-5B41-8C05-7B9D8BFE6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2" y="4472379"/>
            <a:ext cx="4757737" cy="18344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88B252-0C3D-3946-8B0C-E1151E37B2AB}"/>
              </a:ext>
            </a:extLst>
          </p:cNvPr>
          <p:cNvSpPr/>
          <p:nvPr/>
        </p:nvSpPr>
        <p:spPr>
          <a:xfrm>
            <a:off x="4013334" y="5331657"/>
            <a:ext cx="4073171" cy="272084"/>
          </a:xfrm>
          <a:prstGeom prst="rect">
            <a:avLst/>
          </a:prstGeom>
          <a:noFill/>
          <a:ln w="476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585A14-A3A1-F048-AEB2-D277DBBE0904}"/>
              </a:ext>
            </a:extLst>
          </p:cNvPr>
          <p:cNvGrpSpPr/>
          <p:nvPr/>
        </p:nvGrpSpPr>
        <p:grpSpPr>
          <a:xfrm>
            <a:off x="5772150" y="2408764"/>
            <a:ext cx="1447447" cy="2092280"/>
            <a:chOff x="347534" y="1415445"/>
            <a:chExt cx="1675369" cy="267576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13C12B-5798-5140-A3FC-0771F64FD4DC}"/>
                </a:ext>
              </a:extLst>
            </p:cNvPr>
            <p:cNvSpPr/>
            <p:nvPr/>
          </p:nvSpPr>
          <p:spPr>
            <a:xfrm>
              <a:off x="347534" y="3540161"/>
              <a:ext cx="1675369" cy="5510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Ted Codd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16FD7ED-16C6-A34B-85E3-475F23617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8195" y="1415445"/>
              <a:ext cx="1490472" cy="2124715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4BB88B21-0F3A-2846-84C4-8CF24ADE5896}"/>
              </a:ext>
            </a:extLst>
          </p:cNvPr>
          <p:cNvSpPr/>
          <p:nvPr/>
        </p:nvSpPr>
        <p:spPr>
          <a:xfrm>
            <a:off x="-15611" y="6144485"/>
            <a:ext cx="9144000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… but also the reason GDBMSs can be very fast at those joins.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F37B24-A267-994C-BD84-B8BFB9C41A1F}"/>
              </a:ext>
            </a:extLst>
          </p:cNvPr>
          <p:cNvSpPr/>
          <p:nvPr/>
        </p:nvSpPr>
        <p:spPr>
          <a:xfrm>
            <a:off x="290765" y="1235001"/>
            <a:ext cx="3980140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Network Model (1960s)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IDS: First DBMS in history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0BC4C9-8903-3D42-97D0-A3FDE31B2078}"/>
              </a:ext>
            </a:extLst>
          </p:cNvPr>
          <p:cNvSpPr/>
          <p:nvPr/>
        </p:nvSpPr>
        <p:spPr>
          <a:xfrm>
            <a:off x="4565491" y="1235001"/>
            <a:ext cx="4181399" cy="5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Relational Model (1970s)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FF16BE7-E8DD-B14D-912E-C0031C849A5F}"/>
              </a:ext>
            </a:extLst>
          </p:cNvPr>
          <p:cNvGrpSpPr/>
          <p:nvPr/>
        </p:nvGrpSpPr>
        <p:grpSpPr>
          <a:xfrm>
            <a:off x="573275" y="2408764"/>
            <a:ext cx="3405149" cy="2137443"/>
            <a:chOff x="175037" y="1362457"/>
            <a:chExt cx="4304541" cy="2733526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9646013-CFC6-EA43-A3B0-7A825209C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3150" y="1362457"/>
              <a:ext cx="3111168" cy="2066543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B510284-D8CE-2646-9FD2-6A5533CAAD44}"/>
                </a:ext>
              </a:extLst>
            </p:cNvPr>
            <p:cNvSpPr/>
            <p:nvPr/>
          </p:nvSpPr>
          <p:spPr>
            <a:xfrm>
              <a:off x="175037" y="3304338"/>
              <a:ext cx="4304541" cy="7916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600" dirty="0">
                  <a:latin typeface="Trebuchet MS"/>
                  <a:cs typeface="Trebuchet MS"/>
                </a:rPr>
                <a:t>Charles Bachman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8811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" grpId="0" animBg="1"/>
      <p:bldP spid="16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7055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08" y="20518"/>
            <a:ext cx="913749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9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Differences Between Native GDBMSs vs RDBMSs (2)</a:t>
            </a:r>
            <a:endParaRPr lang="en-US" sz="2900" b="1" dirty="0">
              <a:solidFill>
                <a:srgbClr val="B9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15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BF2E2C-8024-C142-B34B-5DB7FCB1D4E2}"/>
              </a:ext>
            </a:extLst>
          </p:cNvPr>
          <p:cNvSpPr/>
          <p:nvPr/>
        </p:nvSpPr>
        <p:spPr>
          <a:xfrm>
            <a:off x="-3823" y="710935"/>
            <a:ext cx="9141313" cy="2239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Pre-defined/Pointer-based joins (access paths)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Semi-structured data model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fixed schema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Better support for variable-length recursive join queries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78DB90-730F-6A45-9473-DA1CB465FBDC}"/>
              </a:ext>
            </a:extLst>
          </p:cNvPr>
          <p:cNvSpPr txBox="1"/>
          <p:nvPr/>
        </p:nvSpPr>
        <p:spPr>
          <a:xfrm>
            <a:off x="869094" y="4129988"/>
            <a:ext cx="73927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nsolas"/>
                <a:cs typeface="Consolas"/>
              </a:rPr>
              <a:t>MATCH a-[</a:t>
            </a:r>
            <a:r>
              <a:rPr lang="en-US" sz="2200" dirty="0">
                <a:solidFill>
                  <a:srgbClr val="C00000"/>
                </a:solidFill>
                <a:latin typeface="Consolas"/>
                <a:cs typeface="Consolas"/>
              </a:rPr>
              <a:t>:Transfer*</a:t>
            </a:r>
            <a:r>
              <a:rPr lang="en-US" sz="2200" dirty="0">
                <a:latin typeface="Consolas"/>
                <a:cs typeface="Consolas"/>
              </a:rPr>
              <a:t>]-&gt;b</a:t>
            </a:r>
          </a:p>
          <a:p>
            <a:r>
              <a:rPr lang="en-US" sz="2200" dirty="0">
                <a:latin typeface="Consolas"/>
                <a:cs typeface="Consolas"/>
              </a:rPr>
              <a:t>WHERE </a:t>
            </a:r>
            <a:r>
              <a:rPr lang="en-US" sz="2200" dirty="0" err="1">
                <a:latin typeface="Consolas"/>
                <a:cs typeface="Consolas"/>
              </a:rPr>
              <a:t>a.location</a:t>
            </a:r>
            <a:r>
              <a:rPr lang="en-US" sz="2200" dirty="0">
                <a:latin typeface="Consolas"/>
                <a:cs typeface="Consolas"/>
              </a:rPr>
              <a:t>=Canada AND </a:t>
            </a:r>
            <a:r>
              <a:rPr lang="en-US" sz="2200" dirty="0" err="1">
                <a:latin typeface="Consolas"/>
                <a:cs typeface="Consolas"/>
              </a:rPr>
              <a:t>b.owner</a:t>
            </a:r>
            <a:r>
              <a:rPr lang="en-US" sz="2200" dirty="0">
                <a:latin typeface="Consolas"/>
                <a:cs typeface="Consolas"/>
              </a:rPr>
              <a:t>=Alice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A1D40A-13A4-F143-8D06-8C4EE62BDAAB}"/>
              </a:ext>
            </a:extLst>
          </p:cNvPr>
          <p:cNvSpPr txBox="1"/>
          <p:nvPr/>
        </p:nvSpPr>
        <p:spPr>
          <a:xfrm>
            <a:off x="645078" y="3203782"/>
            <a:ext cx="73927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“Give me all direct or indirect possible sources of money flow into Alice’s account from Canada.”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A41D77-12C1-E947-B742-1AD5E9846744}"/>
              </a:ext>
            </a:extLst>
          </p:cNvPr>
          <p:cNvSpPr/>
          <p:nvPr/>
        </p:nvSpPr>
        <p:spPr>
          <a:xfrm>
            <a:off x="1178718" y="4899219"/>
            <a:ext cx="6786563" cy="5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be done in recursive SQL but harder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D06095-BAE2-5345-8B97-88738A9FB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6" y="6601696"/>
            <a:ext cx="692709" cy="2309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873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19527" y="6652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527" y="0"/>
            <a:ext cx="913749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9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Semi-structured Datasets (1)</a:t>
            </a:r>
            <a:endParaRPr lang="en-US" sz="2900" b="1" dirty="0">
              <a:solidFill>
                <a:srgbClr val="B9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13E437-C647-B446-B711-4BF3974CDCD7}"/>
              </a:ext>
            </a:extLst>
          </p:cNvPr>
          <p:cNvSpPr/>
          <p:nvPr/>
        </p:nvSpPr>
        <p:spPr>
          <a:xfrm>
            <a:off x="-19527" y="748952"/>
            <a:ext cx="9124874" cy="2172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250"/>
              </a:lnSpc>
              <a:buFont typeface="Wingdings" pitchFamily="2" charset="2"/>
              <a:buChar char="Ø"/>
            </a:pPr>
            <a:r>
              <a:rPr lang="en-US" sz="2400" kern="0" dirty="0">
                <a:latin typeface="Arial"/>
                <a:cs typeface="Arial"/>
              </a:rPr>
              <a:t>Application: Question Answering over knowledge bases: encyclopedic facts about real-world entities</a:t>
            </a:r>
          </a:p>
          <a:p>
            <a:pPr marL="914400" lvl="1" indent="-457200">
              <a:lnSpc>
                <a:spcPts val="3250"/>
              </a:lnSpc>
              <a:buFont typeface="Wingdings" pitchFamily="2" charset="2"/>
              <a:buChar char="Ø"/>
            </a:pPr>
            <a:r>
              <a:rPr lang="en-US" sz="2400" kern="0" dirty="0">
                <a:latin typeface="Arial"/>
                <a:cs typeface="Arial"/>
              </a:rPr>
              <a:t>Also called “Knowledge Graphs”</a:t>
            </a:r>
          </a:p>
          <a:p>
            <a:pPr marL="457200" indent="-457200">
              <a:lnSpc>
                <a:spcPts val="3250"/>
              </a:lnSpc>
              <a:buFont typeface="Wingdings" pitchFamily="2" charset="2"/>
              <a:buChar char="Ø"/>
            </a:pPr>
            <a:r>
              <a:rPr lang="en-US" sz="2400" kern="0" dirty="0">
                <a:latin typeface="Arial"/>
                <a:cs typeface="Arial"/>
              </a:rPr>
              <a:t>Often too complex to structure: cannot have a fixed schema</a:t>
            </a:r>
          </a:p>
          <a:p>
            <a:pPr marL="457200" indent="-457200">
              <a:lnSpc>
                <a:spcPts val="3250"/>
              </a:lnSpc>
              <a:buFont typeface="Wingdings" pitchFamily="2" charset="2"/>
              <a:buChar char="Ø"/>
            </a:pPr>
            <a:r>
              <a:rPr lang="en-US" sz="2400" kern="0" dirty="0">
                <a:latin typeface="Arial"/>
                <a:cs typeface="Arial"/>
              </a:rPr>
              <a:t>Consider encoding all facts about Canadian Universities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FAF7A9-A69A-A74A-96E0-8CF2D37DC31B}"/>
              </a:ext>
            </a:extLst>
          </p:cNvPr>
          <p:cNvSpPr txBox="1"/>
          <p:nvPr/>
        </p:nvSpPr>
        <p:spPr>
          <a:xfrm>
            <a:off x="29090" y="2874702"/>
            <a:ext cx="908582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University of Waterloo vs York University</a:t>
            </a:r>
          </a:p>
          <a:p>
            <a:pPr marL="342900" indent="-342900" algn="ctr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Different faculty structures</a:t>
            </a:r>
          </a:p>
          <a:p>
            <a:pPr marL="342900" indent="-342900" algn="ctr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Different department structures</a:t>
            </a:r>
          </a:p>
          <a:p>
            <a:pPr marL="342900" indent="-342900" algn="ctr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Different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cirricula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Cannot tabulate this information. Need a flexible model.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3742AC-16AA-3C45-8C5C-342DBF234DEE}"/>
              </a:ext>
            </a:extLst>
          </p:cNvPr>
          <p:cNvSpPr/>
          <p:nvPr/>
        </p:nvSpPr>
        <p:spPr>
          <a:xfrm>
            <a:off x="234754" y="5675382"/>
            <a:ext cx="1694329" cy="45720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UWaterloo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CE83A8-FC13-CD4D-887B-885F02F62A56}"/>
              </a:ext>
            </a:extLst>
          </p:cNvPr>
          <p:cNvSpPr/>
          <p:nvPr/>
        </p:nvSpPr>
        <p:spPr>
          <a:xfrm>
            <a:off x="2579024" y="5199100"/>
            <a:ext cx="1694329" cy="45720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Math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F8488D-2082-084D-962D-09667C6AD43F}"/>
              </a:ext>
            </a:extLst>
          </p:cNvPr>
          <p:cNvSpPr/>
          <p:nvPr/>
        </p:nvSpPr>
        <p:spPr>
          <a:xfrm>
            <a:off x="2579024" y="6151664"/>
            <a:ext cx="1824316" cy="45720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Humanities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4F6A070-4234-F743-910B-AC0E7C56C685}"/>
              </a:ext>
            </a:extLst>
          </p:cNvPr>
          <p:cNvSpPr/>
          <p:nvPr/>
        </p:nvSpPr>
        <p:spPr>
          <a:xfrm>
            <a:off x="4572000" y="4746351"/>
            <a:ext cx="1694329" cy="45720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Pure Math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F2F497-1CDE-E648-80FD-E564FD511875}"/>
              </a:ext>
            </a:extLst>
          </p:cNvPr>
          <p:cNvSpPr/>
          <p:nvPr/>
        </p:nvSpPr>
        <p:spPr>
          <a:xfrm>
            <a:off x="4572000" y="5651848"/>
            <a:ext cx="1694329" cy="45720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865908-723A-ED4F-9B66-994708985541}"/>
              </a:ext>
            </a:extLst>
          </p:cNvPr>
          <p:cNvSpPr/>
          <p:nvPr/>
        </p:nvSpPr>
        <p:spPr>
          <a:xfrm>
            <a:off x="7035622" y="5304033"/>
            <a:ext cx="1694329" cy="45720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 341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929969F-A165-1A4B-9BCE-BE7DEB9BC53E}"/>
              </a:ext>
            </a:extLst>
          </p:cNvPr>
          <p:cNvSpPr/>
          <p:nvPr/>
        </p:nvSpPr>
        <p:spPr>
          <a:xfrm>
            <a:off x="7035622" y="5999663"/>
            <a:ext cx="1694329" cy="45720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 348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F4A776-5C85-FB4B-80B8-2ED6A6DE7B44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1680954" y="5589345"/>
            <a:ext cx="1146199" cy="1529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D8D50C0-4DA2-FE4A-837B-B9CF4BC5EF51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1680954" y="6065627"/>
            <a:ext cx="1165235" cy="1529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3EBBE3-A606-E44A-9BDC-8A972C21BF83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025224" y="5136596"/>
            <a:ext cx="794905" cy="129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B62C83-2839-0343-B309-AC127BED21B8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4025224" y="5589345"/>
            <a:ext cx="794905" cy="1294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BBA0CD5-98BA-1749-90C7-18BB61C34D93}"/>
              </a:ext>
            </a:extLst>
          </p:cNvPr>
          <p:cNvCxnSpPr>
            <a:cxnSpLocks/>
            <a:stCxn id="12" idx="7"/>
            <a:endCxn id="13" idx="2"/>
          </p:cNvCxnSpPr>
          <p:nvPr/>
        </p:nvCxnSpPr>
        <p:spPr>
          <a:xfrm flipV="1">
            <a:off x="6018200" y="5532633"/>
            <a:ext cx="1017422" cy="186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066925-DA82-9945-A07F-6B909804AC99}"/>
              </a:ext>
            </a:extLst>
          </p:cNvPr>
          <p:cNvCxnSpPr>
            <a:cxnSpLocks/>
            <a:stCxn id="12" idx="5"/>
            <a:endCxn id="14" idx="2"/>
          </p:cNvCxnSpPr>
          <p:nvPr/>
        </p:nvCxnSpPr>
        <p:spPr>
          <a:xfrm>
            <a:off x="6018200" y="6042093"/>
            <a:ext cx="1017422" cy="186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DFB4544-3159-CE4F-A390-8601DB6FCE7A}"/>
              </a:ext>
            </a:extLst>
          </p:cNvPr>
          <p:cNvSpPr/>
          <p:nvPr/>
        </p:nvSpPr>
        <p:spPr>
          <a:xfrm rot="20691326">
            <a:off x="1530400" y="5237489"/>
            <a:ext cx="1079827" cy="468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 kern="0" dirty="0">
                <a:latin typeface="Arial"/>
                <a:cs typeface="Arial"/>
              </a:rPr>
              <a:t>faculty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9B1AA2-7141-F745-BE29-27FEBB77B7CF}"/>
              </a:ext>
            </a:extLst>
          </p:cNvPr>
          <p:cNvSpPr/>
          <p:nvPr/>
        </p:nvSpPr>
        <p:spPr>
          <a:xfrm rot="407959">
            <a:off x="1510750" y="6052570"/>
            <a:ext cx="1079827" cy="468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 kern="0" dirty="0">
                <a:latin typeface="Arial"/>
                <a:cs typeface="Arial"/>
              </a:rPr>
              <a:t>faculty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D7D28E-F5F3-B342-AC70-48263C9AA103}"/>
              </a:ext>
            </a:extLst>
          </p:cNvPr>
          <p:cNvSpPr/>
          <p:nvPr/>
        </p:nvSpPr>
        <p:spPr>
          <a:xfrm rot="20722326">
            <a:off x="3645772" y="4748084"/>
            <a:ext cx="1079827" cy="468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 kern="0" dirty="0">
                <a:latin typeface="Arial"/>
                <a:cs typeface="Arial"/>
              </a:rPr>
              <a:t>school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D45477-760C-CE4C-9385-3C81D0CF4A07}"/>
              </a:ext>
            </a:extLst>
          </p:cNvPr>
          <p:cNvSpPr/>
          <p:nvPr/>
        </p:nvSpPr>
        <p:spPr>
          <a:xfrm rot="502891">
            <a:off x="3657504" y="5508789"/>
            <a:ext cx="1079827" cy="468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 kern="0" dirty="0">
                <a:latin typeface="Arial"/>
                <a:cs typeface="Arial"/>
              </a:rPr>
              <a:t>school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D97C07-54CA-8844-9629-0BA06B75A58B}"/>
              </a:ext>
            </a:extLst>
          </p:cNvPr>
          <p:cNvSpPr/>
          <p:nvPr/>
        </p:nvSpPr>
        <p:spPr>
          <a:xfrm rot="20906222">
            <a:off x="5824520" y="5198549"/>
            <a:ext cx="1079827" cy="468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 kern="0" dirty="0">
                <a:latin typeface="Arial"/>
                <a:cs typeface="Arial"/>
              </a:rPr>
              <a:t>course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77EAFD-FAE2-374D-83C3-B987300F7543}"/>
              </a:ext>
            </a:extLst>
          </p:cNvPr>
          <p:cNvSpPr/>
          <p:nvPr/>
        </p:nvSpPr>
        <p:spPr>
          <a:xfrm rot="585516">
            <a:off x="5797084" y="6015445"/>
            <a:ext cx="1079827" cy="468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 kern="0" dirty="0">
                <a:latin typeface="Arial"/>
                <a:cs typeface="Arial"/>
              </a:rPr>
              <a:t>course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77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7055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123" y="25400"/>
            <a:ext cx="9089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3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Links &amp; a 1962 Drawing of IDS’s Network Model</a:t>
            </a:r>
            <a:endParaRPr lang="en-US" sz="3200" dirty="0">
              <a:solidFill>
                <a:srgbClr val="B9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17</a:t>
            </a:fld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94C58D-6861-C94A-A648-4CEE0285EDE7}"/>
              </a:ext>
            </a:extLst>
          </p:cNvPr>
          <p:cNvSpPr/>
          <p:nvPr/>
        </p:nvSpPr>
        <p:spPr>
          <a:xfrm>
            <a:off x="-22835" y="4090145"/>
            <a:ext cx="9131383" cy="2805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Haigh’s Paper on the Birth of DBs and IDS (2006):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"A Veritable Bucket of Facts”: Origins of the Data Base Management System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Bachman’s Turing Award Lecture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(1973): Programmer As a Navigator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Bachman’s Talk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(2002) at Computer History Museum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  <a:hlinkClick r:id="rId7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Codd’s Turing Award Lecture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(1981): Relational Database: A Practical Foundation for Productivity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ACD11-849E-2940-8B15-A171CD3159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5403" y="786030"/>
            <a:ext cx="3573194" cy="33041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184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38139" y="1340470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18</a:t>
            </a:fld>
            <a:endParaRPr lang="en-US"/>
          </a:p>
        </p:txBody>
      </p:sp>
      <p:pic>
        <p:nvPicPr>
          <p:cNvPr id="43" name="Picture 42" descr="graphflow.png">
            <a:extLst>
              <a:ext uri="{FF2B5EF4-FFF2-40B4-BE49-F238E27FC236}">
                <a16:creationId xmlns:a16="http://schemas.microsoft.com/office/drawing/2014/main" id="{90F1D896-533E-0248-9EA3-4646D08841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09" y="81794"/>
            <a:ext cx="2701583" cy="12428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AE4798D-0EFC-CB4F-9730-74957B3AA633}"/>
              </a:ext>
            </a:extLst>
          </p:cNvPr>
          <p:cNvSpPr/>
          <p:nvPr/>
        </p:nvSpPr>
        <p:spPr>
          <a:xfrm>
            <a:off x="-6509" y="1273293"/>
            <a:ext cx="9112370" cy="5009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In-memory Graph DBMS: Property graph model &amp;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openCypher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 primary features: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Very fast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n-n joins: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Trebuchet MS"/>
              <a:cs typeface="Trebuchet MS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Scalability: compressed, in-memory columnar storage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61486E2-5755-6E4D-98D1-D31A223A0B14}"/>
              </a:ext>
            </a:extLst>
          </p:cNvPr>
          <p:cNvGraphicFramePr>
            <a:graphicFrameLocks noGrp="1"/>
          </p:cNvGraphicFramePr>
          <p:nvPr/>
        </p:nvGraphicFramePr>
        <p:xfrm>
          <a:off x="475371" y="3213605"/>
          <a:ext cx="8193258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81504">
                  <a:extLst>
                    <a:ext uri="{9D8B030D-6E8A-4147-A177-3AD203B41FA5}">
                      <a16:colId xmlns:a16="http://schemas.microsoft.com/office/drawing/2014/main" val="2853458747"/>
                    </a:ext>
                  </a:extLst>
                </a:gridCol>
                <a:gridCol w="4011754">
                  <a:extLst>
                    <a:ext uri="{9D8B030D-6E8A-4147-A177-3AD203B41FA5}">
                      <a16:colId xmlns:a16="http://schemas.microsoft.com/office/drawing/2014/main" val="76594260"/>
                    </a:ext>
                  </a:extLst>
                </a:gridCol>
              </a:tblGrid>
              <a:tr h="349374">
                <a:tc>
                  <a:txBody>
                    <a:bodyPr/>
                    <a:lstStyle/>
                    <a:p>
                      <a:pPr algn="ctr"/>
                      <a:r>
                        <a:rPr lang="en-US" sz="210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GraphflowDB</a:t>
                      </a:r>
                      <a:endParaRPr lang="en-US" sz="210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RDBMS Literature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99014"/>
                  </a:ext>
                </a:extLst>
              </a:tr>
              <a:tr h="34937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List-based, Factorized Query 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Factorized DBs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70464"/>
                  </a:ext>
                </a:extLst>
              </a:tr>
              <a:tr h="349374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Multiway intersection-based joins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WCO joins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93087"/>
                  </a:ext>
                </a:extLst>
              </a:tr>
              <a:tr h="547922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A+ Indexes: Flexible Adjacency List Indexes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Materialized 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942014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B35A10D-5AC4-D04F-9056-1EA24B7655C2}"/>
              </a:ext>
            </a:extLst>
          </p:cNvPr>
          <p:cNvSpPr/>
          <p:nvPr/>
        </p:nvSpPr>
        <p:spPr>
          <a:xfrm>
            <a:off x="786612" y="3634752"/>
            <a:ext cx="3583641" cy="692208"/>
          </a:xfrm>
          <a:prstGeom prst="roundRect">
            <a:avLst/>
          </a:prstGeom>
          <a:noFill/>
          <a:ln w="444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3F4579-63F0-0D4E-A454-68E1BB29A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26" y="6601696"/>
            <a:ext cx="692709" cy="2309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4568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63504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3891" y="6169752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/>
              <a:t>19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8615-162E-0446-97BA-6A74199ED555}"/>
              </a:ext>
            </a:extLst>
          </p:cNvPr>
          <p:cNvSpPr txBox="1"/>
          <p:nvPr/>
        </p:nvSpPr>
        <p:spPr>
          <a:xfrm>
            <a:off x="-60297" y="-10993"/>
            <a:ext cx="9258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latin typeface="Arial"/>
                <a:cs typeface="Arial"/>
              </a:rPr>
              <a:t>Flat Block-based Processing In Read-optimized RDBMSs</a:t>
            </a:r>
            <a:endParaRPr lang="en-US" sz="2800" b="1" dirty="0">
              <a:solidFill>
                <a:srgbClr val="B9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93D4BC-B391-434F-B1C3-4C788BE1394F}"/>
              </a:ext>
            </a:extLst>
          </p:cNvPr>
          <p:cNvSpPr txBox="1"/>
          <p:nvPr/>
        </p:nvSpPr>
        <p:spPr>
          <a:xfrm>
            <a:off x="71920" y="2741856"/>
            <a:ext cx="267128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onsolas"/>
                <a:cs typeface="Consolas"/>
              </a:rPr>
              <a:t>SELECT dep, avg(age)</a:t>
            </a:r>
          </a:p>
          <a:p>
            <a:r>
              <a:rPr lang="en-US" sz="1700" dirty="0">
                <a:latin typeface="Consolas"/>
                <a:cs typeface="Consolas"/>
              </a:rPr>
              <a:t>FROM Employee E</a:t>
            </a:r>
          </a:p>
          <a:p>
            <a:r>
              <a:rPr lang="en-US" sz="1700" dirty="0">
                <a:latin typeface="Consolas"/>
                <a:cs typeface="Consolas"/>
              </a:rPr>
              <a:t>WHERE age &gt; 30</a:t>
            </a:r>
          </a:p>
        </p:txBody>
      </p:sp>
      <p:graphicFrame>
        <p:nvGraphicFramePr>
          <p:cNvPr id="32" name="Table 9">
            <a:extLst>
              <a:ext uri="{FF2B5EF4-FFF2-40B4-BE49-F238E27FC236}">
                <a16:creationId xmlns:a16="http://schemas.microsoft.com/office/drawing/2014/main" id="{C2FD80C7-A8AD-A747-A02D-6FD2C3F481CD}"/>
              </a:ext>
            </a:extLst>
          </p:cNvPr>
          <p:cNvGraphicFramePr>
            <a:graphicFrameLocks noGrp="1"/>
          </p:cNvGraphicFramePr>
          <p:nvPr/>
        </p:nvGraphicFramePr>
        <p:xfrm>
          <a:off x="169555" y="3712749"/>
          <a:ext cx="197174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818">
                  <a:extLst>
                    <a:ext uri="{9D8B030D-6E8A-4147-A177-3AD203B41FA5}">
                      <a16:colId xmlns:a16="http://schemas.microsoft.com/office/drawing/2014/main" val="445756136"/>
                    </a:ext>
                  </a:extLst>
                </a:gridCol>
                <a:gridCol w="567754">
                  <a:extLst>
                    <a:ext uri="{9D8B030D-6E8A-4147-A177-3AD203B41FA5}">
                      <a16:colId xmlns:a16="http://schemas.microsoft.com/office/drawing/2014/main" val="1750544339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492969902"/>
                    </a:ext>
                  </a:extLst>
                </a:gridCol>
              </a:tblGrid>
              <a:tr h="257434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u="sng" dirty="0"/>
                        <a:t>Employee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u="sng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u="sng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915550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 err="1"/>
                        <a:t>eID</a:t>
                      </a:r>
                      <a:endParaRPr lang="en-US" b="1" u="sng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/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/>
                        <a:t>dep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700020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96556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85377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315624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5402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794684"/>
                  </a:ext>
                </a:extLst>
              </a:tr>
            </a:tbl>
          </a:graphicData>
        </a:graphic>
      </p:graphicFrame>
      <p:grpSp>
        <p:nvGrpSpPr>
          <p:cNvPr id="60" name="Group 59">
            <a:extLst>
              <a:ext uri="{FF2B5EF4-FFF2-40B4-BE49-F238E27FC236}">
                <a16:creationId xmlns:a16="http://schemas.microsoft.com/office/drawing/2014/main" id="{3C56BD7E-48FE-1740-A2B4-E7A6AA19F8B7}"/>
              </a:ext>
            </a:extLst>
          </p:cNvPr>
          <p:cNvGrpSpPr/>
          <p:nvPr/>
        </p:nvGrpSpPr>
        <p:grpSpPr>
          <a:xfrm>
            <a:off x="3182374" y="2854490"/>
            <a:ext cx="5652137" cy="669799"/>
            <a:chOff x="5454335" y="2577694"/>
            <a:chExt cx="5652137" cy="669799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0ABF566-22D1-A04C-A695-B21AF1CC2AC4}"/>
                </a:ext>
              </a:extLst>
            </p:cNvPr>
            <p:cNvSpPr/>
            <p:nvPr/>
          </p:nvSpPr>
          <p:spPr>
            <a:xfrm>
              <a:off x="5454335" y="2649354"/>
              <a:ext cx="1953030" cy="520255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Employees: age &gt; 30, dep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A5632235-AE4F-8E4D-833C-D50A41B222B0}"/>
                </a:ext>
              </a:extLst>
            </p:cNvPr>
            <p:cNvSpPr/>
            <p:nvPr/>
          </p:nvSpPr>
          <p:spPr>
            <a:xfrm>
              <a:off x="8162418" y="2577694"/>
              <a:ext cx="2944054" cy="669799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GroupBy</a:t>
              </a:r>
              <a:r>
                <a:rPr lang="en-US" dirty="0">
                  <a:solidFill>
                    <a:schemeClr val="tx1"/>
                  </a:solidFill>
                </a:rPr>
                <a:t> &amp; Aggregate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key: dep, </a:t>
              </a:r>
              <a:r>
                <a:rPr lang="en-US" dirty="0" err="1">
                  <a:solidFill>
                    <a:schemeClr val="tx1"/>
                  </a:solidFill>
                </a:rPr>
                <a:t>aggr</a:t>
              </a:r>
              <a:r>
                <a:rPr lang="en-US" dirty="0">
                  <a:solidFill>
                    <a:schemeClr val="tx1"/>
                  </a:solidFill>
                </a:rPr>
                <a:t>: avg(age)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1AAC9BE-D290-CD49-AD57-9C77E498B0D9}"/>
                </a:ext>
              </a:extLst>
            </p:cNvPr>
            <p:cNvCxnSpPr>
              <a:cxnSpLocks/>
              <a:stCxn id="14" idx="3"/>
              <a:endCxn id="29" idx="1"/>
            </p:cNvCxnSpPr>
            <p:nvPr/>
          </p:nvCxnSpPr>
          <p:spPr>
            <a:xfrm>
              <a:off x="7407365" y="2909482"/>
              <a:ext cx="755053" cy="3112"/>
            </a:xfrm>
            <a:prstGeom prst="line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0CEBBB9-5294-3744-9454-20CA761DF6A9}"/>
              </a:ext>
            </a:extLst>
          </p:cNvPr>
          <p:cNvSpPr txBox="1"/>
          <p:nvPr/>
        </p:nvSpPr>
        <p:spPr>
          <a:xfrm>
            <a:off x="-74366" y="602362"/>
            <a:ext cx="9401245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6032" indent="-25603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Columnar RDBMSs, e.g.,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Vectorwise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Vertica</a:t>
            </a:r>
          </a:p>
          <a:p>
            <a:pPr marL="256032" indent="-25603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Optimized for OLAP workloads (online analytical processing)</a:t>
            </a:r>
          </a:p>
          <a:p>
            <a:pPr marL="713232" lvl="1" indent="-25603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Read-heavy but joins are not n-n, and aggregation-heavy</a:t>
            </a:r>
          </a:p>
          <a:p>
            <a:pPr marL="256032" indent="-25603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Operators process a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block of flat tuples at-a-time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for loops.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E1EFAF11-8565-8541-96FD-D87250393B08}"/>
              </a:ext>
            </a:extLst>
          </p:cNvPr>
          <p:cNvGraphicFramePr>
            <a:graphicFrameLocks noGrp="1"/>
          </p:cNvGraphicFramePr>
          <p:nvPr/>
        </p:nvGraphicFramePr>
        <p:xfrm>
          <a:off x="3147531" y="3665214"/>
          <a:ext cx="1987873" cy="20116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736918">
                  <a:extLst>
                    <a:ext uri="{9D8B030D-6E8A-4147-A177-3AD203B41FA5}">
                      <a16:colId xmlns:a16="http://schemas.microsoft.com/office/drawing/2014/main" val="756443269"/>
                    </a:ext>
                  </a:extLst>
                </a:gridCol>
                <a:gridCol w="514037">
                  <a:extLst>
                    <a:ext uri="{9D8B030D-6E8A-4147-A177-3AD203B41FA5}">
                      <a16:colId xmlns:a16="http://schemas.microsoft.com/office/drawing/2014/main" val="106623427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160116245"/>
                    </a:ext>
                  </a:extLst>
                </a:gridCol>
              </a:tblGrid>
              <a:tr h="221436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dep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sng" dirty="0" err="1">
                          <a:solidFill>
                            <a:schemeClr val="tx1"/>
                          </a:solidFill>
                        </a:rPr>
                        <a:t>fmask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788007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42360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402598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51123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415669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22058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32FC84D-B5FF-1F4D-BFCF-A8640830A22A}"/>
              </a:ext>
            </a:extLst>
          </p:cNvPr>
          <p:cNvCxnSpPr>
            <a:cxnSpLocks/>
          </p:cNvCxnSpPr>
          <p:nvPr/>
        </p:nvCxnSpPr>
        <p:spPr>
          <a:xfrm flipH="1" flipV="1">
            <a:off x="5209914" y="4163826"/>
            <a:ext cx="23006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3D0BE10-EEE3-084F-92CC-8F76AA82DAA1}"/>
              </a:ext>
            </a:extLst>
          </p:cNvPr>
          <p:cNvCxnSpPr>
            <a:cxnSpLocks/>
          </p:cNvCxnSpPr>
          <p:nvPr/>
        </p:nvCxnSpPr>
        <p:spPr>
          <a:xfrm flipH="1" flipV="1">
            <a:off x="5210284" y="4500451"/>
            <a:ext cx="22932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C327F98-8AAA-D941-823C-C1603C559148}"/>
              </a:ext>
            </a:extLst>
          </p:cNvPr>
          <p:cNvCxnSpPr>
            <a:cxnSpLocks/>
          </p:cNvCxnSpPr>
          <p:nvPr/>
        </p:nvCxnSpPr>
        <p:spPr>
          <a:xfrm flipH="1" flipV="1">
            <a:off x="5211456" y="4837076"/>
            <a:ext cx="22698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DDFBBA6-90D9-CD48-BBCD-C65F12D8CDCA}"/>
              </a:ext>
            </a:extLst>
          </p:cNvPr>
          <p:cNvCxnSpPr>
            <a:cxnSpLocks/>
          </p:cNvCxnSpPr>
          <p:nvPr/>
        </p:nvCxnSpPr>
        <p:spPr>
          <a:xfrm flipH="1" flipV="1">
            <a:off x="5210647" y="5173701"/>
            <a:ext cx="2286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F292CE6-9B35-3B4E-9770-D8D43A048133}"/>
              </a:ext>
            </a:extLst>
          </p:cNvPr>
          <p:cNvCxnSpPr>
            <a:cxnSpLocks/>
          </p:cNvCxnSpPr>
          <p:nvPr/>
        </p:nvCxnSpPr>
        <p:spPr>
          <a:xfrm flipH="1" flipV="1">
            <a:off x="5210647" y="5510327"/>
            <a:ext cx="2286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FF89295-2474-234C-BF8E-D3E8CFAB78D8}"/>
              </a:ext>
            </a:extLst>
          </p:cNvPr>
          <p:cNvSpPr/>
          <p:nvPr/>
        </p:nvSpPr>
        <p:spPr>
          <a:xfrm>
            <a:off x="2300377" y="5700346"/>
            <a:ext cx="6425105" cy="104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Block-based: Good CPU utilization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kern="0" dirty="0">
                <a:solidFill>
                  <a:srgbClr val="C00000"/>
                </a:solidFill>
                <a:latin typeface="Arial"/>
                <a:cs typeface="Arial"/>
              </a:rPr>
              <a:t>Flat Tuples: Not optimized for n-n joins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F8FE789-6128-D043-B32A-11BF9C05A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6" y="6496076"/>
            <a:ext cx="1009574" cy="336524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34E79E8-C569-8443-B7BB-2C17539EBA6A}"/>
              </a:ext>
            </a:extLst>
          </p:cNvPr>
          <p:cNvGraphicFramePr>
            <a:graphicFrameLocks noGrp="1"/>
          </p:cNvGraphicFramePr>
          <p:nvPr/>
        </p:nvGraphicFramePr>
        <p:xfrm>
          <a:off x="3145536" y="3666205"/>
          <a:ext cx="1987873" cy="20116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736918">
                  <a:extLst>
                    <a:ext uri="{9D8B030D-6E8A-4147-A177-3AD203B41FA5}">
                      <a16:colId xmlns:a16="http://schemas.microsoft.com/office/drawing/2014/main" val="756443269"/>
                    </a:ext>
                  </a:extLst>
                </a:gridCol>
                <a:gridCol w="514037">
                  <a:extLst>
                    <a:ext uri="{9D8B030D-6E8A-4147-A177-3AD203B41FA5}">
                      <a16:colId xmlns:a16="http://schemas.microsoft.com/office/drawing/2014/main" val="106623427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160116245"/>
                    </a:ext>
                  </a:extLst>
                </a:gridCol>
              </a:tblGrid>
              <a:tr h="221436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dep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sng" dirty="0" err="1">
                          <a:solidFill>
                            <a:schemeClr val="tx1"/>
                          </a:solidFill>
                        </a:rPr>
                        <a:t>fmask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788007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42360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402598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51123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415669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22058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27218C4-30AD-8D4C-8F2B-0378F8701AC9}"/>
              </a:ext>
            </a:extLst>
          </p:cNvPr>
          <p:cNvGraphicFramePr>
            <a:graphicFrameLocks noGrp="1"/>
          </p:cNvGraphicFramePr>
          <p:nvPr/>
        </p:nvGraphicFramePr>
        <p:xfrm>
          <a:off x="3145536" y="3666205"/>
          <a:ext cx="1987873" cy="20116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736918">
                  <a:extLst>
                    <a:ext uri="{9D8B030D-6E8A-4147-A177-3AD203B41FA5}">
                      <a16:colId xmlns:a16="http://schemas.microsoft.com/office/drawing/2014/main" val="756443269"/>
                    </a:ext>
                  </a:extLst>
                </a:gridCol>
                <a:gridCol w="514037">
                  <a:extLst>
                    <a:ext uri="{9D8B030D-6E8A-4147-A177-3AD203B41FA5}">
                      <a16:colId xmlns:a16="http://schemas.microsoft.com/office/drawing/2014/main" val="106623427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160116245"/>
                    </a:ext>
                  </a:extLst>
                </a:gridCol>
              </a:tblGrid>
              <a:tr h="221436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dep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sng" dirty="0" err="1">
                          <a:solidFill>
                            <a:schemeClr val="tx1"/>
                          </a:solidFill>
                        </a:rPr>
                        <a:t>fmask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788007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42360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402598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51123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415669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22058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3B1A7EA-5927-714B-B179-03F0662B5A9E}"/>
              </a:ext>
            </a:extLst>
          </p:cNvPr>
          <p:cNvGraphicFramePr>
            <a:graphicFrameLocks noGrp="1"/>
          </p:cNvGraphicFramePr>
          <p:nvPr/>
        </p:nvGraphicFramePr>
        <p:xfrm>
          <a:off x="3145536" y="3666205"/>
          <a:ext cx="1987873" cy="20116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736918">
                  <a:extLst>
                    <a:ext uri="{9D8B030D-6E8A-4147-A177-3AD203B41FA5}">
                      <a16:colId xmlns:a16="http://schemas.microsoft.com/office/drawing/2014/main" val="756443269"/>
                    </a:ext>
                  </a:extLst>
                </a:gridCol>
                <a:gridCol w="514037">
                  <a:extLst>
                    <a:ext uri="{9D8B030D-6E8A-4147-A177-3AD203B41FA5}">
                      <a16:colId xmlns:a16="http://schemas.microsoft.com/office/drawing/2014/main" val="106623427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160116245"/>
                    </a:ext>
                  </a:extLst>
                </a:gridCol>
              </a:tblGrid>
              <a:tr h="221436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dep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sng" dirty="0" err="1">
                          <a:solidFill>
                            <a:schemeClr val="tx1"/>
                          </a:solidFill>
                        </a:rPr>
                        <a:t>fmask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788007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42360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402598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51123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415669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22058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0CCF728-601D-AA44-AE51-94BBEEB73FF5}"/>
              </a:ext>
            </a:extLst>
          </p:cNvPr>
          <p:cNvGraphicFramePr>
            <a:graphicFrameLocks noGrp="1"/>
          </p:cNvGraphicFramePr>
          <p:nvPr/>
        </p:nvGraphicFramePr>
        <p:xfrm>
          <a:off x="3145536" y="3666205"/>
          <a:ext cx="1987873" cy="20116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736918">
                  <a:extLst>
                    <a:ext uri="{9D8B030D-6E8A-4147-A177-3AD203B41FA5}">
                      <a16:colId xmlns:a16="http://schemas.microsoft.com/office/drawing/2014/main" val="756443269"/>
                    </a:ext>
                  </a:extLst>
                </a:gridCol>
                <a:gridCol w="514037">
                  <a:extLst>
                    <a:ext uri="{9D8B030D-6E8A-4147-A177-3AD203B41FA5}">
                      <a16:colId xmlns:a16="http://schemas.microsoft.com/office/drawing/2014/main" val="106623427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160116245"/>
                    </a:ext>
                  </a:extLst>
                </a:gridCol>
              </a:tblGrid>
              <a:tr h="221436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dep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sng" dirty="0" err="1">
                          <a:solidFill>
                            <a:schemeClr val="tx1"/>
                          </a:solidFill>
                        </a:rPr>
                        <a:t>fmask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788007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42360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402598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51123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415669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22058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13BB136-55B0-EC4F-A24C-1B838BE4D114}"/>
              </a:ext>
            </a:extLst>
          </p:cNvPr>
          <p:cNvGraphicFramePr>
            <a:graphicFrameLocks noGrp="1"/>
          </p:cNvGraphicFramePr>
          <p:nvPr/>
        </p:nvGraphicFramePr>
        <p:xfrm>
          <a:off x="3145536" y="3666205"/>
          <a:ext cx="1987873" cy="20116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736918">
                  <a:extLst>
                    <a:ext uri="{9D8B030D-6E8A-4147-A177-3AD203B41FA5}">
                      <a16:colId xmlns:a16="http://schemas.microsoft.com/office/drawing/2014/main" val="756443269"/>
                    </a:ext>
                  </a:extLst>
                </a:gridCol>
                <a:gridCol w="514037">
                  <a:extLst>
                    <a:ext uri="{9D8B030D-6E8A-4147-A177-3AD203B41FA5}">
                      <a16:colId xmlns:a16="http://schemas.microsoft.com/office/drawing/2014/main" val="106623427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160116245"/>
                    </a:ext>
                  </a:extLst>
                </a:gridCol>
              </a:tblGrid>
              <a:tr h="221436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dep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sng" dirty="0" err="1">
                          <a:solidFill>
                            <a:schemeClr val="tx1"/>
                          </a:solidFill>
                        </a:rPr>
                        <a:t>fmask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788007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42360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402598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51123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415669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22058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92D77871-86EF-044C-8E64-F41E6B3710EF}"/>
              </a:ext>
            </a:extLst>
          </p:cNvPr>
          <p:cNvGraphicFramePr>
            <a:graphicFrameLocks noGrp="1"/>
          </p:cNvGraphicFramePr>
          <p:nvPr/>
        </p:nvGraphicFramePr>
        <p:xfrm>
          <a:off x="3145536" y="3666205"/>
          <a:ext cx="1250955" cy="20116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736918">
                  <a:extLst>
                    <a:ext uri="{9D8B030D-6E8A-4147-A177-3AD203B41FA5}">
                      <a16:colId xmlns:a16="http://schemas.microsoft.com/office/drawing/2014/main" val="756443269"/>
                    </a:ext>
                  </a:extLst>
                </a:gridCol>
                <a:gridCol w="514037">
                  <a:extLst>
                    <a:ext uri="{9D8B030D-6E8A-4147-A177-3AD203B41FA5}">
                      <a16:colId xmlns:a16="http://schemas.microsoft.com/office/drawing/2014/main" val="106623427"/>
                    </a:ext>
                  </a:extLst>
                </a:gridCol>
              </a:tblGrid>
              <a:tr h="221436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dep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788007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42360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402598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51123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415669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2205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6176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22222E-6 L 0.31337 -0.00023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94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63504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3891" y="6588680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/>
              <a:t>20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8615-162E-0446-97BA-6A74199ED555}"/>
              </a:ext>
            </a:extLst>
          </p:cNvPr>
          <p:cNvSpPr txBox="1"/>
          <p:nvPr/>
        </p:nvSpPr>
        <p:spPr>
          <a:xfrm>
            <a:off x="-4025" y="-10993"/>
            <a:ext cx="8534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latin typeface="Arial"/>
                <a:cs typeface="Arial"/>
              </a:rPr>
              <a:t>Value Repetitions When Performing n-n Joins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8" name="Table 89">
            <a:extLst>
              <a:ext uri="{FF2B5EF4-FFF2-40B4-BE49-F238E27FC236}">
                <a16:creationId xmlns:a16="http://schemas.microsoft.com/office/drawing/2014/main" id="{48098250-C6D8-3E45-A6B1-A0A16700ADD7}"/>
              </a:ext>
            </a:extLst>
          </p:cNvPr>
          <p:cNvGraphicFramePr>
            <a:graphicFrameLocks noGrp="1"/>
          </p:cNvGraphicFramePr>
          <p:nvPr/>
        </p:nvGraphicFramePr>
        <p:xfrm>
          <a:off x="306268" y="3172487"/>
          <a:ext cx="2307146" cy="29903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55">
                  <a:extLst>
                    <a:ext uri="{9D8B030D-6E8A-4147-A177-3AD203B41FA5}">
                      <a16:colId xmlns:a16="http://schemas.microsoft.com/office/drawing/2014/main" val="2830262626"/>
                    </a:ext>
                  </a:extLst>
                </a:gridCol>
                <a:gridCol w="844423">
                  <a:extLst>
                    <a:ext uri="{9D8B030D-6E8A-4147-A177-3AD203B41FA5}">
                      <a16:colId xmlns:a16="http://schemas.microsoft.com/office/drawing/2014/main" val="2411793528"/>
                    </a:ext>
                  </a:extLst>
                </a:gridCol>
                <a:gridCol w="806768">
                  <a:extLst>
                    <a:ext uri="{9D8B030D-6E8A-4147-A177-3AD203B41FA5}">
                      <a16:colId xmlns:a16="http://schemas.microsoft.com/office/drawing/2014/main" val="1655692077"/>
                    </a:ext>
                  </a:extLst>
                </a:gridCol>
              </a:tblGrid>
              <a:tr h="392505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 err="1"/>
                        <a:t>fmask</a:t>
                      </a:r>
                      <a:endParaRPr lang="en-US" sz="1600" b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051445"/>
                  </a:ext>
                </a:extLst>
              </a:tr>
              <a:tr h="3925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344886"/>
                  </a:ext>
                </a:extLst>
              </a:tr>
              <a:tr h="3925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88350"/>
                  </a:ext>
                </a:extLst>
              </a:tr>
              <a:tr h="35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09040"/>
                  </a:ext>
                </a:extLst>
              </a:tr>
              <a:tr h="1069515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762404"/>
                  </a:ext>
                </a:extLst>
              </a:tr>
              <a:tr h="3925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199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868900"/>
                  </a:ext>
                </a:extLst>
              </a:tr>
            </a:tbl>
          </a:graphicData>
        </a:graphic>
      </p:graphicFrame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4EFECC1E-BA3D-054B-9EBA-9DFEFE622144}"/>
              </a:ext>
            </a:extLst>
          </p:cNvPr>
          <p:cNvSpPr/>
          <p:nvPr/>
        </p:nvSpPr>
        <p:spPr>
          <a:xfrm>
            <a:off x="3652072" y="3495578"/>
            <a:ext cx="399268" cy="2667239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4" name="Table 7">
            <a:extLst>
              <a:ext uri="{FF2B5EF4-FFF2-40B4-BE49-F238E27FC236}">
                <a16:creationId xmlns:a16="http://schemas.microsoft.com/office/drawing/2014/main" id="{D563A50B-C261-2F45-B0BC-8CCC8E5BEFC2}"/>
              </a:ext>
            </a:extLst>
          </p:cNvPr>
          <p:cNvGraphicFramePr>
            <a:graphicFrameLocks noGrp="1"/>
          </p:cNvGraphicFramePr>
          <p:nvPr/>
        </p:nvGraphicFramePr>
        <p:xfrm>
          <a:off x="3630024" y="3148296"/>
          <a:ext cx="3038622" cy="3032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349">
                  <a:extLst>
                    <a:ext uri="{9D8B030D-6E8A-4147-A177-3AD203B41FA5}">
                      <a16:colId xmlns:a16="http://schemas.microsoft.com/office/drawing/2014/main" val="2487070811"/>
                    </a:ext>
                  </a:extLst>
                </a:gridCol>
                <a:gridCol w="824762">
                  <a:extLst>
                    <a:ext uri="{9D8B030D-6E8A-4147-A177-3AD203B41FA5}">
                      <a16:colId xmlns:a16="http://schemas.microsoft.com/office/drawing/2014/main" val="686221822"/>
                    </a:ext>
                  </a:extLst>
                </a:gridCol>
                <a:gridCol w="448416">
                  <a:extLst>
                    <a:ext uri="{9D8B030D-6E8A-4147-A177-3AD203B41FA5}">
                      <a16:colId xmlns:a16="http://schemas.microsoft.com/office/drawing/2014/main" val="2122332928"/>
                    </a:ext>
                  </a:extLst>
                </a:gridCol>
                <a:gridCol w="577111">
                  <a:extLst>
                    <a:ext uri="{9D8B030D-6E8A-4147-A177-3AD203B41FA5}">
                      <a16:colId xmlns:a16="http://schemas.microsoft.com/office/drawing/2014/main" val="3553681821"/>
                    </a:ext>
                  </a:extLst>
                </a:gridCol>
                <a:gridCol w="787984">
                  <a:extLst>
                    <a:ext uri="{9D8B030D-6E8A-4147-A177-3AD203B41FA5}">
                      <a16:colId xmlns:a16="http://schemas.microsoft.com/office/drawing/2014/main" val="2505479647"/>
                    </a:ext>
                  </a:extLst>
                </a:gridCol>
              </a:tblGrid>
              <a:tr h="30334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u="sng" dirty="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u="sng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u="sng" dirty="0" err="1"/>
                        <a:t>fmask</a:t>
                      </a:r>
                      <a:endParaRPr lang="en-US" sz="1700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590531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/>
                        <a:t>L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819564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/>
                        <a:t>L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</a:t>
                      </a:r>
                      <a:r>
                        <a:rPr lang="en-US" sz="1600" baseline="-25000" dirty="0"/>
                        <a:t>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708337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262898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/>
                        <a:t>L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</a:t>
                      </a:r>
                      <a:r>
                        <a:rPr lang="en-US" sz="1600" baseline="-25000" dirty="0"/>
                        <a:t>100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387598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/>
                        <a:t>L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296430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/>
                        <a:t>L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</a:t>
                      </a:r>
                      <a:r>
                        <a:rPr lang="en-US" sz="1600" baseline="-25000" dirty="0"/>
                        <a:t>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949626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135668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/>
                        <a:t>L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</a:t>
                      </a:r>
                      <a:r>
                        <a:rPr lang="en-US" sz="1600" baseline="-25000" dirty="0"/>
                        <a:t>100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88139"/>
                  </a:ext>
                </a:extLst>
              </a:tr>
            </a:tbl>
          </a:graphicData>
        </a:graphic>
      </p:graphicFrame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694C960F-C484-414E-9D4B-31D0BD4A32CD}"/>
              </a:ext>
            </a:extLst>
          </p:cNvPr>
          <p:cNvSpPr/>
          <p:nvPr/>
        </p:nvSpPr>
        <p:spPr>
          <a:xfrm>
            <a:off x="4221624" y="3495579"/>
            <a:ext cx="399268" cy="2685478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68489081-AB0C-8F4F-B940-7B221DF441C1}"/>
              </a:ext>
            </a:extLst>
          </p:cNvPr>
          <p:cNvSpPr/>
          <p:nvPr/>
        </p:nvSpPr>
        <p:spPr>
          <a:xfrm>
            <a:off x="4875583" y="3475477"/>
            <a:ext cx="399268" cy="1337238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A8651361-8E23-CE4F-A6F5-20EFC852505B}"/>
              </a:ext>
            </a:extLst>
          </p:cNvPr>
          <p:cNvSpPr/>
          <p:nvPr/>
        </p:nvSpPr>
        <p:spPr>
          <a:xfrm>
            <a:off x="4875583" y="4870081"/>
            <a:ext cx="399268" cy="1292736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7CBCA97-B15D-A44A-B3AA-3826B8B8D379}"/>
              </a:ext>
            </a:extLst>
          </p:cNvPr>
          <p:cNvGrpSpPr/>
          <p:nvPr/>
        </p:nvGrpSpPr>
        <p:grpSpPr>
          <a:xfrm>
            <a:off x="433444" y="2170966"/>
            <a:ext cx="4464697" cy="643859"/>
            <a:chOff x="3679998" y="1356316"/>
            <a:chExt cx="4464697" cy="643859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1267780-57A2-2B4F-94C0-A336D5323CAD}"/>
                </a:ext>
              </a:extLst>
            </p:cNvPr>
            <p:cNvSpPr/>
            <p:nvPr/>
          </p:nvSpPr>
          <p:spPr>
            <a:xfrm>
              <a:off x="3679998" y="1360095"/>
              <a:ext cx="1272321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(b)</a:t>
              </a:r>
            </a:p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owner=Liz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41DAEC6-0304-544F-A3CB-C40DBA329C41}"/>
                </a:ext>
              </a:extLst>
            </p:cNvPr>
            <p:cNvSpPr/>
            <p:nvPr/>
          </p:nvSpPr>
          <p:spPr>
            <a:xfrm>
              <a:off x="5213878" y="1360095"/>
              <a:ext cx="1334235" cy="640080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(a)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353DCA3-D5A4-5D43-8D4F-2EBD368AFE8D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4952319" y="1679372"/>
              <a:ext cx="261559" cy="7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AA3EE3CA-AA9F-AA41-9425-788E7FD0AD9B}"/>
                </a:ext>
              </a:extLst>
            </p:cNvPr>
            <p:cNvSpPr/>
            <p:nvPr/>
          </p:nvSpPr>
          <p:spPr>
            <a:xfrm>
              <a:off x="6809671" y="1356316"/>
              <a:ext cx="1335024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(c)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9903943-805A-6B46-9C90-87B97ADB3C17}"/>
                </a:ext>
              </a:extLst>
            </p:cNvPr>
            <p:cNvCxnSpPr>
              <a:cxnSpLocks/>
              <a:stCxn id="11" idx="3"/>
              <a:endCxn id="60" idx="1"/>
            </p:cNvCxnSpPr>
            <p:nvPr/>
          </p:nvCxnSpPr>
          <p:spPr>
            <a:xfrm flipV="1">
              <a:off x="6548113" y="1675593"/>
              <a:ext cx="261558" cy="45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ED9407D-D969-9E43-A8F2-1088AAE99483}"/>
              </a:ext>
            </a:extLst>
          </p:cNvPr>
          <p:cNvCxnSpPr>
            <a:cxnSpLocks/>
          </p:cNvCxnSpPr>
          <p:nvPr/>
        </p:nvCxnSpPr>
        <p:spPr>
          <a:xfrm flipV="1">
            <a:off x="1059012" y="2860690"/>
            <a:ext cx="0" cy="19746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1F784DF0-2EF1-FA41-9123-7279D61AD13E}"/>
              </a:ext>
            </a:extLst>
          </p:cNvPr>
          <p:cNvCxnSpPr>
            <a:cxnSpLocks/>
          </p:cNvCxnSpPr>
          <p:nvPr/>
        </p:nvCxnSpPr>
        <p:spPr>
          <a:xfrm flipV="1">
            <a:off x="4186861" y="2837655"/>
            <a:ext cx="0" cy="19746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45342C-AB69-D04F-9864-6AEEF357A9B8}"/>
              </a:ext>
            </a:extLst>
          </p:cNvPr>
          <p:cNvGrpSpPr/>
          <p:nvPr/>
        </p:nvGrpSpPr>
        <p:grpSpPr>
          <a:xfrm>
            <a:off x="669864" y="620417"/>
            <a:ext cx="4013406" cy="1361142"/>
            <a:chOff x="190361" y="748137"/>
            <a:chExt cx="4013406" cy="136114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0527AC-CAF8-7148-B2D3-489FAD2D3331}"/>
                </a:ext>
              </a:extLst>
            </p:cNvPr>
            <p:cNvSpPr txBox="1"/>
            <p:nvPr/>
          </p:nvSpPr>
          <p:spPr>
            <a:xfrm>
              <a:off x="190361" y="748137"/>
              <a:ext cx="4013406" cy="1361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MATCH </a:t>
              </a:r>
            </a:p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WHERE </a:t>
              </a:r>
              <a:r>
                <a:rPr lang="en-US" sz="1900" dirty="0" err="1">
                  <a:latin typeface="Consolas"/>
                  <a:cs typeface="Consolas"/>
                </a:rPr>
                <a:t>b.owner</a:t>
              </a:r>
              <a:r>
                <a:rPr lang="en-US" sz="1900" dirty="0">
                  <a:latin typeface="Consolas"/>
                  <a:cs typeface="Consolas"/>
                </a:rPr>
                <a:t>=‘Liz’ AND</a:t>
              </a:r>
            </a:p>
            <a:p>
              <a:pPr>
                <a:lnSpc>
                  <a:spcPct val="150000"/>
                </a:lnSpc>
              </a:pPr>
              <a:r>
                <a:rPr lang="en-US" sz="1900" dirty="0" err="1">
                  <a:latin typeface="Consolas"/>
                  <a:cs typeface="Consolas"/>
                </a:rPr>
                <a:t>a.cntr</a:t>
              </a:r>
              <a:r>
                <a:rPr lang="en-US" sz="1900" dirty="0">
                  <a:latin typeface="Consolas"/>
                  <a:cs typeface="Consolas"/>
                </a:rPr>
                <a:t>=‘US’ AND </a:t>
              </a:r>
              <a:r>
                <a:rPr lang="en-US" sz="1900" dirty="0" err="1">
                  <a:latin typeface="Consolas"/>
                  <a:cs typeface="Consolas"/>
                </a:rPr>
                <a:t>c.cntr</a:t>
              </a:r>
              <a:r>
                <a:rPr lang="en-US" sz="1900" dirty="0">
                  <a:latin typeface="Consolas"/>
                  <a:cs typeface="Consolas"/>
                </a:rPr>
                <a:t>=‘CAN’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93845A2-EA63-2A48-96FB-89A8BDD09BE2}"/>
                </a:ext>
              </a:extLst>
            </p:cNvPr>
            <p:cNvSpPr/>
            <p:nvPr/>
          </p:nvSpPr>
          <p:spPr>
            <a:xfrm>
              <a:off x="1085395" y="895767"/>
              <a:ext cx="349752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A3F555-B73D-D74F-84F0-069B0C51A236}"/>
                </a:ext>
              </a:extLst>
            </p:cNvPr>
            <p:cNvSpPr/>
            <p:nvPr/>
          </p:nvSpPr>
          <p:spPr>
            <a:xfrm>
              <a:off x="2045105" y="895767"/>
              <a:ext cx="349752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5AA706A-0088-3742-ABA8-E262BEC52B17}"/>
                </a:ext>
              </a:extLst>
            </p:cNvPr>
            <p:cNvSpPr/>
            <p:nvPr/>
          </p:nvSpPr>
          <p:spPr>
            <a:xfrm>
              <a:off x="3004815" y="895767"/>
              <a:ext cx="349752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7CB77D0-F2C2-BB44-B3E6-C4B9BE0FB2BA}"/>
                </a:ext>
              </a:extLst>
            </p:cNvPr>
            <p:cNvCxnSpPr>
              <a:cxnSpLocks/>
              <a:stCxn id="5" idx="6"/>
              <a:endCxn id="17" idx="2"/>
            </p:cNvCxnSpPr>
            <p:nvPr/>
          </p:nvCxnSpPr>
          <p:spPr>
            <a:xfrm>
              <a:off x="1435147" y="1066780"/>
              <a:ext cx="609958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6A49FF7-EF66-6C49-AF9F-B02D0CA44C23}"/>
                </a:ext>
              </a:extLst>
            </p:cNvPr>
            <p:cNvCxnSpPr>
              <a:cxnSpLocks/>
              <a:stCxn id="17" idx="6"/>
              <a:endCxn id="18" idx="2"/>
            </p:cNvCxnSpPr>
            <p:nvPr/>
          </p:nvCxnSpPr>
          <p:spPr>
            <a:xfrm>
              <a:off x="2394857" y="1066780"/>
              <a:ext cx="609958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9CBA9D5-108A-AF4D-ABD3-9049496548ED}"/>
              </a:ext>
            </a:extLst>
          </p:cNvPr>
          <p:cNvGrpSpPr/>
          <p:nvPr/>
        </p:nvGrpSpPr>
        <p:grpSpPr>
          <a:xfrm>
            <a:off x="5236898" y="791351"/>
            <a:ext cx="3337038" cy="1979195"/>
            <a:chOff x="5211846" y="681620"/>
            <a:chExt cx="3337038" cy="1979195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DA641EF5-4F1A-BB4D-AE79-1E8BCA305F25}"/>
                </a:ext>
              </a:extLst>
            </p:cNvPr>
            <p:cNvCxnSpPr>
              <a:cxnSpLocks/>
              <a:stCxn id="89" idx="3"/>
              <a:endCxn id="92" idx="2"/>
            </p:cNvCxnSpPr>
            <p:nvPr/>
          </p:nvCxnSpPr>
          <p:spPr>
            <a:xfrm flipV="1">
              <a:off x="7110761" y="883626"/>
              <a:ext cx="931621" cy="3867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7E154677-65AD-8347-8646-9BEAFCE3FB78}"/>
                </a:ext>
              </a:extLst>
            </p:cNvPr>
            <p:cNvCxnSpPr>
              <a:cxnSpLocks/>
              <a:stCxn id="77" idx="6"/>
              <a:endCxn id="90" idx="2"/>
            </p:cNvCxnSpPr>
            <p:nvPr/>
          </p:nvCxnSpPr>
          <p:spPr>
            <a:xfrm>
              <a:off x="7069871" y="1277422"/>
              <a:ext cx="972511" cy="3937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0C94FC6-B530-2C48-A8E8-14207A72C85D}"/>
                </a:ext>
              </a:extLst>
            </p:cNvPr>
            <p:cNvSpPr/>
            <p:nvPr/>
          </p:nvSpPr>
          <p:spPr>
            <a:xfrm>
              <a:off x="5274400" y="1469212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B160A1D-5103-164E-8CBD-698A1E71419F}"/>
                </a:ext>
              </a:extLst>
            </p:cNvPr>
            <p:cNvSpPr/>
            <p:nvPr/>
          </p:nvSpPr>
          <p:spPr>
            <a:xfrm>
              <a:off x="5274400" y="681620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50404CD-5B18-A24B-98EE-34F650F3E686}"/>
                </a:ext>
              </a:extLst>
            </p:cNvPr>
            <p:cNvSpPr/>
            <p:nvPr/>
          </p:nvSpPr>
          <p:spPr>
            <a:xfrm>
              <a:off x="6658391" y="1075416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678EC20-0D8A-EC42-967D-1B02EDA1BE7C}"/>
                </a:ext>
              </a:extLst>
            </p:cNvPr>
            <p:cNvSpPr txBox="1"/>
            <p:nvPr/>
          </p:nvSpPr>
          <p:spPr>
            <a:xfrm>
              <a:off x="6653561" y="1104203"/>
              <a:ext cx="457200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9BA12AA-7704-5446-9394-C60CB9E8C1B3}"/>
                </a:ext>
              </a:extLst>
            </p:cNvPr>
            <p:cNvSpPr/>
            <p:nvPr/>
          </p:nvSpPr>
          <p:spPr>
            <a:xfrm>
              <a:off x="8042382" y="1469212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0528B457-25DD-7944-80EE-26A3E043AD3E}"/>
                </a:ext>
              </a:extLst>
            </p:cNvPr>
            <p:cNvSpPr/>
            <p:nvPr/>
          </p:nvSpPr>
          <p:spPr>
            <a:xfrm>
              <a:off x="8042382" y="681620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017964C1-6E4E-0B4F-9162-6D2D9BB5D4B5}"/>
                </a:ext>
              </a:extLst>
            </p:cNvPr>
            <p:cNvCxnSpPr>
              <a:cxnSpLocks/>
              <a:stCxn id="71" idx="6"/>
              <a:endCxn id="77" idx="2"/>
            </p:cNvCxnSpPr>
            <p:nvPr/>
          </p:nvCxnSpPr>
          <p:spPr>
            <a:xfrm>
              <a:off x="5685880" y="883626"/>
              <a:ext cx="972511" cy="3937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38B442E5-79B0-C84A-A32E-69AA2090FE47}"/>
                </a:ext>
              </a:extLst>
            </p:cNvPr>
            <p:cNvCxnSpPr>
              <a:cxnSpLocks/>
              <a:stCxn id="68" idx="6"/>
              <a:endCxn id="77" idx="2"/>
            </p:cNvCxnSpPr>
            <p:nvPr/>
          </p:nvCxnSpPr>
          <p:spPr>
            <a:xfrm flipV="1">
              <a:off x="5685880" y="1277422"/>
              <a:ext cx="972511" cy="3937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46EA9388-1F1A-A04B-BA42-CD669C7487FC}"/>
                </a:ext>
              </a:extLst>
            </p:cNvPr>
            <p:cNvSpPr/>
            <p:nvPr/>
          </p:nvSpPr>
          <p:spPr>
            <a:xfrm>
              <a:off x="6653523" y="1863008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DAB8719-F684-D942-BD0F-C9B5D116993C}"/>
                </a:ext>
              </a:extLst>
            </p:cNvPr>
            <p:cNvSpPr txBox="1"/>
            <p:nvPr/>
          </p:nvSpPr>
          <p:spPr>
            <a:xfrm>
              <a:off x="6621844" y="1882805"/>
              <a:ext cx="457200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</a:t>
              </a:r>
              <a:r>
                <a:rPr lang="en-US" sz="1600" baseline="-25000" dirty="0"/>
                <a:t>2</a:t>
              </a:r>
              <a:endParaRPr lang="en-US" sz="16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1369079-46BF-854A-BE3E-BF250893C798}"/>
                </a:ext>
              </a:extLst>
            </p:cNvPr>
            <p:cNvSpPr txBox="1"/>
            <p:nvPr/>
          </p:nvSpPr>
          <p:spPr>
            <a:xfrm>
              <a:off x="5267093" y="1827013"/>
              <a:ext cx="406965" cy="362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070025DE-084C-064E-963B-C17D8B2716C7}"/>
                </a:ext>
              </a:extLst>
            </p:cNvPr>
            <p:cNvSpPr/>
            <p:nvPr/>
          </p:nvSpPr>
          <p:spPr>
            <a:xfrm>
              <a:off x="5274400" y="2256804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D5E53ADB-0CCF-484A-A017-8622BC603221}"/>
                </a:ext>
              </a:extLst>
            </p:cNvPr>
            <p:cNvSpPr/>
            <p:nvPr/>
          </p:nvSpPr>
          <p:spPr>
            <a:xfrm>
              <a:off x="8042382" y="2256804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6A1D895D-3A96-364B-8F0D-C96D14AA4C85}"/>
                </a:ext>
              </a:extLst>
            </p:cNvPr>
            <p:cNvCxnSpPr>
              <a:cxnSpLocks/>
              <a:stCxn id="68" idx="6"/>
              <a:endCxn id="102" idx="2"/>
            </p:cNvCxnSpPr>
            <p:nvPr/>
          </p:nvCxnSpPr>
          <p:spPr>
            <a:xfrm>
              <a:off x="5685880" y="1671218"/>
              <a:ext cx="967643" cy="3937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64055875-1DC9-5547-8D39-088F480208FA}"/>
                </a:ext>
              </a:extLst>
            </p:cNvPr>
            <p:cNvCxnSpPr>
              <a:cxnSpLocks/>
              <a:stCxn id="105" idx="6"/>
              <a:endCxn id="102" idx="2"/>
            </p:cNvCxnSpPr>
            <p:nvPr/>
          </p:nvCxnSpPr>
          <p:spPr>
            <a:xfrm flipV="1">
              <a:off x="5685880" y="2065014"/>
              <a:ext cx="967643" cy="3937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1D9771E3-F453-534F-BE1F-E72470742D19}"/>
                </a:ext>
              </a:extLst>
            </p:cNvPr>
            <p:cNvCxnSpPr>
              <a:cxnSpLocks/>
              <a:stCxn id="102" idx="6"/>
              <a:endCxn id="90" idx="2"/>
            </p:cNvCxnSpPr>
            <p:nvPr/>
          </p:nvCxnSpPr>
          <p:spPr>
            <a:xfrm flipV="1">
              <a:off x="7065003" y="1671218"/>
              <a:ext cx="977379" cy="3937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85425277-320D-864A-B7C0-3418C18785F6}"/>
                </a:ext>
              </a:extLst>
            </p:cNvPr>
            <p:cNvCxnSpPr>
              <a:cxnSpLocks/>
              <a:stCxn id="102" idx="6"/>
              <a:endCxn id="107" idx="2"/>
            </p:cNvCxnSpPr>
            <p:nvPr/>
          </p:nvCxnSpPr>
          <p:spPr>
            <a:xfrm>
              <a:off x="7065003" y="2065014"/>
              <a:ext cx="977379" cy="3937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84D2227-F55B-0B4B-ADC7-3073876C58CA}"/>
                </a:ext>
              </a:extLst>
            </p:cNvPr>
            <p:cNvSpPr txBox="1"/>
            <p:nvPr/>
          </p:nvSpPr>
          <p:spPr>
            <a:xfrm>
              <a:off x="5262019" y="1026690"/>
              <a:ext cx="406965" cy="362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02C5E9F-0956-9E42-89B6-5B46688919FB}"/>
                </a:ext>
              </a:extLst>
            </p:cNvPr>
            <p:cNvSpPr txBox="1"/>
            <p:nvPr/>
          </p:nvSpPr>
          <p:spPr>
            <a:xfrm>
              <a:off x="8041757" y="1827013"/>
              <a:ext cx="406965" cy="362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67F126DD-EB62-F740-9C55-7DD8722214A8}"/>
                </a:ext>
              </a:extLst>
            </p:cNvPr>
            <p:cNvSpPr txBox="1"/>
            <p:nvPr/>
          </p:nvSpPr>
          <p:spPr>
            <a:xfrm>
              <a:off x="8058433" y="1026690"/>
              <a:ext cx="406965" cy="362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2A5A242C-68BA-9E41-A673-805F3F34958D}"/>
                </a:ext>
              </a:extLst>
            </p:cNvPr>
            <p:cNvSpPr txBox="1"/>
            <p:nvPr/>
          </p:nvSpPr>
          <p:spPr>
            <a:xfrm>
              <a:off x="5228680" y="698166"/>
              <a:ext cx="457200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270F77E-ECEF-F343-96E1-157CEA81B006}"/>
                </a:ext>
              </a:extLst>
            </p:cNvPr>
            <p:cNvSpPr txBox="1"/>
            <p:nvPr/>
          </p:nvSpPr>
          <p:spPr>
            <a:xfrm>
              <a:off x="8014393" y="713425"/>
              <a:ext cx="534491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9E8851E9-B3A7-E749-8ECD-9535AEA117B9}"/>
                </a:ext>
              </a:extLst>
            </p:cNvPr>
            <p:cNvSpPr txBox="1"/>
            <p:nvPr/>
          </p:nvSpPr>
          <p:spPr>
            <a:xfrm>
              <a:off x="5211846" y="1477681"/>
              <a:ext cx="534491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</a:t>
              </a:r>
              <a:r>
                <a:rPr lang="en-US" sz="1600" baseline="-25000" dirty="0"/>
                <a:t>100</a:t>
              </a:r>
              <a:endParaRPr lang="en-US" sz="1600" dirty="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9337B44-280E-1D46-8D7B-54547C6F84AE}"/>
                </a:ext>
              </a:extLst>
            </p:cNvPr>
            <p:cNvSpPr txBox="1"/>
            <p:nvPr/>
          </p:nvSpPr>
          <p:spPr>
            <a:xfrm>
              <a:off x="5228680" y="2276339"/>
              <a:ext cx="534491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</a:t>
              </a:r>
              <a:r>
                <a:rPr lang="en-US" sz="1600" baseline="-25000" dirty="0"/>
                <a:t>199</a:t>
              </a:r>
              <a:endParaRPr lang="en-US" sz="1600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3342371-38A8-CD40-B498-4495CF165180}"/>
                </a:ext>
              </a:extLst>
            </p:cNvPr>
            <p:cNvSpPr txBox="1"/>
            <p:nvPr/>
          </p:nvSpPr>
          <p:spPr>
            <a:xfrm>
              <a:off x="8008191" y="1484100"/>
              <a:ext cx="534491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</a:t>
              </a:r>
              <a:r>
                <a:rPr lang="en-US" sz="1600" baseline="-25000" dirty="0"/>
                <a:t>100</a:t>
              </a:r>
              <a:endParaRPr lang="en-US" sz="1600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01D5154F-5042-E246-A868-04466BCD62C5}"/>
                </a:ext>
              </a:extLst>
            </p:cNvPr>
            <p:cNvSpPr txBox="1"/>
            <p:nvPr/>
          </p:nvSpPr>
          <p:spPr>
            <a:xfrm>
              <a:off x="8008191" y="2267309"/>
              <a:ext cx="534491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</a:t>
              </a:r>
              <a:r>
                <a:rPr lang="en-US" sz="1600" baseline="-25000" dirty="0"/>
                <a:t>199</a:t>
              </a:r>
              <a:endParaRPr lang="en-US" sz="16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55ABCBD-0AD9-D04C-8738-E58ADB38073C}"/>
                </a:ext>
              </a:extLst>
            </p:cNvPr>
            <p:cNvSpPr txBox="1"/>
            <p:nvPr/>
          </p:nvSpPr>
          <p:spPr>
            <a:xfrm>
              <a:off x="7063013" y="1827013"/>
              <a:ext cx="406965" cy="362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423E49C5-A66C-1044-9A46-7946FE18D2CA}"/>
                </a:ext>
              </a:extLst>
            </p:cNvPr>
            <p:cNvSpPr txBox="1"/>
            <p:nvPr/>
          </p:nvSpPr>
          <p:spPr>
            <a:xfrm>
              <a:off x="7129303" y="1026690"/>
              <a:ext cx="406965" cy="362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1437756-67C0-714D-BE4C-B3FE7F1BEAE9}"/>
                </a:ext>
              </a:extLst>
            </p:cNvPr>
            <p:cNvSpPr txBox="1"/>
            <p:nvPr/>
          </p:nvSpPr>
          <p:spPr>
            <a:xfrm>
              <a:off x="6145064" y="1026690"/>
              <a:ext cx="406965" cy="362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D1D53D90-195F-ED49-AED9-629ADB0F0543}"/>
                </a:ext>
              </a:extLst>
            </p:cNvPr>
            <p:cNvSpPr txBox="1"/>
            <p:nvPr/>
          </p:nvSpPr>
          <p:spPr>
            <a:xfrm>
              <a:off x="6124275" y="1827013"/>
              <a:ext cx="406965" cy="362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</p:grp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CCC8331-3495-884E-94CC-C2F41CEB76A9}"/>
              </a:ext>
            </a:extLst>
          </p:cNvPr>
          <p:cNvSpPr/>
          <p:nvPr/>
        </p:nvSpPr>
        <p:spPr>
          <a:xfrm>
            <a:off x="31766" y="6176157"/>
            <a:ext cx="9113423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Repetition happens b/c 1 group of vectors represent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 block of flat tuples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234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5" grpId="0" animBg="1"/>
      <p:bldP spid="126" grpId="0" animBg="1"/>
      <p:bldP spid="1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63504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3891" y="6521445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/>
              <a:t>21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8615-162E-0446-97BA-6A74199ED555}"/>
              </a:ext>
            </a:extLst>
          </p:cNvPr>
          <p:cNvSpPr txBox="1"/>
          <p:nvPr/>
        </p:nvSpPr>
        <p:spPr>
          <a:xfrm>
            <a:off x="-4024" y="-10993"/>
            <a:ext cx="868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latin typeface="Arial"/>
                <a:cs typeface="Arial"/>
              </a:rPr>
              <a:t>F-Representation-based Processor (1)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A8C4E42-5426-0B44-96D1-1CD502EA69C1}"/>
              </a:ext>
            </a:extLst>
          </p:cNvPr>
          <p:cNvGraphicFramePr>
            <a:graphicFrameLocks noGrp="1"/>
          </p:cNvGraphicFramePr>
          <p:nvPr/>
        </p:nvGraphicFramePr>
        <p:xfrm>
          <a:off x="3847678" y="1152486"/>
          <a:ext cx="4781507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7786">
                  <a:extLst>
                    <a:ext uri="{9D8B030D-6E8A-4147-A177-3AD203B41FA5}">
                      <a16:colId xmlns:a16="http://schemas.microsoft.com/office/drawing/2014/main" val="4052512296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400113096"/>
                    </a:ext>
                  </a:extLst>
                </a:gridCol>
                <a:gridCol w="1441768">
                  <a:extLst>
                    <a:ext uri="{9D8B030D-6E8A-4147-A177-3AD203B41FA5}">
                      <a16:colId xmlns:a16="http://schemas.microsoft.com/office/drawing/2014/main" val="4248055157"/>
                    </a:ext>
                  </a:extLst>
                </a:gridCol>
                <a:gridCol w="442043">
                  <a:extLst>
                    <a:ext uri="{9D8B030D-6E8A-4147-A177-3AD203B41FA5}">
                      <a16:colId xmlns:a16="http://schemas.microsoft.com/office/drawing/2014/main" val="3025983691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228984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b, 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7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{L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, Liz}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{U</a:t>
                      </a:r>
                      <a:r>
                        <a:rPr lang="en-US" baseline="-25000" dirty="0"/>
                        <a:t>1,</a:t>
                      </a:r>
                      <a:r>
                        <a:rPr lang="en-US" baseline="0" dirty="0"/>
                        <a:t>…, U</a:t>
                      </a:r>
                      <a:r>
                        <a:rPr lang="en-US" baseline="-25000" dirty="0"/>
                        <a:t>100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1</a:t>
                      </a:r>
                      <a:r>
                        <a:rPr lang="en-US" dirty="0"/>
                        <a:t>, …, C</a:t>
                      </a:r>
                      <a:r>
                        <a:rPr lang="en-US" baseline="-25000" dirty="0"/>
                        <a:t>100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90962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64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{L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, Liz}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{U</a:t>
                      </a:r>
                      <a:r>
                        <a:rPr lang="en-US" baseline="-25000" dirty="0"/>
                        <a:t>100,</a:t>
                      </a:r>
                      <a:r>
                        <a:rPr lang="en-US" baseline="0" dirty="0"/>
                        <a:t>…, U</a:t>
                      </a:r>
                      <a:r>
                        <a:rPr lang="en-US" baseline="-25000" dirty="0"/>
                        <a:t>199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100</a:t>
                      </a:r>
                      <a:r>
                        <a:rPr lang="en-US" dirty="0"/>
                        <a:t>, …, C</a:t>
                      </a:r>
                      <a:r>
                        <a:rPr lang="en-US" baseline="-25000" dirty="0"/>
                        <a:t>199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6771"/>
                  </a:ext>
                </a:extLst>
              </a:tr>
            </a:tbl>
          </a:graphicData>
        </a:graphic>
      </p:graphicFrame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57B8A050-ED67-6C4F-A3FB-79A53EFF3CDC}"/>
              </a:ext>
            </a:extLst>
          </p:cNvPr>
          <p:cNvGraphicFramePr>
            <a:graphicFrameLocks noGrp="1"/>
          </p:cNvGraphicFramePr>
          <p:nvPr/>
        </p:nvGraphicFramePr>
        <p:xfrm>
          <a:off x="977571" y="1152486"/>
          <a:ext cx="2366102" cy="2362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349">
                  <a:extLst>
                    <a:ext uri="{9D8B030D-6E8A-4147-A177-3AD203B41FA5}">
                      <a16:colId xmlns:a16="http://schemas.microsoft.com/office/drawing/2014/main" val="2487070811"/>
                    </a:ext>
                  </a:extLst>
                </a:gridCol>
                <a:gridCol w="824762">
                  <a:extLst>
                    <a:ext uri="{9D8B030D-6E8A-4147-A177-3AD203B41FA5}">
                      <a16:colId xmlns:a16="http://schemas.microsoft.com/office/drawing/2014/main" val="686221822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2122332928"/>
                    </a:ext>
                  </a:extLst>
                </a:gridCol>
                <a:gridCol w="577111">
                  <a:extLst>
                    <a:ext uri="{9D8B030D-6E8A-4147-A177-3AD203B41FA5}">
                      <a16:colId xmlns:a16="http://schemas.microsoft.com/office/drawing/2014/main" val="3553681821"/>
                    </a:ext>
                  </a:extLst>
                </a:gridCol>
              </a:tblGrid>
              <a:tr h="30334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u="sng" dirty="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u="sng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590531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/>
                        <a:t>L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819564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262898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/>
                        <a:t>L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</a:t>
                      </a:r>
                      <a:r>
                        <a:rPr lang="en-US" sz="1600" baseline="-25000" dirty="0"/>
                        <a:t>100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387598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/>
                        <a:t>L</a:t>
                      </a:r>
                      <a:r>
                        <a:rPr lang="en-US" sz="1600" baseline="-25000" dirty="0"/>
                        <a:t>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100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</a:t>
                      </a:r>
                      <a:r>
                        <a:rPr lang="en-US" sz="1600" baseline="-25000" dirty="0"/>
                        <a:t>100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296430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135668"/>
                  </a:ext>
                </a:extLst>
              </a:tr>
              <a:tr h="29015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/>
                        <a:t>L</a:t>
                      </a:r>
                      <a:r>
                        <a:rPr lang="en-US" sz="1600" baseline="-25000" dirty="0"/>
                        <a:t>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199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</a:t>
                      </a:r>
                      <a:r>
                        <a:rPr lang="en-US" sz="1600" baseline="-25000" dirty="0"/>
                        <a:t>100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88139"/>
                  </a:ext>
                </a:extLst>
              </a:tr>
            </a:tbl>
          </a:graphicData>
        </a:graphic>
      </p:graphicFrame>
      <p:sp>
        <p:nvSpPr>
          <p:cNvPr id="80" name="Rectangle 79">
            <a:extLst>
              <a:ext uri="{FF2B5EF4-FFF2-40B4-BE49-F238E27FC236}">
                <a16:creationId xmlns:a16="http://schemas.microsoft.com/office/drawing/2014/main" id="{D3FDA8D3-9ADA-E948-B288-41B9F6CBE199}"/>
              </a:ext>
            </a:extLst>
          </p:cNvPr>
          <p:cNvSpPr/>
          <p:nvPr/>
        </p:nvSpPr>
        <p:spPr>
          <a:xfrm>
            <a:off x="19126" y="3873867"/>
            <a:ext cx="9051553" cy="188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Factorizing arbitrary relations is NP-hard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But: outputs of a query Q can be factorized by analyzing </a:t>
            </a:r>
            <a:r>
              <a:rPr lang="en-US" sz="2000" i="1" kern="0" dirty="0">
                <a:latin typeface="Arial"/>
                <a:cs typeface="Arial"/>
              </a:rPr>
              <a:t>the conditional independence of the variables</a:t>
            </a:r>
            <a:r>
              <a:rPr lang="en-US" sz="2000" kern="0" dirty="0">
                <a:latin typeface="Arial"/>
                <a:cs typeface="Arial"/>
              </a:rPr>
              <a:t> in Q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E.g. in                                  , once b is fixed, a and c are independent 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006B05A-762A-7943-8272-FEB5ABE7B43A}"/>
              </a:ext>
            </a:extLst>
          </p:cNvPr>
          <p:cNvSpPr/>
          <p:nvPr/>
        </p:nvSpPr>
        <p:spPr>
          <a:xfrm>
            <a:off x="788414" y="6311687"/>
            <a:ext cx="7567173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Olteanu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et. al. Factorized Databases, SIGMOD Record, 2016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9CC7F3D9-D1D4-434A-B3E3-9B6A02074C1B}"/>
              </a:ext>
            </a:extLst>
          </p:cNvPr>
          <p:cNvSpPr/>
          <p:nvPr/>
        </p:nvSpPr>
        <p:spPr>
          <a:xfrm>
            <a:off x="977571" y="3462611"/>
            <a:ext cx="2346956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kern="0" dirty="0">
                <a:latin typeface="Arial"/>
                <a:cs typeface="Arial"/>
              </a:rPr>
              <a:t>2x(100x100) tuples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5D33C43A-E036-304A-A470-1FBE15DA424B}"/>
              </a:ext>
            </a:extLst>
          </p:cNvPr>
          <p:cNvSpPr/>
          <p:nvPr/>
        </p:nvSpPr>
        <p:spPr>
          <a:xfrm>
            <a:off x="4598093" y="2611074"/>
            <a:ext cx="3347103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kern="0" dirty="0">
                <a:latin typeface="Arial"/>
                <a:cs typeface="Arial"/>
              </a:rPr>
              <a:t>2x(100+100) tuples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5BCE78C-3DEF-9E40-80DA-35974D258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6" y="6601696"/>
            <a:ext cx="692709" cy="230903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63FADABF-D273-7041-BB80-83762878173B}"/>
              </a:ext>
            </a:extLst>
          </p:cNvPr>
          <p:cNvGrpSpPr/>
          <p:nvPr/>
        </p:nvGrpSpPr>
        <p:grpSpPr>
          <a:xfrm>
            <a:off x="1719186" y="5379704"/>
            <a:ext cx="2269172" cy="342025"/>
            <a:chOff x="1085395" y="895767"/>
            <a:chExt cx="2269172" cy="342025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28CF825-1ACA-E343-98E2-EA0A59F4EC74}"/>
                </a:ext>
              </a:extLst>
            </p:cNvPr>
            <p:cNvSpPr/>
            <p:nvPr/>
          </p:nvSpPr>
          <p:spPr>
            <a:xfrm>
              <a:off x="1085395" y="895767"/>
              <a:ext cx="349752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319C151-3380-9340-86C4-5983FB162E11}"/>
                </a:ext>
              </a:extLst>
            </p:cNvPr>
            <p:cNvSpPr/>
            <p:nvPr/>
          </p:nvSpPr>
          <p:spPr>
            <a:xfrm>
              <a:off x="2045105" y="895767"/>
              <a:ext cx="349752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8EE16EA-E6C8-2B4E-9842-DC5FC4FB7D0E}"/>
                </a:ext>
              </a:extLst>
            </p:cNvPr>
            <p:cNvSpPr/>
            <p:nvPr/>
          </p:nvSpPr>
          <p:spPr>
            <a:xfrm>
              <a:off x="3004815" y="895767"/>
              <a:ext cx="349752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8F42B7D8-2427-0F41-9AB7-3DE2D87DCB8E}"/>
                </a:ext>
              </a:extLst>
            </p:cNvPr>
            <p:cNvCxnSpPr>
              <a:cxnSpLocks/>
              <a:stCxn id="69" idx="6"/>
              <a:endCxn id="70" idx="2"/>
            </p:cNvCxnSpPr>
            <p:nvPr/>
          </p:nvCxnSpPr>
          <p:spPr>
            <a:xfrm>
              <a:off x="1435147" y="1066780"/>
              <a:ext cx="609958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4BBB5E8-2C3C-914D-B4C0-5D91655EC84D}"/>
                </a:ext>
              </a:extLst>
            </p:cNvPr>
            <p:cNvCxnSpPr>
              <a:cxnSpLocks/>
              <a:stCxn id="70" idx="6"/>
              <a:endCxn id="71" idx="2"/>
            </p:cNvCxnSpPr>
            <p:nvPr/>
          </p:nvCxnSpPr>
          <p:spPr>
            <a:xfrm>
              <a:off x="2394857" y="1066780"/>
              <a:ext cx="609958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2E209217-2F4D-8D4E-8D4A-3B6641962CAB}"/>
              </a:ext>
            </a:extLst>
          </p:cNvPr>
          <p:cNvSpPr/>
          <p:nvPr/>
        </p:nvSpPr>
        <p:spPr>
          <a:xfrm>
            <a:off x="996717" y="630362"/>
            <a:ext cx="2346956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kern="0" dirty="0">
                <a:solidFill>
                  <a:srgbClr val="0000CC"/>
                </a:solidFill>
                <a:latin typeface="Arial"/>
                <a:cs typeface="Arial"/>
              </a:rPr>
              <a:t>Flat Representation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FEFC380-EC50-4C4E-A978-C3CFA00AC282}"/>
              </a:ext>
            </a:extLst>
          </p:cNvPr>
          <p:cNvSpPr/>
          <p:nvPr/>
        </p:nvSpPr>
        <p:spPr>
          <a:xfrm>
            <a:off x="5214680" y="630362"/>
            <a:ext cx="2346956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kern="0" dirty="0">
                <a:solidFill>
                  <a:srgbClr val="0000CC"/>
                </a:solidFill>
                <a:latin typeface="Arial"/>
                <a:cs typeface="Arial"/>
              </a:rPr>
              <a:t>F-Representation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F77C0A-A934-F344-A4A6-60EC513041AC}"/>
              </a:ext>
            </a:extLst>
          </p:cNvPr>
          <p:cNvSpPr/>
          <p:nvPr/>
        </p:nvSpPr>
        <p:spPr>
          <a:xfrm>
            <a:off x="19127" y="5859570"/>
            <a:ext cx="9144000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i="1" kern="0" dirty="0">
                <a:solidFill>
                  <a:srgbClr val="C00000"/>
                </a:solidFill>
                <a:latin typeface="Arial"/>
                <a:cs typeface="Arial"/>
              </a:rPr>
              <a:t>Multiple List Groups: </a:t>
            </a:r>
            <a:r>
              <a:rPr lang="en-US" sz="2000" kern="0" dirty="0">
                <a:solidFill>
                  <a:srgbClr val="C00000"/>
                </a:solidFill>
                <a:latin typeface="Arial"/>
                <a:cs typeface="Arial"/>
              </a:rPr>
              <a:t>Represent intermediate tuples in multiple vector groups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75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/>
      <p:bldP spid="83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63504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34663" y="6520712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/>
              <a:t>22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8615-162E-0446-97BA-6A74199ED555}"/>
              </a:ext>
            </a:extLst>
          </p:cNvPr>
          <p:cNvSpPr txBox="1"/>
          <p:nvPr/>
        </p:nvSpPr>
        <p:spPr>
          <a:xfrm>
            <a:off x="-4025" y="-10993"/>
            <a:ext cx="8911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latin typeface="Arial"/>
                <a:cs typeface="Arial"/>
              </a:rPr>
              <a:t>F-Representation-based Processor (2)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26C08-1D36-A949-85E1-B2C56D6769D4}"/>
              </a:ext>
            </a:extLst>
          </p:cNvPr>
          <p:cNvSpPr txBox="1"/>
          <p:nvPr/>
        </p:nvSpPr>
        <p:spPr>
          <a:xfrm>
            <a:off x="1307722" y="3429000"/>
            <a:ext cx="142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List Group 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8D48B7-68B6-5F49-9FD1-689BD057D71F}"/>
              </a:ext>
            </a:extLst>
          </p:cNvPr>
          <p:cNvSpPr txBox="1"/>
          <p:nvPr/>
        </p:nvSpPr>
        <p:spPr>
          <a:xfrm>
            <a:off x="800463" y="6279829"/>
            <a:ext cx="142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curIdx</a:t>
            </a:r>
            <a:r>
              <a:rPr lang="en-US" i="1" dirty="0"/>
              <a:t> = 1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965657D8-B379-6049-8F5D-E33725ACC07F}"/>
              </a:ext>
            </a:extLst>
          </p:cNvPr>
          <p:cNvSpPr/>
          <p:nvPr/>
        </p:nvSpPr>
        <p:spPr>
          <a:xfrm>
            <a:off x="868987" y="4226761"/>
            <a:ext cx="2307145" cy="349723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5" name="Table 89">
            <a:extLst>
              <a:ext uri="{FF2B5EF4-FFF2-40B4-BE49-F238E27FC236}">
                <a16:creationId xmlns:a16="http://schemas.microsoft.com/office/drawing/2014/main" id="{E55FA45A-9F12-4946-84EE-0B6FB1A1FA15}"/>
              </a:ext>
            </a:extLst>
          </p:cNvPr>
          <p:cNvGraphicFramePr>
            <a:graphicFrameLocks noGrp="1"/>
          </p:cNvGraphicFramePr>
          <p:nvPr/>
        </p:nvGraphicFramePr>
        <p:xfrm>
          <a:off x="4096997" y="3819612"/>
          <a:ext cx="1462723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3823">
                  <a:extLst>
                    <a:ext uri="{9D8B030D-6E8A-4147-A177-3AD203B41FA5}">
                      <a16:colId xmlns:a16="http://schemas.microsoft.com/office/drawing/2014/main" val="2830262626"/>
                    </a:ext>
                  </a:extLst>
                </a:gridCol>
                <a:gridCol w="818900">
                  <a:extLst>
                    <a:ext uri="{9D8B030D-6E8A-4147-A177-3AD203B41FA5}">
                      <a16:colId xmlns:a16="http://schemas.microsoft.com/office/drawing/2014/main" val="165569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 err="1">
                          <a:solidFill>
                            <a:schemeClr val="tx1"/>
                          </a:solidFill>
                        </a:rPr>
                        <a:t>fmask</a:t>
                      </a:r>
                      <a:endParaRPr lang="en-US" b="1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051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344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88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762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868900"/>
                  </a:ext>
                </a:extLst>
              </a:tr>
            </a:tbl>
          </a:graphicData>
        </a:graphic>
      </p:graphicFrame>
      <p:sp>
        <p:nvSpPr>
          <p:cNvPr id="97" name="TextBox 96">
            <a:extLst>
              <a:ext uri="{FF2B5EF4-FFF2-40B4-BE49-F238E27FC236}">
                <a16:creationId xmlns:a16="http://schemas.microsoft.com/office/drawing/2014/main" id="{E59B375F-7B8B-2949-B463-B7375F137B62}"/>
              </a:ext>
            </a:extLst>
          </p:cNvPr>
          <p:cNvSpPr txBox="1"/>
          <p:nvPr/>
        </p:nvSpPr>
        <p:spPr>
          <a:xfrm>
            <a:off x="4116014" y="3429000"/>
            <a:ext cx="142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List Group 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C499257-FA20-4440-B626-0DCD5B297F7A}"/>
              </a:ext>
            </a:extLst>
          </p:cNvPr>
          <p:cNvSpPr txBox="1"/>
          <p:nvPr/>
        </p:nvSpPr>
        <p:spPr>
          <a:xfrm>
            <a:off x="4017261" y="5683911"/>
            <a:ext cx="142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curIdx</a:t>
            </a:r>
            <a:r>
              <a:rPr lang="en-US" i="1" dirty="0"/>
              <a:t> = -1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D40DADD-40A5-D746-9760-4589BF905451}"/>
              </a:ext>
            </a:extLst>
          </p:cNvPr>
          <p:cNvSpPr txBox="1"/>
          <p:nvPr/>
        </p:nvSpPr>
        <p:spPr>
          <a:xfrm>
            <a:off x="799181" y="6280574"/>
            <a:ext cx="142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curIdx</a:t>
            </a:r>
            <a:r>
              <a:rPr lang="en-US" i="1" dirty="0"/>
              <a:t> = -1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5C64BDB-51BD-8E49-95BF-F9F51EB1C0ED}"/>
              </a:ext>
            </a:extLst>
          </p:cNvPr>
          <p:cNvSpPr txBox="1"/>
          <p:nvPr/>
        </p:nvSpPr>
        <p:spPr>
          <a:xfrm>
            <a:off x="6644038" y="3429000"/>
            <a:ext cx="142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List Group 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B67BE84-BF8D-D64B-AC10-3B5604441592}"/>
              </a:ext>
            </a:extLst>
          </p:cNvPr>
          <p:cNvSpPr txBox="1"/>
          <p:nvPr/>
        </p:nvSpPr>
        <p:spPr>
          <a:xfrm>
            <a:off x="6587663" y="5683911"/>
            <a:ext cx="142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curIdx</a:t>
            </a:r>
            <a:r>
              <a:rPr lang="en-US" i="1" dirty="0"/>
              <a:t> = -1</a:t>
            </a:r>
          </a:p>
        </p:txBody>
      </p:sp>
      <p:graphicFrame>
        <p:nvGraphicFramePr>
          <p:cNvPr id="113" name="Table 89">
            <a:extLst>
              <a:ext uri="{FF2B5EF4-FFF2-40B4-BE49-F238E27FC236}">
                <a16:creationId xmlns:a16="http://schemas.microsoft.com/office/drawing/2014/main" id="{C5C70AA0-F789-C845-8C16-BD97D8C1E33F}"/>
              </a:ext>
            </a:extLst>
          </p:cNvPr>
          <p:cNvGraphicFramePr>
            <a:graphicFrameLocks noGrp="1"/>
          </p:cNvGraphicFramePr>
          <p:nvPr/>
        </p:nvGraphicFramePr>
        <p:xfrm>
          <a:off x="6646901" y="3819612"/>
          <a:ext cx="1396048" cy="1857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val="2830262626"/>
                    </a:ext>
                  </a:extLst>
                </a:gridCol>
                <a:gridCol w="806768">
                  <a:extLst>
                    <a:ext uri="{9D8B030D-6E8A-4147-A177-3AD203B41FA5}">
                      <a16:colId xmlns:a16="http://schemas.microsoft.com/office/drawing/2014/main" val="165569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 err="1">
                          <a:solidFill>
                            <a:schemeClr val="tx1"/>
                          </a:solidFill>
                        </a:rPr>
                        <a:t>fmask</a:t>
                      </a:r>
                      <a:endParaRPr lang="en-US" b="1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051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344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88350"/>
                  </a:ext>
                </a:extLst>
              </a:tr>
              <a:tr h="3745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762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868900"/>
                  </a:ext>
                </a:extLst>
              </a:tr>
            </a:tbl>
          </a:graphicData>
        </a:graphic>
      </p:graphicFrame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9022ADF-10BF-1649-9AE2-3F7DDBF20DEC}"/>
              </a:ext>
            </a:extLst>
          </p:cNvPr>
          <p:cNvGrpSpPr/>
          <p:nvPr/>
        </p:nvGrpSpPr>
        <p:grpSpPr>
          <a:xfrm>
            <a:off x="2181026" y="2579789"/>
            <a:ext cx="4464697" cy="643859"/>
            <a:chOff x="3679998" y="1356316"/>
            <a:chExt cx="4464697" cy="643859"/>
          </a:xfrm>
        </p:grpSpPr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490633D7-AEEA-E644-B070-BBCD5C897D2D}"/>
                </a:ext>
              </a:extLst>
            </p:cNvPr>
            <p:cNvSpPr/>
            <p:nvPr/>
          </p:nvSpPr>
          <p:spPr>
            <a:xfrm>
              <a:off x="3679998" y="1360095"/>
              <a:ext cx="1272321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(b)</a:t>
              </a:r>
            </a:p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owner=Liz</a:t>
              </a:r>
            </a:p>
          </p:txBody>
        </p:sp>
        <p:sp>
          <p:nvSpPr>
            <p:cNvPr id="152" name="Rounded Rectangle 151">
              <a:extLst>
                <a:ext uri="{FF2B5EF4-FFF2-40B4-BE49-F238E27FC236}">
                  <a16:creationId xmlns:a16="http://schemas.microsoft.com/office/drawing/2014/main" id="{7DBD249A-0DFA-D84F-AA5A-323EDBBAAAD2}"/>
                </a:ext>
              </a:extLst>
            </p:cNvPr>
            <p:cNvSpPr/>
            <p:nvPr/>
          </p:nvSpPr>
          <p:spPr>
            <a:xfrm>
              <a:off x="5213878" y="1360095"/>
              <a:ext cx="1334235" cy="640080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(a)</a:t>
              </a:r>
            </a:p>
          </p:txBody>
        </p: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FF0E0685-48FB-BD44-A359-55EEC5C6221A}"/>
                </a:ext>
              </a:extLst>
            </p:cNvPr>
            <p:cNvCxnSpPr>
              <a:cxnSpLocks/>
              <a:stCxn id="151" idx="3"/>
              <a:endCxn id="152" idx="1"/>
            </p:cNvCxnSpPr>
            <p:nvPr/>
          </p:nvCxnSpPr>
          <p:spPr>
            <a:xfrm>
              <a:off x="4952319" y="1679372"/>
              <a:ext cx="261559" cy="7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441E98B7-3161-2A43-BD35-84B51E578C90}"/>
                </a:ext>
              </a:extLst>
            </p:cNvPr>
            <p:cNvSpPr/>
            <p:nvPr/>
          </p:nvSpPr>
          <p:spPr>
            <a:xfrm>
              <a:off x="6809671" y="1356316"/>
              <a:ext cx="1335024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(c)</a:t>
              </a:r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E0997217-95BA-7449-A474-F650209E0E51}"/>
                </a:ext>
              </a:extLst>
            </p:cNvPr>
            <p:cNvCxnSpPr>
              <a:cxnSpLocks/>
              <a:stCxn id="152" idx="3"/>
              <a:endCxn id="154" idx="1"/>
            </p:cNvCxnSpPr>
            <p:nvPr/>
          </p:nvCxnSpPr>
          <p:spPr>
            <a:xfrm flipV="1">
              <a:off x="6548113" y="1675593"/>
              <a:ext cx="261558" cy="45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488F9BAB-1C2A-EC44-ADD9-F895D82C9786}"/>
              </a:ext>
            </a:extLst>
          </p:cNvPr>
          <p:cNvCxnSpPr>
            <a:cxnSpLocks/>
          </p:cNvCxnSpPr>
          <p:nvPr/>
        </p:nvCxnSpPr>
        <p:spPr>
          <a:xfrm flipV="1">
            <a:off x="2806594" y="3269513"/>
            <a:ext cx="0" cy="19746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10087FD-6890-714C-A13B-3B4F8E478A53}"/>
              </a:ext>
            </a:extLst>
          </p:cNvPr>
          <p:cNvCxnSpPr>
            <a:cxnSpLocks/>
          </p:cNvCxnSpPr>
          <p:nvPr/>
        </p:nvCxnSpPr>
        <p:spPr>
          <a:xfrm flipV="1">
            <a:off x="5934443" y="3246478"/>
            <a:ext cx="0" cy="19746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8" name="Table 89">
            <a:extLst>
              <a:ext uri="{FF2B5EF4-FFF2-40B4-BE49-F238E27FC236}">
                <a16:creationId xmlns:a16="http://schemas.microsoft.com/office/drawing/2014/main" id="{F076E645-1B16-344F-880C-96DE94F9268D}"/>
              </a:ext>
            </a:extLst>
          </p:cNvPr>
          <p:cNvGraphicFramePr>
            <a:graphicFrameLocks noGrp="1"/>
          </p:cNvGraphicFramePr>
          <p:nvPr/>
        </p:nvGraphicFramePr>
        <p:xfrm>
          <a:off x="868987" y="3819612"/>
          <a:ext cx="2307146" cy="24391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55">
                  <a:extLst>
                    <a:ext uri="{9D8B030D-6E8A-4147-A177-3AD203B41FA5}">
                      <a16:colId xmlns:a16="http://schemas.microsoft.com/office/drawing/2014/main" val="2830262626"/>
                    </a:ext>
                  </a:extLst>
                </a:gridCol>
                <a:gridCol w="844423">
                  <a:extLst>
                    <a:ext uri="{9D8B030D-6E8A-4147-A177-3AD203B41FA5}">
                      <a16:colId xmlns:a16="http://schemas.microsoft.com/office/drawing/2014/main" val="2411793528"/>
                    </a:ext>
                  </a:extLst>
                </a:gridCol>
                <a:gridCol w="806768">
                  <a:extLst>
                    <a:ext uri="{9D8B030D-6E8A-4147-A177-3AD203B41FA5}">
                      <a16:colId xmlns:a16="http://schemas.microsoft.com/office/drawing/2014/main" val="1655692077"/>
                    </a:ext>
                  </a:extLst>
                </a:gridCol>
              </a:tblGrid>
              <a:tr h="392505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 err="1"/>
                        <a:t>fmask</a:t>
                      </a:r>
                      <a:endParaRPr lang="en-US" sz="1600" b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051445"/>
                  </a:ext>
                </a:extLst>
              </a:tr>
              <a:tr h="3925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344886"/>
                  </a:ext>
                </a:extLst>
              </a:tr>
              <a:tr h="3925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88350"/>
                  </a:ext>
                </a:extLst>
              </a:tr>
              <a:tr h="35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09040"/>
                  </a:ext>
                </a:extLst>
              </a:tr>
              <a:tr h="51831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762404"/>
                  </a:ext>
                </a:extLst>
              </a:tr>
              <a:tr h="3925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</a:t>
                      </a:r>
                      <a:r>
                        <a:rPr lang="en-US" sz="1600" baseline="-25000" dirty="0"/>
                        <a:t>199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868900"/>
                  </a:ext>
                </a:extLst>
              </a:tr>
            </a:tbl>
          </a:graphicData>
        </a:graphic>
      </p:graphicFrame>
      <p:sp>
        <p:nvSpPr>
          <p:cNvPr id="199" name="TextBox 198">
            <a:extLst>
              <a:ext uri="{FF2B5EF4-FFF2-40B4-BE49-F238E27FC236}">
                <a16:creationId xmlns:a16="http://schemas.microsoft.com/office/drawing/2014/main" id="{1F8C3988-3E64-E547-8023-652C8F68BD6C}"/>
              </a:ext>
            </a:extLst>
          </p:cNvPr>
          <p:cNvSpPr txBox="1"/>
          <p:nvPr/>
        </p:nvSpPr>
        <p:spPr>
          <a:xfrm>
            <a:off x="800463" y="6279829"/>
            <a:ext cx="142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curIdx</a:t>
            </a:r>
            <a:r>
              <a:rPr lang="en-US" i="1" dirty="0"/>
              <a:t> = 2</a:t>
            </a:r>
          </a:p>
        </p:txBody>
      </p: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A1C1CD52-09FE-2A4E-9C1A-5B8A3F523056}"/>
              </a:ext>
            </a:extLst>
          </p:cNvPr>
          <p:cNvSpPr/>
          <p:nvPr/>
        </p:nvSpPr>
        <p:spPr>
          <a:xfrm>
            <a:off x="866640" y="4632380"/>
            <a:ext cx="2307145" cy="349723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1" name="Table 89">
            <a:extLst>
              <a:ext uri="{FF2B5EF4-FFF2-40B4-BE49-F238E27FC236}">
                <a16:creationId xmlns:a16="http://schemas.microsoft.com/office/drawing/2014/main" id="{530A6A76-E30A-D849-BFC5-E8B5251CC6CE}"/>
              </a:ext>
            </a:extLst>
          </p:cNvPr>
          <p:cNvGraphicFramePr>
            <a:graphicFrameLocks noGrp="1"/>
          </p:cNvGraphicFramePr>
          <p:nvPr/>
        </p:nvGraphicFramePr>
        <p:xfrm>
          <a:off x="4096512" y="3822192"/>
          <a:ext cx="1462723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3823">
                  <a:extLst>
                    <a:ext uri="{9D8B030D-6E8A-4147-A177-3AD203B41FA5}">
                      <a16:colId xmlns:a16="http://schemas.microsoft.com/office/drawing/2014/main" val="2830262626"/>
                    </a:ext>
                  </a:extLst>
                </a:gridCol>
                <a:gridCol w="818900">
                  <a:extLst>
                    <a:ext uri="{9D8B030D-6E8A-4147-A177-3AD203B41FA5}">
                      <a16:colId xmlns:a16="http://schemas.microsoft.com/office/drawing/2014/main" val="165569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 err="1">
                          <a:solidFill>
                            <a:schemeClr val="tx1"/>
                          </a:solidFill>
                        </a:rPr>
                        <a:t>fmask</a:t>
                      </a:r>
                      <a:endParaRPr lang="en-US" b="1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051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344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88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762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199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868900"/>
                  </a:ext>
                </a:extLst>
              </a:tr>
            </a:tbl>
          </a:graphicData>
        </a:graphic>
      </p:graphicFrame>
      <p:graphicFrame>
        <p:nvGraphicFramePr>
          <p:cNvPr id="202" name="Table 89">
            <a:extLst>
              <a:ext uri="{FF2B5EF4-FFF2-40B4-BE49-F238E27FC236}">
                <a16:creationId xmlns:a16="http://schemas.microsoft.com/office/drawing/2014/main" id="{383B7CAC-A484-A446-9808-BF56A64737A8}"/>
              </a:ext>
            </a:extLst>
          </p:cNvPr>
          <p:cNvGraphicFramePr>
            <a:graphicFrameLocks noGrp="1"/>
          </p:cNvGraphicFramePr>
          <p:nvPr/>
        </p:nvGraphicFramePr>
        <p:xfrm>
          <a:off x="6647688" y="3822192"/>
          <a:ext cx="1396048" cy="1857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val="2830262626"/>
                    </a:ext>
                  </a:extLst>
                </a:gridCol>
                <a:gridCol w="806768">
                  <a:extLst>
                    <a:ext uri="{9D8B030D-6E8A-4147-A177-3AD203B41FA5}">
                      <a16:colId xmlns:a16="http://schemas.microsoft.com/office/drawing/2014/main" val="165569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 err="1">
                          <a:solidFill>
                            <a:schemeClr val="tx1"/>
                          </a:solidFill>
                        </a:rPr>
                        <a:t>fmask</a:t>
                      </a:r>
                      <a:endParaRPr lang="en-US" b="1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051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344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88350"/>
                  </a:ext>
                </a:extLst>
              </a:tr>
              <a:tr h="3745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762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199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868900"/>
                  </a:ext>
                </a:extLst>
              </a:tr>
            </a:tbl>
          </a:graphicData>
        </a:graphic>
      </p:graphicFrame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8EDB39AE-96DF-B14C-B7BE-40E6ACBDD994}"/>
              </a:ext>
            </a:extLst>
          </p:cNvPr>
          <p:cNvCxnSpPr>
            <a:cxnSpLocks/>
          </p:cNvCxnSpPr>
          <p:nvPr/>
        </p:nvCxnSpPr>
        <p:spPr>
          <a:xfrm flipV="1">
            <a:off x="4393899" y="3246478"/>
            <a:ext cx="0" cy="19746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4" name="Table 89">
            <a:extLst>
              <a:ext uri="{FF2B5EF4-FFF2-40B4-BE49-F238E27FC236}">
                <a16:creationId xmlns:a16="http://schemas.microsoft.com/office/drawing/2014/main" id="{3865E5D4-6CC1-2447-A28F-460E34DCD2EF}"/>
              </a:ext>
            </a:extLst>
          </p:cNvPr>
          <p:cNvGraphicFramePr>
            <a:graphicFrameLocks noGrp="1"/>
          </p:cNvGraphicFramePr>
          <p:nvPr/>
        </p:nvGraphicFramePr>
        <p:xfrm>
          <a:off x="6647688" y="3822192"/>
          <a:ext cx="1396048" cy="1857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val="2830262626"/>
                    </a:ext>
                  </a:extLst>
                </a:gridCol>
                <a:gridCol w="806768">
                  <a:extLst>
                    <a:ext uri="{9D8B030D-6E8A-4147-A177-3AD203B41FA5}">
                      <a16:colId xmlns:a16="http://schemas.microsoft.com/office/drawing/2014/main" val="165569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 err="1"/>
                        <a:t>fmask</a:t>
                      </a:r>
                      <a:endParaRPr lang="en-US" b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051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344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88350"/>
                  </a:ext>
                </a:extLst>
              </a:tr>
              <a:tr h="374524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762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868900"/>
                  </a:ext>
                </a:extLst>
              </a:tr>
            </a:tbl>
          </a:graphicData>
        </a:graphic>
      </p:graphicFrame>
      <p:grpSp>
        <p:nvGrpSpPr>
          <p:cNvPr id="246" name="Group 245">
            <a:extLst>
              <a:ext uri="{FF2B5EF4-FFF2-40B4-BE49-F238E27FC236}">
                <a16:creationId xmlns:a16="http://schemas.microsoft.com/office/drawing/2014/main" id="{943E357C-2EC5-6945-A225-7B4426D71324}"/>
              </a:ext>
            </a:extLst>
          </p:cNvPr>
          <p:cNvGrpSpPr/>
          <p:nvPr/>
        </p:nvGrpSpPr>
        <p:grpSpPr>
          <a:xfrm>
            <a:off x="348711" y="663666"/>
            <a:ext cx="4013406" cy="1361142"/>
            <a:chOff x="190361" y="748137"/>
            <a:chExt cx="4013406" cy="1361142"/>
          </a:xfrm>
        </p:grpSpPr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4DC8FE0E-3F0E-6D47-A9BF-FACF839A9ED2}"/>
                </a:ext>
              </a:extLst>
            </p:cNvPr>
            <p:cNvSpPr txBox="1"/>
            <p:nvPr/>
          </p:nvSpPr>
          <p:spPr>
            <a:xfrm>
              <a:off x="190361" y="748137"/>
              <a:ext cx="4013406" cy="1361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MATCH </a:t>
              </a:r>
            </a:p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WHERE </a:t>
              </a:r>
              <a:r>
                <a:rPr lang="en-US" sz="1900" dirty="0" err="1">
                  <a:latin typeface="Consolas"/>
                  <a:cs typeface="Consolas"/>
                </a:rPr>
                <a:t>b.owner</a:t>
              </a:r>
              <a:r>
                <a:rPr lang="en-US" sz="1900" dirty="0">
                  <a:latin typeface="Consolas"/>
                  <a:cs typeface="Consolas"/>
                </a:rPr>
                <a:t>=‘Liz’ AND</a:t>
              </a:r>
            </a:p>
            <a:p>
              <a:pPr>
                <a:lnSpc>
                  <a:spcPct val="150000"/>
                </a:lnSpc>
              </a:pPr>
              <a:r>
                <a:rPr lang="en-US" sz="1900" dirty="0" err="1">
                  <a:latin typeface="Consolas"/>
                  <a:cs typeface="Consolas"/>
                </a:rPr>
                <a:t>a.cntr</a:t>
              </a:r>
              <a:r>
                <a:rPr lang="en-US" sz="1900" dirty="0">
                  <a:latin typeface="Consolas"/>
                  <a:cs typeface="Consolas"/>
                </a:rPr>
                <a:t>=‘US’ AND </a:t>
              </a:r>
              <a:r>
                <a:rPr lang="en-US" sz="1900" dirty="0" err="1">
                  <a:latin typeface="Consolas"/>
                  <a:cs typeface="Consolas"/>
                </a:rPr>
                <a:t>c.cntr</a:t>
              </a:r>
              <a:r>
                <a:rPr lang="en-US" sz="1900" dirty="0">
                  <a:latin typeface="Consolas"/>
                  <a:cs typeface="Consolas"/>
                </a:rPr>
                <a:t>=‘CAN’</a:t>
              </a: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1A675352-D867-0848-A619-B8C39CE8FDCB}"/>
                </a:ext>
              </a:extLst>
            </p:cNvPr>
            <p:cNvSpPr/>
            <p:nvPr/>
          </p:nvSpPr>
          <p:spPr>
            <a:xfrm>
              <a:off x="1085395" y="895767"/>
              <a:ext cx="349752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04806695-E0C0-4B48-A43F-169EC03AB815}"/>
                </a:ext>
              </a:extLst>
            </p:cNvPr>
            <p:cNvSpPr/>
            <p:nvPr/>
          </p:nvSpPr>
          <p:spPr>
            <a:xfrm>
              <a:off x="2045105" y="895767"/>
              <a:ext cx="349752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574E87EB-4459-AB4F-A893-2671D7AF3CA4}"/>
                </a:ext>
              </a:extLst>
            </p:cNvPr>
            <p:cNvSpPr/>
            <p:nvPr/>
          </p:nvSpPr>
          <p:spPr>
            <a:xfrm>
              <a:off x="3004815" y="895767"/>
              <a:ext cx="349752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AA8C3C6E-C7FF-B542-B3E5-97FD2A2EA573}"/>
                </a:ext>
              </a:extLst>
            </p:cNvPr>
            <p:cNvCxnSpPr>
              <a:cxnSpLocks/>
              <a:stCxn id="248" idx="6"/>
              <a:endCxn id="249" idx="2"/>
            </p:cNvCxnSpPr>
            <p:nvPr/>
          </p:nvCxnSpPr>
          <p:spPr>
            <a:xfrm>
              <a:off x="1435147" y="1066780"/>
              <a:ext cx="609958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E0429A50-6D44-9444-8C7B-11CA5D24D384}"/>
                </a:ext>
              </a:extLst>
            </p:cNvPr>
            <p:cNvCxnSpPr>
              <a:cxnSpLocks/>
              <a:stCxn id="249" idx="6"/>
              <a:endCxn id="250" idx="2"/>
            </p:cNvCxnSpPr>
            <p:nvPr/>
          </p:nvCxnSpPr>
          <p:spPr>
            <a:xfrm>
              <a:off x="2394857" y="1066780"/>
              <a:ext cx="609958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723C1DD-8757-C34D-927C-29038F130CC5}"/>
              </a:ext>
            </a:extLst>
          </p:cNvPr>
          <p:cNvGrpSpPr/>
          <p:nvPr/>
        </p:nvGrpSpPr>
        <p:grpSpPr>
          <a:xfrm>
            <a:off x="5172701" y="718498"/>
            <a:ext cx="3323045" cy="1588243"/>
            <a:chOff x="5172701" y="732566"/>
            <a:chExt cx="3323045" cy="158824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6863A9-B405-3F41-AAE6-FC8CEB3B5175}"/>
                </a:ext>
              </a:extLst>
            </p:cNvPr>
            <p:cNvGrpSpPr/>
            <p:nvPr/>
          </p:nvGrpSpPr>
          <p:grpSpPr>
            <a:xfrm>
              <a:off x="5172701" y="732566"/>
              <a:ext cx="3323045" cy="1588243"/>
              <a:chOff x="5172701" y="788838"/>
              <a:chExt cx="3323045" cy="1588243"/>
            </a:xfrm>
          </p:grpSpPr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19C9F4A5-4A59-5D49-9EF0-BC6C6830CBC6}"/>
                  </a:ext>
                </a:extLst>
              </p:cNvPr>
              <p:cNvGrpSpPr/>
              <p:nvPr/>
            </p:nvGrpSpPr>
            <p:grpSpPr>
              <a:xfrm>
                <a:off x="5299452" y="791351"/>
                <a:ext cx="3088022" cy="1585730"/>
                <a:chOff x="5299452" y="791351"/>
                <a:chExt cx="3088022" cy="1585730"/>
              </a:xfrm>
            </p:grpSpPr>
            <p:cxnSp>
              <p:nvCxnSpPr>
                <p:cNvPr id="287" name="Straight Arrow Connector 286">
                  <a:extLst>
                    <a:ext uri="{FF2B5EF4-FFF2-40B4-BE49-F238E27FC236}">
                      <a16:creationId xmlns:a16="http://schemas.microsoft.com/office/drawing/2014/main" id="{BAA36FDF-332C-FC4F-BA1E-211B44102BAC}"/>
                    </a:ext>
                  </a:extLst>
                </p:cNvPr>
                <p:cNvCxnSpPr>
                  <a:cxnSpLocks/>
                  <a:stCxn id="291" idx="6"/>
                  <a:endCxn id="293" idx="2"/>
                </p:cNvCxnSpPr>
                <p:nvPr/>
              </p:nvCxnSpPr>
              <p:spPr>
                <a:xfrm flipV="1">
                  <a:off x="7003483" y="951371"/>
                  <a:ext cx="1063951" cy="31642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Arrow Connector 287">
                  <a:extLst>
                    <a:ext uri="{FF2B5EF4-FFF2-40B4-BE49-F238E27FC236}">
                      <a16:creationId xmlns:a16="http://schemas.microsoft.com/office/drawing/2014/main" id="{D359AE11-CBF3-5547-8BD2-1D5BD2370777}"/>
                    </a:ext>
                  </a:extLst>
                </p:cNvPr>
                <p:cNvCxnSpPr>
                  <a:cxnSpLocks/>
                  <a:stCxn id="291" idx="6"/>
                  <a:endCxn id="292" idx="2"/>
                </p:cNvCxnSpPr>
                <p:nvPr/>
              </p:nvCxnSpPr>
              <p:spPr>
                <a:xfrm>
                  <a:off x="7003483" y="1267793"/>
                  <a:ext cx="1063951" cy="31642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FFF75913-9672-1042-8F48-2B6AF1D63DBD}"/>
                    </a:ext>
                  </a:extLst>
                </p:cNvPr>
                <p:cNvSpPr/>
                <p:nvPr/>
              </p:nvSpPr>
              <p:spPr>
                <a:xfrm>
                  <a:off x="5299452" y="1424196"/>
                  <a:ext cx="320040" cy="320040"/>
                </a:xfrm>
                <a:prstGeom prst="ellipse">
                  <a:avLst/>
                </a:prstGeom>
                <a:noFill/>
                <a:ln w="22225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EC1134A1-CA88-C148-AE74-D820440D22D8}"/>
                    </a:ext>
                  </a:extLst>
                </p:cNvPr>
                <p:cNvSpPr/>
                <p:nvPr/>
              </p:nvSpPr>
              <p:spPr>
                <a:xfrm>
                  <a:off x="5299452" y="791351"/>
                  <a:ext cx="320040" cy="320040"/>
                </a:xfrm>
                <a:prstGeom prst="ellipse">
                  <a:avLst/>
                </a:prstGeom>
                <a:noFill/>
                <a:ln w="22225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53467DE0-9073-B649-BA99-BFBB25B96AB4}"/>
                    </a:ext>
                  </a:extLst>
                </p:cNvPr>
                <p:cNvSpPr/>
                <p:nvPr/>
              </p:nvSpPr>
              <p:spPr>
                <a:xfrm>
                  <a:off x="6683443" y="1107773"/>
                  <a:ext cx="320040" cy="320040"/>
                </a:xfrm>
                <a:prstGeom prst="ellipse">
                  <a:avLst/>
                </a:prstGeom>
                <a:noFill/>
                <a:ln w="22225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C70503AA-4CAE-5447-BC23-0ED194B4D129}"/>
                    </a:ext>
                  </a:extLst>
                </p:cNvPr>
                <p:cNvSpPr/>
                <p:nvPr/>
              </p:nvSpPr>
              <p:spPr>
                <a:xfrm>
                  <a:off x="8067434" y="1424196"/>
                  <a:ext cx="320040" cy="320040"/>
                </a:xfrm>
                <a:prstGeom prst="ellipse">
                  <a:avLst/>
                </a:prstGeom>
                <a:noFill/>
                <a:ln w="22225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1646F44A-9F57-784B-AAF4-E229DA084844}"/>
                    </a:ext>
                  </a:extLst>
                </p:cNvPr>
                <p:cNvSpPr/>
                <p:nvPr/>
              </p:nvSpPr>
              <p:spPr>
                <a:xfrm>
                  <a:off x="8067434" y="791351"/>
                  <a:ext cx="320040" cy="320040"/>
                </a:xfrm>
                <a:prstGeom prst="ellipse">
                  <a:avLst/>
                </a:prstGeom>
                <a:noFill/>
                <a:ln w="22225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00" dirty="0">
                    <a:solidFill>
                      <a:srgbClr val="000000"/>
                    </a:solidFill>
                  </a:endParaRPr>
                </a:p>
              </p:txBody>
            </p:sp>
            <p:cxnSp>
              <p:nvCxnSpPr>
                <p:cNvPr id="294" name="Straight Arrow Connector 293">
                  <a:extLst>
                    <a:ext uri="{FF2B5EF4-FFF2-40B4-BE49-F238E27FC236}">
                      <a16:creationId xmlns:a16="http://schemas.microsoft.com/office/drawing/2014/main" id="{54AF95E9-6517-3B4E-B986-03E55FC21010}"/>
                    </a:ext>
                  </a:extLst>
                </p:cNvPr>
                <p:cNvCxnSpPr>
                  <a:cxnSpLocks/>
                  <a:stCxn id="290" idx="6"/>
                  <a:endCxn id="291" idx="2"/>
                </p:cNvCxnSpPr>
                <p:nvPr/>
              </p:nvCxnSpPr>
              <p:spPr>
                <a:xfrm>
                  <a:off x="5619492" y="951371"/>
                  <a:ext cx="1063951" cy="31642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7AA486BA-6695-A247-8695-63684134B6CA}"/>
                    </a:ext>
                  </a:extLst>
                </p:cNvPr>
                <p:cNvCxnSpPr>
                  <a:cxnSpLocks/>
                  <a:stCxn id="289" idx="6"/>
                  <a:endCxn id="291" idx="2"/>
                </p:cNvCxnSpPr>
                <p:nvPr/>
              </p:nvCxnSpPr>
              <p:spPr>
                <a:xfrm flipV="1">
                  <a:off x="5619492" y="1267793"/>
                  <a:ext cx="1063951" cy="31642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268D89F3-8F10-B94D-9036-4EEE4D3ED8BF}"/>
                    </a:ext>
                  </a:extLst>
                </p:cNvPr>
                <p:cNvSpPr/>
                <p:nvPr/>
              </p:nvSpPr>
              <p:spPr>
                <a:xfrm>
                  <a:off x="6678575" y="1740618"/>
                  <a:ext cx="320040" cy="320040"/>
                </a:xfrm>
                <a:prstGeom prst="ellipse">
                  <a:avLst/>
                </a:prstGeom>
                <a:noFill/>
                <a:ln w="22225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B26D8C0A-7079-AA44-B704-48B8E4075CB3}"/>
                    </a:ext>
                  </a:extLst>
                </p:cNvPr>
                <p:cNvSpPr/>
                <p:nvPr/>
              </p:nvSpPr>
              <p:spPr>
                <a:xfrm>
                  <a:off x="5299452" y="2057041"/>
                  <a:ext cx="320040" cy="320040"/>
                </a:xfrm>
                <a:prstGeom prst="ellipse">
                  <a:avLst/>
                </a:prstGeom>
                <a:noFill/>
                <a:ln w="22225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93EDF352-FED7-F24E-817C-1EAE6F2B5087}"/>
                    </a:ext>
                  </a:extLst>
                </p:cNvPr>
                <p:cNvSpPr/>
                <p:nvPr/>
              </p:nvSpPr>
              <p:spPr>
                <a:xfrm>
                  <a:off x="8067434" y="2057041"/>
                  <a:ext cx="320040" cy="320040"/>
                </a:xfrm>
                <a:prstGeom prst="ellipse">
                  <a:avLst/>
                </a:prstGeom>
                <a:noFill/>
                <a:ln w="22225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00" dirty="0">
                    <a:solidFill>
                      <a:srgbClr val="000000"/>
                    </a:solidFill>
                  </a:endParaRPr>
                </a:p>
              </p:txBody>
            </p:sp>
            <p:cxnSp>
              <p:nvCxnSpPr>
                <p:cNvPr id="299" name="Straight Arrow Connector 298">
                  <a:extLst>
                    <a:ext uri="{FF2B5EF4-FFF2-40B4-BE49-F238E27FC236}">
                      <a16:creationId xmlns:a16="http://schemas.microsoft.com/office/drawing/2014/main" id="{823A4B6B-C7FB-BC44-A431-6990CB32319E}"/>
                    </a:ext>
                  </a:extLst>
                </p:cNvPr>
                <p:cNvCxnSpPr>
                  <a:cxnSpLocks/>
                  <a:stCxn id="289" idx="6"/>
                  <a:endCxn id="296" idx="2"/>
                </p:cNvCxnSpPr>
                <p:nvPr/>
              </p:nvCxnSpPr>
              <p:spPr>
                <a:xfrm>
                  <a:off x="5619492" y="1584216"/>
                  <a:ext cx="1059083" cy="31642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Arrow Connector 299">
                  <a:extLst>
                    <a:ext uri="{FF2B5EF4-FFF2-40B4-BE49-F238E27FC236}">
                      <a16:creationId xmlns:a16="http://schemas.microsoft.com/office/drawing/2014/main" id="{E391F944-49F3-EB40-8E26-DF2EAC5E5D89}"/>
                    </a:ext>
                  </a:extLst>
                </p:cNvPr>
                <p:cNvCxnSpPr>
                  <a:cxnSpLocks/>
                  <a:stCxn id="297" idx="6"/>
                  <a:endCxn id="296" idx="2"/>
                </p:cNvCxnSpPr>
                <p:nvPr/>
              </p:nvCxnSpPr>
              <p:spPr>
                <a:xfrm flipV="1">
                  <a:off x="5619492" y="1900638"/>
                  <a:ext cx="1059083" cy="31642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Arrow Connector 300">
                  <a:extLst>
                    <a:ext uri="{FF2B5EF4-FFF2-40B4-BE49-F238E27FC236}">
                      <a16:creationId xmlns:a16="http://schemas.microsoft.com/office/drawing/2014/main" id="{6B9A1BFA-BBF7-C14F-A0CF-A272AA8A8FFF}"/>
                    </a:ext>
                  </a:extLst>
                </p:cNvPr>
                <p:cNvCxnSpPr>
                  <a:cxnSpLocks/>
                  <a:stCxn id="296" idx="6"/>
                  <a:endCxn id="292" idx="2"/>
                </p:cNvCxnSpPr>
                <p:nvPr/>
              </p:nvCxnSpPr>
              <p:spPr>
                <a:xfrm flipV="1">
                  <a:off x="6998615" y="1584216"/>
                  <a:ext cx="1068819" cy="31642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Arrow Connector 301">
                  <a:extLst>
                    <a:ext uri="{FF2B5EF4-FFF2-40B4-BE49-F238E27FC236}">
                      <a16:creationId xmlns:a16="http://schemas.microsoft.com/office/drawing/2014/main" id="{09DEE5CB-C941-034F-8CDD-3C9A54B6B812}"/>
                    </a:ext>
                  </a:extLst>
                </p:cNvPr>
                <p:cNvCxnSpPr>
                  <a:cxnSpLocks/>
                  <a:stCxn id="296" idx="6"/>
                  <a:endCxn id="298" idx="2"/>
                </p:cNvCxnSpPr>
                <p:nvPr/>
              </p:nvCxnSpPr>
              <p:spPr>
                <a:xfrm>
                  <a:off x="6998615" y="1900638"/>
                  <a:ext cx="1068819" cy="31642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274FD7BB-D951-6D4A-8141-4DBFCAD25914}"/>
                  </a:ext>
                </a:extLst>
              </p:cNvPr>
              <p:cNvSpPr txBox="1"/>
              <p:nvPr/>
            </p:nvSpPr>
            <p:spPr>
              <a:xfrm>
                <a:off x="6613350" y="1101240"/>
                <a:ext cx="457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L</a:t>
                </a:r>
                <a:r>
                  <a:rPr lang="en-US" sz="1400" baseline="-25000" dirty="0"/>
                  <a:t>1</a:t>
                </a:r>
                <a:endParaRPr lang="en-US" sz="1400" dirty="0"/>
              </a:p>
            </p:txBody>
          </p:sp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33913E25-6F82-CF45-9F22-C12495EA2250}"/>
                  </a:ext>
                </a:extLst>
              </p:cNvPr>
              <p:cNvSpPr txBox="1"/>
              <p:nvPr/>
            </p:nvSpPr>
            <p:spPr>
              <a:xfrm>
                <a:off x="6618535" y="1732648"/>
                <a:ext cx="457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L</a:t>
                </a:r>
                <a:r>
                  <a:rPr lang="en-US" sz="1400" baseline="-25000" dirty="0"/>
                  <a:t>2</a:t>
                </a:r>
                <a:endParaRPr lang="en-US" sz="1400" dirty="0"/>
              </a:p>
            </p:txBody>
          </p:sp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DEEFDB2C-0D4E-2D41-B409-A102F4F8C96C}"/>
                  </a:ext>
                </a:extLst>
              </p:cNvPr>
              <p:cNvSpPr txBox="1"/>
              <p:nvPr/>
            </p:nvSpPr>
            <p:spPr>
              <a:xfrm>
                <a:off x="5240239" y="790578"/>
                <a:ext cx="457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U</a:t>
                </a:r>
                <a:r>
                  <a:rPr lang="en-US" sz="1400" baseline="-25000" dirty="0"/>
                  <a:t>1</a:t>
                </a:r>
                <a:endParaRPr lang="en-US" sz="1400" dirty="0"/>
              </a:p>
            </p:txBody>
          </p:sp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C744571E-CD83-814A-8A06-76121471B5F8}"/>
                  </a:ext>
                </a:extLst>
              </p:cNvPr>
              <p:cNvSpPr txBox="1"/>
              <p:nvPr/>
            </p:nvSpPr>
            <p:spPr>
              <a:xfrm>
                <a:off x="5172701" y="1419408"/>
                <a:ext cx="5735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U</a:t>
                </a:r>
                <a:r>
                  <a:rPr lang="en-US" sz="1400" baseline="-25000" dirty="0"/>
                  <a:t>100</a:t>
                </a:r>
                <a:endParaRPr lang="en-US" sz="1400" dirty="0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BA4EC91A-EBFF-7442-A99A-EB143ED41A9A}"/>
                  </a:ext>
                </a:extLst>
              </p:cNvPr>
              <p:cNvSpPr txBox="1"/>
              <p:nvPr/>
            </p:nvSpPr>
            <p:spPr>
              <a:xfrm>
                <a:off x="5181902" y="2050145"/>
                <a:ext cx="5735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U</a:t>
                </a:r>
                <a:r>
                  <a:rPr lang="en-US" sz="1400" baseline="-25000" dirty="0"/>
                  <a:t>199</a:t>
                </a:r>
                <a:endParaRPr lang="en-US" sz="1400" dirty="0"/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2CA1E347-3B70-A141-AF45-61938A2FF32F}"/>
                  </a:ext>
                </a:extLst>
              </p:cNvPr>
              <p:cNvSpPr txBox="1"/>
              <p:nvPr/>
            </p:nvSpPr>
            <p:spPr>
              <a:xfrm>
                <a:off x="8012314" y="788838"/>
                <a:ext cx="457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</a:t>
                </a:r>
                <a:r>
                  <a:rPr lang="en-US" sz="1400" baseline="-25000" dirty="0"/>
                  <a:t>1</a:t>
                </a:r>
                <a:endParaRPr lang="en-US" sz="1400" dirty="0"/>
              </a:p>
            </p:txBody>
          </p: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10370B42-5C14-7142-8ECB-4BC43813C867}"/>
                  </a:ext>
                </a:extLst>
              </p:cNvPr>
              <p:cNvSpPr txBox="1"/>
              <p:nvPr/>
            </p:nvSpPr>
            <p:spPr>
              <a:xfrm>
                <a:off x="7982171" y="1420582"/>
                <a:ext cx="5135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</a:t>
                </a:r>
                <a:r>
                  <a:rPr lang="en-US" sz="1400" baseline="-25000" dirty="0"/>
                  <a:t>100</a:t>
                </a:r>
                <a:endParaRPr lang="en-US" sz="1400" dirty="0"/>
              </a:p>
            </p:txBody>
          </p:sp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B79765DA-97DF-5240-AD72-DC20B63D1163}"/>
                  </a:ext>
                </a:extLst>
              </p:cNvPr>
              <p:cNvSpPr txBox="1"/>
              <p:nvPr/>
            </p:nvSpPr>
            <p:spPr>
              <a:xfrm>
                <a:off x="7966963" y="2050626"/>
                <a:ext cx="5135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</a:t>
                </a:r>
                <a:r>
                  <a:rPr lang="en-US" sz="1400" baseline="-25000" dirty="0"/>
                  <a:t>199</a:t>
                </a:r>
                <a:endParaRPr lang="en-US" sz="1400" dirty="0"/>
              </a:p>
            </p:txBody>
          </p:sp>
        </p:grp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7C430126-5E48-D84E-8DED-09755F294E54}"/>
                </a:ext>
              </a:extLst>
            </p:cNvPr>
            <p:cNvSpPr txBox="1"/>
            <p:nvPr/>
          </p:nvSpPr>
          <p:spPr>
            <a:xfrm>
              <a:off x="5244867" y="995741"/>
              <a:ext cx="4069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…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BE1D6FB0-92DB-5A45-A4DB-E022816773EF}"/>
                </a:ext>
              </a:extLst>
            </p:cNvPr>
            <p:cNvSpPr txBox="1"/>
            <p:nvPr/>
          </p:nvSpPr>
          <p:spPr>
            <a:xfrm>
              <a:off x="6184836" y="995741"/>
              <a:ext cx="4069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…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CB229796-E3FE-EA4A-8383-42047DBF067A}"/>
                </a:ext>
              </a:extLst>
            </p:cNvPr>
            <p:cNvSpPr txBox="1"/>
            <p:nvPr/>
          </p:nvSpPr>
          <p:spPr>
            <a:xfrm>
              <a:off x="6991174" y="995091"/>
              <a:ext cx="4069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…</a:t>
              </a: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76231CE1-0B5A-8944-813D-4454A1F33716}"/>
                </a:ext>
              </a:extLst>
            </p:cNvPr>
            <p:cNvSpPr txBox="1"/>
            <p:nvPr/>
          </p:nvSpPr>
          <p:spPr>
            <a:xfrm>
              <a:off x="8053494" y="995741"/>
              <a:ext cx="4069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…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4C3CB0B8-B893-9242-AE93-7254FD1FCA02}"/>
                </a:ext>
              </a:extLst>
            </p:cNvPr>
            <p:cNvSpPr txBox="1"/>
            <p:nvPr/>
          </p:nvSpPr>
          <p:spPr>
            <a:xfrm>
              <a:off x="8035475" y="1648797"/>
              <a:ext cx="4069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…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8E82FE2F-AABA-D349-9C4F-47BBB129478E}"/>
                </a:ext>
              </a:extLst>
            </p:cNvPr>
            <p:cNvSpPr txBox="1"/>
            <p:nvPr/>
          </p:nvSpPr>
          <p:spPr>
            <a:xfrm>
              <a:off x="7051919" y="1621030"/>
              <a:ext cx="4069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…</a:t>
              </a: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1D9FD134-BEEA-784D-BD9E-CAF41B1DD180}"/>
                </a:ext>
              </a:extLst>
            </p:cNvPr>
            <p:cNvSpPr txBox="1"/>
            <p:nvPr/>
          </p:nvSpPr>
          <p:spPr>
            <a:xfrm>
              <a:off x="6191215" y="1621029"/>
              <a:ext cx="4069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…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579A4796-D8BC-154B-AF70-90B4E4180148}"/>
                </a:ext>
              </a:extLst>
            </p:cNvPr>
            <p:cNvSpPr txBox="1"/>
            <p:nvPr/>
          </p:nvSpPr>
          <p:spPr>
            <a:xfrm>
              <a:off x="5231475" y="1618688"/>
              <a:ext cx="4069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…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3930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2" grpId="0"/>
      <p:bldP spid="92" grpId="1"/>
      <p:bldP spid="93" grpId="0" animBg="1"/>
      <p:bldP spid="93" grpId="1" animBg="1"/>
      <p:bldP spid="97" grpId="0"/>
      <p:bldP spid="98" grpId="0"/>
      <p:bldP spid="101" grpId="0"/>
      <p:bldP spid="101" grpId="1"/>
      <p:bldP spid="104" grpId="0"/>
      <p:bldP spid="107" grpId="0"/>
      <p:bldP spid="199" grpId="0"/>
      <p:bldP spid="20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63504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3891" y="6521445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8615-162E-0446-97BA-6A74199ED555}"/>
              </a:ext>
            </a:extLst>
          </p:cNvPr>
          <p:cNvSpPr txBox="1"/>
          <p:nvPr/>
        </p:nvSpPr>
        <p:spPr>
          <a:xfrm>
            <a:off x="-4024" y="-10993"/>
            <a:ext cx="9141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latin typeface="Arial"/>
                <a:cs typeface="Arial"/>
              </a:rPr>
              <a:t>F-Representation-based Processor (3)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EC01DF-8769-9042-9787-30FD23A6D340}"/>
              </a:ext>
            </a:extLst>
          </p:cNvPr>
          <p:cNvSpPr/>
          <p:nvPr/>
        </p:nvSpPr>
        <p:spPr>
          <a:xfrm>
            <a:off x="19126" y="649073"/>
            <a:ext cx="9118365" cy="2805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Microbenchmark: 1-, 2-, 3-hop path queries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FILTER: last edge have a predicate, e.g.: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endParaRPr lang="en-US" sz="2000" kern="0" dirty="0">
              <a:latin typeface="Arial"/>
              <a:cs typeface="Arial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COUNT: counts the number of paths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LDBC Soc. Network Benchmark scale 100 (1.7B edges), Flickr (33M edges)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GF-Flat vs GF-</a:t>
            </a:r>
            <a:r>
              <a:rPr lang="en-US" sz="2000" kern="0" dirty="0" err="1">
                <a:latin typeface="Arial"/>
                <a:cs typeface="Arial"/>
              </a:rPr>
              <a:t>FRep</a:t>
            </a:r>
            <a:endParaRPr lang="en-US" sz="2000" kern="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1FCE4-CF72-B448-AA85-BC62FFE05864}"/>
              </a:ext>
            </a:extLst>
          </p:cNvPr>
          <p:cNvSpPr txBox="1"/>
          <p:nvPr/>
        </p:nvSpPr>
        <p:spPr>
          <a:xfrm>
            <a:off x="3180230" y="5685826"/>
            <a:ext cx="2783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runtimes in seconds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8E40FF-19F8-D44D-BFCF-8FB7F4D2292E}"/>
              </a:ext>
            </a:extLst>
          </p:cNvPr>
          <p:cNvSpPr txBox="1"/>
          <p:nvPr/>
        </p:nvSpPr>
        <p:spPr>
          <a:xfrm>
            <a:off x="-6508" y="5980392"/>
            <a:ext cx="9150508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Also large differences with 3 baseline commercial systems (see paper)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AA6C21-A7E5-B940-A598-A9E6756AC794}"/>
              </a:ext>
            </a:extLst>
          </p:cNvPr>
          <p:cNvSpPr/>
          <p:nvPr/>
        </p:nvSpPr>
        <p:spPr>
          <a:xfrm>
            <a:off x="-6509" y="6467224"/>
            <a:ext cx="92580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Integrating Column-Oriented Storage and Query Proc. Techniques Into GDBMSs, Gupta et al., </a:t>
            </a:r>
            <a:r>
              <a:rPr lang="en-US" sz="1600" i="1" dirty="0" err="1"/>
              <a:t>arXiv</a:t>
            </a:r>
            <a:r>
              <a:rPr lang="en-US" sz="1600" i="1" dirty="0"/>
              <a:t> 2021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4A7D16A-6376-3D4A-8F24-F0C1E1C188DF}"/>
              </a:ext>
            </a:extLst>
          </p:cNvPr>
          <p:cNvGrpSpPr/>
          <p:nvPr/>
        </p:nvGrpSpPr>
        <p:grpSpPr>
          <a:xfrm>
            <a:off x="846581" y="1526330"/>
            <a:ext cx="7214238" cy="549486"/>
            <a:chOff x="1141971" y="1393326"/>
            <a:chExt cx="7214238" cy="54948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8519DF-D26F-2E47-90D6-2A68E170EDB7}"/>
                </a:ext>
              </a:extLst>
            </p:cNvPr>
            <p:cNvSpPr txBox="1"/>
            <p:nvPr/>
          </p:nvSpPr>
          <p:spPr>
            <a:xfrm>
              <a:off x="1141971" y="1453157"/>
              <a:ext cx="7214238" cy="483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MATCH                   WHERE e2.date &gt; 2021-03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5924BF-D361-5146-BD3B-8A68C58E6B07}"/>
                </a:ext>
              </a:extLst>
            </p:cNvPr>
            <p:cNvSpPr/>
            <p:nvPr/>
          </p:nvSpPr>
          <p:spPr>
            <a:xfrm>
              <a:off x="2037005" y="1600787"/>
              <a:ext cx="349752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C0C7C2-0923-6D45-96A7-512C619EF143}"/>
                </a:ext>
              </a:extLst>
            </p:cNvPr>
            <p:cNvSpPr/>
            <p:nvPr/>
          </p:nvSpPr>
          <p:spPr>
            <a:xfrm>
              <a:off x="2996715" y="1600787"/>
              <a:ext cx="349752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26DDB43-0EB7-9648-BB1C-41C95F485F44}"/>
                </a:ext>
              </a:extLst>
            </p:cNvPr>
            <p:cNvSpPr/>
            <p:nvPr/>
          </p:nvSpPr>
          <p:spPr>
            <a:xfrm>
              <a:off x="3956425" y="1600787"/>
              <a:ext cx="349752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DC89781-6557-A144-89AE-C90DD99ED49F}"/>
                </a:ext>
              </a:extLst>
            </p:cNvPr>
            <p:cNvCxnSpPr>
              <a:cxnSpLocks/>
              <a:stCxn id="17" idx="6"/>
              <a:endCxn id="18" idx="2"/>
            </p:cNvCxnSpPr>
            <p:nvPr/>
          </p:nvCxnSpPr>
          <p:spPr>
            <a:xfrm>
              <a:off x="2386757" y="1771800"/>
              <a:ext cx="609958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3DBEC0E-1865-5040-B64A-5EDBA8A8EE7B}"/>
                </a:ext>
              </a:extLst>
            </p:cNvPr>
            <p:cNvCxnSpPr>
              <a:cxnSpLocks/>
              <a:stCxn id="18" idx="6"/>
              <a:endCxn id="19" idx="2"/>
            </p:cNvCxnSpPr>
            <p:nvPr/>
          </p:nvCxnSpPr>
          <p:spPr>
            <a:xfrm>
              <a:off x="3346467" y="1771800"/>
              <a:ext cx="609958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6D46F4-5511-CF4A-A0F8-5E1F3D17C375}"/>
                </a:ext>
              </a:extLst>
            </p:cNvPr>
            <p:cNvSpPr txBox="1"/>
            <p:nvPr/>
          </p:nvSpPr>
          <p:spPr>
            <a:xfrm>
              <a:off x="2459437" y="1393326"/>
              <a:ext cx="495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3D7148C-B9A2-0749-A8BA-E2A0695A84F6}"/>
                </a:ext>
              </a:extLst>
            </p:cNvPr>
            <p:cNvSpPr txBox="1"/>
            <p:nvPr/>
          </p:nvSpPr>
          <p:spPr>
            <a:xfrm>
              <a:off x="3359136" y="1416121"/>
              <a:ext cx="495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5" name="Table 4">
            <a:extLst>
              <a:ext uri="{FF2B5EF4-FFF2-40B4-BE49-F238E27FC236}">
                <a16:creationId xmlns:a16="http://schemas.microsoft.com/office/drawing/2014/main" id="{57063014-F094-6A4F-95C7-6541923BCE13}"/>
              </a:ext>
            </a:extLst>
          </p:cNvPr>
          <p:cNvGraphicFramePr>
            <a:graphicFrameLocks noGrp="1"/>
          </p:cNvGraphicFramePr>
          <p:nvPr/>
        </p:nvGraphicFramePr>
        <p:xfrm>
          <a:off x="103822" y="3629174"/>
          <a:ext cx="8955405" cy="209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4845">
                  <a:extLst>
                    <a:ext uri="{9D8B030D-6E8A-4147-A177-3AD203B41FA5}">
                      <a16:colId xmlns:a16="http://schemas.microsoft.com/office/drawing/2014/main" val="1257452004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415028816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84388699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53692411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252181345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9689977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98548786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67290218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169364025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836491025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300587688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28523314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149757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LDBC100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FLICKR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81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FILTER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COUNT(*)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FILTER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COUNT(*)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644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395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dirty="0"/>
                        <a:t>Flat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40.0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14.8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4.1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175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 err="1"/>
                        <a:t>FRep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0.01</a:t>
                      </a:r>
                    </a:p>
                    <a:p>
                      <a:r>
                        <a:rPr lang="en-US" sz="1700" b="1" dirty="0">
                          <a:solidFill>
                            <a:srgbClr val="C00000"/>
                          </a:solidFill>
                        </a:rPr>
                        <a:t>3.2x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0.1</a:t>
                      </a:r>
                    </a:p>
                    <a:p>
                      <a:r>
                        <a:rPr lang="en-US" sz="1700" b="1" dirty="0">
                          <a:solidFill>
                            <a:srgbClr val="C00000"/>
                          </a:solidFill>
                        </a:rPr>
                        <a:t>12.7x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6.9</a:t>
                      </a:r>
                    </a:p>
                    <a:p>
                      <a:r>
                        <a:rPr lang="en-US" sz="1700" b="1" dirty="0">
                          <a:solidFill>
                            <a:srgbClr val="C00000"/>
                          </a:solidFill>
                        </a:rPr>
                        <a:t>15.2x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0.01</a:t>
                      </a:r>
                    </a:p>
                    <a:p>
                      <a:r>
                        <a:rPr lang="en-US" sz="1700" b="1" dirty="0">
                          <a:solidFill>
                            <a:srgbClr val="C00000"/>
                          </a:solidFill>
                        </a:rPr>
                        <a:t>3.2x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dirty="0"/>
                        <a:t>0.02</a:t>
                      </a:r>
                    </a:p>
                    <a:p>
                      <a:r>
                        <a:rPr lang="en-US" sz="1700" b="1" dirty="0">
                          <a:solidFill>
                            <a:srgbClr val="C00000"/>
                          </a:solidFill>
                        </a:rPr>
                        <a:t>12.8x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0.4</a:t>
                      </a:r>
                    </a:p>
                    <a:p>
                      <a:r>
                        <a:rPr lang="en-US" sz="1700" b="1" dirty="0">
                          <a:solidFill>
                            <a:srgbClr val="C00000"/>
                          </a:solidFill>
                        </a:rPr>
                        <a:t>19.4x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0.01</a:t>
                      </a:r>
                    </a:p>
                    <a:p>
                      <a:r>
                        <a:rPr lang="en-US" sz="1700" b="1" dirty="0">
                          <a:solidFill>
                            <a:srgbClr val="C00000"/>
                          </a:solidFill>
                        </a:rPr>
                        <a:t>2.7x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0.1</a:t>
                      </a:r>
                    </a:p>
                    <a:p>
                      <a:r>
                        <a:rPr lang="en-US" sz="1700" b="1" dirty="0">
                          <a:solidFill>
                            <a:srgbClr val="C00000"/>
                          </a:solidFill>
                        </a:rPr>
                        <a:t>13.7x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1.2</a:t>
                      </a:r>
                    </a:p>
                    <a:p>
                      <a:r>
                        <a:rPr lang="en-US" sz="1700" b="1" dirty="0">
                          <a:solidFill>
                            <a:srgbClr val="C00000"/>
                          </a:solidFill>
                        </a:rPr>
                        <a:t>12.4x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0.02</a:t>
                      </a:r>
                    </a:p>
                    <a:p>
                      <a:r>
                        <a:rPr lang="en-US" sz="1700" b="1" dirty="0">
                          <a:solidFill>
                            <a:srgbClr val="C00000"/>
                          </a:solidFill>
                        </a:rPr>
                        <a:t>2.1x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dirty="0"/>
                        <a:t>0.02</a:t>
                      </a:r>
                    </a:p>
                    <a:p>
                      <a:r>
                        <a:rPr lang="en-US" sz="1700" b="1" dirty="0">
                          <a:solidFill>
                            <a:srgbClr val="C00000"/>
                          </a:solidFill>
                        </a:rPr>
                        <a:t>21.4x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0.05</a:t>
                      </a:r>
                    </a:p>
                    <a:p>
                      <a:r>
                        <a:rPr lang="en-US" sz="1700" b="1" dirty="0">
                          <a:solidFill>
                            <a:srgbClr val="C00000"/>
                          </a:solidFill>
                        </a:rPr>
                        <a:t>80.6x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15254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91219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63504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3891" y="6588680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/>
              <a:t>24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8615-162E-0446-97BA-6A74199ED555}"/>
              </a:ext>
            </a:extLst>
          </p:cNvPr>
          <p:cNvSpPr txBox="1"/>
          <p:nvPr/>
        </p:nvSpPr>
        <p:spPr>
          <a:xfrm>
            <a:off x="24111" y="-10993"/>
            <a:ext cx="9258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latin typeface="Arial"/>
                <a:cs typeface="Arial"/>
              </a:rPr>
              <a:t>Further Value Repetitions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9F048F-F147-5749-86C5-32E21069966B}"/>
              </a:ext>
            </a:extLst>
          </p:cNvPr>
          <p:cNvGrpSpPr/>
          <p:nvPr/>
        </p:nvGrpSpPr>
        <p:grpSpPr>
          <a:xfrm>
            <a:off x="142032" y="683971"/>
            <a:ext cx="4507234" cy="922560"/>
            <a:chOff x="220440" y="1015608"/>
            <a:chExt cx="4507234" cy="92256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0527AC-CAF8-7148-B2D3-489FAD2D3331}"/>
                </a:ext>
              </a:extLst>
            </p:cNvPr>
            <p:cNvSpPr txBox="1"/>
            <p:nvPr/>
          </p:nvSpPr>
          <p:spPr>
            <a:xfrm>
              <a:off x="220440" y="1015608"/>
              <a:ext cx="4507234" cy="922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MATCH </a:t>
              </a:r>
            </a:p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WHERE </a:t>
              </a:r>
              <a:r>
                <a:rPr lang="en-US" sz="1900" dirty="0" err="1">
                  <a:latin typeface="Consolas"/>
                  <a:cs typeface="Consolas"/>
                </a:rPr>
                <a:t>a.cntr</a:t>
              </a:r>
              <a:r>
                <a:rPr lang="en-US" sz="1900" dirty="0">
                  <a:latin typeface="Consolas"/>
                  <a:cs typeface="Consolas"/>
                </a:rPr>
                <a:t>=‘US’ &amp; </a:t>
              </a:r>
              <a:r>
                <a:rPr lang="en-US" sz="1900" dirty="0" err="1">
                  <a:latin typeface="Consolas"/>
                  <a:cs typeface="Consolas"/>
                </a:rPr>
                <a:t>e.cntr</a:t>
              </a:r>
              <a:r>
                <a:rPr lang="en-US" sz="1900" dirty="0">
                  <a:latin typeface="Consolas"/>
                  <a:cs typeface="Consolas"/>
                </a:rPr>
                <a:t>=‘CAN’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93845A2-EA63-2A48-96FB-89A8BDD09BE2}"/>
                </a:ext>
              </a:extLst>
            </p:cNvPr>
            <p:cNvSpPr/>
            <p:nvPr/>
          </p:nvSpPr>
          <p:spPr>
            <a:xfrm>
              <a:off x="1311894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A3F555-B73D-D74F-84F0-069B0C51A236}"/>
                </a:ext>
              </a:extLst>
            </p:cNvPr>
            <p:cNvSpPr/>
            <p:nvPr/>
          </p:nvSpPr>
          <p:spPr>
            <a:xfrm>
              <a:off x="1962543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5AA706A-0088-3742-ABA8-E262BEC52B17}"/>
                </a:ext>
              </a:extLst>
            </p:cNvPr>
            <p:cNvSpPr/>
            <p:nvPr/>
          </p:nvSpPr>
          <p:spPr>
            <a:xfrm>
              <a:off x="2613192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7CB77D0-F2C2-BB44-B3E6-C4B9BE0FB2BA}"/>
                </a:ext>
              </a:extLst>
            </p:cNvPr>
            <p:cNvCxnSpPr>
              <a:cxnSpLocks/>
              <a:stCxn id="5" idx="6"/>
              <a:endCxn id="17" idx="2"/>
            </p:cNvCxnSpPr>
            <p:nvPr/>
          </p:nvCxnSpPr>
          <p:spPr>
            <a:xfrm>
              <a:off x="1650222" y="1338188"/>
              <a:ext cx="312321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6A49FF7-EF66-6C49-AF9F-B02D0CA44C23}"/>
                </a:ext>
              </a:extLst>
            </p:cNvPr>
            <p:cNvCxnSpPr>
              <a:cxnSpLocks/>
              <a:stCxn id="17" idx="6"/>
              <a:endCxn id="18" idx="2"/>
            </p:cNvCxnSpPr>
            <p:nvPr/>
          </p:nvCxnSpPr>
          <p:spPr>
            <a:xfrm>
              <a:off x="2300871" y="1338188"/>
              <a:ext cx="312321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8386AFD-2383-1440-B34F-BF31FBD94355}"/>
                </a:ext>
              </a:extLst>
            </p:cNvPr>
            <p:cNvSpPr/>
            <p:nvPr/>
          </p:nvSpPr>
          <p:spPr>
            <a:xfrm>
              <a:off x="3263842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E2EB08A-3140-4F42-B9D8-81DEB9300D66}"/>
                </a:ext>
              </a:extLst>
            </p:cNvPr>
            <p:cNvCxnSpPr>
              <a:cxnSpLocks/>
              <a:stCxn id="18" idx="6"/>
              <a:endCxn id="61" idx="2"/>
            </p:cNvCxnSpPr>
            <p:nvPr/>
          </p:nvCxnSpPr>
          <p:spPr>
            <a:xfrm>
              <a:off x="2951520" y="1338188"/>
              <a:ext cx="312322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7083A86C-AE3F-B544-9C3A-2D571BEA62E0}"/>
              </a:ext>
            </a:extLst>
          </p:cNvPr>
          <p:cNvGrpSpPr/>
          <p:nvPr/>
        </p:nvGrpSpPr>
        <p:grpSpPr>
          <a:xfrm>
            <a:off x="212022" y="2325761"/>
            <a:ext cx="5050745" cy="640080"/>
            <a:chOff x="2181026" y="2593037"/>
            <a:chExt cx="5050745" cy="640080"/>
          </a:xfrm>
        </p:grpSpPr>
        <p:sp>
          <p:nvSpPr>
            <p:cNvPr id="200" name="Rounded Rectangle 199">
              <a:extLst>
                <a:ext uri="{FF2B5EF4-FFF2-40B4-BE49-F238E27FC236}">
                  <a16:creationId xmlns:a16="http://schemas.microsoft.com/office/drawing/2014/main" id="{23D11F47-D2B8-264D-8216-B7F55A32B7C7}"/>
                </a:ext>
              </a:extLst>
            </p:cNvPr>
            <p:cNvSpPr/>
            <p:nvPr/>
          </p:nvSpPr>
          <p:spPr>
            <a:xfrm>
              <a:off x="2181026" y="2593801"/>
              <a:ext cx="1272321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(a)</a:t>
              </a:r>
            </a:p>
            <a:p>
              <a:pPr algn="ctr"/>
              <a:r>
                <a:rPr lang="en-US" sz="1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cntr</a:t>
              </a:r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=`US’</a:t>
              </a:r>
            </a:p>
          </p:txBody>
        </p:sp>
        <p:sp>
          <p:nvSpPr>
            <p:cNvPr id="201" name="Rounded Rectangle 200">
              <a:extLst>
                <a:ext uri="{FF2B5EF4-FFF2-40B4-BE49-F238E27FC236}">
                  <a16:creationId xmlns:a16="http://schemas.microsoft.com/office/drawing/2014/main" id="{26BFA326-269B-BD44-8B8B-F533CA3EEF74}"/>
                </a:ext>
              </a:extLst>
            </p:cNvPr>
            <p:cNvSpPr/>
            <p:nvPr/>
          </p:nvSpPr>
          <p:spPr>
            <a:xfrm>
              <a:off x="3714907" y="2593037"/>
              <a:ext cx="986868" cy="640080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(b)</a:t>
              </a:r>
            </a:p>
          </p:txBody>
        </p: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2A89FFDD-5DCB-BC45-8702-F3E57C543555}"/>
                </a:ext>
              </a:extLst>
            </p:cNvPr>
            <p:cNvCxnSpPr>
              <a:cxnSpLocks/>
              <a:stCxn id="200" idx="3"/>
              <a:endCxn id="201" idx="1"/>
            </p:cNvCxnSpPr>
            <p:nvPr/>
          </p:nvCxnSpPr>
          <p:spPr>
            <a:xfrm flipV="1">
              <a:off x="3453347" y="2913077"/>
              <a:ext cx="261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CCC81B37-A2E7-6F41-9992-59967E5C9F42}"/>
                </a:ext>
              </a:extLst>
            </p:cNvPr>
            <p:cNvSpPr/>
            <p:nvPr/>
          </p:nvSpPr>
          <p:spPr>
            <a:xfrm>
              <a:off x="5029345" y="2593801"/>
              <a:ext cx="987552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(c)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1D3FD4A6-C16B-B04F-AF88-6B1E9A2983CC}"/>
                </a:ext>
              </a:extLst>
            </p:cNvPr>
            <p:cNvCxnSpPr>
              <a:cxnSpLocks/>
              <a:stCxn id="201" idx="3"/>
              <a:endCxn id="203" idx="1"/>
            </p:cNvCxnSpPr>
            <p:nvPr/>
          </p:nvCxnSpPr>
          <p:spPr>
            <a:xfrm>
              <a:off x="4701775" y="2913077"/>
              <a:ext cx="32757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Rounded Rectangle 208">
              <a:extLst>
                <a:ext uri="{FF2B5EF4-FFF2-40B4-BE49-F238E27FC236}">
                  <a16:creationId xmlns:a16="http://schemas.microsoft.com/office/drawing/2014/main" id="{23651AFD-1542-B242-9230-71855C31B33D}"/>
                </a:ext>
              </a:extLst>
            </p:cNvPr>
            <p:cNvSpPr/>
            <p:nvPr/>
          </p:nvSpPr>
          <p:spPr>
            <a:xfrm>
              <a:off x="6244219" y="2593801"/>
              <a:ext cx="987552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(d)</a:t>
              </a: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F2CD929E-FC5F-B844-957F-190330FD67CE}"/>
                </a:ext>
              </a:extLst>
            </p:cNvPr>
            <p:cNvCxnSpPr>
              <a:cxnSpLocks/>
              <a:stCxn id="203" idx="3"/>
              <a:endCxn id="209" idx="1"/>
            </p:cNvCxnSpPr>
            <p:nvPr/>
          </p:nvCxnSpPr>
          <p:spPr>
            <a:xfrm>
              <a:off x="6016897" y="2913078"/>
              <a:ext cx="22732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16" name="Table 5">
            <a:extLst>
              <a:ext uri="{FF2B5EF4-FFF2-40B4-BE49-F238E27FC236}">
                <a16:creationId xmlns:a16="http://schemas.microsoft.com/office/drawing/2014/main" id="{711D87CF-56AF-E840-B19E-A4BF253915DF}"/>
              </a:ext>
            </a:extLst>
          </p:cNvPr>
          <p:cNvGraphicFramePr>
            <a:graphicFrameLocks noGrp="1"/>
          </p:cNvGraphicFramePr>
          <p:nvPr/>
        </p:nvGraphicFramePr>
        <p:xfrm>
          <a:off x="289454" y="3407751"/>
          <a:ext cx="4784229" cy="296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8179">
                  <a:extLst>
                    <a:ext uri="{9D8B030D-6E8A-4147-A177-3AD203B41FA5}">
                      <a16:colId xmlns:a16="http://schemas.microsoft.com/office/drawing/2014/main" val="4052512296"/>
                    </a:ext>
                  </a:extLst>
                </a:gridCol>
                <a:gridCol w="219668">
                  <a:extLst>
                    <a:ext uri="{9D8B030D-6E8A-4147-A177-3AD203B41FA5}">
                      <a16:colId xmlns:a16="http://schemas.microsoft.com/office/drawing/2014/main" val="400113096"/>
                    </a:ext>
                  </a:extLst>
                </a:gridCol>
                <a:gridCol w="893831">
                  <a:extLst>
                    <a:ext uri="{9D8B030D-6E8A-4147-A177-3AD203B41FA5}">
                      <a16:colId xmlns:a16="http://schemas.microsoft.com/office/drawing/2014/main" val="4248055157"/>
                    </a:ext>
                  </a:extLst>
                </a:gridCol>
                <a:gridCol w="274047">
                  <a:extLst>
                    <a:ext uri="{9D8B030D-6E8A-4147-A177-3AD203B41FA5}">
                      <a16:colId xmlns:a16="http://schemas.microsoft.com/office/drawing/2014/main" val="3025983691"/>
                    </a:ext>
                  </a:extLst>
                </a:gridCol>
                <a:gridCol w="908594">
                  <a:extLst>
                    <a:ext uri="{9D8B030D-6E8A-4147-A177-3AD203B41FA5}">
                      <a16:colId xmlns:a16="http://schemas.microsoft.com/office/drawing/2014/main" val="24072432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555914099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228984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73077"/>
                  </a:ext>
                </a:extLst>
              </a:tr>
              <a:tr h="143107">
                <a:tc gridSpan="7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90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422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6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826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02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975258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174230"/>
                  </a:ext>
                </a:extLst>
              </a:tr>
            </a:tbl>
          </a:graphicData>
        </a:graphic>
      </p:graphicFrame>
      <p:sp>
        <p:nvSpPr>
          <p:cNvPr id="217" name="Rectangle 216">
            <a:extLst>
              <a:ext uri="{FF2B5EF4-FFF2-40B4-BE49-F238E27FC236}">
                <a16:creationId xmlns:a16="http://schemas.microsoft.com/office/drawing/2014/main" id="{F9899835-C961-FF41-A466-6B1A703F4FDB}"/>
              </a:ext>
            </a:extLst>
          </p:cNvPr>
          <p:cNvSpPr/>
          <p:nvPr/>
        </p:nvSpPr>
        <p:spPr>
          <a:xfrm>
            <a:off x="1571814" y="6330410"/>
            <a:ext cx="2346956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kern="0" dirty="0">
                <a:solidFill>
                  <a:srgbClr val="0000CC"/>
                </a:solidFill>
                <a:latin typeface="Arial"/>
                <a:cs typeface="Arial"/>
              </a:rPr>
              <a:t>F-Representation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31E4E229-183F-6748-A632-591C5A9E0BE2}"/>
              </a:ext>
            </a:extLst>
          </p:cNvPr>
          <p:cNvSpPr txBox="1"/>
          <p:nvPr/>
        </p:nvSpPr>
        <p:spPr>
          <a:xfrm>
            <a:off x="329858" y="3040275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BC85584D-56CB-C245-9403-B9E4D714F8F8}"/>
              </a:ext>
            </a:extLst>
          </p:cNvPr>
          <p:cNvSpPr txBox="1"/>
          <p:nvPr/>
        </p:nvSpPr>
        <p:spPr>
          <a:xfrm>
            <a:off x="1424049" y="3042061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LG2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5E2059A-AF3B-3641-B0A8-992A7EA23133}"/>
              </a:ext>
            </a:extLst>
          </p:cNvPr>
          <p:cNvSpPr txBox="1"/>
          <p:nvPr/>
        </p:nvSpPr>
        <p:spPr>
          <a:xfrm>
            <a:off x="2590580" y="3040275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LG3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2213690-EA2C-694A-8A6C-C94B20004738}"/>
              </a:ext>
            </a:extLst>
          </p:cNvPr>
          <p:cNvSpPr txBox="1"/>
          <p:nvPr/>
        </p:nvSpPr>
        <p:spPr>
          <a:xfrm>
            <a:off x="4079965" y="3038419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LG4</a:t>
            </a:r>
          </a:p>
        </p:txBody>
      </p:sp>
      <p:sp>
        <p:nvSpPr>
          <p:cNvPr id="246" name="Trapezoid 245">
            <a:extLst>
              <a:ext uri="{FF2B5EF4-FFF2-40B4-BE49-F238E27FC236}">
                <a16:creationId xmlns:a16="http://schemas.microsoft.com/office/drawing/2014/main" id="{45162D33-C30D-D247-83EB-066416FE25A4}"/>
              </a:ext>
            </a:extLst>
          </p:cNvPr>
          <p:cNvSpPr/>
          <p:nvPr/>
        </p:nvSpPr>
        <p:spPr>
          <a:xfrm rot="16200000">
            <a:off x="5841927" y="242660"/>
            <a:ext cx="2266235" cy="3070956"/>
          </a:xfrm>
          <a:prstGeom prst="trapezoid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0DB32E95-A40F-1E42-A09A-C75F43E31442}"/>
              </a:ext>
            </a:extLst>
          </p:cNvPr>
          <p:cNvSpPr/>
          <p:nvPr/>
        </p:nvSpPr>
        <p:spPr>
          <a:xfrm>
            <a:off x="8304" y="1674923"/>
            <a:ext cx="5112822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Most compact output: relevant subgraph</a:t>
            </a:r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CB6844FE-27C9-804B-9747-60D5FF101F8E}"/>
              </a:ext>
            </a:extLst>
          </p:cNvPr>
          <p:cNvGrpSpPr/>
          <p:nvPr/>
        </p:nvGrpSpPr>
        <p:grpSpPr>
          <a:xfrm>
            <a:off x="4720475" y="675612"/>
            <a:ext cx="4301477" cy="1970189"/>
            <a:chOff x="4720475" y="675612"/>
            <a:chExt cx="4301477" cy="1970189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BF797EB-4A66-B94F-9FAA-E135E476B46E}"/>
                </a:ext>
              </a:extLst>
            </p:cNvPr>
            <p:cNvSpPr txBox="1"/>
            <p:nvPr/>
          </p:nvSpPr>
          <p:spPr>
            <a:xfrm>
              <a:off x="6362293" y="1205269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89040FD-81DE-8B44-815E-0BE6CB15242D}"/>
                </a:ext>
              </a:extLst>
            </p:cNvPr>
            <p:cNvCxnSpPr>
              <a:cxnSpLocks/>
              <a:stCxn id="106" idx="6"/>
              <a:endCxn id="109" idx="2"/>
            </p:cNvCxnSpPr>
            <p:nvPr/>
          </p:nvCxnSpPr>
          <p:spPr>
            <a:xfrm flipV="1">
              <a:off x="6742863" y="1533322"/>
              <a:ext cx="528165" cy="2383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F3D8C08-B48F-9C4F-9DDF-80D6DD6920A0}"/>
                </a:ext>
              </a:extLst>
            </p:cNvPr>
            <p:cNvCxnSpPr>
              <a:cxnSpLocks/>
              <a:stCxn id="106" idx="6"/>
              <a:endCxn id="108" idx="2"/>
            </p:cNvCxnSpPr>
            <p:nvPr/>
          </p:nvCxnSpPr>
          <p:spPr>
            <a:xfrm>
              <a:off x="6742863" y="1771694"/>
              <a:ext cx="528165" cy="17455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6D7ED00E-B292-294D-99E4-BEB68CDDEA77}"/>
                </a:ext>
              </a:extLst>
            </p:cNvPr>
            <p:cNvCxnSpPr>
              <a:cxnSpLocks/>
              <a:stCxn id="100" idx="6"/>
              <a:endCxn id="106" idx="2"/>
            </p:cNvCxnSpPr>
            <p:nvPr/>
          </p:nvCxnSpPr>
          <p:spPr>
            <a:xfrm>
              <a:off x="5889790" y="1571587"/>
              <a:ext cx="533033" cy="2001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6C44D8A-AD0A-8D4B-B839-BAE4C32BF536}"/>
                </a:ext>
              </a:extLst>
            </p:cNvPr>
            <p:cNvGrpSpPr/>
            <p:nvPr/>
          </p:nvGrpSpPr>
          <p:grpSpPr>
            <a:xfrm>
              <a:off x="6417955" y="1178938"/>
              <a:ext cx="324908" cy="1185512"/>
              <a:chOff x="5584299" y="2004314"/>
              <a:chExt cx="324908" cy="1185512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3BECC0EF-C436-0D47-910D-B0548202BFEE}"/>
                  </a:ext>
                </a:extLst>
              </p:cNvPr>
              <p:cNvSpPr/>
              <p:nvPr/>
            </p:nvSpPr>
            <p:spPr>
              <a:xfrm>
                <a:off x="5589167" y="2004314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40271435-5BE4-E548-9F23-1BF7A0EC9BF8}"/>
                  </a:ext>
                </a:extLst>
              </p:cNvPr>
              <p:cNvSpPr/>
              <p:nvPr/>
            </p:nvSpPr>
            <p:spPr>
              <a:xfrm>
                <a:off x="5589167" y="243705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1AE482CF-5B89-044D-AEF1-3049BD3599D2}"/>
                  </a:ext>
                </a:extLst>
              </p:cNvPr>
              <p:cNvSpPr/>
              <p:nvPr/>
            </p:nvSpPr>
            <p:spPr>
              <a:xfrm>
                <a:off x="5584299" y="2869786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0CE3378-AC3F-474A-865F-32576E50D970}"/>
                </a:ext>
              </a:extLst>
            </p:cNvPr>
            <p:cNvGrpSpPr/>
            <p:nvPr/>
          </p:nvGrpSpPr>
          <p:grpSpPr>
            <a:xfrm>
              <a:off x="5569750" y="1411567"/>
              <a:ext cx="320040" cy="812208"/>
              <a:chOff x="4781952" y="2251011"/>
              <a:chExt cx="320040" cy="812208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3930A403-B6B8-594A-AC62-8F90DC8D4C2C}"/>
                  </a:ext>
                </a:extLst>
              </p:cNvPr>
              <p:cNvSpPr/>
              <p:nvPr/>
            </p:nvSpPr>
            <p:spPr>
              <a:xfrm>
                <a:off x="4781952" y="2251011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00B0F0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325AEA93-D0E0-5447-AB5E-D5CD57D59107}"/>
                  </a:ext>
                </a:extLst>
              </p:cNvPr>
              <p:cNvSpPr/>
              <p:nvPr/>
            </p:nvSpPr>
            <p:spPr>
              <a:xfrm>
                <a:off x="4781952" y="2743179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00B0F0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06159870-6B42-1441-9636-D82E26FC7FE9}"/>
                </a:ext>
              </a:extLst>
            </p:cNvPr>
            <p:cNvCxnSpPr>
              <a:cxnSpLocks/>
              <a:stCxn id="114" idx="6"/>
              <a:endCxn id="106" idx="2"/>
            </p:cNvCxnSpPr>
            <p:nvPr/>
          </p:nvCxnSpPr>
          <p:spPr>
            <a:xfrm flipV="1">
              <a:off x="5889790" y="1771694"/>
              <a:ext cx="533033" cy="2920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CF296007-C50D-EA4F-A53F-5F21F4643113}"/>
                </a:ext>
              </a:extLst>
            </p:cNvPr>
            <p:cNvCxnSpPr>
              <a:cxnSpLocks/>
              <a:stCxn id="114" idx="6"/>
              <a:endCxn id="112" idx="2"/>
            </p:cNvCxnSpPr>
            <p:nvPr/>
          </p:nvCxnSpPr>
          <p:spPr>
            <a:xfrm>
              <a:off x="5889790" y="2063755"/>
              <a:ext cx="528165" cy="1406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47C2AB75-9C0A-0B44-8230-94910F79A98C}"/>
                </a:ext>
              </a:extLst>
            </p:cNvPr>
            <p:cNvCxnSpPr>
              <a:cxnSpLocks/>
              <a:stCxn id="112" idx="6"/>
              <a:endCxn id="108" idx="2"/>
            </p:cNvCxnSpPr>
            <p:nvPr/>
          </p:nvCxnSpPr>
          <p:spPr>
            <a:xfrm flipV="1">
              <a:off x="6737995" y="1946247"/>
              <a:ext cx="533033" cy="2581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8672C198-8DD5-AA48-87FB-EBEC06A89A9E}"/>
                </a:ext>
              </a:extLst>
            </p:cNvPr>
            <p:cNvCxnSpPr>
              <a:cxnSpLocks/>
              <a:stCxn id="112" idx="6"/>
              <a:endCxn id="115" idx="2"/>
            </p:cNvCxnSpPr>
            <p:nvPr/>
          </p:nvCxnSpPr>
          <p:spPr>
            <a:xfrm>
              <a:off x="6737995" y="2204430"/>
              <a:ext cx="533033" cy="1547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F67A499F-436B-3244-84C7-9B50794626AC}"/>
                </a:ext>
              </a:extLst>
            </p:cNvPr>
            <p:cNvCxnSpPr>
              <a:cxnSpLocks/>
              <a:stCxn id="100" idx="6"/>
              <a:endCxn id="101" idx="3"/>
            </p:cNvCxnSpPr>
            <p:nvPr/>
          </p:nvCxnSpPr>
          <p:spPr>
            <a:xfrm flipV="1">
              <a:off x="5889790" y="1452109"/>
              <a:ext cx="579902" cy="11947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F1427AE-2B66-CF4A-8A6A-E82032C460D7}"/>
                </a:ext>
              </a:extLst>
            </p:cNvPr>
            <p:cNvGrpSpPr/>
            <p:nvPr/>
          </p:nvGrpSpPr>
          <p:grpSpPr>
            <a:xfrm>
              <a:off x="7271028" y="960377"/>
              <a:ext cx="320040" cy="1558816"/>
              <a:chOff x="6223601" y="1757617"/>
              <a:chExt cx="320040" cy="1558816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DE60650F-6CEE-6347-8951-8AF0E7FBC8BA}"/>
                  </a:ext>
                </a:extLst>
              </p:cNvPr>
              <p:cNvSpPr/>
              <p:nvPr/>
            </p:nvSpPr>
            <p:spPr>
              <a:xfrm>
                <a:off x="6223601" y="2583467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434A5A00-0930-0A40-A504-C3B05D3FB7C5}"/>
                  </a:ext>
                </a:extLst>
              </p:cNvPr>
              <p:cNvSpPr/>
              <p:nvPr/>
            </p:nvSpPr>
            <p:spPr>
              <a:xfrm>
                <a:off x="6223601" y="2170542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981150C7-869B-9C40-9E4B-E68F5F96C568}"/>
                  </a:ext>
                </a:extLst>
              </p:cNvPr>
              <p:cNvSpPr/>
              <p:nvPr/>
            </p:nvSpPr>
            <p:spPr>
              <a:xfrm>
                <a:off x="6223601" y="2996393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99FC5322-616F-3145-A5A8-AFE3A4A4D22F}"/>
                  </a:ext>
                </a:extLst>
              </p:cNvPr>
              <p:cNvSpPr/>
              <p:nvPr/>
            </p:nvSpPr>
            <p:spPr>
              <a:xfrm>
                <a:off x="6223601" y="1757617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3791C0D-576F-7046-8086-8D54BB77C65A}"/>
                </a:ext>
              </a:extLst>
            </p:cNvPr>
            <p:cNvGrpSpPr/>
            <p:nvPr/>
          </p:nvGrpSpPr>
          <p:grpSpPr>
            <a:xfrm>
              <a:off x="8119233" y="713680"/>
              <a:ext cx="320040" cy="1932121"/>
              <a:chOff x="6895336" y="1510920"/>
              <a:chExt cx="320040" cy="1932121"/>
            </a:xfrm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E9C0DB35-456F-D949-8336-CE28DB4F6466}"/>
                  </a:ext>
                </a:extLst>
              </p:cNvPr>
              <p:cNvSpPr/>
              <p:nvPr/>
            </p:nvSpPr>
            <p:spPr>
              <a:xfrm>
                <a:off x="6895336" y="271998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6AECB6F8-9A17-0A43-A8B9-A632CCF5AFD6}"/>
                  </a:ext>
                </a:extLst>
              </p:cNvPr>
              <p:cNvSpPr/>
              <p:nvPr/>
            </p:nvSpPr>
            <p:spPr>
              <a:xfrm>
                <a:off x="6895336" y="231696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584CD4A7-73E8-A54E-B3E7-D947840C00CC}"/>
                  </a:ext>
                </a:extLst>
              </p:cNvPr>
              <p:cNvSpPr/>
              <p:nvPr/>
            </p:nvSpPr>
            <p:spPr>
              <a:xfrm>
                <a:off x="6895336" y="3123001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71B751B4-C267-3547-96C7-C7CE6765BC62}"/>
                  </a:ext>
                </a:extLst>
              </p:cNvPr>
              <p:cNvSpPr/>
              <p:nvPr/>
            </p:nvSpPr>
            <p:spPr>
              <a:xfrm>
                <a:off x="6895336" y="191394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8D815839-84A3-314E-B417-C1EF45F734DE}"/>
                  </a:ext>
                </a:extLst>
              </p:cNvPr>
              <p:cNvSpPr/>
              <p:nvPr/>
            </p:nvSpPr>
            <p:spPr>
              <a:xfrm>
                <a:off x="6895336" y="151092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BD8D0A81-FE26-0543-A45B-8DB2268A9722}"/>
                </a:ext>
              </a:extLst>
            </p:cNvPr>
            <p:cNvCxnSpPr>
              <a:cxnSpLocks/>
              <a:stCxn id="101" idx="6"/>
              <a:endCxn id="109" idx="2"/>
            </p:cNvCxnSpPr>
            <p:nvPr/>
          </p:nvCxnSpPr>
          <p:spPr>
            <a:xfrm>
              <a:off x="6742863" y="1338958"/>
              <a:ext cx="528165" cy="1943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DFE743D0-6662-724F-B947-9AA98FF1D035}"/>
                </a:ext>
              </a:extLst>
            </p:cNvPr>
            <p:cNvCxnSpPr>
              <a:cxnSpLocks/>
              <a:stCxn id="101" idx="6"/>
              <a:endCxn id="130" idx="2"/>
            </p:cNvCxnSpPr>
            <p:nvPr/>
          </p:nvCxnSpPr>
          <p:spPr>
            <a:xfrm flipV="1">
              <a:off x="6742863" y="1120397"/>
              <a:ext cx="528165" cy="2185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8C850AD4-C564-AC4C-8042-B4EDDB9430BB}"/>
                </a:ext>
              </a:extLst>
            </p:cNvPr>
            <p:cNvCxnSpPr>
              <a:cxnSpLocks/>
              <a:stCxn id="130" idx="6"/>
              <a:endCxn id="150" idx="2"/>
            </p:cNvCxnSpPr>
            <p:nvPr/>
          </p:nvCxnSpPr>
          <p:spPr>
            <a:xfrm flipV="1">
              <a:off x="7591068" y="873700"/>
              <a:ext cx="528165" cy="24669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46A96EA0-B476-154B-AC5E-30163132BB77}"/>
                </a:ext>
              </a:extLst>
            </p:cNvPr>
            <p:cNvCxnSpPr>
              <a:cxnSpLocks/>
              <a:stCxn id="130" idx="6"/>
              <a:endCxn id="149" idx="2"/>
            </p:cNvCxnSpPr>
            <p:nvPr/>
          </p:nvCxnSpPr>
          <p:spPr>
            <a:xfrm>
              <a:off x="7591068" y="1120397"/>
              <a:ext cx="528165" cy="1563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483211C4-7F3A-9346-AAB3-D85F993EFB98}"/>
                </a:ext>
              </a:extLst>
            </p:cNvPr>
            <p:cNvCxnSpPr>
              <a:cxnSpLocks/>
              <a:stCxn id="109" idx="6"/>
              <a:endCxn id="149" idx="2"/>
            </p:cNvCxnSpPr>
            <p:nvPr/>
          </p:nvCxnSpPr>
          <p:spPr>
            <a:xfrm flipV="1">
              <a:off x="7591068" y="1276720"/>
              <a:ext cx="528165" cy="2566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E5B1FC0D-78A7-8F4A-9B8D-42F377482968}"/>
                </a:ext>
              </a:extLst>
            </p:cNvPr>
            <p:cNvCxnSpPr>
              <a:cxnSpLocks/>
              <a:stCxn id="109" idx="6"/>
              <a:endCxn id="140" idx="2"/>
            </p:cNvCxnSpPr>
            <p:nvPr/>
          </p:nvCxnSpPr>
          <p:spPr>
            <a:xfrm>
              <a:off x="7591068" y="1533322"/>
              <a:ext cx="528165" cy="1464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1C56B77D-3F1F-144E-A1F9-703B5E223F6C}"/>
                </a:ext>
              </a:extLst>
            </p:cNvPr>
            <p:cNvCxnSpPr>
              <a:cxnSpLocks/>
              <a:stCxn id="108" idx="6"/>
              <a:endCxn id="140" idx="2"/>
            </p:cNvCxnSpPr>
            <p:nvPr/>
          </p:nvCxnSpPr>
          <p:spPr>
            <a:xfrm flipV="1">
              <a:off x="7591068" y="1679740"/>
              <a:ext cx="528165" cy="2665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E14A964B-1E00-B347-8E89-1447CA632EDA}"/>
                </a:ext>
              </a:extLst>
            </p:cNvPr>
            <p:cNvCxnSpPr>
              <a:cxnSpLocks/>
              <a:stCxn id="108" idx="6"/>
              <a:endCxn id="133" idx="2"/>
            </p:cNvCxnSpPr>
            <p:nvPr/>
          </p:nvCxnSpPr>
          <p:spPr>
            <a:xfrm>
              <a:off x="7591068" y="1946247"/>
              <a:ext cx="528165" cy="1365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2DEAA7B9-B9C6-CD47-BF9E-E823AE859C5B}"/>
                </a:ext>
              </a:extLst>
            </p:cNvPr>
            <p:cNvCxnSpPr>
              <a:cxnSpLocks/>
              <a:stCxn id="115" idx="6"/>
              <a:endCxn id="133" idx="2"/>
            </p:cNvCxnSpPr>
            <p:nvPr/>
          </p:nvCxnSpPr>
          <p:spPr>
            <a:xfrm flipV="1">
              <a:off x="7591068" y="2082760"/>
              <a:ext cx="528165" cy="2764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80AF0051-ADCA-3741-BAC3-81714BC58BE6}"/>
                </a:ext>
              </a:extLst>
            </p:cNvPr>
            <p:cNvCxnSpPr>
              <a:cxnSpLocks/>
              <a:stCxn id="115" idx="6"/>
              <a:endCxn id="148" idx="2"/>
            </p:cNvCxnSpPr>
            <p:nvPr/>
          </p:nvCxnSpPr>
          <p:spPr>
            <a:xfrm>
              <a:off x="7591068" y="2359173"/>
              <a:ext cx="528165" cy="126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E5BD56B4-C7FD-3C44-BD63-14AB82E049F1}"/>
                </a:ext>
              </a:extLst>
            </p:cNvPr>
            <p:cNvSpPr txBox="1"/>
            <p:nvPr/>
          </p:nvSpPr>
          <p:spPr>
            <a:xfrm>
              <a:off x="6363610" y="162426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0EF49AF2-F2CC-EF4B-A03C-980F682E178D}"/>
                </a:ext>
              </a:extLst>
            </p:cNvPr>
            <p:cNvSpPr txBox="1"/>
            <p:nvPr/>
          </p:nvSpPr>
          <p:spPr>
            <a:xfrm>
              <a:off x="6386991" y="2044272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9C9F232C-9FEA-954D-81BA-EBD227CEC8A6}"/>
                </a:ext>
              </a:extLst>
            </p:cNvPr>
            <p:cNvSpPr/>
            <p:nvPr/>
          </p:nvSpPr>
          <p:spPr>
            <a:xfrm>
              <a:off x="4920664" y="675612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B7505B1F-6C00-A84E-A84E-BD874E338C2B}"/>
                </a:ext>
              </a:extLst>
            </p:cNvPr>
            <p:cNvSpPr/>
            <p:nvPr/>
          </p:nvSpPr>
          <p:spPr>
            <a:xfrm>
              <a:off x="4720475" y="1306864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A4ADB883-0995-CF4D-9736-D45F8A5F1E9D}"/>
                </a:ext>
              </a:extLst>
            </p:cNvPr>
            <p:cNvSpPr/>
            <p:nvPr/>
          </p:nvSpPr>
          <p:spPr>
            <a:xfrm>
              <a:off x="8699504" y="1310245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4B47C921-93DF-8F44-BC5B-01260FB0C5EE}"/>
                </a:ext>
              </a:extLst>
            </p:cNvPr>
            <p:cNvSpPr/>
            <p:nvPr/>
          </p:nvSpPr>
          <p:spPr>
            <a:xfrm>
              <a:off x="8701912" y="1985447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913BE120-9537-CE44-9AB5-9EDD0285605D}"/>
                </a:ext>
              </a:extLst>
            </p:cNvPr>
            <p:cNvCxnSpPr>
              <a:cxnSpLocks/>
              <a:stCxn id="225" idx="7"/>
              <a:endCxn id="224" idx="4"/>
            </p:cNvCxnSpPr>
            <p:nvPr/>
          </p:nvCxnSpPr>
          <p:spPr>
            <a:xfrm flipV="1">
              <a:off x="4993646" y="995652"/>
              <a:ext cx="87038" cy="3580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D3EB426B-6332-DB45-85FC-D3446811BA2E}"/>
                </a:ext>
              </a:extLst>
            </p:cNvPr>
            <p:cNvCxnSpPr>
              <a:cxnSpLocks/>
              <a:stCxn id="226" idx="4"/>
              <a:endCxn id="227" idx="0"/>
            </p:cNvCxnSpPr>
            <p:nvPr/>
          </p:nvCxnSpPr>
          <p:spPr>
            <a:xfrm>
              <a:off x="8859524" y="1630285"/>
              <a:ext cx="2408" cy="355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034AA8A0-6DC3-7248-B2C4-2051D5130559}"/>
                </a:ext>
              </a:extLst>
            </p:cNvPr>
            <p:cNvSpPr/>
            <p:nvPr/>
          </p:nvSpPr>
          <p:spPr>
            <a:xfrm>
              <a:off x="5483590" y="797631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5B119497-9004-524B-B419-1C275DC72B26}"/>
                </a:ext>
              </a:extLst>
            </p:cNvPr>
            <p:cNvCxnSpPr>
              <a:cxnSpLocks/>
              <a:stCxn id="225" idx="6"/>
              <a:endCxn id="234" idx="3"/>
            </p:cNvCxnSpPr>
            <p:nvPr/>
          </p:nvCxnSpPr>
          <p:spPr>
            <a:xfrm flipV="1">
              <a:off x="5040515" y="1070802"/>
              <a:ext cx="489944" cy="3960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F8428288-4A60-E543-9A25-E6980340B6F1}"/>
                </a:ext>
              </a:extLst>
            </p:cNvPr>
            <p:cNvCxnSpPr>
              <a:cxnSpLocks/>
              <a:stCxn id="234" idx="2"/>
              <a:endCxn id="224" idx="5"/>
            </p:cNvCxnSpPr>
            <p:nvPr/>
          </p:nvCxnSpPr>
          <p:spPr>
            <a:xfrm flipH="1" flipV="1">
              <a:off x="5193835" y="948783"/>
              <a:ext cx="289755" cy="88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BE489A0E-86B8-9641-A4F8-1021D2C8D722}"/>
                </a:ext>
              </a:extLst>
            </p:cNvPr>
            <p:cNvSpPr txBox="1"/>
            <p:nvPr/>
          </p:nvSpPr>
          <p:spPr>
            <a:xfrm>
              <a:off x="5515228" y="1414089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561C76D8-C78E-DD4E-8A28-3576D921CCAC}"/>
                </a:ext>
              </a:extLst>
            </p:cNvPr>
            <p:cNvSpPr txBox="1"/>
            <p:nvPr/>
          </p:nvSpPr>
          <p:spPr>
            <a:xfrm>
              <a:off x="5512308" y="191772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33594E4F-4CA8-CB4E-B4C3-4A589C0468B3}"/>
                </a:ext>
              </a:extLst>
            </p:cNvPr>
            <p:cNvSpPr txBox="1"/>
            <p:nvPr/>
          </p:nvSpPr>
          <p:spPr>
            <a:xfrm>
              <a:off x="7218413" y="94865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DC7226E-681E-EF42-8481-AEFED8580072}"/>
                </a:ext>
              </a:extLst>
            </p:cNvPr>
            <p:cNvSpPr txBox="1"/>
            <p:nvPr/>
          </p:nvSpPr>
          <p:spPr>
            <a:xfrm>
              <a:off x="7216496" y="136694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C85905E7-5A7E-9E44-A3B7-1ACD733FA5F0}"/>
                </a:ext>
              </a:extLst>
            </p:cNvPr>
            <p:cNvSpPr txBox="1"/>
            <p:nvPr/>
          </p:nvSpPr>
          <p:spPr>
            <a:xfrm>
              <a:off x="7200040" y="177330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147959A4-6023-4045-B07E-C45DE9B5C8F1}"/>
                </a:ext>
              </a:extLst>
            </p:cNvPr>
            <p:cNvSpPr txBox="1"/>
            <p:nvPr/>
          </p:nvSpPr>
          <p:spPr>
            <a:xfrm>
              <a:off x="7215502" y="222117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4</a:t>
              </a:r>
              <a:endParaRPr lang="en-US" sz="1400" dirty="0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4F757512-5265-1A46-804C-1869794045E7}"/>
                </a:ext>
              </a:extLst>
            </p:cNvPr>
            <p:cNvSpPr txBox="1"/>
            <p:nvPr/>
          </p:nvSpPr>
          <p:spPr>
            <a:xfrm>
              <a:off x="8058083" y="70766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8DE70A14-5DFA-1049-8D7D-1B884A60F6E5}"/>
                </a:ext>
              </a:extLst>
            </p:cNvPr>
            <p:cNvSpPr txBox="1"/>
            <p:nvPr/>
          </p:nvSpPr>
          <p:spPr>
            <a:xfrm>
              <a:off x="8071909" y="1113147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C1217A87-A59A-F140-824C-B9A657D73D4A}"/>
                </a:ext>
              </a:extLst>
            </p:cNvPr>
            <p:cNvSpPr txBox="1"/>
            <p:nvPr/>
          </p:nvSpPr>
          <p:spPr>
            <a:xfrm>
              <a:off x="8084077" y="153292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845FB255-308E-514E-8779-4C4BC4A76CDA}"/>
                </a:ext>
              </a:extLst>
            </p:cNvPr>
            <p:cNvSpPr txBox="1"/>
            <p:nvPr/>
          </p:nvSpPr>
          <p:spPr>
            <a:xfrm>
              <a:off x="8055628" y="192598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4</a:t>
              </a:r>
              <a:endParaRPr lang="en-US" sz="1400" dirty="0"/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15E5E0EA-0FE4-3242-8761-9F636DF51E9D}"/>
                </a:ext>
              </a:extLst>
            </p:cNvPr>
            <p:cNvSpPr txBox="1"/>
            <p:nvPr/>
          </p:nvSpPr>
          <p:spPr>
            <a:xfrm>
              <a:off x="8066329" y="231674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5</a:t>
              </a:r>
              <a:endParaRPr lang="en-US" sz="14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7069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/>
      <p:bldP spid="218" grpId="0"/>
      <p:bldP spid="219" grpId="0"/>
      <p:bldP spid="220" grpId="0"/>
      <p:bldP spid="221" grpId="0"/>
      <p:bldP spid="246" grpId="0" animBg="1"/>
      <p:bldP spid="24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63504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3891" y="6588680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/>
              <a:t>25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8615-162E-0446-97BA-6A74199ED555}"/>
              </a:ext>
            </a:extLst>
          </p:cNvPr>
          <p:cNvSpPr txBox="1"/>
          <p:nvPr/>
        </p:nvSpPr>
        <p:spPr>
          <a:xfrm>
            <a:off x="24111" y="-10993"/>
            <a:ext cx="9258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latin typeface="Arial"/>
                <a:cs typeface="Arial"/>
              </a:rPr>
              <a:t>Further Value Repetitions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9F048F-F147-5749-86C5-32E21069966B}"/>
              </a:ext>
            </a:extLst>
          </p:cNvPr>
          <p:cNvGrpSpPr/>
          <p:nvPr/>
        </p:nvGrpSpPr>
        <p:grpSpPr>
          <a:xfrm>
            <a:off x="142032" y="683971"/>
            <a:ext cx="4507234" cy="922560"/>
            <a:chOff x="220440" y="1015608"/>
            <a:chExt cx="4507234" cy="92256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0527AC-CAF8-7148-B2D3-489FAD2D3331}"/>
                </a:ext>
              </a:extLst>
            </p:cNvPr>
            <p:cNvSpPr txBox="1"/>
            <p:nvPr/>
          </p:nvSpPr>
          <p:spPr>
            <a:xfrm>
              <a:off x="220440" y="1015608"/>
              <a:ext cx="4507234" cy="922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MATCH </a:t>
              </a:r>
            </a:p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WHERE </a:t>
              </a:r>
              <a:r>
                <a:rPr lang="en-US" sz="1900" dirty="0" err="1">
                  <a:latin typeface="Consolas"/>
                  <a:cs typeface="Consolas"/>
                </a:rPr>
                <a:t>a.cntr</a:t>
              </a:r>
              <a:r>
                <a:rPr lang="en-US" sz="1900" dirty="0">
                  <a:latin typeface="Consolas"/>
                  <a:cs typeface="Consolas"/>
                </a:rPr>
                <a:t>=‘US’ &amp; </a:t>
              </a:r>
              <a:r>
                <a:rPr lang="en-US" sz="1900" dirty="0" err="1">
                  <a:latin typeface="Consolas"/>
                  <a:cs typeface="Consolas"/>
                </a:rPr>
                <a:t>e.cntr</a:t>
              </a:r>
              <a:r>
                <a:rPr lang="en-US" sz="1900" dirty="0">
                  <a:latin typeface="Consolas"/>
                  <a:cs typeface="Consolas"/>
                </a:rPr>
                <a:t>=‘CAD’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93845A2-EA63-2A48-96FB-89A8BDD09BE2}"/>
                </a:ext>
              </a:extLst>
            </p:cNvPr>
            <p:cNvSpPr/>
            <p:nvPr/>
          </p:nvSpPr>
          <p:spPr>
            <a:xfrm>
              <a:off x="1311894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A3F555-B73D-D74F-84F0-069B0C51A236}"/>
                </a:ext>
              </a:extLst>
            </p:cNvPr>
            <p:cNvSpPr/>
            <p:nvPr/>
          </p:nvSpPr>
          <p:spPr>
            <a:xfrm>
              <a:off x="1962543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5AA706A-0088-3742-ABA8-E262BEC52B17}"/>
                </a:ext>
              </a:extLst>
            </p:cNvPr>
            <p:cNvSpPr/>
            <p:nvPr/>
          </p:nvSpPr>
          <p:spPr>
            <a:xfrm>
              <a:off x="2613192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7CB77D0-F2C2-BB44-B3E6-C4B9BE0FB2BA}"/>
                </a:ext>
              </a:extLst>
            </p:cNvPr>
            <p:cNvCxnSpPr>
              <a:cxnSpLocks/>
              <a:stCxn id="5" idx="6"/>
              <a:endCxn id="17" idx="2"/>
            </p:cNvCxnSpPr>
            <p:nvPr/>
          </p:nvCxnSpPr>
          <p:spPr>
            <a:xfrm>
              <a:off x="1650222" y="1338188"/>
              <a:ext cx="312321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6A49FF7-EF66-6C49-AF9F-B02D0CA44C23}"/>
                </a:ext>
              </a:extLst>
            </p:cNvPr>
            <p:cNvCxnSpPr>
              <a:cxnSpLocks/>
              <a:stCxn id="17" idx="6"/>
              <a:endCxn id="18" idx="2"/>
            </p:cNvCxnSpPr>
            <p:nvPr/>
          </p:nvCxnSpPr>
          <p:spPr>
            <a:xfrm>
              <a:off x="2300871" y="1338188"/>
              <a:ext cx="312321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8386AFD-2383-1440-B34F-BF31FBD94355}"/>
                </a:ext>
              </a:extLst>
            </p:cNvPr>
            <p:cNvSpPr/>
            <p:nvPr/>
          </p:nvSpPr>
          <p:spPr>
            <a:xfrm>
              <a:off x="3263842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E2EB08A-3140-4F42-B9D8-81DEB9300D66}"/>
                </a:ext>
              </a:extLst>
            </p:cNvPr>
            <p:cNvCxnSpPr>
              <a:cxnSpLocks/>
              <a:stCxn id="18" idx="6"/>
              <a:endCxn id="61" idx="2"/>
            </p:cNvCxnSpPr>
            <p:nvPr/>
          </p:nvCxnSpPr>
          <p:spPr>
            <a:xfrm>
              <a:off x="2951520" y="1338188"/>
              <a:ext cx="312322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7083A86C-AE3F-B544-9C3A-2D571BEA62E0}"/>
              </a:ext>
            </a:extLst>
          </p:cNvPr>
          <p:cNvGrpSpPr/>
          <p:nvPr/>
        </p:nvGrpSpPr>
        <p:grpSpPr>
          <a:xfrm>
            <a:off x="212022" y="2325761"/>
            <a:ext cx="5050745" cy="640080"/>
            <a:chOff x="2181026" y="2593037"/>
            <a:chExt cx="5050745" cy="640080"/>
          </a:xfrm>
        </p:grpSpPr>
        <p:sp>
          <p:nvSpPr>
            <p:cNvPr id="200" name="Rounded Rectangle 199">
              <a:extLst>
                <a:ext uri="{FF2B5EF4-FFF2-40B4-BE49-F238E27FC236}">
                  <a16:creationId xmlns:a16="http://schemas.microsoft.com/office/drawing/2014/main" id="{23D11F47-D2B8-264D-8216-B7F55A32B7C7}"/>
                </a:ext>
              </a:extLst>
            </p:cNvPr>
            <p:cNvSpPr/>
            <p:nvPr/>
          </p:nvSpPr>
          <p:spPr>
            <a:xfrm>
              <a:off x="2181026" y="2593801"/>
              <a:ext cx="1272321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(a)</a:t>
              </a:r>
            </a:p>
            <a:p>
              <a:pPr algn="ctr"/>
              <a:r>
                <a:rPr lang="en-US" sz="1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cntr</a:t>
              </a:r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=`US’</a:t>
              </a:r>
            </a:p>
          </p:txBody>
        </p:sp>
        <p:sp>
          <p:nvSpPr>
            <p:cNvPr id="201" name="Rounded Rectangle 200">
              <a:extLst>
                <a:ext uri="{FF2B5EF4-FFF2-40B4-BE49-F238E27FC236}">
                  <a16:creationId xmlns:a16="http://schemas.microsoft.com/office/drawing/2014/main" id="{26BFA326-269B-BD44-8B8B-F533CA3EEF74}"/>
                </a:ext>
              </a:extLst>
            </p:cNvPr>
            <p:cNvSpPr/>
            <p:nvPr/>
          </p:nvSpPr>
          <p:spPr>
            <a:xfrm>
              <a:off x="3714907" y="2593037"/>
              <a:ext cx="986868" cy="640080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(b)</a:t>
              </a:r>
            </a:p>
          </p:txBody>
        </p: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2A89FFDD-5DCB-BC45-8702-F3E57C543555}"/>
                </a:ext>
              </a:extLst>
            </p:cNvPr>
            <p:cNvCxnSpPr>
              <a:cxnSpLocks/>
              <a:stCxn id="200" idx="3"/>
              <a:endCxn id="201" idx="1"/>
            </p:cNvCxnSpPr>
            <p:nvPr/>
          </p:nvCxnSpPr>
          <p:spPr>
            <a:xfrm flipV="1">
              <a:off x="3453347" y="2913077"/>
              <a:ext cx="261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CCC81B37-A2E7-6F41-9992-59967E5C9F42}"/>
                </a:ext>
              </a:extLst>
            </p:cNvPr>
            <p:cNvSpPr/>
            <p:nvPr/>
          </p:nvSpPr>
          <p:spPr>
            <a:xfrm>
              <a:off x="5029345" y="2593801"/>
              <a:ext cx="987552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(c)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1D3FD4A6-C16B-B04F-AF88-6B1E9A2983CC}"/>
                </a:ext>
              </a:extLst>
            </p:cNvPr>
            <p:cNvCxnSpPr>
              <a:cxnSpLocks/>
              <a:stCxn id="201" idx="3"/>
              <a:endCxn id="203" idx="1"/>
            </p:cNvCxnSpPr>
            <p:nvPr/>
          </p:nvCxnSpPr>
          <p:spPr>
            <a:xfrm>
              <a:off x="4701775" y="2913077"/>
              <a:ext cx="32757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Rounded Rectangle 208">
              <a:extLst>
                <a:ext uri="{FF2B5EF4-FFF2-40B4-BE49-F238E27FC236}">
                  <a16:creationId xmlns:a16="http://schemas.microsoft.com/office/drawing/2014/main" id="{23651AFD-1542-B242-9230-71855C31B33D}"/>
                </a:ext>
              </a:extLst>
            </p:cNvPr>
            <p:cNvSpPr/>
            <p:nvPr/>
          </p:nvSpPr>
          <p:spPr>
            <a:xfrm>
              <a:off x="6244219" y="2593801"/>
              <a:ext cx="987552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(d)</a:t>
              </a: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F2CD929E-FC5F-B844-957F-190330FD67CE}"/>
                </a:ext>
              </a:extLst>
            </p:cNvPr>
            <p:cNvCxnSpPr>
              <a:cxnSpLocks/>
              <a:stCxn id="203" idx="3"/>
              <a:endCxn id="209" idx="1"/>
            </p:cNvCxnSpPr>
            <p:nvPr/>
          </p:nvCxnSpPr>
          <p:spPr>
            <a:xfrm>
              <a:off x="6016897" y="2913078"/>
              <a:ext cx="22732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16" name="Table 5">
            <a:extLst>
              <a:ext uri="{FF2B5EF4-FFF2-40B4-BE49-F238E27FC236}">
                <a16:creationId xmlns:a16="http://schemas.microsoft.com/office/drawing/2014/main" id="{711D87CF-56AF-E840-B19E-A4BF253915DF}"/>
              </a:ext>
            </a:extLst>
          </p:cNvPr>
          <p:cNvGraphicFramePr>
            <a:graphicFrameLocks noGrp="1"/>
          </p:cNvGraphicFramePr>
          <p:nvPr/>
        </p:nvGraphicFramePr>
        <p:xfrm>
          <a:off x="289454" y="3407751"/>
          <a:ext cx="4784229" cy="296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8179">
                  <a:extLst>
                    <a:ext uri="{9D8B030D-6E8A-4147-A177-3AD203B41FA5}">
                      <a16:colId xmlns:a16="http://schemas.microsoft.com/office/drawing/2014/main" val="4052512296"/>
                    </a:ext>
                  </a:extLst>
                </a:gridCol>
                <a:gridCol w="219668">
                  <a:extLst>
                    <a:ext uri="{9D8B030D-6E8A-4147-A177-3AD203B41FA5}">
                      <a16:colId xmlns:a16="http://schemas.microsoft.com/office/drawing/2014/main" val="400113096"/>
                    </a:ext>
                  </a:extLst>
                </a:gridCol>
                <a:gridCol w="893831">
                  <a:extLst>
                    <a:ext uri="{9D8B030D-6E8A-4147-A177-3AD203B41FA5}">
                      <a16:colId xmlns:a16="http://schemas.microsoft.com/office/drawing/2014/main" val="4248055157"/>
                    </a:ext>
                  </a:extLst>
                </a:gridCol>
                <a:gridCol w="274047">
                  <a:extLst>
                    <a:ext uri="{9D8B030D-6E8A-4147-A177-3AD203B41FA5}">
                      <a16:colId xmlns:a16="http://schemas.microsoft.com/office/drawing/2014/main" val="3025983691"/>
                    </a:ext>
                  </a:extLst>
                </a:gridCol>
                <a:gridCol w="908594">
                  <a:extLst>
                    <a:ext uri="{9D8B030D-6E8A-4147-A177-3AD203B41FA5}">
                      <a16:colId xmlns:a16="http://schemas.microsoft.com/office/drawing/2014/main" val="24072432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555914099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228984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73077"/>
                  </a:ext>
                </a:extLst>
              </a:tr>
              <a:tr h="143107">
                <a:tc gridSpan="7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90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422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6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826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02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975258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174230"/>
                  </a:ext>
                </a:extLst>
              </a:tr>
            </a:tbl>
          </a:graphicData>
        </a:graphic>
      </p:graphicFrame>
      <p:sp>
        <p:nvSpPr>
          <p:cNvPr id="217" name="Rectangle 216">
            <a:extLst>
              <a:ext uri="{FF2B5EF4-FFF2-40B4-BE49-F238E27FC236}">
                <a16:creationId xmlns:a16="http://schemas.microsoft.com/office/drawing/2014/main" id="{F9899835-C961-FF41-A466-6B1A703F4FDB}"/>
              </a:ext>
            </a:extLst>
          </p:cNvPr>
          <p:cNvSpPr/>
          <p:nvPr/>
        </p:nvSpPr>
        <p:spPr>
          <a:xfrm>
            <a:off x="1571814" y="6330410"/>
            <a:ext cx="2346956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kern="0" dirty="0">
                <a:solidFill>
                  <a:srgbClr val="0000CC"/>
                </a:solidFill>
                <a:latin typeface="Arial"/>
                <a:cs typeface="Arial"/>
              </a:rPr>
              <a:t>F-Representation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31E4E229-183F-6748-A632-591C5A9E0BE2}"/>
              </a:ext>
            </a:extLst>
          </p:cNvPr>
          <p:cNvSpPr txBox="1"/>
          <p:nvPr/>
        </p:nvSpPr>
        <p:spPr>
          <a:xfrm>
            <a:off x="329858" y="3040275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BC85584D-56CB-C245-9403-B9E4D714F8F8}"/>
              </a:ext>
            </a:extLst>
          </p:cNvPr>
          <p:cNvSpPr txBox="1"/>
          <p:nvPr/>
        </p:nvSpPr>
        <p:spPr>
          <a:xfrm>
            <a:off x="1424049" y="3042061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LG2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5E2059A-AF3B-3641-B0A8-992A7EA23133}"/>
              </a:ext>
            </a:extLst>
          </p:cNvPr>
          <p:cNvSpPr txBox="1"/>
          <p:nvPr/>
        </p:nvSpPr>
        <p:spPr>
          <a:xfrm>
            <a:off x="2590580" y="3040275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LG3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2213690-EA2C-694A-8A6C-C94B20004738}"/>
              </a:ext>
            </a:extLst>
          </p:cNvPr>
          <p:cNvSpPr txBox="1"/>
          <p:nvPr/>
        </p:nvSpPr>
        <p:spPr>
          <a:xfrm>
            <a:off x="4079965" y="3038419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LG4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0DB32E95-A40F-1E42-A09A-C75F43E31442}"/>
              </a:ext>
            </a:extLst>
          </p:cNvPr>
          <p:cNvSpPr/>
          <p:nvPr/>
        </p:nvSpPr>
        <p:spPr>
          <a:xfrm>
            <a:off x="8304" y="1674923"/>
            <a:ext cx="5112822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Most compact output: relevant subgraph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AF5F0F83-E0C8-0E4B-B5CB-6879AB640477}"/>
              </a:ext>
            </a:extLst>
          </p:cNvPr>
          <p:cNvSpPr/>
          <p:nvPr/>
        </p:nvSpPr>
        <p:spPr>
          <a:xfrm>
            <a:off x="2349305" y="4156217"/>
            <a:ext cx="2691210" cy="369331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EC5E34E-684A-0F47-A181-D115379A5223}"/>
              </a:ext>
            </a:extLst>
          </p:cNvPr>
          <p:cNvGrpSpPr/>
          <p:nvPr/>
        </p:nvGrpSpPr>
        <p:grpSpPr>
          <a:xfrm>
            <a:off x="4720475" y="675612"/>
            <a:ext cx="4301477" cy="1970189"/>
            <a:chOff x="4720475" y="675612"/>
            <a:chExt cx="4301477" cy="1970189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BD32153-E820-514A-B2F2-BB1155A7E464}"/>
                </a:ext>
              </a:extLst>
            </p:cNvPr>
            <p:cNvSpPr txBox="1"/>
            <p:nvPr/>
          </p:nvSpPr>
          <p:spPr>
            <a:xfrm>
              <a:off x="6362293" y="1205269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2B73CF34-8F07-9042-9176-6022BAC9F4EA}"/>
                </a:ext>
              </a:extLst>
            </p:cNvPr>
            <p:cNvCxnSpPr>
              <a:cxnSpLocks/>
              <a:stCxn id="171" idx="6"/>
              <a:endCxn id="165" idx="2"/>
            </p:cNvCxnSpPr>
            <p:nvPr/>
          </p:nvCxnSpPr>
          <p:spPr>
            <a:xfrm flipV="1">
              <a:off x="6742863" y="1533322"/>
              <a:ext cx="528165" cy="2383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C4DBE6FB-D497-6A45-949A-7ED6168E4A57}"/>
                </a:ext>
              </a:extLst>
            </p:cNvPr>
            <p:cNvCxnSpPr>
              <a:cxnSpLocks/>
              <a:stCxn id="171" idx="6"/>
              <a:endCxn id="164" idx="2"/>
            </p:cNvCxnSpPr>
            <p:nvPr/>
          </p:nvCxnSpPr>
          <p:spPr>
            <a:xfrm>
              <a:off x="6742863" y="1771694"/>
              <a:ext cx="528165" cy="17455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2B71C15E-E299-2140-B255-7A80E8C60D74}"/>
                </a:ext>
              </a:extLst>
            </p:cNvPr>
            <p:cNvCxnSpPr>
              <a:cxnSpLocks/>
              <a:stCxn id="168" idx="6"/>
              <a:endCxn id="171" idx="2"/>
            </p:cNvCxnSpPr>
            <p:nvPr/>
          </p:nvCxnSpPr>
          <p:spPr>
            <a:xfrm>
              <a:off x="5889790" y="1571587"/>
              <a:ext cx="533033" cy="2001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8F8099D8-E293-8B43-A30E-DF126118F56E}"/>
                </a:ext>
              </a:extLst>
            </p:cNvPr>
            <p:cNvGrpSpPr/>
            <p:nvPr/>
          </p:nvGrpSpPr>
          <p:grpSpPr>
            <a:xfrm>
              <a:off x="6417955" y="1178938"/>
              <a:ext cx="324908" cy="1185512"/>
              <a:chOff x="5584299" y="2004314"/>
              <a:chExt cx="324908" cy="1185512"/>
            </a:xfrm>
          </p:grpSpPr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A1FDB083-5BA8-604D-BDBA-376BBB3F972D}"/>
                  </a:ext>
                </a:extLst>
              </p:cNvPr>
              <p:cNvSpPr/>
              <p:nvPr/>
            </p:nvSpPr>
            <p:spPr>
              <a:xfrm>
                <a:off x="5589167" y="2004314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88735932-8942-9B44-AAA0-E8A379B12F8F}"/>
                  </a:ext>
                </a:extLst>
              </p:cNvPr>
              <p:cNvSpPr/>
              <p:nvPr/>
            </p:nvSpPr>
            <p:spPr>
              <a:xfrm>
                <a:off x="5589167" y="243705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5F4960AD-FFBF-9C42-903A-54048EAC9E48}"/>
                  </a:ext>
                </a:extLst>
              </p:cNvPr>
              <p:cNvSpPr/>
              <p:nvPr/>
            </p:nvSpPr>
            <p:spPr>
              <a:xfrm>
                <a:off x="5584299" y="2869786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D66AD0CD-F5E5-8E40-8D0D-3F3AF6C3BC96}"/>
                </a:ext>
              </a:extLst>
            </p:cNvPr>
            <p:cNvGrpSpPr/>
            <p:nvPr/>
          </p:nvGrpSpPr>
          <p:grpSpPr>
            <a:xfrm>
              <a:off x="5569750" y="1411567"/>
              <a:ext cx="320040" cy="812208"/>
              <a:chOff x="4781952" y="2251011"/>
              <a:chExt cx="320040" cy="812208"/>
            </a:xfrm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033E52FD-FCA3-1043-9E17-145C29E65DBE}"/>
                  </a:ext>
                </a:extLst>
              </p:cNvPr>
              <p:cNvSpPr/>
              <p:nvPr/>
            </p:nvSpPr>
            <p:spPr>
              <a:xfrm>
                <a:off x="4781952" y="2251011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00B0F0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42D314BB-52B0-5945-9E59-B85D627515AF}"/>
                  </a:ext>
                </a:extLst>
              </p:cNvPr>
              <p:cNvSpPr/>
              <p:nvPr/>
            </p:nvSpPr>
            <p:spPr>
              <a:xfrm>
                <a:off x="4781952" y="2743179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00B0F0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8A81EF0F-06A1-0D41-BD46-9FB25E9B7FE1}"/>
                </a:ext>
              </a:extLst>
            </p:cNvPr>
            <p:cNvCxnSpPr>
              <a:cxnSpLocks/>
              <a:stCxn id="169" idx="6"/>
              <a:endCxn id="171" idx="2"/>
            </p:cNvCxnSpPr>
            <p:nvPr/>
          </p:nvCxnSpPr>
          <p:spPr>
            <a:xfrm flipV="1">
              <a:off x="5889790" y="1771694"/>
              <a:ext cx="533033" cy="2920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2AB11055-BC18-0A4F-AC3D-CF08C80D52FF}"/>
                </a:ext>
              </a:extLst>
            </p:cNvPr>
            <p:cNvCxnSpPr>
              <a:cxnSpLocks/>
              <a:stCxn id="169" idx="6"/>
              <a:endCxn id="172" idx="2"/>
            </p:cNvCxnSpPr>
            <p:nvPr/>
          </p:nvCxnSpPr>
          <p:spPr>
            <a:xfrm>
              <a:off x="5889790" y="2063755"/>
              <a:ext cx="528165" cy="1406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6AC52D9-E398-8C4A-83BC-8FBD3E4E3034}"/>
                </a:ext>
              </a:extLst>
            </p:cNvPr>
            <p:cNvCxnSpPr>
              <a:cxnSpLocks/>
              <a:stCxn id="172" idx="6"/>
              <a:endCxn id="164" idx="2"/>
            </p:cNvCxnSpPr>
            <p:nvPr/>
          </p:nvCxnSpPr>
          <p:spPr>
            <a:xfrm flipV="1">
              <a:off x="6737995" y="1946247"/>
              <a:ext cx="533033" cy="2581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A3B89889-D68C-BC46-BDED-F42FAF5CC9B3}"/>
                </a:ext>
              </a:extLst>
            </p:cNvPr>
            <p:cNvCxnSpPr>
              <a:cxnSpLocks/>
              <a:stCxn id="172" idx="6"/>
              <a:endCxn id="166" idx="2"/>
            </p:cNvCxnSpPr>
            <p:nvPr/>
          </p:nvCxnSpPr>
          <p:spPr>
            <a:xfrm>
              <a:off x="6737995" y="2204430"/>
              <a:ext cx="533033" cy="1547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FD236D10-1792-B540-9348-A5536192C835}"/>
                </a:ext>
              </a:extLst>
            </p:cNvPr>
            <p:cNvCxnSpPr>
              <a:cxnSpLocks/>
              <a:stCxn id="168" idx="6"/>
              <a:endCxn id="170" idx="3"/>
            </p:cNvCxnSpPr>
            <p:nvPr/>
          </p:nvCxnSpPr>
          <p:spPr>
            <a:xfrm flipV="1">
              <a:off x="5889790" y="1452109"/>
              <a:ext cx="579902" cy="11947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785F5C62-F0AC-324E-BDF0-3ADF171F5D10}"/>
                </a:ext>
              </a:extLst>
            </p:cNvPr>
            <p:cNvGrpSpPr/>
            <p:nvPr/>
          </p:nvGrpSpPr>
          <p:grpSpPr>
            <a:xfrm>
              <a:off x="7271028" y="960377"/>
              <a:ext cx="320040" cy="1558816"/>
              <a:chOff x="6223601" y="1757617"/>
              <a:chExt cx="320040" cy="1558816"/>
            </a:xfrm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58FD8BAA-89B5-8B4F-AEEE-2445AFC5A082}"/>
                  </a:ext>
                </a:extLst>
              </p:cNvPr>
              <p:cNvSpPr/>
              <p:nvPr/>
            </p:nvSpPr>
            <p:spPr>
              <a:xfrm>
                <a:off x="6223601" y="2583467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C15DAA41-E988-884D-9A9D-7ACDD4030A5A}"/>
                  </a:ext>
                </a:extLst>
              </p:cNvPr>
              <p:cNvSpPr/>
              <p:nvPr/>
            </p:nvSpPr>
            <p:spPr>
              <a:xfrm>
                <a:off x="6223601" y="2170542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88E4CFB8-3B07-484E-902B-8347C6485447}"/>
                  </a:ext>
                </a:extLst>
              </p:cNvPr>
              <p:cNvSpPr/>
              <p:nvPr/>
            </p:nvSpPr>
            <p:spPr>
              <a:xfrm>
                <a:off x="6223601" y="2996393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850E6F20-9585-0A4A-8140-649A6E419E29}"/>
                  </a:ext>
                </a:extLst>
              </p:cNvPr>
              <p:cNvSpPr/>
              <p:nvPr/>
            </p:nvSpPr>
            <p:spPr>
              <a:xfrm>
                <a:off x="6223601" y="1757617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6428913-40F4-444B-B714-EACF0D26AF17}"/>
                </a:ext>
              </a:extLst>
            </p:cNvPr>
            <p:cNvGrpSpPr/>
            <p:nvPr/>
          </p:nvGrpSpPr>
          <p:grpSpPr>
            <a:xfrm>
              <a:off x="8119233" y="713680"/>
              <a:ext cx="320040" cy="1932121"/>
              <a:chOff x="6895336" y="1510920"/>
              <a:chExt cx="320040" cy="1932121"/>
            </a:xfrm>
          </p:grpSpPr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00E0441F-1215-FB42-9AAC-46A1FE1F2213}"/>
                  </a:ext>
                </a:extLst>
              </p:cNvPr>
              <p:cNvSpPr/>
              <p:nvPr/>
            </p:nvSpPr>
            <p:spPr>
              <a:xfrm>
                <a:off x="6895336" y="271998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42CCBCC5-A836-8145-AB70-860691376B22}"/>
                  </a:ext>
                </a:extLst>
              </p:cNvPr>
              <p:cNvSpPr/>
              <p:nvPr/>
            </p:nvSpPr>
            <p:spPr>
              <a:xfrm>
                <a:off x="6895336" y="231696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149B023F-3A1D-2D41-978B-18F09E1418CE}"/>
                  </a:ext>
                </a:extLst>
              </p:cNvPr>
              <p:cNvSpPr/>
              <p:nvPr/>
            </p:nvSpPr>
            <p:spPr>
              <a:xfrm>
                <a:off x="6895336" y="3123001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235905A-7F93-9C42-9F07-B925B30123F4}"/>
                  </a:ext>
                </a:extLst>
              </p:cNvPr>
              <p:cNvSpPr/>
              <p:nvPr/>
            </p:nvSpPr>
            <p:spPr>
              <a:xfrm>
                <a:off x="6895336" y="191394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FBBC933B-C359-B343-A2C1-7444FCF0FDBB}"/>
                  </a:ext>
                </a:extLst>
              </p:cNvPr>
              <p:cNvSpPr/>
              <p:nvPr/>
            </p:nvSpPr>
            <p:spPr>
              <a:xfrm>
                <a:off x="6895336" y="151092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65461E44-24EC-214F-A78F-6BF0BBC2DBA0}"/>
                </a:ext>
              </a:extLst>
            </p:cNvPr>
            <p:cNvCxnSpPr>
              <a:cxnSpLocks/>
              <a:stCxn id="170" idx="6"/>
              <a:endCxn id="165" idx="2"/>
            </p:cNvCxnSpPr>
            <p:nvPr/>
          </p:nvCxnSpPr>
          <p:spPr>
            <a:xfrm>
              <a:off x="6742863" y="1338958"/>
              <a:ext cx="528165" cy="1943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B3FFB3ED-4688-2B40-855F-591F02D937C8}"/>
                </a:ext>
              </a:extLst>
            </p:cNvPr>
            <p:cNvCxnSpPr>
              <a:cxnSpLocks/>
              <a:stCxn id="170" idx="6"/>
              <a:endCxn id="167" idx="2"/>
            </p:cNvCxnSpPr>
            <p:nvPr/>
          </p:nvCxnSpPr>
          <p:spPr>
            <a:xfrm flipV="1">
              <a:off x="6742863" y="1120397"/>
              <a:ext cx="528165" cy="2185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0DD01AA4-464D-144B-9967-8FBCD441AF57}"/>
                </a:ext>
              </a:extLst>
            </p:cNvPr>
            <p:cNvCxnSpPr>
              <a:cxnSpLocks/>
              <a:stCxn id="167" idx="6"/>
              <a:endCxn id="163" idx="2"/>
            </p:cNvCxnSpPr>
            <p:nvPr/>
          </p:nvCxnSpPr>
          <p:spPr>
            <a:xfrm flipV="1">
              <a:off x="7591068" y="873700"/>
              <a:ext cx="528165" cy="24669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16E457C0-AB5B-AF43-94AE-B830325EA50E}"/>
                </a:ext>
              </a:extLst>
            </p:cNvPr>
            <p:cNvCxnSpPr>
              <a:cxnSpLocks/>
              <a:stCxn id="167" idx="6"/>
              <a:endCxn id="162" idx="2"/>
            </p:cNvCxnSpPr>
            <p:nvPr/>
          </p:nvCxnSpPr>
          <p:spPr>
            <a:xfrm>
              <a:off x="7591068" y="1120397"/>
              <a:ext cx="528165" cy="1563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827F3C2A-4D01-9D4A-9ABA-F867DDDC07EE}"/>
                </a:ext>
              </a:extLst>
            </p:cNvPr>
            <p:cNvCxnSpPr>
              <a:cxnSpLocks/>
              <a:stCxn id="165" idx="6"/>
              <a:endCxn id="162" idx="2"/>
            </p:cNvCxnSpPr>
            <p:nvPr/>
          </p:nvCxnSpPr>
          <p:spPr>
            <a:xfrm flipV="1">
              <a:off x="7591068" y="1276720"/>
              <a:ext cx="528165" cy="2566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2015C97A-DCF3-6D4F-835A-1F46D6DAD94F}"/>
                </a:ext>
              </a:extLst>
            </p:cNvPr>
            <p:cNvCxnSpPr>
              <a:cxnSpLocks/>
              <a:stCxn id="165" idx="6"/>
              <a:endCxn id="147" idx="2"/>
            </p:cNvCxnSpPr>
            <p:nvPr/>
          </p:nvCxnSpPr>
          <p:spPr>
            <a:xfrm>
              <a:off x="7591068" y="1533322"/>
              <a:ext cx="528165" cy="1464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900C5E6A-17C9-FF41-AAD1-15556EA928B6}"/>
                </a:ext>
              </a:extLst>
            </p:cNvPr>
            <p:cNvCxnSpPr>
              <a:cxnSpLocks/>
              <a:stCxn id="164" idx="6"/>
              <a:endCxn id="147" idx="2"/>
            </p:cNvCxnSpPr>
            <p:nvPr/>
          </p:nvCxnSpPr>
          <p:spPr>
            <a:xfrm flipV="1">
              <a:off x="7591068" y="1679740"/>
              <a:ext cx="528165" cy="2665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5CB176D5-4A0B-3449-93B5-4FC9E27DC526}"/>
                </a:ext>
              </a:extLst>
            </p:cNvPr>
            <p:cNvCxnSpPr>
              <a:cxnSpLocks/>
              <a:stCxn id="164" idx="6"/>
              <a:endCxn id="146" idx="2"/>
            </p:cNvCxnSpPr>
            <p:nvPr/>
          </p:nvCxnSpPr>
          <p:spPr>
            <a:xfrm>
              <a:off x="7591068" y="1946247"/>
              <a:ext cx="528165" cy="1365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1609485E-4C3D-8F44-8C76-C7FC4150622D}"/>
                </a:ext>
              </a:extLst>
            </p:cNvPr>
            <p:cNvCxnSpPr>
              <a:cxnSpLocks/>
              <a:stCxn id="166" idx="6"/>
              <a:endCxn id="146" idx="2"/>
            </p:cNvCxnSpPr>
            <p:nvPr/>
          </p:nvCxnSpPr>
          <p:spPr>
            <a:xfrm flipV="1">
              <a:off x="7591068" y="2082760"/>
              <a:ext cx="528165" cy="2764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BE3FE58-115E-C04E-BF19-739D668225BD}"/>
                </a:ext>
              </a:extLst>
            </p:cNvPr>
            <p:cNvCxnSpPr>
              <a:cxnSpLocks/>
              <a:stCxn id="166" idx="6"/>
              <a:endCxn id="160" idx="2"/>
            </p:cNvCxnSpPr>
            <p:nvPr/>
          </p:nvCxnSpPr>
          <p:spPr>
            <a:xfrm>
              <a:off x="7591068" y="2359173"/>
              <a:ext cx="528165" cy="126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EB28EE1-7F7F-8A4A-9215-751073B60B53}"/>
                </a:ext>
              </a:extLst>
            </p:cNvPr>
            <p:cNvSpPr txBox="1"/>
            <p:nvPr/>
          </p:nvSpPr>
          <p:spPr>
            <a:xfrm>
              <a:off x="6363610" y="162426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B78E21B-D15B-3D42-81D8-9EDC5897B534}"/>
                </a:ext>
              </a:extLst>
            </p:cNvPr>
            <p:cNvSpPr txBox="1"/>
            <p:nvPr/>
          </p:nvSpPr>
          <p:spPr>
            <a:xfrm>
              <a:off x="6386991" y="2044272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30044E4-94E2-DA44-A0EF-75B48B711634}"/>
                </a:ext>
              </a:extLst>
            </p:cNvPr>
            <p:cNvSpPr/>
            <p:nvPr/>
          </p:nvSpPr>
          <p:spPr>
            <a:xfrm>
              <a:off x="4920664" y="675612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3EDD38C-FA24-794C-A01C-4A3ED88B6B7F}"/>
                </a:ext>
              </a:extLst>
            </p:cNvPr>
            <p:cNvSpPr/>
            <p:nvPr/>
          </p:nvSpPr>
          <p:spPr>
            <a:xfrm>
              <a:off x="4720475" y="1306864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ED9B5C82-A0AF-9D49-8F21-ED978496138B}"/>
                </a:ext>
              </a:extLst>
            </p:cNvPr>
            <p:cNvSpPr/>
            <p:nvPr/>
          </p:nvSpPr>
          <p:spPr>
            <a:xfrm>
              <a:off x="8699504" y="1310245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CEC3389-6613-1A42-82B6-3CA5F1D74EF0}"/>
                </a:ext>
              </a:extLst>
            </p:cNvPr>
            <p:cNvSpPr/>
            <p:nvPr/>
          </p:nvSpPr>
          <p:spPr>
            <a:xfrm>
              <a:off x="8701912" y="1985447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6C1AEFD8-68B3-2142-A579-9073833AE025}"/>
                </a:ext>
              </a:extLst>
            </p:cNvPr>
            <p:cNvCxnSpPr>
              <a:cxnSpLocks/>
              <a:stCxn id="120" idx="7"/>
              <a:endCxn id="119" idx="4"/>
            </p:cNvCxnSpPr>
            <p:nvPr/>
          </p:nvCxnSpPr>
          <p:spPr>
            <a:xfrm flipV="1">
              <a:off x="4993646" y="995652"/>
              <a:ext cx="87038" cy="3580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850748FC-3192-4140-8EC1-BA124A5C0522}"/>
                </a:ext>
              </a:extLst>
            </p:cNvPr>
            <p:cNvCxnSpPr>
              <a:cxnSpLocks/>
              <a:stCxn id="123" idx="4"/>
              <a:endCxn id="124" idx="0"/>
            </p:cNvCxnSpPr>
            <p:nvPr/>
          </p:nvCxnSpPr>
          <p:spPr>
            <a:xfrm>
              <a:off x="8859524" y="1630285"/>
              <a:ext cx="2408" cy="355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8B77B22-3E11-3743-A33D-8F6692807BE6}"/>
                </a:ext>
              </a:extLst>
            </p:cNvPr>
            <p:cNvSpPr/>
            <p:nvPr/>
          </p:nvSpPr>
          <p:spPr>
            <a:xfrm>
              <a:off x="5483590" y="797631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6FDA69A0-498E-F24A-B3A2-4AB6A48C52A9}"/>
                </a:ext>
              </a:extLst>
            </p:cNvPr>
            <p:cNvCxnSpPr>
              <a:cxnSpLocks/>
              <a:stCxn id="120" idx="6"/>
              <a:endCxn id="127" idx="3"/>
            </p:cNvCxnSpPr>
            <p:nvPr/>
          </p:nvCxnSpPr>
          <p:spPr>
            <a:xfrm flipV="1">
              <a:off x="5040515" y="1070802"/>
              <a:ext cx="489944" cy="3960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D675F90-42F5-1F4D-821A-B388D270440A}"/>
                </a:ext>
              </a:extLst>
            </p:cNvPr>
            <p:cNvCxnSpPr>
              <a:cxnSpLocks/>
              <a:stCxn id="127" idx="2"/>
              <a:endCxn id="119" idx="5"/>
            </p:cNvCxnSpPr>
            <p:nvPr/>
          </p:nvCxnSpPr>
          <p:spPr>
            <a:xfrm flipH="1" flipV="1">
              <a:off x="5193835" y="948783"/>
              <a:ext cx="289755" cy="88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74AA054-4A5C-7D42-8415-E05CCF07F95D}"/>
                </a:ext>
              </a:extLst>
            </p:cNvPr>
            <p:cNvSpPr txBox="1"/>
            <p:nvPr/>
          </p:nvSpPr>
          <p:spPr>
            <a:xfrm>
              <a:off x="5515228" y="1414089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E91530CD-BB01-4E45-8A29-EA037454FFD0}"/>
                </a:ext>
              </a:extLst>
            </p:cNvPr>
            <p:cNvSpPr txBox="1"/>
            <p:nvPr/>
          </p:nvSpPr>
          <p:spPr>
            <a:xfrm>
              <a:off x="5512308" y="191772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967BCD3-673D-7146-A440-CBAD9C277671}"/>
                </a:ext>
              </a:extLst>
            </p:cNvPr>
            <p:cNvSpPr txBox="1"/>
            <p:nvPr/>
          </p:nvSpPr>
          <p:spPr>
            <a:xfrm>
              <a:off x="7218413" y="94865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E1494DAC-336A-6242-B5FF-7B40C3755FEB}"/>
                </a:ext>
              </a:extLst>
            </p:cNvPr>
            <p:cNvSpPr txBox="1"/>
            <p:nvPr/>
          </p:nvSpPr>
          <p:spPr>
            <a:xfrm>
              <a:off x="7216496" y="136694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EC9CFF7-F697-A844-B256-23DF14870344}"/>
                </a:ext>
              </a:extLst>
            </p:cNvPr>
            <p:cNvSpPr txBox="1"/>
            <p:nvPr/>
          </p:nvSpPr>
          <p:spPr>
            <a:xfrm>
              <a:off x="7200040" y="177330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E0E8C5F-AD37-4C45-A194-82929D23FACF}"/>
                </a:ext>
              </a:extLst>
            </p:cNvPr>
            <p:cNvSpPr txBox="1"/>
            <p:nvPr/>
          </p:nvSpPr>
          <p:spPr>
            <a:xfrm>
              <a:off x="7215502" y="222117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4</a:t>
              </a:r>
              <a:endParaRPr lang="en-US" sz="1400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DAB395F-33AA-F54A-8808-498EFE275903}"/>
                </a:ext>
              </a:extLst>
            </p:cNvPr>
            <p:cNvSpPr txBox="1"/>
            <p:nvPr/>
          </p:nvSpPr>
          <p:spPr>
            <a:xfrm>
              <a:off x="8058083" y="70766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E4C5EA8-FE84-4549-9057-F0B7935DA0A6}"/>
                </a:ext>
              </a:extLst>
            </p:cNvPr>
            <p:cNvSpPr txBox="1"/>
            <p:nvPr/>
          </p:nvSpPr>
          <p:spPr>
            <a:xfrm>
              <a:off x="8071909" y="1113147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F7FFC59-B295-C243-ADB0-DEF5A58DE9BB}"/>
                </a:ext>
              </a:extLst>
            </p:cNvPr>
            <p:cNvSpPr txBox="1"/>
            <p:nvPr/>
          </p:nvSpPr>
          <p:spPr>
            <a:xfrm>
              <a:off x="8084077" y="153292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5127A3D-C921-5C41-BF1E-D2DEE52EF7A7}"/>
                </a:ext>
              </a:extLst>
            </p:cNvPr>
            <p:cNvSpPr txBox="1"/>
            <p:nvPr/>
          </p:nvSpPr>
          <p:spPr>
            <a:xfrm>
              <a:off x="8055628" y="192598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4</a:t>
              </a:r>
              <a:endParaRPr lang="en-US" sz="1400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E92A2742-BF18-AE4D-834F-A4A0B53D19EE}"/>
                </a:ext>
              </a:extLst>
            </p:cNvPr>
            <p:cNvSpPr txBox="1"/>
            <p:nvPr/>
          </p:nvSpPr>
          <p:spPr>
            <a:xfrm>
              <a:off x="8066329" y="231674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5</a:t>
              </a:r>
              <a:endParaRPr lang="en-US" sz="1400" dirty="0"/>
            </a:p>
          </p:txBody>
        </p:sp>
      </p:grpSp>
      <p:sp>
        <p:nvSpPr>
          <p:cNvPr id="173" name="Trapezoid 172">
            <a:extLst>
              <a:ext uri="{FF2B5EF4-FFF2-40B4-BE49-F238E27FC236}">
                <a16:creationId xmlns:a16="http://schemas.microsoft.com/office/drawing/2014/main" id="{0499DC34-9796-5644-96FC-C7FEC8AED034}"/>
              </a:ext>
            </a:extLst>
          </p:cNvPr>
          <p:cNvSpPr/>
          <p:nvPr/>
        </p:nvSpPr>
        <p:spPr>
          <a:xfrm rot="16200000">
            <a:off x="5841927" y="242660"/>
            <a:ext cx="2266235" cy="3070956"/>
          </a:xfrm>
          <a:prstGeom prst="trapezoid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1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63504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3891" y="6588680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/>
              <a:t>26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8615-162E-0446-97BA-6A74199ED555}"/>
              </a:ext>
            </a:extLst>
          </p:cNvPr>
          <p:cNvSpPr txBox="1"/>
          <p:nvPr/>
        </p:nvSpPr>
        <p:spPr>
          <a:xfrm>
            <a:off x="24111" y="-10993"/>
            <a:ext cx="9258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latin typeface="Arial"/>
                <a:cs typeface="Arial"/>
              </a:rPr>
              <a:t>Further Value Repetitions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9F048F-F147-5749-86C5-32E21069966B}"/>
              </a:ext>
            </a:extLst>
          </p:cNvPr>
          <p:cNvGrpSpPr/>
          <p:nvPr/>
        </p:nvGrpSpPr>
        <p:grpSpPr>
          <a:xfrm>
            <a:off x="142032" y="683971"/>
            <a:ext cx="4507234" cy="922560"/>
            <a:chOff x="220440" y="1015608"/>
            <a:chExt cx="4507234" cy="92256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0527AC-CAF8-7148-B2D3-489FAD2D3331}"/>
                </a:ext>
              </a:extLst>
            </p:cNvPr>
            <p:cNvSpPr txBox="1"/>
            <p:nvPr/>
          </p:nvSpPr>
          <p:spPr>
            <a:xfrm>
              <a:off x="220440" y="1015608"/>
              <a:ext cx="4507234" cy="922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MATCH </a:t>
              </a:r>
            </a:p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WHERE </a:t>
              </a:r>
              <a:r>
                <a:rPr lang="en-US" sz="1900" dirty="0" err="1">
                  <a:latin typeface="Consolas"/>
                  <a:cs typeface="Consolas"/>
                </a:rPr>
                <a:t>a.cntr</a:t>
              </a:r>
              <a:r>
                <a:rPr lang="en-US" sz="1900" dirty="0">
                  <a:latin typeface="Consolas"/>
                  <a:cs typeface="Consolas"/>
                </a:rPr>
                <a:t>=‘US’ &amp; </a:t>
              </a:r>
              <a:r>
                <a:rPr lang="en-US" sz="1900" dirty="0" err="1">
                  <a:latin typeface="Consolas"/>
                  <a:cs typeface="Consolas"/>
                </a:rPr>
                <a:t>e.cntr</a:t>
              </a:r>
              <a:r>
                <a:rPr lang="en-US" sz="1900" dirty="0">
                  <a:latin typeface="Consolas"/>
                  <a:cs typeface="Consolas"/>
                </a:rPr>
                <a:t>=‘CAD’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93845A2-EA63-2A48-96FB-89A8BDD09BE2}"/>
                </a:ext>
              </a:extLst>
            </p:cNvPr>
            <p:cNvSpPr/>
            <p:nvPr/>
          </p:nvSpPr>
          <p:spPr>
            <a:xfrm>
              <a:off x="1311894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A3F555-B73D-D74F-84F0-069B0C51A236}"/>
                </a:ext>
              </a:extLst>
            </p:cNvPr>
            <p:cNvSpPr/>
            <p:nvPr/>
          </p:nvSpPr>
          <p:spPr>
            <a:xfrm>
              <a:off x="1962543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5AA706A-0088-3742-ABA8-E262BEC52B17}"/>
                </a:ext>
              </a:extLst>
            </p:cNvPr>
            <p:cNvSpPr/>
            <p:nvPr/>
          </p:nvSpPr>
          <p:spPr>
            <a:xfrm>
              <a:off x="2613192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7CB77D0-F2C2-BB44-B3E6-C4B9BE0FB2BA}"/>
                </a:ext>
              </a:extLst>
            </p:cNvPr>
            <p:cNvCxnSpPr>
              <a:cxnSpLocks/>
              <a:stCxn id="5" idx="6"/>
              <a:endCxn id="17" idx="2"/>
            </p:cNvCxnSpPr>
            <p:nvPr/>
          </p:nvCxnSpPr>
          <p:spPr>
            <a:xfrm>
              <a:off x="1650222" y="1338188"/>
              <a:ext cx="312321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6A49FF7-EF66-6C49-AF9F-B02D0CA44C23}"/>
                </a:ext>
              </a:extLst>
            </p:cNvPr>
            <p:cNvCxnSpPr>
              <a:cxnSpLocks/>
              <a:stCxn id="17" idx="6"/>
              <a:endCxn id="18" idx="2"/>
            </p:cNvCxnSpPr>
            <p:nvPr/>
          </p:nvCxnSpPr>
          <p:spPr>
            <a:xfrm>
              <a:off x="2300871" y="1338188"/>
              <a:ext cx="312321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8386AFD-2383-1440-B34F-BF31FBD94355}"/>
                </a:ext>
              </a:extLst>
            </p:cNvPr>
            <p:cNvSpPr/>
            <p:nvPr/>
          </p:nvSpPr>
          <p:spPr>
            <a:xfrm>
              <a:off x="3263842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E2EB08A-3140-4F42-B9D8-81DEB9300D66}"/>
                </a:ext>
              </a:extLst>
            </p:cNvPr>
            <p:cNvCxnSpPr>
              <a:cxnSpLocks/>
              <a:stCxn id="18" idx="6"/>
              <a:endCxn id="61" idx="2"/>
            </p:cNvCxnSpPr>
            <p:nvPr/>
          </p:nvCxnSpPr>
          <p:spPr>
            <a:xfrm>
              <a:off x="2951520" y="1338188"/>
              <a:ext cx="312322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7083A86C-AE3F-B544-9C3A-2D571BEA62E0}"/>
              </a:ext>
            </a:extLst>
          </p:cNvPr>
          <p:cNvGrpSpPr/>
          <p:nvPr/>
        </p:nvGrpSpPr>
        <p:grpSpPr>
          <a:xfrm>
            <a:off x="212022" y="2325761"/>
            <a:ext cx="5050745" cy="640080"/>
            <a:chOff x="2181026" y="2593037"/>
            <a:chExt cx="5050745" cy="640080"/>
          </a:xfrm>
        </p:grpSpPr>
        <p:sp>
          <p:nvSpPr>
            <p:cNvPr id="200" name="Rounded Rectangle 199">
              <a:extLst>
                <a:ext uri="{FF2B5EF4-FFF2-40B4-BE49-F238E27FC236}">
                  <a16:creationId xmlns:a16="http://schemas.microsoft.com/office/drawing/2014/main" id="{23D11F47-D2B8-264D-8216-B7F55A32B7C7}"/>
                </a:ext>
              </a:extLst>
            </p:cNvPr>
            <p:cNvSpPr/>
            <p:nvPr/>
          </p:nvSpPr>
          <p:spPr>
            <a:xfrm>
              <a:off x="2181026" y="2593801"/>
              <a:ext cx="1272321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(a)</a:t>
              </a:r>
            </a:p>
            <a:p>
              <a:pPr algn="ctr"/>
              <a:r>
                <a:rPr lang="en-US" sz="1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cntr</a:t>
              </a:r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=`US’</a:t>
              </a:r>
            </a:p>
          </p:txBody>
        </p:sp>
        <p:sp>
          <p:nvSpPr>
            <p:cNvPr id="201" name="Rounded Rectangle 200">
              <a:extLst>
                <a:ext uri="{FF2B5EF4-FFF2-40B4-BE49-F238E27FC236}">
                  <a16:creationId xmlns:a16="http://schemas.microsoft.com/office/drawing/2014/main" id="{26BFA326-269B-BD44-8B8B-F533CA3EEF74}"/>
                </a:ext>
              </a:extLst>
            </p:cNvPr>
            <p:cNvSpPr/>
            <p:nvPr/>
          </p:nvSpPr>
          <p:spPr>
            <a:xfrm>
              <a:off x="3714907" y="2593037"/>
              <a:ext cx="986868" cy="640080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(b)</a:t>
              </a:r>
            </a:p>
          </p:txBody>
        </p: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2A89FFDD-5DCB-BC45-8702-F3E57C543555}"/>
                </a:ext>
              </a:extLst>
            </p:cNvPr>
            <p:cNvCxnSpPr>
              <a:cxnSpLocks/>
              <a:stCxn id="200" idx="3"/>
              <a:endCxn id="201" idx="1"/>
            </p:cNvCxnSpPr>
            <p:nvPr/>
          </p:nvCxnSpPr>
          <p:spPr>
            <a:xfrm flipV="1">
              <a:off x="3453347" y="2913077"/>
              <a:ext cx="261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CCC81B37-A2E7-6F41-9992-59967E5C9F42}"/>
                </a:ext>
              </a:extLst>
            </p:cNvPr>
            <p:cNvSpPr/>
            <p:nvPr/>
          </p:nvSpPr>
          <p:spPr>
            <a:xfrm>
              <a:off x="5029345" y="2593801"/>
              <a:ext cx="987552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(c)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1D3FD4A6-C16B-B04F-AF88-6B1E9A2983CC}"/>
                </a:ext>
              </a:extLst>
            </p:cNvPr>
            <p:cNvCxnSpPr>
              <a:cxnSpLocks/>
              <a:stCxn id="201" idx="3"/>
              <a:endCxn id="203" idx="1"/>
            </p:cNvCxnSpPr>
            <p:nvPr/>
          </p:nvCxnSpPr>
          <p:spPr>
            <a:xfrm>
              <a:off x="4701775" y="2913077"/>
              <a:ext cx="32757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Rounded Rectangle 208">
              <a:extLst>
                <a:ext uri="{FF2B5EF4-FFF2-40B4-BE49-F238E27FC236}">
                  <a16:creationId xmlns:a16="http://schemas.microsoft.com/office/drawing/2014/main" id="{23651AFD-1542-B242-9230-71855C31B33D}"/>
                </a:ext>
              </a:extLst>
            </p:cNvPr>
            <p:cNvSpPr/>
            <p:nvPr/>
          </p:nvSpPr>
          <p:spPr>
            <a:xfrm>
              <a:off x="6244219" y="2593801"/>
              <a:ext cx="987552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(d)</a:t>
              </a: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F2CD929E-FC5F-B844-957F-190330FD67CE}"/>
                </a:ext>
              </a:extLst>
            </p:cNvPr>
            <p:cNvCxnSpPr>
              <a:cxnSpLocks/>
              <a:stCxn id="203" idx="3"/>
              <a:endCxn id="209" idx="1"/>
            </p:cNvCxnSpPr>
            <p:nvPr/>
          </p:nvCxnSpPr>
          <p:spPr>
            <a:xfrm>
              <a:off x="6016897" y="2913078"/>
              <a:ext cx="22732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16" name="Table 5">
            <a:extLst>
              <a:ext uri="{FF2B5EF4-FFF2-40B4-BE49-F238E27FC236}">
                <a16:creationId xmlns:a16="http://schemas.microsoft.com/office/drawing/2014/main" id="{711D87CF-56AF-E840-B19E-A4BF253915DF}"/>
              </a:ext>
            </a:extLst>
          </p:cNvPr>
          <p:cNvGraphicFramePr>
            <a:graphicFrameLocks noGrp="1"/>
          </p:cNvGraphicFramePr>
          <p:nvPr/>
        </p:nvGraphicFramePr>
        <p:xfrm>
          <a:off x="289454" y="3407751"/>
          <a:ext cx="4784229" cy="296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8179">
                  <a:extLst>
                    <a:ext uri="{9D8B030D-6E8A-4147-A177-3AD203B41FA5}">
                      <a16:colId xmlns:a16="http://schemas.microsoft.com/office/drawing/2014/main" val="4052512296"/>
                    </a:ext>
                  </a:extLst>
                </a:gridCol>
                <a:gridCol w="219668">
                  <a:extLst>
                    <a:ext uri="{9D8B030D-6E8A-4147-A177-3AD203B41FA5}">
                      <a16:colId xmlns:a16="http://schemas.microsoft.com/office/drawing/2014/main" val="400113096"/>
                    </a:ext>
                  </a:extLst>
                </a:gridCol>
                <a:gridCol w="893831">
                  <a:extLst>
                    <a:ext uri="{9D8B030D-6E8A-4147-A177-3AD203B41FA5}">
                      <a16:colId xmlns:a16="http://schemas.microsoft.com/office/drawing/2014/main" val="4248055157"/>
                    </a:ext>
                  </a:extLst>
                </a:gridCol>
                <a:gridCol w="274047">
                  <a:extLst>
                    <a:ext uri="{9D8B030D-6E8A-4147-A177-3AD203B41FA5}">
                      <a16:colId xmlns:a16="http://schemas.microsoft.com/office/drawing/2014/main" val="3025983691"/>
                    </a:ext>
                  </a:extLst>
                </a:gridCol>
                <a:gridCol w="908594">
                  <a:extLst>
                    <a:ext uri="{9D8B030D-6E8A-4147-A177-3AD203B41FA5}">
                      <a16:colId xmlns:a16="http://schemas.microsoft.com/office/drawing/2014/main" val="24072432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555914099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228984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73077"/>
                  </a:ext>
                </a:extLst>
              </a:tr>
              <a:tr h="143107">
                <a:tc gridSpan="7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90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422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6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826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02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975258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174230"/>
                  </a:ext>
                </a:extLst>
              </a:tr>
            </a:tbl>
          </a:graphicData>
        </a:graphic>
      </p:graphicFrame>
      <p:sp>
        <p:nvSpPr>
          <p:cNvPr id="217" name="Rectangle 216">
            <a:extLst>
              <a:ext uri="{FF2B5EF4-FFF2-40B4-BE49-F238E27FC236}">
                <a16:creationId xmlns:a16="http://schemas.microsoft.com/office/drawing/2014/main" id="{F9899835-C961-FF41-A466-6B1A703F4FDB}"/>
              </a:ext>
            </a:extLst>
          </p:cNvPr>
          <p:cNvSpPr/>
          <p:nvPr/>
        </p:nvSpPr>
        <p:spPr>
          <a:xfrm>
            <a:off x="1571814" y="6330410"/>
            <a:ext cx="2346956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kern="0" dirty="0">
                <a:solidFill>
                  <a:srgbClr val="0000CC"/>
                </a:solidFill>
                <a:latin typeface="Arial"/>
                <a:cs typeface="Arial"/>
              </a:rPr>
              <a:t>F-Representation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31E4E229-183F-6748-A632-591C5A9E0BE2}"/>
              </a:ext>
            </a:extLst>
          </p:cNvPr>
          <p:cNvSpPr txBox="1"/>
          <p:nvPr/>
        </p:nvSpPr>
        <p:spPr>
          <a:xfrm>
            <a:off x="329858" y="3040275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BC85584D-56CB-C245-9403-B9E4D714F8F8}"/>
              </a:ext>
            </a:extLst>
          </p:cNvPr>
          <p:cNvSpPr txBox="1"/>
          <p:nvPr/>
        </p:nvSpPr>
        <p:spPr>
          <a:xfrm>
            <a:off x="1424049" y="3042061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LG2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5E2059A-AF3B-3641-B0A8-992A7EA23133}"/>
              </a:ext>
            </a:extLst>
          </p:cNvPr>
          <p:cNvSpPr txBox="1"/>
          <p:nvPr/>
        </p:nvSpPr>
        <p:spPr>
          <a:xfrm>
            <a:off x="2590580" y="3040275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LG3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2213690-EA2C-694A-8A6C-C94B20004738}"/>
              </a:ext>
            </a:extLst>
          </p:cNvPr>
          <p:cNvSpPr txBox="1"/>
          <p:nvPr/>
        </p:nvSpPr>
        <p:spPr>
          <a:xfrm>
            <a:off x="4079965" y="3038419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LG4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0DB32E95-A40F-1E42-A09A-C75F43E31442}"/>
              </a:ext>
            </a:extLst>
          </p:cNvPr>
          <p:cNvSpPr/>
          <p:nvPr/>
        </p:nvSpPr>
        <p:spPr>
          <a:xfrm>
            <a:off x="8304" y="1674923"/>
            <a:ext cx="5112822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Most compact output: relevant subgraph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BBC51471-8E6D-A54A-B87F-5D26A81F6FB2}"/>
              </a:ext>
            </a:extLst>
          </p:cNvPr>
          <p:cNvSpPr/>
          <p:nvPr/>
        </p:nvSpPr>
        <p:spPr>
          <a:xfrm>
            <a:off x="2363372" y="4521985"/>
            <a:ext cx="2677143" cy="369331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0DA1BA3-2019-7F46-935B-2FF223586106}"/>
              </a:ext>
            </a:extLst>
          </p:cNvPr>
          <p:cNvGrpSpPr/>
          <p:nvPr/>
        </p:nvGrpSpPr>
        <p:grpSpPr>
          <a:xfrm>
            <a:off x="4720475" y="675612"/>
            <a:ext cx="4301477" cy="1970189"/>
            <a:chOff x="4720475" y="675612"/>
            <a:chExt cx="4301477" cy="1970189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27C5D42-2463-D347-9315-1F3603B5813F}"/>
                </a:ext>
              </a:extLst>
            </p:cNvPr>
            <p:cNvSpPr txBox="1"/>
            <p:nvPr/>
          </p:nvSpPr>
          <p:spPr>
            <a:xfrm>
              <a:off x="6362293" y="1205269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FB5C499-8A8F-4548-B63E-9731F5B04F52}"/>
                </a:ext>
              </a:extLst>
            </p:cNvPr>
            <p:cNvCxnSpPr>
              <a:cxnSpLocks/>
              <a:stCxn id="171" idx="6"/>
              <a:endCxn id="165" idx="2"/>
            </p:cNvCxnSpPr>
            <p:nvPr/>
          </p:nvCxnSpPr>
          <p:spPr>
            <a:xfrm flipV="1">
              <a:off x="6742863" y="1533322"/>
              <a:ext cx="528165" cy="2383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A44777D6-FE64-5A4D-8709-D8BF31E5C7A8}"/>
                </a:ext>
              </a:extLst>
            </p:cNvPr>
            <p:cNvCxnSpPr>
              <a:cxnSpLocks/>
              <a:stCxn id="171" idx="6"/>
              <a:endCxn id="164" idx="2"/>
            </p:cNvCxnSpPr>
            <p:nvPr/>
          </p:nvCxnSpPr>
          <p:spPr>
            <a:xfrm>
              <a:off x="6742863" y="1771694"/>
              <a:ext cx="528165" cy="17455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8B41B742-A85A-FA4A-A54B-D006F4F53D33}"/>
                </a:ext>
              </a:extLst>
            </p:cNvPr>
            <p:cNvCxnSpPr>
              <a:cxnSpLocks/>
              <a:stCxn id="168" idx="6"/>
              <a:endCxn id="171" idx="2"/>
            </p:cNvCxnSpPr>
            <p:nvPr/>
          </p:nvCxnSpPr>
          <p:spPr>
            <a:xfrm>
              <a:off x="5889790" y="1571587"/>
              <a:ext cx="533033" cy="2001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72919B7-7E42-6B41-931C-251D17589ED9}"/>
                </a:ext>
              </a:extLst>
            </p:cNvPr>
            <p:cNvGrpSpPr/>
            <p:nvPr/>
          </p:nvGrpSpPr>
          <p:grpSpPr>
            <a:xfrm>
              <a:off x="6417955" y="1178938"/>
              <a:ext cx="324908" cy="1185512"/>
              <a:chOff x="5584299" y="2004314"/>
              <a:chExt cx="324908" cy="1185512"/>
            </a:xfrm>
          </p:grpSpPr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19CC49CB-E215-A847-9BF0-B357B2AEE1DE}"/>
                  </a:ext>
                </a:extLst>
              </p:cNvPr>
              <p:cNvSpPr/>
              <p:nvPr/>
            </p:nvSpPr>
            <p:spPr>
              <a:xfrm>
                <a:off x="5589167" y="2004314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9157F909-F835-994B-B126-96123059EBA7}"/>
                  </a:ext>
                </a:extLst>
              </p:cNvPr>
              <p:cNvSpPr/>
              <p:nvPr/>
            </p:nvSpPr>
            <p:spPr>
              <a:xfrm>
                <a:off x="5589167" y="243705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83DD2B13-BF2A-1D43-8B8D-882D06D0C4F3}"/>
                  </a:ext>
                </a:extLst>
              </p:cNvPr>
              <p:cNvSpPr/>
              <p:nvPr/>
            </p:nvSpPr>
            <p:spPr>
              <a:xfrm>
                <a:off x="5584299" y="2869786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C8745E69-B349-5547-BF73-544A70F336EC}"/>
                </a:ext>
              </a:extLst>
            </p:cNvPr>
            <p:cNvGrpSpPr/>
            <p:nvPr/>
          </p:nvGrpSpPr>
          <p:grpSpPr>
            <a:xfrm>
              <a:off x="5569750" y="1411567"/>
              <a:ext cx="320040" cy="812208"/>
              <a:chOff x="4781952" y="2251011"/>
              <a:chExt cx="320040" cy="812208"/>
            </a:xfrm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2A230FE4-9ECC-B546-BA3A-950B102A36ED}"/>
                  </a:ext>
                </a:extLst>
              </p:cNvPr>
              <p:cNvSpPr/>
              <p:nvPr/>
            </p:nvSpPr>
            <p:spPr>
              <a:xfrm>
                <a:off x="4781952" y="2251011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00B0F0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C8253A02-C40A-584F-AC73-31B521A938DB}"/>
                  </a:ext>
                </a:extLst>
              </p:cNvPr>
              <p:cNvSpPr/>
              <p:nvPr/>
            </p:nvSpPr>
            <p:spPr>
              <a:xfrm>
                <a:off x="4781952" y="2743179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00B0F0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46CA9EA7-081C-5649-BFE6-977731DCC2D6}"/>
                </a:ext>
              </a:extLst>
            </p:cNvPr>
            <p:cNvCxnSpPr>
              <a:cxnSpLocks/>
              <a:stCxn id="169" idx="6"/>
              <a:endCxn id="171" idx="2"/>
            </p:cNvCxnSpPr>
            <p:nvPr/>
          </p:nvCxnSpPr>
          <p:spPr>
            <a:xfrm flipV="1">
              <a:off x="5889790" y="1771694"/>
              <a:ext cx="533033" cy="2920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D20D8DED-6C2E-CB4A-A251-EBA32217FA8F}"/>
                </a:ext>
              </a:extLst>
            </p:cNvPr>
            <p:cNvCxnSpPr>
              <a:cxnSpLocks/>
              <a:stCxn id="169" idx="6"/>
              <a:endCxn id="172" idx="2"/>
            </p:cNvCxnSpPr>
            <p:nvPr/>
          </p:nvCxnSpPr>
          <p:spPr>
            <a:xfrm>
              <a:off x="5889790" y="2063755"/>
              <a:ext cx="528165" cy="1406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EFA4294B-FDEB-0346-ACD5-327643699052}"/>
                </a:ext>
              </a:extLst>
            </p:cNvPr>
            <p:cNvCxnSpPr>
              <a:cxnSpLocks/>
              <a:stCxn id="172" idx="6"/>
              <a:endCxn id="164" idx="2"/>
            </p:cNvCxnSpPr>
            <p:nvPr/>
          </p:nvCxnSpPr>
          <p:spPr>
            <a:xfrm flipV="1">
              <a:off x="6737995" y="1946247"/>
              <a:ext cx="533033" cy="2581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A0E2A972-85CE-9B4C-B69F-C952F417582F}"/>
                </a:ext>
              </a:extLst>
            </p:cNvPr>
            <p:cNvCxnSpPr>
              <a:cxnSpLocks/>
              <a:stCxn id="172" idx="6"/>
              <a:endCxn id="166" idx="2"/>
            </p:cNvCxnSpPr>
            <p:nvPr/>
          </p:nvCxnSpPr>
          <p:spPr>
            <a:xfrm>
              <a:off x="6737995" y="2204430"/>
              <a:ext cx="533033" cy="1547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6C6C7E94-6165-0547-95A5-A962EFEBBA21}"/>
                </a:ext>
              </a:extLst>
            </p:cNvPr>
            <p:cNvCxnSpPr>
              <a:cxnSpLocks/>
              <a:stCxn id="168" idx="6"/>
              <a:endCxn id="170" idx="3"/>
            </p:cNvCxnSpPr>
            <p:nvPr/>
          </p:nvCxnSpPr>
          <p:spPr>
            <a:xfrm flipV="1">
              <a:off x="5889790" y="1452109"/>
              <a:ext cx="579902" cy="11947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7FB9D824-C03F-8A4A-851B-696E13A19774}"/>
                </a:ext>
              </a:extLst>
            </p:cNvPr>
            <p:cNvGrpSpPr/>
            <p:nvPr/>
          </p:nvGrpSpPr>
          <p:grpSpPr>
            <a:xfrm>
              <a:off x="7271028" y="960377"/>
              <a:ext cx="320040" cy="1558816"/>
              <a:chOff x="6223601" y="1757617"/>
              <a:chExt cx="320040" cy="1558816"/>
            </a:xfrm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7CD1486E-55AD-2F4D-AC84-3274489D08D0}"/>
                  </a:ext>
                </a:extLst>
              </p:cNvPr>
              <p:cNvSpPr/>
              <p:nvPr/>
            </p:nvSpPr>
            <p:spPr>
              <a:xfrm>
                <a:off x="6223601" y="2583467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501915B1-0761-C74B-9298-C3AA4F514FCD}"/>
                  </a:ext>
                </a:extLst>
              </p:cNvPr>
              <p:cNvSpPr/>
              <p:nvPr/>
            </p:nvSpPr>
            <p:spPr>
              <a:xfrm>
                <a:off x="6223601" y="2170542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786B2A18-14BF-B04F-9ABE-CEB4C7A6786D}"/>
                  </a:ext>
                </a:extLst>
              </p:cNvPr>
              <p:cNvSpPr/>
              <p:nvPr/>
            </p:nvSpPr>
            <p:spPr>
              <a:xfrm>
                <a:off x="6223601" y="2996393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C8DE7CE1-53CB-3E42-A597-4E48468BFF85}"/>
                  </a:ext>
                </a:extLst>
              </p:cNvPr>
              <p:cNvSpPr/>
              <p:nvPr/>
            </p:nvSpPr>
            <p:spPr>
              <a:xfrm>
                <a:off x="6223601" y="1757617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C9F1360-4E95-7141-A27F-5578AAD3672E}"/>
                </a:ext>
              </a:extLst>
            </p:cNvPr>
            <p:cNvGrpSpPr/>
            <p:nvPr/>
          </p:nvGrpSpPr>
          <p:grpSpPr>
            <a:xfrm>
              <a:off x="8119233" y="713680"/>
              <a:ext cx="320040" cy="1932121"/>
              <a:chOff x="6895336" y="1510920"/>
              <a:chExt cx="320040" cy="1932121"/>
            </a:xfrm>
          </p:grpSpPr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EC8A0197-F800-FE46-AC7D-B63F531D2CC7}"/>
                  </a:ext>
                </a:extLst>
              </p:cNvPr>
              <p:cNvSpPr/>
              <p:nvPr/>
            </p:nvSpPr>
            <p:spPr>
              <a:xfrm>
                <a:off x="6895336" y="271998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B2249383-29AD-F340-8D7A-8C6C4486CA28}"/>
                  </a:ext>
                </a:extLst>
              </p:cNvPr>
              <p:cNvSpPr/>
              <p:nvPr/>
            </p:nvSpPr>
            <p:spPr>
              <a:xfrm>
                <a:off x="6895336" y="231696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F099D28C-0E80-8144-8290-997DDAFCCAB6}"/>
                  </a:ext>
                </a:extLst>
              </p:cNvPr>
              <p:cNvSpPr/>
              <p:nvPr/>
            </p:nvSpPr>
            <p:spPr>
              <a:xfrm>
                <a:off x="6895336" y="3123001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294D707A-2A63-4841-A943-5FCB0950E034}"/>
                  </a:ext>
                </a:extLst>
              </p:cNvPr>
              <p:cNvSpPr/>
              <p:nvPr/>
            </p:nvSpPr>
            <p:spPr>
              <a:xfrm>
                <a:off x="6895336" y="191394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CD6D45EB-8327-5C46-ADF3-B7228A3F8E8D}"/>
                  </a:ext>
                </a:extLst>
              </p:cNvPr>
              <p:cNvSpPr/>
              <p:nvPr/>
            </p:nvSpPr>
            <p:spPr>
              <a:xfrm>
                <a:off x="6895336" y="151092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FBBF9900-6DBC-7948-AE3B-86CC9A6C56CF}"/>
                </a:ext>
              </a:extLst>
            </p:cNvPr>
            <p:cNvCxnSpPr>
              <a:cxnSpLocks/>
              <a:stCxn id="170" idx="6"/>
              <a:endCxn id="165" idx="2"/>
            </p:cNvCxnSpPr>
            <p:nvPr/>
          </p:nvCxnSpPr>
          <p:spPr>
            <a:xfrm>
              <a:off x="6742863" y="1338958"/>
              <a:ext cx="528165" cy="1943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3F8EF3B3-273D-CB47-8639-455785513734}"/>
                </a:ext>
              </a:extLst>
            </p:cNvPr>
            <p:cNvCxnSpPr>
              <a:cxnSpLocks/>
              <a:stCxn id="170" idx="6"/>
              <a:endCxn id="167" idx="2"/>
            </p:cNvCxnSpPr>
            <p:nvPr/>
          </p:nvCxnSpPr>
          <p:spPr>
            <a:xfrm flipV="1">
              <a:off x="6742863" y="1120397"/>
              <a:ext cx="528165" cy="2185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637236B-8B76-6F4E-BB68-64C03A8B7B29}"/>
                </a:ext>
              </a:extLst>
            </p:cNvPr>
            <p:cNvCxnSpPr>
              <a:cxnSpLocks/>
              <a:stCxn id="167" idx="6"/>
              <a:endCxn id="163" idx="2"/>
            </p:cNvCxnSpPr>
            <p:nvPr/>
          </p:nvCxnSpPr>
          <p:spPr>
            <a:xfrm flipV="1">
              <a:off x="7591068" y="873700"/>
              <a:ext cx="528165" cy="24669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3ED59E74-24B4-9E4C-A3DD-BCD65D3DC442}"/>
                </a:ext>
              </a:extLst>
            </p:cNvPr>
            <p:cNvCxnSpPr>
              <a:cxnSpLocks/>
              <a:stCxn id="167" idx="6"/>
              <a:endCxn id="162" idx="2"/>
            </p:cNvCxnSpPr>
            <p:nvPr/>
          </p:nvCxnSpPr>
          <p:spPr>
            <a:xfrm>
              <a:off x="7591068" y="1120397"/>
              <a:ext cx="528165" cy="1563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96C6CDD6-D611-E24B-A010-1500F90C3A34}"/>
                </a:ext>
              </a:extLst>
            </p:cNvPr>
            <p:cNvCxnSpPr>
              <a:cxnSpLocks/>
              <a:stCxn id="165" idx="6"/>
              <a:endCxn id="162" idx="2"/>
            </p:cNvCxnSpPr>
            <p:nvPr/>
          </p:nvCxnSpPr>
          <p:spPr>
            <a:xfrm flipV="1">
              <a:off x="7591068" y="1276720"/>
              <a:ext cx="528165" cy="2566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A426989A-CF52-8C4C-8D9B-2D39EF04E953}"/>
                </a:ext>
              </a:extLst>
            </p:cNvPr>
            <p:cNvCxnSpPr>
              <a:cxnSpLocks/>
              <a:stCxn id="165" idx="6"/>
              <a:endCxn id="147" idx="2"/>
            </p:cNvCxnSpPr>
            <p:nvPr/>
          </p:nvCxnSpPr>
          <p:spPr>
            <a:xfrm>
              <a:off x="7591068" y="1533322"/>
              <a:ext cx="528165" cy="1464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6B702A5-050B-9142-9BD2-F3A365846826}"/>
                </a:ext>
              </a:extLst>
            </p:cNvPr>
            <p:cNvCxnSpPr>
              <a:cxnSpLocks/>
              <a:stCxn id="164" idx="6"/>
              <a:endCxn id="147" idx="2"/>
            </p:cNvCxnSpPr>
            <p:nvPr/>
          </p:nvCxnSpPr>
          <p:spPr>
            <a:xfrm flipV="1">
              <a:off x="7591068" y="1679740"/>
              <a:ext cx="528165" cy="2665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D2BC0B61-E571-C94B-AECF-7B1EBAD7DE93}"/>
                </a:ext>
              </a:extLst>
            </p:cNvPr>
            <p:cNvCxnSpPr>
              <a:cxnSpLocks/>
              <a:stCxn id="164" idx="6"/>
              <a:endCxn id="146" idx="2"/>
            </p:cNvCxnSpPr>
            <p:nvPr/>
          </p:nvCxnSpPr>
          <p:spPr>
            <a:xfrm>
              <a:off x="7591068" y="1946247"/>
              <a:ext cx="528165" cy="1365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0BF4FF58-3555-AC45-AF36-8A46A94FEB73}"/>
                </a:ext>
              </a:extLst>
            </p:cNvPr>
            <p:cNvCxnSpPr>
              <a:cxnSpLocks/>
              <a:stCxn id="166" idx="6"/>
              <a:endCxn id="146" idx="2"/>
            </p:cNvCxnSpPr>
            <p:nvPr/>
          </p:nvCxnSpPr>
          <p:spPr>
            <a:xfrm flipV="1">
              <a:off x="7591068" y="2082760"/>
              <a:ext cx="528165" cy="2764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4763571-7D70-CD4B-8899-3BCC5B2DD271}"/>
                </a:ext>
              </a:extLst>
            </p:cNvPr>
            <p:cNvCxnSpPr>
              <a:cxnSpLocks/>
              <a:stCxn id="166" idx="6"/>
              <a:endCxn id="160" idx="2"/>
            </p:cNvCxnSpPr>
            <p:nvPr/>
          </p:nvCxnSpPr>
          <p:spPr>
            <a:xfrm>
              <a:off x="7591068" y="2359173"/>
              <a:ext cx="528165" cy="126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0D419B6D-6C8F-5245-98B3-A37BD3961C17}"/>
                </a:ext>
              </a:extLst>
            </p:cNvPr>
            <p:cNvSpPr txBox="1"/>
            <p:nvPr/>
          </p:nvSpPr>
          <p:spPr>
            <a:xfrm>
              <a:off x="6363610" y="162426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7A01424-E429-5044-AA53-7B6F2B095BC0}"/>
                </a:ext>
              </a:extLst>
            </p:cNvPr>
            <p:cNvSpPr txBox="1"/>
            <p:nvPr/>
          </p:nvSpPr>
          <p:spPr>
            <a:xfrm>
              <a:off x="6386991" y="2044272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A3290765-7BF3-D748-80A5-7F058CC6E9D2}"/>
                </a:ext>
              </a:extLst>
            </p:cNvPr>
            <p:cNvSpPr/>
            <p:nvPr/>
          </p:nvSpPr>
          <p:spPr>
            <a:xfrm>
              <a:off x="4920664" y="675612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6FC717C3-CAD7-D741-9E74-0B781DCC8B99}"/>
                </a:ext>
              </a:extLst>
            </p:cNvPr>
            <p:cNvSpPr/>
            <p:nvPr/>
          </p:nvSpPr>
          <p:spPr>
            <a:xfrm>
              <a:off x="4720475" y="1306864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FA890D97-6AA3-1A49-92D0-56C8490F902E}"/>
                </a:ext>
              </a:extLst>
            </p:cNvPr>
            <p:cNvSpPr/>
            <p:nvPr/>
          </p:nvSpPr>
          <p:spPr>
            <a:xfrm>
              <a:off x="8699504" y="1310245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7A60F67A-B2D1-3643-A2A6-DDCADC429F76}"/>
                </a:ext>
              </a:extLst>
            </p:cNvPr>
            <p:cNvSpPr/>
            <p:nvPr/>
          </p:nvSpPr>
          <p:spPr>
            <a:xfrm>
              <a:off x="8701912" y="1985447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DAF470CF-C1EA-DF4B-93C8-D3E4E06FBF10}"/>
                </a:ext>
              </a:extLst>
            </p:cNvPr>
            <p:cNvCxnSpPr>
              <a:cxnSpLocks/>
              <a:stCxn id="120" idx="7"/>
              <a:endCxn id="119" idx="4"/>
            </p:cNvCxnSpPr>
            <p:nvPr/>
          </p:nvCxnSpPr>
          <p:spPr>
            <a:xfrm flipV="1">
              <a:off x="4993646" y="995652"/>
              <a:ext cx="87038" cy="3580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D677BB73-DD75-CE42-A0CD-3271193330C0}"/>
                </a:ext>
              </a:extLst>
            </p:cNvPr>
            <p:cNvCxnSpPr>
              <a:cxnSpLocks/>
              <a:stCxn id="123" idx="4"/>
              <a:endCxn id="124" idx="0"/>
            </p:cNvCxnSpPr>
            <p:nvPr/>
          </p:nvCxnSpPr>
          <p:spPr>
            <a:xfrm>
              <a:off x="8859524" y="1630285"/>
              <a:ext cx="2408" cy="355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427DA0E9-F813-A04A-A0A9-F7164FC9B278}"/>
                </a:ext>
              </a:extLst>
            </p:cNvPr>
            <p:cNvSpPr/>
            <p:nvPr/>
          </p:nvSpPr>
          <p:spPr>
            <a:xfrm>
              <a:off x="5483590" y="797631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3FD72299-497D-F549-AD19-461204249A3D}"/>
                </a:ext>
              </a:extLst>
            </p:cNvPr>
            <p:cNvCxnSpPr>
              <a:cxnSpLocks/>
              <a:stCxn id="120" idx="6"/>
              <a:endCxn id="127" idx="3"/>
            </p:cNvCxnSpPr>
            <p:nvPr/>
          </p:nvCxnSpPr>
          <p:spPr>
            <a:xfrm flipV="1">
              <a:off x="5040515" y="1070802"/>
              <a:ext cx="489944" cy="3960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DDC32600-D39D-624D-81AC-6B19065B904E}"/>
                </a:ext>
              </a:extLst>
            </p:cNvPr>
            <p:cNvCxnSpPr>
              <a:cxnSpLocks/>
              <a:stCxn id="127" idx="2"/>
              <a:endCxn id="119" idx="5"/>
            </p:cNvCxnSpPr>
            <p:nvPr/>
          </p:nvCxnSpPr>
          <p:spPr>
            <a:xfrm flipH="1" flipV="1">
              <a:off x="5193835" y="948783"/>
              <a:ext cx="289755" cy="88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3568B7D-67E6-C849-AF3C-E566849EDFFE}"/>
                </a:ext>
              </a:extLst>
            </p:cNvPr>
            <p:cNvSpPr txBox="1"/>
            <p:nvPr/>
          </p:nvSpPr>
          <p:spPr>
            <a:xfrm>
              <a:off x="5515228" y="1414089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5608717-53C3-E942-8028-29479E901EBD}"/>
                </a:ext>
              </a:extLst>
            </p:cNvPr>
            <p:cNvSpPr txBox="1"/>
            <p:nvPr/>
          </p:nvSpPr>
          <p:spPr>
            <a:xfrm>
              <a:off x="5512308" y="191772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5817DAA-2ED6-3D4E-ABB5-A02A029B1FF9}"/>
                </a:ext>
              </a:extLst>
            </p:cNvPr>
            <p:cNvSpPr txBox="1"/>
            <p:nvPr/>
          </p:nvSpPr>
          <p:spPr>
            <a:xfrm>
              <a:off x="7218413" y="94865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793B06DC-01AA-404D-87D3-06F2539196C7}"/>
                </a:ext>
              </a:extLst>
            </p:cNvPr>
            <p:cNvSpPr txBox="1"/>
            <p:nvPr/>
          </p:nvSpPr>
          <p:spPr>
            <a:xfrm>
              <a:off x="7216496" y="136694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4820797-2018-C249-929B-85141DC70F02}"/>
                </a:ext>
              </a:extLst>
            </p:cNvPr>
            <p:cNvSpPr txBox="1"/>
            <p:nvPr/>
          </p:nvSpPr>
          <p:spPr>
            <a:xfrm>
              <a:off x="7200040" y="177330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985BE00-8708-6F49-B0D2-B02291519E89}"/>
                </a:ext>
              </a:extLst>
            </p:cNvPr>
            <p:cNvSpPr txBox="1"/>
            <p:nvPr/>
          </p:nvSpPr>
          <p:spPr>
            <a:xfrm>
              <a:off x="7215502" y="222117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4</a:t>
              </a:r>
              <a:endParaRPr lang="en-US" sz="1400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AC12965-1CCD-1F41-B0F5-28069C6CE48D}"/>
                </a:ext>
              </a:extLst>
            </p:cNvPr>
            <p:cNvSpPr txBox="1"/>
            <p:nvPr/>
          </p:nvSpPr>
          <p:spPr>
            <a:xfrm>
              <a:off x="8058083" y="70766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80DE7C46-FF26-E040-8DEC-A87276FCF7A2}"/>
                </a:ext>
              </a:extLst>
            </p:cNvPr>
            <p:cNvSpPr txBox="1"/>
            <p:nvPr/>
          </p:nvSpPr>
          <p:spPr>
            <a:xfrm>
              <a:off x="8071909" y="1113147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BA979FF-9D24-DA4E-B011-8E8A337CD269}"/>
                </a:ext>
              </a:extLst>
            </p:cNvPr>
            <p:cNvSpPr txBox="1"/>
            <p:nvPr/>
          </p:nvSpPr>
          <p:spPr>
            <a:xfrm>
              <a:off x="8084077" y="153292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1BA830E-C978-0E4B-88AF-7A056ADBF672}"/>
                </a:ext>
              </a:extLst>
            </p:cNvPr>
            <p:cNvSpPr txBox="1"/>
            <p:nvPr/>
          </p:nvSpPr>
          <p:spPr>
            <a:xfrm>
              <a:off x="8055628" y="192598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4</a:t>
              </a:r>
              <a:endParaRPr lang="en-US" sz="1400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BDBD91B5-5D62-0C4A-9C53-38D91E938F42}"/>
                </a:ext>
              </a:extLst>
            </p:cNvPr>
            <p:cNvSpPr txBox="1"/>
            <p:nvPr/>
          </p:nvSpPr>
          <p:spPr>
            <a:xfrm>
              <a:off x="8066329" y="231674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5</a:t>
              </a:r>
              <a:endParaRPr lang="en-US" sz="1400" dirty="0"/>
            </a:p>
          </p:txBody>
        </p:sp>
      </p:grpSp>
      <p:sp>
        <p:nvSpPr>
          <p:cNvPr id="173" name="Trapezoid 172">
            <a:extLst>
              <a:ext uri="{FF2B5EF4-FFF2-40B4-BE49-F238E27FC236}">
                <a16:creationId xmlns:a16="http://schemas.microsoft.com/office/drawing/2014/main" id="{33C05916-2A92-044F-AD9C-72AFE056DF2A}"/>
              </a:ext>
            </a:extLst>
          </p:cNvPr>
          <p:cNvSpPr/>
          <p:nvPr/>
        </p:nvSpPr>
        <p:spPr>
          <a:xfrm rot="16200000">
            <a:off x="5841927" y="242660"/>
            <a:ext cx="2266235" cy="3070956"/>
          </a:xfrm>
          <a:prstGeom prst="trapezoid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65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63504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3891" y="6588680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/>
              <a:t>27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8615-162E-0446-97BA-6A74199ED555}"/>
              </a:ext>
            </a:extLst>
          </p:cNvPr>
          <p:cNvSpPr txBox="1"/>
          <p:nvPr/>
        </p:nvSpPr>
        <p:spPr>
          <a:xfrm>
            <a:off x="24111" y="-10993"/>
            <a:ext cx="9258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latin typeface="Arial"/>
                <a:cs typeface="Arial"/>
              </a:rPr>
              <a:t>Further Value Repetitions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9F048F-F147-5749-86C5-32E21069966B}"/>
              </a:ext>
            </a:extLst>
          </p:cNvPr>
          <p:cNvGrpSpPr/>
          <p:nvPr/>
        </p:nvGrpSpPr>
        <p:grpSpPr>
          <a:xfrm>
            <a:off x="142032" y="683971"/>
            <a:ext cx="4507234" cy="922560"/>
            <a:chOff x="220440" y="1015608"/>
            <a:chExt cx="4507234" cy="92256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0527AC-CAF8-7148-B2D3-489FAD2D3331}"/>
                </a:ext>
              </a:extLst>
            </p:cNvPr>
            <p:cNvSpPr txBox="1"/>
            <p:nvPr/>
          </p:nvSpPr>
          <p:spPr>
            <a:xfrm>
              <a:off x="220440" y="1015608"/>
              <a:ext cx="4507234" cy="922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MATCH </a:t>
              </a:r>
            </a:p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WHERE </a:t>
              </a:r>
              <a:r>
                <a:rPr lang="en-US" sz="1900" dirty="0" err="1">
                  <a:latin typeface="Consolas"/>
                  <a:cs typeface="Consolas"/>
                </a:rPr>
                <a:t>a.cntr</a:t>
              </a:r>
              <a:r>
                <a:rPr lang="en-US" sz="1900" dirty="0">
                  <a:latin typeface="Consolas"/>
                  <a:cs typeface="Consolas"/>
                </a:rPr>
                <a:t>=‘US’ &amp; </a:t>
              </a:r>
              <a:r>
                <a:rPr lang="en-US" sz="1900" dirty="0" err="1">
                  <a:latin typeface="Consolas"/>
                  <a:cs typeface="Consolas"/>
                </a:rPr>
                <a:t>e.cntr</a:t>
              </a:r>
              <a:r>
                <a:rPr lang="en-US" sz="1900" dirty="0">
                  <a:latin typeface="Consolas"/>
                  <a:cs typeface="Consolas"/>
                </a:rPr>
                <a:t>=‘CAD’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93845A2-EA63-2A48-96FB-89A8BDD09BE2}"/>
                </a:ext>
              </a:extLst>
            </p:cNvPr>
            <p:cNvSpPr/>
            <p:nvPr/>
          </p:nvSpPr>
          <p:spPr>
            <a:xfrm>
              <a:off x="1311894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A3F555-B73D-D74F-84F0-069B0C51A236}"/>
                </a:ext>
              </a:extLst>
            </p:cNvPr>
            <p:cNvSpPr/>
            <p:nvPr/>
          </p:nvSpPr>
          <p:spPr>
            <a:xfrm>
              <a:off x="1962543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5AA706A-0088-3742-ABA8-E262BEC52B17}"/>
                </a:ext>
              </a:extLst>
            </p:cNvPr>
            <p:cNvSpPr/>
            <p:nvPr/>
          </p:nvSpPr>
          <p:spPr>
            <a:xfrm>
              <a:off x="2613192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7CB77D0-F2C2-BB44-B3E6-C4B9BE0FB2BA}"/>
                </a:ext>
              </a:extLst>
            </p:cNvPr>
            <p:cNvCxnSpPr>
              <a:cxnSpLocks/>
              <a:stCxn id="5" idx="6"/>
              <a:endCxn id="17" idx="2"/>
            </p:cNvCxnSpPr>
            <p:nvPr/>
          </p:nvCxnSpPr>
          <p:spPr>
            <a:xfrm>
              <a:off x="1650222" y="1338188"/>
              <a:ext cx="312321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6A49FF7-EF66-6C49-AF9F-B02D0CA44C23}"/>
                </a:ext>
              </a:extLst>
            </p:cNvPr>
            <p:cNvCxnSpPr>
              <a:cxnSpLocks/>
              <a:stCxn id="17" idx="6"/>
              <a:endCxn id="18" idx="2"/>
            </p:cNvCxnSpPr>
            <p:nvPr/>
          </p:nvCxnSpPr>
          <p:spPr>
            <a:xfrm>
              <a:off x="2300871" y="1338188"/>
              <a:ext cx="312321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8386AFD-2383-1440-B34F-BF31FBD94355}"/>
                </a:ext>
              </a:extLst>
            </p:cNvPr>
            <p:cNvSpPr/>
            <p:nvPr/>
          </p:nvSpPr>
          <p:spPr>
            <a:xfrm>
              <a:off x="3263842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E2EB08A-3140-4F42-B9D8-81DEB9300D66}"/>
                </a:ext>
              </a:extLst>
            </p:cNvPr>
            <p:cNvCxnSpPr>
              <a:cxnSpLocks/>
              <a:stCxn id="18" idx="6"/>
              <a:endCxn id="61" idx="2"/>
            </p:cNvCxnSpPr>
            <p:nvPr/>
          </p:nvCxnSpPr>
          <p:spPr>
            <a:xfrm>
              <a:off x="2951520" y="1338188"/>
              <a:ext cx="312322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7083A86C-AE3F-B544-9C3A-2D571BEA62E0}"/>
              </a:ext>
            </a:extLst>
          </p:cNvPr>
          <p:cNvGrpSpPr/>
          <p:nvPr/>
        </p:nvGrpSpPr>
        <p:grpSpPr>
          <a:xfrm>
            <a:off x="212022" y="2325761"/>
            <a:ext cx="5050745" cy="640080"/>
            <a:chOff x="2181026" y="2593037"/>
            <a:chExt cx="5050745" cy="640080"/>
          </a:xfrm>
        </p:grpSpPr>
        <p:sp>
          <p:nvSpPr>
            <p:cNvPr id="200" name="Rounded Rectangle 199">
              <a:extLst>
                <a:ext uri="{FF2B5EF4-FFF2-40B4-BE49-F238E27FC236}">
                  <a16:creationId xmlns:a16="http://schemas.microsoft.com/office/drawing/2014/main" id="{23D11F47-D2B8-264D-8216-B7F55A32B7C7}"/>
                </a:ext>
              </a:extLst>
            </p:cNvPr>
            <p:cNvSpPr/>
            <p:nvPr/>
          </p:nvSpPr>
          <p:spPr>
            <a:xfrm>
              <a:off x="2181026" y="2593801"/>
              <a:ext cx="1272321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(a)</a:t>
              </a:r>
            </a:p>
            <a:p>
              <a:pPr algn="ctr"/>
              <a:r>
                <a:rPr lang="en-US" sz="1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cntr</a:t>
              </a:r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=`US’</a:t>
              </a:r>
            </a:p>
          </p:txBody>
        </p:sp>
        <p:sp>
          <p:nvSpPr>
            <p:cNvPr id="201" name="Rounded Rectangle 200">
              <a:extLst>
                <a:ext uri="{FF2B5EF4-FFF2-40B4-BE49-F238E27FC236}">
                  <a16:creationId xmlns:a16="http://schemas.microsoft.com/office/drawing/2014/main" id="{26BFA326-269B-BD44-8B8B-F533CA3EEF74}"/>
                </a:ext>
              </a:extLst>
            </p:cNvPr>
            <p:cNvSpPr/>
            <p:nvPr/>
          </p:nvSpPr>
          <p:spPr>
            <a:xfrm>
              <a:off x="3714907" y="2593037"/>
              <a:ext cx="986868" cy="640080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(b)</a:t>
              </a:r>
            </a:p>
          </p:txBody>
        </p: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2A89FFDD-5DCB-BC45-8702-F3E57C543555}"/>
                </a:ext>
              </a:extLst>
            </p:cNvPr>
            <p:cNvCxnSpPr>
              <a:cxnSpLocks/>
              <a:stCxn id="200" idx="3"/>
              <a:endCxn id="201" idx="1"/>
            </p:cNvCxnSpPr>
            <p:nvPr/>
          </p:nvCxnSpPr>
          <p:spPr>
            <a:xfrm flipV="1">
              <a:off x="3453347" y="2913077"/>
              <a:ext cx="261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CCC81B37-A2E7-6F41-9992-59967E5C9F42}"/>
                </a:ext>
              </a:extLst>
            </p:cNvPr>
            <p:cNvSpPr/>
            <p:nvPr/>
          </p:nvSpPr>
          <p:spPr>
            <a:xfrm>
              <a:off x="5029345" y="2593801"/>
              <a:ext cx="987552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(c)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1D3FD4A6-C16B-B04F-AF88-6B1E9A2983CC}"/>
                </a:ext>
              </a:extLst>
            </p:cNvPr>
            <p:cNvCxnSpPr>
              <a:cxnSpLocks/>
              <a:stCxn id="201" idx="3"/>
              <a:endCxn id="203" idx="1"/>
            </p:cNvCxnSpPr>
            <p:nvPr/>
          </p:nvCxnSpPr>
          <p:spPr>
            <a:xfrm>
              <a:off x="4701775" y="2913077"/>
              <a:ext cx="32757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Rounded Rectangle 208">
              <a:extLst>
                <a:ext uri="{FF2B5EF4-FFF2-40B4-BE49-F238E27FC236}">
                  <a16:creationId xmlns:a16="http://schemas.microsoft.com/office/drawing/2014/main" id="{23651AFD-1542-B242-9230-71855C31B33D}"/>
                </a:ext>
              </a:extLst>
            </p:cNvPr>
            <p:cNvSpPr/>
            <p:nvPr/>
          </p:nvSpPr>
          <p:spPr>
            <a:xfrm>
              <a:off x="6244219" y="2593801"/>
              <a:ext cx="987552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(d)</a:t>
              </a: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F2CD929E-FC5F-B844-957F-190330FD67CE}"/>
                </a:ext>
              </a:extLst>
            </p:cNvPr>
            <p:cNvCxnSpPr>
              <a:cxnSpLocks/>
              <a:stCxn id="203" idx="3"/>
              <a:endCxn id="209" idx="1"/>
            </p:cNvCxnSpPr>
            <p:nvPr/>
          </p:nvCxnSpPr>
          <p:spPr>
            <a:xfrm>
              <a:off x="6016897" y="2913078"/>
              <a:ext cx="22732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16" name="Table 5">
            <a:extLst>
              <a:ext uri="{FF2B5EF4-FFF2-40B4-BE49-F238E27FC236}">
                <a16:creationId xmlns:a16="http://schemas.microsoft.com/office/drawing/2014/main" id="{711D87CF-56AF-E840-B19E-A4BF253915DF}"/>
              </a:ext>
            </a:extLst>
          </p:cNvPr>
          <p:cNvGraphicFramePr>
            <a:graphicFrameLocks noGrp="1"/>
          </p:cNvGraphicFramePr>
          <p:nvPr/>
        </p:nvGraphicFramePr>
        <p:xfrm>
          <a:off x="289454" y="3407751"/>
          <a:ext cx="4784229" cy="296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8179">
                  <a:extLst>
                    <a:ext uri="{9D8B030D-6E8A-4147-A177-3AD203B41FA5}">
                      <a16:colId xmlns:a16="http://schemas.microsoft.com/office/drawing/2014/main" val="4052512296"/>
                    </a:ext>
                  </a:extLst>
                </a:gridCol>
                <a:gridCol w="219668">
                  <a:extLst>
                    <a:ext uri="{9D8B030D-6E8A-4147-A177-3AD203B41FA5}">
                      <a16:colId xmlns:a16="http://schemas.microsoft.com/office/drawing/2014/main" val="400113096"/>
                    </a:ext>
                  </a:extLst>
                </a:gridCol>
                <a:gridCol w="893831">
                  <a:extLst>
                    <a:ext uri="{9D8B030D-6E8A-4147-A177-3AD203B41FA5}">
                      <a16:colId xmlns:a16="http://schemas.microsoft.com/office/drawing/2014/main" val="4248055157"/>
                    </a:ext>
                  </a:extLst>
                </a:gridCol>
                <a:gridCol w="274047">
                  <a:extLst>
                    <a:ext uri="{9D8B030D-6E8A-4147-A177-3AD203B41FA5}">
                      <a16:colId xmlns:a16="http://schemas.microsoft.com/office/drawing/2014/main" val="3025983691"/>
                    </a:ext>
                  </a:extLst>
                </a:gridCol>
                <a:gridCol w="908594">
                  <a:extLst>
                    <a:ext uri="{9D8B030D-6E8A-4147-A177-3AD203B41FA5}">
                      <a16:colId xmlns:a16="http://schemas.microsoft.com/office/drawing/2014/main" val="24072432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555914099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228984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73077"/>
                  </a:ext>
                </a:extLst>
              </a:tr>
              <a:tr h="143107">
                <a:tc gridSpan="7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90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422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6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826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02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975258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174230"/>
                  </a:ext>
                </a:extLst>
              </a:tr>
            </a:tbl>
          </a:graphicData>
        </a:graphic>
      </p:graphicFrame>
      <p:sp>
        <p:nvSpPr>
          <p:cNvPr id="217" name="Rectangle 216">
            <a:extLst>
              <a:ext uri="{FF2B5EF4-FFF2-40B4-BE49-F238E27FC236}">
                <a16:creationId xmlns:a16="http://schemas.microsoft.com/office/drawing/2014/main" id="{F9899835-C961-FF41-A466-6B1A703F4FDB}"/>
              </a:ext>
            </a:extLst>
          </p:cNvPr>
          <p:cNvSpPr/>
          <p:nvPr/>
        </p:nvSpPr>
        <p:spPr>
          <a:xfrm>
            <a:off x="1571814" y="6330410"/>
            <a:ext cx="2346956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kern="0" dirty="0">
                <a:solidFill>
                  <a:srgbClr val="0000CC"/>
                </a:solidFill>
                <a:latin typeface="Arial"/>
                <a:cs typeface="Arial"/>
              </a:rPr>
              <a:t>F-Representation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31E4E229-183F-6748-A632-591C5A9E0BE2}"/>
              </a:ext>
            </a:extLst>
          </p:cNvPr>
          <p:cNvSpPr txBox="1"/>
          <p:nvPr/>
        </p:nvSpPr>
        <p:spPr>
          <a:xfrm>
            <a:off x="329858" y="3040275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BC85584D-56CB-C245-9403-B9E4D714F8F8}"/>
              </a:ext>
            </a:extLst>
          </p:cNvPr>
          <p:cNvSpPr txBox="1"/>
          <p:nvPr/>
        </p:nvSpPr>
        <p:spPr>
          <a:xfrm>
            <a:off x="1424049" y="3042061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LG2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5E2059A-AF3B-3641-B0A8-992A7EA23133}"/>
              </a:ext>
            </a:extLst>
          </p:cNvPr>
          <p:cNvSpPr txBox="1"/>
          <p:nvPr/>
        </p:nvSpPr>
        <p:spPr>
          <a:xfrm>
            <a:off x="2590580" y="3040275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LG3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2213690-EA2C-694A-8A6C-C94B20004738}"/>
              </a:ext>
            </a:extLst>
          </p:cNvPr>
          <p:cNvSpPr txBox="1"/>
          <p:nvPr/>
        </p:nvSpPr>
        <p:spPr>
          <a:xfrm>
            <a:off x="4079965" y="3038419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LG4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0DB32E95-A40F-1E42-A09A-C75F43E31442}"/>
              </a:ext>
            </a:extLst>
          </p:cNvPr>
          <p:cNvSpPr/>
          <p:nvPr/>
        </p:nvSpPr>
        <p:spPr>
          <a:xfrm>
            <a:off x="8304" y="1674923"/>
            <a:ext cx="5112822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Most compact output: relevant subgraph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F948A181-8DEA-5C4D-9E20-0D8314540AD0}"/>
              </a:ext>
            </a:extLst>
          </p:cNvPr>
          <p:cNvSpPr/>
          <p:nvPr/>
        </p:nvSpPr>
        <p:spPr>
          <a:xfrm>
            <a:off x="1205350" y="4505172"/>
            <a:ext cx="3840197" cy="770212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D9A1164-40B0-AC4F-9E28-0D5AC8AE8715}"/>
              </a:ext>
            </a:extLst>
          </p:cNvPr>
          <p:cNvGrpSpPr/>
          <p:nvPr/>
        </p:nvGrpSpPr>
        <p:grpSpPr>
          <a:xfrm>
            <a:off x="4720475" y="675612"/>
            <a:ext cx="4301477" cy="1970189"/>
            <a:chOff x="4720475" y="675612"/>
            <a:chExt cx="4301477" cy="1970189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3245331-01FE-B14B-9957-076888528A6A}"/>
                </a:ext>
              </a:extLst>
            </p:cNvPr>
            <p:cNvSpPr txBox="1"/>
            <p:nvPr/>
          </p:nvSpPr>
          <p:spPr>
            <a:xfrm>
              <a:off x="6362293" y="1205269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CFAE6272-90EF-EE47-8FCD-138A60801D08}"/>
                </a:ext>
              </a:extLst>
            </p:cNvPr>
            <p:cNvCxnSpPr>
              <a:cxnSpLocks/>
              <a:stCxn id="170" idx="6"/>
              <a:endCxn id="164" idx="2"/>
            </p:cNvCxnSpPr>
            <p:nvPr/>
          </p:nvCxnSpPr>
          <p:spPr>
            <a:xfrm flipV="1">
              <a:off x="6742863" y="1533322"/>
              <a:ext cx="528165" cy="2383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3031A93B-0E09-684B-A556-F43260627583}"/>
                </a:ext>
              </a:extLst>
            </p:cNvPr>
            <p:cNvCxnSpPr>
              <a:cxnSpLocks/>
              <a:stCxn id="170" idx="6"/>
              <a:endCxn id="163" idx="2"/>
            </p:cNvCxnSpPr>
            <p:nvPr/>
          </p:nvCxnSpPr>
          <p:spPr>
            <a:xfrm>
              <a:off x="6742863" y="1771694"/>
              <a:ext cx="528165" cy="17455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042E0D8-1E07-5147-B185-1D6CCDE4AEEB}"/>
                </a:ext>
              </a:extLst>
            </p:cNvPr>
            <p:cNvCxnSpPr>
              <a:cxnSpLocks/>
              <a:stCxn id="167" idx="6"/>
              <a:endCxn id="170" idx="2"/>
            </p:cNvCxnSpPr>
            <p:nvPr/>
          </p:nvCxnSpPr>
          <p:spPr>
            <a:xfrm>
              <a:off x="5889790" y="1571587"/>
              <a:ext cx="533033" cy="2001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3C8B748-2270-E149-9C93-EBF8D2E0C518}"/>
                </a:ext>
              </a:extLst>
            </p:cNvPr>
            <p:cNvGrpSpPr/>
            <p:nvPr/>
          </p:nvGrpSpPr>
          <p:grpSpPr>
            <a:xfrm>
              <a:off x="6417955" y="1178938"/>
              <a:ext cx="324908" cy="1185512"/>
              <a:chOff x="5584299" y="2004314"/>
              <a:chExt cx="324908" cy="1185512"/>
            </a:xfrm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D6069B69-A673-EF47-B0F6-2E1C80F8D8D3}"/>
                  </a:ext>
                </a:extLst>
              </p:cNvPr>
              <p:cNvSpPr/>
              <p:nvPr/>
            </p:nvSpPr>
            <p:spPr>
              <a:xfrm>
                <a:off x="5589167" y="2004314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ED54BC23-1241-8B43-B0ED-CA172427CF14}"/>
                  </a:ext>
                </a:extLst>
              </p:cNvPr>
              <p:cNvSpPr/>
              <p:nvPr/>
            </p:nvSpPr>
            <p:spPr>
              <a:xfrm>
                <a:off x="5589167" y="243705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AC3BC85D-6426-FA49-BCFA-CB1D114C62AE}"/>
                  </a:ext>
                </a:extLst>
              </p:cNvPr>
              <p:cNvSpPr/>
              <p:nvPr/>
            </p:nvSpPr>
            <p:spPr>
              <a:xfrm>
                <a:off x="5584299" y="2869786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51D1C77-13E3-1549-B29A-A221EA410AAB}"/>
                </a:ext>
              </a:extLst>
            </p:cNvPr>
            <p:cNvGrpSpPr/>
            <p:nvPr/>
          </p:nvGrpSpPr>
          <p:grpSpPr>
            <a:xfrm>
              <a:off x="5569750" y="1411567"/>
              <a:ext cx="320040" cy="812208"/>
              <a:chOff x="4781952" y="2251011"/>
              <a:chExt cx="320040" cy="812208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44B21E66-3112-1E4D-997B-4954B3133897}"/>
                  </a:ext>
                </a:extLst>
              </p:cNvPr>
              <p:cNvSpPr/>
              <p:nvPr/>
            </p:nvSpPr>
            <p:spPr>
              <a:xfrm>
                <a:off x="4781952" y="2251011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00B0F0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D53ECB51-6DB2-5A42-9580-F59B19B491C0}"/>
                  </a:ext>
                </a:extLst>
              </p:cNvPr>
              <p:cNvSpPr/>
              <p:nvPr/>
            </p:nvSpPr>
            <p:spPr>
              <a:xfrm>
                <a:off x="4781952" y="2743179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00B0F0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FDC174B6-F90E-C74B-87D1-56F3FECDFFDB}"/>
                </a:ext>
              </a:extLst>
            </p:cNvPr>
            <p:cNvCxnSpPr>
              <a:cxnSpLocks/>
              <a:stCxn id="168" idx="6"/>
              <a:endCxn id="170" idx="2"/>
            </p:cNvCxnSpPr>
            <p:nvPr/>
          </p:nvCxnSpPr>
          <p:spPr>
            <a:xfrm flipV="1">
              <a:off x="5889790" y="1771694"/>
              <a:ext cx="533033" cy="2920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9AD25435-AE56-7E47-BD95-F745A64DBCBF}"/>
                </a:ext>
              </a:extLst>
            </p:cNvPr>
            <p:cNvCxnSpPr>
              <a:cxnSpLocks/>
              <a:stCxn id="168" idx="6"/>
              <a:endCxn id="171" idx="2"/>
            </p:cNvCxnSpPr>
            <p:nvPr/>
          </p:nvCxnSpPr>
          <p:spPr>
            <a:xfrm>
              <a:off x="5889790" y="2063755"/>
              <a:ext cx="528165" cy="1406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AE25A8E2-27C0-3F44-8E94-F6772EE6BD64}"/>
                </a:ext>
              </a:extLst>
            </p:cNvPr>
            <p:cNvCxnSpPr>
              <a:cxnSpLocks/>
              <a:stCxn id="171" idx="6"/>
              <a:endCxn id="163" idx="2"/>
            </p:cNvCxnSpPr>
            <p:nvPr/>
          </p:nvCxnSpPr>
          <p:spPr>
            <a:xfrm flipV="1">
              <a:off x="6737995" y="1946247"/>
              <a:ext cx="533033" cy="2581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83626AA1-DF6C-CE4D-BC26-763DDA90B896}"/>
                </a:ext>
              </a:extLst>
            </p:cNvPr>
            <p:cNvCxnSpPr>
              <a:cxnSpLocks/>
              <a:stCxn id="171" idx="6"/>
              <a:endCxn id="165" idx="2"/>
            </p:cNvCxnSpPr>
            <p:nvPr/>
          </p:nvCxnSpPr>
          <p:spPr>
            <a:xfrm>
              <a:off x="6737995" y="2204430"/>
              <a:ext cx="533033" cy="1547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F500EA54-B387-B847-A4F3-83C80C484491}"/>
                </a:ext>
              </a:extLst>
            </p:cNvPr>
            <p:cNvCxnSpPr>
              <a:cxnSpLocks/>
              <a:stCxn id="167" idx="6"/>
              <a:endCxn id="169" idx="3"/>
            </p:cNvCxnSpPr>
            <p:nvPr/>
          </p:nvCxnSpPr>
          <p:spPr>
            <a:xfrm flipV="1">
              <a:off x="5889790" y="1452109"/>
              <a:ext cx="579902" cy="11947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36EA29C6-0593-A647-90D4-2D98AA9466A9}"/>
                </a:ext>
              </a:extLst>
            </p:cNvPr>
            <p:cNvGrpSpPr/>
            <p:nvPr/>
          </p:nvGrpSpPr>
          <p:grpSpPr>
            <a:xfrm>
              <a:off x="7271028" y="960377"/>
              <a:ext cx="320040" cy="1558816"/>
              <a:chOff x="6223601" y="1757617"/>
              <a:chExt cx="320040" cy="1558816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F68D6BBA-3F8B-6E45-B35C-8FE5DAA3BB5C}"/>
                  </a:ext>
                </a:extLst>
              </p:cNvPr>
              <p:cNvSpPr/>
              <p:nvPr/>
            </p:nvSpPr>
            <p:spPr>
              <a:xfrm>
                <a:off x="6223601" y="2583467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A0AEF128-AD23-9D4D-A877-65F0BEF60DED}"/>
                  </a:ext>
                </a:extLst>
              </p:cNvPr>
              <p:cNvSpPr/>
              <p:nvPr/>
            </p:nvSpPr>
            <p:spPr>
              <a:xfrm>
                <a:off x="6223601" y="2170542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4DF158F9-E79F-1245-8E77-4DAA670FCA02}"/>
                  </a:ext>
                </a:extLst>
              </p:cNvPr>
              <p:cNvSpPr/>
              <p:nvPr/>
            </p:nvSpPr>
            <p:spPr>
              <a:xfrm>
                <a:off x="6223601" y="2996393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F2113118-D8FB-3743-9D8B-AFB11BE35CEA}"/>
                  </a:ext>
                </a:extLst>
              </p:cNvPr>
              <p:cNvSpPr/>
              <p:nvPr/>
            </p:nvSpPr>
            <p:spPr>
              <a:xfrm>
                <a:off x="6223601" y="1757617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DD61519B-06F1-6340-8A85-23A7A2775272}"/>
                </a:ext>
              </a:extLst>
            </p:cNvPr>
            <p:cNvGrpSpPr/>
            <p:nvPr/>
          </p:nvGrpSpPr>
          <p:grpSpPr>
            <a:xfrm>
              <a:off x="8119233" y="713680"/>
              <a:ext cx="320040" cy="1932121"/>
              <a:chOff x="6895336" y="1510920"/>
              <a:chExt cx="320040" cy="1932121"/>
            </a:xfrm>
          </p:grpSpPr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0AA60B16-D10E-4A46-94B9-EA3947D63F99}"/>
                  </a:ext>
                </a:extLst>
              </p:cNvPr>
              <p:cNvSpPr/>
              <p:nvPr/>
            </p:nvSpPr>
            <p:spPr>
              <a:xfrm>
                <a:off x="6895336" y="271998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6804C48-0739-4748-80A4-667B10DE3A7A}"/>
                  </a:ext>
                </a:extLst>
              </p:cNvPr>
              <p:cNvSpPr/>
              <p:nvPr/>
            </p:nvSpPr>
            <p:spPr>
              <a:xfrm>
                <a:off x="6895336" y="231696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CCC27CD8-2B9A-DA48-8255-473A6259AC9B}"/>
                  </a:ext>
                </a:extLst>
              </p:cNvPr>
              <p:cNvSpPr/>
              <p:nvPr/>
            </p:nvSpPr>
            <p:spPr>
              <a:xfrm>
                <a:off x="6895336" y="3123001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7F1429C2-ABD7-A14C-A114-E5FBC2F1CEDC}"/>
                  </a:ext>
                </a:extLst>
              </p:cNvPr>
              <p:cNvSpPr/>
              <p:nvPr/>
            </p:nvSpPr>
            <p:spPr>
              <a:xfrm>
                <a:off x="6895336" y="191394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56943EBC-122C-EB4D-9A89-5B73632F6C0B}"/>
                  </a:ext>
                </a:extLst>
              </p:cNvPr>
              <p:cNvSpPr/>
              <p:nvPr/>
            </p:nvSpPr>
            <p:spPr>
              <a:xfrm>
                <a:off x="6895336" y="151092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7A0DB973-BE01-C04E-A93D-139E2163C39E}"/>
                </a:ext>
              </a:extLst>
            </p:cNvPr>
            <p:cNvCxnSpPr>
              <a:cxnSpLocks/>
              <a:stCxn id="169" idx="6"/>
              <a:endCxn id="164" idx="2"/>
            </p:cNvCxnSpPr>
            <p:nvPr/>
          </p:nvCxnSpPr>
          <p:spPr>
            <a:xfrm>
              <a:off x="6742863" y="1338958"/>
              <a:ext cx="528165" cy="1943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8E9BAA57-21E9-7842-88FB-1F1FDCD19682}"/>
                </a:ext>
              </a:extLst>
            </p:cNvPr>
            <p:cNvCxnSpPr>
              <a:cxnSpLocks/>
              <a:stCxn id="169" idx="6"/>
              <a:endCxn id="166" idx="2"/>
            </p:cNvCxnSpPr>
            <p:nvPr/>
          </p:nvCxnSpPr>
          <p:spPr>
            <a:xfrm flipV="1">
              <a:off x="6742863" y="1120397"/>
              <a:ext cx="528165" cy="2185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0753296F-A855-8047-9442-EEBBD55C8666}"/>
                </a:ext>
              </a:extLst>
            </p:cNvPr>
            <p:cNvCxnSpPr>
              <a:cxnSpLocks/>
              <a:stCxn id="166" idx="6"/>
              <a:endCxn id="162" idx="2"/>
            </p:cNvCxnSpPr>
            <p:nvPr/>
          </p:nvCxnSpPr>
          <p:spPr>
            <a:xfrm flipV="1">
              <a:off x="7591068" y="873700"/>
              <a:ext cx="528165" cy="24669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98098AE7-9B26-AD48-9628-6684BB79BE8F}"/>
                </a:ext>
              </a:extLst>
            </p:cNvPr>
            <p:cNvCxnSpPr>
              <a:cxnSpLocks/>
              <a:stCxn id="166" idx="6"/>
              <a:endCxn id="160" idx="2"/>
            </p:cNvCxnSpPr>
            <p:nvPr/>
          </p:nvCxnSpPr>
          <p:spPr>
            <a:xfrm>
              <a:off x="7591068" y="1120397"/>
              <a:ext cx="528165" cy="1563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32A0716D-769E-A544-8125-7DBC91125459}"/>
                </a:ext>
              </a:extLst>
            </p:cNvPr>
            <p:cNvCxnSpPr>
              <a:cxnSpLocks/>
              <a:stCxn id="164" idx="6"/>
              <a:endCxn id="160" idx="2"/>
            </p:cNvCxnSpPr>
            <p:nvPr/>
          </p:nvCxnSpPr>
          <p:spPr>
            <a:xfrm flipV="1">
              <a:off x="7591068" y="1276720"/>
              <a:ext cx="528165" cy="2566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ECE628D4-F78F-C949-B98C-626D0C617086}"/>
                </a:ext>
              </a:extLst>
            </p:cNvPr>
            <p:cNvCxnSpPr>
              <a:cxnSpLocks/>
              <a:stCxn id="164" idx="6"/>
              <a:endCxn id="146" idx="2"/>
            </p:cNvCxnSpPr>
            <p:nvPr/>
          </p:nvCxnSpPr>
          <p:spPr>
            <a:xfrm>
              <a:off x="7591068" y="1533322"/>
              <a:ext cx="528165" cy="1464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FF8742FB-9AF3-CB49-ADEB-C930AF0274CC}"/>
                </a:ext>
              </a:extLst>
            </p:cNvPr>
            <p:cNvCxnSpPr>
              <a:cxnSpLocks/>
              <a:stCxn id="163" idx="6"/>
              <a:endCxn id="146" idx="2"/>
            </p:cNvCxnSpPr>
            <p:nvPr/>
          </p:nvCxnSpPr>
          <p:spPr>
            <a:xfrm flipV="1">
              <a:off x="7591068" y="1679740"/>
              <a:ext cx="528165" cy="2665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FC0BEE44-ABA0-C24F-9D19-C325C851A0E4}"/>
                </a:ext>
              </a:extLst>
            </p:cNvPr>
            <p:cNvCxnSpPr>
              <a:cxnSpLocks/>
              <a:stCxn id="163" idx="6"/>
              <a:endCxn id="145" idx="2"/>
            </p:cNvCxnSpPr>
            <p:nvPr/>
          </p:nvCxnSpPr>
          <p:spPr>
            <a:xfrm>
              <a:off x="7591068" y="1946247"/>
              <a:ext cx="528165" cy="1365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8999B78F-8B32-9946-B990-BFF5D748FCAA}"/>
                </a:ext>
              </a:extLst>
            </p:cNvPr>
            <p:cNvCxnSpPr>
              <a:cxnSpLocks/>
              <a:stCxn id="165" idx="6"/>
              <a:endCxn id="145" idx="2"/>
            </p:cNvCxnSpPr>
            <p:nvPr/>
          </p:nvCxnSpPr>
          <p:spPr>
            <a:xfrm flipV="1">
              <a:off x="7591068" y="2082760"/>
              <a:ext cx="528165" cy="2764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1FD8387B-00FB-294B-910D-D8A9603ABD58}"/>
                </a:ext>
              </a:extLst>
            </p:cNvPr>
            <p:cNvCxnSpPr>
              <a:cxnSpLocks/>
              <a:stCxn id="165" idx="6"/>
              <a:endCxn id="147" idx="2"/>
            </p:cNvCxnSpPr>
            <p:nvPr/>
          </p:nvCxnSpPr>
          <p:spPr>
            <a:xfrm>
              <a:off x="7591068" y="2359173"/>
              <a:ext cx="528165" cy="126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F0912CF-7CAC-F84E-BEBE-BEC5498E9051}"/>
                </a:ext>
              </a:extLst>
            </p:cNvPr>
            <p:cNvSpPr txBox="1"/>
            <p:nvPr/>
          </p:nvSpPr>
          <p:spPr>
            <a:xfrm>
              <a:off x="6363610" y="162426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DCE0771-D507-824B-8193-922BE8715ABC}"/>
                </a:ext>
              </a:extLst>
            </p:cNvPr>
            <p:cNvSpPr txBox="1"/>
            <p:nvPr/>
          </p:nvSpPr>
          <p:spPr>
            <a:xfrm>
              <a:off x="6386991" y="2044272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B6A86884-FB42-FB42-BF6D-7B8BEA4355E5}"/>
                </a:ext>
              </a:extLst>
            </p:cNvPr>
            <p:cNvSpPr/>
            <p:nvPr/>
          </p:nvSpPr>
          <p:spPr>
            <a:xfrm>
              <a:off x="4920664" y="675612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5210E2CA-23B5-B34B-921D-EFE3A3A4919F}"/>
                </a:ext>
              </a:extLst>
            </p:cNvPr>
            <p:cNvSpPr/>
            <p:nvPr/>
          </p:nvSpPr>
          <p:spPr>
            <a:xfrm>
              <a:off x="4720475" y="1306864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CF2672F-748E-7F4B-B858-5CAFC774678A}"/>
                </a:ext>
              </a:extLst>
            </p:cNvPr>
            <p:cNvSpPr/>
            <p:nvPr/>
          </p:nvSpPr>
          <p:spPr>
            <a:xfrm>
              <a:off x="8699504" y="1310245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8C1392AD-398C-0A40-A646-B1EA4F121CE0}"/>
                </a:ext>
              </a:extLst>
            </p:cNvPr>
            <p:cNvSpPr/>
            <p:nvPr/>
          </p:nvSpPr>
          <p:spPr>
            <a:xfrm>
              <a:off x="8701912" y="1985447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4D686E41-73F0-6E49-A90B-67F2ED53F515}"/>
                </a:ext>
              </a:extLst>
            </p:cNvPr>
            <p:cNvCxnSpPr>
              <a:cxnSpLocks/>
              <a:stCxn id="119" idx="7"/>
              <a:endCxn id="118" idx="4"/>
            </p:cNvCxnSpPr>
            <p:nvPr/>
          </p:nvCxnSpPr>
          <p:spPr>
            <a:xfrm flipV="1">
              <a:off x="4993646" y="995652"/>
              <a:ext cx="87038" cy="3580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67A94539-F742-5D4E-A2AD-D254FF1FCEAA}"/>
                </a:ext>
              </a:extLst>
            </p:cNvPr>
            <p:cNvCxnSpPr>
              <a:cxnSpLocks/>
              <a:stCxn id="120" idx="4"/>
              <a:endCxn id="123" idx="0"/>
            </p:cNvCxnSpPr>
            <p:nvPr/>
          </p:nvCxnSpPr>
          <p:spPr>
            <a:xfrm>
              <a:off x="8859524" y="1630285"/>
              <a:ext cx="2408" cy="355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F1A39944-1C01-E046-9012-4EF3E588655B}"/>
                </a:ext>
              </a:extLst>
            </p:cNvPr>
            <p:cNvSpPr/>
            <p:nvPr/>
          </p:nvSpPr>
          <p:spPr>
            <a:xfrm>
              <a:off x="5483590" y="797631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2DA37BF0-D1B3-2C40-85D8-5DC655D66E92}"/>
                </a:ext>
              </a:extLst>
            </p:cNvPr>
            <p:cNvCxnSpPr>
              <a:cxnSpLocks/>
              <a:stCxn id="119" idx="6"/>
              <a:endCxn id="126" idx="3"/>
            </p:cNvCxnSpPr>
            <p:nvPr/>
          </p:nvCxnSpPr>
          <p:spPr>
            <a:xfrm flipV="1">
              <a:off x="5040515" y="1070802"/>
              <a:ext cx="489944" cy="3960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4F6012BC-7538-A14C-B681-CF2C7C7310D5}"/>
                </a:ext>
              </a:extLst>
            </p:cNvPr>
            <p:cNvCxnSpPr>
              <a:cxnSpLocks/>
              <a:stCxn id="126" idx="2"/>
              <a:endCxn id="118" idx="5"/>
            </p:cNvCxnSpPr>
            <p:nvPr/>
          </p:nvCxnSpPr>
          <p:spPr>
            <a:xfrm flipH="1" flipV="1">
              <a:off x="5193835" y="948783"/>
              <a:ext cx="289755" cy="88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404225C-ABA4-4640-A067-103DD586BFE2}"/>
                </a:ext>
              </a:extLst>
            </p:cNvPr>
            <p:cNvSpPr txBox="1"/>
            <p:nvPr/>
          </p:nvSpPr>
          <p:spPr>
            <a:xfrm>
              <a:off x="5515228" y="1414089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2B96E5A-3378-9F42-8BF6-C6FA3EFE7BF6}"/>
                </a:ext>
              </a:extLst>
            </p:cNvPr>
            <p:cNvSpPr txBox="1"/>
            <p:nvPr/>
          </p:nvSpPr>
          <p:spPr>
            <a:xfrm>
              <a:off x="5512308" y="191772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784DEA0-0C63-D146-8DE6-6407EB966254}"/>
                </a:ext>
              </a:extLst>
            </p:cNvPr>
            <p:cNvSpPr txBox="1"/>
            <p:nvPr/>
          </p:nvSpPr>
          <p:spPr>
            <a:xfrm>
              <a:off x="7218413" y="94865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C7273BD-6E91-1A4D-9C87-E71E4153B7F0}"/>
                </a:ext>
              </a:extLst>
            </p:cNvPr>
            <p:cNvSpPr txBox="1"/>
            <p:nvPr/>
          </p:nvSpPr>
          <p:spPr>
            <a:xfrm>
              <a:off x="7216496" y="136694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72F6635-5E12-DB4A-A7F0-24CA04CCD754}"/>
                </a:ext>
              </a:extLst>
            </p:cNvPr>
            <p:cNvSpPr txBox="1"/>
            <p:nvPr/>
          </p:nvSpPr>
          <p:spPr>
            <a:xfrm>
              <a:off x="7200040" y="177330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C567FD0-13BC-644E-B69B-765FD45F6797}"/>
                </a:ext>
              </a:extLst>
            </p:cNvPr>
            <p:cNvSpPr txBox="1"/>
            <p:nvPr/>
          </p:nvSpPr>
          <p:spPr>
            <a:xfrm>
              <a:off x="7215502" y="222117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4</a:t>
              </a:r>
              <a:endParaRPr lang="en-US" sz="1400" dirty="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1E709B9C-16EC-C34E-A2FB-6F86A4CF8245}"/>
                </a:ext>
              </a:extLst>
            </p:cNvPr>
            <p:cNvSpPr txBox="1"/>
            <p:nvPr/>
          </p:nvSpPr>
          <p:spPr>
            <a:xfrm>
              <a:off x="8058083" y="70766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6955722-ADF2-FB46-9DC2-5AE59F8B6E8C}"/>
                </a:ext>
              </a:extLst>
            </p:cNvPr>
            <p:cNvSpPr txBox="1"/>
            <p:nvPr/>
          </p:nvSpPr>
          <p:spPr>
            <a:xfrm>
              <a:off x="8071909" y="1113147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85B61EF-8FDD-F545-92E0-B0F96140892C}"/>
                </a:ext>
              </a:extLst>
            </p:cNvPr>
            <p:cNvSpPr txBox="1"/>
            <p:nvPr/>
          </p:nvSpPr>
          <p:spPr>
            <a:xfrm>
              <a:off x="8084077" y="153292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A4AE81A-503C-F640-B365-94D5A393C1FD}"/>
                </a:ext>
              </a:extLst>
            </p:cNvPr>
            <p:cNvSpPr txBox="1"/>
            <p:nvPr/>
          </p:nvSpPr>
          <p:spPr>
            <a:xfrm>
              <a:off x="8055628" y="192598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4</a:t>
              </a:r>
              <a:endParaRPr lang="en-US" sz="1400" dirty="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B993608-771B-3F48-BFC5-7CF912C97313}"/>
                </a:ext>
              </a:extLst>
            </p:cNvPr>
            <p:cNvSpPr txBox="1"/>
            <p:nvPr/>
          </p:nvSpPr>
          <p:spPr>
            <a:xfrm>
              <a:off x="8066329" y="231674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5</a:t>
              </a:r>
              <a:endParaRPr lang="en-US" sz="1400" dirty="0"/>
            </a:p>
          </p:txBody>
        </p:sp>
      </p:grpSp>
      <p:sp>
        <p:nvSpPr>
          <p:cNvPr id="172" name="Trapezoid 171">
            <a:extLst>
              <a:ext uri="{FF2B5EF4-FFF2-40B4-BE49-F238E27FC236}">
                <a16:creationId xmlns:a16="http://schemas.microsoft.com/office/drawing/2014/main" id="{14CE9E5A-A028-1F44-8F53-4244823187B4}"/>
              </a:ext>
            </a:extLst>
          </p:cNvPr>
          <p:cNvSpPr/>
          <p:nvPr/>
        </p:nvSpPr>
        <p:spPr>
          <a:xfrm rot="16200000">
            <a:off x="5841927" y="242660"/>
            <a:ext cx="2266235" cy="3070956"/>
          </a:xfrm>
          <a:prstGeom prst="trapezoid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285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63504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3891" y="6588680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/>
              <a:t>28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8615-162E-0446-97BA-6A74199ED555}"/>
              </a:ext>
            </a:extLst>
          </p:cNvPr>
          <p:cNvSpPr txBox="1"/>
          <p:nvPr/>
        </p:nvSpPr>
        <p:spPr>
          <a:xfrm>
            <a:off x="24111" y="-10993"/>
            <a:ext cx="9258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latin typeface="Arial"/>
                <a:cs typeface="Arial"/>
              </a:rPr>
              <a:t>Further Value Repetitions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9F048F-F147-5749-86C5-32E21069966B}"/>
              </a:ext>
            </a:extLst>
          </p:cNvPr>
          <p:cNvGrpSpPr/>
          <p:nvPr/>
        </p:nvGrpSpPr>
        <p:grpSpPr>
          <a:xfrm>
            <a:off x="142032" y="683971"/>
            <a:ext cx="4507234" cy="922560"/>
            <a:chOff x="220440" y="1015608"/>
            <a:chExt cx="4507234" cy="92256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0527AC-CAF8-7148-B2D3-489FAD2D3331}"/>
                </a:ext>
              </a:extLst>
            </p:cNvPr>
            <p:cNvSpPr txBox="1"/>
            <p:nvPr/>
          </p:nvSpPr>
          <p:spPr>
            <a:xfrm>
              <a:off x="220440" y="1015608"/>
              <a:ext cx="4507234" cy="922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MATCH </a:t>
              </a:r>
            </a:p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WHERE </a:t>
              </a:r>
              <a:r>
                <a:rPr lang="en-US" sz="1900" dirty="0" err="1">
                  <a:latin typeface="Consolas"/>
                  <a:cs typeface="Consolas"/>
                </a:rPr>
                <a:t>a.cntr</a:t>
              </a:r>
              <a:r>
                <a:rPr lang="en-US" sz="1900" dirty="0">
                  <a:latin typeface="Consolas"/>
                  <a:cs typeface="Consolas"/>
                </a:rPr>
                <a:t>=‘US’ &amp; </a:t>
              </a:r>
              <a:r>
                <a:rPr lang="en-US" sz="1900" dirty="0" err="1">
                  <a:latin typeface="Consolas"/>
                  <a:cs typeface="Consolas"/>
                </a:rPr>
                <a:t>e.cntr</a:t>
              </a:r>
              <a:r>
                <a:rPr lang="en-US" sz="1900" dirty="0">
                  <a:latin typeface="Consolas"/>
                  <a:cs typeface="Consolas"/>
                </a:rPr>
                <a:t>=‘CAD’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93845A2-EA63-2A48-96FB-89A8BDD09BE2}"/>
                </a:ext>
              </a:extLst>
            </p:cNvPr>
            <p:cNvSpPr/>
            <p:nvPr/>
          </p:nvSpPr>
          <p:spPr>
            <a:xfrm>
              <a:off x="1311894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A3F555-B73D-D74F-84F0-069B0C51A236}"/>
                </a:ext>
              </a:extLst>
            </p:cNvPr>
            <p:cNvSpPr/>
            <p:nvPr/>
          </p:nvSpPr>
          <p:spPr>
            <a:xfrm>
              <a:off x="1962543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5AA706A-0088-3742-ABA8-E262BEC52B17}"/>
                </a:ext>
              </a:extLst>
            </p:cNvPr>
            <p:cNvSpPr/>
            <p:nvPr/>
          </p:nvSpPr>
          <p:spPr>
            <a:xfrm>
              <a:off x="2613192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7CB77D0-F2C2-BB44-B3E6-C4B9BE0FB2BA}"/>
                </a:ext>
              </a:extLst>
            </p:cNvPr>
            <p:cNvCxnSpPr>
              <a:cxnSpLocks/>
              <a:stCxn id="5" idx="6"/>
              <a:endCxn id="17" idx="2"/>
            </p:cNvCxnSpPr>
            <p:nvPr/>
          </p:nvCxnSpPr>
          <p:spPr>
            <a:xfrm>
              <a:off x="1650222" y="1338188"/>
              <a:ext cx="312321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6A49FF7-EF66-6C49-AF9F-B02D0CA44C23}"/>
                </a:ext>
              </a:extLst>
            </p:cNvPr>
            <p:cNvCxnSpPr>
              <a:cxnSpLocks/>
              <a:stCxn id="17" idx="6"/>
              <a:endCxn id="18" idx="2"/>
            </p:cNvCxnSpPr>
            <p:nvPr/>
          </p:nvCxnSpPr>
          <p:spPr>
            <a:xfrm>
              <a:off x="2300871" y="1338188"/>
              <a:ext cx="312321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8386AFD-2383-1440-B34F-BF31FBD94355}"/>
                </a:ext>
              </a:extLst>
            </p:cNvPr>
            <p:cNvSpPr/>
            <p:nvPr/>
          </p:nvSpPr>
          <p:spPr>
            <a:xfrm>
              <a:off x="3263842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E2EB08A-3140-4F42-B9D8-81DEB9300D66}"/>
                </a:ext>
              </a:extLst>
            </p:cNvPr>
            <p:cNvCxnSpPr>
              <a:cxnSpLocks/>
              <a:stCxn id="18" idx="6"/>
              <a:endCxn id="61" idx="2"/>
            </p:cNvCxnSpPr>
            <p:nvPr/>
          </p:nvCxnSpPr>
          <p:spPr>
            <a:xfrm>
              <a:off x="2951520" y="1338188"/>
              <a:ext cx="312322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7083A86C-AE3F-B544-9C3A-2D571BEA62E0}"/>
              </a:ext>
            </a:extLst>
          </p:cNvPr>
          <p:cNvGrpSpPr/>
          <p:nvPr/>
        </p:nvGrpSpPr>
        <p:grpSpPr>
          <a:xfrm>
            <a:off x="212022" y="2325761"/>
            <a:ext cx="5050745" cy="640080"/>
            <a:chOff x="2181026" y="2593037"/>
            <a:chExt cx="5050745" cy="640080"/>
          </a:xfrm>
        </p:grpSpPr>
        <p:sp>
          <p:nvSpPr>
            <p:cNvPr id="200" name="Rounded Rectangle 199">
              <a:extLst>
                <a:ext uri="{FF2B5EF4-FFF2-40B4-BE49-F238E27FC236}">
                  <a16:creationId xmlns:a16="http://schemas.microsoft.com/office/drawing/2014/main" id="{23D11F47-D2B8-264D-8216-B7F55A32B7C7}"/>
                </a:ext>
              </a:extLst>
            </p:cNvPr>
            <p:cNvSpPr/>
            <p:nvPr/>
          </p:nvSpPr>
          <p:spPr>
            <a:xfrm>
              <a:off x="2181026" y="2593801"/>
              <a:ext cx="1272321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(a)</a:t>
              </a:r>
            </a:p>
            <a:p>
              <a:pPr algn="ctr"/>
              <a:r>
                <a:rPr lang="en-US" sz="1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cntr</a:t>
              </a:r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=`US’</a:t>
              </a:r>
            </a:p>
          </p:txBody>
        </p:sp>
        <p:sp>
          <p:nvSpPr>
            <p:cNvPr id="201" name="Rounded Rectangle 200">
              <a:extLst>
                <a:ext uri="{FF2B5EF4-FFF2-40B4-BE49-F238E27FC236}">
                  <a16:creationId xmlns:a16="http://schemas.microsoft.com/office/drawing/2014/main" id="{26BFA326-269B-BD44-8B8B-F533CA3EEF74}"/>
                </a:ext>
              </a:extLst>
            </p:cNvPr>
            <p:cNvSpPr/>
            <p:nvPr/>
          </p:nvSpPr>
          <p:spPr>
            <a:xfrm>
              <a:off x="3714907" y="2593037"/>
              <a:ext cx="986868" cy="640080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(b)</a:t>
              </a:r>
            </a:p>
          </p:txBody>
        </p: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2A89FFDD-5DCB-BC45-8702-F3E57C543555}"/>
                </a:ext>
              </a:extLst>
            </p:cNvPr>
            <p:cNvCxnSpPr>
              <a:cxnSpLocks/>
              <a:stCxn id="200" idx="3"/>
              <a:endCxn id="201" idx="1"/>
            </p:cNvCxnSpPr>
            <p:nvPr/>
          </p:nvCxnSpPr>
          <p:spPr>
            <a:xfrm flipV="1">
              <a:off x="3453347" y="2913077"/>
              <a:ext cx="261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CCC81B37-A2E7-6F41-9992-59967E5C9F42}"/>
                </a:ext>
              </a:extLst>
            </p:cNvPr>
            <p:cNvSpPr/>
            <p:nvPr/>
          </p:nvSpPr>
          <p:spPr>
            <a:xfrm>
              <a:off x="5029345" y="2593801"/>
              <a:ext cx="987552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(c)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1D3FD4A6-C16B-B04F-AF88-6B1E9A2983CC}"/>
                </a:ext>
              </a:extLst>
            </p:cNvPr>
            <p:cNvCxnSpPr>
              <a:cxnSpLocks/>
              <a:stCxn id="201" idx="3"/>
              <a:endCxn id="203" idx="1"/>
            </p:cNvCxnSpPr>
            <p:nvPr/>
          </p:nvCxnSpPr>
          <p:spPr>
            <a:xfrm>
              <a:off x="4701775" y="2913077"/>
              <a:ext cx="32757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Rounded Rectangle 208">
              <a:extLst>
                <a:ext uri="{FF2B5EF4-FFF2-40B4-BE49-F238E27FC236}">
                  <a16:creationId xmlns:a16="http://schemas.microsoft.com/office/drawing/2014/main" id="{23651AFD-1542-B242-9230-71855C31B33D}"/>
                </a:ext>
              </a:extLst>
            </p:cNvPr>
            <p:cNvSpPr/>
            <p:nvPr/>
          </p:nvSpPr>
          <p:spPr>
            <a:xfrm>
              <a:off x="6244219" y="2593801"/>
              <a:ext cx="987552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(d)</a:t>
              </a: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F2CD929E-FC5F-B844-957F-190330FD67CE}"/>
                </a:ext>
              </a:extLst>
            </p:cNvPr>
            <p:cNvCxnSpPr>
              <a:cxnSpLocks/>
              <a:stCxn id="203" idx="3"/>
              <a:endCxn id="209" idx="1"/>
            </p:cNvCxnSpPr>
            <p:nvPr/>
          </p:nvCxnSpPr>
          <p:spPr>
            <a:xfrm>
              <a:off x="6016897" y="2913078"/>
              <a:ext cx="22732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16" name="Table 5">
            <a:extLst>
              <a:ext uri="{FF2B5EF4-FFF2-40B4-BE49-F238E27FC236}">
                <a16:creationId xmlns:a16="http://schemas.microsoft.com/office/drawing/2014/main" id="{711D87CF-56AF-E840-B19E-A4BF253915DF}"/>
              </a:ext>
            </a:extLst>
          </p:cNvPr>
          <p:cNvGraphicFramePr>
            <a:graphicFrameLocks noGrp="1"/>
          </p:cNvGraphicFramePr>
          <p:nvPr/>
        </p:nvGraphicFramePr>
        <p:xfrm>
          <a:off x="289454" y="3407751"/>
          <a:ext cx="4784229" cy="296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8179">
                  <a:extLst>
                    <a:ext uri="{9D8B030D-6E8A-4147-A177-3AD203B41FA5}">
                      <a16:colId xmlns:a16="http://schemas.microsoft.com/office/drawing/2014/main" val="4052512296"/>
                    </a:ext>
                  </a:extLst>
                </a:gridCol>
                <a:gridCol w="219668">
                  <a:extLst>
                    <a:ext uri="{9D8B030D-6E8A-4147-A177-3AD203B41FA5}">
                      <a16:colId xmlns:a16="http://schemas.microsoft.com/office/drawing/2014/main" val="400113096"/>
                    </a:ext>
                  </a:extLst>
                </a:gridCol>
                <a:gridCol w="893831">
                  <a:extLst>
                    <a:ext uri="{9D8B030D-6E8A-4147-A177-3AD203B41FA5}">
                      <a16:colId xmlns:a16="http://schemas.microsoft.com/office/drawing/2014/main" val="4248055157"/>
                    </a:ext>
                  </a:extLst>
                </a:gridCol>
                <a:gridCol w="274047">
                  <a:extLst>
                    <a:ext uri="{9D8B030D-6E8A-4147-A177-3AD203B41FA5}">
                      <a16:colId xmlns:a16="http://schemas.microsoft.com/office/drawing/2014/main" val="3025983691"/>
                    </a:ext>
                  </a:extLst>
                </a:gridCol>
                <a:gridCol w="908594">
                  <a:extLst>
                    <a:ext uri="{9D8B030D-6E8A-4147-A177-3AD203B41FA5}">
                      <a16:colId xmlns:a16="http://schemas.microsoft.com/office/drawing/2014/main" val="24072432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555914099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228984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73077"/>
                  </a:ext>
                </a:extLst>
              </a:tr>
              <a:tr h="143107">
                <a:tc gridSpan="7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90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422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6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826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02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{A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{B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{C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{D</a:t>
                      </a:r>
                      <a:r>
                        <a:rPr lang="en-US" baseline="-25000" dirty="0"/>
                        <a:t>3</a:t>
                      </a:r>
                      <a:r>
                        <a:rPr lang="en-US" dirty="0"/>
                        <a:t>, D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975258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174230"/>
                  </a:ext>
                </a:extLst>
              </a:tr>
            </a:tbl>
          </a:graphicData>
        </a:graphic>
      </p:graphicFrame>
      <p:sp>
        <p:nvSpPr>
          <p:cNvPr id="217" name="Rectangle 216">
            <a:extLst>
              <a:ext uri="{FF2B5EF4-FFF2-40B4-BE49-F238E27FC236}">
                <a16:creationId xmlns:a16="http://schemas.microsoft.com/office/drawing/2014/main" id="{F9899835-C961-FF41-A466-6B1A703F4FDB}"/>
              </a:ext>
            </a:extLst>
          </p:cNvPr>
          <p:cNvSpPr/>
          <p:nvPr/>
        </p:nvSpPr>
        <p:spPr>
          <a:xfrm>
            <a:off x="1571814" y="6330410"/>
            <a:ext cx="2346956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kern="0" dirty="0">
                <a:solidFill>
                  <a:srgbClr val="0000CC"/>
                </a:solidFill>
                <a:latin typeface="Arial"/>
                <a:cs typeface="Arial"/>
              </a:rPr>
              <a:t>F-Representation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31E4E229-183F-6748-A632-591C5A9E0BE2}"/>
              </a:ext>
            </a:extLst>
          </p:cNvPr>
          <p:cNvSpPr txBox="1"/>
          <p:nvPr/>
        </p:nvSpPr>
        <p:spPr>
          <a:xfrm>
            <a:off x="329858" y="3040275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BC85584D-56CB-C245-9403-B9E4D714F8F8}"/>
              </a:ext>
            </a:extLst>
          </p:cNvPr>
          <p:cNvSpPr txBox="1"/>
          <p:nvPr/>
        </p:nvSpPr>
        <p:spPr>
          <a:xfrm>
            <a:off x="1424049" y="3042061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LG2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5E2059A-AF3B-3641-B0A8-992A7EA23133}"/>
              </a:ext>
            </a:extLst>
          </p:cNvPr>
          <p:cNvSpPr txBox="1"/>
          <p:nvPr/>
        </p:nvSpPr>
        <p:spPr>
          <a:xfrm>
            <a:off x="2590580" y="3040275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LG3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2213690-EA2C-694A-8A6C-C94B20004738}"/>
              </a:ext>
            </a:extLst>
          </p:cNvPr>
          <p:cNvSpPr txBox="1"/>
          <p:nvPr/>
        </p:nvSpPr>
        <p:spPr>
          <a:xfrm>
            <a:off x="4079965" y="3038419"/>
            <a:ext cx="5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LG4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0DB32E95-A40F-1E42-A09A-C75F43E31442}"/>
              </a:ext>
            </a:extLst>
          </p:cNvPr>
          <p:cNvSpPr/>
          <p:nvPr/>
        </p:nvSpPr>
        <p:spPr>
          <a:xfrm>
            <a:off x="8304" y="1674923"/>
            <a:ext cx="5112822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Most compact output: relevant subgraph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A4CBC2F-3D7A-2E48-8BE4-05F6CA7B054B}"/>
              </a:ext>
            </a:extLst>
          </p:cNvPr>
          <p:cNvSpPr/>
          <p:nvPr/>
        </p:nvSpPr>
        <p:spPr>
          <a:xfrm>
            <a:off x="1196968" y="5252250"/>
            <a:ext cx="3840197" cy="770212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65A969E-7022-D046-B614-69D30250CC7C}"/>
              </a:ext>
            </a:extLst>
          </p:cNvPr>
          <p:cNvSpPr/>
          <p:nvPr/>
        </p:nvSpPr>
        <p:spPr>
          <a:xfrm>
            <a:off x="4993646" y="3612097"/>
            <a:ext cx="4109343" cy="188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F-representations do not capture such repetitions</a:t>
            </a:r>
          </a:p>
          <a:p>
            <a:pPr marL="342900" indent="-342900" algn="ctr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Need to group tuples into sets and point to them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CC965B7-26D1-6444-8454-DAE17A7C1B15}"/>
              </a:ext>
            </a:extLst>
          </p:cNvPr>
          <p:cNvGrpSpPr/>
          <p:nvPr/>
        </p:nvGrpSpPr>
        <p:grpSpPr>
          <a:xfrm>
            <a:off x="4720475" y="675612"/>
            <a:ext cx="4301477" cy="1970189"/>
            <a:chOff x="4720475" y="675612"/>
            <a:chExt cx="4301477" cy="1970189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A28A787-A0D2-8B44-9362-41C91084DF43}"/>
                </a:ext>
              </a:extLst>
            </p:cNvPr>
            <p:cNvSpPr txBox="1"/>
            <p:nvPr/>
          </p:nvSpPr>
          <p:spPr>
            <a:xfrm>
              <a:off x="6362293" y="1205269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A1092ED-1A78-8344-A7C3-A50758F3EA23}"/>
                </a:ext>
              </a:extLst>
            </p:cNvPr>
            <p:cNvCxnSpPr>
              <a:cxnSpLocks/>
              <a:stCxn id="172" idx="6"/>
              <a:endCxn id="166" idx="2"/>
            </p:cNvCxnSpPr>
            <p:nvPr/>
          </p:nvCxnSpPr>
          <p:spPr>
            <a:xfrm flipV="1">
              <a:off x="6742863" y="1533322"/>
              <a:ext cx="528165" cy="2383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682A6DE-606F-B440-AD23-FF1F4F4ECC94}"/>
                </a:ext>
              </a:extLst>
            </p:cNvPr>
            <p:cNvCxnSpPr>
              <a:cxnSpLocks/>
              <a:stCxn id="172" idx="6"/>
              <a:endCxn id="165" idx="2"/>
            </p:cNvCxnSpPr>
            <p:nvPr/>
          </p:nvCxnSpPr>
          <p:spPr>
            <a:xfrm>
              <a:off x="6742863" y="1771694"/>
              <a:ext cx="528165" cy="17455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6D15DE78-78CA-2F43-878D-C223D24A000B}"/>
                </a:ext>
              </a:extLst>
            </p:cNvPr>
            <p:cNvCxnSpPr>
              <a:cxnSpLocks/>
              <a:stCxn id="169" idx="6"/>
              <a:endCxn id="172" idx="2"/>
            </p:cNvCxnSpPr>
            <p:nvPr/>
          </p:nvCxnSpPr>
          <p:spPr>
            <a:xfrm>
              <a:off x="5889790" y="1571587"/>
              <a:ext cx="533033" cy="2001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DC78FA2-2E65-864E-924B-AB0DC6700DD8}"/>
                </a:ext>
              </a:extLst>
            </p:cNvPr>
            <p:cNvGrpSpPr/>
            <p:nvPr/>
          </p:nvGrpSpPr>
          <p:grpSpPr>
            <a:xfrm>
              <a:off x="6417955" y="1178938"/>
              <a:ext cx="324908" cy="1185512"/>
              <a:chOff x="5584299" y="2004314"/>
              <a:chExt cx="324908" cy="1185512"/>
            </a:xfrm>
          </p:grpSpPr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841C82C6-BD0C-DB49-9B6E-BD632F7F62EB}"/>
                  </a:ext>
                </a:extLst>
              </p:cNvPr>
              <p:cNvSpPr/>
              <p:nvPr/>
            </p:nvSpPr>
            <p:spPr>
              <a:xfrm>
                <a:off x="5589167" y="2004314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9471D0B8-7561-3B47-8E5E-39DF7903E318}"/>
                  </a:ext>
                </a:extLst>
              </p:cNvPr>
              <p:cNvSpPr/>
              <p:nvPr/>
            </p:nvSpPr>
            <p:spPr>
              <a:xfrm>
                <a:off x="5589167" y="243705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2A7E09E6-6036-694D-B846-3C14425F8A1A}"/>
                  </a:ext>
                </a:extLst>
              </p:cNvPr>
              <p:cNvSpPr/>
              <p:nvPr/>
            </p:nvSpPr>
            <p:spPr>
              <a:xfrm>
                <a:off x="5584299" y="2869786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555A4F8-E86B-F247-80F4-870468463E51}"/>
                </a:ext>
              </a:extLst>
            </p:cNvPr>
            <p:cNvGrpSpPr/>
            <p:nvPr/>
          </p:nvGrpSpPr>
          <p:grpSpPr>
            <a:xfrm>
              <a:off x="5569750" y="1411567"/>
              <a:ext cx="320040" cy="812208"/>
              <a:chOff x="4781952" y="2251011"/>
              <a:chExt cx="320040" cy="812208"/>
            </a:xfrm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1F407BB8-E143-0846-B5AF-0FDD41D70A4D}"/>
                  </a:ext>
                </a:extLst>
              </p:cNvPr>
              <p:cNvSpPr/>
              <p:nvPr/>
            </p:nvSpPr>
            <p:spPr>
              <a:xfrm>
                <a:off x="4781952" y="2251011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00B0F0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274793BB-EEAD-7845-94FE-982360B9F53C}"/>
                  </a:ext>
                </a:extLst>
              </p:cNvPr>
              <p:cNvSpPr/>
              <p:nvPr/>
            </p:nvSpPr>
            <p:spPr>
              <a:xfrm>
                <a:off x="4781952" y="2743179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00B0F0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D22A718D-B5A0-9441-A95C-4C4E6B5F030D}"/>
                </a:ext>
              </a:extLst>
            </p:cNvPr>
            <p:cNvCxnSpPr>
              <a:cxnSpLocks/>
              <a:stCxn id="170" idx="6"/>
              <a:endCxn id="172" idx="2"/>
            </p:cNvCxnSpPr>
            <p:nvPr/>
          </p:nvCxnSpPr>
          <p:spPr>
            <a:xfrm flipV="1">
              <a:off x="5889790" y="1771694"/>
              <a:ext cx="533033" cy="2920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9A64C532-A62D-444A-A216-5F2376C023B3}"/>
                </a:ext>
              </a:extLst>
            </p:cNvPr>
            <p:cNvCxnSpPr>
              <a:cxnSpLocks/>
              <a:stCxn id="170" idx="6"/>
              <a:endCxn id="173" idx="2"/>
            </p:cNvCxnSpPr>
            <p:nvPr/>
          </p:nvCxnSpPr>
          <p:spPr>
            <a:xfrm>
              <a:off x="5889790" y="2063755"/>
              <a:ext cx="528165" cy="1406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1C0A2B89-6B28-A546-84C5-0036455CEB0B}"/>
                </a:ext>
              </a:extLst>
            </p:cNvPr>
            <p:cNvCxnSpPr>
              <a:cxnSpLocks/>
              <a:stCxn id="173" idx="6"/>
              <a:endCxn id="165" idx="2"/>
            </p:cNvCxnSpPr>
            <p:nvPr/>
          </p:nvCxnSpPr>
          <p:spPr>
            <a:xfrm flipV="1">
              <a:off x="6737995" y="1946247"/>
              <a:ext cx="533033" cy="2581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C8F047A-A1DD-A94C-97EC-ABC3B0EAEC20}"/>
                </a:ext>
              </a:extLst>
            </p:cNvPr>
            <p:cNvCxnSpPr>
              <a:cxnSpLocks/>
              <a:stCxn id="173" idx="6"/>
              <a:endCxn id="167" idx="2"/>
            </p:cNvCxnSpPr>
            <p:nvPr/>
          </p:nvCxnSpPr>
          <p:spPr>
            <a:xfrm>
              <a:off x="6737995" y="2204430"/>
              <a:ext cx="533033" cy="1547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3C9E4CED-B4FF-274D-8153-4636DC1B3E95}"/>
                </a:ext>
              </a:extLst>
            </p:cNvPr>
            <p:cNvCxnSpPr>
              <a:cxnSpLocks/>
              <a:stCxn id="169" idx="6"/>
              <a:endCxn id="171" idx="3"/>
            </p:cNvCxnSpPr>
            <p:nvPr/>
          </p:nvCxnSpPr>
          <p:spPr>
            <a:xfrm flipV="1">
              <a:off x="5889790" y="1452109"/>
              <a:ext cx="579902" cy="11947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FD077D5-E32F-904A-B714-B344EE9C3B4B}"/>
                </a:ext>
              </a:extLst>
            </p:cNvPr>
            <p:cNvGrpSpPr/>
            <p:nvPr/>
          </p:nvGrpSpPr>
          <p:grpSpPr>
            <a:xfrm>
              <a:off x="7271028" y="960377"/>
              <a:ext cx="320040" cy="1558816"/>
              <a:chOff x="6223601" y="1757617"/>
              <a:chExt cx="320040" cy="1558816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FC4268E0-AF3B-E947-8D4F-656B532D5A66}"/>
                  </a:ext>
                </a:extLst>
              </p:cNvPr>
              <p:cNvSpPr/>
              <p:nvPr/>
            </p:nvSpPr>
            <p:spPr>
              <a:xfrm>
                <a:off x="6223601" y="2583467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E1DBE2E7-FD2C-A140-9744-2844FBF0557B}"/>
                  </a:ext>
                </a:extLst>
              </p:cNvPr>
              <p:cNvSpPr/>
              <p:nvPr/>
            </p:nvSpPr>
            <p:spPr>
              <a:xfrm>
                <a:off x="6223601" y="2170542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1FE1E67-ECF9-8944-8B46-2E9F37A17F1A}"/>
                  </a:ext>
                </a:extLst>
              </p:cNvPr>
              <p:cNvSpPr/>
              <p:nvPr/>
            </p:nvSpPr>
            <p:spPr>
              <a:xfrm>
                <a:off x="6223601" y="2996393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E8A07980-E5A6-8644-9CBF-16F57DF8CB24}"/>
                  </a:ext>
                </a:extLst>
              </p:cNvPr>
              <p:cNvSpPr/>
              <p:nvPr/>
            </p:nvSpPr>
            <p:spPr>
              <a:xfrm>
                <a:off x="6223601" y="1757617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E7E6EE7B-7C12-9144-B9C3-CCD38C09B8C4}"/>
                </a:ext>
              </a:extLst>
            </p:cNvPr>
            <p:cNvGrpSpPr/>
            <p:nvPr/>
          </p:nvGrpSpPr>
          <p:grpSpPr>
            <a:xfrm>
              <a:off x="8119233" y="713680"/>
              <a:ext cx="320040" cy="1932121"/>
              <a:chOff x="6895336" y="1510920"/>
              <a:chExt cx="320040" cy="1932121"/>
            </a:xfrm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5C8D6DAA-9D40-5340-A685-1231C9214FAD}"/>
                  </a:ext>
                </a:extLst>
              </p:cNvPr>
              <p:cNvSpPr/>
              <p:nvPr/>
            </p:nvSpPr>
            <p:spPr>
              <a:xfrm>
                <a:off x="6895336" y="271998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A1EAFB1C-5AB2-2B40-9E37-E8C9D6D1A979}"/>
                  </a:ext>
                </a:extLst>
              </p:cNvPr>
              <p:cNvSpPr/>
              <p:nvPr/>
            </p:nvSpPr>
            <p:spPr>
              <a:xfrm>
                <a:off x="6895336" y="231696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6EAA5243-716F-C549-9FA4-810611E96391}"/>
                  </a:ext>
                </a:extLst>
              </p:cNvPr>
              <p:cNvSpPr/>
              <p:nvPr/>
            </p:nvSpPr>
            <p:spPr>
              <a:xfrm>
                <a:off x="6895336" y="3123001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F1763B4C-0D18-2E4E-9025-06ADE171BB4C}"/>
                  </a:ext>
                </a:extLst>
              </p:cNvPr>
              <p:cNvSpPr/>
              <p:nvPr/>
            </p:nvSpPr>
            <p:spPr>
              <a:xfrm>
                <a:off x="6895336" y="191394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83B3E113-E0DF-E94C-8A2F-F2AF39AF3845}"/>
                  </a:ext>
                </a:extLst>
              </p:cNvPr>
              <p:cNvSpPr/>
              <p:nvPr/>
            </p:nvSpPr>
            <p:spPr>
              <a:xfrm>
                <a:off x="6895336" y="151092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FA477FF5-0B3C-BD48-AB28-5C240CC5D9C8}"/>
                </a:ext>
              </a:extLst>
            </p:cNvPr>
            <p:cNvCxnSpPr>
              <a:cxnSpLocks/>
              <a:stCxn id="171" idx="6"/>
              <a:endCxn id="166" idx="2"/>
            </p:cNvCxnSpPr>
            <p:nvPr/>
          </p:nvCxnSpPr>
          <p:spPr>
            <a:xfrm>
              <a:off x="6742863" y="1338958"/>
              <a:ext cx="528165" cy="1943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53A1D33B-5B00-ED45-915A-89445DB0991A}"/>
                </a:ext>
              </a:extLst>
            </p:cNvPr>
            <p:cNvCxnSpPr>
              <a:cxnSpLocks/>
              <a:stCxn id="171" idx="6"/>
              <a:endCxn id="168" idx="2"/>
            </p:cNvCxnSpPr>
            <p:nvPr/>
          </p:nvCxnSpPr>
          <p:spPr>
            <a:xfrm flipV="1">
              <a:off x="6742863" y="1120397"/>
              <a:ext cx="528165" cy="2185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9F09F54F-9D73-1C4D-BAD2-03A953D374B5}"/>
                </a:ext>
              </a:extLst>
            </p:cNvPr>
            <p:cNvCxnSpPr>
              <a:cxnSpLocks/>
              <a:stCxn id="168" idx="6"/>
              <a:endCxn id="164" idx="2"/>
            </p:cNvCxnSpPr>
            <p:nvPr/>
          </p:nvCxnSpPr>
          <p:spPr>
            <a:xfrm flipV="1">
              <a:off x="7591068" y="873700"/>
              <a:ext cx="528165" cy="24669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357098FC-A1A5-074C-A012-5C72F23AED32}"/>
                </a:ext>
              </a:extLst>
            </p:cNvPr>
            <p:cNvCxnSpPr>
              <a:cxnSpLocks/>
              <a:stCxn id="168" idx="6"/>
              <a:endCxn id="163" idx="2"/>
            </p:cNvCxnSpPr>
            <p:nvPr/>
          </p:nvCxnSpPr>
          <p:spPr>
            <a:xfrm>
              <a:off x="7591068" y="1120397"/>
              <a:ext cx="528165" cy="1563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AD1035E6-0972-B643-A983-F58E978AC595}"/>
                </a:ext>
              </a:extLst>
            </p:cNvPr>
            <p:cNvCxnSpPr>
              <a:cxnSpLocks/>
              <a:stCxn id="166" idx="6"/>
              <a:endCxn id="163" idx="2"/>
            </p:cNvCxnSpPr>
            <p:nvPr/>
          </p:nvCxnSpPr>
          <p:spPr>
            <a:xfrm flipV="1">
              <a:off x="7591068" y="1276720"/>
              <a:ext cx="528165" cy="2566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AC355E83-E7C0-AD42-908A-324667A0B000}"/>
                </a:ext>
              </a:extLst>
            </p:cNvPr>
            <p:cNvCxnSpPr>
              <a:cxnSpLocks/>
              <a:stCxn id="166" idx="6"/>
              <a:endCxn id="160" idx="2"/>
            </p:cNvCxnSpPr>
            <p:nvPr/>
          </p:nvCxnSpPr>
          <p:spPr>
            <a:xfrm>
              <a:off x="7591068" y="1533322"/>
              <a:ext cx="528165" cy="1464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D1CED469-98B1-0244-B380-AF4170D032E9}"/>
                </a:ext>
              </a:extLst>
            </p:cNvPr>
            <p:cNvCxnSpPr>
              <a:cxnSpLocks/>
              <a:stCxn id="165" idx="6"/>
              <a:endCxn id="160" idx="2"/>
            </p:cNvCxnSpPr>
            <p:nvPr/>
          </p:nvCxnSpPr>
          <p:spPr>
            <a:xfrm flipV="1">
              <a:off x="7591068" y="1679740"/>
              <a:ext cx="528165" cy="2665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4AC0E450-BC87-A240-AE59-21B9A5BF2888}"/>
                </a:ext>
              </a:extLst>
            </p:cNvPr>
            <p:cNvCxnSpPr>
              <a:cxnSpLocks/>
              <a:stCxn id="165" idx="6"/>
              <a:endCxn id="147" idx="2"/>
            </p:cNvCxnSpPr>
            <p:nvPr/>
          </p:nvCxnSpPr>
          <p:spPr>
            <a:xfrm>
              <a:off x="7591068" y="1946247"/>
              <a:ext cx="528165" cy="1365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172A9D50-3403-4E49-B624-67096A6EB884}"/>
                </a:ext>
              </a:extLst>
            </p:cNvPr>
            <p:cNvCxnSpPr>
              <a:cxnSpLocks/>
              <a:stCxn id="167" idx="6"/>
              <a:endCxn id="147" idx="2"/>
            </p:cNvCxnSpPr>
            <p:nvPr/>
          </p:nvCxnSpPr>
          <p:spPr>
            <a:xfrm flipV="1">
              <a:off x="7591068" y="2082760"/>
              <a:ext cx="528165" cy="2764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9CF4302D-D2EB-AA48-931F-24781D59D0BE}"/>
                </a:ext>
              </a:extLst>
            </p:cNvPr>
            <p:cNvCxnSpPr>
              <a:cxnSpLocks/>
              <a:stCxn id="167" idx="6"/>
              <a:endCxn id="162" idx="2"/>
            </p:cNvCxnSpPr>
            <p:nvPr/>
          </p:nvCxnSpPr>
          <p:spPr>
            <a:xfrm>
              <a:off x="7591068" y="2359173"/>
              <a:ext cx="528165" cy="126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F6ABFC7-4731-0640-883C-3710C8C86EE6}"/>
                </a:ext>
              </a:extLst>
            </p:cNvPr>
            <p:cNvSpPr txBox="1"/>
            <p:nvPr/>
          </p:nvSpPr>
          <p:spPr>
            <a:xfrm>
              <a:off x="6363610" y="162426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EAB0AF4-30BA-1347-A6E1-D0FA16C8FD99}"/>
                </a:ext>
              </a:extLst>
            </p:cNvPr>
            <p:cNvSpPr txBox="1"/>
            <p:nvPr/>
          </p:nvSpPr>
          <p:spPr>
            <a:xfrm>
              <a:off x="6386991" y="2044272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7DBC70B1-CAD2-3B46-9253-DF152BBDCE24}"/>
                </a:ext>
              </a:extLst>
            </p:cNvPr>
            <p:cNvSpPr/>
            <p:nvPr/>
          </p:nvSpPr>
          <p:spPr>
            <a:xfrm>
              <a:off x="4920664" y="675612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01A0EA01-5879-D944-9611-66C41E6E33B7}"/>
                </a:ext>
              </a:extLst>
            </p:cNvPr>
            <p:cNvSpPr/>
            <p:nvPr/>
          </p:nvSpPr>
          <p:spPr>
            <a:xfrm>
              <a:off x="4720475" y="1306864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EF84502-7E62-9645-9DAE-53AF3A702644}"/>
                </a:ext>
              </a:extLst>
            </p:cNvPr>
            <p:cNvSpPr/>
            <p:nvPr/>
          </p:nvSpPr>
          <p:spPr>
            <a:xfrm>
              <a:off x="8699504" y="1310245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880C10EA-D22D-164D-B61A-4A1E33980602}"/>
                </a:ext>
              </a:extLst>
            </p:cNvPr>
            <p:cNvSpPr/>
            <p:nvPr/>
          </p:nvSpPr>
          <p:spPr>
            <a:xfrm>
              <a:off x="8701912" y="1985447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257A2B52-30F7-1444-A59F-69069D86E9E5}"/>
                </a:ext>
              </a:extLst>
            </p:cNvPr>
            <p:cNvCxnSpPr>
              <a:cxnSpLocks/>
              <a:stCxn id="123" idx="7"/>
              <a:endCxn id="120" idx="4"/>
            </p:cNvCxnSpPr>
            <p:nvPr/>
          </p:nvCxnSpPr>
          <p:spPr>
            <a:xfrm flipV="1">
              <a:off x="4993646" y="995652"/>
              <a:ext cx="87038" cy="3580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2BB29F55-0129-F948-B78B-85745FB8578A}"/>
                </a:ext>
              </a:extLst>
            </p:cNvPr>
            <p:cNvCxnSpPr>
              <a:cxnSpLocks/>
              <a:stCxn id="124" idx="4"/>
              <a:endCxn id="125" idx="0"/>
            </p:cNvCxnSpPr>
            <p:nvPr/>
          </p:nvCxnSpPr>
          <p:spPr>
            <a:xfrm>
              <a:off x="8859524" y="1630285"/>
              <a:ext cx="2408" cy="355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53D5EA9B-8AA5-234B-940A-120BC830A01E}"/>
                </a:ext>
              </a:extLst>
            </p:cNvPr>
            <p:cNvSpPr/>
            <p:nvPr/>
          </p:nvSpPr>
          <p:spPr>
            <a:xfrm>
              <a:off x="5483590" y="797631"/>
              <a:ext cx="320040" cy="32004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rgbClr val="000000"/>
                </a:solidFill>
              </a:endParaRPr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D72158EE-9DAF-8944-B26F-F9801ACF78FC}"/>
                </a:ext>
              </a:extLst>
            </p:cNvPr>
            <p:cNvCxnSpPr>
              <a:cxnSpLocks/>
              <a:stCxn id="123" idx="6"/>
              <a:endCxn id="131" idx="3"/>
            </p:cNvCxnSpPr>
            <p:nvPr/>
          </p:nvCxnSpPr>
          <p:spPr>
            <a:xfrm flipV="1">
              <a:off x="5040515" y="1070802"/>
              <a:ext cx="489944" cy="3960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CB6887E2-095A-A448-A96C-25047805FA14}"/>
                </a:ext>
              </a:extLst>
            </p:cNvPr>
            <p:cNvCxnSpPr>
              <a:cxnSpLocks/>
              <a:stCxn id="131" idx="2"/>
              <a:endCxn id="120" idx="5"/>
            </p:cNvCxnSpPr>
            <p:nvPr/>
          </p:nvCxnSpPr>
          <p:spPr>
            <a:xfrm flipH="1" flipV="1">
              <a:off x="5193835" y="948783"/>
              <a:ext cx="289755" cy="88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B0CE46C-E9E2-654C-BC41-8BBC81EBB9B1}"/>
                </a:ext>
              </a:extLst>
            </p:cNvPr>
            <p:cNvSpPr txBox="1"/>
            <p:nvPr/>
          </p:nvSpPr>
          <p:spPr>
            <a:xfrm>
              <a:off x="5515228" y="1414089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F124519-5CD6-734E-91BB-BB3212362EAF}"/>
                </a:ext>
              </a:extLst>
            </p:cNvPr>
            <p:cNvSpPr txBox="1"/>
            <p:nvPr/>
          </p:nvSpPr>
          <p:spPr>
            <a:xfrm>
              <a:off x="5512308" y="191772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49B2C414-45C5-754D-B548-EBBB625DC7A9}"/>
                </a:ext>
              </a:extLst>
            </p:cNvPr>
            <p:cNvSpPr txBox="1"/>
            <p:nvPr/>
          </p:nvSpPr>
          <p:spPr>
            <a:xfrm>
              <a:off x="7218413" y="94865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E1EAA81-E47D-7044-8965-8560183BB961}"/>
                </a:ext>
              </a:extLst>
            </p:cNvPr>
            <p:cNvSpPr txBox="1"/>
            <p:nvPr/>
          </p:nvSpPr>
          <p:spPr>
            <a:xfrm>
              <a:off x="7216496" y="136694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778ADF1F-095A-4C45-9BEA-AC4B7D56E33A}"/>
                </a:ext>
              </a:extLst>
            </p:cNvPr>
            <p:cNvSpPr txBox="1"/>
            <p:nvPr/>
          </p:nvSpPr>
          <p:spPr>
            <a:xfrm>
              <a:off x="7200040" y="177330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7820A77-3313-3D4A-93E7-7D6507D21F37}"/>
                </a:ext>
              </a:extLst>
            </p:cNvPr>
            <p:cNvSpPr txBox="1"/>
            <p:nvPr/>
          </p:nvSpPr>
          <p:spPr>
            <a:xfrm>
              <a:off x="7215502" y="222117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4</a:t>
              </a:r>
              <a:endParaRPr lang="en-US" sz="1400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0AE7316-1CE4-A842-8DA0-E3EF6EEED9A6}"/>
                </a:ext>
              </a:extLst>
            </p:cNvPr>
            <p:cNvSpPr txBox="1"/>
            <p:nvPr/>
          </p:nvSpPr>
          <p:spPr>
            <a:xfrm>
              <a:off x="8058083" y="70766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AC591B02-1460-1D43-86A2-5B71835566F9}"/>
                </a:ext>
              </a:extLst>
            </p:cNvPr>
            <p:cNvSpPr txBox="1"/>
            <p:nvPr/>
          </p:nvSpPr>
          <p:spPr>
            <a:xfrm>
              <a:off x="8071909" y="1113147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A49392E-3884-4E4E-8DD8-4FB66660F100}"/>
                </a:ext>
              </a:extLst>
            </p:cNvPr>
            <p:cNvSpPr txBox="1"/>
            <p:nvPr/>
          </p:nvSpPr>
          <p:spPr>
            <a:xfrm>
              <a:off x="8084077" y="153292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7D68228D-8F17-8141-A2F9-F2404C6E431F}"/>
                </a:ext>
              </a:extLst>
            </p:cNvPr>
            <p:cNvSpPr txBox="1"/>
            <p:nvPr/>
          </p:nvSpPr>
          <p:spPr>
            <a:xfrm>
              <a:off x="8055628" y="192598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4</a:t>
              </a:r>
              <a:endParaRPr lang="en-US" sz="14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81CFA0EA-59D7-1342-8291-20E11EF542A2}"/>
                </a:ext>
              </a:extLst>
            </p:cNvPr>
            <p:cNvSpPr txBox="1"/>
            <p:nvPr/>
          </p:nvSpPr>
          <p:spPr>
            <a:xfrm>
              <a:off x="8066329" y="231674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5</a:t>
              </a:r>
              <a:endParaRPr lang="en-US" sz="1400" dirty="0"/>
            </a:p>
          </p:txBody>
        </p:sp>
      </p:grpSp>
      <p:sp>
        <p:nvSpPr>
          <p:cNvPr id="174" name="Trapezoid 173">
            <a:extLst>
              <a:ext uri="{FF2B5EF4-FFF2-40B4-BE49-F238E27FC236}">
                <a16:creationId xmlns:a16="http://schemas.microsoft.com/office/drawing/2014/main" id="{8C89F43B-FBA9-CA45-8B68-6A596A6B56BA}"/>
              </a:ext>
            </a:extLst>
          </p:cNvPr>
          <p:cNvSpPr/>
          <p:nvPr/>
        </p:nvSpPr>
        <p:spPr>
          <a:xfrm rot="16200000">
            <a:off x="5841927" y="242660"/>
            <a:ext cx="2266235" cy="3070956"/>
          </a:xfrm>
          <a:prstGeom prst="trapezoid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620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63504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3891" y="6521445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/>
              <a:t>29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8615-162E-0446-97BA-6A74199ED555}"/>
              </a:ext>
            </a:extLst>
          </p:cNvPr>
          <p:cNvSpPr txBox="1"/>
          <p:nvPr/>
        </p:nvSpPr>
        <p:spPr>
          <a:xfrm>
            <a:off x="-4024" y="-10993"/>
            <a:ext cx="868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latin typeface="Arial"/>
                <a:cs typeface="Arial"/>
              </a:rPr>
              <a:t>D-Representations [</a:t>
            </a:r>
            <a:r>
              <a:rPr lang="en-US" sz="2800" kern="0" dirty="0" err="1">
                <a:latin typeface="Arial"/>
                <a:cs typeface="Arial"/>
              </a:rPr>
              <a:t>Olteanu</a:t>
            </a:r>
            <a:r>
              <a:rPr lang="en-US" sz="2800" kern="0" dirty="0">
                <a:latin typeface="Arial"/>
                <a:cs typeface="Arial"/>
              </a:rPr>
              <a:t> et al., TODS 2015]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5BCE78C-3DEF-9E40-80DA-35974D258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6" y="6601696"/>
            <a:ext cx="692709" cy="230903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4FEFC380-EC50-4C4E-A978-C3CFA00AC282}"/>
              </a:ext>
            </a:extLst>
          </p:cNvPr>
          <p:cNvSpPr/>
          <p:nvPr/>
        </p:nvSpPr>
        <p:spPr>
          <a:xfrm>
            <a:off x="4825791" y="2622093"/>
            <a:ext cx="2346956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kern="0" dirty="0">
                <a:solidFill>
                  <a:srgbClr val="0000CC"/>
                </a:solidFill>
                <a:latin typeface="Arial"/>
                <a:cs typeface="Arial"/>
              </a:rPr>
              <a:t>D-Representation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9D310452-E278-0743-B6BE-55D668ADC12C}"/>
              </a:ext>
            </a:extLst>
          </p:cNvPr>
          <p:cNvGraphicFramePr>
            <a:graphicFrameLocks noGrp="1"/>
          </p:cNvGraphicFramePr>
          <p:nvPr/>
        </p:nvGraphicFramePr>
        <p:xfrm>
          <a:off x="244949" y="3075882"/>
          <a:ext cx="3416302" cy="294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4052512296"/>
                    </a:ext>
                  </a:extLst>
                </a:gridCol>
                <a:gridCol w="219668">
                  <a:extLst>
                    <a:ext uri="{9D8B030D-6E8A-4147-A177-3AD203B41FA5}">
                      <a16:colId xmlns:a16="http://schemas.microsoft.com/office/drawing/2014/main" val="400113096"/>
                    </a:ext>
                  </a:extLst>
                </a:gridCol>
                <a:gridCol w="559117">
                  <a:extLst>
                    <a:ext uri="{9D8B030D-6E8A-4147-A177-3AD203B41FA5}">
                      <a16:colId xmlns:a16="http://schemas.microsoft.com/office/drawing/2014/main" val="4248055157"/>
                    </a:ext>
                  </a:extLst>
                </a:gridCol>
                <a:gridCol w="274047">
                  <a:extLst>
                    <a:ext uri="{9D8B030D-6E8A-4147-A177-3AD203B41FA5}">
                      <a16:colId xmlns:a16="http://schemas.microsoft.com/office/drawing/2014/main" val="3025983691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4072432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555914099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228984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73077"/>
                  </a:ext>
                </a:extLst>
              </a:tr>
              <a:tr h="143107">
                <a:tc gridSpan="7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90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{A</a:t>
                      </a:r>
                      <a:r>
                        <a:rPr lang="en-US" sz="1700" baseline="-25000" dirty="0"/>
                        <a:t>1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{B</a:t>
                      </a:r>
                      <a:r>
                        <a:rPr lang="en-US" sz="1700" baseline="-25000" dirty="0"/>
                        <a:t>1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{C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dirty="0"/>
                        <a:t>, D</a:t>
                      </a:r>
                      <a:r>
                        <a:rPr lang="en-US" sz="1700" baseline="-25000" dirty="0"/>
                        <a:t>3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422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{A</a:t>
                      </a:r>
                      <a:r>
                        <a:rPr lang="en-US" sz="1700" baseline="-25000" dirty="0"/>
                        <a:t>1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{B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{C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dirty="0"/>
                        <a:t>, D</a:t>
                      </a:r>
                      <a:r>
                        <a:rPr lang="en-US" sz="1700" baseline="-25000" dirty="0"/>
                        <a:t>3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6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{A</a:t>
                      </a:r>
                      <a:r>
                        <a:rPr lang="en-US" sz="1700" baseline="-25000" dirty="0"/>
                        <a:t>1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{B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{C</a:t>
                      </a:r>
                      <a:r>
                        <a:rPr lang="en-US" sz="1700" baseline="-25000" dirty="0"/>
                        <a:t>3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</a:t>
                      </a:r>
                      <a:r>
                        <a:rPr lang="en-US" sz="1700" baseline="-25000" dirty="0"/>
                        <a:t>3</a:t>
                      </a:r>
                      <a:r>
                        <a:rPr lang="en-US" sz="1700" dirty="0"/>
                        <a:t>, D</a:t>
                      </a:r>
                      <a:r>
                        <a:rPr lang="en-US" sz="1700" baseline="-25000" dirty="0"/>
                        <a:t>4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826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{A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{B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{C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</a:t>
                      </a:r>
                      <a:r>
                        <a:rPr lang="en-US" sz="1700" baseline="-25000" dirty="0"/>
                        <a:t>3</a:t>
                      </a:r>
                      <a:r>
                        <a:rPr lang="en-US" sz="1700" dirty="0"/>
                        <a:t>, D</a:t>
                      </a:r>
                      <a:r>
                        <a:rPr lang="en-US" sz="1700" baseline="-25000" dirty="0"/>
                        <a:t>4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02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{A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{B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{C</a:t>
                      </a:r>
                      <a:r>
                        <a:rPr lang="en-US" sz="1700" baseline="-25000" dirty="0"/>
                        <a:t>3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</a:t>
                      </a:r>
                      <a:r>
                        <a:rPr lang="en-US" sz="1700" baseline="-25000" dirty="0"/>
                        <a:t>3</a:t>
                      </a:r>
                      <a:r>
                        <a:rPr lang="en-US" sz="1700" dirty="0"/>
                        <a:t>, D</a:t>
                      </a:r>
                      <a:r>
                        <a:rPr lang="en-US" sz="1700" baseline="-25000" dirty="0"/>
                        <a:t>4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975258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174230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6BF5154-8000-DA46-9631-AA702B4D6547}"/>
              </a:ext>
            </a:extLst>
          </p:cNvPr>
          <p:cNvSpPr/>
          <p:nvPr/>
        </p:nvSpPr>
        <p:spPr>
          <a:xfrm>
            <a:off x="711835" y="2595776"/>
            <a:ext cx="2346956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kern="0" dirty="0">
                <a:solidFill>
                  <a:srgbClr val="0000CC"/>
                </a:solidFill>
                <a:latin typeface="Arial"/>
                <a:cs typeface="Arial"/>
              </a:rPr>
              <a:t>F-Representation</a:t>
            </a:r>
          </a:p>
        </p:txBody>
      </p:sp>
      <p:graphicFrame>
        <p:nvGraphicFramePr>
          <p:cNvPr id="29" name="Table 5">
            <a:extLst>
              <a:ext uri="{FF2B5EF4-FFF2-40B4-BE49-F238E27FC236}">
                <a16:creationId xmlns:a16="http://schemas.microsoft.com/office/drawing/2014/main" id="{607C530A-95AA-274C-9027-B6FD7760B5D0}"/>
              </a:ext>
            </a:extLst>
          </p:cNvPr>
          <p:cNvGraphicFramePr>
            <a:graphicFrameLocks noGrp="1"/>
          </p:cNvGraphicFramePr>
          <p:nvPr/>
        </p:nvGraphicFramePr>
        <p:xfrm>
          <a:off x="3764660" y="3075882"/>
          <a:ext cx="2366701" cy="175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67">
                  <a:extLst>
                    <a:ext uri="{9D8B030D-6E8A-4147-A177-3AD203B41FA5}">
                      <a16:colId xmlns:a16="http://schemas.microsoft.com/office/drawing/2014/main" val="1783864165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4072432"/>
                    </a:ext>
                  </a:extLst>
                </a:gridCol>
                <a:gridCol w="270249">
                  <a:extLst>
                    <a:ext uri="{9D8B030D-6E8A-4147-A177-3AD203B41FA5}">
                      <a16:colId xmlns:a16="http://schemas.microsoft.com/office/drawing/2014/main" val="555914099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2289845140"/>
                    </a:ext>
                  </a:extLst>
                </a:gridCol>
              </a:tblGrid>
              <a:tr h="29260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Expr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73077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C1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{C</a:t>
                      </a:r>
                      <a:r>
                        <a:rPr lang="en-US" sz="1700" baseline="-25000" dirty="0"/>
                        <a:t>1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</a:t>
                      </a:r>
                      <a:r>
                        <a:rPr lang="en-US" sz="1700" baseline="-25000" dirty="0"/>
                        <a:t>1</a:t>
                      </a:r>
                      <a:r>
                        <a:rPr lang="en-US" sz="1700" dirty="0"/>
                        <a:t>, D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422265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C2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{C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dirty="0"/>
                        <a:t>, D</a:t>
                      </a:r>
                      <a:r>
                        <a:rPr lang="en-US" sz="1700" baseline="-25000" dirty="0"/>
                        <a:t>3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6771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C3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{C</a:t>
                      </a:r>
                      <a:r>
                        <a:rPr lang="en-US" sz="1700" baseline="-25000" dirty="0"/>
                        <a:t>3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</a:t>
                      </a:r>
                      <a:r>
                        <a:rPr lang="en-US" sz="1700" baseline="-25000" dirty="0"/>
                        <a:t>3</a:t>
                      </a:r>
                      <a:r>
                        <a:rPr lang="en-US" sz="1700" dirty="0"/>
                        <a:t>, D</a:t>
                      </a:r>
                      <a:r>
                        <a:rPr lang="en-US" sz="1700" baseline="-25000" dirty="0"/>
                        <a:t>4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826058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C4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{C</a:t>
                      </a:r>
                      <a:r>
                        <a:rPr lang="en-US" sz="1700" baseline="-25000" dirty="0"/>
                        <a:t>4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</a:t>
                      </a:r>
                      <a:r>
                        <a:rPr lang="en-US" sz="1700" baseline="-25000" dirty="0"/>
                        <a:t>4</a:t>
                      </a:r>
                      <a:r>
                        <a:rPr lang="en-US" sz="1700" dirty="0"/>
                        <a:t>, D</a:t>
                      </a:r>
                      <a:r>
                        <a:rPr lang="en-US" sz="1700" baseline="-25000" dirty="0"/>
                        <a:t>5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024570"/>
                  </a:ext>
                </a:extLst>
              </a:tr>
            </a:tbl>
          </a:graphicData>
        </a:graphic>
      </p:graphicFrame>
      <p:graphicFrame>
        <p:nvGraphicFramePr>
          <p:cNvPr id="30" name="Table 5">
            <a:extLst>
              <a:ext uri="{FF2B5EF4-FFF2-40B4-BE49-F238E27FC236}">
                <a16:creationId xmlns:a16="http://schemas.microsoft.com/office/drawing/2014/main" id="{097AB223-97A7-944A-93FC-CE5944F265E4}"/>
              </a:ext>
            </a:extLst>
          </p:cNvPr>
          <p:cNvGraphicFramePr>
            <a:graphicFrameLocks noGrp="1"/>
          </p:cNvGraphicFramePr>
          <p:nvPr/>
        </p:nvGraphicFramePr>
        <p:xfrm>
          <a:off x="6287509" y="3075882"/>
          <a:ext cx="2834138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5955">
                  <a:extLst>
                    <a:ext uri="{9D8B030D-6E8A-4147-A177-3AD203B41FA5}">
                      <a16:colId xmlns:a16="http://schemas.microsoft.com/office/drawing/2014/main" val="1783864165"/>
                    </a:ext>
                  </a:extLst>
                </a:gridCol>
                <a:gridCol w="559117">
                  <a:extLst>
                    <a:ext uri="{9D8B030D-6E8A-4147-A177-3AD203B41FA5}">
                      <a16:colId xmlns:a16="http://schemas.microsoft.com/office/drawing/2014/main" val="24072432"/>
                    </a:ext>
                  </a:extLst>
                </a:gridCol>
                <a:gridCol w="302711">
                  <a:extLst>
                    <a:ext uri="{9D8B030D-6E8A-4147-A177-3AD203B41FA5}">
                      <a16:colId xmlns:a16="http://schemas.microsoft.com/office/drawing/2014/main" val="555914099"/>
                    </a:ext>
                  </a:extLst>
                </a:gridCol>
                <a:gridCol w="1316355">
                  <a:extLst>
                    <a:ext uri="{9D8B030D-6E8A-4147-A177-3AD203B41FA5}">
                      <a16:colId xmlns:a16="http://schemas.microsoft.com/office/drawing/2014/main" val="2289845140"/>
                    </a:ext>
                  </a:extLst>
                </a:gridCol>
              </a:tblGrid>
              <a:tr h="19195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Expr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{c, d}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73077"/>
                  </a:ext>
                </a:extLst>
              </a:tr>
              <a:tr h="18932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B1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{B</a:t>
                      </a:r>
                      <a:r>
                        <a:rPr lang="en-US" sz="1700" baseline="-25000" dirty="0"/>
                        <a:t>1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{DN</a:t>
                      </a:r>
                      <a:r>
                        <a:rPr lang="en-US" sz="1700" baseline="-25000" dirty="0"/>
                        <a:t>C1</a:t>
                      </a:r>
                      <a:r>
                        <a:rPr lang="en-US" sz="1700" baseline="0" dirty="0"/>
                        <a:t>, </a:t>
                      </a: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C2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422265"/>
                  </a:ext>
                </a:extLst>
              </a:tr>
              <a:tr h="19195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B2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{B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{DN</a:t>
                      </a:r>
                      <a:r>
                        <a:rPr lang="en-US" sz="1700" baseline="-25000" dirty="0"/>
                        <a:t>C2</a:t>
                      </a:r>
                      <a:r>
                        <a:rPr lang="en-US" sz="1700" baseline="0" dirty="0"/>
                        <a:t>, </a:t>
                      </a: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C3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6771"/>
                  </a:ext>
                </a:extLst>
              </a:tr>
              <a:tr h="19195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B3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{B</a:t>
                      </a:r>
                      <a:r>
                        <a:rPr lang="en-US" sz="1700" baseline="-25000" dirty="0"/>
                        <a:t>3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{DN</a:t>
                      </a:r>
                      <a:r>
                        <a:rPr lang="en-US" sz="1700" baseline="-25000" dirty="0"/>
                        <a:t>C3</a:t>
                      </a:r>
                      <a:r>
                        <a:rPr lang="en-US" sz="1700" baseline="0" dirty="0"/>
                        <a:t>, </a:t>
                      </a: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C4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826058"/>
                  </a:ext>
                </a:extLst>
              </a:tr>
            </a:tbl>
          </a:graphicData>
        </a:graphic>
      </p:graphicFrame>
      <p:graphicFrame>
        <p:nvGraphicFramePr>
          <p:cNvPr id="31" name="Table 5">
            <a:extLst>
              <a:ext uri="{FF2B5EF4-FFF2-40B4-BE49-F238E27FC236}">
                <a16:creationId xmlns:a16="http://schemas.microsoft.com/office/drawing/2014/main" id="{DEB149C4-CF86-9C41-AC4D-3D08496C14ED}"/>
              </a:ext>
            </a:extLst>
          </p:cNvPr>
          <p:cNvGraphicFramePr>
            <a:graphicFrameLocks noGrp="1"/>
          </p:cNvGraphicFramePr>
          <p:nvPr/>
        </p:nvGraphicFramePr>
        <p:xfrm>
          <a:off x="5158557" y="4894008"/>
          <a:ext cx="2189296" cy="1051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4072432"/>
                    </a:ext>
                  </a:extLst>
                </a:gridCol>
                <a:gridCol w="302711">
                  <a:extLst>
                    <a:ext uri="{9D8B030D-6E8A-4147-A177-3AD203B41FA5}">
                      <a16:colId xmlns:a16="http://schemas.microsoft.com/office/drawing/2014/main" val="555914099"/>
                    </a:ext>
                  </a:extLst>
                </a:gridCol>
                <a:gridCol w="1319530">
                  <a:extLst>
                    <a:ext uri="{9D8B030D-6E8A-4147-A177-3AD203B41FA5}">
                      <a16:colId xmlns:a16="http://schemas.microsoft.com/office/drawing/2014/main" val="2289845140"/>
                    </a:ext>
                  </a:extLst>
                </a:gridCol>
              </a:tblGrid>
              <a:tr h="15287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{b, c, d}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73077"/>
                  </a:ext>
                </a:extLst>
              </a:tr>
              <a:tr h="15078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{A</a:t>
                      </a:r>
                      <a:r>
                        <a:rPr lang="en-US" sz="1700" baseline="-25000" dirty="0"/>
                        <a:t>1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{DN</a:t>
                      </a:r>
                      <a:r>
                        <a:rPr lang="en-US" sz="1700" baseline="-25000" dirty="0"/>
                        <a:t>B1</a:t>
                      </a:r>
                      <a:r>
                        <a:rPr lang="en-US" sz="1700" baseline="0" dirty="0"/>
                        <a:t>, </a:t>
                      </a: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B2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422265"/>
                  </a:ext>
                </a:extLst>
              </a:tr>
              <a:tr h="15287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{A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{DN</a:t>
                      </a:r>
                      <a:r>
                        <a:rPr lang="en-US" sz="1700" baseline="-25000" dirty="0"/>
                        <a:t>B2</a:t>
                      </a:r>
                      <a:r>
                        <a:rPr lang="en-US" sz="1700" baseline="0" dirty="0"/>
                        <a:t>, </a:t>
                      </a: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B3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6771"/>
                  </a:ext>
                </a:extLst>
              </a:tr>
            </a:tbl>
          </a:graphicData>
        </a:graphic>
      </p:graphicFrame>
      <p:grpSp>
        <p:nvGrpSpPr>
          <p:cNvPr id="69" name="Group 68">
            <a:extLst>
              <a:ext uri="{FF2B5EF4-FFF2-40B4-BE49-F238E27FC236}">
                <a16:creationId xmlns:a16="http://schemas.microsoft.com/office/drawing/2014/main" id="{E2A48548-F068-5844-BBF3-EED5D3F34EB6}"/>
              </a:ext>
            </a:extLst>
          </p:cNvPr>
          <p:cNvGrpSpPr/>
          <p:nvPr/>
        </p:nvGrpSpPr>
        <p:grpSpPr>
          <a:xfrm>
            <a:off x="3057516" y="707660"/>
            <a:ext cx="3028969" cy="1938141"/>
            <a:chOff x="5512308" y="707660"/>
            <a:chExt cx="3028969" cy="1938141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485F0B4-0507-9149-BE00-A31B37276F15}"/>
                </a:ext>
              </a:extLst>
            </p:cNvPr>
            <p:cNvSpPr txBox="1"/>
            <p:nvPr/>
          </p:nvSpPr>
          <p:spPr>
            <a:xfrm>
              <a:off x="6362293" y="1205269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13636046-F680-9347-A6CD-A80111FC25EE}"/>
                </a:ext>
              </a:extLst>
            </p:cNvPr>
            <p:cNvCxnSpPr>
              <a:cxnSpLocks/>
              <a:stCxn id="142" idx="6"/>
              <a:endCxn id="136" idx="2"/>
            </p:cNvCxnSpPr>
            <p:nvPr/>
          </p:nvCxnSpPr>
          <p:spPr>
            <a:xfrm flipV="1">
              <a:off x="6742863" y="1533322"/>
              <a:ext cx="528165" cy="2383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487AE460-96BD-7C46-9DF2-23198013D7B5}"/>
                </a:ext>
              </a:extLst>
            </p:cNvPr>
            <p:cNvCxnSpPr>
              <a:cxnSpLocks/>
              <a:stCxn id="142" idx="6"/>
              <a:endCxn id="135" idx="2"/>
            </p:cNvCxnSpPr>
            <p:nvPr/>
          </p:nvCxnSpPr>
          <p:spPr>
            <a:xfrm>
              <a:off x="6742863" y="1771694"/>
              <a:ext cx="528165" cy="17455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48FEE173-89A3-2448-9CC4-DBE3ECA9A253}"/>
                </a:ext>
              </a:extLst>
            </p:cNvPr>
            <p:cNvCxnSpPr>
              <a:cxnSpLocks/>
              <a:stCxn id="139" idx="6"/>
              <a:endCxn id="142" idx="2"/>
            </p:cNvCxnSpPr>
            <p:nvPr/>
          </p:nvCxnSpPr>
          <p:spPr>
            <a:xfrm>
              <a:off x="5889790" y="1571587"/>
              <a:ext cx="533033" cy="2001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4D257D3-C31C-7C45-8705-203853267039}"/>
                </a:ext>
              </a:extLst>
            </p:cNvPr>
            <p:cNvGrpSpPr/>
            <p:nvPr/>
          </p:nvGrpSpPr>
          <p:grpSpPr>
            <a:xfrm>
              <a:off x="6417955" y="1178938"/>
              <a:ext cx="324908" cy="1185512"/>
              <a:chOff x="5584299" y="2004314"/>
              <a:chExt cx="324908" cy="1185512"/>
            </a:xfrm>
          </p:grpSpPr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B2808E0D-1102-1444-9D88-9E9E9057AC8F}"/>
                  </a:ext>
                </a:extLst>
              </p:cNvPr>
              <p:cNvSpPr/>
              <p:nvPr/>
            </p:nvSpPr>
            <p:spPr>
              <a:xfrm>
                <a:off x="5589167" y="2004314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55794906-E0DA-E54E-B3CE-E980CE903ED3}"/>
                  </a:ext>
                </a:extLst>
              </p:cNvPr>
              <p:cNvSpPr/>
              <p:nvPr/>
            </p:nvSpPr>
            <p:spPr>
              <a:xfrm>
                <a:off x="5589167" y="243705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81F9BCE3-47EB-C947-B538-B0A9DD9D32AD}"/>
                  </a:ext>
                </a:extLst>
              </p:cNvPr>
              <p:cNvSpPr/>
              <p:nvPr/>
            </p:nvSpPr>
            <p:spPr>
              <a:xfrm>
                <a:off x="5584299" y="2869786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EEB466C-5A13-AE41-A551-EF6331CA1980}"/>
                </a:ext>
              </a:extLst>
            </p:cNvPr>
            <p:cNvGrpSpPr/>
            <p:nvPr/>
          </p:nvGrpSpPr>
          <p:grpSpPr>
            <a:xfrm>
              <a:off x="5569750" y="1411567"/>
              <a:ext cx="320040" cy="812208"/>
              <a:chOff x="4781952" y="2251011"/>
              <a:chExt cx="320040" cy="812208"/>
            </a:xfrm>
          </p:grpSpPr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D222FB7-A6FB-A840-8768-739F3C38AD0F}"/>
                  </a:ext>
                </a:extLst>
              </p:cNvPr>
              <p:cNvSpPr/>
              <p:nvPr/>
            </p:nvSpPr>
            <p:spPr>
              <a:xfrm>
                <a:off x="4781952" y="2251011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00B0F0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1EF069A2-7C51-7C4F-B2F6-1C0167744BCD}"/>
                  </a:ext>
                </a:extLst>
              </p:cNvPr>
              <p:cNvSpPr/>
              <p:nvPr/>
            </p:nvSpPr>
            <p:spPr>
              <a:xfrm>
                <a:off x="4781952" y="2743179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00B0F0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3F3A4B80-2BDF-4842-AAE8-D3A3F47A5728}"/>
                </a:ext>
              </a:extLst>
            </p:cNvPr>
            <p:cNvCxnSpPr>
              <a:cxnSpLocks/>
              <a:stCxn id="140" idx="6"/>
              <a:endCxn id="142" idx="2"/>
            </p:cNvCxnSpPr>
            <p:nvPr/>
          </p:nvCxnSpPr>
          <p:spPr>
            <a:xfrm flipV="1">
              <a:off x="5889790" y="1771694"/>
              <a:ext cx="533033" cy="2920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66C26E0F-4285-304F-B786-B29621A69612}"/>
                </a:ext>
              </a:extLst>
            </p:cNvPr>
            <p:cNvCxnSpPr>
              <a:cxnSpLocks/>
              <a:stCxn id="140" idx="6"/>
              <a:endCxn id="143" idx="2"/>
            </p:cNvCxnSpPr>
            <p:nvPr/>
          </p:nvCxnSpPr>
          <p:spPr>
            <a:xfrm>
              <a:off x="5889790" y="2063755"/>
              <a:ext cx="528165" cy="1406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5570B47A-6D3F-D24D-B231-49978751E626}"/>
                </a:ext>
              </a:extLst>
            </p:cNvPr>
            <p:cNvCxnSpPr>
              <a:cxnSpLocks/>
              <a:stCxn id="143" idx="6"/>
              <a:endCxn id="135" idx="2"/>
            </p:cNvCxnSpPr>
            <p:nvPr/>
          </p:nvCxnSpPr>
          <p:spPr>
            <a:xfrm flipV="1">
              <a:off x="6737995" y="1946247"/>
              <a:ext cx="533033" cy="2581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A72F2C25-08D6-7341-8FC1-2DFC7D68776A}"/>
                </a:ext>
              </a:extLst>
            </p:cNvPr>
            <p:cNvCxnSpPr>
              <a:cxnSpLocks/>
              <a:stCxn id="143" idx="6"/>
              <a:endCxn id="137" idx="2"/>
            </p:cNvCxnSpPr>
            <p:nvPr/>
          </p:nvCxnSpPr>
          <p:spPr>
            <a:xfrm>
              <a:off x="6737995" y="2204430"/>
              <a:ext cx="533033" cy="1547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D29B7DC1-E5FC-B247-9DD4-23F806A66BDD}"/>
                </a:ext>
              </a:extLst>
            </p:cNvPr>
            <p:cNvCxnSpPr>
              <a:cxnSpLocks/>
              <a:stCxn id="139" idx="6"/>
              <a:endCxn id="141" idx="3"/>
            </p:cNvCxnSpPr>
            <p:nvPr/>
          </p:nvCxnSpPr>
          <p:spPr>
            <a:xfrm flipV="1">
              <a:off x="5889790" y="1452109"/>
              <a:ext cx="579902" cy="11947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25921FE6-5743-6B4B-BE2E-86FE46CEDE55}"/>
                </a:ext>
              </a:extLst>
            </p:cNvPr>
            <p:cNvGrpSpPr/>
            <p:nvPr/>
          </p:nvGrpSpPr>
          <p:grpSpPr>
            <a:xfrm>
              <a:off x="7271028" y="960377"/>
              <a:ext cx="320040" cy="1558816"/>
              <a:chOff x="6223601" y="1757617"/>
              <a:chExt cx="320040" cy="1558816"/>
            </a:xfrm>
          </p:grpSpPr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CC9CFC03-3C1A-3444-A1C4-12AF6320D9BA}"/>
                  </a:ext>
                </a:extLst>
              </p:cNvPr>
              <p:cNvSpPr/>
              <p:nvPr/>
            </p:nvSpPr>
            <p:spPr>
              <a:xfrm>
                <a:off x="6223601" y="2583467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8F6632C4-B727-374A-B632-CC7B0A89A826}"/>
                  </a:ext>
                </a:extLst>
              </p:cNvPr>
              <p:cNvSpPr/>
              <p:nvPr/>
            </p:nvSpPr>
            <p:spPr>
              <a:xfrm>
                <a:off x="6223601" y="2170542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C31922E5-A2A2-0746-9F91-2156FFD5C6AC}"/>
                  </a:ext>
                </a:extLst>
              </p:cNvPr>
              <p:cNvSpPr/>
              <p:nvPr/>
            </p:nvSpPr>
            <p:spPr>
              <a:xfrm>
                <a:off x="6223601" y="2996393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B3806DD2-97E7-0641-B7C3-7B79107C02A3}"/>
                  </a:ext>
                </a:extLst>
              </p:cNvPr>
              <p:cNvSpPr/>
              <p:nvPr/>
            </p:nvSpPr>
            <p:spPr>
              <a:xfrm>
                <a:off x="6223601" y="1757617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DC5ADFB1-5EB8-1D43-8873-2A4E56D7C746}"/>
                </a:ext>
              </a:extLst>
            </p:cNvPr>
            <p:cNvGrpSpPr/>
            <p:nvPr/>
          </p:nvGrpSpPr>
          <p:grpSpPr>
            <a:xfrm>
              <a:off x="8119233" y="713680"/>
              <a:ext cx="320040" cy="1932121"/>
              <a:chOff x="6895336" y="1510920"/>
              <a:chExt cx="320040" cy="1932121"/>
            </a:xfrm>
          </p:grpSpPr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92E83E8F-3596-454C-9DC4-5426DE4F2945}"/>
                  </a:ext>
                </a:extLst>
              </p:cNvPr>
              <p:cNvSpPr/>
              <p:nvPr/>
            </p:nvSpPr>
            <p:spPr>
              <a:xfrm>
                <a:off x="6895336" y="271998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A47F0424-27F5-514D-B4BF-F653527CE0A0}"/>
                  </a:ext>
                </a:extLst>
              </p:cNvPr>
              <p:cNvSpPr/>
              <p:nvPr/>
            </p:nvSpPr>
            <p:spPr>
              <a:xfrm>
                <a:off x="6895336" y="231696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FFF7F6E7-D177-2542-8984-5D776ED00300}"/>
                  </a:ext>
                </a:extLst>
              </p:cNvPr>
              <p:cNvSpPr/>
              <p:nvPr/>
            </p:nvSpPr>
            <p:spPr>
              <a:xfrm>
                <a:off x="6895336" y="3123001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3B136D64-A13C-C943-908A-24DDF5747835}"/>
                  </a:ext>
                </a:extLst>
              </p:cNvPr>
              <p:cNvSpPr/>
              <p:nvPr/>
            </p:nvSpPr>
            <p:spPr>
              <a:xfrm>
                <a:off x="6895336" y="191394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6D639C93-FB56-234C-B61B-D3EE5C26FB77}"/>
                  </a:ext>
                </a:extLst>
              </p:cNvPr>
              <p:cNvSpPr/>
              <p:nvPr/>
            </p:nvSpPr>
            <p:spPr>
              <a:xfrm>
                <a:off x="6895336" y="1510920"/>
                <a:ext cx="320040" cy="320040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1260EE5E-84DA-2D4F-BC80-10A8525EA83C}"/>
                </a:ext>
              </a:extLst>
            </p:cNvPr>
            <p:cNvCxnSpPr>
              <a:cxnSpLocks/>
              <a:stCxn id="141" idx="6"/>
              <a:endCxn id="136" idx="2"/>
            </p:cNvCxnSpPr>
            <p:nvPr/>
          </p:nvCxnSpPr>
          <p:spPr>
            <a:xfrm>
              <a:off x="6742863" y="1338958"/>
              <a:ext cx="528165" cy="1943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50CC81FF-D200-D14E-9019-683681BAB428}"/>
                </a:ext>
              </a:extLst>
            </p:cNvPr>
            <p:cNvCxnSpPr>
              <a:cxnSpLocks/>
              <a:stCxn id="141" idx="6"/>
              <a:endCxn id="138" idx="2"/>
            </p:cNvCxnSpPr>
            <p:nvPr/>
          </p:nvCxnSpPr>
          <p:spPr>
            <a:xfrm flipV="1">
              <a:off x="6742863" y="1120397"/>
              <a:ext cx="528165" cy="2185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C6DB3178-38B4-F64F-B332-6CC06C91ADA1}"/>
                </a:ext>
              </a:extLst>
            </p:cNvPr>
            <p:cNvCxnSpPr>
              <a:cxnSpLocks/>
              <a:stCxn id="138" idx="6"/>
              <a:endCxn id="134" idx="2"/>
            </p:cNvCxnSpPr>
            <p:nvPr/>
          </p:nvCxnSpPr>
          <p:spPr>
            <a:xfrm flipV="1">
              <a:off x="7591068" y="873700"/>
              <a:ext cx="528165" cy="24669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FBA25BA-CA75-E84A-AD93-94B12ABD46AE}"/>
                </a:ext>
              </a:extLst>
            </p:cNvPr>
            <p:cNvCxnSpPr>
              <a:cxnSpLocks/>
              <a:stCxn id="138" idx="6"/>
              <a:endCxn id="133" idx="2"/>
            </p:cNvCxnSpPr>
            <p:nvPr/>
          </p:nvCxnSpPr>
          <p:spPr>
            <a:xfrm>
              <a:off x="7591068" y="1120397"/>
              <a:ext cx="528165" cy="1563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0A57A0DB-D0A1-B84E-894C-9B472108DB40}"/>
                </a:ext>
              </a:extLst>
            </p:cNvPr>
            <p:cNvCxnSpPr>
              <a:cxnSpLocks/>
              <a:stCxn id="136" idx="6"/>
              <a:endCxn id="133" idx="2"/>
            </p:cNvCxnSpPr>
            <p:nvPr/>
          </p:nvCxnSpPr>
          <p:spPr>
            <a:xfrm flipV="1">
              <a:off x="7591068" y="1276720"/>
              <a:ext cx="528165" cy="2566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61BEF943-C712-104C-968B-BEDAB204E0D8}"/>
                </a:ext>
              </a:extLst>
            </p:cNvPr>
            <p:cNvCxnSpPr>
              <a:cxnSpLocks/>
              <a:stCxn id="136" idx="6"/>
              <a:endCxn id="131" idx="2"/>
            </p:cNvCxnSpPr>
            <p:nvPr/>
          </p:nvCxnSpPr>
          <p:spPr>
            <a:xfrm>
              <a:off x="7591068" y="1533322"/>
              <a:ext cx="528165" cy="1464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5C0F7614-3431-A748-8369-DC30B09FBF65}"/>
                </a:ext>
              </a:extLst>
            </p:cNvPr>
            <p:cNvCxnSpPr>
              <a:cxnSpLocks/>
              <a:stCxn id="135" idx="6"/>
              <a:endCxn id="131" idx="2"/>
            </p:cNvCxnSpPr>
            <p:nvPr/>
          </p:nvCxnSpPr>
          <p:spPr>
            <a:xfrm flipV="1">
              <a:off x="7591068" y="1679740"/>
              <a:ext cx="528165" cy="2665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1186572B-1900-DA4E-85FB-3F0D921233F1}"/>
                </a:ext>
              </a:extLst>
            </p:cNvPr>
            <p:cNvCxnSpPr>
              <a:cxnSpLocks/>
              <a:stCxn id="135" idx="6"/>
              <a:endCxn id="130" idx="2"/>
            </p:cNvCxnSpPr>
            <p:nvPr/>
          </p:nvCxnSpPr>
          <p:spPr>
            <a:xfrm>
              <a:off x="7591068" y="1946247"/>
              <a:ext cx="528165" cy="1365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C98C647F-9542-B148-9E30-FD5D9FC1D4AC}"/>
                </a:ext>
              </a:extLst>
            </p:cNvPr>
            <p:cNvCxnSpPr>
              <a:cxnSpLocks/>
              <a:stCxn id="137" idx="6"/>
              <a:endCxn id="130" idx="2"/>
            </p:cNvCxnSpPr>
            <p:nvPr/>
          </p:nvCxnSpPr>
          <p:spPr>
            <a:xfrm flipV="1">
              <a:off x="7591068" y="2082760"/>
              <a:ext cx="528165" cy="2764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B33A81E-B15F-9D43-9553-BA76F9CAD029}"/>
                </a:ext>
              </a:extLst>
            </p:cNvPr>
            <p:cNvCxnSpPr>
              <a:cxnSpLocks/>
              <a:stCxn id="137" idx="6"/>
              <a:endCxn id="132" idx="2"/>
            </p:cNvCxnSpPr>
            <p:nvPr/>
          </p:nvCxnSpPr>
          <p:spPr>
            <a:xfrm>
              <a:off x="7591068" y="2359173"/>
              <a:ext cx="528165" cy="126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205AA9C-2A34-0F41-94A6-6FF8E63C5ECE}"/>
                </a:ext>
              </a:extLst>
            </p:cNvPr>
            <p:cNvSpPr txBox="1"/>
            <p:nvPr/>
          </p:nvSpPr>
          <p:spPr>
            <a:xfrm>
              <a:off x="6363610" y="162426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A91A501-BFCB-EE4C-85F7-74EF055A9628}"/>
                </a:ext>
              </a:extLst>
            </p:cNvPr>
            <p:cNvSpPr txBox="1"/>
            <p:nvPr/>
          </p:nvSpPr>
          <p:spPr>
            <a:xfrm>
              <a:off x="6386991" y="2044272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B44A394-C67F-5146-B3C9-26061AC5CD87}"/>
                </a:ext>
              </a:extLst>
            </p:cNvPr>
            <p:cNvSpPr txBox="1"/>
            <p:nvPr/>
          </p:nvSpPr>
          <p:spPr>
            <a:xfrm>
              <a:off x="5515228" y="1414089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A0CEC62-DFCB-E54A-B279-885CBF0EDE62}"/>
                </a:ext>
              </a:extLst>
            </p:cNvPr>
            <p:cNvSpPr txBox="1"/>
            <p:nvPr/>
          </p:nvSpPr>
          <p:spPr>
            <a:xfrm>
              <a:off x="5512308" y="191772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80E3DB5-17D6-BD4D-96D1-DBC0B55A8EE4}"/>
                </a:ext>
              </a:extLst>
            </p:cNvPr>
            <p:cNvSpPr txBox="1"/>
            <p:nvPr/>
          </p:nvSpPr>
          <p:spPr>
            <a:xfrm>
              <a:off x="7218413" y="94865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059C911-2805-534B-AFB0-9E388DFC6DBE}"/>
                </a:ext>
              </a:extLst>
            </p:cNvPr>
            <p:cNvSpPr txBox="1"/>
            <p:nvPr/>
          </p:nvSpPr>
          <p:spPr>
            <a:xfrm>
              <a:off x="7216496" y="136694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91E7551-BBE9-EF47-99E5-0485E13477AC}"/>
                </a:ext>
              </a:extLst>
            </p:cNvPr>
            <p:cNvSpPr txBox="1"/>
            <p:nvPr/>
          </p:nvSpPr>
          <p:spPr>
            <a:xfrm>
              <a:off x="7200040" y="177330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402A5CA-A272-6C43-A19E-BBC4D23A7357}"/>
                </a:ext>
              </a:extLst>
            </p:cNvPr>
            <p:cNvSpPr txBox="1"/>
            <p:nvPr/>
          </p:nvSpPr>
          <p:spPr>
            <a:xfrm>
              <a:off x="7215502" y="222117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</a:t>
              </a:r>
              <a:r>
                <a:rPr lang="en-US" sz="1400" baseline="-25000" dirty="0"/>
                <a:t>4</a:t>
              </a:r>
              <a:endParaRPr lang="en-US" sz="14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CC05FB3-4EFA-9C4A-B0F6-D8B34611A3ED}"/>
                </a:ext>
              </a:extLst>
            </p:cNvPr>
            <p:cNvSpPr txBox="1"/>
            <p:nvPr/>
          </p:nvSpPr>
          <p:spPr>
            <a:xfrm>
              <a:off x="8058083" y="70766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1</a:t>
              </a:r>
              <a:endParaRPr lang="en-US" sz="1400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39C0A45E-00E7-F346-85D7-2D3F1B4FAE37}"/>
                </a:ext>
              </a:extLst>
            </p:cNvPr>
            <p:cNvSpPr txBox="1"/>
            <p:nvPr/>
          </p:nvSpPr>
          <p:spPr>
            <a:xfrm>
              <a:off x="8071909" y="1113147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2</a:t>
              </a:r>
              <a:endParaRPr lang="en-US" sz="1400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E44C75B4-6DA2-F34F-98E8-23FD59B37A0B}"/>
                </a:ext>
              </a:extLst>
            </p:cNvPr>
            <p:cNvSpPr txBox="1"/>
            <p:nvPr/>
          </p:nvSpPr>
          <p:spPr>
            <a:xfrm>
              <a:off x="8084077" y="1532925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3</a:t>
              </a:r>
              <a:endParaRPr lang="en-US" sz="1400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622A9D1D-EB21-AB4B-A5E3-1700D73C63E3}"/>
                </a:ext>
              </a:extLst>
            </p:cNvPr>
            <p:cNvSpPr txBox="1"/>
            <p:nvPr/>
          </p:nvSpPr>
          <p:spPr>
            <a:xfrm>
              <a:off x="8055628" y="192598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4</a:t>
              </a:r>
              <a:endParaRPr lang="en-US" sz="1400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812D2A5-163B-F94F-92B8-448194B0E59C}"/>
                </a:ext>
              </a:extLst>
            </p:cNvPr>
            <p:cNvSpPr txBox="1"/>
            <p:nvPr/>
          </p:nvSpPr>
          <p:spPr>
            <a:xfrm>
              <a:off x="8066329" y="231674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</a:t>
              </a:r>
              <a:r>
                <a:rPr lang="en-US" sz="1400" baseline="-25000" dirty="0"/>
                <a:t>5</a:t>
              </a:r>
              <a:endParaRPr lang="en-US" sz="14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2595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63504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3891" y="6521445"/>
            <a:ext cx="2133600" cy="365125"/>
          </a:xfrm>
        </p:spPr>
        <p:txBody>
          <a:bodyPr/>
          <a:lstStyle/>
          <a:p>
            <a:fld id="{65CC13EC-677E-384F-B278-2939878C589F}" type="slidenum">
              <a:rPr lang="en-US" smtClean="0"/>
              <a:t>30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28615-162E-0446-97BA-6A74199ED555}"/>
              </a:ext>
            </a:extLst>
          </p:cNvPr>
          <p:cNvSpPr txBox="1"/>
          <p:nvPr/>
        </p:nvSpPr>
        <p:spPr>
          <a:xfrm>
            <a:off x="-4024" y="-10993"/>
            <a:ext cx="868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2800" kern="0" dirty="0">
                <a:latin typeface="Arial"/>
                <a:cs typeface="Arial"/>
              </a:rPr>
              <a:t>D-Representation-based Processor (1)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9E29D39-5F3B-C448-93DC-D050AA20D46F}"/>
              </a:ext>
            </a:extLst>
          </p:cNvPr>
          <p:cNvGrpSpPr/>
          <p:nvPr/>
        </p:nvGrpSpPr>
        <p:grpSpPr>
          <a:xfrm>
            <a:off x="142032" y="683971"/>
            <a:ext cx="4507234" cy="922560"/>
            <a:chOff x="220440" y="1015608"/>
            <a:chExt cx="4507234" cy="922560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723199B-026A-FD47-B45F-695547740852}"/>
                </a:ext>
              </a:extLst>
            </p:cNvPr>
            <p:cNvSpPr txBox="1"/>
            <p:nvPr/>
          </p:nvSpPr>
          <p:spPr>
            <a:xfrm>
              <a:off x="220440" y="1015608"/>
              <a:ext cx="4507234" cy="922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MATCH </a:t>
              </a:r>
            </a:p>
            <a:p>
              <a:pPr>
                <a:lnSpc>
                  <a:spcPct val="150000"/>
                </a:lnSpc>
              </a:pPr>
              <a:r>
                <a:rPr lang="en-US" sz="1900" dirty="0">
                  <a:latin typeface="Consolas"/>
                  <a:cs typeface="Consolas"/>
                </a:rPr>
                <a:t>WHERE </a:t>
              </a:r>
              <a:r>
                <a:rPr lang="en-US" sz="1900" dirty="0" err="1">
                  <a:latin typeface="Consolas"/>
                  <a:cs typeface="Consolas"/>
                </a:rPr>
                <a:t>a.cntr</a:t>
              </a:r>
              <a:r>
                <a:rPr lang="en-US" sz="1900" dirty="0">
                  <a:latin typeface="Consolas"/>
                  <a:cs typeface="Consolas"/>
                </a:rPr>
                <a:t>=‘US’ &amp; </a:t>
              </a:r>
              <a:r>
                <a:rPr lang="en-US" sz="1900" dirty="0" err="1">
                  <a:latin typeface="Consolas"/>
                  <a:cs typeface="Consolas"/>
                </a:rPr>
                <a:t>e.cntr</a:t>
              </a:r>
              <a:r>
                <a:rPr lang="en-US" sz="1900" dirty="0">
                  <a:latin typeface="Consolas"/>
                  <a:cs typeface="Consolas"/>
                </a:rPr>
                <a:t>=‘CAD’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81635A9A-9BD4-1241-B613-9F1B0630F0EB}"/>
                </a:ext>
              </a:extLst>
            </p:cNvPr>
            <p:cNvSpPr/>
            <p:nvPr/>
          </p:nvSpPr>
          <p:spPr>
            <a:xfrm>
              <a:off x="1311894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9C67AD63-D427-DE48-BD13-30353C2E6AAD}"/>
                </a:ext>
              </a:extLst>
            </p:cNvPr>
            <p:cNvSpPr/>
            <p:nvPr/>
          </p:nvSpPr>
          <p:spPr>
            <a:xfrm>
              <a:off x="1962543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2ACB410-B5BB-0A45-867F-BB7287C82737}"/>
                </a:ext>
              </a:extLst>
            </p:cNvPr>
            <p:cNvSpPr/>
            <p:nvPr/>
          </p:nvSpPr>
          <p:spPr>
            <a:xfrm>
              <a:off x="2613192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A452534-55DB-B24D-B7F0-4A952E02431A}"/>
                </a:ext>
              </a:extLst>
            </p:cNvPr>
            <p:cNvCxnSpPr>
              <a:cxnSpLocks/>
              <a:stCxn id="93" idx="6"/>
              <a:endCxn id="94" idx="2"/>
            </p:cNvCxnSpPr>
            <p:nvPr/>
          </p:nvCxnSpPr>
          <p:spPr>
            <a:xfrm>
              <a:off x="1650222" y="1338188"/>
              <a:ext cx="312321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814D8DDB-AE20-FF4F-8E9F-014FB4F514E0}"/>
                </a:ext>
              </a:extLst>
            </p:cNvPr>
            <p:cNvCxnSpPr>
              <a:cxnSpLocks/>
              <a:stCxn id="94" idx="6"/>
              <a:endCxn id="95" idx="2"/>
            </p:cNvCxnSpPr>
            <p:nvPr/>
          </p:nvCxnSpPr>
          <p:spPr>
            <a:xfrm>
              <a:off x="2300871" y="1338188"/>
              <a:ext cx="312321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BCC35B9-915A-7B42-87A1-24EE06F1F758}"/>
                </a:ext>
              </a:extLst>
            </p:cNvPr>
            <p:cNvSpPr/>
            <p:nvPr/>
          </p:nvSpPr>
          <p:spPr>
            <a:xfrm>
              <a:off x="3263842" y="1167175"/>
              <a:ext cx="338328" cy="342025"/>
            </a:xfrm>
            <a:prstGeom prst="ellipse">
              <a:avLst/>
            </a:prstGeom>
            <a:solidFill>
              <a:srgbClr val="FFC0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075B6B1-D453-1547-8C05-E42B136CB95E}"/>
                </a:ext>
              </a:extLst>
            </p:cNvPr>
            <p:cNvCxnSpPr>
              <a:cxnSpLocks/>
              <a:stCxn id="95" idx="6"/>
              <a:endCxn id="98" idx="2"/>
            </p:cNvCxnSpPr>
            <p:nvPr/>
          </p:nvCxnSpPr>
          <p:spPr>
            <a:xfrm>
              <a:off x="2951520" y="1338188"/>
              <a:ext cx="312322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5133943-AB82-B54A-B94E-95DCBB7776E7}"/>
              </a:ext>
            </a:extLst>
          </p:cNvPr>
          <p:cNvGrpSpPr/>
          <p:nvPr/>
        </p:nvGrpSpPr>
        <p:grpSpPr>
          <a:xfrm>
            <a:off x="141682" y="2318189"/>
            <a:ext cx="8691427" cy="673220"/>
            <a:chOff x="141682" y="2318189"/>
            <a:chExt cx="8691427" cy="673220"/>
          </a:xfrm>
        </p:grpSpPr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CC5FDCE3-B607-2944-A7DB-AD42DBA3584B}"/>
                </a:ext>
              </a:extLst>
            </p:cNvPr>
            <p:cNvSpPr/>
            <p:nvPr/>
          </p:nvSpPr>
          <p:spPr>
            <a:xfrm>
              <a:off x="141682" y="2324539"/>
              <a:ext cx="1162039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(a)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cntr</a:t>
              </a:r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=`US’</a:t>
              </a:r>
            </a:p>
          </p:txBody>
        </p:sp>
        <p:sp>
          <p:nvSpPr>
            <p:cNvPr id="102" name="Rounded Rectangle 101">
              <a:extLst>
                <a:ext uri="{FF2B5EF4-FFF2-40B4-BE49-F238E27FC236}">
                  <a16:creationId xmlns:a16="http://schemas.microsoft.com/office/drawing/2014/main" id="{F6BA953D-C9D1-D04D-9ACB-361EA8759609}"/>
                </a:ext>
              </a:extLst>
            </p:cNvPr>
            <p:cNvSpPr/>
            <p:nvPr/>
          </p:nvSpPr>
          <p:spPr>
            <a:xfrm>
              <a:off x="1565074" y="2323775"/>
              <a:ext cx="1078568" cy="640080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(b)</a:t>
              </a: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DE77DB12-0857-ED47-AF37-B679D37E5BD8}"/>
                </a:ext>
              </a:extLst>
            </p:cNvPr>
            <p:cNvCxnSpPr>
              <a:cxnSpLocks/>
              <a:stCxn id="101" idx="3"/>
              <a:endCxn id="102" idx="1"/>
            </p:cNvCxnSpPr>
            <p:nvPr/>
          </p:nvCxnSpPr>
          <p:spPr>
            <a:xfrm flipV="1">
              <a:off x="1303721" y="2643815"/>
              <a:ext cx="261353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EDE75E2F-4511-0D4C-B787-D98EA62E4651}"/>
                </a:ext>
              </a:extLst>
            </p:cNvPr>
            <p:cNvSpPr/>
            <p:nvPr/>
          </p:nvSpPr>
          <p:spPr>
            <a:xfrm>
              <a:off x="2904995" y="2324539"/>
              <a:ext cx="1078992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(c)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F45DC20D-CBB5-2346-B480-5A477F4912B4}"/>
                </a:ext>
              </a:extLst>
            </p:cNvPr>
            <p:cNvCxnSpPr>
              <a:cxnSpLocks/>
              <a:stCxn id="102" idx="3"/>
              <a:endCxn id="104" idx="1"/>
            </p:cNvCxnSpPr>
            <p:nvPr/>
          </p:nvCxnSpPr>
          <p:spPr>
            <a:xfrm>
              <a:off x="2643642" y="2643815"/>
              <a:ext cx="261353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ounded Rectangle 105">
              <a:extLst>
                <a:ext uri="{FF2B5EF4-FFF2-40B4-BE49-F238E27FC236}">
                  <a16:creationId xmlns:a16="http://schemas.microsoft.com/office/drawing/2014/main" id="{E31C47F4-0284-8045-91FC-645B48A75090}"/>
                </a:ext>
              </a:extLst>
            </p:cNvPr>
            <p:cNvSpPr/>
            <p:nvPr/>
          </p:nvSpPr>
          <p:spPr>
            <a:xfrm>
              <a:off x="4245340" y="2324539"/>
              <a:ext cx="1078992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Extend (d)</a:t>
              </a: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3A5E2D73-0995-1A44-B961-D842B71BBF52}"/>
                </a:ext>
              </a:extLst>
            </p:cNvPr>
            <p:cNvCxnSpPr>
              <a:cxnSpLocks/>
              <a:stCxn id="104" idx="3"/>
              <a:endCxn id="106" idx="1"/>
            </p:cNvCxnSpPr>
            <p:nvPr/>
          </p:nvCxnSpPr>
          <p:spPr>
            <a:xfrm>
              <a:off x="3983987" y="2643816"/>
              <a:ext cx="26135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Rounded Rectangle 107">
              <a:extLst>
                <a:ext uri="{FF2B5EF4-FFF2-40B4-BE49-F238E27FC236}">
                  <a16:creationId xmlns:a16="http://schemas.microsoft.com/office/drawing/2014/main" id="{D4824B0D-EACC-9942-9DAC-6BA6A4AC9630}"/>
                </a:ext>
              </a:extLst>
            </p:cNvPr>
            <p:cNvSpPr/>
            <p:nvPr/>
          </p:nvSpPr>
          <p:spPr>
            <a:xfrm>
              <a:off x="5585685" y="2324539"/>
              <a:ext cx="956529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DGroup</a:t>
              </a:r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(d by c)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1D12D1BB-7F95-AF4F-BE48-3F015BFB5411}"/>
                </a:ext>
              </a:extLst>
            </p:cNvPr>
            <p:cNvCxnSpPr>
              <a:cxnSpLocks/>
              <a:stCxn id="106" idx="3"/>
              <a:endCxn id="108" idx="1"/>
            </p:cNvCxnSpPr>
            <p:nvPr/>
          </p:nvCxnSpPr>
          <p:spPr>
            <a:xfrm>
              <a:off x="5324332" y="2643816"/>
              <a:ext cx="26135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ounded Rectangle 109">
              <a:extLst>
                <a:ext uri="{FF2B5EF4-FFF2-40B4-BE49-F238E27FC236}">
                  <a16:creationId xmlns:a16="http://schemas.microsoft.com/office/drawing/2014/main" id="{060FCBC2-3470-1349-940B-85F10C50E5F5}"/>
                </a:ext>
              </a:extLst>
            </p:cNvPr>
            <p:cNvSpPr/>
            <p:nvPr/>
          </p:nvSpPr>
          <p:spPr>
            <a:xfrm>
              <a:off x="6803567" y="2324539"/>
              <a:ext cx="960120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DGroup</a:t>
              </a:r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 by b)</a:t>
              </a:r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70B7412B-06D4-554A-8711-FAA19D64A2E7}"/>
                </a:ext>
              </a:extLst>
            </p:cNvPr>
            <p:cNvCxnSpPr>
              <a:cxnSpLocks/>
              <a:stCxn id="108" idx="3"/>
              <a:endCxn id="110" idx="1"/>
            </p:cNvCxnSpPr>
            <p:nvPr/>
          </p:nvCxnSpPr>
          <p:spPr>
            <a:xfrm>
              <a:off x="6542214" y="2643816"/>
              <a:ext cx="26135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urved Connector 121">
              <a:extLst>
                <a:ext uri="{FF2B5EF4-FFF2-40B4-BE49-F238E27FC236}">
                  <a16:creationId xmlns:a16="http://schemas.microsoft.com/office/drawing/2014/main" id="{51A3644B-3C9E-F94D-859D-02CF3F11AEE9}"/>
                </a:ext>
              </a:extLst>
            </p:cNvPr>
            <p:cNvCxnSpPr>
              <a:stCxn id="106" idx="0"/>
              <a:endCxn id="108" idx="0"/>
            </p:cNvCxnSpPr>
            <p:nvPr/>
          </p:nvCxnSpPr>
          <p:spPr>
            <a:xfrm rot="5400000" flipH="1" flipV="1">
              <a:off x="5424393" y="1684982"/>
              <a:ext cx="12700" cy="1279114"/>
            </a:xfrm>
            <a:prstGeom prst="curvedConnector3">
              <a:avLst>
                <a:gd name="adj1" fmla="val 1800000"/>
              </a:avLst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urved Connector 125">
              <a:extLst>
                <a:ext uri="{FF2B5EF4-FFF2-40B4-BE49-F238E27FC236}">
                  <a16:creationId xmlns:a16="http://schemas.microsoft.com/office/drawing/2014/main" id="{3A281831-FD0D-AC40-9078-9039659637A0}"/>
                </a:ext>
              </a:extLst>
            </p:cNvPr>
            <p:cNvCxnSpPr>
              <a:cxnSpLocks/>
              <a:stCxn id="104" idx="0"/>
              <a:endCxn id="110" idx="0"/>
            </p:cNvCxnSpPr>
            <p:nvPr/>
          </p:nvCxnSpPr>
          <p:spPr>
            <a:xfrm rot="5400000" flipH="1" flipV="1">
              <a:off x="5364059" y="404971"/>
              <a:ext cx="12700" cy="3839136"/>
            </a:xfrm>
            <a:prstGeom prst="curvedConnector3">
              <a:avLst>
                <a:gd name="adj1" fmla="val 3487496"/>
              </a:avLst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urved Connector 129">
              <a:extLst>
                <a:ext uri="{FF2B5EF4-FFF2-40B4-BE49-F238E27FC236}">
                  <a16:creationId xmlns:a16="http://schemas.microsoft.com/office/drawing/2014/main" id="{3447664A-0C7C-254A-8723-649EF9B816D8}"/>
                </a:ext>
              </a:extLst>
            </p:cNvPr>
            <p:cNvCxnSpPr>
              <a:cxnSpLocks/>
              <a:stCxn id="102" idx="0"/>
            </p:cNvCxnSpPr>
            <p:nvPr/>
          </p:nvCxnSpPr>
          <p:spPr>
            <a:xfrm rot="16200000" flipH="1">
              <a:off x="5304348" y="-876215"/>
              <a:ext cx="764" cy="6400745"/>
            </a:xfrm>
            <a:prstGeom prst="curvedConnector3">
              <a:avLst>
                <a:gd name="adj1" fmla="val -85161126"/>
              </a:avLst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Rounded Rectangle 132">
              <a:extLst>
                <a:ext uri="{FF2B5EF4-FFF2-40B4-BE49-F238E27FC236}">
                  <a16:creationId xmlns:a16="http://schemas.microsoft.com/office/drawing/2014/main" id="{59DAAA53-D50F-F04C-BD77-DFB7E5BE06B4}"/>
                </a:ext>
              </a:extLst>
            </p:cNvPr>
            <p:cNvSpPr/>
            <p:nvPr/>
          </p:nvSpPr>
          <p:spPr>
            <a:xfrm>
              <a:off x="7872989" y="2352856"/>
              <a:ext cx="960120" cy="638553"/>
            </a:xfrm>
            <a:prstGeom prst="round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Sink</a:t>
              </a:r>
            </a:p>
          </p:txBody>
        </p:sp>
      </p:grp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4B4CFA9F-E550-D641-9033-7C9A1D6593D6}"/>
              </a:ext>
            </a:extLst>
          </p:cNvPr>
          <p:cNvSpPr/>
          <p:nvPr/>
        </p:nvSpPr>
        <p:spPr>
          <a:xfrm>
            <a:off x="1577770" y="2327563"/>
            <a:ext cx="1039137" cy="631300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40EA46CD-E2C1-1F4B-BF45-0816EBD25574}"/>
              </a:ext>
            </a:extLst>
          </p:cNvPr>
          <p:cNvSpPr/>
          <p:nvPr/>
        </p:nvSpPr>
        <p:spPr>
          <a:xfrm>
            <a:off x="6788498" y="2319013"/>
            <a:ext cx="983709" cy="631300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C130D92-F188-4E41-845D-4D111B784A0D}"/>
              </a:ext>
            </a:extLst>
          </p:cNvPr>
          <p:cNvSpPr/>
          <p:nvPr/>
        </p:nvSpPr>
        <p:spPr>
          <a:xfrm>
            <a:off x="19126" y="4508176"/>
            <a:ext cx="9118365" cy="1420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DGroup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Constructs and puts D-reps into shared caches with join operators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DAG style plans: operator to skip sub-plans when there is a cache hit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Every other operator is list-based, so operates on blocks</a:t>
            </a:r>
          </a:p>
        </p:txBody>
      </p:sp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EEA784DE-1BB1-FC47-8F3A-CA16CDC76A88}"/>
              </a:ext>
            </a:extLst>
          </p:cNvPr>
          <p:cNvGraphicFramePr>
            <a:graphicFrameLocks noGrp="1"/>
          </p:cNvGraphicFramePr>
          <p:nvPr/>
        </p:nvGraphicFramePr>
        <p:xfrm>
          <a:off x="5670965" y="3081347"/>
          <a:ext cx="2834138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5955">
                  <a:extLst>
                    <a:ext uri="{9D8B030D-6E8A-4147-A177-3AD203B41FA5}">
                      <a16:colId xmlns:a16="http://schemas.microsoft.com/office/drawing/2014/main" val="1783864165"/>
                    </a:ext>
                  </a:extLst>
                </a:gridCol>
                <a:gridCol w="559117">
                  <a:extLst>
                    <a:ext uri="{9D8B030D-6E8A-4147-A177-3AD203B41FA5}">
                      <a16:colId xmlns:a16="http://schemas.microsoft.com/office/drawing/2014/main" val="24072432"/>
                    </a:ext>
                  </a:extLst>
                </a:gridCol>
                <a:gridCol w="302711">
                  <a:extLst>
                    <a:ext uri="{9D8B030D-6E8A-4147-A177-3AD203B41FA5}">
                      <a16:colId xmlns:a16="http://schemas.microsoft.com/office/drawing/2014/main" val="555914099"/>
                    </a:ext>
                  </a:extLst>
                </a:gridCol>
                <a:gridCol w="1316355">
                  <a:extLst>
                    <a:ext uri="{9D8B030D-6E8A-4147-A177-3AD203B41FA5}">
                      <a16:colId xmlns:a16="http://schemas.microsoft.com/office/drawing/2014/main" val="2289845140"/>
                    </a:ext>
                  </a:extLst>
                </a:gridCol>
              </a:tblGrid>
              <a:tr h="19195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Expr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u="sng" dirty="0"/>
                        <a:t>{c, d}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73077"/>
                  </a:ext>
                </a:extLst>
              </a:tr>
              <a:tr h="18932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B1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{B</a:t>
                      </a:r>
                      <a:r>
                        <a:rPr lang="en-US" sz="1700" baseline="-25000" dirty="0"/>
                        <a:t>1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{DN</a:t>
                      </a:r>
                      <a:r>
                        <a:rPr lang="en-US" sz="1700" baseline="-25000" dirty="0"/>
                        <a:t>C1</a:t>
                      </a:r>
                      <a:r>
                        <a:rPr lang="en-US" sz="1700" baseline="0" dirty="0"/>
                        <a:t>, </a:t>
                      </a: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C2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422265"/>
                  </a:ext>
                </a:extLst>
              </a:tr>
              <a:tr h="19195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B2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{B</a:t>
                      </a:r>
                      <a:r>
                        <a:rPr lang="en-US" sz="1700" baseline="-25000" dirty="0"/>
                        <a:t>2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{DN</a:t>
                      </a:r>
                      <a:r>
                        <a:rPr lang="en-US" sz="1700" baseline="-25000" dirty="0"/>
                        <a:t>C2</a:t>
                      </a:r>
                      <a:r>
                        <a:rPr lang="en-US" sz="1700" baseline="0" dirty="0"/>
                        <a:t>, </a:t>
                      </a: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C3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6771"/>
                  </a:ext>
                </a:extLst>
              </a:tr>
              <a:tr h="19195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B3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{B</a:t>
                      </a:r>
                      <a:r>
                        <a:rPr lang="en-US" sz="1700" baseline="-25000" dirty="0"/>
                        <a:t>3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{DN</a:t>
                      </a:r>
                      <a:r>
                        <a:rPr lang="en-US" sz="1700" baseline="-25000" dirty="0"/>
                        <a:t>C3</a:t>
                      </a:r>
                      <a:r>
                        <a:rPr lang="en-US" sz="1700" baseline="0" dirty="0"/>
                        <a:t>, </a:t>
                      </a:r>
                      <a:r>
                        <a:rPr lang="en-US" sz="1700" dirty="0"/>
                        <a:t>DN</a:t>
                      </a:r>
                      <a:r>
                        <a:rPr lang="en-US" sz="1700" baseline="-25000" dirty="0"/>
                        <a:t>C4</a:t>
                      </a:r>
                      <a:r>
                        <a:rPr lang="en-US" sz="1700" baseline="0" dirty="0"/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82605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7182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6509" y="7055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123" y="25400"/>
            <a:ext cx="9089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3200" kern="0" dirty="0">
                <a:latin typeface="Arial"/>
                <a:cs typeface="Arial"/>
              </a:rPr>
              <a:t>D-Representation-based Processor (2)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31</a:t>
            </a:fld>
            <a:endParaRPr lang="en-US"/>
          </a:p>
        </p:txBody>
      </p:sp>
      <p:pic>
        <p:nvPicPr>
          <p:cNvPr id="235" name="Picture 234">
            <a:extLst>
              <a:ext uri="{FF2B5EF4-FFF2-40B4-BE49-F238E27FC236}">
                <a16:creationId xmlns:a16="http://schemas.microsoft.com/office/drawing/2014/main" id="{5B684F3C-DEF9-C84A-BB51-6432799A4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6" y="6496076"/>
            <a:ext cx="1009574" cy="336524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3D9F88A8-38B5-DE45-9EAE-64EAC8231715}"/>
              </a:ext>
            </a:extLst>
          </p:cNvPr>
          <p:cNvSpPr/>
          <p:nvPr/>
        </p:nvSpPr>
        <p:spPr>
          <a:xfrm>
            <a:off x="19126" y="649073"/>
            <a:ext cx="9144000" cy="234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LDBC Social Network Benchmark, Scale factor 10, 176M edges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Ex: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endParaRPr lang="en-US" sz="2000" kern="0" dirty="0">
              <a:latin typeface="Arial"/>
              <a:cs typeface="Arial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kern="0" dirty="0">
                <a:latin typeface="Arial"/>
                <a:cs typeface="Arial"/>
              </a:rPr>
              <a:t>GF-</a:t>
            </a:r>
            <a:r>
              <a:rPr lang="en-US" sz="2000" kern="0" dirty="0" err="1">
                <a:latin typeface="Arial"/>
                <a:cs typeface="Arial"/>
              </a:rPr>
              <a:t>FRep</a:t>
            </a:r>
            <a:r>
              <a:rPr lang="en-US" sz="2000" kern="0" dirty="0">
                <a:latin typeface="Arial"/>
                <a:cs typeface="Arial"/>
              </a:rPr>
              <a:t> vs GF-</a:t>
            </a:r>
            <a:r>
              <a:rPr lang="en-US" sz="2000" kern="0" dirty="0" err="1">
                <a:latin typeface="Arial"/>
                <a:cs typeface="Arial"/>
              </a:rPr>
              <a:t>DRep</a:t>
            </a:r>
            <a:endParaRPr lang="en-US" sz="2000" kern="0" dirty="0">
              <a:latin typeface="Arial"/>
              <a:cs typeface="Arial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B27C37-880D-5C4B-9AB4-D2A0394B63EB}"/>
              </a:ext>
            </a:extLst>
          </p:cNvPr>
          <p:cNvGrpSpPr/>
          <p:nvPr/>
        </p:nvGrpSpPr>
        <p:grpSpPr>
          <a:xfrm>
            <a:off x="888866" y="1328927"/>
            <a:ext cx="7797934" cy="1141018"/>
            <a:chOff x="1053956" y="2997434"/>
            <a:chExt cx="7797934" cy="114101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75328F8-1D57-F74D-A725-6AE58DDD215F}"/>
                </a:ext>
              </a:extLst>
            </p:cNvPr>
            <p:cNvSpPr txBox="1"/>
            <p:nvPr/>
          </p:nvSpPr>
          <p:spPr>
            <a:xfrm>
              <a:off x="1053956" y="2997434"/>
              <a:ext cx="6962049" cy="114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Consolas"/>
                  <a:cs typeface="Consolas"/>
                </a:rPr>
                <a:t>MATCH 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Consolas"/>
                  <a:cs typeface="Consolas"/>
                </a:rPr>
                <a:t>WHERE </a:t>
              </a:r>
              <a:r>
                <a:rPr lang="en-US" sz="2400" dirty="0" err="1">
                  <a:latin typeface="Consolas"/>
                  <a:cs typeface="Consolas"/>
                </a:rPr>
                <a:t>a.name</a:t>
              </a:r>
              <a:r>
                <a:rPr lang="en-US" sz="2400" dirty="0">
                  <a:latin typeface="Consolas"/>
                  <a:cs typeface="Consolas"/>
                </a:rPr>
                <a:t>=‘Alice’ &amp; e</a:t>
              </a:r>
              <a:r>
                <a:rPr lang="en-US" sz="2400" baseline="-25000" dirty="0">
                  <a:latin typeface="Consolas"/>
                  <a:cs typeface="Consolas"/>
                </a:rPr>
                <a:t>4</a:t>
              </a:r>
              <a:r>
                <a:rPr lang="en-US" sz="2400" dirty="0">
                  <a:latin typeface="Consolas"/>
                  <a:cs typeface="Consolas"/>
                </a:rPr>
                <a:t>.date &gt; 2021-03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D23F8D99-6937-4646-86F3-EEB1A1711093}"/>
                </a:ext>
              </a:extLst>
            </p:cNvPr>
            <p:cNvGrpSpPr/>
            <p:nvPr/>
          </p:nvGrpSpPr>
          <p:grpSpPr>
            <a:xfrm>
              <a:off x="2087010" y="3036692"/>
              <a:ext cx="6597629" cy="646674"/>
              <a:chOff x="1455128" y="4112147"/>
              <a:chExt cx="6597629" cy="646674"/>
            </a:xfrm>
          </p:grpSpPr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09D64DB2-8781-4043-8149-1B5BB8088283}"/>
                  </a:ext>
                </a:extLst>
              </p:cNvPr>
              <p:cNvSpPr/>
              <p:nvPr/>
            </p:nvSpPr>
            <p:spPr>
              <a:xfrm>
                <a:off x="1455128" y="4164461"/>
                <a:ext cx="594360" cy="594360"/>
              </a:xfrm>
              <a:prstGeom prst="ellipse">
                <a:avLst/>
              </a:prstGeom>
              <a:solidFill>
                <a:srgbClr val="FFC000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145E942E-BE15-954A-BE27-05FC5AA67FBD}"/>
                  </a:ext>
                </a:extLst>
              </p:cNvPr>
              <p:cNvSpPr/>
              <p:nvPr/>
            </p:nvSpPr>
            <p:spPr>
              <a:xfrm>
                <a:off x="2758995" y="4164461"/>
                <a:ext cx="594360" cy="594360"/>
              </a:xfrm>
              <a:prstGeom prst="ellipse">
                <a:avLst/>
              </a:prstGeom>
              <a:solidFill>
                <a:srgbClr val="FFC000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5406F0DB-D9F8-034A-A16F-AD30CA25418F}"/>
                  </a:ext>
                </a:extLst>
              </p:cNvPr>
              <p:cNvSpPr/>
              <p:nvPr/>
            </p:nvSpPr>
            <p:spPr>
              <a:xfrm>
                <a:off x="4105067" y="4164461"/>
                <a:ext cx="594360" cy="594360"/>
              </a:xfrm>
              <a:prstGeom prst="ellipse">
                <a:avLst/>
              </a:prstGeom>
              <a:solidFill>
                <a:srgbClr val="FFC000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E47AEEFF-D4D8-C34B-A2EB-F5F50CF18C3D}"/>
                  </a:ext>
                </a:extLst>
              </p:cNvPr>
              <p:cNvCxnSpPr>
                <a:cxnSpLocks/>
                <a:stCxn id="107" idx="6"/>
                <a:endCxn id="109" idx="2"/>
              </p:cNvCxnSpPr>
              <p:nvPr/>
            </p:nvCxnSpPr>
            <p:spPr>
              <a:xfrm>
                <a:off x="2049488" y="4461641"/>
                <a:ext cx="709507" cy="0"/>
              </a:xfrm>
              <a:prstGeom prst="straightConnector1">
                <a:avLst/>
              </a:prstGeom>
              <a:ln w="19050">
                <a:solidFill>
                  <a:schemeClr val="accent6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798301D8-40F2-AC43-8F41-CCF5A3D172FE}"/>
                  </a:ext>
                </a:extLst>
              </p:cNvPr>
              <p:cNvCxnSpPr>
                <a:cxnSpLocks/>
                <a:stCxn id="109" idx="6"/>
                <a:endCxn id="110" idx="2"/>
              </p:cNvCxnSpPr>
              <p:nvPr/>
            </p:nvCxnSpPr>
            <p:spPr>
              <a:xfrm>
                <a:off x="3353355" y="4461641"/>
                <a:ext cx="751712" cy="0"/>
              </a:xfrm>
              <a:prstGeom prst="straightConnector1">
                <a:avLst/>
              </a:prstGeom>
              <a:ln w="19050">
                <a:solidFill>
                  <a:schemeClr val="accent6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131BBB9F-7FC8-CD4B-9299-B0774CA54275}"/>
                  </a:ext>
                </a:extLst>
              </p:cNvPr>
              <p:cNvSpPr/>
              <p:nvPr/>
            </p:nvSpPr>
            <p:spPr>
              <a:xfrm>
                <a:off x="5774700" y="4164461"/>
                <a:ext cx="594360" cy="594360"/>
              </a:xfrm>
              <a:prstGeom prst="ellipse">
                <a:avLst/>
              </a:prstGeom>
              <a:solidFill>
                <a:srgbClr val="FFC000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B407FDB7-30BE-BE4B-88AF-7A2D885EEF23}"/>
                  </a:ext>
                </a:extLst>
              </p:cNvPr>
              <p:cNvCxnSpPr>
                <a:cxnSpLocks/>
                <a:stCxn id="110" idx="6"/>
                <a:endCxn id="115" idx="2"/>
              </p:cNvCxnSpPr>
              <p:nvPr/>
            </p:nvCxnSpPr>
            <p:spPr>
              <a:xfrm>
                <a:off x="4699427" y="4461641"/>
                <a:ext cx="1075273" cy="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44D6D3B-C0D9-BB40-A001-D9BA848F5BD7}"/>
                  </a:ext>
                </a:extLst>
              </p:cNvPr>
              <p:cNvSpPr txBox="1"/>
              <p:nvPr/>
            </p:nvSpPr>
            <p:spPr>
              <a:xfrm>
                <a:off x="1920297" y="4140002"/>
                <a:ext cx="9589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Knows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ED795DB-53D7-9F4E-A12D-C56845B228A8}"/>
                  </a:ext>
                </a:extLst>
              </p:cNvPr>
              <p:cNvSpPr txBox="1"/>
              <p:nvPr/>
            </p:nvSpPr>
            <p:spPr>
              <a:xfrm>
                <a:off x="3098395" y="4112147"/>
                <a:ext cx="13385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Knows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CEE7ED46-3FBF-F248-B1A1-8F3DBF2F5698}"/>
                  </a:ext>
                </a:extLst>
              </p:cNvPr>
              <p:cNvSpPr txBox="1"/>
              <p:nvPr/>
            </p:nvSpPr>
            <p:spPr>
              <a:xfrm>
                <a:off x="4402495" y="4133256"/>
                <a:ext cx="1676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memberOf</a:t>
                </a:r>
                <a:endParaRPr lang="en-US" dirty="0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ACF55D07-6A20-9442-B3CE-DC8800F6D4FF}"/>
                  </a:ext>
                </a:extLst>
              </p:cNvPr>
              <p:cNvSpPr txBox="1"/>
              <p:nvPr/>
            </p:nvSpPr>
            <p:spPr>
              <a:xfrm>
                <a:off x="6057564" y="4131126"/>
                <a:ext cx="1676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e</a:t>
                </a:r>
                <a:r>
                  <a:rPr lang="en-US" baseline="-25000" dirty="0"/>
                  <a:t>4</a:t>
                </a:r>
                <a:r>
                  <a:rPr lang="en-US" dirty="0"/>
                  <a:t>:contains</a:t>
                </a: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624E28C6-F833-1C49-B0F5-BAE1C89714AC}"/>
                  </a:ext>
                </a:extLst>
              </p:cNvPr>
              <p:cNvSpPr/>
              <p:nvPr/>
            </p:nvSpPr>
            <p:spPr>
              <a:xfrm>
                <a:off x="7458397" y="4164461"/>
                <a:ext cx="594360" cy="594360"/>
              </a:xfrm>
              <a:prstGeom prst="ellipse">
                <a:avLst/>
              </a:prstGeom>
              <a:solidFill>
                <a:srgbClr val="FFC000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73B2EAE1-5C1D-8741-B7E5-1421EE66F82B}"/>
                  </a:ext>
                </a:extLst>
              </p:cNvPr>
              <p:cNvCxnSpPr>
                <a:cxnSpLocks/>
                <a:stCxn id="115" idx="6"/>
                <a:endCxn id="124" idx="2"/>
              </p:cNvCxnSpPr>
              <p:nvPr/>
            </p:nvCxnSpPr>
            <p:spPr>
              <a:xfrm>
                <a:off x="6369060" y="4461641"/>
                <a:ext cx="1089337" cy="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19551F7F-6FA0-FF4C-93FF-763C2116D5EA}"/>
                </a:ext>
              </a:extLst>
            </p:cNvPr>
            <p:cNvSpPr txBox="1"/>
            <p:nvPr/>
          </p:nvSpPr>
          <p:spPr>
            <a:xfrm>
              <a:off x="1935541" y="3186739"/>
              <a:ext cx="8967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a:Per</a:t>
              </a:r>
              <a:endParaRPr lang="en-US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4894AA7-667C-5A40-BD42-A6DE42F405E5}"/>
                </a:ext>
              </a:extLst>
            </p:cNvPr>
            <p:cNvSpPr txBox="1"/>
            <p:nvPr/>
          </p:nvSpPr>
          <p:spPr>
            <a:xfrm>
              <a:off x="7955107" y="3186739"/>
              <a:ext cx="8967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e:Post</a:t>
              </a:r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2178904-B681-6543-A6A6-C9B254638424}"/>
                </a:ext>
              </a:extLst>
            </p:cNvPr>
            <p:cNvSpPr txBox="1"/>
            <p:nvPr/>
          </p:nvSpPr>
          <p:spPr>
            <a:xfrm>
              <a:off x="3256163" y="3186739"/>
              <a:ext cx="8967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b:Per</a:t>
              </a:r>
              <a:endParaRPr lang="en-US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DEF65F8-4296-E746-BFC8-FA8049A4AF18}"/>
                </a:ext>
              </a:extLst>
            </p:cNvPr>
            <p:cNvSpPr txBox="1"/>
            <p:nvPr/>
          </p:nvSpPr>
          <p:spPr>
            <a:xfrm>
              <a:off x="4591502" y="3186739"/>
              <a:ext cx="8967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c:Per</a:t>
              </a:r>
              <a:endParaRPr lang="en-US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D47DBF4-75AE-4445-AAA3-2B227E216190}"/>
                </a:ext>
              </a:extLst>
            </p:cNvPr>
            <p:cNvSpPr txBox="1"/>
            <p:nvPr/>
          </p:nvSpPr>
          <p:spPr>
            <a:xfrm>
              <a:off x="6276027" y="3186739"/>
              <a:ext cx="8967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d:For</a:t>
              </a:r>
              <a:endParaRPr lang="en-US" dirty="0"/>
            </a:p>
          </p:txBody>
        </p:sp>
      </p:grpSp>
      <p:graphicFrame>
        <p:nvGraphicFramePr>
          <p:cNvPr id="132" name="Table 4">
            <a:extLst>
              <a:ext uri="{FF2B5EF4-FFF2-40B4-BE49-F238E27FC236}">
                <a16:creationId xmlns:a16="http://schemas.microsoft.com/office/drawing/2014/main" id="{3037F2E7-E627-AE44-85DA-5B305E2AEDEB}"/>
              </a:ext>
            </a:extLst>
          </p:cNvPr>
          <p:cNvGraphicFramePr>
            <a:graphicFrameLocks noGrp="1"/>
          </p:cNvGraphicFramePr>
          <p:nvPr/>
        </p:nvGraphicFramePr>
        <p:xfrm>
          <a:off x="569372" y="3866882"/>
          <a:ext cx="8005256" cy="138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0417">
                  <a:extLst>
                    <a:ext uri="{9D8B030D-6E8A-4147-A177-3AD203B41FA5}">
                      <a16:colId xmlns:a16="http://schemas.microsoft.com/office/drawing/2014/main" val="1257452004"/>
                    </a:ext>
                  </a:extLst>
                </a:gridCol>
                <a:gridCol w="748030">
                  <a:extLst>
                    <a:ext uri="{9D8B030D-6E8A-4147-A177-3AD203B41FA5}">
                      <a16:colId xmlns:a16="http://schemas.microsoft.com/office/drawing/2014/main" val="4150288162"/>
                    </a:ext>
                  </a:extLst>
                </a:gridCol>
                <a:gridCol w="632143">
                  <a:extLst>
                    <a:ext uri="{9D8B030D-6E8A-4147-A177-3AD203B41FA5}">
                      <a16:colId xmlns:a16="http://schemas.microsoft.com/office/drawing/2014/main" val="2843886992"/>
                    </a:ext>
                  </a:extLst>
                </a:gridCol>
                <a:gridCol w="748030">
                  <a:extLst>
                    <a:ext uri="{9D8B030D-6E8A-4147-A177-3AD203B41FA5}">
                      <a16:colId xmlns:a16="http://schemas.microsoft.com/office/drawing/2014/main" val="45369241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521813451"/>
                    </a:ext>
                  </a:extLst>
                </a:gridCol>
                <a:gridCol w="755968">
                  <a:extLst>
                    <a:ext uri="{9D8B030D-6E8A-4147-A177-3AD203B41FA5}">
                      <a16:colId xmlns:a16="http://schemas.microsoft.com/office/drawing/2014/main" val="496899770"/>
                    </a:ext>
                  </a:extLst>
                </a:gridCol>
                <a:gridCol w="748030">
                  <a:extLst>
                    <a:ext uri="{9D8B030D-6E8A-4147-A177-3AD203B41FA5}">
                      <a16:colId xmlns:a16="http://schemas.microsoft.com/office/drawing/2014/main" val="298548786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92660218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607928241"/>
                    </a:ext>
                  </a:extLst>
                </a:gridCol>
                <a:gridCol w="755968">
                  <a:extLst>
                    <a:ext uri="{9D8B030D-6E8A-4147-A177-3AD203B41FA5}">
                      <a16:colId xmlns:a16="http://schemas.microsoft.com/office/drawing/2014/main" val="271626427"/>
                    </a:ext>
                  </a:extLst>
                </a:gridCol>
                <a:gridCol w="646430">
                  <a:extLst>
                    <a:ext uri="{9D8B030D-6E8A-4147-A177-3AD203B41FA5}">
                      <a16:colId xmlns:a16="http://schemas.microsoft.com/office/drawing/2014/main" val="1982902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IC5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395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GF-</a:t>
                      </a:r>
                      <a:r>
                        <a:rPr lang="en-US" dirty="0" err="1"/>
                        <a:t>FRep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188.0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175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GF-</a:t>
                      </a:r>
                      <a:r>
                        <a:rPr lang="en-US" dirty="0" err="1"/>
                        <a:t>DRep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30.0x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</a:t>
                      </a:r>
                    </a:p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2.2x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5.2</a:t>
                      </a:r>
                    </a:p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15.3x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0.40</a:t>
                      </a:r>
                    </a:p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0.9x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5.8</a:t>
                      </a:r>
                    </a:p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32.1x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23.0x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</a:t>
                      </a:r>
                    </a:p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1.0x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</a:t>
                      </a:r>
                    </a:p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0.7x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9.7</a:t>
                      </a:r>
                    </a:p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18.7x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</a:t>
                      </a:r>
                    </a:p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4.1x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152540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006CF81A-D405-7847-A220-8566F061DCE7}"/>
              </a:ext>
            </a:extLst>
          </p:cNvPr>
          <p:cNvSpPr txBox="1"/>
          <p:nvPr/>
        </p:nvSpPr>
        <p:spPr>
          <a:xfrm>
            <a:off x="2906538" y="5422499"/>
            <a:ext cx="27835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runtimes in seconds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126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Outline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F7A96B-031C-8D48-8710-7302C726A66B}"/>
              </a:ext>
            </a:extLst>
          </p:cNvPr>
          <p:cNvSpPr txBox="1"/>
          <p:nvPr/>
        </p:nvSpPr>
        <p:spPr>
          <a:xfrm>
            <a:off x="83452" y="773927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Courses/Topics Beyond 348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GraphflowDB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Graph Database Management Systems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MapReduce</a:t>
            </a:r>
          </a:p>
        </p:txBody>
      </p:sp>
    </p:spTree>
    <p:extLst>
      <p:ext uri="{BB962C8B-B14F-4D97-AF65-F5344CB8AC3E}">
        <p14:creationId xmlns:p14="http://schemas.microsoft.com/office/powerpoint/2010/main" val="2483243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" y="90958"/>
            <a:ext cx="91130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kern="0" dirty="0">
                <a:latin typeface="Trebuchet MS"/>
              </a:rPr>
              <a:t>Google’s Large-scale Applications</a:t>
            </a:r>
            <a:endParaRPr lang="en-US" sz="3400" b="1" dirty="0"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33</a:t>
            </a:fld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-1" y="839323"/>
            <a:ext cx="9152925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200" dirty="0">
                <a:solidFill>
                  <a:srgbClr val="000090"/>
                </a:solidFill>
                <a:latin typeface="Trebuchet MS"/>
                <a:cs typeface="Trebuchet MS"/>
              </a:rPr>
              <a:t>Many applications processing very large data: (in Petabytes)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200" dirty="0">
                <a:solidFill>
                  <a:srgbClr val="000090"/>
                </a:solidFill>
                <a:latin typeface="Trebuchet MS"/>
                <a:cs typeface="Trebuchet MS"/>
              </a:rPr>
              <a:t>Ex: Trillions of web pages, ad clicks, queries, videos, images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14085" y="2651982"/>
            <a:ext cx="1680530" cy="1386342"/>
            <a:chOff x="5303371" y="1540978"/>
            <a:chExt cx="1853896" cy="2419408"/>
          </a:xfrm>
        </p:grpSpPr>
        <p:grpSp>
          <p:nvGrpSpPr>
            <p:cNvPr id="6" name="Group 5"/>
            <p:cNvGrpSpPr/>
            <p:nvPr/>
          </p:nvGrpSpPr>
          <p:grpSpPr>
            <a:xfrm>
              <a:off x="5951395" y="2168080"/>
              <a:ext cx="535170" cy="693516"/>
              <a:chOff x="1678844" y="3327400"/>
              <a:chExt cx="450851" cy="4572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5303371" y="1540978"/>
              <a:ext cx="535170" cy="693516"/>
              <a:chOff x="1678844" y="3327400"/>
              <a:chExt cx="450851" cy="4572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6622097" y="1675387"/>
              <a:ext cx="535170" cy="693516"/>
              <a:chOff x="1678844" y="3327400"/>
              <a:chExt cx="450851" cy="457200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21" name="Straight Connector 20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/>
          </p:nvGrpSpPr>
          <p:grpSpPr>
            <a:xfrm>
              <a:off x="6622097" y="2462237"/>
              <a:ext cx="535170" cy="693516"/>
              <a:chOff x="1678844" y="3327400"/>
              <a:chExt cx="450851" cy="457200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6448731" y="3266870"/>
              <a:ext cx="535170" cy="693516"/>
              <a:chOff x="1678844" y="3327400"/>
              <a:chExt cx="450851" cy="457200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34" name="Straight Connector 33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/>
            <p:cNvGrpSpPr/>
            <p:nvPr/>
          </p:nvGrpSpPr>
          <p:grpSpPr>
            <a:xfrm>
              <a:off x="5669903" y="2920112"/>
              <a:ext cx="535170" cy="693516"/>
              <a:chOff x="1678844" y="3327400"/>
              <a:chExt cx="450851" cy="457200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40" name="Straight Connector 39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4" name="Straight Arrow Connector 43"/>
          <p:cNvCxnSpPr/>
          <p:nvPr/>
        </p:nvCxnSpPr>
        <p:spPr>
          <a:xfrm>
            <a:off x="2195286" y="3370129"/>
            <a:ext cx="15087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837069" y="3058453"/>
            <a:ext cx="265176" cy="264927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461184" y="3025336"/>
            <a:ext cx="265176" cy="264927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4009281" y="3617150"/>
            <a:ext cx="265176" cy="264927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4936526" y="3678477"/>
            <a:ext cx="265176" cy="264927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936526" y="2578263"/>
            <a:ext cx="265176" cy="264927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/>
          <p:cNvCxnSpPr>
            <a:stCxn id="45" idx="6"/>
            <a:endCxn id="46" idx="2"/>
          </p:cNvCxnSpPr>
          <p:nvPr/>
        </p:nvCxnSpPr>
        <p:spPr>
          <a:xfrm flipV="1">
            <a:off x="4102245" y="3157800"/>
            <a:ext cx="358939" cy="33117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6" idx="7"/>
            <a:endCxn id="49" idx="3"/>
          </p:cNvCxnSpPr>
          <p:nvPr/>
        </p:nvCxnSpPr>
        <p:spPr>
          <a:xfrm flipV="1">
            <a:off x="4687526" y="2804392"/>
            <a:ext cx="287834" cy="259742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6" idx="5"/>
            <a:endCxn id="48" idx="0"/>
          </p:cNvCxnSpPr>
          <p:nvPr/>
        </p:nvCxnSpPr>
        <p:spPr>
          <a:xfrm>
            <a:off x="4687526" y="3251465"/>
            <a:ext cx="381588" cy="427012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49" idx="4"/>
            <a:endCxn id="48" idx="0"/>
          </p:cNvCxnSpPr>
          <p:nvPr/>
        </p:nvCxnSpPr>
        <p:spPr>
          <a:xfrm>
            <a:off x="5069114" y="2843190"/>
            <a:ext cx="0" cy="835287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46" idx="3"/>
            <a:endCxn id="47" idx="7"/>
          </p:cNvCxnSpPr>
          <p:nvPr/>
        </p:nvCxnSpPr>
        <p:spPr>
          <a:xfrm flipH="1">
            <a:off x="4235623" y="3251465"/>
            <a:ext cx="264395" cy="404483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177143" y="2523834"/>
            <a:ext cx="1813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90"/>
                </a:solidFill>
              </a:rPr>
              <a:t>construct web graph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295942" y="4321836"/>
            <a:ext cx="1680530" cy="1386342"/>
            <a:chOff x="5303371" y="1540978"/>
            <a:chExt cx="1853896" cy="2419408"/>
          </a:xfrm>
        </p:grpSpPr>
        <p:grpSp>
          <p:nvGrpSpPr>
            <p:cNvPr id="68" name="Group 67"/>
            <p:cNvGrpSpPr/>
            <p:nvPr/>
          </p:nvGrpSpPr>
          <p:grpSpPr>
            <a:xfrm>
              <a:off x="5951395" y="2168080"/>
              <a:ext cx="535170" cy="693516"/>
              <a:chOff x="1678844" y="3327400"/>
              <a:chExt cx="450851" cy="457200"/>
            </a:xfrm>
          </p:grpSpPr>
          <p:sp>
            <p:nvSpPr>
              <p:cNvPr id="99" name="Rectangle 98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100" name="Straight Connector 99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5303371" y="1540978"/>
              <a:ext cx="535170" cy="693516"/>
              <a:chOff x="1678844" y="3327400"/>
              <a:chExt cx="450851" cy="457200"/>
            </a:xfrm>
          </p:grpSpPr>
          <p:sp>
            <p:nvSpPr>
              <p:cNvPr id="94" name="Rectangle 93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95" name="Straight Connector 94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/>
            <p:cNvGrpSpPr/>
            <p:nvPr/>
          </p:nvGrpSpPr>
          <p:grpSpPr>
            <a:xfrm>
              <a:off x="6622097" y="1675387"/>
              <a:ext cx="535170" cy="693516"/>
              <a:chOff x="1678844" y="3327400"/>
              <a:chExt cx="450851" cy="457200"/>
            </a:xfrm>
          </p:grpSpPr>
          <p:sp>
            <p:nvSpPr>
              <p:cNvPr id="89" name="Rectangle 88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90" name="Straight Connector 89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/>
            <p:cNvGrpSpPr/>
            <p:nvPr/>
          </p:nvGrpSpPr>
          <p:grpSpPr>
            <a:xfrm>
              <a:off x="6622097" y="2462237"/>
              <a:ext cx="535170" cy="693516"/>
              <a:chOff x="1678844" y="3327400"/>
              <a:chExt cx="450851" cy="457200"/>
            </a:xfrm>
          </p:grpSpPr>
          <p:sp>
            <p:nvSpPr>
              <p:cNvPr id="84" name="Rectangle 83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85" name="Straight Connector 84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/>
            <p:cNvGrpSpPr/>
            <p:nvPr/>
          </p:nvGrpSpPr>
          <p:grpSpPr>
            <a:xfrm>
              <a:off x="6448731" y="3266870"/>
              <a:ext cx="535170" cy="693516"/>
              <a:chOff x="1678844" y="3327400"/>
              <a:chExt cx="450851" cy="457200"/>
            </a:xfrm>
          </p:grpSpPr>
          <p:sp>
            <p:nvSpPr>
              <p:cNvPr id="79" name="Rectangle 78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80" name="Straight Connector 79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Group 72"/>
            <p:cNvGrpSpPr/>
            <p:nvPr/>
          </p:nvGrpSpPr>
          <p:grpSpPr>
            <a:xfrm>
              <a:off x="5669903" y="2920112"/>
              <a:ext cx="535170" cy="693516"/>
              <a:chOff x="1678844" y="3327400"/>
              <a:chExt cx="450851" cy="457200"/>
            </a:xfrm>
          </p:grpSpPr>
          <p:sp>
            <p:nvSpPr>
              <p:cNvPr id="74" name="Rectangle 73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75" name="Straight Connector 74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4" name="Straight Arrow Connector 103"/>
          <p:cNvCxnSpPr/>
          <p:nvPr/>
        </p:nvCxnSpPr>
        <p:spPr>
          <a:xfrm>
            <a:off x="2177143" y="5039983"/>
            <a:ext cx="15087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2159000" y="4193688"/>
            <a:ext cx="1813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90"/>
                </a:solidFill>
              </a:rPr>
              <a:t>summarize pages per host</a:t>
            </a:r>
          </a:p>
        </p:txBody>
      </p:sp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4053114" y="4193688"/>
          <a:ext cx="2696835" cy="222504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68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#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Pages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cnn.com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yahoo.com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uwaterloo.ca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techcrunch.com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1296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65" grpId="0"/>
      <p:bldP spid="1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" y="90958"/>
            <a:ext cx="91130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kern="0" dirty="0">
                <a:latin typeface="Trebuchet MS"/>
              </a:rPr>
              <a:t>Google’s Large-scale Applications</a:t>
            </a:r>
            <a:endParaRPr lang="en-US" sz="3400" b="1" dirty="0"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34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314085" y="1201570"/>
            <a:ext cx="1680530" cy="1386342"/>
            <a:chOff x="5303371" y="1540978"/>
            <a:chExt cx="1853896" cy="2419408"/>
          </a:xfrm>
        </p:grpSpPr>
        <p:grpSp>
          <p:nvGrpSpPr>
            <p:cNvPr id="6" name="Group 5"/>
            <p:cNvGrpSpPr/>
            <p:nvPr/>
          </p:nvGrpSpPr>
          <p:grpSpPr>
            <a:xfrm>
              <a:off x="5951395" y="2168080"/>
              <a:ext cx="535170" cy="693516"/>
              <a:chOff x="1678844" y="3327400"/>
              <a:chExt cx="450851" cy="4572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5303371" y="1540978"/>
              <a:ext cx="535170" cy="693516"/>
              <a:chOff x="1678844" y="3327400"/>
              <a:chExt cx="450851" cy="4572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6622097" y="1675387"/>
              <a:ext cx="535170" cy="693516"/>
              <a:chOff x="1678844" y="3327400"/>
              <a:chExt cx="450851" cy="457200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21" name="Straight Connector 20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/>
          </p:nvGrpSpPr>
          <p:grpSpPr>
            <a:xfrm>
              <a:off x="6622097" y="2462237"/>
              <a:ext cx="535170" cy="693516"/>
              <a:chOff x="1678844" y="3327400"/>
              <a:chExt cx="450851" cy="457200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6448731" y="3266870"/>
              <a:ext cx="535170" cy="693516"/>
              <a:chOff x="1678844" y="3327400"/>
              <a:chExt cx="450851" cy="457200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34" name="Straight Connector 33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/>
            <p:cNvGrpSpPr/>
            <p:nvPr/>
          </p:nvGrpSpPr>
          <p:grpSpPr>
            <a:xfrm>
              <a:off x="5669903" y="2920112"/>
              <a:ext cx="535170" cy="693516"/>
              <a:chOff x="1678844" y="3327400"/>
              <a:chExt cx="450851" cy="457200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1678844" y="3327400"/>
                <a:ext cx="450851" cy="4572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/>
                  <a:cs typeface="Calibri"/>
                </a:endParaRPr>
              </a:p>
            </p:txBody>
          </p:sp>
          <p:cxnSp>
            <p:nvCxnSpPr>
              <p:cNvPr id="40" name="Straight Connector 39"/>
              <p:cNvCxnSpPr/>
              <p:nvPr/>
            </p:nvCxnSpPr>
            <p:spPr>
              <a:xfrm>
                <a:off x="1688679" y="33782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1729644" y="3479800"/>
                <a:ext cx="2984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1742344" y="3594100"/>
                <a:ext cx="285751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1824895" y="3708400"/>
                <a:ext cx="215900" cy="0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4" name="Straight Arrow Connector 43"/>
          <p:cNvCxnSpPr/>
          <p:nvPr/>
        </p:nvCxnSpPr>
        <p:spPr>
          <a:xfrm>
            <a:off x="2195286" y="1919717"/>
            <a:ext cx="15087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023074" y="1376239"/>
            <a:ext cx="1813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90"/>
                </a:solidFill>
              </a:rPr>
              <a:t>inverted index</a:t>
            </a:r>
          </a:p>
        </p:txBody>
      </p:sp>
      <p:cxnSp>
        <p:nvCxnSpPr>
          <p:cNvPr id="104" name="Straight Arrow Connector 103"/>
          <p:cNvCxnSpPr/>
          <p:nvPr/>
        </p:nvCxnSpPr>
        <p:spPr>
          <a:xfrm>
            <a:off x="2967809" y="4735587"/>
            <a:ext cx="211219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2797048" y="3742979"/>
            <a:ext cx="2282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90"/>
                </a:solidFill>
              </a:rPr>
              <a:t>clustering “similar” users</a:t>
            </a:r>
          </a:p>
          <a:p>
            <a:pPr algn="ctr"/>
            <a:r>
              <a:rPr lang="en-US" dirty="0">
                <a:solidFill>
                  <a:srgbClr val="000090"/>
                </a:solidFill>
              </a:rPr>
              <a:t>(recommendation)</a:t>
            </a:r>
          </a:p>
        </p:txBody>
      </p:sp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3837069" y="993294"/>
          <a:ext cx="4925931" cy="212344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68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5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Pages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trudeau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cbc.ca</a:t>
                      </a:r>
                      <a:r>
                        <a:rPr lang="en-US" dirty="0"/>
                        <a:t>,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nytimes.com</a:t>
                      </a:r>
                      <a:r>
                        <a:rPr lang="en-US" baseline="0" dirty="0"/>
                        <a:t>, </a:t>
                      </a:r>
                      <a:r>
                        <a:rPr lang="en-US" baseline="0" dirty="0" err="1"/>
                        <a:t>wikipedia.org</a:t>
                      </a:r>
                      <a:r>
                        <a:rPr lang="en-US" baseline="0" dirty="0"/>
                        <a:t>, 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apple.com</a:t>
                      </a:r>
                      <a:r>
                        <a:rPr lang="en-US" dirty="0"/>
                        <a:t>,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farming</a:t>
                      </a:r>
                      <a:r>
                        <a:rPr lang="en-US" dirty="0" err="1"/>
                        <a:t>.ca</a:t>
                      </a:r>
                      <a:r>
                        <a:rPr lang="en-US" dirty="0"/>
                        <a:t>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ibm.com</a:t>
                      </a:r>
                      <a:r>
                        <a:rPr lang="en-US" dirty="0"/>
                        <a:t>,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wikipedia.org</a:t>
                      </a:r>
                      <a:r>
                        <a:rPr lang="en-US" baseline="0" dirty="0"/>
                        <a:t>,…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9" name="Table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640438"/>
              </p:ext>
            </p:extLst>
          </p:nvPr>
        </p:nvGraphicFramePr>
        <p:xfrm>
          <a:off x="301012" y="2833036"/>
          <a:ext cx="2598382" cy="315301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765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58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clicks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298">
                <a:tc>
                  <a:txBody>
                    <a:bodyPr/>
                    <a:lstStyle/>
                    <a:p>
                      <a:r>
                        <a:rPr lang="en-US" dirty="0"/>
                        <a:t>user1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cbc.ca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298">
                <a:tc>
                  <a:txBody>
                    <a:bodyPr/>
                    <a:lstStyle/>
                    <a:p>
                      <a:r>
                        <a:rPr lang="en-US" dirty="0"/>
                        <a:t>user1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techcrunch.com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298">
                <a:tc>
                  <a:txBody>
                    <a:bodyPr/>
                    <a:lstStyle/>
                    <a:p>
                      <a:r>
                        <a:rPr lang="en-US" dirty="0"/>
                        <a:t>user2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wikipedia.com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298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user3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uwaterloo.ca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298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user3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abc.ca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0" name="Oval 109"/>
          <p:cNvSpPr/>
          <p:nvPr/>
        </p:nvSpPr>
        <p:spPr>
          <a:xfrm>
            <a:off x="5397355" y="3787029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6184392" y="3797780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5846210" y="3797780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5709050" y="3481405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6115812" y="3412825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/>
          <p:cNvCxnSpPr/>
          <p:nvPr/>
        </p:nvCxnSpPr>
        <p:spPr>
          <a:xfrm>
            <a:off x="5288497" y="4269969"/>
            <a:ext cx="269436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6569773" y="3392706"/>
            <a:ext cx="0" cy="2047875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6246077" y="5002474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5907895" y="5002474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5770735" y="4686099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6050496" y="4762663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7275876" y="4919015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7138716" y="4602640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7418477" y="4679204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7570877" y="4831604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7723277" y="4984004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7476531" y="5009403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7552373" y="3913894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7077031" y="3597519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7483793" y="3528939"/>
            <a:ext cx="137160" cy="137160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-1" y="6022379"/>
            <a:ext cx="9104099" cy="571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200" dirty="0">
                <a:solidFill>
                  <a:srgbClr val="000090"/>
                </a:solidFill>
                <a:latin typeface="Trebuchet MS"/>
                <a:cs typeface="Trebuchet MS"/>
              </a:rPr>
              <a:t>Many others: Ad clicks, videos, images, internal machine logs, etc…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208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115" grpId="0"/>
      <p:bldP spid="110" grpId="0" animBg="1"/>
      <p:bldP spid="111" grpId="0" animBg="1"/>
      <p:bldP spid="112" grpId="0" animBg="1"/>
      <p:bldP spid="113" grpId="0" animBg="1"/>
      <p:bldP spid="114" grpId="0" animBg="1"/>
      <p:bldP spid="128" grpId="0" animBg="1"/>
      <p:bldP spid="129" grpId="0" animBg="1"/>
      <p:bldP spid="130" grpId="0" animBg="1"/>
      <p:bldP spid="131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5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" y="90958"/>
            <a:ext cx="91130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kern="0" dirty="0">
                <a:latin typeface="Trebuchet MS"/>
              </a:rPr>
              <a:t>Google’s Problem</a:t>
            </a:r>
            <a:endParaRPr lang="en-US" sz="3400" b="1" dirty="0"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35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807197"/>
            <a:ext cx="9113024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400" dirty="0">
                <a:solidFill>
                  <a:srgbClr val="000090"/>
                </a:solidFill>
                <a:latin typeface="Trebuchet MS"/>
                <a:cs typeface="Trebuchet MS"/>
              </a:rPr>
              <a:t>Need 100s/1000s machines to process such large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089" y="1422750"/>
            <a:ext cx="8858220" cy="2133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solidFill>
                <a:srgbClr val="000090"/>
              </a:solidFill>
              <a:latin typeface="Calibri"/>
              <a:cs typeface="Calibri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54804" y="2162370"/>
            <a:ext cx="1577625" cy="1446273"/>
            <a:chOff x="254804" y="1817653"/>
            <a:chExt cx="1577625" cy="1446273"/>
          </a:xfrm>
        </p:grpSpPr>
        <p:sp>
          <p:nvSpPr>
            <p:cNvPr id="20" name="Rectangle 19"/>
            <p:cNvSpPr/>
            <p:nvPr/>
          </p:nvSpPr>
          <p:spPr>
            <a:xfrm>
              <a:off x="309719" y="1817653"/>
              <a:ext cx="1450138" cy="10670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4804" y="2848428"/>
              <a:ext cx="157762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 dirty="0">
                  <a:latin typeface="Trebuchet MS"/>
                  <a:cs typeface="Trebuchet MS"/>
                </a:rPr>
                <a:t>Machine 1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966686" y="2162372"/>
            <a:ext cx="1577625" cy="1554085"/>
            <a:chOff x="236661" y="2182611"/>
            <a:chExt cx="1577625" cy="1157789"/>
          </a:xfrm>
        </p:grpSpPr>
        <p:sp>
          <p:nvSpPr>
            <p:cNvPr id="23" name="Rectangle 22"/>
            <p:cNvSpPr/>
            <p:nvPr/>
          </p:nvSpPr>
          <p:spPr>
            <a:xfrm>
              <a:off x="309719" y="2182611"/>
              <a:ext cx="1450138" cy="79495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6661" y="2924902"/>
              <a:ext cx="157762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 dirty="0">
                  <a:latin typeface="Trebuchet MS"/>
                  <a:cs typeface="Trebuchet MS"/>
                </a:rPr>
                <a:t>Machine 2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307943" y="2162370"/>
            <a:ext cx="1577625" cy="1407887"/>
            <a:chOff x="236661" y="1837896"/>
            <a:chExt cx="1577625" cy="1407887"/>
          </a:xfrm>
        </p:grpSpPr>
        <p:sp>
          <p:nvSpPr>
            <p:cNvPr id="26" name="Rectangle 25"/>
            <p:cNvSpPr/>
            <p:nvPr/>
          </p:nvSpPr>
          <p:spPr>
            <a:xfrm>
              <a:off x="309719" y="1837896"/>
              <a:ext cx="1450138" cy="104681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6661" y="2830285"/>
              <a:ext cx="157762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 dirty="0">
                  <a:latin typeface="Trebuchet MS"/>
                  <a:cs typeface="Trebuchet MS"/>
                </a:rPr>
                <a:t>M 1K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4376057" y="2739262"/>
            <a:ext cx="157762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latin typeface="Trebuchet MS"/>
                <a:cs typeface="Trebuchet MS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089" y="1446050"/>
            <a:ext cx="10704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latin typeface="Trebuchet MS"/>
                <a:cs typeface="Trebuchet MS"/>
              </a:rPr>
              <a:t>Cluster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-2" y="3499785"/>
            <a:ext cx="9144001" cy="2095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200" dirty="0">
                <a:solidFill>
                  <a:srgbClr val="000090"/>
                </a:solidFill>
                <a:latin typeface="Trebuchet MS"/>
                <a:cs typeface="Trebuchet MS"/>
              </a:rPr>
              <a:t>But: Writing distributed code is very difficult! Need code for: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§"/>
            </a:pP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Partitioning data.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§"/>
            </a:pP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Parallelizing computation.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§"/>
            </a:pP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Coordinating the progress.</a:t>
            </a:r>
          </a:p>
        </p:txBody>
      </p:sp>
      <p:sp>
        <p:nvSpPr>
          <p:cNvPr id="31" name="Multidocument 30"/>
          <p:cNvSpPr/>
          <p:nvPr/>
        </p:nvSpPr>
        <p:spPr>
          <a:xfrm>
            <a:off x="515049" y="2777065"/>
            <a:ext cx="1008951" cy="377695"/>
          </a:xfrm>
          <a:prstGeom prst="flowChartMultidocumen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65306" tIns="32653" rIns="65306" bIns="32653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32" name="Multidocument 31"/>
          <p:cNvSpPr/>
          <p:nvPr/>
        </p:nvSpPr>
        <p:spPr>
          <a:xfrm>
            <a:off x="2209592" y="2764772"/>
            <a:ext cx="1008951" cy="377695"/>
          </a:xfrm>
          <a:prstGeom prst="flowChartMultidocumen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65306" tIns="32653" rIns="65306" bIns="32653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33" name="Multidocument 32"/>
          <p:cNvSpPr/>
          <p:nvPr/>
        </p:nvSpPr>
        <p:spPr>
          <a:xfrm>
            <a:off x="7623421" y="2781044"/>
            <a:ext cx="1008951" cy="377695"/>
          </a:xfrm>
          <a:prstGeom prst="flowChartMultidocumen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65306" tIns="32653" rIns="65306" bIns="32653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4148" y="2208505"/>
            <a:ext cx="124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B90000"/>
                </a:solidFill>
                <a:latin typeface="Trebuchet MS"/>
                <a:cs typeface="Trebuchet MS"/>
              </a:rPr>
              <a:t>User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12316" y="2226648"/>
            <a:ext cx="124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B90000"/>
                </a:solidFill>
                <a:latin typeface="Trebuchet MS"/>
                <a:cs typeface="Trebuchet MS"/>
              </a:rPr>
              <a:t>User 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3758" y="2227856"/>
            <a:ext cx="124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B90000"/>
                </a:solidFill>
                <a:latin typeface="Trebuchet MS"/>
                <a:cs typeface="Trebuchet MS"/>
              </a:rPr>
              <a:t>User code</a:t>
            </a:r>
          </a:p>
        </p:txBody>
      </p:sp>
      <p:cxnSp>
        <p:nvCxnSpPr>
          <p:cNvPr id="44" name="Curved Connector 43"/>
          <p:cNvCxnSpPr>
            <a:stCxn id="20" idx="0"/>
            <a:endCxn id="23" idx="0"/>
          </p:cNvCxnSpPr>
          <p:nvPr/>
        </p:nvCxnSpPr>
        <p:spPr>
          <a:xfrm rot="16200000" flipH="1">
            <a:off x="1899799" y="1297359"/>
            <a:ext cx="2" cy="1730025"/>
          </a:xfrm>
          <a:prstGeom prst="curvedConnector3">
            <a:avLst>
              <a:gd name="adj1" fmla="val -11430000000"/>
            </a:avLst>
          </a:prstGeom>
          <a:ln w="38100">
            <a:solidFill>
              <a:schemeClr val="bg1">
                <a:lumMod val="65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20" idx="0"/>
            <a:endCxn id="26" idx="0"/>
          </p:cNvCxnSpPr>
          <p:nvPr/>
        </p:nvCxnSpPr>
        <p:spPr>
          <a:xfrm rot="5400000" flipH="1" flipV="1">
            <a:off x="4570429" y="-1373271"/>
            <a:ext cx="12700" cy="7071282"/>
          </a:xfrm>
          <a:prstGeom prst="curvedConnector3">
            <a:avLst>
              <a:gd name="adj1" fmla="val 3942858"/>
            </a:avLst>
          </a:prstGeom>
          <a:ln w="38100">
            <a:solidFill>
              <a:schemeClr val="bg1">
                <a:lumMod val="65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urved Connector 57"/>
          <p:cNvCxnSpPr>
            <a:stCxn id="23" idx="0"/>
            <a:endCxn id="26" idx="0"/>
          </p:cNvCxnSpPr>
          <p:nvPr/>
        </p:nvCxnSpPr>
        <p:spPr>
          <a:xfrm rot="5400000" flipH="1" flipV="1">
            <a:off x="5435440" y="-508257"/>
            <a:ext cx="2" cy="5341257"/>
          </a:xfrm>
          <a:prstGeom prst="curvedConnector3">
            <a:avLst>
              <a:gd name="adj1" fmla="val 11430100000"/>
            </a:avLst>
          </a:prstGeom>
          <a:ln w="38100">
            <a:solidFill>
              <a:schemeClr val="bg1">
                <a:lumMod val="65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927209" y="1502994"/>
            <a:ext cx="157762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</a:p>
        </p:txBody>
      </p:sp>
      <p:sp>
        <p:nvSpPr>
          <p:cNvPr id="3" name="Rectangle 2"/>
          <p:cNvSpPr/>
          <p:nvPr/>
        </p:nvSpPr>
        <p:spPr>
          <a:xfrm>
            <a:off x="4349855" y="4030175"/>
            <a:ext cx="4789715" cy="1587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§"/>
            </a:pP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Communication of machines.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§"/>
            </a:pP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Dealing with </a:t>
            </a:r>
            <a:r>
              <a:rPr lang="en-US" sz="2200" i="1" dirty="0">
                <a:solidFill>
                  <a:srgbClr val="990000"/>
                </a:solidFill>
                <a:latin typeface="Trebuchet MS"/>
                <a:cs typeface="Trebuchet MS"/>
              </a:rPr>
              <a:t>machine failures</a:t>
            </a: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!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§"/>
            </a:pP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Others: load-balancing, etc. </a:t>
            </a:r>
          </a:p>
        </p:txBody>
      </p:sp>
      <p:sp>
        <p:nvSpPr>
          <p:cNvPr id="6" name="Rectangle 5"/>
          <p:cNvSpPr/>
          <p:nvPr/>
        </p:nvSpPr>
        <p:spPr>
          <a:xfrm>
            <a:off x="20965" y="5540801"/>
            <a:ext cx="913196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400" dirty="0">
                <a:solidFill>
                  <a:srgbClr val="000090"/>
                </a:solidFill>
                <a:latin typeface="Trebuchet MS"/>
                <a:cs typeface="Trebuchet MS"/>
              </a:rPr>
              <a:t>All much more complex than the simple application logic!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400" dirty="0" err="1">
                <a:solidFill>
                  <a:srgbClr val="990000"/>
                </a:solidFill>
                <a:latin typeface="Trebuchet MS"/>
                <a:cs typeface="Trebuchet MS"/>
              </a:rPr>
              <a:t>E.g</a:t>
            </a: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: Take each web doc. &amp; spit out an edge for each hyperlink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964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8" grpId="0"/>
      <p:bldP spid="29" grpId="0"/>
      <p:bldP spid="31" grpId="0" animBg="1"/>
      <p:bldP spid="32" grpId="0" animBg="1"/>
      <p:bldP spid="33" grpId="0" animBg="1"/>
      <p:bldP spid="35" grpId="0"/>
      <p:bldP spid="36" grpId="0"/>
      <p:bldP spid="37" grpId="0"/>
      <p:bldP spid="6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" y="90958"/>
            <a:ext cx="91130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kern="0" dirty="0">
                <a:latin typeface="Trebuchet MS"/>
              </a:rPr>
              <a:t>“Law of Large-Scale Distributed Systems”</a:t>
            </a:r>
            <a:endParaRPr lang="en-US" sz="3400" b="1" dirty="0"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36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807197"/>
            <a:ext cx="9113024" cy="5170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400" dirty="0">
                <a:solidFill>
                  <a:srgbClr val="000090"/>
                </a:solidFill>
                <a:latin typeface="Trebuchet MS"/>
                <a:cs typeface="Trebuchet MS"/>
              </a:rPr>
              <a:t>Law of Hardware: Like humans, </a:t>
            </a:r>
            <a:r>
              <a:rPr lang="en-US" sz="2400" dirty="0" err="1">
                <a:solidFill>
                  <a:srgbClr val="000090"/>
                </a:solidFill>
                <a:latin typeface="Trebuchet MS"/>
                <a:cs typeface="Trebuchet MS"/>
              </a:rPr>
              <a:t>hardwares</a:t>
            </a:r>
            <a:r>
              <a:rPr lang="en-US" sz="2400" dirty="0">
                <a:solidFill>
                  <a:srgbClr val="000090"/>
                </a:solidFill>
                <a:latin typeface="Trebuchet MS"/>
                <a:cs typeface="Trebuchet MS"/>
              </a:rPr>
              <a:t> live &amp; die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200" dirty="0">
                <a:solidFill>
                  <a:srgbClr val="000090"/>
                </a:solidFill>
                <a:latin typeface="Trebuchet MS"/>
                <a:cs typeface="Trebuchet MS"/>
              </a:rPr>
              <a:t>Consider a super reliable machine: Mean-time-btw-failure: 30 years</a:t>
            </a:r>
          </a:p>
          <a:p>
            <a:pPr marL="342900" lvl="1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200" dirty="0">
                <a:solidFill>
                  <a:srgbClr val="000090"/>
                </a:solidFill>
                <a:latin typeface="Trebuchet MS"/>
                <a:cs typeface="Trebuchet MS"/>
              </a:rPr>
              <a:t>At any day prob. failure: ~1/10000</a:t>
            </a:r>
          </a:p>
          <a:p>
            <a:pPr marL="342900" lvl="1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200" dirty="0">
                <a:solidFill>
                  <a:srgbClr val="000090"/>
                </a:solidFill>
                <a:latin typeface="Trebuchet MS"/>
                <a:cs typeface="Trebuchet MS"/>
              </a:rPr>
              <a:t>Consider a distributed system running on 10000 machines</a:t>
            </a:r>
          </a:p>
          <a:p>
            <a:pPr marL="0" lvl="1" algn="ctr">
              <a:lnSpc>
                <a:spcPct val="150000"/>
              </a:lnSpc>
            </a:pPr>
            <a:r>
              <a:rPr lang="en-US" sz="3000" i="1" dirty="0">
                <a:solidFill>
                  <a:srgbClr val="990000"/>
                </a:solidFill>
                <a:latin typeface="Trebuchet MS"/>
                <a:cs typeface="Trebuchet MS"/>
              </a:rPr>
              <a:t>Q: </a:t>
            </a:r>
            <a:r>
              <a:rPr lang="en-US" sz="3000" i="1" dirty="0" err="1">
                <a:solidFill>
                  <a:srgbClr val="990000"/>
                </a:solidFill>
                <a:latin typeface="Trebuchet MS"/>
                <a:cs typeface="Trebuchet MS"/>
              </a:rPr>
              <a:t>Prob</a:t>
            </a:r>
            <a:r>
              <a:rPr lang="en-US" sz="3000" i="1" dirty="0">
                <a:solidFill>
                  <a:srgbClr val="990000"/>
                </a:solidFill>
                <a:latin typeface="Trebuchet MS"/>
                <a:cs typeface="Trebuchet MS"/>
              </a:rPr>
              <a:t> a machine will die at any day? </a:t>
            </a:r>
          </a:p>
          <a:p>
            <a:pPr marL="0" lvl="1" algn="ctr">
              <a:lnSpc>
                <a:spcPct val="150000"/>
              </a:lnSpc>
            </a:pPr>
            <a:r>
              <a:rPr lang="en-US" sz="3000" i="1" dirty="0">
                <a:solidFill>
                  <a:srgbClr val="008000"/>
                </a:solidFill>
                <a:latin typeface="Trebuchet MS"/>
                <a:cs typeface="Trebuchet MS"/>
              </a:rPr>
              <a:t>A: 64%</a:t>
            </a:r>
          </a:p>
          <a:p>
            <a:pPr marL="0" lvl="1" algn="ctr">
              <a:lnSpc>
                <a:spcPct val="150000"/>
              </a:lnSpc>
            </a:pPr>
            <a:r>
              <a:rPr lang="en-US" sz="3600" i="1" dirty="0">
                <a:solidFill>
                  <a:srgbClr val="000090"/>
                </a:solidFill>
                <a:latin typeface="Trebuchet MS"/>
                <a:cs typeface="Trebuchet MS"/>
              </a:rPr>
              <a:t>**Fact of Life: Machines will fail frequently at large-scale.**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413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" y="90958"/>
            <a:ext cx="91130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kern="0" dirty="0">
                <a:latin typeface="Trebuchet MS"/>
              </a:rPr>
              <a:t>Google’s Previous Solution</a:t>
            </a:r>
            <a:endParaRPr lang="en-US" sz="3400" b="1" dirty="0"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807197"/>
            <a:ext cx="9113024" cy="3711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400" dirty="0">
                <a:solidFill>
                  <a:srgbClr val="000090"/>
                </a:solidFill>
                <a:latin typeface="Trebuchet MS"/>
                <a:cs typeface="Trebuchet MS"/>
              </a:rPr>
              <a:t>Special-purpose distributed program for each application.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400" dirty="0">
                <a:solidFill>
                  <a:srgbClr val="000090"/>
                </a:solidFill>
                <a:latin typeface="Trebuchet MS"/>
                <a:cs typeface="Trebuchet MS"/>
              </a:rPr>
              <a:t>Problem: Not scalable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§"/>
            </a:pP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Difficult for many engineers to write parallel code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§"/>
            </a:pP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Development speed: Thousands lines for simple applications.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§"/>
            </a:pP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Code repetition for common tasks:</a:t>
            </a:r>
          </a:p>
          <a:p>
            <a:pPr marL="1257300" lvl="2" indent="-342900">
              <a:lnSpc>
                <a:spcPct val="150000"/>
              </a:lnSpc>
              <a:buFont typeface="Wingdings" charset="2"/>
              <a:buChar char="§"/>
            </a:pP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Data Partitioning</a:t>
            </a:r>
          </a:p>
          <a:p>
            <a:pPr marL="1257300" lvl="2" indent="-342900">
              <a:lnSpc>
                <a:spcPct val="150000"/>
              </a:lnSpc>
              <a:buFont typeface="Wingdings" charset="2"/>
              <a:buChar char="§"/>
            </a:pPr>
            <a:r>
              <a:rPr lang="en-US" sz="2200" dirty="0">
                <a:solidFill>
                  <a:srgbClr val="990000"/>
                </a:solidFill>
                <a:latin typeface="Trebuchet MS"/>
                <a:cs typeface="Trebuchet MS"/>
              </a:rPr>
              <a:t>Code parallelizing, Fault-tolerance etc.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83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" y="90958"/>
            <a:ext cx="91130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kern="0" dirty="0">
                <a:latin typeface="Trebuchet MS"/>
              </a:rPr>
              <a:t>Google’s New Solution: </a:t>
            </a:r>
            <a:r>
              <a:rPr lang="en-US" sz="3400" kern="0" dirty="0" err="1">
                <a:latin typeface="Trebuchet MS"/>
              </a:rPr>
              <a:t>MapReduce</a:t>
            </a:r>
            <a:endParaRPr lang="en-US" sz="3400" b="1" dirty="0"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38</a:t>
            </a:fld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-1" y="839323"/>
            <a:ext cx="9152925" cy="571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endParaRPr lang="en-US" sz="2200" i="1" dirty="0">
              <a:solidFill>
                <a:srgbClr val="000090"/>
              </a:solidFill>
              <a:latin typeface="Trebuchet MS"/>
              <a:cs typeface="Trebuchet M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807197"/>
            <a:ext cx="9113024" cy="4493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u"/>
            </a:pPr>
            <a:r>
              <a:rPr lang="en-US" sz="2400" dirty="0">
                <a:solidFill>
                  <a:srgbClr val="000090"/>
                </a:solidFill>
                <a:latin typeface="Trebuchet MS"/>
                <a:cs typeface="Trebuchet MS"/>
              </a:rPr>
              <a:t>Distr. Data Processing System with 3 fundamental properties: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0090"/>
                </a:solidFill>
                <a:latin typeface="Trebuchet MS"/>
                <a:cs typeface="Trebuchet MS"/>
              </a:rPr>
              <a:t>Transparent Parallelism</a:t>
            </a:r>
          </a:p>
          <a:p>
            <a:pPr marL="1371600" lvl="2" indent="-457200">
              <a:lnSpc>
                <a:spcPct val="150000"/>
              </a:lnSpc>
              <a:buFont typeface="Wingdings" charset="2"/>
              <a:buChar char="§"/>
            </a:pPr>
            <a:r>
              <a:rPr lang="en-US" sz="2400" dirty="0" err="1">
                <a:solidFill>
                  <a:srgbClr val="990000"/>
                </a:solidFill>
                <a:latin typeface="Trebuchet MS"/>
                <a:cs typeface="Trebuchet MS"/>
              </a:rPr>
              <a:t>i.e</a:t>
            </a:r>
            <a:r>
              <a:rPr lang="en-US" sz="2400" dirty="0">
                <a:solidFill>
                  <a:srgbClr val="990000"/>
                </a:solidFill>
                <a:latin typeface="Trebuchet MS"/>
                <a:cs typeface="Trebuchet MS"/>
              </a:rPr>
              <a:t>: User-code parallelization &amp; data partitioning automatically done by the system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0090"/>
                </a:solidFill>
                <a:latin typeface="Trebuchet MS"/>
                <a:cs typeface="Trebuchet MS"/>
              </a:rPr>
              <a:t>Transparent Fault-tolerance</a:t>
            </a:r>
          </a:p>
          <a:p>
            <a:pPr marL="1371600" lvl="2" indent="-457200">
              <a:lnSpc>
                <a:spcPct val="150000"/>
              </a:lnSpc>
              <a:buFont typeface="Wingdings" charset="2"/>
              <a:buChar char="§"/>
            </a:pPr>
            <a:r>
              <a:rPr lang="en-US" sz="2400" dirty="0" err="1">
                <a:solidFill>
                  <a:srgbClr val="990000"/>
                </a:solidFill>
                <a:latin typeface="Trebuchet MS"/>
                <a:cs typeface="Trebuchet MS"/>
              </a:rPr>
              <a:t>i.e</a:t>
            </a:r>
            <a:r>
              <a:rPr lang="en-US" sz="2400" dirty="0">
                <a:solidFill>
                  <a:srgbClr val="990000"/>
                </a:solidFill>
                <a:latin typeface="Trebuchet MS"/>
                <a:cs typeface="Trebuchet MS"/>
              </a:rPr>
              <a:t>: Recovery from failures is automatic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0090"/>
                </a:solidFill>
                <a:latin typeface="Trebuchet MS"/>
                <a:cs typeface="Trebuchet MS"/>
              </a:rPr>
              <a:t>A Simple Programming API</a:t>
            </a:r>
          </a:p>
          <a:p>
            <a:pPr marL="1371600" lvl="2" indent="-457200">
              <a:lnSpc>
                <a:spcPct val="150000"/>
              </a:lnSpc>
              <a:buFont typeface="Wingdings" charset="2"/>
              <a:buChar char="§"/>
            </a:pPr>
            <a:r>
              <a:rPr lang="en-US" sz="2400" dirty="0">
                <a:solidFill>
                  <a:srgbClr val="990000"/>
                </a:solidFill>
                <a:latin typeface="Trebuchet MS"/>
                <a:cs typeface="Trebuchet MS"/>
              </a:rPr>
              <a:t>map() &amp; reduce()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233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" y="27458"/>
            <a:ext cx="919102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kern="0" dirty="0" err="1">
                <a:latin typeface="Trebuchet MS"/>
              </a:rPr>
              <a:t>MapReduce</a:t>
            </a:r>
            <a:r>
              <a:rPr lang="en-US" sz="3200" kern="0" dirty="0">
                <a:latin typeface="Trebuchet MS"/>
              </a:rPr>
              <a:t> Overview</a:t>
            </a:r>
            <a:endParaRPr lang="en-US" sz="2400" b="1" dirty="0">
              <a:solidFill>
                <a:srgbClr val="B90000"/>
              </a:solidFill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08750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39</a:t>
            </a:fld>
            <a:endParaRPr lang="en-US"/>
          </a:p>
        </p:txBody>
      </p:sp>
      <p:pic>
        <p:nvPicPr>
          <p:cNvPr id="10" name="Picture 9" descr="programmer-icon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4" y="5913711"/>
            <a:ext cx="1101496" cy="929067"/>
          </a:xfrm>
          <a:prstGeom prst="rect">
            <a:avLst/>
          </a:prstGeom>
        </p:spPr>
      </p:pic>
      <p:grpSp>
        <p:nvGrpSpPr>
          <p:cNvPr id="50" name="Group 49"/>
          <p:cNvGrpSpPr/>
          <p:nvPr/>
        </p:nvGrpSpPr>
        <p:grpSpPr>
          <a:xfrm>
            <a:off x="171559" y="4762751"/>
            <a:ext cx="535170" cy="693516"/>
            <a:chOff x="1678844" y="3327400"/>
            <a:chExt cx="450851" cy="457200"/>
          </a:xfrm>
        </p:grpSpPr>
        <p:sp>
          <p:nvSpPr>
            <p:cNvPr id="53" name="Rectangle 52"/>
            <p:cNvSpPr/>
            <p:nvPr/>
          </p:nvSpPr>
          <p:spPr>
            <a:xfrm>
              <a:off x="1678844" y="3327400"/>
              <a:ext cx="450851" cy="4572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1688679" y="3378200"/>
              <a:ext cx="2984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729644" y="3479800"/>
              <a:ext cx="2984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1742344" y="3594100"/>
              <a:ext cx="2857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1824895" y="3708400"/>
              <a:ext cx="215900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Arrow Connector 50"/>
          <p:cNvCxnSpPr>
            <a:stCxn id="52" idx="0"/>
          </p:cNvCxnSpPr>
          <p:nvPr/>
        </p:nvCxnSpPr>
        <p:spPr>
          <a:xfrm flipH="1" flipV="1">
            <a:off x="540744" y="5570567"/>
            <a:ext cx="1180762" cy="438189"/>
          </a:xfrm>
          <a:prstGeom prst="straightConnector1">
            <a:avLst/>
          </a:prstGeom>
          <a:ln w="12700">
            <a:solidFill>
              <a:srgbClr val="99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82503" y="6008756"/>
            <a:ext cx="1278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990000"/>
                </a:solidFill>
                <a:latin typeface="Chalkboard"/>
                <a:cs typeface="Chalkboard"/>
              </a:rPr>
              <a:t>map() function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261346" y="1257301"/>
            <a:ext cx="7565155" cy="31821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solidFill>
                <a:srgbClr val="000090"/>
              </a:solidFill>
              <a:latin typeface="Calibri"/>
              <a:cs typeface="Calibri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2162443" y="1339209"/>
            <a:ext cx="1132668" cy="7469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887348" y="3033417"/>
            <a:ext cx="625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/>
                <a:cs typeface="Trebuchet MS"/>
              </a:rPr>
              <a:t>…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87198" y="1424908"/>
            <a:ext cx="108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rebuchet MS"/>
                <a:cs typeface="Trebuchet MS"/>
              </a:rPr>
              <a:t>Mapper</a:t>
            </a:r>
          </a:p>
          <a:p>
            <a:pPr algn="ctr"/>
            <a:r>
              <a:rPr lang="en-US" sz="1400" dirty="0">
                <a:latin typeface="Trebuchet MS"/>
                <a:cs typeface="Trebuchet MS"/>
              </a:rPr>
              <a:t>Machine</a:t>
            </a:r>
            <a:r>
              <a:rPr lang="en-US" sz="1400" baseline="-25000" dirty="0">
                <a:latin typeface="Trebuchet MS"/>
                <a:cs typeface="Trebuchet MS"/>
              </a:rPr>
              <a:t>1</a:t>
            </a:r>
            <a:endParaRPr lang="en-US" sz="1400" dirty="0">
              <a:latin typeface="Trebuchet MS"/>
              <a:cs typeface="Trebuchet MS"/>
            </a:endParaRPr>
          </a:p>
        </p:txBody>
      </p:sp>
      <p:cxnSp>
        <p:nvCxnSpPr>
          <p:cNvPr id="179" name="Elbow Connector 178"/>
          <p:cNvCxnSpPr/>
          <p:nvPr/>
        </p:nvCxnSpPr>
        <p:spPr>
          <a:xfrm rot="5400000" flipH="1" flipV="1">
            <a:off x="-7155" y="3453934"/>
            <a:ext cx="2073503" cy="467934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0" y="6928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147542" y="6008756"/>
            <a:ext cx="1278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90000"/>
                </a:solidFill>
                <a:latin typeface="Chalkboard"/>
                <a:cs typeface="Chalkboard"/>
              </a:rPr>
              <a:t>reduce() function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831702" y="4762751"/>
            <a:ext cx="535170" cy="693516"/>
            <a:chOff x="1678844" y="3327400"/>
            <a:chExt cx="450851" cy="457200"/>
          </a:xfrm>
        </p:grpSpPr>
        <p:sp>
          <p:nvSpPr>
            <p:cNvPr id="71" name="Rectangle 70"/>
            <p:cNvSpPr/>
            <p:nvPr/>
          </p:nvSpPr>
          <p:spPr>
            <a:xfrm>
              <a:off x="1678844" y="3327400"/>
              <a:ext cx="450851" cy="4572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cxnSp>
          <p:nvCxnSpPr>
            <p:cNvPr id="72" name="Straight Connector 71"/>
            <p:cNvCxnSpPr/>
            <p:nvPr/>
          </p:nvCxnSpPr>
          <p:spPr>
            <a:xfrm>
              <a:off x="1688679" y="3378200"/>
              <a:ext cx="2984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1729644" y="3479800"/>
              <a:ext cx="2984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1742344" y="3594100"/>
              <a:ext cx="2857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824895" y="3708400"/>
              <a:ext cx="215900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Arrow Connector 77"/>
          <p:cNvCxnSpPr>
            <a:stCxn id="69" idx="0"/>
          </p:cNvCxnSpPr>
          <p:nvPr/>
        </p:nvCxnSpPr>
        <p:spPr>
          <a:xfrm flipH="1" flipV="1">
            <a:off x="1200887" y="5570567"/>
            <a:ext cx="1585658" cy="438189"/>
          </a:xfrm>
          <a:prstGeom prst="straightConnector1">
            <a:avLst/>
          </a:prstGeom>
          <a:ln w="12700">
            <a:solidFill>
              <a:srgbClr val="99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5345796" y="2251305"/>
            <a:ext cx="1668380" cy="7291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875602" y="2305530"/>
            <a:ext cx="108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rebuchet MS"/>
                <a:cs typeface="Trebuchet MS"/>
              </a:rPr>
              <a:t>Reducer</a:t>
            </a:r>
          </a:p>
          <a:p>
            <a:pPr algn="ctr"/>
            <a:r>
              <a:rPr lang="en-US" sz="1400" dirty="0">
                <a:latin typeface="Trebuchet MS"/>
                <a:cs typeface="Trebuchet MS"/>
              </a:rPr>
              <a:t>Machine</a:t>
            </a:r>
            <a:r>
              <a:rPr lang="en-US" sz="1400" baseline="-25000" dirty="0">
                <a:latin typeface="Trebuchet MS"/>
                <a:cs typeface="Trebuchet MS"/>
              </a:rPr>
              <a:t>2</a:t>
            </a:r>
            <a:endParaRPr lang="en-US" sz="1400" dirty="0">
              <a:latin typeface="Trebuchet MS"/>
              <a:cs typeface="Trebuchet MS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5760348" y="2631912"/>
            <a:ext cx="965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990000"/>
                </a:solidFill>
                <a:latin typeface="Chalkboard"/>
                <a:cs typeface="Chalkboard"/>
              </a:rPr>
              <a:t>reduce()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10501" y="3048365"/>
            <a:ext cx="625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/>
                <a:cs typeface="Trebuchet MS"/>
              </a:rPr>
              <a:t>…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2222782" y="1395740"/>
          <a:ext cx="393417" cy="641832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93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2" name="Group 111"/>
          <p:cNvGrpSpPr/>
          <p:nvPr/>
        </p:nvGrpSpPr>
        <p:grpSpPr>
          <a:xfrm>
            <a:off x="1971396" y="1290905"/>
            <a:ext cx="888774" cy="705495"/>
            <a:chOff x="9353229" y="5922034"/>
            <a:chExt cx="888774" cy="705495"/>
          </a:xfrm>
        </p:grpSpPr>
        <p:sp>
          <p:nvSpPr>
            <p:cNvPr id="113" name="TextBox 112"/>
            <p:cNvSpPr txBox="1"/>
            <p:nvPr/>
          </p:nvSpPr>
          <p:spPr>
            <a:xfrm>
              <a:off x="9359987" y="5922034"/>
              <a:ext cx="8820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r</a:t>
              </a:r>
              <a:r>
                <a:rPr lang="en-US" sz="1500" baseline="-25000" dirty="0"/>
                <a:t>1</a:t>
              </a:r>
              <a:endParaRPr lang="en-US" sz="1500" dirty="0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9353229" y="6116549"/>
              <a:ext cx="8820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r</a:t>
              </a:r>
              <a:r>
                <a:rPr lang="en-US" sz="1500" baseline="-25000" dirty="0"/>
                <a:t>2</a:t>
              </a:r>
              <a:endParaRPr lang="en-US" sz="1500" dirty="0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9355170" y="6304364"/>
              <a:ext cx="8820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r</a:t>
              </a:r>
              <a:r>
                <a:rPr lang="en-US" sz="1500" baseline="-25000" dirty="0"/>
                <a:t>3</a:t>
              </a:r>
              <a:endParaRPr lang="en-US" sz="1500" dirty="0"/>
            </a:p>
          </p:txBody>
        </p:sp>
      </p:grpSp>
      <p:sp>
        <p:nvSpPr>
          <p:cNvPr id="169" name="TextBox 168"/>
          <p:cNvSpPr txBox="1"/>
          <p:nvPr/>
        </p:nvSpPr>
        <p:spPr>
          <a:xfrm>
            <a:off x="2483526" y="1335309"/>
            <a:ext cx="8115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483526" y="1563909"/>
            <a:ext cx="8115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483526" y="1767109"/>
            <a:ext cx="8115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34724" y="2300837"/>
            <a:ext cx="1515674" cy="323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/>
          <p:cNvSpPr txBox="1"/>
          <p:nvPr/>
        </p:nvSpPr>
        <p:spPr>
          <a:xfrm>
            <a:off x="5284742" y="2274543"/>
            <a:ext cx="1834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&lt;</a:t>
            </a:r>
            <a:r>
              <a:rPr lang="en-US" sz="1600" dirty="0">
                <a:solidFill>
                  <a:srgbClr val="0000CC"/>
                </a:solidFill>
              </a:rPr>
              <a:t>k</a:t>
            </a:r>
            <a:r>
              <a:rPr lang="en-US" sz="1600" baseline="-25000" dirty="0">
                <a:solidFill>
                  <a:srgbClr val="0000CC"/>
                </a:solidFill>
              </a:rPr>
              <a:t>2</a:t>
            </a:r>
            <a:r>
              <a:rPr lang="en-US" sz="1600" dirty="0"/>
              <a:t>, {v</a:t>
            </a:r>
            <a:r>
              <a:rPr lang="en-US" sz="1600" baseline="-25000" dirty="0"/>
              <a:t>2</a:t>
            </a:r>
            <a:r>
              <a:rPr lang="en-US" sz="1600" dirty="0"/>
              <a:t>, v</a:t>
            </a:r>
            <a:r>
              <a:rPr lang="en-US" sz="1600" baseline="-25000" dirty="0"/>
              <a:t>5</a:t>
            </a:r>
            <a:r>
              <a:rPr lang="en-US" sz="1600" dirty="0"/>
              <a:t>, …, </a:t>
            </a:r>
            <a:r>
              <a:rPr lang="en-US" sz="1600" dirty="0" err="1"/>
              <a:t>v</a:t>
            </a:r>
            <a:r>
              <a:rPr lang="en-US" sz="1600" baseline="-25000" dirty="0" err="1"/>
              <a:t>m</a:t>
            </a:r>
            <a:r>
              <a:rPr lang="en-US" sz="1600" dirty="0"/>
              <a:t>}&gt;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345796" y="1328667"/>
            <a:ext cx="1668380" cy="7291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6875602" y="1349322"/>
            <a:ext cx="108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rebuchet MS"/>
                <a:cs typeface="Trebuchet MS"/>
              </a:rPr>
              <a:t>Reducer</a:t>
            </a:r>
          </a:p>
          <a:p>
            <a:pPr algn="ctr"/>
            <a:r>
              <a:rPr lang="en-US" sz="1400" dirty="0">
                <a:latin typeface="Trebuchet MS"/>
                <a:cs typeface="Trebuchet MS"/>
              </a:rPr>
              <a:t>Machine</a:t>
            </a:r>
            <a:r>
              <a:rPr lang="en-US" sz="1400" baseline="-25000" dirty="0">
                <a:latin typeface="Trebuchet MS"/>
                <a:cs typeface="Trebuchet MS"/>
              </a:rPr>
              <a:t>1</a:t>
            </a:r>
            <a:r>
              <a:rPr lang="en-US" sz="1400" dirty="0">
                <a:latin typeface="Trebuchet MS"/>
                <a:cs typeface="Trebuchet MS"/>
              </a:rPr>
              <a:t> 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760348" y="1709274"/>
            <a:ext cx="965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990000"/>
                </a:solidFill>
                <a:latin typeface="Chalkboard"/>
                <a:cs typeface="Chalkboard"/>
              </a:rPr>
              <a:t>reduce()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434724" y="1378199"/>
            <a:ext cx="1515674" cy="323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TextBox 184"/>
          <p:cNvSpPr txBox="1"/>
          <p:nvPr/>
        </p:nvSpPr>
        <p:spPr>
          <a:xfrm>
            <a:off x="5294996" y="1358136"/>
            <a:ext cx="1744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&lt;</a:t>
            </a:r>
            <a:r>
              <a:rPr lang="en-US" sz="1600" dirty="0">
                <a:solidFill>
                  <a:srgbClr val="0000CC"/>
                </a:solidFill>
              </a:rPr>
              <a:t>k</a:t>
            </a:r>
            <a:r>
              <a:rPr lang="en-US" sz="1600" baseline="-25000" dirty="0">
                <a:solidFill>
                  <a:srgbClr val="0000CC"/>
                </a:solidFill>
              </a:rPr>
              <a:t>1</a:t>
            </a:r>
            <a:r>
              <a:rPr lang="en-US" sz="1600" dirty="0"/>
              <a:t>, {v</a:t>
            </a:r>
            <a:r>
              <a:rPr lang="en-US" sz="1600" baseline="-25000" dirty="0"/>
              <a:t>1</a:t>
            </a:r>
            <a:r>
              <a:rPr lang="en-US" sz="1600" dirty="0"/>
              <a:t>, v</a:t>
            </a:r>
            <a:r>
              <a:rPr lang="en-US" sz="1600" baseline="-25000" dirty="0"/>
              <a:t>2</a:t>
            </a:r>
            <a:r>
              <a:rPr lang="en-US" sz="1600" dirty="0"/>
              <a:t>}&gt;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371196" y="3557397"/>
            <a:ext cx="1668380" cy="7291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875602" y="3539952"/>
            <a:ext cx="108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rebuchet MS"/>
                <a:cs typeface="Trebuchet MS"/>
              </a:rPr>
              <a:t>Reducer</a:t>
            </a:r>
          </a:p>
          <a:p>
            <a:pPr algn="ctr"/>
            <a:r>
              <a:rPr lang="en-US" sz="1400" dirty="0" err="1">
                <a:latin typeface="Trebuchet MS"/>
                <a:cs typeface="Trebuchet MS"/>
              </a:rPr>
              <a:t>Machine</a:t>
            </a:r>
            <a:r>
              <a:rPr lang="en-US" sz="1400" baseline="-25000" dirty="0" err="1">
                <a:latin typeface="Trebuchet MS"/>
                <a:cs typeface="Trebuchet MS"/>
              </a:rPr>
              <a:t>p</a:t>
            </a:r>
            <a:r>
              <a:rPr lang="en-US" sz="1400" dirty="0">
                <a:latin typeface="Trebuchet MS"/>
                <a:cs typeface="Trebuchet MS"/>
              </a:rPr>
              <a:t> 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785748" y="3938004"/>
            <a:ext cx="965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990000"/>
                </a:solidFill>
                <a:latin typeface="Chalkboard"/>
                <a:cs typeface="Chalkboard"/>
              </a:rPr>
              <a:t>reduce()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422024" y="3606929"/>
            <a:ext cx="1581912" cy="323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TextBox 189"/>
          <p:cNvSpPr txBox="1"/>
          <p:nvPr/>
        </p:nvSpPr>
        <p:spPr>
          <a:xfrm>
            <a:off x="5282135" y="3567127"/>
            <a:ext cx="1834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&lt;</a:t>
            </a:r>
            <a:r>
              <a:rPr lang="en-US" sz="1600" dirty="0" err="1">
                <a:solidFill>
                  <a:srgbClr val="0000CC"/>
                </a:solidFill>
              </a:rPr>
              <a:t>k</a:t>
            </a:r>
            <a:r>
              <a:rPr lang="en-US" sz="1600" baseline="-25000" dirty="0" err="1">
                <a:solidFill>
                  <a:srgbClr val="0000CC"/>
                </a:solidFill>
              </a:rPr>
              <a:t>p</a:t>
            </a:r>
            <a:r>
              <a:rPr lang="en-US" sz="1600" dirty="0"/>
              <a:t>, {v</a:t>
            </a:r>
            <a:r>
              <a:rPr lang="en-US" sz="1600" baseline="-25000" dirty="0"/>
              <a:t>1</a:t>
            </a:r>
            <a:r>
              <a:rPr lang="en-US" sz="1600" dirty="0"/>
              <a:t>, v</a:t>
            </a:r>
            <a:r>
              <a:rPr lang="en-US" sz="1600" baseline="-25000" dirty="0"/>
              <a:t>4</a:t>
            </a:r>
            <a:r>
              <a:rPr lang="en-US" sz="1600" dirty="0"/>
              <a:t>, …, v</a:t>
            </a:r>
            <a:r>
              <a:rPr lang="en-US" sz="1600" baseline="-25000" dirty="0"/>
              <a:t>m-2</a:t>
            </a:r>
            <a:r>
              <a:rPr lang="en-US" sz="1600" dirty="0"/>
              <a:t>}&gt;</a:t>
            </a:r>
          </a:p>
        </p:txBody>
      </p:sp>
      <p:cxnSp>
        <p:nvCxnSpPr>
          <p:cNvPr id="34" name="Straight Arrow Connector 33"/>
          <p:cNvCxnSpPr>
            <a:stCxn id="169" idx="3"/>
            <a:endCxn id="185" idx="1"/>
          </p:cNvCxnSpPr>
          <p:nvPr/>
        </p:nvCxnSpPr>
        <p:spPr>
          <a:xfrm>
            <a:off x="3295111" y="1496892"/>
            <a:ext cx="1999885" cy="3052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4310047" y="1217742"/>
            <a:ext cx="8945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halkboard"/>
                <a:cs typeface="Chalkboard"/>
              </a:rPr>
              <a:t>&lt;k</a:t>
            </a:r>
            <a:r>
              <a:rPr lang="en-US" sz="1500" baseline="-25000" dirty="0">
                <a:latin typeface="Chalkboard"/>
                <a:cs typeface="Chalkboard"/>
              </a:rPr>
              <a:t>1</a:t>
            </a:r>
            <a:r>
              <a:rPr lang="en-US" sz="1500" dirty="0">
                <a:latin typeface="Chalkboard"/>
                <a:cs typeface="Chalkboard"/>
              </a:rPr>
              <a:t>, v</a:t>
            </a:r>
            <a:r>
              <a:rPr lang="en-US" sz="1500" baseline="-25000" dirty="0">
                <a:latin typeface="Chalkboard"/>
                <a:cs typeface="Chalkboard"/>
              </a:rPr>
              <a:t>1</a:t>
            </a:r>
            <a:r>
              <a:rPr lang="en-US" sz="1500" dirty="0">
                <a:latin typeface="Chalkboard"/>
                <a:cs typeface="Chalkboard"/>
              </a:rPr>
              <a:t>&gt; </a:t>
            </a:r>
          </a:p>
        </p:txBody>
      </p:sp>
      <p:cxnSp>
        <p:nvCxnSpPr>
          <p:cNvPr id="199" name="Straight Arrow Connector 198"/>
          <p:cNvCxnSpPr>
            <a:stCxn id="169" idx="3"/>
            <a:endCxn id="190" idx="1"/>
          </p:cNvCxnSpPr>
          <p:nvPr/>
        </p:nvCxnSpPr>
        <p:spPr>
          <a:xfrm>
            <a:off x="3295111" y="1496892"/>
            <a:ext cx="1987024" cy="223951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 rot="2758775">
            <a:off x="3842077" y="2082736"/>
            <a:ext cx="8945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halkboard"/>
                <a:cs typeface="Chalkboard"/>
              </a:rPr>
              <a:t>&lt;</a:t>
            </a:r>
            <a:r>
              <a:rPr lang="en-US" sz="1500" dirty="0" err="1">
                <a:latin typeface="Chalkboard"/>
                <a:cs typeface="Chalkboard"/>
              </a:rPr>
              <a:t>k</a:t>
            </a:r>
            <a:r>
              <a:rPr lang="en-US" sz="1500" baseline="-25000" dirty="0" err="1">
                <a:latin typeface="Chalkboard"/>
                <a:cs typeface="Chalkboard"/>
              </a:rPr>
              <a:t>p</a:t>
            </a:r>
            <a:r>
              <a:rPr lang="en-US" sz="1500" dirty="0">
                <a:latin typeface="Chalkboard"/>
                <a:cs typeface="Chalkboard"/>
              </a:rPr>
              <a:t>, v</a:t>
            </a:r>
            <a:r>
              <a:rPr lang="en-US" sz="1500" baseline="-25000" dirty="0">
                <a:latin typeface="Chalkboard"/>
                <a:cs typeface="Chalkboard"/>
              </a:rPr>
              <a:t>4</a:t>
            </a:r>
            <a:r>
              <a:rPr lang="en-US" sz="1500" dirty="0">
                <a:latin typeface="Chalkboard"/>
                <a:cs typeface="Chalkboard"/>
              </a:rPr>
              <a:t>&gt; </a:t>
            </a:r>
          </a:p>
        </p:txBody>
      </p:sp>
      <p:cxnSp>
        <p:nvCxnSpPr>
          <p:cNvPr id="203" name="Straight Arrow Connector 202"/>
          <p:cNvCxnSpPr>
            <a:stCxn id="171" idx="3"/>
            <a:endCxn id="185" idx="1"/>
          </p:cNvCxnSpPr>
          <p:nvPr/>
        </p:nvCxnSpPr>
        <p:spPr>
          <a:xfrm flipV="1">
            <a:off x="3295111" y="1527413"/>
            <a:ext cx="1999885" cy="19807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 rot="21403520">
            <a:off x="3534937" y="1411185"/>
            <a:ext cx="8945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halkboard"/>
                <a:cs typeface="Chalkboard"/>
              </a:rPr>
              <a:t>&lt;k</a:t>
            </a:r>
            <a:r>
              <a:rPr lang="en-US" sz="1500" baseline="-25000" dirty="0">
                <a:latin typeface="Chalkboard"/>
                <a:cs typeface="Chalkboard"/>
              </a:rPr>
              <a:t>1</a:t>
            </a:r>
            <a:r>
              <a:rPr lang="en-US" sz="1500" dirty="0">
                <a:latin typeface="Chalkboard"/>
                <a:cs typeface="Chalkboard"/>
              </a:rPr>
              <a:t>, v</a:t>
            </a:r>
            <a:r>
              <a:rPr lang="en-US" sz="1500" baseline="-25000" dirty="0">
                <a:latin typeface="Chalkboard"/>
                <a:cs typeface="Chalkboard"/>
              </a:rPr>
              <a:t>2</a:t>
            </a:r>
            <a:r>
              <a:rPr lang="en-US" sz="1500" dirty="0">
                <a:latin typeface="Chalkboard"/>
                <a:cs typeface="Chalkboard"/>
              </a:rPr>
              <a:t>&gt; </a:t>
            </a:r>
          </a:p>
        </p:txBody>
      </p:sp>
      <p:cxnSp>
        <p:nvCxnSpPr>
          <p:cNvPr id="205" name="Straight Arrow Connector 204"/>
          <p:cNvCxnSpPr>
            <a:stCxn id="171" idx="3"/>
            <a:endCxn id="180" idx="1"/>
          </p:cNvCxnSpPr>
          <p:nvPr/>
        </p:nvCxnSpPr>
        <p:spPr>
          <a:xfrm>
            <a:off x="3295111" y="1725492"/>
            <a:ext cx="1989631" cy="71832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Rectangle 207"/>
          <p:cNvSpPr/>
          <p:nvPr/>
        </p:nvSpPr>
        <p:spPr>
          <a:xfrm>
            <a:off x="2150901" y="2188714"/>
            <a:ext cx="1144209" cy="7469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1175657" y="2274413"/>
            <a:ext cx="108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rebuchet MS"/>
                <a:cs typeface="Trebuchet MS"/>
              </a:rPr>
              <a:t>Mapper</a:t>
            </a:r>
          </a:p>
          <a:p>
            <a:pPr algn="ctr"/>
            <a:r>
              <a:rPr lang="en-US" sz="1400" dirty="0">
                <a:latin typeface="Trebuchet MS"/>
                <a:cs typeface="Trebuchet MS"/>
              </a:rPr>
              <a:t>Machine</a:t>
            </a:r>
            <a:r>
              <a:rPr lang="en-US" sz="1400" baseline="-25000" dirty="0">
                <a:latin typeface="Trebuchet MS"/>
                <a:cs typeface="Trebuchet MS"/>
              </a:rPr>
              <a:t>2</a:t>
            </a:r>
            <a:endParaRPr lang="en-US" sz="1400" dirty="0">
              <a:latin typeface="Trebuchet MS"/>
              <a:cs typeface="Trebuchet MS"/>
            </a:endParaRPr>
          </a:p>
        </p:txBody>
      </p:sp>
      <p:graphicFrame>
        <p:nvGraphicFramePr>
          <p:cNvPr id="210" name="Table 209"/>
          <p:cNvGraphicFramePr>
            <a:graphicFrameLocks noGrp="1"/>
          </p:cNvGraphicFramePr>
          <p:nvPr/>
        </p:nvGraphicFramePr>
        <p:xfrm>
          <a:off x="2211241" y="2245245"/>
          <a:ext cx="393417" cy="641832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93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11" name="Group 210"/>
          <p:cNvGrpSpPr/>
          <p:nvPr/>
        </p:nvGrpSpPr>
        <p:grpSpPr>
          <a:xfrm>
            <a:off x="1959855" y="2140410"/>
            <a:ext cx="888774" cy="705495"/>
            <a:chOff x="9353229" y="5922034"/>
            <a:chExt cx="888774" cy="705495"/>
          </a:xfrm>
        </p:grpSpPr>
        <p:sp>
          <p:nvSpPr>
            <p:cNvPr id="212" name="TextBox 211"/>
            <p:cNvSpPr txBox="1"/>
            <p:nvPr/>
          </p:nvSpPr>
          <p:spPr>
            <a:xfrm>
              <a:off x="9359987" y="5922034"/>
              <a:ext cx="8820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r</a:t>
              </a:r>
              <a:r>
                <a:rPr lang="en-US" sz="1500" baseline="-25000" dirty="0"/>
                <a:t>4</a:t>
              </a:r>
              <a:endParaRPr lang="en-US" sz="1500" dirty="0"/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9353229" y="6116549"/>
              <a:ext cx="8820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r</a:t>
              </a:r>
              <a:r>
                <a:rPr lang="en-US" sz="1500" baseline="-25000" dirty="0"/>
                <a:t>5</a:t>
              </a:r>
              <a:endParaRPr lang="en-US" sz="1500" dirty="0"/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9355170" y="6304364"/>
              <a:ext cx="8820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r</a:t>
              </a:r>
              <a:r>
                <a:rPr lang="en-US" sz="1500" baseline="-25000" dirty="0"/>
                <a:t>6</a:t>
              </a:r>
              <a:endParaRPr lang="en-US" sz="1500" dirty="0"/>
            </a:p>
          </p:txBody>
        </p:sp>
      </p:grpSp>
      <p:sp>
        <p:nvSpPr>
          <p:cNvPr id="215" name="TextBox 214"/>
          <p:cNvSpPr txBox="1"/>
          <p:nvPr/>
        </p:nvSpPr>
        <p:spPr>
          <a:xfrm>
            <a:off x="2471985" y="2184814"/>
            <a:ext cx="8115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471985" y="2413414"/>
            <a:ext cx="8115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471985" y="2616614"/>
            <a:ext cx="8115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cxnSp>
        <p:nvCxnSpPr>
          <p:cNvPr id="218" name="Straight Arrow Connector 217"/>
          <p:cNvCxnSpPr>
            <a:stCxn id="216" idx="3"/>
            <a:endCxn id="190" idx="1"/>
          </p:cNvCxnSpPr>
          <p:nvPr/>
        </p:nvCxnSpPr>
        <p:spPr>
          <a:xfrm>
            <a:off x="3283570" y="2574997"/>
            <a:ext cx="1998565" cy="116140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Rectangle 220"/>
          <p:cNvSpPr/>
          <p:nvPr/>
        </p:nvSpPr>
        <p:spPr>
          <a:xfrm>
            <a:off x="2153218" y="3469884"/>
            <a:ext cx="1130352" cy="7469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1177973" y="3555583"/>
            <a:ext cx="108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rebuchet MS"/>
                <a:cs typeface="Trebuchet MS"/>
              </a:rPr>
              <a:t>Mapper</a:t>
            </a:r>
          </a:p>
          <a:p>
            <a:pPr algn="ctr"/>
            <a:r>
              <a:rPr lang="en-US" sz="1400" dirty="0" err="1">
                <a:latin typeface="Trebuchet MS"/>
                <a:cs typeface="Trebuchet MS"/>
              </a:rPr>
              <a:t>Machine</a:t>
            </a:r>
            <a:r>
              <a:rPr lang="en-US" sz="1400" baseline="-25000" dirty="0" err="1">
                <a:latin typeface="Trebuchet MS"/>
                <a:cs typeface="Trebuchet MS"/>
              </a:rPr>
              <a:t>k</a:t>
            </a:r>
            <a:endParaRPr lang="en-US" sz="1400" dirty="0">
              <a:latin typeface="Trebuchet MS"/>
              <a:cs typeface="Trebuchet MS"/>
            </a:endParaRPr>
          </a:p>
        </p:txBody>
      </p:sp>
      <p:graphicFrame>
        <p:nvGraphicFramePr>
          <p:cNvPr id="223" name="Table 222"/>
          <p:cNvGraphicFramePr>
            <a:graphicFrameLocks noGrp="1"/>
          </p:cNvGraphicFramePr>
          <p:nvPr/>
        </p:nvGraphicFramePr>
        <p:xfrm>
          <a:off x="2213557" y="3526415"/>
          <a:ext cx="393417" cy="641832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93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24" name="Group 223"/>
          <p:cNvGrpSpPr/>
          <p:nvPr/>
        </p:nvGrpSpPr>
        <p:grpSpPr>
          <a:xfrm>
            <a:off x="1962171" y="3421580"/>
            <a:ext cx="888774" cy="705495"/>
            <a:chOff x="9353229" y="5922034"/>
            <a:chExt cx="888774" cy="705495"/>
          </a:xfrm>
        </p:grpSpPr>
        <p:sp>
          <p:nvSpPr>
            <p:cNvPr id="225" name="TextBox 224"/>
            <p:cNvSpPr txBox="1"/>
            <p:nvPr/>
          </p:nvSpPr>
          <p:spPr>
            <a:xfrm>
              <a:off x="9359987" y="5922034"/>
              <a:ext cx="8820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r</a:t>
              </a:r>
              <a:r>
                <a:rPr lang="en-US" sz="1500" baseline="-25000" dirty="0"/>
                <a:t>m-2</a:t>
              </a:r>
              <a:endParaRPr lang="en-US" sz="1500" dirty="0"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9353229" y="6116549"/>
              <a:ext cx="8820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r</a:t>
              </a:r>
              <a:r>
                <a:rPr lang="en-US" sz="1500" baseline="-25000" dirty="0"/>
                <a:t>m-1</a:t>
              </a:r>
              <a:endParaRPr lang="en-US" sz="1500" dirty="0"/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9355170" y="6304364"/>
              <a:ext cx="8820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 err="1"/>
                <a:t>r</a:t>
              </a:r>
              <a:r>
                <a:rPr lang="en-US" sz="1500" baseline="-25000" dirty="0" err="1"/>
                <a:t>m</a:t>
              </a:r>
              <a:endParaRPr lang="en-US" sz="1500" dirty="0"/>
            </a:p>
          </p:txBody>
        </p:sp>
      </p:grpSp>
      <p:sp>
        <p:nvSpPr>
          <p:cNvPr id="228" name="TextBox 227"/>
          <p:cNvSpPr txBox="1"/>
          <p:nvPr/>
        </p:nvSpPr>
        <p:spPr>
          <a:xfrm>
            <a:off x="2512545" y="3480745"/>
            <a:ext cx="8115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474301" y="3694584"/>
            <a:ext cx="8115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474301" y="3897784"/>
            <a:ext cx="8115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cxnSp>
        <p:nvCxnSpPr>
          <p:cNvPr id="231" name="Straight Arrow Connector 230"/>
          <p:cNvCxnSpPr>
            <a:stCxn id="228" idx="3"/>
            <a:endCxn id="190" idx="1"/>
          </p:cNvCxnSpPr>
          <p:nvPr/>
        </p:nvCxnSpPr>
        <p:spPr>
          <a:xfrm>
            <a:off x="3324130" y="3642328"/>
            <a:ext cx="1958005" cy="9407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/>
          <p:cNvCxnSpPr>
            <a:stCxn id="230" idx="3"/>
            <a:endCxn id="190" idx="1"/>
          </p:cNvCxnSpPr>
          <p:nvPr/>
        </p:nvCxnSpPr>
        <p:spPr>
          <a:xfrm flipV="1">
            <a:off x="3285886" y="3736404"/>
            <a:ext cx="1996249" cy="322963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/>
          <p:cNvCxnSpPr>
            <a:stCxn id="229" idx="3"/>
            <a:endCxn id="180" idx="1"/>
          </p:cNvCxnSpPr>
          <p:nvPr/>
        </p:nvCxnSpPr>
        <p:spPr>
          <a:xfrm flipV="1">
            <a:off x="3285886" y="2443820"/>
            <a:ext cx="1998856" cy="141234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 rot="21224373">
            <a:off x="3697319" y="3460392"/>
            <a:ext cx="8945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halkboard"/>
                <a:cs typeface="Chalkboard"/>
              </a:rPr>
              <a:t>&lt;</a:t>
            </a:r>
            <a:r>
              <a:rPr lang="en-US" sz="1500" dirty="0" err="1">
                <a:latin typeface="Chalkboard"/>
                <a:cs typeface="Chalkboard"/>
              </a:rPr>
              <a:t>k</a:t>
            </a:r>
            <a:r>
              <a:rPr lang="en-US" sz="1500" baseline="-25000" dirty="0" err="1">
                <a:latin typeface="Chalkboard"/>
                <a:cs typeface="Chalkboard"/>
              </a:rPr>
              <a:t>p</a:t>
            </a:r>
            <a:r>
              <a:rPr lang="en-US" sz="1500" dirty="0">
                <a:latin typeface="Chalkboard"/>
                <a:cs typeface="Chalkboard"/>
              </a:rPr>
              <a:t>, </a:t>
            </a:r>
            <a:r>
              <a:rPr lang="en-US" sz="1500" dirty="0" err="1">
                <a:latin typeface="Chalkboard"/>
                <a:cs typeface="Chalkboard"/>
              </a:rPr>
              <a:t>v</a:t>
            </a:r>
            <a:r>
              <a:rPr lang="en-US" sz="1500" baseline="-25000" dirty="0" err="1">
                <a:latin typeface="Chalkboard"/>
                <a:cs typeface="Chalkboard"/>
              </a:rPr>
              <a:t>m</a:t>
            </a:r>
            <a:r>
              <a:rPr lang="en-US" sz="1500" dirty="0">
                <a:latin typeface="Chalkboard"/>
                <a:cs typeface="Chalkboard"/>
              </a:rPr>
              <a:t>&gt; </a:t>
            </a:r>
          </a:p>
        </p:txBody>
      </p:sp>
      <p:sp>
        <p:nvSpPr>
          <p:cNvPr id="243" name="TextBox 242"/>
          <p:cNvSpPr txBox="1"/>
          <p:nvPr/>
        </p:nvSpPr>
        <p:spPr>
          <a:xfrm rot="19426269">
            <a:off x="3411091" y="2966878"/>
            <a:ext cx="9856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halkboard"/>
                <a:cs typeface="Chalkboard"/>
              </a:rPr>
              <a:t>&lt;k</a:t>
            </a:r>
            <a:r>
              <a:rPr lang="en-US" sz="1500" baseline="-25000" dirty="0">
                <a:latin typeface="Chalkboard"/>
                <a:cs typeface="Chalkboard"/>
              </a:rPr>
              <a:t>2</a:t>
            </a:r>
            <a:r>
              <a:rPr lang="en-US" sz="1500" dirty="0">
                <a:latin typeface="Chalkboard"/>
                <a:cs typeface="Chalkboard"/>
              </a:rPr>
              <a:t>, v</a:t>
            </a:r>
            <a:r>
              <a:rPr lang="en-US" sz="1500" baseline="-25000" dirty="0">
                <a:latin typeface="Chalkboard"/>
                <a:cs typeface="Chalkboard"/>
              </a:rPr>
              <a:t>m-1</a:t>
            </a:r>
            <a:r>
              <a:rPr lang="en-US" sz="1500" dirty="0">
                <a:latin typeface="Chalkboard"/>
                <a:cs typeface="Chalkboard"/>
              </a:rPr>
              <a:t>&gt; </a:t>
            </a:r>
          </a:p>
        </p:txBody>
      </p:sp>
      <p:sp>
        <p:nvSpPr>
          <p:cNvPr id="248" name="TextBox 247"/>
          <p:cNvSpPr txBox="1"/>
          <p:nvPr/>
        </p:nvSpPr>
        <p:spPr>
          <a:xfrm rot="275802">
            <a:off x="3926040" y="3214951"/>
            <a:ext cx="10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halkboard"/>
                <a:cs typeface="Chalkboard"/>
              </a:rPr>
              <a:t>&lt;</a:t>
            </a:r>
            <a:r>
              <a:rPr lang="en-US" sz="1500" dirty="0" err="1">
                <a:latin typeface="Chalkboard"/>
                <a:cs typeface="Chalkboard"/>
              </a:rPr>
              <a:t>k</a:t>
            </a:r>
            <a:r>
              <a:rPr lang="en-US" sz="1500" baseline="-25000" dirty="0" err="1">
                <a:latin typeface="Chalkboard"/>
                <a:cs typeface="Chalkboard"/>
              </a:rPr>
              <a:t>p</a:t>
            </a:r>
            <a:r>
              <a:rPr lang="en-US" sz="1500" dirty="0">
                <a:latin typeface="Chalkboard"/>
                <a:cs typeface="Chalkboard"/>
              </a:rPr>
              <a:t>, v</a:t>
            </a:r>
            <a:r>
              <a:rPr lang="en-US" sz="1500" baseline="-25000" dirty="0">
                <a:latin typeface="Chalkboard"/>
                <a:cs typeface="Chalkboard"/>
              </a:rPr>
              <a:t>m-2</a:t>
            </a:r>
            <a:r>
              <a:rPr lang="en-US" sz="1500" dirty="0">
                <a:latin typeface="Chalkboard"/>
                <a:cs typeface="Chalkboard"/>
              </a:rPr>
              <a:t>&gt; </a:t>
            </a:r>
          </a:p>
        </p:txBody>
      </p:sp>
      <p:sp>
        <p:nvSpPr>
          <p:cNvPr id="249" name="TextBox 248"/>
          <p:cNvSpPr txBox="1"/>
          <p:nvPr/>
        </p:nvSpPr>
        <p:spPr>
          <a:xfrm rot="1723386">
            <a:off x="3757961" y="2646856"/>
            <a:ext cx="8945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halkboard"/>
                <a:cs typeface="Chalkboard"/>
              </a:rPr>
              <a:t>&lt;</a:t>
            </a:r>
            <a:r>
              <a:rPr lang="en-US" sz="1500" dirty="0" err="1">
                <a:latin typeface="Chalkboard"/>
                <a:cs typeface="Chalkboard"/>
              </a:rPr>
              <a:t>k</a:t>
            </a:r>
            <a:r>
              <a:rPr lang="en-US" sz="1500" baseline="-25000" dirty="0" err="1">
                <a:latin typeface="Chalkboard"/>
                <a:cs typeface="Chalkboard"/>
              </a:rPr>
              <a:t>p</a:t>
            </a:r>
            <a:r>
              <a:rPr lang="en-US" sz="1500" dirty="0">
                <a:latin typeface="Chalkboard"/>
                <a:cs typeface="Chalkboard"/>
              </a:rPr>
              <a:t>, v</a:t>
            </a:r>
            <a:r>
              <a:rPr lang="en-US" sz="1500" baseline="-25000" dirty="0">
                <a:latin typeface="Chalkboard"/>
                <a:cs typeface="Chalkboard"/>
              </a:rPr>
              <a:t>5</a:t>
            </a:r>
            <a:r>
              <a:rPr lang="en-US" sz="1500" dirty="0">
                <a:latin typeface="Chalkboard"/>
                <a:cs typeface="Chalkboard"/>
              </a:rPr>
              <a:t>&gt; </a:t>
            </a:r>
          </a:p>
        </p:txBody>
      </p:sp>
      <p:sp>
        <p:nvSpPr>
          <p:cNvPr id="255" name="TextBox 254"/>
          <p:cNvSpPr txBox="1"/>
          <p:nvPr/>
        </p:nvSpPr>
        <p:spPr>
          <a:xfrm rot="1076616">
            <a:off x="4168829" y="1803603"/>
            <a:ext cx="8945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halkboard"/>
                <a:cs typeface="Chalkboard"/>
              </a:rPr>
              <a:t>&lt;k</a:t>
            </a:r>
            <a:r>
              <a:rPr lang="en-US" sz="1500" baseline="-25000" dirty="0">
                <a:latin typeface="Chalkboard"/>
                <a:cs typeface="Chalkboard"/>
              </a:rPr>
              <a:t>2</a:t>
            </a:r>
            <a:r>
              <a:rPr lang="en-US" sz="1500" dirty="0">
                <a:latin typeface="Chalkboard"/>
                <a:cs typeface="Chalkboard"/>
              </a:rPr>
              <a:t>, v</a:t>
            </a:r>
            <a:r>
              <a:rPr lang="en-US" sz="1500" baseline="-25000" dirty="0">
                <a:latin typeface="Chalkboard"/>
                <a:cs typeface="Chalkboard"/>
              </a:rPr>
              <a:t>2</a:t>
            </a:r>
            <a:r>
              <a:rPr lang="en-US" sz="1500" dirty="0">
                <a:latin typeface="Chalkboard"/>
                <a:cs typeface="Chalkboard"/>
              </a:rPr>
              <a:t>&gt; </a:t>
            </a:r>
          </a:p>
        </p:txBody>
      </p:sp>
      <p:graphicFrame>
        <p:nvGraphicFramePr>
          <p:cNvPr id="349" name="Table 348"/>
          <p:cNvGraphicFramePr>
            <a:graphicFrameLocks noGrp="1"/>
          </p:cNvGraphicFramePr>
          <p:nvPr/>
        </p:nvGraphicFramePr>
        <p:xfrm>
          <a:off x="8192283" y="1506239"/>
          <a:ext cx="393417" cy="42788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93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0" name="Table 349"/>
          <p:cNvGraphicFramePr>
            <a:graphicFrameLocks noGrp="1"/>
          </p:cNvGraphicFramePr>
          <p:nvPr/>
        </p:nvGraphicFramePr>
        <p:xfrm>
          <a:off x="8189735" y="2340785"/>
          <a:ext cx="393417" cy="641832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93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1" name="Table 350"/>
          <p:cNvGraphicFramePr>
            <a:graphicFrameLocks noGrp="1"/>
          </p:cNvGraphicFramePr>
          <p:nvPr/>
        </p:nvGraphicFramePr>
        <p:xfrm>
          <a:off x="8186818" y="3760183"/>
          <a:ext cx="393417" cy="42788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93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44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52" name="Group 351"/>
          <p:cNvGrpSpPr/>
          <p:nvPr/>
        </p:nvGrpSpPr>
        <p:grpSpPr>
          <a:xfrm>
            <a:off x="8065582" y="1155874"/>
            <a:ext cx="647118" cy="758395"/>
            <a:chOff x="-1202637" y="667497"/>
            <a:chExt cx="647118" cy="758395"/>
          </a:xfrm>
        </p:grpSpPr>
        <p:sp>
          <p:nvSpPr>
            <p:cNvPr id="354" name="TextBox 353"/>
            <p:cNvSpPr txBox="1"/>
            <p:nvPr/>
          </p:nvSpPr>
          <p:spPr>
            <a:xfrm>
              <a:off x="-1097605" y="908575"/>
              <a:ext cx="44799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o</a:t>
              </a:r>
              <a:r>
                <a:rPr lang="en-US" sz="1500" baseline="-25000" dirty="0"/>
                <a:t>1</a:t>
              </a:r>
              <a:endParaRPr lang="en-US" sz="1500" dirty="0"/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-1101038" y="1102727"/>
              <a:ext cx="44799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o</a:t>
              </a:r>
              <a:r>
                <a:rPr lang="en-US" sz="1500" baseline="-25000" dirty="0"/>
                <a:t>2</a:t>
              </a:r>
              <a:endParaRPr lang="en-US" sz="1500" dirty="0"/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-1202637" y="667497"/>
              <a:ext cx="647118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/>
                <a:t>Out</a:t>
              </a:r>
              <a:r>
                <a:rPr lang="en-US" sz="1700" baseline="-25000" dirty="0"/>
                <a:t>1</a:t>
              </a:r>
              <a:endParaRPr lang="en-US" sz="1700" dirty="0"/>
            </a:p>
          </p:txBody>
        </p:sp>
      </p:grpSp>
      <p:grpSp>
        <p:nvGrpSpPr>
          <p:cNvPr id="357" name="Group 356"/>
          <p:cNvGrpSpPr/>
          <p:nvPr/>
        </p:nvGrpSpPr>
        <p:grpSpPr>
          <a:xfrm>
            <a:off x="8050035" y="2000585"/>
            <a:ext cx="647118" cy="946573"/>
            <a:chOff x="-1202637" y="667497"/>
            <a:chExt cx="647118" cy="946573"/>
          </a:xfrm>
        </p:grpSpPr>
        <p:sp>
          <p:nvSpPr>
            <p:cNvPr id="358" name="TextBox 357"/>
            <p:cNvSpPr txBox="1"/>
            <p:nvPr/>
          </p:nvSpPr>
          <p:spPr>
            <a:xfrm>
              <a:off x="-1100052" y="1290905"/>
              <a:ext cx="44799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o</a:t>
              </a:r>
              <a:r>
                <a:rPr lang="en-US" sz="1500" baseline="-25000" dirty="0"/>
                <a:t>5</a:t>
              </a:r>
              <a:endParaRPr lang="en-US" sz="1500" dirty="0"/>
            </a:p>
          </p:txBody>
        </p:sp>
        <p:sp>
          <p:nvSpPr>
            <p:cNvPr id="359" name="TextBox 358"/>
            <p:cNvSpPr txBox="1"/>
            <p:nvPr/>
          </p:nvSpPr>
          <p:spPr>
            <a:xfrm>
              <a:off x="-1097605" y="908575"/>
              <a:ext cx="44799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o</a:t>
              </a:r>
              <a:r>
                <a:rPr lang="en-US" sz="1500" baseline="-25000" dirty="0"/>
                <a:t>3</a:t>
              </a:r>
              <a:endParaRPr lang="en-US" sz="1500" dirty="0"/>
            </a:p>
          </p:txBody>
        </p:sp>
        <p:sp>
          <p:nvSpPr>
            <p:cNvPr id="360" name="TextBox 359"/>
            <p:cNvSpPr txBox="1"/>
            <p:nvPr/>
          </p:nvSpPr>
          <p:spPr>
            <a:xfrm>
              <a:off x="-1101038" y="1103090"/>
              <a:ext cx="44799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o</a:t>
              </a:r>
              <a:r>
                <a:rPr lang="en-US" sz="1500" baseline="-25000" dirty="0"/>
                <a:t>4</a:t>
              </a:r>
              <a:endParaRPr lang="en-US" sz="1500" dirty="0"/>
            </a:p>
          </p:txBody>
        </p:sp>
        <p:sp>
          <p:nvSpPr>
            <p:cNvPr id="361" name="TextBox 360"/>
            <p:cNvSpPr txBox="1"/>
            <p:nvPr/>
          </p:nvSpPr>
          <p:spPr>
            <a:xfrm>
              <a:off x="-1202637" y="667497"/>
              <a:ext cx="647118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/>
                <a:t>Out</a:t>
              </a:r>
              <a:r>
                <a:rPr lang="en-US" sz="1700" baseline="-25000" dirty="0"/>
                <a:t>2</a:t>
              </a:r>
              <a:endParaRPr lang="en-US" sz="1700" dirty="0"/>
            </a:p>
          </p:txBody>
        </p:sp>
      </p:grpSp>
      <p:grpSp>
        <p:nvGrpSpPr>
          <p:cNvPr id="362" name="Group 361"/>
          <p:cNvGrpSpPr/>
          <p:nvPr/>
        </p:nvGrpSpPr>
        <p:grpSpPr>
          <a:xfrm>
            <a:off x="8062735" y="3397386"/>
            <a:ext cx="647118" cy="790562"/>
            <a:chOff x="-1202637" y="667497"/>
            <a:chExt cx="647118" cy="790562"/>
          </a:xfrm>
        </p:grpSpPr>
        <p:sp>
          <p:nvSpPr>
            <p:cNvPr id="364" name="TextBox 363"/>
            <p:cNvSpPr txBox="1"/>
            <p:nvPr/>
          </p:nvSpPr>
          <p:spPr>
            <a:xfrm>
              <a:off x="-1135705" y="933975"/>
              <a:ext cx="54208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o</a:t>
              </a:r>
              <a:r>
                <a:rPr lang="en-US" sz="1500" baseline="-25000" dirty="0"/>
                <a:t>t-1</a:t>
              </a:r>
              <a:endParaRPr lang="en-US" sz="1500" dirty="0"/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-1139138" y="1134894"/>
              <a:ext cx="54551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 err="1"/>
                <a:t>o</a:t>
              </a:r>
              <a:r>
                <a:rPr lang="en-US" sz="1500" baseline="-25000" dirty="0" err="1"/>
                <a:t>t</a:t>
              </a:r>
              <a:endParaRPr lang="en-US" sz="1500" dirty="0"/>
            </a:p>
          </p:txBody>
        </p:sp>
        <p:sp>
          <p:nvSpPr>
            <p:cNvPr id="366" name="TextBox 365"/>
            <p:cNvSpPr txBox="1"/>
            <p:nvPr/>
          </p:nvSpPr>
          <p:spPr>
            <a:xfrm>
              <a:off x="-1202637" y="667497"/>
              <a:ext cx="647118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 err="1"/>
                <a:t>Out</a:t>
              </a:r>
              <a:r>
                <a:rPr lang="en-US" sz="1700" baseline="-25000" dirty="0" err="1"/>
                <a:t>p</a:t>
              </a:r>
              <a:endParaRPr lang="en-US" sz="1700" dirty="0"/>
            </a:p>
          </p:txBody>
        </p:sp>
      </p:grpSp>
      <p:sp>
        <p:nvSpPr>
          <p:cNvPr id="367" name="TextBox 366"/>
          <p:cNvSpPr txBox="1"/>
          <p:nvPr/>
        </p:nvSpPr>
        <p:spPr>
          <a:xfrm>
            <a:off x="8197753" y="2963996"/>
            <a:ext cx="36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1086756" y="768396"/>
            <a:ext cx="7841343" cy="3841704"/>
          </a:xfrm>
          <a:prstGeom prst="rect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3" name="Straight Arrow Connector 382"/>
          <p:cNvCxnSpPr/>
          <p:nvPr/>
        </p:nvCxnSpPr>
        <p:spPr>
          <a:xfrm flipV="1">
            <a:off x="7760351" y="1619687"/>
            <a:ext cx="35661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/>
          <p:cNvCxnSpPr/>
          <p:nvPr/>
        </p:nvCxnSpPr>
        <p:spPr>
          <a:xfrm flipV="1">
            <a:off x="7785751" y="2609715"/>
            <a:ext cx="35661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/>
          <p:cNvCxnSpPr/>
          <p:nvPr/>
        </p:nvCxnSpPr>
        <p:spPr>
          <a:xfrm flipV="1">
            <a:off x="7785751" y="3854881"/>
            <a:ext cx="35661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343202" y="798462"/>
            <a:ext cx="216420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Trebuchet MS"/>
                <a:cs typeface="Trebuchet MS"/>
              </a:rPr>
              <a:t>Cluster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0938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982"/>
    </mc:Choice>
    <mc:Fallback xmlns="">
      <p:transition xmlns:p14="http://schemas.microsoft.com/office/powerpoint/2010/main" spd="slow" advTm="1199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69" grpId="0"/>
      <p:bldP spid="134" grpId="0"/>
      <p:bldP spid="169" grpId="0"/>
      <p:bldP spid="171" grpId="0"/>
      <p:bldP spid="172" grpId="0"/>
      <p:bldP spid="27" grpId="0" animBg="1"/>
      <p:bldP spid="180" grpId="0"/>
      <p:bldP spid="183" grpId="0"/>
      <p:bldP spid="184" grpId="0" animBg="1"/>
      <p:bldP spid="185" grpId="0"/>
      <p:bldP spid="188" grpId="0"/>
      <p:bldP spid="189" grpId="0" animBg="1"/>
      <p:bldP spid="190" grpId="0"/>
      <p:bldP spid="198" grpId="0"/>
      <p:bldP spid="200" grpId="0"/>
      <p:bldP spid="204" grpId="0"/>
      <p:bldP spid="215" grpId="0"/>
      <p:bldP spid="216" grpId="0"/>
      <p:bldP spid="217" grpId="0"/>
      <p:bldP spid="228" grpId="0"/>
      <p:bldP spid="229" grpId="0"/>
      <p:bldP spid="230" grpId="0"/>
      <p:bldP spid="242" grpId="0"/>
      <p:bldP spid="243" grpId="0"/>
      <p:bldP spid="248" grpId="0"/>
      <p:bldP spid="249" grpId="0"/>
      <p:bldP spid="255" grpId="0"/>
      <p:bldP spid="36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" y="27458"/>
            <a:ext cx="91910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kern="0" dirty="0">
                <a:solidFill>
                  <a:srgbClr val="000000"/>
                </a:solidFill>
                <a:latin typeface="Trebuchet MS"/>
              </a:rPr>
              <a:t>Example 1: Word Count</a:t>
            </a:r>
            <a:endParaRPr lang="en-US" sz="3200" b="1" dirty="0">
              <a:solidFill>
                <a:srgbClr val="B90000"/>
              </a:solidFill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6548437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40</a:t>
            </a:fld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114300" y="825501"/>
            <a:ext cx="8915400" cy="46227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solidFill>
                <a:srgbClr val="000090"/>
              </a:solidFill>
              <a:latin typeface="Calibri"/>
              <a:cs typeface="Calibri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309" y="806385"/>
            <a:ext cx="2279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Mapper Machine</a:t>
            </a:r>
            <a:r>
              <a:rPr lang="en-US" sz="1600" baseline="-25000" dirty="0">
                <a:latin typeface="Trebuchet MS"/>
                <a:cs typeface="Trebuchet MS"/>
              </a:rPr>
              <a:t>1</a:t>
            </a:r>
            <a:endParaRPr lang="en-US" sz="1600" dirty="0">
              <a:latin typeface="Trebuchet MS"/>
              <a:cs typeface="Trebuchet MS"/>
            </a:endParaRPr>
          </a:p>
        </p:txBody>
      </p:sp>
      <p:cxnSp>
        <p:nvCxnSpPr>
          <p:cNvPr id="68" name="Straight Connector 67"/>
          <p:cNvCxnSpPr/>
          <p:nvPr/>
        </p:nvCxnSpPr>
        <p:spPr>
          <a:xfrm>
            <a:off x="0" y="6928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196565" y="1144939"/>
            <a:ext cx="1869720" cy="8130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5087232" y="1136312"/>
            <a:ext cx="2305932" cy="8216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cxnSp>
        <p:nvCxnSpPr>
          <p:cNvPr id="39" name="Straight Arrow Connector 38"/>
          <p:cNvCxnSpPr>
            <a:stCxn id="38" idx="3"/>
          </p:cNvCxnSpPr>
          <p:nvPr/>
        </p:nvCxnSpPr>
        <p:spPr>
          <a:xfrm>
            <a:off x="2066285" y="1310581"/>
            <a:ext cx="3020947" cy="20005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00" idx="3"/>
          </p:cNvCxnSpPr>
          <p:nvPr/>
        </p:nvCxnSpPr>
        <p:spPr>
          <a:xfrm>
            <a:off x="2066285" y="2862117"/>
            <a:ext cx="3020947" cy="4084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04" idx="3"/>
            <a:endCxn id="159" idx="1"/>
          </p:cNvCxnSpPr>
          <p:nvPr/>
        </p:nvCxnSpPr>
        <p:spPr>
          <a:xfrm flipV="1">
            <a:off x="2066285" y="1547129"/>
            <a:ext cx="3020947" cy="313901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25827" y="3754104"/>
            <a:ext cx="1330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halkboard"/>
                <a:cs typeface="Chalkboard"/>
              </a:rPr>
              <a:t>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532" y="814705"/>
            <a:ext cx="2138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Reducer Machine</a:t>
            </a:r>
            <a:r>
              <a:rPr lang="en-US" sz="1600" baseline="-25000" dirty="0">
                <a:latin typeface="Trebuchet MS"/>
                <a:cs typeface="Trebuchet MS"/>
              </a:rPr>
              <a:t>1</a:t>
            </a:r>
            <a:r>
              <a:rPr lang="en-US" sz="1600" dirty="0">
                <a:latin typeface="Trebuchet MS"/>
                <a:cs typeface="Trebuchet MS"/>
              </a:rPr>
              <a:t> </a:t>
            </a:r>
          </a:p>
        </p:txBody>
      </p:sp>
      <p:cxnSp>
        <p:nvCxnSpPr>
          <p:cNvPr id="70" name="Straight Arrow Connector 69"/>
          <p:cNvCxnSpPr>
            <a:endCxn id="176" idx="1"/>
          </p:cNvCxnSpPr>
          <p:nvPr/>
        </p:nvCxnSpPr>
        <p:spPr>
          <a:xfrm>
            <a:off x="2066285" y="1632094"/>
            <a:ext cx="3040660" cy="11306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>
            <a:off x="2066285" y="3220187"/>
            <a:ext cx="3008247" cy="53391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3712" y="1179369"/>
          <a:ext cx="749804" cy="64325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749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000000"/>
                          </a:solidFill>
                          <a:latin typeface="Trebuchet MS"/>
                          <a:cs typeface="Trebuchet MS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1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bob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5" name="TextBox 84"/>
          <p:cNvSpPr txBox="1"/>
          <p:nvPr/>
        </p:nvSpPr>
        <p:spPr>
          <a:xfrm>
            <a:off x="4309" y="2366578"/>
            <a:ext cx="2279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Mapper Machine</a:t>
            </a:r>
            <a:r>
              <a:rPr lang="en-US" sz="1600" baseline="-25000" dirty="0">
                <a:latin typeface="Trebuchet MS"/>
                <a:cs typeface="Trebuchet MS"/>
              </a:rPr>
              <a:t>2</a:t>
            </a:r>
            <a:endParaRPr lang="en-US" sz="1600" dirty="0">
              <a:latin typeface="Trebuchet MS"/>
              <a:cs typeface="Trebuchet M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96565" y="2717832"/>
            <a:ext cx="1869720" cy="8362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433712" y="2764962"/>
          <a:ext cx="698500" cy="64325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000000"/>
                          </a:solidFill>
                          <a:latin typeface="Trebuchet MS"/>
                          <a:cs typeface="Trebuchet MS"/>
                        </a:rPr>
                        <a:t>bob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11">
                <a:tc>
                  <a:txBody>
                    <a:bodyPr/>
                    <a:lstStyle/>
                    <a:p>
                      <a:pPr algn="ctr">
                        <a:lnSpc>
                          <a:spcPts val="1760"/>
                        </a:lnSpc>
                      </a:pPr>
                      <a:r>
                        <a:rPr lang="en-US" b="0" dirty="0"/>
                        <a:t>carol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4309" y="4147658"/>
            <a:ext cx="2279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Mapper </a:t>
            </a:r>
            <a:r>
              <a:rPr lang="en-US" sz="1600" dirty="0" err="1">
                <a:latin typeface="Trebuchet MS"/>
                <a:cs typeface="Trebuchet MS"/>
              </a:rPr>
              <a:t>Machine</a:t>
            </a:r>
            <a:r>
              <a:rPr lang="en-US" sz="1600" baseline="-25000" dirty="0" err="1">
                <a:latin typeface="Trebuchet MS"/>
                <a:cs typeface="Trebuchet MS"/>
              </a:rPr>
              <a:t>k</a:t>
            </a:r>
            <a:endParaRPr lang="en-US" sz="1600" dirty="0">
              <a:latin typeface="Trebuchet MS"/>
              <a:cs typeface="Trebuchet MS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12379" y="4498912"/>
            <a:ext cx="1853906" cy="8516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449526" y="4546042"/>
          <a:ext cx="749804" cy="6400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749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000000"/>
                          </a:solidFill>
                          <a:latin typeface="Trebuchet MS"/>
                          <a:cs typeface="Trebuchet MS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11">
                <a:tc>
                  <a:txBody>
                    <a:bodyPr/>
                    <a:lstStyle/>
                    <a:p>
                      <a:pPr algn="ctr">
                        <a:lnSpc>
                          <a:spcPts val="1760"/>
                        </a:lnSpc>
                      </a:pPr>
                      <a:r>
                        <a:rPr lang="en-US" b="0" dirty="0">
                          <a:latin typeface="Trebuchet MS"/>
                          <a:cs typeface="Trebuchet MS"/>
                        </a:rPr>
                        <a:t>cat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1150683" y="1110526"/>
            <a:ext cx="915602" cy="743551"/>
            <a:chOff x="1151955" y="1186726"/>
            <a:chExt cx="915602" cy="743551"/>
          </a:xfrm>
        </p:grpSpPr>
        <p:sp>
          <p:nvSpPr>
            <p:cNvPr id="38" name="TextBox 37"/>
            <p:cNvSpPr txBox="1"/>
            <p:nvPr/>
          </p:nvSpPr>
          <p:spPr>
            <a:xfrm>
              <a:off x="1151955" y="1186726"/>
              <a:ext cx="9156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990000"/>
                  </a:solidFill>
                  <a:latin typeface="Chalkboard"/>
                  <a:cs typeface="Chalkboard"/>
                </a:rPr>
                <a:t>map()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151955" y="1530167"/>
              <a:ext cx="9156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990000"/>
                  </a:solidFill>
                  <a:latin typeface="Chalkboard"/>
                  <a:cs typeface="Chalkboard"/>
                </a:rPr>
                <a:t>map()</a:t>
              </a: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1150683" y="2662062"/>
            <a:ext cx="915602" cy="743551"/>
            <a:chOff x="1151955" y="1186726"/>
            <a:chExt cx="915602" cy="743551"/>
          </a:xfrm>
        </p:grpSpPr>
        <p:sp>
          <p:nvSpPr>
            <p:cNvPr id="100" name="TextBox 99"/>
            <p:cNvSpPr txBox="1"/>
            <p:nvPr/>
          </p:nvSpPr>
          <p:spPr>
            <a:xfrm>
              <a:off x="1151955" y="1186726"/>
              <a:ext cx="9156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990000"/>
                  </a:solidFill>
                  <a:latin typeface="Chalkboard"/>
                  <a:cs typeface="Chalkboard"/>
                </a:rPr>
                <a:t>map()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151955" y="1530167"/>
              <a:ext cx="9156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990000"/>
                  </a:solidFill>
                  <a:latin typeface="Chalkboard"/>
                  <a:cs typeface="Chalkboard"/>
                </a:rPr>
                <a:t>map()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1150683" y="4486089"/>
            <a:ext cx="915602" cy="743551"/>
            <a:chOff x="1151955" y="1186726"/>
            <a:chExt cx="915602" cy="743551"/>
          </a:xfrm>
        </p:grpSpPr>
        <p:sp>
          <p:nvSpPr>
            <p:cNvPr id="104" name="TextBox 103"/>
            <p:cNvSpPr txBox="1"/>
            <p:nvPr/>
          </p:nvSpPr>
          <p:spPr>
            <a:xfrm>
              <a:off x="1151955" y="1186726"/>
              <a:ext cx="9156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990000"/>
                  </a:solidFill>
                  <a:latin typeface="Chalkboard"/>
                  <a:cs typeface="Chalkboard"/>
                </a:rPr>
                <a:t>map()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151955" y="1530167"/>
              <a:ext cx="9156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990000"/>
                  </a:solidFill>
                  <a:latin typeface="Chalkboard"/>
                  <a:cs typeface="Chalkboard"/>
                </a:rPr>
                <a:t>map()</a:t>
              </a:r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5539329" y="1507036"/>
            <a:ext cx="1412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990000"/>
                </a:solidFill>
                <a:latin typeface="Chalkboard"/>
                <a:cs typeface="Chalkboard"/>
              </a:rPr>
              <a:t>reduce()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708900" y="1344747"/>
          <a:ext cx="1280272" cy="6400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749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rebuchet MS"/>
                          <a:cs typeface="Trebuchet MS"/>
                        </a:rPr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Straight Arrow Connector 28"/>
          <p:cNvCxnSpPr>
            <a:stCxn id="159" idx="3"/>
          </p:cNvCxnSpPr>
          <p:nvPr/>
        </p:nvCxnSpPr>
        <p:spPr>
          <a:xfrm>
            <a:off x="7393164" y="1547129"/>
            <a:ext cx="31573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5087232" y="2504841"/>
            <a:ext cx="2305932" cy="8216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5074532" y="2183234"/>
            <a:ext cx="2138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Reducer Machine</a:t>
            </a:r>
            <a:r>
              <a:rPr lang="en-US" sz="1600" baseline="-25000" dirty="0">
                <a:latin typeface="Trebuchet MS"/>
                <a:cs typeface="Trebuchet MS"/>
              </a:rPr>
              <a:t>2</a:t>
            </a:r>
            <a:r>
              <a:rPr lang="en-US" sz="1600" dirty="0">
                <a:latin typeface="Trebuchet MS"/>
                <a:cs typeface="Trebuchet MS"/>
              </a:rP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526629" y="2913665"/>
            <a:ext cx="1412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990000"/>
                </a:solidFill>
                <a:latin typeface="Chalkboard"/>
                <a:cs typeface="Chalkboard"/>
              </a:rPr>
              <a:t>reduce()</a:t>
            </a:r>
          </a:p>
        </p:txBody>
      </p:sp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7708900" y="2700576"/>
          <a:ext cx="1203923" cy="370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673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rebuchet MS"/>
                          <a:cs typeface="Trebuchet MS"/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5" name="Straight Arrow Connector 124"/>
          <p:cNvCxnSpPr>
            <a:stCxn id="120" idx="3"/>
          </p:cNvCxnSpPr>
          <p:nvPr/>
        </p:nvCxnSpPr>
        <p:spPr>
          <a:xfrm>
            <a:off x="7393164" y="2915658"/>
            <a:ext cx="31573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5440415" y="3554049"/>
            <a:ext cx="1330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halkboard"/>
                <a:cs typeface="Chalkboard"/>
              </a:rPr>
              <a:t>…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87232" y="4281924"/>
            <a:ext cx="2305932" cy="8216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5074532" y="3960317"/>
            <a:ext cx="2138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Reducer </a:t>
            </a:r>
            <a:r>
              <a:rPr lang="en-US" sz="1600" dirty="0" err="1">
                <a:latin typeface="Trebuchet MS"/>
                <a:cs typeface="Trebuchet MS"/>
              </a:rPr>
              <a:t>Machine</a:t>
            </a:r>
            <a:r>
              <a:rPr lang="en-US" sz="1600" baseline="-25000" dirty="0" err="1">
                <a:latin typeface="Trebuchet MS"/>
                <a:cs typeface="Trebuchet MS"/>
              </a:rPr>
              <a:t>p</a:t>
            </a:r>
            <a:r>
              <a:rPr lang="en-US" sz="1600" dirty="0">
                <a:latin typeface="Trebuchet MS"/>
                <a:cs typeface="Trebuchet MS"/>
              </a:rPr>
              <a:t>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539329" y="4690748"/>
            <a:ext cx="1412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990000"/>
                </a:solidFill>
                <a:latin typeface="Chalkboard"/>
                <a:cs typeface="Chalkboard"/>
              </a:rPr>
              <a:t>reduce()</a:t>
            </a:r>
          </a:p>
        </p:txBody>
      </p:sp>
      <p:graphicFrame>
        <p:nvGraphicFramePr>
          <p:cNvPr id="131" name="Table 130"/>
          <p:cNvGraphicFramePr>
            <a:graphicFrameLocks noGrp="1"/>
          </p:cNvGraphicFramePr>
          <p:nvPr/>
        </p:nvGraphicFramePr>
        <p:xfrm>
          <a:off x="7774164" y="4477659"/>
          <a:ext cx="1203923" cy="370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673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rebuchet MS"/>
                          <a:cs typeface="Trebuchet MS"/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2" name="Straight Arrow Connector 131"/>
          <p:cNvCxnSpPr>
            <a:stCxn id="127" idx="3"/>
          </p:cNvCxnSpPr>
          <p:nvPr/>
        </p:nvCxnSpPr>
        <p:spPr>
          <a:xfrm>
            <a:off x="7393164" y="4692741"/>
            <a:ext cx="381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endCxn id="127" idx="1"/>
          </p:cNvCxnSpPr>
          <p:nvPr/>
        </p:nvCxnSpPr>
        <p:spPr>
          <a:xfrm flipV="1">
            <a:off x="2066285" y="4692741"/>
            <a:ext cx="3020947" cy="39811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 rot="257616">
            <a:off x="2755899" y="1049527"/>
            <a:ext cx="163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halkboard"/>
                <a:cs typeface="Chalkboard"/>
              </a:rPr>
              <a:t>&lt;apple, 1&gt; </a:t>
            </a:r>
          </a:p>
        </p:txBody>
      </p:sp>
      <p:sp>
        <p:nvSpPr>
          <p:cNvPr id="162" name="TextBox 161"/>
          <p:cNvSpPr txBox="1"/>
          <p:nvPr/>
        </p:nvSpPr>
        <p:spPr>
          <a:xfrm rot="19052039">
            <a:off x="1823077" y="3673845"/>
            <a:ext cx="163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halkboard"/>
                <a:cs typeface="Chalkboard"/>
              </a:rPr>
              <a:t>&lt;apple, 1&gt; </a:t>
            </a:r>
          </a:p>
        </p:txBody>
      </p:sp>
      <p:sp>
        <p:nvSpPr>
          <p:cNvPr id="164" name="TextBox 163"/>
          <p:cNvSpPr txBox="1"/>
          <p:nvPr/>
        </p:nvSpPr>
        <p:spPr>
          <a:xfrm rot="1212989">
            <a:off x="2155892" y="1587826"/>
            <a:ext cx="163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halkboard"/>
                <a:cs typeface="Chalkboard"/>
              </a:rPr>
              <a:t>&lt;bob, 1&gt; </a:t>
            </a:r>
          </a:p>
        </p:txBody>
      </p:sp>
      <p:sp>
        <p:nvSpPr>
          <p:cNvPr id="165" name="TextBox 164"/>
          <p:cNvSpPr txBox="1"/>
          <p:nvPr/>
        </p:nvSpPr>
        <p:spPr>
          <a:xfrm rot="21195854">
            <a:off x="2916502" y="4573459"/>
            <a:ext cx="101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halkboard"/>
                <a:cs typeface="Chalkboard"/>
              </a:rPr>
              <a:t>&lt;cat, 1&gt; </a:t>
            </a:r>
          </a:p>
        </p:txBody>
      </p:sp>
      <p:sp>
        <p:nvSpPr>
          <p:cNvPr id="168" name="TextBox 167"/>
          <p:cNvSpPr txBox="1"/>
          <p:nvPr/>
        </p:nvSpPr>
        <p:spPr>
          <a:xfrm rot="387648">
            <a:off x="1959067" y="2977349"/>
            <a:ext cx="16331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halkboard"/>
                <a:cs typeface="Chalkboard"/>
              </a:rPr>
              <a:t>&lt;carol, 1&gt; 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062321" y="2485090"/>
            <a:ext cx="16331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halkboard"/>
                <a:cs typeface="Chalkboard"/>
              </a:rPr>
              <a:t>&lt;bob, 1&gt; 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182835" y="1185863"/>
            <a:ext cx="2157984" cy="4114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TextBox 171"/>
          <p:cNvSpPr txBox="1"/>
          <p:nvPr/>
        </p:nvSpPr>
        <p:spPr>
          <a:xfrm>
            <a:off x="5118100" y="1146067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/>
                <a:cs typeface="Trebuchet MS"/>
              </a:rPr>
              <a:t>&lt;</a:t>
            </a:r>
            <a:r>
              <a:rPr lang="en-US" dirty="0">
                <a:solidFill>
                  <a:srgbClr val="0000CC"/>
                </a:solidFill>
                <a:latin typeface="Trebuchet MS"/>
                <a:cs typeface="Trebuchet MS"/>
              </a:rPr>
              <a:t>apple</a:t>
            </a:r>
            <a:r>
              <a:rPr lang="en-US" dirty="0">
                <a:latin typeface="Trebuchet MS"/>
                <a:cs typeface="Trebuchet MS"/>
              </a:rPr>
              <a:t>, {1, 1, … ,1}&gt;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158980" y="2579725"/>
            <a:ext cx="2157984" cy="4114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TextBox 175"/>
          <p:cNvSpPr txBox="1"/>
          <p:nvPr/>
        </p:nvSpPr>
        <p:spPr>
          <a:xfrm>
            <a:off x="5106945" y="2578029"/>
            <a:ext cx="223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/>
                <a:cs typeface="Trebuchet MS"/>
              </a:rPr>
              <a:t>&lt;</a:t>
            </a:r>
            <a:r>
              <a:rPr lang="en-US" dirty="0">
                <a:solidFill>
                  <a:srgbClr val="0000CC"/>
                </a:solidFill>
                <a:latin typeface="Trebuchet MS"/>
                <a:cs typeface="Trebuchet MS"/>
              </a:rPr>
              <a:t>bob</a:t>
            </a:r>
            <a:r>
              <a:rPr lang="en-US" dirty="0">
                <a:latin typeface="Trebuchet MS"/>
                <a:cs typeface="Trebuchet MS"/>
              </a:rPr>
              <a:t>, {1, 1, … ,1}&gt;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170135" y="4333543"/>
            <a:ext cx="2157984" cy="4114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/>
          <p:cNvSpPr txBox="1"/>
          <p:nvPr/>
        </p:nvSpPr>
        <p:spPr>
          <a:xfrm>
            <a:off x="5118100" y="4319147"/>
            <a:ext cx="223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/>
                <a:cs typeface="Trebuchet MS"/>
              </a:rPr>
              <a:t>&lt;</a:t>
            </a:r>
            <a:r>
              <a:rPr lang="en-US" dirty="0">
                <a:solidFill>
                  <a:srgbClr val="0000CC"/>
                </a:solidFill>
                <a:latin typeface="Trebuchet MS"/>
                <a:cs typeface="Trebuchet MS"/>
              </a:rPr>
              <a:t>cat</a:t>
            </a:r>
            <a:r>
              <a:rPr lang="en-US" dirty="0">
                <a:latin typeface="Trebuchet MS"/>
                <a:cs typeface="Trebuchet MS"/>
              </a:rPr>
              <a:t>, {1, 1, … ,1}&gt;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38852" y="5549901"/>
            <a:ext cx="4526963" cy="431800"/>
          </a:xfrm>
          <a:prstGeom prst="roundRect">
            <a:avLst/>
          </a:prstGeom>
          <a:solidFill>
            <a:schemeClr val="bg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bIns="228600" rtlCol="0" anchor="ctr" anchorCtr="0"/>
          <a:lstStyle/>
          <a:p>
            <a:pPr>
              <a:lnSpc>
                <a:spcPts val="3680"/>
              </a:lnSpc>
            </a:pPr>
            <a:r>
              <a:rPr lang="en-US" sz="2400" dirty="0">
                <a:solidFill>
                  <a:srgbClr val="0000FF"/>
                </a:solidFill>
                <a:latin typeface="Chalkboard"/>
                <a:cs typeface="Chalkboard"/>
              </a:rPr>
              <a:t>map(String word) </a:t>
            </a:r>
            <a:r>
              <a:rPr lang="en-US" sz="2400" dirty="0">
                <a:solidFill>
                  <a:srgbClr val="0000FF"/>
                </a:solidFill>
                <a:latin typeface="Chalkboard"/>
                <a:cs typeface="Chalkboard"/>
                <a:sym typeface="Wingdings"/>
              </a:rPr>
              <a:t></a:t>
            </a:r>
            <a:r>
              <a:rPr lang="en-US" sz="2400" dirty="0">
                <a:solidFill>
                  <a:srgbClr val="0000FF"/>
                </a:solidFill>
                <a:latin typeface="Chalkboard"/>
                <a:cs typeface="Chalkboard"/>
              </a:rPr>
              <a:t> &lt;word, 1&gt;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27000" y="6070600"/>
            <a:ext cx="8800287" cy="457200"/>
          </a:xfrm>
          <a:prstGeom prst="roundRect">
            <a:avLst/>
          </a:prstGeom>
          <a:solidFill>
            <a:schemeClr val="bg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bIns="228600" rtlCol="0" anchor="ctr" anchorCtr="0"/>
          <a:lstStyle/>
          <a:p>
            <a:pPr>
              <a:lnSpc>
                <a:spcPts val="3680"/>
              </a:lnSpc>
            </a:pPr>
            <a:r>
              <a:rPr lang="en-US" sz="2400" dirty="0">
                <a:solidFill>
                  <a:srgbClr val="0000FF"/>
                </a:solidFill>
                <a:latin typeface="Chalkboard"/>
                <a:cs typeface="Chalkboard"/>
              </a:rPr>
              <a:t>reduce(String word, List&lt;Integer&gt; ones): </a:t>
            </a:r>
            <a:r>
              <a:rPr lang="en-US" sz="2400" dirty="0">
                <a:solidFill>
                  <a:srgbClr val="0000FF"/>
                </a:solidFill>
                <a:latin typeface="Chalkboard"/>
                <a:cs typeface="Chalkboard"/>
                <a:sym typeface="Wingdings"/>
              </a:rPr>
              <a:t></a:t>
            </a:r>
            <a:r>
              <a:rPr lang="en-US" sz="2400" dirty="0">
                <a:solidFill>
                  <a:srgbClr val="0000FF"/>
                </a:solidFill>
                <a:latin typeface="Chalkboard"/>
                <a:cs typeface="Chalkboard"/>
              </a:rPr>
              <a:t> &lt;word, sum(ones)&gt;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741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91"/>
    </mc:Choice>
    <mc:Fallback xmlns="">
      <p:transition xmlns:p14="http://schemas.microsoft.com/office/powerpoint/2010/main" spd="slow" advTm="520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22" grpId="0"/>
      <p:bldP spid="129" grpId="0"/>
      <p:bldP spid="148" grpId="0"/>
      <p:bldP spid="162" grpId="0"/>
      <p:bldP spid="164" grpId="0"/>
      <p:bldP spid="165" grpId="0"/>
      <p:bldP spid="168" grpId="0"/>
      <p:bldP spid="169" grpId="0"/>
      <p:bldP spid="171" grpId="0" animBg="1"/>
      <p:bldP spid="172" grpId="0"/>
      <p:bldP spid="175" grpId="0" animBg="1"/>
      <p:bldP spid="176" grpId="0"/>
      <p:bldP spid="179" grpId="0" animBg="1"/>
      <p:bldP spid="180" grpId="0"/>
      <p:bldP spid="74" grpId="0" animBg="1"/>
      <p:bldP spid="7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" y="27458"/>
            <a:ext cx="91910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kern="0" dirty="0">
                <a:solidFill>
                  <a:srgbClr val="000000"/>
                </a:solidFill>
                <a:latin typeface="Trebuchet MS"/>
              </a:rPr>
              <a:t>Example 2: Reversing Web-Link Graph</a:t>
            </a:r>
            <a:endParaRPr lang="en-US" sz="3200" b="1" dirty="0">
              <a:solidFill>
                <a:srgbClr val="B90000"/>
              </a:solidFill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6548437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41</a:t>
            </a:fld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114300" y="825501"/>
            <a:ext cx="9029700" cy="46227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solidFill>
                <a:srgbClr val="000090"/>
              </a:solidFill>
              <a:latin typeface="Calibri"/>
              <a:cs typeface="Calibri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309" y="806385"/>
            <a:ext cx="2279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Mapper Machine</a:t>
            </a:r>
            <a:r>
              <a:rPr lang="en-US" sz="1600" baseline="-25000" dirty="0">
                <a:latin typeface="Trebuchet MS"/>
                <a:cs typeface="Trebuchet MS"/>
              </a:rPr>
              <a:t>1</a:t>
            </a:r>
            <a:endParaRPr lang="en-US" sz="1600" dirty="0">
              <a:latin typeface="Trebuchet MS"/>
              <a:cs typeface="Trebuchet MS"/>
            </a:endParaRPr>
          </a:p>
        </p:txBody>
      </p:sp>
      <p:cxnSp>
        <p:nvCxnSpPr>
          <p:cNvPr id="68" name="Straight Connector 67"/>
          <p:cNvCxnSpPr/>
          <p:nvPr/>
        </p:nvCxnSpPr>
        <p:spPr>
          <a:xfrm>
            <a:off x="0" y="6928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196565" y="1144939"/>
            <a:ext cx="1869720" cy="10382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5087232" y="1136312"/>
            <a:ext cx="1864395" cy="7708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cxnSp>
        <p:nvCxnSpPr>
          <p:cNvPr id="39" name="Straight Arrow Connector 38"/>
          <p:cNvCxnSpPr>
            <a:stCxn id="155" idx="3"/>
          </p:cNvCxnSpPr>
          <p:nvPr/>
        </p:nvCxnSpPr>
        <p:spPr>
          <a:xfrm flipV="1">
            <a:off x="2066285" y="1593707"/>
            <a:ext cx="3051815" cy="7038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00" idx="3"/>
          </p:cNvCxnSpPr>
          <p:nvPr/>
        </p:nvCxnSpPr>
        <p:spPr>
          <a:xfrm>
            <a:off x="2066285" y="2862117"/>
            <a:ext cx="3020947" cy="4084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25827" y="3754104"/>
            <a:ext cx="1330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halkboard"/>
                <a:cs typeface="Chalkboard"/>
              </a:rPr>
              <a:t>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532" y="814705"/>
            <a:ext cx="2138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Reducer Machine</a:t>
            </a:r>
            <a:r>
              <a:rPr lang="en-US" sz="1600" baseline="-25000" dirty="0">
                <a:latin typeface="Trebuchet MS"/>
                <a:cs typeface="Trebuchet MS"/>
              </a:rPr>
              <a:t>1</a:t>
            </a:r>
            <a:r>
              <a:rPr lang="en-US" sz="1600" dirty="0">
                <a:latin typeface="Trebuchet MS"/>
                <a:cs typeface="Trebuchet MS"/>
              </a:rPr>
              <a:t> 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2084428" y="1700819"/>
            <a:ext cx="2990104" cy="120213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>
            <a:off x="2066285" y="3220187"/>
            <a:ext cx="3008247" cy="146595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309" y="2366578"/>
            <a:ext cx="2279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Mapper Machine</a:t>
            </a:r>
            <a:r>
              <a:rPr lang="en-US" sz="1600" baseline="-25000" dirty="0">
                <a:latin typeface="Trebuchet MS"/>
                <a:cs typeface="Trebuchet MS"/>
              </a:rPr>
              <a:t>2</a:t>
            </a:r>
            <a:endParaRPr lang="en-US" sz="1600" dirty="0">
              <a:latin typeface="Trebuchet MS"/>
              <a:cs typeface="Trebuchet M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309" y="4147658"/>
            <a:ext cx="2279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Mapper </a:t>
            </a:r>
            <a:r>
              <a:rPr lang="en-US" sz="1600" dirty="0" err="1">
                <a:latin typeface="Trebuchet MS"/>
                <a:cs typeface="Trebuchet MS"/>
              </a:rPr>
              <a:t>Machine</a:t>
            </a:r>
            <a:r>
              <a:rPr lang="en-US" sz="1600" baseline="-25000" dirty="0" err="1">
                <a:latin typeface="Trebuchet MS"/>
                <a:cs typeface="Trebuchet MS"/>
              </a:rPr>
              <a:t>k</a:t>
            </a:r>
            <a:endParaRPr lang="en-US" sz="1600" dirty="0">
              <a:latin typeface="Trebuchet MS"/>
              <a:cs typeface="Trebuchet MS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12379" y="4498912"/>
            <a:ext cx="1853906" cy="8516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42144" y="1370135"/>
            <a:ext cx="915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3537" y="4601180"/>
            <a:ext cx="915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303470" y="1507036"/>
            <a:ext cx="1412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990000"/>
                </a:solidFill>
                <a:latin typeface="Chalkboard"/>
                <a:cs typeface="Chalkboard"/>
              </a:rPr>
              <a:t>reduce()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144354"/>
              </p:ext>
            </p:extLst>
          </p:nvPr>
        </p:nvGraphicFramePr>
        <p:xfrm>
          <a:off x="7342364" y="1329979"/>
          <a:ext cx="1211897" cy="370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46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Trebuchet MS"/>
                          <a:cs typeface="Trebuchet MS"/>
                        </a:rPr>
                        <a:t>uw</a:t>
                      </a:r>
                      <a:endParaRPr lang="en-US" b="0" dirty="0">
                        <a:latin typeface="Trebuchet MS"/>
                        <a:cs typeface="Trebuchet M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{</a:t>
                      </a:r>
                      <a:r>
                        <a:rPr lang="en-US" b="0" dirty="0" err="1"/>
                        <a:t>cnn</a:t>
                      </a:r>
                      <a:r>
                        <a:rPr lang="en-US" b="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Straight Arrow Connector 28"/>
          <p:cNvCxnSpPr>
            <a:stCxn id="159" idx="3"/>
            <a:endCxn id="25" idx="1"/>
          </p:cNvCxnSpPr>
          <p:nvPr/>
        </p:nvCxnSpPr>
        <p:spPr>
          <a:xfrm flipV="1">
            <a:off x="6951627" y="1515399"/>
            <a:ext cx="390737" cy="633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5087232" y="2504841"/>
            <a:ext cx="1864395" cy="8216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5074532" y="2183234"/>
            <a:ext cx="2138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Reducer Machine</a:t>
            </a:r>
            <a:r>
              <a:rPr lang="en-US" sz="1600" baseline="-25000" dirty="0">
                <a:latin typeface="Trebuchet MS"/>
                <a:cs typeface="Trebuchet MS"/>
              </a:rPr>
              <a:t>2</a:t>
            </a:r>
            <a:r>
              <a:rPr lang="en-US" sz="1600" dirty="0">
                <a:latin typeface="Trebuchet MS"/>
                <a:cs typeface="Trebuchet MS"/>
              </a:rP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254484" y="2913665"/>
            <a:ext cx="1412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990000"/>
                </a:solidFill>
                <a:latin typeface="Chalkboard"/>
                <a:cs typeface="Chalkboard"/>
              </a:rPr>
              <a:t>reduce()</a:t>
            </a:r>
          </a:p>
        </p:txBody>
      </p:sp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7342364" y="2731163"/>
          <a:ext cx="1732635" cy="370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673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Trebuchet MS"/>
                          <a:cs typeface="Trebuchet MS"/>
                        </a:rPr>
                        <a:t>cbc</a:t>
                      </a:r>
                      <a:endParaRPr lang="en-US" b="0" dirty="0">
                        <a:latin typeface="Trebuchet MS"/>
                        <a:cs typeface="Trebuchet M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{</a:t>
                      </a:r>
                      <a:r>
                        <a:rPr lang="en-US" b="0" dirty="0" err="1"/>
                        <a:t>uw</a:t>
                      </a:r>
                      <a:r>
                        <a:rPr lang="en-US" b="0" dirty="0"/>
                        <a:t>, </a:t>
                      </a:r>
                      <a:r>
                        <a:rPr lang="en-US" b="0" dirty="0" err="1"/>
                        <a:t>cnn</a:t>
                      </a:r>
                      <a:r>
                        <a:rPr lang="en-US" b="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5" name="Straight Arrow Connector 124"/>
          <p:cNvCxnSpPr>
            <a:stCxn id="120" idx="3"/>
            <a:endCxn id="124" idx="1"/>
          </p:cNvCxnSpPr>
          <p:nvPr/>
        </p:nvCxnSpPr>
        <p:spPr>
          <a:xfrm>
            <a:off x="6951627" y="2915658"/>
            <a:ext cx="390737" cy="92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5440415" y="3554049"/>
            <a:ext cx="1330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halkboard"/>
                <a:cs typeface="Chalkboard"/>
              </a:rPr>
              <a:t>…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105375" y="4281924"/>
            <a:ext cx="1900681" cy="8216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5074532" y="3924031"/>
            <a:ext cx="2138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Reducer </a:t>
            </a:r>
            <a:r>
              <a:rPr lang="en-US" sz="1600" dirty="0" err="1">
                <a:latin typeface="Trebuchet MS"/>
                <a:cs typeface="Trebuchet MS"/>
              </a:rPr>
              <a:t>Machine</a:t>
            </a:r>
            <a:r>
              <a:rPr lang="en-US" sz="1600" baseline="-25000" dirty="0" err="1">
                <a:latin typeface="Trebuchet MS"/>
                <a:cs typeface="Trebuchet MS"/>
              </a:rPr>
              <a:t>p</a:t>
            </a:r>
            <a:r>
              <a:rPr lang="en-US" sz="1600" dirty="0">
                <a:latin typeface="Trebuchet MS"/>
                <a:cs typeface="Trebuchet MS"/>
              </a:rPr>
              <a:t>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394185" y="4690748"/>
            <a:ext cx="1412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990000"/>
                </a:solidFill>
                <a:latin typeface="Chalkboard"/>
                <a:cs typeface="Chalkboard"/>
              </a:rPr>
              <a:t>reduce()</a:t>
            </a:r>
          </a:p>
        </p:txBody>
      </p:sp>
      <p:graphicFrame>
        <p:nvGraphicFramePr>
          <p:cNvPr id="131" name="Table 130"/>
          <p:cNvGraphicFramePr>
            <a:graphicFrameLocks noGrp="1"/>
          </p:cNvGraphicFramePr>
          <p:nvPr/>
        </p:nvGraphicFramePr>
        <p:xfrm>
          <a:off x="7342364" y="4391719"/>
          <a:ext cx="1695806" cy="6400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906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rebuchet MS"/>
                          <a:cs typeface="Trebuchet MS"/>
                        </a:rPr>
                        <a:t>twitter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{</a:t>
                      </a:r>
                      <a:r>
                        <a:rPr lang="en-US" b="0" dirty="0" err="1"/>
                        <a:t>cnn</a:t>
                      </a:r>
                      <a:r>
                        <a:rPr lang="en-US" b="0" dirty="0"/>
                        <a:t>,</a:t>
                      </a:r>
                      <a:r>
                        <a:rPr lang="en-US" b="0" baseline="0" dirty="0"/>
                        <a:t> times}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2" name="Straight Arrow Connector 131"/>
          <p:cNvCxnSpPr>
            <a:stCxn id="127" idx="3"/>
          </p:cNvCxnSpPr>
          <p:nvPr/>
        </p:nvCxnSpPr>
        <p:spPr>
          <a:xfrm flipV="1">
            <a:off x="7006056" y="4686144"/>
            <a:ext cx="359944" cy="659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endCxn id="127" idx="1"/>
          </p:cNvCxnSpPr>
          <p:nvPr/>
        </p:nvCxnSpPr>
        <p:spPr>
          <a:xfrm flipV="1">
            <a:off x="2084428" y="4692741"/>
            <a:ext cx="3020947" cy="39811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2283978" y="1182355"/>
            <a:ext cx="210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halkboard"/>
                <a:cs typeface="Chalkboard"/>
              </a:rPr>
              <a:t>&lt;</a:t>
            </a:r>
            <a:r>
              <a:rPr lang="en-US" dirty="0" err="1">
                <a:latin typeface="Chalkboard"/>
                <a:cs typeface="Chalkboard"/>
              </a:rPr>
              <a:t>cnn</a:t>
            </a:r>
            <a:r>
              <a:rPr lang="en-US" dirty="0">
                <a:latin typeface="Chalkboard"/>
                <a:cs typeface="Chalkboard"/>
              </a:rPr>
              <a:t>, </a:t>
            </a:r>
            <a:r>
              <a:rPr lang="en-US" dirty="0" err="1">
                <a:latin typeface="Chalkboard"/>
                <a:cs typeface="Chalkboard"/>
              </a:rPr>
              <a:t>uw</a:t>
            </a:r>
            <a:r>
              <a:rPr lang="en-US" dirty="0">
                <a:latin typeface="Chalkboard"/>
                <a:cs typeface="Chalkboard"/>
              </a:rPr>
              <a:t>&gt; </a:t>
            </a:r>
          </a:p>
        </p:txBody>
      </p:sp>
      <p:sp>
        <p:nvSpPr>
          <p:cNvPr id="165" name="TextBox 164"/>
          <p:cNvSpPr txBox="1"/>
          <p:nvPr/>
        </p:nvSpPr>
        <p:spPr>
          <a:xfrm rot="21195854">
            <a:off x="2549162" y="4567845"/>
            <a:ext cx="184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halkboard"/>
                <a:cs typeface="Chalkboard"/>
              </a:rPr>
              <a:t>&lt;twitter, times&gt; </a:t>
            </a:r>
          </a:p>
        </p:txBody>
      </p:sp>
      <p:sp>
        <p:nvSpPr>
          <p:cNvPr id="168" name="TextBox 167"/>
          <p:cNvSpPr txBox="1"/>
          <p:nvPr/>
        </p:nvSpPr>
        <p:spPr>
          <a:xfrm rot="1613231">
            <a:off x="1950901" y="3136887"/>
            <a:ext cx="16331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halkboard"/>
                <a:cs typeface="Chalkboard"/>
              </a:rPr>
              <a:t>&lt;twitter, </a:t>
            </a:r>
            <a:r>
              <a:rPr lang="en-US" sz="1700" dirty="0" err="1">
                <a:latin typeface="Chalkboard"/>
                <a:cs typeface="Chalkboard"/>
              </a:rPr>
              <a:t>cnn</a:t>
            </a:r>
            <a:r>
              <a:rPr lang="en-US" sz="1700" dirty="0">
                <a:latin typeface="Chalkboard"/>
                <a:cs typeface="Chalkboard"/>
              </a:rPr>
              <a:t>&gt; 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062321" y="2485090"/>
            <a:ext cx="16331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halkboard"/>
                <a:cs typeface="Chalkboard"/>
              </a:rPr>
              <a:t>&lt;</a:t>
            </a:r>
            <a:r>
              <a:rPr lang="en-US" sz="1700" dirty="0" err="1">
                <a:latin typeface="Chalkboard"/>
                <a:cs typeface="Chalkboard"/>
              </a:rPr>
              <a:t>cbc</a:t>
            </a:r>
            <a:r>
              <a:rPr lang="en-US" sz="1700" dirty="0">
                <a:latin typeface="Chalkboard"/>
                <a:cs typeface="Chalkboard"/>
              </a:rPr>
              <a:t>, </a:t>
            </a:r>
            <a:r>
              <a:rPr lang="en-US" sz="1700" dirty="0" err="1">
                <a:latin typeface="Chalkboard"/>
                <a:cs typeface="Chalkboard"/>
              </a:rPr>
              <a:t>cnn</a:t>
            </a:r>
            <a:r>
              <a:rPr lang="en-US" sz="1700" dirty="0">
                <a:latin typeface="Chalkboard"/>
                <a:cs typeface="Chalkboard"/>
              </a:rPr>
              <a:t>&gt; 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182835" y="1185863"/>
            <a:ext cx="1587921" cy="4078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TextBox 171"/>
          <p:cNvSpPr txBox="1"/>
          <p:nvPr/>
        </p:nvSpPr>
        <p:spPr>
          <a:xfrm>
            <a:off x="5118100" y="1146067"/>
            <a:ext cx="165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/>
                <a:cs typeface="Trebuchet MS"/>
              </a:rPr>
              <a:t>&lt;</a:t>
            </a:r>
            <a:r>
              <a:rPr lang="en-US" dirty="0" err="1">
                <a:solidFill>
                  <a:srgbClr val="0000CC"/>
                </a:solidFill>
                <a:latin typeface="Trebuchet MS"/>
                <a:cs typeface="Trebuchet MS"/>
              </a:rPr>
              <a:t>uw</a:t>
            </a:r>
            <a:r>
              <a:rPr lang="en-US" dirty="0">
                <a:latin typeface="Trebuchet MS"/>
                <a:cs typeface="Trebuchet MS"/>
              </a:rPr>
              <a:t>, {</a:t>
            </a:r>
            <a:r>
              <a:rPr lang="en-US" dirty="0" err="1">
                <a:latin typeface="Trebuchet MS"/>
                <a:cs typeface="Trebuchet MS"/>
              </a:rPr>
              <a:t>cnn</a:t>
            </a:r>
            <a:r>
              <a:rPr lang="en-US" dirty="0">
                <a:latin typeface="Trebuchet MS"/>
                <a:cs typeface="Trebuchet MS"/>
              </a:rPr>
              <a:t>}&gt;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158980" y="2579725"/>
            <a:ext cx="1611776" cy="4002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TextBox 175"/>
          <p:cNvSpPr txBox="1"/>
          <p:nvPr/>
        </p:nvSpPr>
        <p:spPr>
          <a:xfrm>
            <a:off x="4943658" y="2578029"/>
            <a:ext cx="22354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&lt;</a:t>
            </a:r>
            <a:r>
              <a:rPr lang="en-US" sz="1600" dirty="0" err="1">
                <a:solidFill>
                  <a:srgbClr val="0000CC"/>
                </a:solidFill>
                <a:latin typeface="Trebuchet MS"/>
                <a:cs typeface="Trebuchet MS"/>
              </a:rPr>
              <a:t>cbc</a:t>
            </a:r>
            <a:r>
              <a:rPr lang="en-US" sz="1600" dirty="0">
                <a:latin typeface="Trebuchet MS"/>
                <a:cs typeface="Trebuchet MS"/>
              </a:rPr>
              <a:t>, {</a:t>
            </a:r>
            <a:r>
              <a:rPr lang="en-US" sz="1600" dirty="0" err="1">
                <a:latin typeface="Trebuchet MS"/>
                <a:cs typeface="Trebuchet MS"/>
              </a:rPr>
              <a:t>uw</a:t>
            </a:r>
            <a:r>
              <a:rPr lang="en-US" sz="1600" dirty="0">
                <a:latin typeface="Trebuchet MS"/>
                <a:cs typeface="Trebuchet MS"/>
              </a:rPr>
              <a:t>, </a:t>
            </a:r>
            <a:r>
              <a:rPr lang="en-US" sz="1600" dirty="0" err="1">
                <a:latin typeface="Trebuchet MS"/>
                <a:cs typeface="Trebuchet MS"/>
              </a:rPr>
              <a:t>cnn</a:t>
            </a:r>
            <a:r>
              <a:rPr lang="en-US" sz="1600" dirty="0">
                <a:latin typeface="Trebuchet MS"/>
                <a:cs typeface="Trebuchet MS"/>
              </a:rPr>
              <a:t>}&gt;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170135" y="4333542"/>
            <a:ext cx="1781492" cy="4959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/>
          <p:cNvSpPr txBox="1"/>
          <p:nvPr/>
        </p:nvSpPr>
        <p:spPr>
          <a:xfrm>
            <a:off x="4807859" y="4319147"/>
            <a:ext cx="2527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/>
                <a:cs typeface="Trebuchet MS"/>
              </a:rPr>
              <a:t>&lt;</a:t>
            </a:r>
            <a:r>
              <a:rPr lang="en-US" sz="1600" dirty="0">
                <a:solidFill>
                  <a:srgbClr val="0000CC"/>
                </a:solidFill>
                <a:latin typeface="Trebuchet MS"/>
                <a:cs typeface="Trebuchet MS"/>
              </a:rPr>
              <a:t>twitter</a:t>
            </a:r>
            <a:r>
              <a:rPr lang="en-US" sz="1600" dirty="0">
                <a:latin typeface="Trebuchet MS"/>
                <a:cs typeface="Trebuchet MS"/>
              </a:rPr>
              <a:t>, {</a:t>
            </a:r>
            <a:r>
              <a:rPr lang="en-US" sz="1600" dirty="0" err="1">
                <a:latin typeface="Trebuchet MS"/>
                <a:cs typeface="Trebuchet MS"/>
              </a:rPr>
              <a:t>cnn</a:t>
            </a:r>
            <a:r>
              <a:rPr lang="en-US" sz="1600" dirty="0">
                <a:latin typeface="Trebuchet MS"/>
                <a:cs typeface="Trebuchet MS"/>
              </a:rPr>
              <a:t>, times}&gt;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6882" y="5549901"/>
            <a:ext cx="8973778" cy="431800"/>
          </a:xfrm>
          <a:prstGeom prst="roundRect">
            <a:avLst/>
          </a:prstGeom>
          <a:solidFill>
            <a:schemeClr val="bg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bIns="228600" rtlCol="0" anchor="ctr" anchorCtr="0"/>
          <a:lstStyle/>
          <a:p>
            <a:pPr>
              <a:lnSpc>
                <a:spcPts val="3680"/>
              </a:lnSpc>
            </a:pP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</a:rPr>
              <a:t>map(Doc </a:t>
            </a:r>
            <a:r>
              <a:rPr lang="en-US" sz="2100" dirty="0" err="1">
                <a:solidFill>
                  <a:srgbClr val="0000FF"/>
                </a:solidFill>
                <a:latin typeface="Chalkboard"/>
                <a:cs typeface="Chalkboard"/>
              </a:rPr>
              <a:t>srcDoc</a:t>
            </a: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</a:rPr>
              <a:t>) </a:t>
            </a: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  <a:sym typeface="Wingdings"/>
              </a:rPr>
              <a:t></a:t>
            </a: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</a:rPr>
              <a:t> for (link </a:t>
            </a:r>
            <a:r>
              <a:rPr lang="en-US" sz="2100" dirty="0" err="1">
                <a:solidFill>
                  <a:srgbClr val="0000FF"/>
                </a:solidFill>
                <a:latin typeface="Chalkboard"/>
                <a:cs typeface="Chalkboard"/>
              </a:rPr>
              <a:t>dstLink</a:t>
            </a: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</a:rPr>
              <a:t> in </a:t>
            </a:r>
            <a:r>
              <a:rPr lang="en-US" sz="2100" dirty="0" err="1">
                <a:solidFill>
                  <a:srgbClr val="0000FF"/>
                </a:solidFill>
                <a:latin typeface="Chalkboard"/>
                <a:cs typeface="Chalkboard"/>
              </a:rPr>
              <a:t>srcDoc</a:t>
            </a: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</a:rPr>
              <a:t>): &lt;</a:t>
            </a:r>
            <a:r>
              <a:rPr lang="en-US" sz="2100" dirty="0" err="1">
                <a:solidFill>
                  <a:srgbClr val="0000FF"/>
                </a:solidFill>
                <a:latin typeface="Chalkboard"/>
                <a:cs typeface="Chalkboard"/>
              </a:rPr>
              <a:t>dstLink</a:t>
            </a: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</a:rPr>
              <a:t>, </a:t>
            </a:r>
            <a:r>
              <a:rPr lang="en-US" sz="2100" dirty="0" err="1">
                <a:solidFill>
                  <a:srgbClr val="0000FF"/>
                </a:solidFill>
                <a:latin typeface="Chalkboard"/>
                <a:cs typeface="Chalkboard"/>
              </a:rPr>
              <a:t>srcDoc.link</a:t>
            </a: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</a:rPr>
              <a:t>&gt;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6882" y="6299200"/>
            <a:ext cx="8973778" cy="457200"/>
          </a:xfrm>
          <a:prstGeom prst="roundRect">
            <a:avLst/>
          </a:prstGeom>
          <a:solidFill>
            <a:schemeClr val="bg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bIns="228600" rtlCol="0" anchor="ctr" anchorCtr="0"/>
          <a:lstStyle/>
          <a:p>
            <a:pPr>
              <a:lnSpc>
                <a:spcPts val="3680"/>
              </a:lnSpc>
            </a:pP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</a:rPr>
              <a:t>reduce(String target, List&lt;Long&gt; </a:t>
            </a:r>
            <a:r>
              <a:rPr lang="en-US" sz="2100" dirty="0" err="1">
                <a:solidFill>
                  <a:srgbClr val="0000FF"/>
                </a:solidFill>
                <a:latin typeface="Chalkboard"/>
                <a:cs typeface="Chalkboard"/>
              </a:rPr>
              <a:t>srcs</a:t>
            </a: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</a:rPr>
              <a:t>): </a:t>
            </a: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  <a:sym typeface="Wingdings"/>
              </a:rPr>
              <a:t></a:t>
            </a: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</a:rPr>
              <a:t> &lt;target, </a:t>
            </a:r>
            <a:r>
              <a:rPr lang="en-US" sz="2100" dirty="0" err="1">
                <a:solidFill>
                  <a:srgbClr val="0000FF"/>
                </a:solidFill>
                <a:latin typeface="Chalkboard"/>
                <a:cs typeface="Chalkboard"/>
              </a:rPr>
              <a:t>srcs</a:t>
            </a:r>
            <a:r>
              <a:rPr lang="en-US" sz="2100" dirty="0">
                <a:solidFill>
                  <a:srgbClr val="0000FF"/>
                </a:solidFill>
                <a:latin typeface="Chalkboard"/>
                <a:cs typeface="Chalkboard"/>
              </a:rPr>
              <a:t>&gt;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383113" y="1385392"/>
            <a:ext cx="535170" cy="462344"/>
            <a:chOff x="1678844" y="3327400"/>
            <a:chExt cx="450851" cy="457200"/>
          </a:xfrm>
        </p:grpSpPr>
        <p:sp>
          <p:nvSpPr>
            <p:cNvPr id="63" name="Rectangle 62"/>
            <p:cNvSpPr/>
            <p:nvPr/>
          </p:nvSpPr>
          <p:spPr>
            <a:xfrm>
              <a:off x="1678844" y="3327400"/>
              <a:ext cx="450851" cy="4572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cxnSp>
          <p:nvCxnSpPr>
            <p:cNvPr id="64" name="Straight Connector 63"/>
            <p:cNvCxnSpPr/>
            <p:nvPr/>
          </p:nvCxnSpPr>
          <p:spPr>
            <a:xfrm>
              <a:off x="1688679" y="3378200"/>
              <a:ext cx="2984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1729644" y="3479800"/>
              <a:ext cx="2984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1742344" y="3594100"/>
              <a:ext cx="2857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1824895" y="3708400"/>
              <a:ext cx="215900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/>
          <p:cNvSpPr txBox="1"/>
          <p:nvPr/>
        </p:nvSpPr>
        <p:spPr>
          <a:xfrm rot="1202010">
            <a:off x="2166222" y="1772018"/>
            <a:ext cx="2321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halkboard"/>
                <a:cs typeface="Chalkboard"/>
              </a:rPr>
              <a:t>&lt;</a:t>
            </a:r>
            <a:r>
              <a:rPr lang="en-US" dirty="0" err="1">
                <a:latin typeface="Chalkboard"/>
                <a:cs typeface="Chalkboard"/>
              </a:rPr>
              <a:t>cbc</a:t>
            </a:r>
            <a:r>
              <a:rPr lang="en-US" dirty="0">
                <a:latin typeface="Chalkboard"/>
                <a:cs typeface="Chalkboard"/>
              </a:rPr>
              <a:t>, </a:t>
            </a:r>
            <a:r>
              <a:rPr lang="en-US" dirty="0" err="1">
                <a:latin typeface="Chalkboard"/>
                <a:cs typeface="Chalkboard"/>
              </a:rPr>
              <a:t>uw</a:t>
            </a:r>
            <a:r>
              <a:rPr lang="en-US" dirty="0">
                <a:latin typeface="Chalkboard"/>
                <a:cs typeface="Chalkboard"/>
              </a:rPr>
              <a:t>&gt;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6564" y="1770245"/>
            <a:ext cx="1002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halkboard"/>
                <a:cs typeface="Chalkboard"/>
              </a:rPr>
              <a:t>uw.ca</a:t>
            </a:r>
            <a:endParaRPr lang="en-US" dirty="0">
              <a:latin typeface="Chalkboard"/>
              <a:cs typeface="Chalkboard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201839" y="2688118"/>
            <a:ext cx="1869720" cy="10382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rebuchet MS"/>
              <a:cs typeface="Trebuchet M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47418" y="2913314"/>
            <a:ext cx="915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388387" y="2928571"/>
            <a:ext cx="535170" cy="462344"/>
            <a:chOff x="1678844" y="3327400"/>
            <a:chExt cx="450851" cy="457200"/>
          </a:xfrm>
        </p:grpSpPr>
        <p:sp>
          <p:nvSpPr>
            <p:cNvPr id="78" name="Rectangle 77"/>
            <p:cNvSpPr/>
            <p:nvPr/>
          </p:nvSpPr>
          <p:spPr>
            <a:xfrm>
              <a:off x="1678844" y="3327400"/>
              <a:ext cx="450851" cy="4572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cxnSp>
          <p:nvCxnSpPr>
            <p:cNvPr id="79" name="Straight Connector 78"/>
            <p:cNvCxnSpPr/>
            <p:nvPr/>
          </p:nvCxnSpPr>
          <p:spPr>
            <a:xfrm>
              <a:off x="1688679" y="3378200"/>
              <a:ext cx="2984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1729644" y="3479800"/>
              <a:ext cx="2984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1742344" y="3594100"/>
              <a:ext cx="2857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1824895" y="3708400"/>
              <a:ext cx="215900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TextBox 86"/>
          <p:cNvSpPr txBox="1"/>
          <p:nvPr/>
        </p:nvSpPr>
        <p:spPr>
          <a:xfrm>
            <a:off x="201838" y="3313424"/>
            <a:ext cx="1002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halkboard"/>
                <a:cs typeface="Chalkboard"/>
              </a:rPr>
              <a:t>cnn.com</a:t>
            </a:r>
            <a:endParaRPr lang="en-US" dirty="0">
              <a:latin typeface="Chalkboard"/>
              <a:cs typeface="Chalkboard"/>
            </a:endParaRPr>
          </a:p>
        </p:txBody>
      </p:sp>
      <p:grpSp>
        <p:nvGrpSpPr>
          <p:cNvPr id="96" name="Group 95"/>
          <p:cNvGrpSpPr/>
          <p:nvPr/>
        </p:nvGrpSpPr>
        <p:grpSpPr>
          <a:xfrm>
            <a:off x="348578" y="4575232"/>
            <a:ext cx="535170" cy="462344"/>
            <a:chOff x="1678844" y="3327400"/>
            <a:chExt cx="450851" cy="457200"/>
          </a:xfrm>
        </p:grpSpPr>
        <p:sp>
          <p:nvSpPr>
            <p:cNvPr id="97" name="Rectangle 96"/>
            <p:cNvSpPr/>
            <p:nvPr/>
          </p:nvSpPr>
          <p:spPr>
            <a:xfrm>
              <a:off x="1678844" y="3327400"/>
              <a:ext cx="450851" cy="4572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cxnSp>
          <p:nvCxnSpPr>
            <p:cNvPr id="98" name="Straight Connector 97"/>
            <p:cNvCxnSpPr/>
            <p:nvPr/>
          </p:nvCxnSpPr>
          <p:spPr>
            <a:xfrm>
              <a:off x="1688679" y="3378200"/>
              <a:ext cx="2984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1729644" y="3479800"/>
              <a:ext cx="2984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1742344" y="3594100"/>
              <a:ext cx="285751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1824895" y="3708400"/>
              <a:ext cx="215900" cy="0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extBox 106"/>
          <p:cNvSpPr txBox="1"/>
          <p:nvPr/>
        </p:nvSpPr>
        <p:spPr>
          <a:xfrm>
            <a:off x="123136" y="5001828"/>
            <a:ext cx="1183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halkboard"/>
                <a:cs typeface="Chalkboard"/>
              </a:rPr>
              <a:t>times.com</a:t>
            </a:r>
            <a:endParaRPr lang="en-US" dirty="0">
              <a:latin typeface="Chalkboard"/>
              <a:cs typeface="Chalkboard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937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91"/>
    </mc:Choice>
    <mc:Fallback xmlns="">
      <p:transition xmlns:p14="http://schemas.microsoft.com/office/powerpoint/2010/main" spd="slow" advTm="520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104" grpId="0"/>
      <p:bldP spid="111" grpId="0"/>
      <p:bldP spid="122" grpId="0"/>
      <p:bldP spid="129" grpId="0"/>
      <p:bldP spid="148" grpId="0"/>
      <p:bldP spid="165" grpId="0"/>
      <p:bldP spid="168" grpId="0"/>
      <p:bldP spid="169" grpId="0"/>
      <p:bldP spid="171" grpId="0" animBg="1"/>
      <p:bldP spid="172" grpId="0"/>
      <p:bldP spid="175" grpId="0" animBg="1"/>
      <p:bldP spid="176" grpId="0"/>
      <p:bldP spid="179" grpId="0" animBg="1"/>
      <p:bldP spid="180" grpId="0"/>
      <p:bldP spid="74" grpId="0" animBg="1"/>
      <p:bldP spid="75" grpId="0" animBg="1"/>
      <p:bldP spid="71" grpId="0"/>
      <p:bldP spid="7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144" y="-45114"/>
            <a:ext cx="91910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kern="0" dirty="0">
                <a:solidFill>
                  <a:srgbClr val="000000"/>
                </a:solidFill>
                <a:latin typeface="Trebuchet MS"/>
              </a:rPr>
              <a:t>More Detailed Architecture</a:t>
            </a:r>
            <a:endParaRPr lang="en-US" sz="3200" b="1" dirty="0">
              <a:solidFill>
                <a:srgbClr val="B90000"/>
              </a:solidFill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6548437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42</a:t>
            </a:fld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114300" y="627622"/>
            <a:ext cx="8915400" cy="6266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solidFill>
                <a:srgbClr val="000090"/>
              </a:solidFill>
              <a:latin typeface="Calibri"/>
              <a:cs typeface="Calibri"/>
            </a:endParaRPr>
          </a:p>
        </p:txBody>
      </p:sp>
      <p:sp>
        <p:nvSpPr>
          <p:cNvPr id="2" name="Can 1"/>
          <p:cNvSpPr/>
          <p:nvPr/>
        </p:nvSpPr>
        <p:spPr>
          <a:xfrm>
            <a:off x="344714" y="5724072"/>
            <a:ext cx="8545286" cy="1133928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>
            <a:off x="34268" y="537063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107" idx="1"/>
          </p:cNvCxnSpPr>
          <p:nvPr/>
        </p:nvCxnSpPr>
        <p:spPr>
          <a:xfrm flipH="1" flipV="1">
            <a:off x="4604207" y="2802128"/>
            <a:ext cx="1284324" cy="1036553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3319883" y="2802128"/>
            <a:ext cx="1284324" cy="1036553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107" idx="1"/>
            <a:endCxn id="135" idx="3"/>
          </p:cNvCxnSpPr>
          <p:nvPr/>
        </p:nvCxnSpPr>
        <p:spPr>
          <a:xfrm flipH="1">
            <a:off x="3306810" y="3838681"/>
            <a:ext cx="2581721" cy="0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/>
          <p:cNvGrpSpPr/>
          <p:nvPr/>
        </p:nvGrpSpPr>
        <p:grpSpPr>
          <a:xfrm>
            <a:off x="5888531" y="2865474"/>
            <a:ext cx="2176272" cy="2293863"/>
            <a:chOff x="5888531" y="2766697"/>
            <a:chExt cx="2176272" cy="2293863"/>
          </a:xfrm>
        </p:grpSpPr>
        <p:sp>
          <p:nvSpPr>
            <p:cNvPr id="106" name="TextBox 105"/>
            <p:cNvSpPr txBox="1"/>
            <p:nvPr/>
          </p:nvSpPr>
          <p:spPr>
            <a:xfrm>
              <a:off x="6207257" y="4691228"/>
              <a:ext cx="1577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3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888531" y="2766697"/>
              <a:ext cx="2176272" cy="19464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1130538" y="2865474"/>
            <a:ext cx="2176272" cy="2283827"/>
            <a:chOff x="5888531" y="2766697"/>
            <a:chExt cx="2176272" cy="2283827"/>
          </a:xfrm>
        </p:grpSpPr>
        <p:sp>
          <p:nvSpPr>
            <p:cNvPr id="134" name="TextBox 133"/>
            <p:cNvSpPr txBox="1"/>
            <p:nvPr/>
          </p:nvSpPr>
          <p:spPr>
            <a:xfrm>
              <a:off x="5983590" y="4681192"/>
              <a:ext cx="2041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1</a:t>
              </a: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5888531" y="2766697"/>
              <a:ext cx="2176272" cy="19464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3500730" y="613371"/>
            <a:ext cx="2176272" cy="2161242"/>
            <a:chOff x="5888531" y="2551868"/>
            <a:chExt cx="2176272" cy="2161242"/>
          </a:xfrm>
        </p:grpSpPr>
        <p:sp>
          <p:nvSpPr>
            <p:cNvPr id="149" name="TextBox 148"/>
            <p:cNvSpPr txBox="1"/>
            <p:nvPr/>
          </p:nvSpPr>
          <p:spPr>
            <a:xfrm>
              <a:off x="6133642" y="2551868"/>
              <a:ext cx="1728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2</a:t>
              </a: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5888531" y="2900923"/>
              <a:ext cx="2176272" cy="18121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cxnSp>
        <p:nvCxnSpPr>
          <p:cNvPr id="6" name="Straight Arrow Connector 5"/>
          <p:cNvCxnSpPr/>
          <p:nvPr/>
        </p:nvCxnSpPr>
        <p:spPr>
          <a:xfrm>
            <a:off x="2215017" y="5177480"/>
            <a:ext cx="0" cy="518561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stCxn id="106" idx="2"/>
          </p:cNvCxnSpPr>
          <p:nvPr/>
        </p:nvCxnSpPr>
        <p:spPr>
          <a:xfrm>
            <a:off x="6996070" y="5159337"/>
            <a:ext cx="0" cy="518561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4606093" y="2766454"/>
            <a:ext cx="0" cy="292194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66238" y="595767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Distributed Storage (E.g., Distr. File System, Distr. Database)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25221" y="6080299"/>
            <a:ext cx="827803" cy="468137"/>
            <a:chOff x="322411" y="5995422"/>
            <a:chExt cx="875232" cy="681148"/>
          </a:xfrm>
        </p:grpSpPr>
        <p:sp>
          <p:nvSpPr>
            <p:cNvPr id="173" name="Multidocument 172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2411" y="5995422"/>
              <a:ext cx="875232" cy="452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1</a:t>
              </a:r>
              <a:endParaRPr lang="en-US" sz="1700" dirty="0"/>
            </a:p>
          </p:txBody>
        </p:sp>
      </p:grpSp>
      <p:grpSp>
        <p:nvGrpSpPr>
          <p:cNvPr id="184" name="Group 183"/>
          <p:cNvGrpSpPr/>
          <p:nvPr/>
        </p:nvGrpSpPr>
        <p:grpSpPr>
          <a:xfrm>
            <a:off x="1104990" y="6071516"/>
            <a:ext cx="827803" cy="468137"/>
            <a:chOff x="322411" y="5995422"/>
            <a:chExt cx="875232" cy="681148"/>
          </a:xfrm>
        </p:grpSpPr>
        <p:sp>
          <p:nvSpPr>
            <p:cNvPr id="185" name="Multidocument 184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2</a:t>
              </a:r>
              <a:endParaRPr lang="en-US" sz="1700" dirty="0"/>
            </a:p>
          </p:txBody>
        </p:sp>
      </p:grpSp>
      <p:grpSp>
        <p:nvGrpSpPr>
          <p:cNvPr id="187" name="Group 186"/>
          <p:cNvGrpSpPr/>
          <p:nvPr/>
        </p:nvGrpSpPr>
        <p:grpSpPr>
          <a:xfrm>
            <a:off x="1980954" y="6080299"/>
            <a:ext cx="827803" cy="468137"/>
            <a:chOff x="322411" y="5995422"/>
            <a:chExt cx="875232" cy="681148"/>
          </a:xfrm>
        </p:grpSpPr>
        <p:sp>
          <p:nvSpPr>
            <p:cNvPr id="188" name="Multidocument 187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3</a:t>
              </a:r>
              <a:endParaRPr lang="en-US" sz="1700" dirty="0"/>
            </a:p>
          </p:txBody>
        </p:sp>
      </p:grpSp>
      <p:sp>
        <p:nvSpPr>
          <p:cNvPr id="170" name="Can 169"/>
          <p:cNvSpPr/>
          <p:nvPr/>
        </p:nvSpPr>
        <p:spPr>
          <a:xfrm>
            <a:off x="1189312" y="3915275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7" name="Can 206"/>
          <p:cNvSpPr/>
          <p:nvPr/>
        </p:nvSpPr>
        <p:spPr>
          <a:xfrm>
            <a:off x="3563073" y="1928253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8" name="Can 217"/>
          <p:cNvSpPr/>
          <p:nvPr/>
        </p:nvSpPr>
        <p:spPr>
          <a:xfrm>
            <a:off x="5947977" y="3923703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31" name="Group 230"/>
          <p:cNvGrpSpPr/>
          <p:nvPr/>
        </p:nvGrpSpPr>
        <p:grpSpPr>
          <a:xfrm>
            <a:off x="3370387" y="4297131"/>
            <a:ext cx="2561710" cy="1302542"/>
            <a:chOff x="5909389" y="645921"/>
            <a:chExt cx="2561710" cy="1302542"/>
          </a:xfrm>
        </p:grpSpPr>
        <p:sp>
          <p:nvSpPr>
            <p:cNvPr id="232" name="TextBox 231"/>
            <p:cNvSpPr txBox="1"/>
            <p:nvPr/>
          </p:nvSpPr>
          <p:spPr>
            <a:xfrm>
              <a:off x="6242242" y="1579131"/>
              <a:ext cx="1605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Master</a:t>
              </a:r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5960493" y="730443"/>
              <a:ext cx="2385221" cy="90311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5909389" y="645921"/>
              <a:ext cx="2561710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coordinates: workers</a:t>
              </a:r>
            </a:p>
            <a:p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for progress, fault recovery, </a:t>
              </a:r>
              <a:r>
                <a:rPr lang="en-US" sz="1900" dirty="0" err="1">
                  <a:solidFill>
                    <a:srgbClr val="990000"/>
                  </a:solidFill>
                  <a:latin typeface="Chalkboard"/>
                  <a:cs typeface="Chalkboard"/>
                </a:rPr>
                <a:t>synchrn</a:t>
              </a:r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. 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3644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91"/>
    </mc:Choice>
    <mc:Fallback xmlns="">
      <p:transition xmlns:p14="http://schemas.microsoft.com/office/powerpoint/2010/main" spd="slow" advTm="5209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144" y="-45114"/>
            <a:ext cx="91910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kern="0" dirty="0">
                <a:solidFill>
                  <a:srgbClr val="000000"/>
                </a:solidFill>
                <a:latin typeface="Trebuchet MS"/>
              </a:rPr>
              <a:t>More Detailed Architecture</a:t>
            </a:r>
            <a:endParaRPr lang="en-US" sz="3200" b="1" dirty="0">
              <a:solidFill>
                <a:srgbClr val="B90000"/>
              </a:solidFill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6548437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43</a:t>
            </a:fld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114300" y="627622"/>
            <a:ext cx="8915400" cy="6266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solidFill>
                <a:srgbClr val="000090"/>
              </a:solidFill>
              <a:latin typeface="Calibri"/>
              <a:cs typeface="Calibri"/>
            </a:endParaRPr>
          </a:p>
        </p:txBody>
      </p:sp>
      <p:sp>
        <p:nvSpPr>
          <p:cNvPr id="2" name="Can 1"/>
          <p:cNvSpPr/>
          <p:nvPr/>
        </p:nvSpPr>
        <p:spPr>
          <a:xfrm>
            <a:off x="344714" y="5724072"/>
            <a:ext cx="8545286" cy="1133928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>
            <a:off x="34268" y="537063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107" idx="1"/>
          </p:cNvCxnSpPr>
          <p:nvPr/>
        </p:nvCxnSpPr>
        <p:spPr>
          <a:xfrm flipH="1" flipV="1">
            <a:off x="4604207" y="2802128"/>
            <a:ext cx="1284324" cy="1036553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135" idx="3"/>
          </p:cNvCxnSpPr>
          <p:nvPr/>
        </p:nvCxnSpPr>
        <p:spPr>
          <a:xfrm flipH="1">
            <a:off x="3306810" y="2802128"/>
            <a:ext cx="1297397" cy="1036553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107" idx="1"/>
            <a:endCxn id="135" idx="3"/>
          </p:cNvCxnSpPr>
          <p:nvPr/>
        </p:nvCxnSpPr>
        <p:spPr>
          <a:xfrm flipH="1">
            <a:off x="3306810" y="3838681"/>
            <a:ext cx="2581721" cy="0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/>
          <p:cNvGrpSpPr/>
          <p:nvPr/>
        </p:nvGrpSpPr>
        <p:grpSpPr>
          <a:xfrm>
            <a:off x="5888531" y="2865474"/>
            <a:ext cx="2176272" cy="2293863"/>
            <a:chOff x="5888531" y="2766697"/>
            <a:chExt cx="2176272" cy="2293863"/>
          </a:xfrm>
        </p:grpSpPr>
        <p:sp>
          <p:nvSpPr>
            <p:cNvPr id="106" name="TextBox 105"/>
            <p:cNvSpPr txBox="1"/>
            <p:nvPr/>
          </p:nvSpPr>
          <p:spPr>
            <a:xfrm>
              <a:off x="6207257" y="4691228"/>
              <a:ext cx="1577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3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888531" y="2766697"/>
              <a:ext cx="2176272" cy="19464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1130538" y="2865474"/>
            <a:ext cx="2176272" cy="2283827"/>
            <a:chOff x="5888531" y="2766697"/>
            <a:chExt cx="2176272" cy="2283827"/>
          </a:xfrm>
        </p:grpSpPr>
        <p:sp>
          <p:nvSpPr>
            <p:cNvPr id="134" name="TextBox 133"/>
            <p:cNvSpPr txBox="1"/>
            <p:nvPr/>
          </p:nvSpPr>
          <p:spPr>
            <a:xfrm>
              <a:off x="5983590" y="4681192"/>
              <a:ext cx="2041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1</a:t>
              </a: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5888531" y="2766697"/>
              <a:ext cx="2176272" cy="19464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3500730" y="558942"/>
            <a:ext cx="2176272" cy="2215671"/>
            <a:chOff x="5888531" y="2497439"/>
            <a:chExt cx="2176272" cy="2215671"/>
          </a:xfrm>
        </p:grpSpPr>
        <p:sp>
          <p:nvSpPr>
            <p:cNvPr id="149" name="TextBox 148"/>
            <p:cNvSpPr txBox="1"/>
            <p:nvPr/>
          </p:nvSpPr>
          <p:spPr>
            <a:xfrm>
              <a:off x="6133642" y="2497439"/>
              <a:ext cx="1728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2</a:t>
              </a: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5888531" y="2900923"/>
              <a:ext cx="2176272" cy="18121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cxnSp>
        <p:nvCxnSpPr>
          <p:cNvPr id="6" name="Straight Arrow Connector 5"/>
          <p:cNvCxnSpPr/>
          <p:nvPr/>
        </p:nvCxnSpPr>
        <p:spPr>
          <a:xfrm>
            <a:off x="2215017" y="5177480"/>
            <a:ext cx="0" cy="518561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stCxn id="106" idx="2"/>
          </p:cNvCxnSpPr>
          <p:nvPr/>
        </p:nvCxnSpPr>
        <p:spPr>
          <a:xfrm>
            <a:off x="6996070" y="5159337"/>
            <a:ext cx="0" cy="518561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4606093" y="2766454"/>
            <a:ext cx="0" cy="292194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66238" y="595767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Distributed Storage (E.g., Distr. File System, Distr. Database)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25221" y="6080299"/>
            <a:ext cx="827803" cy="468137"/>
            <a:chOff x="322411" y="5995422"/>
            <a:chExt cx="875232" cy="681148"/>
          </a:xfrm>
        </p:grpSpPr>
        <p:sp>
          <p:nvSpPr>
            <p:cNvPr id="173" name="Multidocument 172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2411" y="5995422"/>
              <a:ext cx="875232" cy="452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1</a:t>
              </a:r>
              <a:endParaRPr lang="en-US" sz="1700" dirty="0"/>
            </a:p>
          </p:txBody>
        </p:sp>
      </p:grpSp>
      <p:grpSp>
        <p:nvGrpSpPr>
          <p:cNvPr id="184" name="Group 183"/>
          <p:cNvGrpSpPr/>
          <p:nvPr/>
        </p:nvGrpSpPr>
        <p:grpSpPr>
          <a:xfrm>
            <a:off x="1104990" y="6071516"/>
            <a:ext cx="827803" cy="468137"/>
            <a:chOff x="322411" y="5995422"/>
            <a:chExt cx="875232" cy="681148"/>
          </a:xfrm>
        </p:grpSpPr>
        <p:sp>
          <p:nvSpPr>
            <p:cNvPr id="185" name="Multidocument 184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2</a:t>
              </a:r>
              <a:endParaRPr lang="en-US" sz="1700" dirty="0"/>
            </a:p>
          </p:txBody>
        </p:sp>
      </p:grpSp>
      <p:grpSp>
        <p:nvGrpSpPr>
          <p:cNvPr id="187" name="Group 186"/>
          <p:cNvGrpSpPr/>
          <p:nvPr/>
        </p:nvGrpSpPr>
        <p:grpSpPr>
          <a:xfrm>
            <a:off x="1980954" y="6080299"/>
            <a:ext cx="827803" cy="468137"/>
            <a:chOff x="322411" y="5995422"/>
            <a:chExt cx="875232" cy="681148"/>
          </a:xfrm>
        </p:grpSpPr>
        <p:sp>
          <p:nvSpPr>
            <p:cNvPr id="188" name="Multidocument 187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3</a:t>
              </a:r>
              <a:endParaRPr lang="en-US" sz="1700" dirty="0"/>
            </a:p>
          </p:txBody>
        </p:sp>
      </p:grpSp>
      <p:sp>
        <p:nvSpPr>
          <p:cNvPr id="170" name="Can 169"/>
          <p:cNvSpPr/>
          <p:nvPr/>
        </p:nvSpPr>
        <p:spPr>
          <a:xfrm>
            <a:off x="1189312" y="3915275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95" name="Group 194"/>
          <p:cNvGrpSpPr/>
          <p:nvPr/>
        </p:nvGrpSpPr>
        <p:grpSpPr>
          <a:xfrm>
            <a:off x="1134883" y="4167147"/>
            <a:ext cx="827803" cy="468137"/>
            <a:chOff x="322411" y="5995422"/>
            <a:chExt cx="875232" cy="681148"/>
          </a:xfrm>
        </p:grpSpPr>
        <p:sp>
          <p:nvSpPr>
            <p:cNvPr id="196" name="Multidocument 195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322411" y="5995422"/>
              <a:ext cx="875232" cy="452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1</a:t>
              </a:r>
              <a:endParaRPr lang="en-US" sz="1700" dirty="0"/>
            </a:p>
          </p:txBody>
        </p:sp>
      </p:grpSp>
      <p:grpSp>
        <p:nvGrpSpPr>
          <p:cNvPr id="200" name="Group 199"/>
          <p:cNvGrpSpPr/>
          <p:nvPr/>
        </p:nvGrpSpPr>
        <p:grpSpPr>
          <a:xfrm>
            <a:off x="2106680" y="4060871"/>
            <a:ext cx="905037" cy="338554"/>
            <a:chOff x="2015965" y="4314873"/>
            <a:chExt cx="905037" cy="338554"/>
          </a:xfrm>
        </p:grpSpPr>
        <p:sp>
          <p:nvSpPr>
            <p:cNvPr id="201" name="Rectangle 200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2</a:t>
              </a:r>
              <a:endParaRPr lang="en-US" sz="1600" dirty="0"/>
            </a:p>
          </p:txBody>
        </p:sp>
      </p:grpSp>
      <p:grpSp>
        <p:nvGrpSpPr>
          <p:cNvPr id="203" name="Group 202"/>
          <p:cNvGrpSpPr/>
          <p:nvPr/>
        </p:nvGrpSpPr>
        <p:grpSpPr>
          <a:xfrm>
            <a:off x="2095793" y="4358415"/>
            <a:ext cx="905037" cy="338554"/>
            <a:chOff x="2015965" y="4314873"/>
            <a:chExt cx="905037" cy="338554"/>
          </a:xfrm>
        </p:grpSpPr>
        <p:sp>
          <p:nvSpPr>
            <p:cNvPr id="204" name="Rectangle 203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3</a:t>
              </a:r>
              <a:endParaRPr lang="en-US" sz="1600" dirty="0"/>
            </a:p>
          </p:txBody>
        </p:sp>
      </p:grpSp>
      <p:sp>
        <p:nvSpPr>
          <p:cNvPr id="207" name="Can 206"/>
          <p:cNvSpPr/>
          <p:nvPr/>
        </p:nvSpPr>
        <p:spPr>
          <a:xfrm>
            <a:off x="3563073" y="1928253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08" name="Group 207"/>
          <p:cNvGrpSpPr/>
          <p:nvPr/>
        </p:nvGrpSpPr>
        <p:grpSpPr>
          <a:xfrm>
            <a:off x="3508644" y="2180125"/>
            <a:ext cx="827803" cy="468137"/>
            <a:chOff x="322411" y="5995422"/>
            <a:chExt cx="875232" cy="681148"/>
          </a:xfrm>
        </p:grpSpPr>
        <p:sp>
          <p:nvSpPr>
            <p:cNvPr id="215" name="Multidocument 214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2</a:t>
              </a:r>
              <a:endParaRPr lang="en-US" sz="1700" dirty="0"/>
            </a:p>
          </p:txBody>
        </p:sp>
      </p:grpSp>
      <p:grpSp>
        <p:nvGrpSpPr>
          <p:cNvPr id="209" name="Group 208"/>
          <p:cNvGrpSpPr/>
          <p:nvPr/>
        </p:nvGrpSpPr>
        <p:grpSpPr>
          <a:xfrm>
            <a:off x="4480441" y="2073849"/>
            <a:ext cx="905037" cy="338554"/>
            <a:chOff x="2015965" y="4314873"/>
            <a:chExt cx="905037" cy="338554"/>
          </a:xfrm>
        </p:grpSpPr>
        <p:sp>
          <p:nvSpPr>
            <p:cNvPr id="213" name="Rectangle 212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4469554" y="2371393"/>
            <a:ext cx="905037" cy="338554"/>
            <a:chOff x="2015965" y="4314873"/>
            <a:chExt cx="905037" cy="338554"/>
          </a:xfrm>
        </p:grpSpPr>
        <p:sp>
          <p:nvSpPr>
            <p:cNvPr id="211" name="Rectangle 210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3</a:t>
              </a:r>
              <a:endParaRPr lang="en-US" sz="1600" dirty="0"/>
            </a:p>
          </p:txBody>
        </p:sp>
      </p:grpSp>
      <p:sp>
        <p:nvSpPr>
          <p:cNvPr id="218" name="Can 217"/>
          <p:cNvSpPr/>
          <p:nvPr/>
        </p:nvSpPr>
        <p:spPr>
          <a:xfrm>
            <a:off x="5947977" y="3923703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19" name="Group 218"/>
          <p:cNvGrpSpPr/>
          <p:nvPr/>
        </p:nvGrpSpPr>
        <p:grpSpPr>
          <a:xfrm>
            <a:off x="5912504" y="4175575"/>
            <a:ext cx="827803" cy="468137"/>
            <a:chOff x="322411" y="5995422"/>
            <a:chExt cx="875232" cy="681148"/>
          </a:xfrm>
        </p:grpSpPr>
        <p:sp>
          <p:nvSpPr>
            <p:cNvPr id="226" name="Multidocument 225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3</a:t>
              </a:r>
              <a:endParaRPr lang="en-US" sz="1700" dirty="0"/>
            </a:p>
          </p:txBody>
        </p:sp>
      </p:grpSp>
      <p:grpSp>
        <p:nvGrpSpPr>
          <p:cNvPr id="220" name="Group 219"/>
          <p:cNvGrpSpPr/>
          <p:nvPr/>
        </p:nvGrpSpPr>
        <p:grpSpPr>
          <a:xfrm>
            <a:off x="6884301" y="4069299"/>
            <a:ext cx="905037" cy="338554"/>
            <a:chOff x="2015965" y="4314873"/>
            <a:chExt cx="905037" cy="338554"/>
          </a:xfrm>
        </p:grpSpPr>
        <p:sp>
          <p:nvSpPr>
            <p:cNvPr id="224" name="Rectangle 223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</p:grpSp>
      <p:grpSp>
        <p:nvGrpSpPr>
          <p:cNvPr id="221" name="Group 220"/>
          <p:cNvGrpSpPr/>
          <p:nvPr/>
        </p:nvGrpSpPr>
        <p:grpSpPr>
          <a:xfrm>
            <a:off x="6873414" y="4366843"/>
            <a:ext cx="905037" cy="338554"/>
            <a:chOff x="2015965" y="4314873"/>
            <a:chExt cx="905037" cy="338554"/>
          </a:xfrm>
        </p:grpSpPr>
        <p:sp>
          <p:nvSpPr>
            <p:cNvPr id="222" name="Rectangle 221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2</a:t>
              </a:r>
              <a:endParaRPr lang="en-US" sz="1600" dirty="0"/>
            </a:p>
          </p:txBody>
        </p:sp>
      </p:grpSp>
      <p:sp>
        <p:nvSpPr>
          <p:cNvPr id="228" name="TextBox 227"/>
          <p:cNvSpPr txBox="1"/>
          <p:nvPr/>
        </p:nvSpPr>
        <p:spPr>
          <a:xfrm>
            <a:off x="1572173" y="3062172"/>
            <a:ext cx="1236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987801" y="1182572"/>
            <a:ext cx="1236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77778" y="3118007"/>
            <a:ext cx="1236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990000"/>
                </a:solidFill>
                <a:latin typeface="Chalkboard"/>
                <a:cs typeface="Chalkboard"/>
              </a:rPr>
              <a:t>map()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792" y="669418"/>
            <a:ext cx="29050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Map Stage</a:t>
            </a:r>
          </a:p>
          <a:p>
            <a:pPr algn="ctr"/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(1</a:t>
            </a:r>
            <a:r>
              <a:rPr lang="en-US" sz="3000" baseline="30000" dirty="0">
                <a:solidFill>
                  <a:srgbClr val="FF0000"/>
                </a:solidFill>
                <a:latin typeface="Trebuchet MS"/>
                <a:cs typeface="Trebuchet MS"/>
              </a:rPr>
              <a:t>st</a:t>
            </a:r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Trebuchet MS"/>
                <a:cs typeface="Trebuchet MS"/>
              </a:rPr>
              <a:t>Superstep</a:t>
            </a:r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)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3370387" y="4315274"/>
            <a:ext cx="2561710" cy="1284399"/>
            <a:chOff x="5909389" y="664064"/>
            <a:chExt cx="2561710" cy="1284399"/>
          </a:xfrm>
        </p:grpSpPr>
        <p:sp>
          <p:nvSpPr>
            <p:cNvPr id="78" name="TextBox 77"/>
            <p:cNvSpPr txBox="1"/>
            <p:nvPr/>
          </p:nvSpPr>
          <p:spPr>
            <a:xfrm>
              <a:off x="6242242" y="1579131"/>
              <a:ext cx="1605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Master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5960493" y="730443"/>
              <a:ext cx="2385221" cy="90311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909389" y="664064"/>
              <a:ext cx="2561710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coordinates: workers</a:t>
              </a:r>
            </a:p>
            <a:p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for progress, fault recovery, </a:t>
              </a:r>
              <a:r>
                <a:rPr lang="en-US" sz="1900" dirty="0" err="1">
                  <a:solidFill>
                    <a:srgbClr val="990000"/>
                  </a:solidFill>
                  <a:latin typeface="Chalkboard"/>
                  <a:cs typeface="Chalkboard"/>
                </a:rPr>
                <a:t>synchrn</a:t>
              </a:r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. 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8272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91"/>
    </mc:Choice>
    <mc:Fallback xmlns="">
      <p:transition xmlns:p14="http://schemas.microsoft.com/office/powerpoint/2010/main" spd="slow" advTm="520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 tmFilter="0, 0; .2, .5; .8, .5; 1, 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1000" autoRev="1" fill="hold"/>
                                        <p:tgtEl>
                                          <p:spTgt spid="2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 tmFilter="0, 0; .2, .5; .8, .5; 1, 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1000" autoRev="1" fill="hold"/>
                                        <p:tgtEl>
                                          <p:spTgt spid="2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 tmFilter="0, 0; .2, .5; .8, .5; 1, 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1000" autoRev="1" fill="hold"/>
                                        <p:tgtEl>
                                          <p:spTgt spid="2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/>
      <p:bldP spid="228" grpId="1"/>
      <p:bldP spid="229" grpId="0"/>
      <p:bldP spid="229" grpId="1"/>
      <p:bldP spid="230" grpId="0"/>
      <p:bldP spid="230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144" y="-45114"/>
            <a:ext cx="91910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kern="0" dirty="0">
                <a:solidFill>
                  <a:srgbClr val="000000"/>
                </a:solidFill>
                <a:latin typeface="Trebuchet MS"/>
              </a:rPr>
              <a:t>More Detailed Architecture</a:t>
            </a:r>
            <a:endParaRPr lang="en-US" sz="3200" b="1" dirty="0">
              <a:solidFill>
                <a:srgbClr val="B90000"/>
              </a:solidFill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6548437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44</a:t>
            </a:fld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114300" y="627622"/>
            <a:ext cx="8915400" cy="6266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solidFill>
                <a:srgbClr val="000090"/>
              </a:solidFill>
              <a:latin typeface="Calibri"/>
              <a:cs typeface="Calibri"/>
            </a:endParaRPr>
          </a:p>
        </p:txBody>
      </p:sp>
      <p:sp>
        <p:nvSpPr>
          <p:cNvPr id="2" name="Can 1"/>
          <p:cNvSpPr/>
          <p:nvPr/>
        </p:nvSpPr>
        <p:spPr>
          <a:xfrm>
            <a:off x="344714" y="5724072"/>
            <a:ext cx="8545286" cy="1133928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>
            <a:off x="34268" y="537063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107" idx="1"/>
          </p:cNvCxnSpPr>
          <p:nvPr/>
        </p:nvCxnSpPr>
        <p:spPr>
          <a:xfrm flipH="1" flipV="1">
            <a:off x="4604207" y="2802128"/>
            <a:ext cx="1284324" cy="1036553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3319883" y="2802128"/>
            <a:ext cx="1284324" cy="858311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107" idx="1"/>
            <a:endCxn id="135" idx="3"/>
          </p:cNvCxnSpPr>
          <p:nvPr/>
        </p:nvCxnSpPr>
        <p:spPr>
          <a:xfrm flipH="1">
            <a:off x="3306810" y="3838681"/>
            <a:ext cx="2581721" cy="0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319883" y="3539785"/>
            <a:ext cx="199958" cy="430887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5692343" y="3579178"/>
            <a:ext cx="199958" cy="430887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 rot="18878460">
            <a:off x="4613768" y="2889443"/>
            <a:ext cx="429768" cy="201168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 rot="18846837">
            <a:off x="4249314" y="2755221"/>
            <a:ext cx="201168" cy="429768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 rot="18878460">
            <a:off x="5454858" y="3396337"/>
            <a:ext cx="429768" cy="201168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 rot="18846837">
            <a:off x="3415487" y="3193825"/>
            <a:ext cx="201168" cy="429768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/>
          <p:cNvGrpSpPr/>
          <p:nvPr/>
        </p:nvGrpSpPr>
        <p:grpSpPr>
          <a:xfrm>
            <a:off x="5888531" y="2865474"/>
            <a:ext cx="2176272" cy="2293863"/>
            <a:chOff x="5888531" y="2766697"/>
            <a:chExt cx="2176272" cy="2293863"/>
          </a:xfrm>
        </p:grpSpPr>
        <p:sp>
          <p:nvSpPr>
            <p:cNvPr id="106" name="TextBox 105"/>
            <p:cNvSpPr txBox="1"/>
            <p:nvPr/>
          </p:nvSpPr>
          <p:spPr>
            <a:xfrm>
              <a:off x="6207257" y="4691228"/>
              <a:ext cx="1577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3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888531" y="2766697"/>
              <a:ext cx="2176272" cy="19464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1130538" y="2865474"/>
            <a:ext cx="2176272" cy="2283827"/>
            <a:chOff x="5888531" y="2766697"/>
            <a:chExt cx="2176272" cy="2283827"/>
          </a:xfrm>
        </p:grpSpPr>
        <p:sp>
          <p:nvSpPr>
            <p:cNvPr id="134" name="TextBox 133"/>
            <p:cNvSpPr txBox="1"/>
            <p:nvPr/>
          </p:nvSpPr>
          <p:spPr>
            <a:xfrm>
              <a:off x="5983590" y="4681192"/>
              <a:ext cx="2041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1</a:t>
              </a: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5888531" y="2766697"/>
              <a:ext cx="2176272" cy="19464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3500730" y="558942"/>
            <a:ext cx="2176272" cy="2215671"/>
            <a:chOff x="5888531" y="2497439"/>
            <a:chExt cx="2176272" cy="2215671"/>
          </a:xfrm>
        </p:grpSpPr>
        <p:sp>
          <p:nvSpPr>
            <p:cNvPr id="149" name="TextBox 148"/>
            <p:cNvSpPr txBox="1"/>
            <p:nvPr/>
          </p:nvSpPr>
          <p:spPr>
            <a:xfrm>
              <a:off x="6133642" y="2497439"/>
              <a:ext cx="1728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2</a:t>
              </a: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5888531" y="2900923"/>
              <a:ext cx="2176272" cy="18121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cxnSp>
        <p:nvCxnSpPr>
          <p:cNvPr id="6" name="Straight Arrow Connector 5"/>
          <p:cNvCxnSpPr/>
          <p:nvPr/>
        </p:nvCxnSpPr>
        <p:spPr>
          <a:xfrm>
            <a:off x="2215017" y="5177480"/>
            <a:ext cx="0" cy="518561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stCxn id="106" idx="2"/>
          </p:cNvCxnSpPr>
          <p:nvPr/>
        </p:nvCxnSpPr>
        <p:spPr>
          <a:xfrm>
            <a:off x="6996070" y="5159337"/>
            <a:ext cx="0" cy="518561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4606093" y="2766454"/>
            <a:ext cx="0" cy="292194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66238" y="595767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Distributed Storage (E.g., Distr. File System, Distr. Database)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25221" y="6080299"/>
            <a:ext cx="827803" cy="468137"/>
            <a:chOff x="322411" y="5995422"/>
            <a:chExt cx="875232" cy="681148"/>
          </a:xfrm>
        </p:grpSpPr>
        <p:sp>
          <p:nvSpPr>
            <p:cNvPr id="173" name="Multidocument 172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2411" y="5995422"/>
              <a:ext cx="875232" cy="452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1</a:t>
              </a:r>
              <a:endParaRPr lang="en-US" sz="1700" dirty="0"/>
            </a:p>
          </p:txBody>
        </p:sp>
      </p:grpSp>
      <p:grpSp>
        <p:nvGrpSpPr>
          <p:cNvPr id="184" name="Group 183"/>
          <p:cNvGrpSpPr/>
          <p:nvPr/>
        </p:nvGrpSpPr>
        <p:grpSpPr>
          <a:xfrm>
            <a:off x="1104990" y="6071516"/>
            <a:ext cx="827803" cy="468137"/>
            <a:chOff x="322411" y="5995422"/>
            <a:chExt cx="875232" cy="681148"/>
          </a:xfrm>
        </p:grpSpPr>
        <p:sp>
          <p:nvSpPr>
            <p:cNvPr id="185" name="Multidocument 184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2</a:t>
              </a:r>
              <a:endParaRPr lang="en-US" sz="1700" dirty="0"/>
            </a:p>
          </p:txBody>
        </p:sp>
      </p:grpSp>
      <p:grpSp>
        <p:nvGrpSpPr>
          <p:cNvPr id="187" name="Group 186"/>
          <p:cNvGrpSpPr/>
          <p:nvPr/>
        </p:nvGrpSpPr>
        <p:grpSpPr>
          <a:xfrm>
            <a:off x="1980954" y="6080299"/>
            <a:ext cx="827803" cy="468137"/>
            <a:chOff x="322411" y="5995422"/>
            <a:chExt cx="875232" cy="681148"/>
          </a:xfrm>
        </p:grpSpPr>
        <p:sp>
          <p:nvSpPr>
            <p:cNvPr id="188" name="Multidocument 187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3</a:t>
              </a:r>
              <a:endParaRPr lang="en-US" sz="1700" dirty="0"/>
            </a:p>
          </p:txBody>
        </p:sp>
      </p:grpSp>
      <p:sp>
        <p:nvSpPr>
          <p:cNvPr id="170" name="Can 169"/>
          <p:cNvSpPr/>
          <p:nvPr/>
        </p:nvSpPr>
        <p:spPr>
          <a:xfrm>
            <a:off x="1189312" y="3915275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00" name="Group 199"/>
          <p:cNvGrpSpPr/>
          <p:nvPr/>
        </p:nvGrpSpPr>
        <p:grpSpPr>
          <a:xfrm>
            <a:off x="2106680" y="4060871"/>
            <a:ext cx="905037" cy="338554"/>
            <a:chOff x="2015965" y="4314873"/>
            <a:chExt cx="905037" cy="338554"/>
          </a:xfrm>
        </p:grpSpPr>
        <p:sp>
          <p:nvSpPr>
            <p:cNvPr id="201" name="Rectangle 200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2</a:t>
              </a:r>
              <a:endParaRPr lang="en-US" sz="1600" dirty="0"/>
            </a:p>
          </p:txBody>
        </p:sp>
      </p:grpSp>
      <p:grpSp>
        <p:nvGrpSpPr>
          <p:cNvPr id="203" name="Group 202"/>
          <p:cNvGrpSpPr/>
          <p:nvPr/>
        </p:nvGrpSpPr>
        <p:grpSpPr>
          <a:xfrm>
            <a:off x="2095793" y="4358415"/>
            <a:ext cx="905037" cy="338554"/>
            <a:chOff x="2015965" y="4314873"/>
            <a:chExt cx="905037" cy="338554"/>
          </a:xfrm>
        </p:grpSpPr>
        <p:sp>
          <p:nvSpPr>
            <p:cNvPr id="204" name="Rectangle 203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3</a:t>
              </a:r>
              <a:endParaRPr lang="en-US" sz="1600" dirty="0"/>
            </a:p>
          </p:txBody>
        </p:sp>
      </p:grpSp>
      <p:sp>
        <p:nvSpPr>
          <p:cNvPr id="207" name="Can 206"/>
          <p:cNvSpPr/>
          <p:nvPr/>
        </p:nvSpPr>
        <p:spPr>
          <a:xfrm>
            <a:off x="3563073" y="1928253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09" name="Group 208"/>
          <p:cNvGrpSpPr/>
          <p:nvPr/>
        </p:nvGrpSpPr>
        <p:grpSpPr>
          <a:xfrm>
            <a:off x="4480441" y="2073849"/>
            <a:ext cx="905037" cy="338554"/>
            <a:chOff x="2015965" y="4314873"/>
            <a:chExt cx="905037" cy="338554"/>
          </a:xfrm>
        </p:grpSpPr>
        <p:sp>
          <p:nvSpPr>
            <p:cNvPr id="213" name="Rectangle 212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4469554" y="2371393"/>
            <a:ext cx="905037" cy="338554"/>
            <a:chOff x="2015965" y="4314873"/>
            <a:chExt cx="905037" cy="338554"/>
          </a:xfrm>
        </p:grpSpPr>
        <p:sp>
          <p:nvSpPr>
            <p:cNvPr id="211" name="Rectangle 210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3</a:t>
              </a:r>
              <a:endParaRPr lang="en-US" sz="1600" dirty="0"/>
            </a:p>
          </p:txBody>
        </p:sp>
      </p:grpSp>
      <p:sp>
        <p:nvSpPr>
          <p:cNvPr id="218" name="Can 217"/>
          <p:cNvSpPr/>
          <p:nvPr/>
        </p:nvSpPr>
        <p:spPr>
          <a:xfrm>
            <a:off x="5947977" y="3923703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20" name="Group 219"/>
          <p:cNvGrpSpPr/>
          <p:nvPr/>
        </p:nvGrpSpPr>
        <p:grpSpPr>
          <a:xfrm>
            <a:off x="6884301" y="4069299"/>
            <a:ext cx="905037" cy="338554"/>
            <a:chOff x="2015965" y="4314873"/>
            <a:chExt cx="905037" cy="338554"/>
          </a:xfrm>
        </p:grpSpPr>
        <p:sp>
          <p:nvSpPr>
            <p:cNvPr id="224" name="Rectangle 223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</p:grpSp>
      <p:grpSp>
        <p:nvGrpSpPr>
          <p:cNvPr id="221" name="Group 220"/>
          <p:cNvGrpSpPr/>
          <p:nvPr/>
        </p:nvGrpSpPr>
        <p:grpSpPr>
          <a:xfrm>
            <a:off x="6873414" y="4366843"/>
            <a:ext cx="905037" cy="338554"/>
            <a:chOff x="2015965" y="4314873"/>
            <a:chExt cx="905037" cy="338554"/>
          </a:xfrm>
        </p:grpSpPr>
        <p:sp>
          <p:nvSpPr>
            <p:cNvPr id="222" name="Rectangle 221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2</a:t>
              </a:r>
              <a:endParaRPr lang="en-US" sz="1600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70792" y="669418"/>
            <a:ext cx="29050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Shuffle Stage</a:t>
            </a:r>
          </a:p>
          <a:p>
            <a:pPr algn="ctr"/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(1</a:t>
            </a:r>
            <a:r>
              <a:rPr lang="en-US" sz="3000" baseline="30000" dirty="0">
                <a:solidFill>
                  <a:srgbClr val="FF0000"/>
                </a:solidFill>
                <a:latin typeface="Trebuchet MS"/>
                <a:cs typeface="Trebuchet MS"/>
              </a:rPr>
              <a:t>st</a:t>
            </a:r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Trebuchet MS"/>
                <a:cs typeface="Trebuchet MS"/>
              </a:rPr>
              <a:t>Superstep</a:t>
            </a:r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)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3370387" y="4297131"/>
            <a:ext cx="2561710" cy="1302542"/>
            <a:chOff x="5909389" y="645921"/>
            <a:chExt cx="2561710" cy="1302542"/>
          </a:xfrm>
        </p:grpSpPr>
        <p:sp>
          <p:nvSpPr>
            <p:cNvPr id="74" name="TextBox 73"/>
            <p:cNvSpPr txBox="1"/>
            <p:nvPr/>
          </p:nvSpPr>
          <p:spPr>
            <a:xfrm>
              <a:off x="6242242" y="1579131"/>
              <a:ext cx="1605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Master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960493" y="730443"/>
              <a:ext cx="2385221" cy="90311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909389" y="645921"/>
              <a:ext cx="2561710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coordinates: workers</a:t>
              </a:r>
            </a:p>
            <a:p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for progress, fault recovery, </a:t>
              </a:r>
              <a:r>
                <a:rPr lang="en-US" sz="1900" dirty="0" err="1">
                  <a:solidFill>
                    <a:srgbClr val="990000"/>
                  </a:solidFill>
                  <a:latin typeface="Chalkboard"/>
                  <a:cs typeface="Chalkboard"/>
                </a:rPr>
                <a:t>synchrn</a:t>
              </a:r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. 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940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91"/>
    </mc:Choice>
    <mc:Fallback xmlns="">
      <p:transition xmlns:p14="http://schemas.microsoft.com/office/powerpoint/2010/main" spd="slow" advTm="520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399 0.00532 " pathEditMode="relative" ptsTypes="AA">
                                      <p:cBhvr>
                                        <p:cTn id="20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8038 -0.0713 " pathEditMode="relative" ptsTypes="AA">
                                      <p:cBhvr>
                                        <p:cTn id="24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94 -0.00741 L -0.11267 0.10694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87" y="571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726 0.09352 " pathEditMode="relative" ptsTypes="AA">
                                      <p:cBhvr>
                                        <p:cTn id="32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55 -0.00046 L -0.23316 -0.00023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89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22222E-6 L -0.1 -0.1196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-5995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6" grpId="1" animBg="1"/>
      <p:bldP spid="76" grpId="2" animBg="1"/>
      <p:bldP spid="79" grpId="0" animBg="1"/>
      <p:bldP spid="79" grpId="1" animBg="1"/>
      <p:bldP spid="79" grpId="2" animBg="1"/>
      <p:bldP spid="80" grpId="0" animBg="1"/>
      <p:bldP spid="80" grpId="1" animBg="1"/>
      <p:bldP spid="80" grpId="2" animBg="1"/>
      <p:bldP spid="83" grpId="0" animBg="1"/>
      <p:bldP spid="83" grpId="1" animBg="1"/>
      <p:bldP spid="83" grpId="2" animBg="1"/>
      <p:bldP spid="88" grpId="0" animBg="1"/>
      <p:bldP spid="88" grpId="1" animBg="1"/>
      <p:bldP spid="88" grpId="2" animBg="1"/>
      <p:bldP spid="90" grpId="0" animBg="1"/>
      <p:bldP spid="90" grpId="1" animBg="1"/>
      <p:bldP spid="90" grpId="2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144" y="-45114"/>
            <a:ext cx="91910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kern="0" dirty="0">
                <a:solidFill>
                  <a:srgbClr val="000000"/>
                </a:solidFill>
                <a:latin typeface="Trebuchet MS"/>
              </a:rPr>
              <a:t>More Detailed Architecture</a:t>
            </a:r>
            <a:endParaRPr lang="en-US" sz="3200" b="1" dirty="0">
              <a:solidFill>
                <a:srgbClr val="B90000"/>
              </a:solidFill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6548437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45</a:t>
            </a:fld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114300" y="627622"/>
            <a:ext cx="8915400" cy="6266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solidFill>
                <a:srgbClr val="000090"/>
              </a:solidFill>
              <a:latin typeface="Calibri"/>
              <a:cs typeface="Calibri"/>
            </a:endParaRPr>
          </a:p>
        </p:txBody>
      </p:sp>
      <p:sp>
        <p:nvSpPr>
          <p:cNvPr id="2" name="Can 1"/>
          <p:cNvSpPr/>
          <p:nvPr/>
        </p:nvSpPr>
        <p:spPr>
          <a:xfrm>
            <a:off x="344714" y="5724072"/>
            <a:ext cx="8545286" cy="1133928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>
            <a:off x="34268" y="537063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107" idx="1"/>
          </p:cNvCxnSpPr>
          <p:nvPr/>
        </p:nvCxnSpPr>
        <p:spPr>
          <a:xfrm flipH="1" flipV="1">
            <a:off x="4604207" y="2802128"/>
            <a:ext cx="1284324" cy="1036553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3319883" y="2802128"/>
            <a:ext cx="1284324" cy="858311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107" idx="1"/>
            <a:endCxn id="135" idx="3"/>
          </p:cNvCxnSpPr>
          <p:nvPr/>
        </p:nvCxnSpPr>
        <p:spPr>
          <a:xfrm flipH="1">
            <a:off x="3306810" y="3838681"/>
            <a:ext cx="2581721" cy="0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/>
          <p:cNvGrpSpPr/>
          <p:nvPr/>
        </p:nvGrpSpPr>
        <p:grpSpPr>
          <a:xfrm>
            <a:off x="5888531" y="2865474"/>
            <a:ext cx="2176272" cy="2293863"/>
            <a:chOff x="5888531" y="2766697"/>
            <a:chExt cx="2176272" cy="2293863"/>
          </a:xfrm>
        </p:grpSpPr>
        <p:sp>
          <p:nvSpPr>
            <p:cNvPr id="106" name="TextBox 105"/>
            <p:cNvSpPr txBox="1"/>
            <p:nvPr/>
          </p:nvSpPr>
          <p:spPr>
            <a:xfrm>
              <a:off x="6207257" y="4691228"/>
              <a:ext cx="1577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3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888531" y="2766697"/>
              <a:ext cx="2176272" cy="19464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1130538" y="2865474"/>
            <a:ext cx="2176272" cy="2283827"/>
            <a:chOff x="5888531" y="2766697"/>
            <a:chExt cx="2176272" cy="2283827"/>
          </a:xfrm>
        </p:grpSpPr>
        <p:sp>
          <p:nvSpPr>
            <p:cNvPr id="134" name="TextBox 133"/>
            <p:cNvSpPr txBox="1"/>
            <p:nvPr/>
          </p:nvSpPr>
          <p:spPr>
            <a:xfrm>
              <a:off x="5983590" y="4681192"/>
              <a:ext cx="2041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1</a:t>
              </a: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5888531" y="2766697"/>
              <a:ext cx="2176272" cy="19464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3500730" y="558942"/>
            <a:ext cx="2176272" cy="2215671"/>
            <a:chOff x="5888531" y="2497439"/>
            <a:chExt cx="2176272" cy="2215671"/>
          </a:xfrm>
        </p:grpSpPr>
        <p:sp>
          <p:nvSpPr>
            <p:cNvPr id="149" name="TextBox 148"/>
            <p:cNvSpPr txBox="1"/>
            <p:nvPr/>
          </p:nvSpPr>
          <p:spPr>
            <a:xfrm>
              <a:off x="6133642" y="2497439"/>
              <a:ext cx="1728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2</a:t>
              </a: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5888531" y="2900923"/>
              <a:ext cx="2176272" cy="18121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cxnSp>
        <p:nvCxnSpPr>
          <p:cNvPr id="6" name="Straight Arrow Connector 5"/>
          <p:cNvCxnSpPr/>
          <p:nvPr/>
        </p:nvCxnSpPr>
        <p:spPr>
          <a:xfrm>
            <a:off x="2215017" y="5177480"/>
            <a:ext cx="0" cy="518561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stCxn id="106" idx="2"/>
          </p:cNvCxnSpPr>
          <p:nvPr/>
        </p:nvCxnSpPr>
        <p:spPr>
          <a:xfrm>
            <a:off x="6996070" y="5159337"/>
            <a:ext cx="0" cy="518561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4606093" y="2766454"/>
            <a:ext cx="0" cy="292194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690810" y="6071418"/>
            <a:ext cx="38030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Distributed Storage (E.g., Distr. File System, Distr. Database)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25221" y="6080299"/>
            <a:ext cx="827803" cy="468137"/>
            <a:chOff x="322411" y="5995422"/>
            <a:chExt cx="875232" cy="681148"/>
          </a:xfrm>
        </p:grpSpPr>
        <p:sp>
          <p:nvSpPr>
            <p:cNvPr id="173" name="Multidocument 172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2411" y="5995422"/>
              <a:ext cx="875232" cy="452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1</a:t>
              </a:r>
              <a:endParaRPr lang="en-US" sz="1700" dirty="0"/>
            </a:p>
          </p:txBody>
        </p:sp>
      </p:grpSp>
      <p:grpSp>
        <p:nvGrpSpPr>
          <p:cNvPr id="184" name="Group 183"/>
          <p:cNvGrpSpPr/>
          <p:nvPr/>
        </p:nvGrpSpPr>
        <p:grpSpPr>
          <a:xfrm>
            <a:off x="1104990" y="6071516"/>
            <a:ext cx="827803" cy="468137"/>
            <a:chOff x="322411" y="5995422"/>
            <a:chExt cx="875232" cy="681148"/>
          </a:xfrm>
        </p:grpSpPr>
        <p:sp>
          <p:nvSpPr>
            <p:cNvPr id="185" name="Multidocument 184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2</a:t>
              </a:r>
              <a:endParaRPr lang="en-US" sz="1700" dirty="0"/>
            </a:p>
          </p:txBody>
        </p:sp>
      </p:grpSp>
      <p:grpSp>
        <p:nvGrpSpPr>
          <p:cNvPr id="187" name="Group 186"/>
          <p:cNvGrpSpPr/>
          <p:nvPr/>
        </p:nvGrpSpPr>
        <p:grpSpPr>
          <a:xfrm>
            <a:off x="1980954" y="6080299"/>
            <a:ext cx="827803" cy="468137"/>
            <a:chOff x="322411" y="5995422"/>
            <a:chExt cx="875232" cy="681148"/>
          </a:xfrm>
        </p:grpSpPr>
        <p:sp>
          <p:nvSpPr>
            <p:cNvPr id="188" name="Multidocument 187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3</a:t>
              </a:r>
              <a:endParaRPr lang="en-US" sz="1700" dirty="0"/>
            </a:p>
          </p:txBody>
        </p:sp>
      </p:grpSp>
      <p:sp>
        <p:nvSpPr>
          <p:cNvPr id="170" name="Can 169"/>
          <p:cNvSpPr/>
          <p:nvPr/>
        </p:nvSpPr>
        <p:spPr>
          <a:xfrm>
            <a:off x="1207455" y="3933418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00" name="Group 199"/>
          <p:cNvGrpSpPr/>
          <p:nvPr/>
        </p:nvGrpSpPr>
        <p:grpSpPr>
          <a:xfrm>
            <a:off x="1297498" y="4060276"/>
            <a:ext cx="905037" cy="338554"/>
            <a:chOff x="2015965" y="4314873"/>
            <a:chExt cx="905037" cy="338554"/>
          </a:xfrm>
        </p:grpSpPr>
        <p:sp>
          <p:nvSpPr>
            <p:cNvPr id="201" name="Rectangle 200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</p:grpSp>
      <p:grpSp>
        <p:nvGrpSpPr>
          <p:cNvPr id="203" name="Group 202"/>
          <p:cNvGrpSpPr/>
          <p:nvPr/>
        </p:nvGrpSpPr>
        <p:grpSpPr>
          <a:xfrm>
            <a:off x="1297501" y="4358415"/>
            <a:ext cx="905037" cy="338554"/>
            <a:chOff x="2015965" y="4314873"/>
            <a:chExt cx="905037" cy="338554"/>
          </a:xfrm>
        </p:grpSpPr>
        <p:sp>
          <p:nvSpPr>
            <p:cNvPr id="204" name="Rectangle 203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</p:grpSp>
      <p:sp>
        <p:nvSpPr>
          <p:cNvPr id="207" name="Can 206"/>
          <p:cNvSpPr/>
          <p:nvPr/>
        </p:nvSpPr>
        <p:spPr>
          <a:xfrm>
            <a:off x="3581216" y="1928253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09" name="Group 208"/>
          <p:cNvGrpSpPr/>
          <p:nvPr/>
        </p:nvGrpSpPr>
        <p:grpSpPr>
          <a:xfrm>
            <a:off x="3772864" y="2073849"/>
            <a:ext cx="905037" cy="338554"/>
            <a:chOff x="2015965" y="4314873"/>
            <a:chExt cx="905037" cy="338554"/>
          </a:xfrm>
        </p:grpSpPr>
        <p:sp>
          <p:nvSpPr>
            <p:cNvPr id="213" name="Rectangle 212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2</a:t>
              </a:r>
              <a:endParaRPr lang="en-US" sz="1600" dirty="0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3761977" y="2371393"/>
            <a:ext cx="905037" cy="338554"/>
            <a:chOff x="2015965" y="4314873"/>
            <a:chExt cx="905037" cy="338554"/>
          </a:xfrm>
        </p:grpSpPr>
        <p:sp>
          <p:nvSpPr>
            <p:cNvPr id="211" name="Rectangle 210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2</a:t>
              </a:r>
              <a:endParaRPr lang="en-US" sz="1600" dirty="0"/>
            </a:p>
          </p:txBody>
        </p:sp>
      </p:grpSp>
      <p:grpSp>
        <p:nvGrpSpPr>
          <p:cNvPr id="217" name="Group 216"/>
          <p:cNvGrpSpPr/>
          <p:nvPr/>
        </p:nvGrpSpPr>
        <p:grpSpPr>
          <a:xfrm>
            <a:off x="5947977" y="3923703"/>
            <a:ext cx="2041002" cy="828408"/>
            <a:chOff x="1170356" y="3915275"/>
            <a:chExt cx="2041002" cy="828408"/>
          </a:xfrm>
        </p:grpSpPr>
        <p:sp>
          <p:nvSpPr>
            <p:cNvPr id="218" name="Can 217"/>
            <p:cNvSpPr/>
            <p:nvPr/>
          </p:nvSpPr>
          <p:spPr>
            <a:xfrm>
              <a:off x="1170356" y="3915275"/>
              <a:ext cx="2041002" cy="828408"/>
            </a:xfrm>
            <a:prstGeom prst="can">
              <a:avLst>
                <a:gd name="adj" fmla="val 22959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220" name="Group 219"/>
            <p:cNvGrpSpPr/>
            <p:nvPr/>
          </p:nvGrpSpPr>
          <p:grpSpPr>
            <a:xfrm>
              <a:off x="1235816" y="4060871"/>
              <a:ext cx="905037" cy="338554"/>
              <a:chOff x="1145101" y="4314873"/>
              <a:chExt cx="905037" cy="338554"/>
            </a:xfrm>
          </p:grpSpPr>
          <p:sp>
            <p:nvSpPr>
              <p:cNvPr id="224" name="Rectangle 223"/>
              <p:cNvSpPr/>
              <p:nvPr/>
            </p:nvSpPr>
            <p:spPr>
              <a:xfrm>
                <a:off x="1199527" y="4401021"/>
                <a:ext cx="814324" cy="234263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5" name="Rectangle 224"/>
              <p:cNvSpPr/>
              <p:nvPr/>
            </p:nvSpPr>
            <p:spPr>
              <a:xfrm>
                <a:off x="1145101" y="4314873"/>
                <a:ext cx="90503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/>
                  <a:t>int-data</a:t>
                </a:r>
                <a:r>
                  <a:rPr lang="en-US" sz="1600" baseline="-25000" dirty="0"/>
                  <a:t>3</a:t>
                </a:r>
                <a:endParaRPr lang="en-US" sz="1600" dirty="0"/>
              </a:p>
            </p:txBody>
          </p:sp>
        </p:grpSp>
        <p:grpSp>
          <p:nvGrpSpPr>
            <p:cNvPr id="221" name="Group 220"/>
            <p:cNvGrpSpPr/>
            <p:nvPr/>
          </p:nvGrpSpPr>
          <p:grpSpPr>
            <a:xfrm>
              <a:off x="1261215" y="4358415"/>
              <a:ext cx="905037" cy="338554"/>
              <a:chOff x="1181387" y="4314873"/>
              <a:chExt cx="905037" cy="338554"/>
            </a:xfrm>
          </p:grpSpPr>
          <p:sp>
            <p:nvSpPr>
              <p:cNvPr id="222" name="Rectangle 221"/>
              <p:cNvSpPr/>
              <p:nvPr/>
            </p:nvSpPr>
            <p:spPr>
              <a:xfrm>
                <a:off x="1181387" y="4401021"/>
                <a:ext cx="814324" cy="234263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3" name="Rectangle 222"/>
              <p:cNvSpPr/>
              <p:nvPr/>
            </p:nvSpPr>
            <p:spPr>
              <a:xfrm>
                <a:off x="1181387" y="4314873"/>
                <a:ext cx="90503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/>
                  <a:t>int-data</a:t>
                </a:r>
                <a:r>
                  <a:rPr lang="en-US" sz="1600" baseline="-25000" dirty="0"/>
                  <a:t>3</a:t>
                </a:r>
                <a:endParaRPr lang="en-US" sz="1600" dirty="0"/>
              </a:p>
            </p:txBody>
          </p:sp>
        </p:grpSp>
      </p:grpSp>
      <p:sp>
        <p:nvSpPr>
          <p:cNvPr id="228" name="TextBox 227"/>
          <p:cNvSpPr txBox="1"/>
          <p:nvPr/>
        </p:nvSpPr>
        <p:spPr>
          <a:xfrm>
            <a:off x="1463315" y="3098458"/>
            <a:ext cx="143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990000"/>
                </a:solidFill>
                <a:latin typeface="Chalkboard"/>
                <a:cs typeface="Chalkboard"/>
              </a:rPr>
              <a:t>reduce()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933372" y="1182572"/>
            <a:ext cx="1459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990000"/>
                </a:solidFill>
                <a:latin typeface="Chalkboard"/>
                <a:cs typeface="Chalkboard"/>
              </a:rPr>
              <a:t>reduce()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178205" y="3118007"/>
            <a:ext cx="1611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990000"/>
                </a:solidFill>
                <a:latin typeface="Chalkboard"/>
                <a:cs typeface="Chalkboard"/>
              </a:rPr>
              <a:t>reduce()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6326405" y="6071418"/>
            <a:ext cx="669665" cy="468137"/>
            <a:chOff x="322411" y="5995422"/>
            <a:chExt cx="875232" cy="681148"/>
          </a:xfrm>
        </p:grpSpPr>
        <p:sp>
          <p:nvSpPr>
            <p:cNvPr id="75" name="Multidocument 74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accent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Out</a:t>
              </a:r>
              <a:r>
                <a:rPr lang="en-US" sz="1700" baseline="-25000" dirty="0"/>
                <a:t>1</a:t>
              </a:r>
              <a:endParaRPr lang="en-US" sz="1700" dirty="0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7119741" y="6071516"/>
            <a:ext cx="669665" cy="468137"/>
            <a:chOff x="322411" y="5995422"/>
            <a:chExt cx="875232" cy="681148"/>
          </a:xfrm>
        </p:grpSpPr>
        <p:sp>
          <p:nvSpPr>
            <p:cNvPr id="82" name="Multidocument 81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accent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Out</a:t>
              </a:r>
              <a:r>
                <a:rPr lang="en-US" sz="1700" baseline="-25000" dirty="0"/>
                <a:t>2</a:t>
              </a:r>
              <a:endParaRPr lang="en-US" sz="1700" dirty="0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7988979" y="5998749"/>
            <a:ext cx="669665" cy="468137"/>
            <a:chOff x="322411" y="5995422"/>
            <a:chExt cx="875232" cy="681148"/>
          </a:xfrm>
        </p:grpSpPr>
        <p:sp>
          <p:nvSpPr>
            <p:cNvPr id="86" name="Multidocument 85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accent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Out</a:t>
              </a:r>
              <a:r>
                <a:rPr lang="en-US" sz="1700" baseline="-25000" dirty="0"/>
                <a:t>3</a:t>
              </a:r>
              <a:endParaRPr lang="en-US" sz="1700" dirty="0"/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270792" y="669418"/>
            <a:ext cx="29050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Reduce Stage</a:t>
            </a:r>
          </a:p>
          <a:p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(2</a:t>
            </a:r>
            <a:r>
              <a:rPr lang="en-US" sz="3000" baseline="30000" dirty="0">
                <a:solidFill>
                  <a:srgbClr val="FF0000"/>
                </a:solidFill>
                <a:latin typeface="Trebuchet MS"/>
                <a:cs typeface="Trebuchet MS"/>
              </a:rPr>
              <a:t>nd</a:t>
            </a:r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Trebuchet MS"/>
                <a:cs typeface="Trebuchet MS"/>
              </a:rPr>
              <a:t>superstep</a:t>
            </a:r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)</a:t>
            </a:r>
          </a:p>
        </p:txBody>
      </p:sp>
      <p:grpSp>
        <p:nvGrpSpPr>
          <p:cNvPr id="96" name="Group 95"/>
          <p:cNvGrpSpPr/>
          <p:nvPr/>
        </p:nvGrpSpPr>
        <p:grpSpPr>
          <a:xfrm>
            <a:off x="3370387" y="4297131"/>
            <a:ext cx="2561710" cy="1302542"/>
            <a:chOff x="5909389" y="645921"/>
            <a:chExt cx="2561710" cy="1302542"/>
          </a:xfrm>
        </p:grpSpPr>
        <p:sp>
          <p:nvSpPr>
            <p:cNvPr id="97" name="TextBox 96"/>
            <p:cNvSpPr txBox="1"/>
            <p:nvPr/>
          </p:nvSpPr>
          <p:spPr>
            <a:xfrm>
              <a:off x="6242242" y="1579131"/>
              <a:ext cx="1605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Master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5960493" y="730443"/>
              <a:ext cx="2385221" cy="90311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909389" y="645921"/>
              <a:ext cx="2561710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coordinates: workers</a:t>
              </a:r>
            </a:p>
            <a:p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for progress, fault recovery, </a:t>
              </a:r>
              <a:r>
                <a:rPr lang="en-US" sz="1900" dirty="0" err="1">
                  <a:solidFill>
                    <a:srgbClr val="990000"/>
                  </a:solidFill>
                  <a:latin typeface="Chalkboard"/>
                  <a:cs typeface="Chalkboard"/>
                </a:rPr>
                <a:t>synchrn</a:t>
              </a:r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. 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2215538" y="4060871"/>
            <a:ext cx="905037" cy="338554"/>
            <a:chOff x="2015965" y="4314873"/>
            <a:chExt cx="905037" cy="338554"/>
          </a:xfrm>
        </p:grpSpPr>
        <p:sp>
          <p:nvSpPr>
            <p:cNvPr id="101" name="Rectangle 100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2</a:t>
              </a:r>
              <a:endParaRPr lang="en-US" sz="1600" dirty="0"/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2204651" y="4358415"/>
            <a:ext cx="905037" cy="338554"/>
            <a:chOff x="2015965" y="4314873"/>
            <a:chExt cx="905037" cy="338554"/>
          </a:xfrm>
        </p:grpSpPr>
        <p:sp>
          <p:nvSpPr>
            <p:cNvPr id="104" name="Rectangle 103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3</a:t>
              </a:r>
              <a:endParaRPr lang="en-US" sz="1600" dirty="0"/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4680014" y="2073849"/>
            <a:ext cx="905037" cy="338554"/>
            <a:chOff x="2015965" y="4314873"/>
            <a:chExt cx="905037" cy="338554"/>
          </a:xfrm>
        </p:grpSpPr>
        <p:sp>
          <p:nvSpPr>
            <p:cNvPr id="110" name="Rectangle 109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669127" y="2371393"/>
            <a:ext cx="905037" cy="338554"/>
            <a:chOff x="2015965" y="4314873"/>
            <a:chExt cx="905037" cy="338554"/>
          </a:xfrm>
        </p:grpSpPr>
        <p:sp>
          <p:nvSpPr>
            <p:cNvPr id="113" name="Rectangle 112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3</a:t>
              </a:r>
              <a:endParaRPr lang="en-US" sz="1600" dirty="0"/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7120160" y="4069299"/>
            <a:ext cx="905037" cy="338554"/>
            <a:chOff x="2015965" y="4314873"/>
            <a:chExt cx="905037" cy="338554"/>
          </a:xfrm>
        </p:grpSpPr>
        <p:sp>
          <p:nvSpPr>
            <p:cNvPr id="116" name="Rectangle 115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7109273" y="4366843"/>
            <a:ext cx="905037" cy="338554"/>
            <a:chOff x="2015965" y="4314873"/>
            <a:chExt cx="905037" cy="338554"/>
          </a:xfrm>
        </p:grpSpPr>
        <p:sp>
          <p:nvSpPr>
            <p:cNvPr id="119" name="Rectangle 118"/>
            <p:cNvSpPr/>
            <p:nvPr/>
          </p:nvSpPr>
          <p:spPr>
            <a:xfrm>
              <a:off x="2034105" y="4401021"/>
              <a:ext cx="814324" cy="23426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2015965" y="4314873"/>
              <a:ext cx="9050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int-data</a:t>
              </a:r>
              <a:r>
                <a:rPr lang="en-US" sz="1600" baseline="-25000" dirty="0"/>
                <a:t>2</a:t>
              </a:r>
              <a:endParaRPr lang="en-US" sz="16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664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91"/>
    </mc:Choice>
    <mc:Fallback xmlns="">
      <p:transition xmlns:p14="http://schemas.microsoft.com/office/powerpoint/2010/main" spd="slow" advTm="520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 tmFilter="0, 0; .2, .5; .8, .5; 1, 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1000" autoRev="1" fill="hold"/>
                                        <p:tgtEl>
                                          <p:spTgt spid="2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 tmFilter="0, 0; .2, .5; .8, .5; 1, 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1000" autoRev="1" fill="hold"/>
                                        <p:tgtEl>
                                          <p:spTgt spid="2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000" tmFilter="0, 0; .2, .5; .8, .5; 1, 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1000" autoRev="1" fill="hold"/>
                                        <p:tgtEl>
                                          <p:spTgt spid="2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/>
      <p:bldP spid="228" grpId="1"/>
      <p:bldP spid="229" grpId="0"/>
      <p:bldP spid="229" grpId="1"/>
      <p:bldP spid="230" grpId="0"/>
      <p:bldP spid="230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144" y="-45114"/>
            <a:ext cx="91910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kern="0" dirty="0">
                <a:solidFill>
                  <a:srgbClr val="000000"/>
                </a:solidFill>
                <a:latin typeface="Trebuchet MS"/>
              </a:rPr>
              <a:t>More Detailed Architecture</a:t>
            </a:r>
            <a:endParaRPr lang="en-US" sz="3200" b="1" dirty="0">
              <a:solidFill>
                <a:srgbClr val="B90000"/>
              </a:solidFill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6548437"/>
            <a:ext cx="2133600" cy="365125"/>
          </a:xfrm>
        </p:spPr>
        <p:txBody>
          <a:bodyPr/>
          <a:lstStyle/>
          <a:p>
            <a:fld id="{9075C179-5504-0F4F-A25C-5707CD43B0A9}" type="slidenum">
              <a:rPr lang="en-US" smtClean="0"/>
              <a:t>46</a:t>
            </a:fld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114300" y="627622"/>
            <a:ext cx="8915400" cy="6266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solidFill>
                <a:srgbClr val="000090"/>
              </a:solidFill>
              <a:latin typeface="Calibri"/>
              <a:cs typeface="Calibri"/>
            </a:endParaRPr>
          </a:p>
        </p:txBody>
      </p:sp>
      <p:sp>
        <p:nvSpPr>
          <p:cNvPr id="2" name="Can 1"/>
          <p:cNvSpPr/>
          <p:nvPr/>
        </p:nvSpPr>
        <p:spPr>
          <a:xfrm>
            <a:off x="344714" y="5724072"/>
            <a:ext cx="8545286" cy="1133928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>
            <a:off x="34268" y="537063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107" idx="1"/>
          </p:cNvCxnSpPr>
          <p:nvPr/>
        </p:nvCxnSpPr>
        <p:spPr>
          <a:xfrm flipH="1" flipV="1">
            <a:off x="4604207" y="2802128"/>
            <a:ext cx="1284324" cy="1036553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3319883" y="2802128"/>
            <a:ext cx="1284324" cy="858311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107" idx="1"/>
            <a:endCxn id="135" idx="3"/>
          </p:cNvCxnSpPr>
          <p:nvPr/>
        </p:nvCxnSpPr>
        <p:spPr>
          <a:xfrm flipH="1">
            <a:off x="3306810" y="3838681"/>
            <a:ext cx="2581721" cy="0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/>
          <p:cNvGrpSpPr/>
          <p:nvPr/>
        </p:nvGrpSpPr>
        <p:grpSpPr>
          <a:xfrm>
            <a:off x="5888531" y="2865474"/>
            <a:ext cx="2176272" cy="2293863"/>
            <a:chOff x="5888531" y="2766697"/>
            <a:chExt cx="2176272" cy="2293863"/>
          </a:xfrm>
        </p:grpSpPr>
        <p:sp>
          <p:nvSpPr>
            <p:cNvPr id="106" name="TextBox 105"/>
            <p:cNvSpPr txBox="1"/>
            <p:nvPr/>
          </p:nvSpPr>
          <p:spPr>
            <a:xfrm>
              <a:off x="6207257" y="4691228"/>
              <a:ext cx="1577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3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888531" y="2766697"/>
              <a:ext cx="2176272" cy="19464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1130538" y="2865474"/>
            <a:ext cx="2176272" cy="2283827"/>
            <a:chOff x="5888531" y="2766697"/>
            <a:chExt cx="2176272" cy="2283827"/>
          </a:xfrm>
        </p:grpSpPr>
        <p:sp>
          <p:nvSpPr>
            <p:cNvPr id="134" name="TextBox 133"/>
            <p:cNvSpPr txBox="1"/>
            <p:nvPr/>
          </p:nvSpPr>
          <p:spPr>
            <a:xfrm>
              <a:off x="5983590" y="4681192"/>
              <a:ext cx="2041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1</a:t>
              </a: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5888531" y="2766697"/>
              <a:ext cx="2176272" cy="19464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3500730" y="558942"/>
            <a:ext cx="2176272" cy="2215671"/>
            <a:chOff x="5888531" y="2497439"/>
            <a:chExt cx="2176272" cy="2215671"/>
          </a:xfrm>
        </p:grpSpPr>
        <p:sp>
          <p:nvSpPr>
            <p:cNvPr id="149" name="TextBox 148"/>
            <p:cNvSpPr txBox="1"/>
            <p:nvPr/>
          </p:nvSpPr>
          <p:spPr>
            <a:xfrm>
              <a:off x="6133642" y="2497439"/>
              <a:ext cx="1728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Worker 2</a:t>
              </a: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5888531" y="2900923"/>
              <a:ext cx="2176272" cy="18121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</p:grpSp>
      <p:cxnSp>
        <p:nvCxnSpPr>
          <p:cNvPr id="6" name="Straight Arrow Connector 5"/>
          <p:cNvCxnSpPr/>
          <p:nvPr/>
        </p:nvCxnSpPr>
        <p:spPr>
          <a:xfrm>
            <a:off x="2215017" y="5177480"/>
            <a:ext cx="0" cy="518561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stCxn id="106" idx="2"/>
          </p:cNvCxnSpPr>
          <p:nvPr/>
        </p:nvCxnSpPr>
        <p:spPr>
          <a:xfrm>
            <a:off x="6996070" y="5159337"/>
            <a:ext cx="0" cy="518561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4606093" y="2766454"/>
            <a:ext cx="0" cy="292194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690810" y="6071418"/>
            <a:ext cx="38030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Distributed Storage (E.g., Distr. File System, Distr. Database)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25221" y="6080299"/>
            <a:ext cx="827803" cy="468137"/>
            <a:chOff x="322411" y="5995422"/>
            <a:chExt cx="875232" cy="681148"/>
          </a:xfrm>
        </p:grpSpPr>
        <p:sp>
          <p:nvSpPr>
            <p:cNvPr id="173" name="Multidocument 172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2411" y="5995422"/>
              <a:ext cx="875232" cy="452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1</a:t>
              </a:r>
              <a:endParaRPr lang="en-US" sz="1700" dirty="0"/>
            </a:p>
          </p:txBody>
        </p:sp>
      </p:grpSp>
      <p:grpSp>
        <p:nvGrpSpPr>
          <p:cNvPr id="184" name="Group 183"/>
          <p:cNvGrpSpPr/>
          <p:nvPr/>
        </p:nvGrpSpPr>
        <p:grpSpPr>
          <a:xfrm>
            <a:off x="1104990" y="6071516"/>
            <a:ext cx="827803" cy="468137"/>
            <a:chOff x="322411" y="5995422"/>
            <a:chExt cx="875232" cy="681148"/>
          </a:xfrm>
        </p:grpSpPr>
        <p:sp>
          <p:nvSpPr>
            <p:cNvPr id="185" name="Multidocument 184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2</a:t>
              </a:r>
              <a:endParaRPr lang="en-US" sz="1700" dirty="0"/>
            </a:p>
          </p:txBody>
        </p:sp>
      </p:grpSp>
      <p:grpSp>
        <p:nvGrpSpPr>
          <p:cNvPr id="187" name="Group 186"/>
          <p:cNvGrpSpPr/>
          <p:nvPr/>
        </p:nvGrpSpPr>
        <p:grpSpPr>
          <a:xfrm>
            <a:off x="1980954" y="6080299"/>
            <a:ext cx="827803" cy="468137"/>
            <a:chOff x="322411" y="5995422"/>
            <a:chExt cx="875232" cy="681148"/>
          </a:xfrm>
        </p:grpSpPr>
        <p:sp>
          <p:nvSpPr>
            <p:cNvPr id="188" name="Multidocument 187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Input</a:t>
              </a:r>
              <a:r>
                <a:rPr lang="en-US" sz="1700" baseline="-25000" dirty="0"/>
                <a:t>3</a:t>
              </a:r>
              <a:endParaRPr lang="en-US" sz="1700" dirty="0"/>
            </a:p>
          </p:txBody>
        </p:sp>
      </p:grpSp>
      <p:sp>
        <p:nvSpPr>
          <p:cNvPr id="170" name="Can 169"/>
          <p:cNvSpPr/>
          <p:nvPr/>
        </p:nvSpPr>
        <p:spPr>
          <a:xfrm>
            <a:off x="1207455" y="3933418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7" name="Can 206"/>
          <p:cNvSpPr/>
          <p:nvPr/>
        </p:nvSpPr>
        <p:spPr>
          <a:xfrm>
            <a:off x="3581216" y="1928253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8" name="Can 217"/>
          <p:cNvSpPr/>
          <p:nvPr/>
        </p:nvSpPr>
        <p:spPr>
          <a:xfrm>
            <a:off x="5947977" y="3923703"/>
            <a:ext cx="2041002" cy="828408"/>
          </a:xfrm>
          <a:prstGeom prst="can">
            <a:avLst>
              <a:gd name="adj" fmla="val 2295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6326405" y="6071418"/>
            <a:ext cx="669665" cy="468137"/>
            <a:chOff x="322411" y="5995422"/>
            <a:chExt cx="875232" cy="681148"/>
          </a:xfrm>
        </p:grpSpPr>
        <p:sp>
          <p:nvSpPr>
            <p:cNvPr id="75" name="Multidocument 74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accent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Out</a:t>
              </a:r>
              <a:r>
                <a:rPr lang="en-US" sz="1700" baseline="-25000" dirty="0"/>
                <a:t>1</a:t>
              </a:r>
              <a:endParaRPr lang="en-US" sz="1700" dirty="0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7119741" y="6071516"/>
            <a:ext cx="669665" cy="468137"/>
            <a:chOff x="322411" y="5995422"/>
            <a:chExt cx="875232" cy="681148"/>
          </a:xfrm>
        </p:grpSpPr>
        <p:sp>
          <p:nvSpPr>
            <p:cNvPr id="82" name="Multidocument 81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accent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Out</a:t>
              </a:r>
              <a:r>
                <a:rPr lang="en-US" sz="1700" baseline="-25000" dirty="0"/>
                <a:t>2</a:t>
              </a:r>
              <a:endParaRPr lang="en-US" sz="1700" dirty="0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7988979" y="5998749"/>
            <a:ext cx="669665" cy="468137"/>
            <a:chOff x="322411" y="5995422"/>
            <a:chExt cx="875232" cy="681148"/>
          </a:xfrm>
        </p:grpSpPr>
        <p:sp>
          <p:nvSpPr>
            <p:cNvPr id="86" name="Multidocument 85"/>
            <p:cNvSpPr/>
            <p:nvPr/>
          </p:nvSpPr>
          <p:spPr>
            <a:xfrm>
              <a:off x="374241" y="6008375"/>
              <a:ext cx="774440" cy="668195"/>
            </a:xfrm>
            <a:prstGeom prst="flowChartMultidocument">
              <a:avLst/>
            </a:prstGeom>
            <a:solidFill>
              <a:schemeClr val="accent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65306" tIns="32653" rIns="65306" bIns="32653"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322411" y="5995422"/>
              <a:ext cx="875232" cy="514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Out</a:t>
              </a:r>
              <a:r>
                <a:rPr lang="en-US" sz="1700" baseline="-25000" dirty="0"/>
                <a:t>3</a:t>
              </a:r>
              <a:endParaRPr lang="en-US" sz="1700" dirty="0"/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270792" y="669418"/>
            <a:ext cx="29050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FF0000"/>
                </a:solidFill>
                <a:latin typeface="Trebuchet MS"/>
                <a:cs typeface="Trebuchet MS"/>
              </a:rPr>
              <a:t>End of Computation</a:t>
            </a:r>
          </a:p>
        </p:txBody>
      </p:sp>
      <p:grpSp>
        <p:nvGrpSpPr>
          <p:cNvPr id="96" name="Group 95"/>
          <p:cNvGrpSpPr/>
          <p:nvPr/>
        </p:nvGrpSpPr>
        <p:grpSpPr>
          <a:xfrm>
            <a:off x="3370387" y="4297131"/>
            <a:ext cx="2561710" cy="1302542"/>
            <a:chOff x="5909389" y="645921"/>
            <a:chExt cx="2561710" cy="1302542"/>
          </a:xfrm>
        </p:grpSpPr>
        <p:sp>
          <p:nvSpPr>
            <p:cNvPr id="97" name="TextBox 96"/>
            <p:cNvSpPr txBox="1"/>
            <p:nvPr/>
          </p:nvSpPr>
          <p:spPr>
            <a:xfrm>
              <a:off x="6242242" y="1579131"/>
              <a:ext cx="1605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rebuchet MS"/>
                  <a:cs typeface="Trebuchet MS"/>
                </a:rPr>
                <a:t>Master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5960493" y="730443"/>
              <a:ext cx="2385221" cy="90311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909389" y="645921"/>
              <a:ext cx="2561710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coordinates: workers</a:t>
              </a:r>
            </a:p>
            <a:p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for progress, fault recovery, </a:t>
              </a:r>
              <a:r>
                <a:rPr lang="en-US" sz="1900" dirty="0" err="1">
                  <a:solidFill>
                    <a:srgbClr val="990000"/>
                  </a:solidFill>
                  <a:latin typeface="Chalkboard"/>
                  <a:cs typeface="Chalkboard"/>
                </a:rPr>
                <a:t>synchrn</a:t>
              </a:r>
              <a:r>
                <a:rPr lang="en-US" sz="1900" dirty="0">
                  <a:solidFill>
                    <a:srgbClr val="990000"/>
                  </a:solidFill>
                  <a:latin typeface="Chalkboard"/>
                  <a:cs typeface="Chalkboard"/>
                </a:rPr>
                <a:t>. 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1626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91"/>
    </mc:Choice>
    <mc:Fallback xmlns="">
      <p:transition xmlns:p14="http://schemas.microsoft.com/office/powerpoint/2010/main" spd="slow" advTm="520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24" y="-30397"/>
            <a:ext cx="9135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8925" y="69876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942D2A7-3554-A14F-B69A-0179165E0CCA}"/>
              </a:ext>
            </a:extLst>
          </p:cNvPr>
          <p:cNvSpPr/>
          <p:nvPr/>
        </p:nvSpPr>
        <p:spPr>
          <a:xfrm>
            <a:off x="-16079" y="822673"/>
            <a:ext cx="7306131" cy="188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Prof Xi He!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 TAs: Guy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Coccimiglio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Amine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Mhedhbi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Karl Knopf, Chang Liu,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Glaucia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Melo, Jessica Saini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Sylvie Davies</a:t>
            </a:r>
          </a:p>
        </p:txBody>
      </p:sp>
      <p:pic>
        <p:nvPicPr>
          <p:cNvPr id="6" name="Picture 5" descr="A person wearing sunglasses&#10;&#10;Description automatically generated with low confidence">
            <a:extLst>
              <a:ext uri="{FF2B5EF4-FFF2-40B4-BE49-F238E27FC236}">
                <a16:creationId xmlns:a16="http://schemas.microsoft.com/office/drawing/2014/main" id="{C65F3C11-9908-DB43-A9C7-119F7F540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052" y="1123104"/>
            <a:ext cx="1693310" cy="183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33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320708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48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6079" y="2266130"/>
            <a:ext cx="9127921" cy="902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rgbClr val="800000"/>
                </a:solidFill>
                <a:latin typeface="Trebuchet MS"/>
                <a:cs typeface="Trebuchet M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220827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0.5|8|6.3|7.6|0.5|73.2|8|8.2|22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1|8.6|9.5|0.8|10.3|2.5|5.4|17.7|6.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8.1|4.6|1.5|2.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8.1|4.6|1.5|2.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8.1|4.6|1.5|2.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8.1|4.6|1.5|2.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8.1|4.6|1.5|2.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8.1|4.6|1.5|2.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8.1|4.6|1.5|2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42570</TotalTime>
  <Words>4216</Words>
  <Application>Microsoft Macintosh PowerPoint</Application>
  <PresentationFormat>On-screen Show (4:3)</PresentationFormat>
  <Paragraphs>1613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Chalkboard</vt:lpstr>
      <vt:lpstr>Consolas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Semih Salihoglu</dc:creator>
  <cp:lastModifiedBy>Semih Salihoglu</cp:lastModifiedBy>
  <cp:revision>2300</cp:revision>
  <cp:lastPrinted>2021-11-09T03:16:21Z</cp:lastPrinted>
  <dcterms:created xsi:type="dcterms:W3CDTF">2016-04-06T14:30:24Z</dcterms:created>
  <dcterms:modified xsi:type="dcterms:W3CDTF">2022-03-29T03:56:27Z</dcterms:modified>
</cp:coreProperties>
</file>