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tags/tag14.xml" ContentType="application/vnd.openxmlformats-officedocument.presentationml.tags+xml"/>
  <Override PartName="/ppt/notesSlides/notesSlide17.xml" ContentType="application/vnd.openxmlformats-officedocument.presentationml.notesSlide+xml"/>
  <Override PartName="/ppt/tags/tag15.xml" ContentType="application/vnd.openxmlformats-officedocument.presentationml.tags+xml"/>
  <Override PartName="/ppt/notesSlides/notesSlide18.xml" ContentType="application/vnd.openxmlformats-officedocument.presentationml.notesSlide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tags/tag16.xml" ContentType="application/vnd.openxmlformats-officedocument.presentationml.tags+xml"/>
  <Override PartName="/ppt/notesSlides/notesSlide19.xml" ContentType="application/vnd.openxmlformats-officedocument.presentationml.notesSlide+xml"/>
  <Override PartName="/ppt/ink/ink63.xml" ContentType="application/inkml+xml"/>
  <Override PartName="/ppt/ink/ink64.xml" ContentType="application/inkml+xml"/>
  <Override PartName="/ppt/tags/tag17.xml" ContentType="application/vnd.openxmlformats-officedocument.presentationml.tags+xml"/>
  <Override PartName="/ppt/notesSlides/notesSlide20.xml" ContentType="application/vnd.openxmlformats-officedocument.presentationml.notesSlide+xml"/>
  <Override PartName="/ppt/tags/tag18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0.xml" ContentType="application/vnd.openxmlformats-officedocument.presentationml.tags+xml"/>
  <Override PartName="/ppt/notesSlides/notesSlide27.xml" ContentType="application/vnd.openxmlformats-officedocument.presentationml.notesSlide+xml"/>
  <Override PartName="/ppt/tags/tag21.xml" ContentType="application/vnd.openxmlformats-officedocument.presentationml.tags+xml"/>
  <Override PartName="/ppt/notesSlides/notesSlide28.xml" ContentType="application/vnd.openxmlformats-officedocument.presentationml.notesSlide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notesSlides/notesSlide29.xml" ContentType="application/vnd.openxmlformats-officedocument.presentationml.notesSlide+xml"/>
  <Override PartName="/ppt/tags/tag22.xml" ContentType="application/vnd.openxmlformats-officedocument.presentationml.tags+xml"/>
  <Override PartName="/ppt/notesSlides/notesSlide30.xml" ContentType="application/vnd.openxmlformats-officedocument.presentationml.notesSlide+xml"/>
  <Override PartName="/ppt/tags/tag23.xml" ContentType="application/vnd.openxmlformats-officedocument.presentationml.tags+xml"/>
  <Override PartName="/ppt/notesSlides/notesSlide31.xml" ContentType="application/vnd.openxmlformats-officedocument.presentationml.notesSlide+xml"/>
  <Override PartName="/ppt/tags/tag24.xml" ContentType="application/vnd.openxmlformats-officedocument.presentationml.tags+xml"/>
  <Override PartName="/ppt/notesSlides/notesSlide32.xml" ContentType="application/vnd.openxmlformats-officedocument.presentationml.notesSlide+xml"/>
  <Override PartName="/ppt/tags/tag25.xml" ContentType="application/vnd.openxmlformats-officedocument.presentationml.tags+xml"/>
  <Override PartName="/ppt/notesSlides/notesSlide33.xml" ContentType="application/vnd.openxmlformats-officedocument.presentationml.notesSlide+xml"/>
  <Override PartName="/ppt/tags/tag26.xml" ContentType="application/vnd.openxmlformats-officedocument.presentationml.tags+xml"/>
  <Override PartName="/ppt/notesSlides/notesSlide34.xml" ContentType="application/vnd.openxmlformats-officedocument.presentationml.notesSlide+xml"/>
  <Override PartName="/ppt/tags/tag27.xml" ContentType="application/vnd.openxmlformats-officedocument.presentationml.tags+xml"/>
  <Override PartName="/ppt/notesSlides/notesSlide35.xml" ContentType="application/vnd.openxmlformats-officedocument.presentationml.notesSlide+xml"/>
  <Override PartName="/ppt/tags/tag28.xml" ContentType="application/vnd.openxmlformats-officedocument.presentationml.tags+xml"/>
  <Override PartName="/ppt/notesSlides/notesSlide36.xml" ContentType="application/vnd.openxmlformats-officedocument.presentationml.notesSlide+xml"/>
  <Override PartName="/ppt/tags/tag29.xml" ContentType="application/vnd.openxmlformats-officedocument.presentationml.tags+xml"/>
  <Override PartName="/ppt/notesSlides/notesSlide37.xml" ContentType="application/vnd.openxmlformats-officedocument.presentationml.notesSlide+xml"/>
  <Override PartName="/ppt/tags/tag30.xml" ContentType="application/vnd.openxmlformats-officedocument.presentationml.tags+xml"/>
  <Override PartName="/ppt/notesSlides/notesSlide38.xml" ContentType="application/vnd.openxmlformats-officedocument.presentationml.notesSlide+xml"/>
  <Override PartName="/ppt/tags/tag31.xml" ContentType="application/vnd.openxmlformats-officedocument.presentationml.tags+xml"/>
  <Override PartName="/ppt/notesSlides/notesSlide39.xml" ContentType="application/vnd.openxmlformats-officedocument.presentationml.notesSlide+xml"/>
  <Override PartName="/ppt/tags/tag32.xml" ContentType="application/vnd.openxmlformats-officedocument.presentationml.tags+xml"/>
  <Override PartName="/ppt/notesSlides/notesSlide40.xml" ContentType="application/vnd.openxmlformats-officedocument.presentationml.notesSlide+xml"/>
  <Override PartName="/ppt/tags/tag33.xml" ContentType="application/vnd.openxmlformats-officedocument.presentationml.tags+xml"/>
  <Override PartName="/ppt/notesSlides/notesSlide41.xml" ContentType="application/vnd.openxmlformats-officedocument.presentationml.notesSlide+xml"/>
  <Override PartName="/ppt/tags/tag34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tags/tag35.xml" ContentType="application/vnd.openxmlformats-officedocument.presentationml.tag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tags/tag36.xml" ContentType="application/vnd.openxmlformats-officedocument.presentationml.tags+xml"/>
  <Override PartName="/ppt/notesSlides/notesSlide48.xml" ContentType="application/vnd.openxmlformats-officedocument.presentationml.notesSlide+xml"/>
  <Override PartName="/ppt/tags/tag37.xml" ContentType="application/vnd.openxmlformats-officedocument.presentationml.tags+xml"/>
  <Override PartName="/ppt/notesSlides/notesSlide49.xml" ContentType="application/vnd.openxmlformats-officedocument.presentationml.notesSlide+xml"/>
  <Override PartName="/ppt/tags/tag38.xml" ContentType="application/vnd.openxmlformats-officedocument.presentationml.tags+xml"/>
  <Override PartName="/ppt/notesSlides/notesSlide50.xml" ContentType="application/vnd.openxmlformats-officedocument.presentationml.notesSlide+xml"/>
  <Override PartName="/ppt/tags/tag39.xml" ContentType="application/vnd.openxmlformats-officedocument.presentationml.tags+xml"/>
  <Override PartName="/ppt/notesSlides/notesSlide51.xml" ContentType="application/vnd.openxmlformats-officedocument.presentationml.notesSlide+xml"/>
  <Override PartName="/ppt/tags/tag40.xml" ContentType="application/vnd.openxmlformats-officedocument.presentationml.tags+xml"/>
  <Override PartName="/ppt/notesSlides/notesSlide52.xml" ContentType="application/vnd.openxmlformats-officedocument.presentationml.notesSlide+xml"/>
  <Override PartName="/ppt/tags/tag41.xml" ContentType="application/vnd.openxmlformats-officedocument.presentationml.tags+xml"/>
  <Override PartName="/ppt/notesSlides/notesSlide53.xml" ContentType="application/vnd.openxmlformats-officedocument.presentationml.notesSlide+xml"/>
  <Override PartName="/ppt/tags/tag42.xml" ContentType="application/vnd.openxmlformats-officedocument.presentationml.tags+xml"/>
  <Override PartName="/ppt/notesSlides/notesSlide54.xml" ContentType="application/vnd.openxmlformats-officedocument.presentationml.notesSlide+xml"/>
  <Override PartName="/ppt/tags/tag43.xml" ContentType="application/vnd.openxmlformats-officedocument.presentationml.tags+xml"/>
  <Override PartName="/ppt/notesSlides/notesSlide55.xml" ContentType="application/vnd.openxmlformats-officedocument.presentationml.notesSlide+xml"/>
  <Override PartName="/ppt/tags/tag44.xml" ContentType="application/vnd.openxmlformats-officedocument.presentationml.tags+xml"/>
  <Override PartName="/ppt/notesSlides/notesSlide56.xml" ContentType="application/vnd.openxmlformats-officedocument.presentationml.notesSlide+xml"/>
  <Override PartName="/ppt/tags/tag45.xml" ContentType="application/vnd.openxmlformats-officedocument.presentationml.tags+xml"/>
  <Override PartName="/ppt/notesSlides/notesSlide57.xml" ContentType="application/vnd.openxmlformats-officedocument.presentationml.notesSlide+xml"/>
  <Override PartName="/ppt/tags/tag46.xml" ContentType="application/vnd.openxmlformats-officedocument.presentationml.tags+xml"/>
  <Override PartName="/ppt/notesSlides/notesSlide58.xml" ContentType="application/vnd.openxmlformats-officedocument.presentationml.notesSlide+xml"/>
  <Override PartName="/ppt/tags/tag47.xml" ContentType="application/vnd.openxmlformats-officedocument.presentationml.tags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tags/tag48.xml" ContentType="application/vnd.openxmlformats-officedocument.presentationml.tags+xml"/>
  <Override PartName="/ppt/notesSlides/notesSlide61.xml" ContentType="application/vnd.openxmlformats-officedocument.presentationml.notesSlide+xml"/>
  <Override PartName="/ppt/tags/tag49.xml" ContentType="application/vnd.openxmlformats-officedocument.presentationml.tags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1"/>
  </p:sldMasterIdLst>
  <p:notesMasterIdLst>
    <p:notesMasterId r:id="rId64"/>
  </p:notesMasterIdLst>
  <p:sldIdLst>
    <p:sldId id="256" r:id="rId2"/>
    <p:sldId id="297" r:id="rId3"/>
    <p:sldId id="298" r:id="rId4"/>
    <p:sldId id="260" r:id="rId5"/>
    <p:sldId id="317" r:id="rId6"/>
    <p:sldId id="318" r:id="rId7"/>
    <p:sldId id="319" r:id="rId8"/>
    <p:sldId id="321" r:id="rId9"/>
    <p:sldId id="259" r:id="rId10"/>
    <p:sldId id="261" r:id="rId11"/>
    <p:sldId id="322" r:id="rId12"/>
    <p:sldId id="304" r:id="rId13"/>
    <p:sldId id="305" r:id="rId14"/>
    <p:sldId id="300" r:id="rId15"/>
    <p:sldId id="301" r:id="rId16"/>
    <p:sldId id="302" r:id="rId17"/>
    <p:sldId id="303" r:id="rId18"/>
    <p:sldId id="323" r:id="rId19"/>
    <p:sldId id="324" r:id="rId20"/>
    <p:sldId id="299" r:id="rId21"/>
    <p:sldId id="263" r:id="rId22"/>
    <p:sldId id="265" r:id="rId23"/>
    <p:sldId id="264" r:id="rId24"/>
    <p:sldId id="266" r:id="rId25"/>
    <p:sldId id="268" r:id="rId26"/>
    <p:sldId id="267" r:id="rId27"/>
    <p:sldId id="269" r:id="rId28"/>
    <p:sldId id="271" r:id="rId29"/>
    <p:sldId id="270" r:id="rId30"/>
    <p:sldId id="272" r:id="rId31"/>
    <p:sldId id="274" r:id="rId32"/>
    <p:sldId id="273" r:id="rId33"/>
    <p:sldId id="276" r:id="rId34"/>
    <p:sldId id="275" r:id="rId35"/>
    <p:sldId id="277" r:id="rId36"/>
    <p:sldId id="278" r:id="rId37"/>
    <p:sldId id="279" r:id="rId38"/>
    <p:sldId id="280" r:id="rId39"/>
    <p:sldId id="325" r:id="rId40"/>
    <p:sldId id="326" r:id="rId41"/>
    <p:sldId id="281" r:id="rId42"/>
    <p:sldId id="282" r:id="rId43"/>
    <p:sldId id="327" r:id="rId44"/>
    <p:sldId id="283" r:id="rId45"/>
    <p:sldId id="310" r:id="rId46"/>
    <p:sldId id="328" r:id="rId47"/>
    <p:sldId id="329" r:id="rId48"/>
    <p:sldId id="311" r:id="rId49"/>
    <p:sldId id="330" r:id="rId50"/>
    <p:sldId id="312" r:id="rId51"/>
    <p:sldId id="331" r:id="rId52"/>
    <p:sldId id="332" r:id="rId53"/>
    <p:sldId id="313" r:id="rId54"/>
    <p:sldId id="290" r:id="rId55"/>
    <p:sldId id="314" r:id="rId56"/>
    <p:sldId id="292" r:id="rId57"/>
    <p:sldId id="293" r:id="rId58"/>
    <p:sldId id="294" r:id="rId59"/>
    <p:sldId id="333" r:id="rId60"/>
    <p:sldId id="295" r:id="rId61"/>
    <p:sldId id="296" r:id="rId62"/>
    <p:sldId id="334" r:id="rId6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6" autoAdjust="0"/>
    <p:restoredTop sz="83228" autoAdjust="0"/>
  </p:normalViewPr>
  <p:slideViewPr>
    <p:cSldViewPr snapToGrid="0">
      <p:cViewPr varScale="1">
        <p:scale>
          <a:sx n="83" d="100"/>
          <a:sy n="83" d="100"/>
        </p:scale>
        <p:origin x="15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5:32.37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784 314,'141'-30,"20"-10,-85 21,714-158,-654 156,1 5,1 6,259 15,-327 2,-1 3,115 31,-157-33,0 2,-1 0,0 2,-1 0,0 2,-1 1,-1 1,-1 1,28 26,-40-33,0 1,-1 0,-1 1,0-1,0 2,-1-1,-1 1,0 0,-1 0,0 1,-1 0,0 0,-2 0,1 0,-1 16,-2-7,-1-1,-1 0,-1 0,-1-1,0 1,-2-1,-1 0,-1 0,-13 26,-4 0,-2 0,-2-2,-2-1,-2-2,-54 55,7-21,-150 111,90-89,-3-7,-212 100,178-112,-341 103,370-142,-181 24,242-53,-1-4,-1-4,-125-11,173 4,0-2,1-1,0-3,1-1,-59-25,80 28,0-1,1-1,0 0,1-2,0 0,1 0,0-1,1-1,1-1,0 0,1 0,0-1,-10-21,13 19,1 0,1 0,1 0,0-1,2 0,0 0,1 0,-1-20,4 11,0 0,2 0,1 0,2 0,7-27,5 2,1 2,3 0,2 1,2 1,40-56,-10 26,3 3,4 3,3 2,88-74,-40 51,250-157,-264 195,-35 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5:33.40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1074 359,'6'-1,"140"-23,30-2,82-7,441 3,-552 34,-1 8,0 5,-1 8,222 65,-293-65,124 58,-171-69,0 1,-1 1,-2 1,1 2,-2 0,-1 1,29 34,-41-42,-1 1,0 0,-1 0,-1 1,0 0,0 0,-2 1,0 0,0 0,-2 0,0 1,2 25,-5-22,0 0,-2 0,0-1,-1 1,-1 0,0-1,-2 0,0 0,-1 0,-11 20,-3-2,0-1,-3-1,-1-2,-1 0,-2-1,-56 48,13-23,-2-3,-90 49,22-25,-3-6,-290 97,209-101,-315 51,-51-53,479-63,1-4,0-5,-140-26,192 20,1-2,0-2,-60-28,89 32,0-2,0-1,1-1,1-1,-31-28,44 33,1-1,0 0,0-1,2 0,0-1,0 0,2-1,0 0,-13-35,17 32,-1 1,2-1,1 0,1 0,0 0,1 0,4-30,0 22,2 1,0 0,2 1,20-50,-3 25,2 2,2 2,2 0,2 2,41-44,-1 10,4 3,3 3,105-74,-54 57,217-113,-213 138,278-95,-292 125,1 5,208-24,-209 47,-48 12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5:34.30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1075 455,'3'-2,"183"-74,214-57,203-11,55 53,-545 84,2 6,-1 5,206 33,-255-24,-1 3,-1 2,0 4,-1 2,100 55,-129-59,-1 1,-1 2,-2 1,45 45,-56-48,0 0,-2 1,0 1,-2 0,0 1,-2 1,11 29,-15-32,-1 1,-1 0,-2 0,0 1,-1-1,-2 1,0-1,-4 33,-1-27,-1 0,-1 0,-2-1,-1 1,-1-2,-15 31,0-13,-2 0,-2-2,-1-1,-3-2,-1-1,-2-1,-60 48,17-25,-3-3,-2-4,-2-3,-3-5,-137 53,75-46,-2-7,-269 46,230-65,-2-9,0-7,-1-10,1-7,0-10,-322-66,181-13,260 67,-123-64,162 72,0-2,1-2,1-1,1-1,-48-51,66 60,1 0,1-1,0 0,2-1,0 0,1-1,1 0,0-1,2 0,1 0,0-1,-2-24,6 22,1-1,1 0,2 1,0-1,1 0,2 1,1 0,0 0,2 1,17-37,-6 21,3 0,1 2,1 0,2 2,33-34,2 8,-15 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5:34.9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1447 0,'0'0,"-14"3,-22 12,-23 22,-23 27,-20 25,-20 20,-18 10,-9 12,0 10,6 7,13-2,17-11,21-18,23-23,23-28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5:35.89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1748 1,'-3'7,"-60"161,-19 46,-32 89,-22 72,-596 1910,141 356,564-2485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5:36.78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0,'15'13,"63"72,-55-59,840 1089,-66 63,-749-1107,802 1169,29-17,19 47,-676-953,596 746,-726-961,-37-44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5:44.6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523 138,'125'-21,"1"6,0 5,143 7,-169 6,107 17,-166-14,0 3,-1 1,-1 1,1 3,52 26,-76-32,-1 1,1 1,-2 0,1 1,-1 1,-1 0,14 17,-20-21,-1 1,0 0,0 0,-1 0,0 1,-1 0,0 0,0 0,-1 0,0 1,-1-1,0 1,0 12,-3-8,1 0,-2 0,0 0,-1-1,-1 1,0-1,-1 0,0 0,-1 0,-1-1,0 1,-1-2,0 1,-1-1,-16 17,1-4,-1 0,-2-2,0-1,-1-1,-52 28,21-19,-2-2,-2-3,0-2,-1-3,-1-3,0-3,-75 6,49-13,0-3,0-4,0-4,-154-27,186 20,-102-34,143 39,-1-2,2 0,-1-1,1 0,0-2,1 0,0-1,1 0,-17-19,25 24,1-1,1 0,0 0,0 0,0-1,1 1,0-1,1 0,0 0,0-1,1 1,0-1,1 1,0-1,1 1,0-1,0 0,1 1,0-1,1 1,0-1,0 1,4-9,3-7,2 1,1 0,0 1,2 1,0 0,2 1,24-27,-2 8,2 1,2 3,67-47,-33 34,110-53,-114 69,-24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5:45.3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327 357,'16'-13,"30"-21,2 3,0 1,59-25,-21 18,102-30,-108 43,2 4,0 4,1 3,85-2,-119 13,0 3,0 1,0 3,0 2,-1 2,0 2,0 2,54 23,-81-26,0 0,-1 1,0 2,-1 0,0 1,-1 0,-1 2,29 32,-36-36,-1 1,0 0,-1 0,-1 1,0 0,-1 0,0 0,-1 1,-1 0,0 0,-1 0,-1 1,0-1,-1 18,-1-17,-2 0,1 0,-2-1,0 0,-1 1,-1-1,0 0,-1-1,-14 27,9-23,-1-1,-1 0,-1-1,0 0,-1-1,-27 22,6-12,0-1,-1-3,-1 0,-1-3,-1-1,-70 20,29-17,-1-3,-1-3,0-5,-142 0,129-13,-1-4,2-3,-170-45,207 39,0-2,-68-33,101 39,0-1,0-1,2-1,0-1,1 0,-37-39,51 47,0 0,1-1,0 0,0 0,1 0,0-1,1 0,0 0,1 0,0-1,1 0,0 1,1-1,0 0,1-1,1 1,0 0,0 0,1 0,0 0,1 0,1 0,0 0,0 1,7-14,-2 6,2-1,0 2,0-1,2 1,1 1,0 0,1 1,29-27,-11 19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5:46.20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1313 218,'22'0,"10"1,0 2,0 2,-1 1,34 10,123 53,-101-30,88 53,-126-62,-2 2,-1 2,47 46,-78-66,0 1,-1 1,-1 0,-1 1,-1 1,14 27,-19-32,-1 0,0 0,-1 0,-1 1,0 0,0 0,-2-1,0 1,0 0,-3 22,-1-17,0 0,-1 0,-1 0,-1 0,-1-1,0 0,-15 26,7-20,-1-1,0 0,-2-1,-34 33,15-22,-2-2,-2-1,0-2,-2-2,-71 32,44-28,0-4,-2-3,-1-3,-1-4,-93 10,77-19,0-3,-1-4,1-4,-94-17,118 10,1-2,1-4,-121-49,153 53,1-3,1 0,1-2,0-1,2-2,0 0,1-2,1-1,-30-37,43 45,1 0,1-1,0 0,1 0,1-1,1 0,1-1,0 0,1 0,1 0,1 0,1 0,0-1,2 0,0 1,1-1,1 1,1 0,0-1,2 1,8-23,3 1,2 1,2 1,1 1,2 1,2 1,1 1,1 1,3 1,38-34,3 5,4 3,2 3,93-51,51-7,-160 90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5:46.8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266 141,'200'-49,"-78"19,133-18,-175 40,0 3,0 4,123 14,-158-8,-1 3,0 2,0 1,-1 3,-1 1,0 2,71 41,-95-46,-1 0,0 1,-1 0,0 1,-1 1,-1 1,20 28,-26-31,0 0,0 1,-2-1,0 2,0-1,-2 1,0 0,0 0,-1 0,-1 0,0 16,-2-11,-1-1,-1 1,-1-1,-1 0,0 0,-1 0,-2-1,1 0,-2 0,-1 0,0-1,-1 0,-1-1,0 0,-1-1,-1 0,-15 14,3-6,-1-2,-1 0,-1-2,-1 0,0-2,-1-2,-1 0,0-2,-36 9,13-8,0-3,-1-2,-1-3,1-2,-1-2,0-3,1-2,-1-3,-60-14,54 6,0-2,2-4,0-2,1-2,1-3,2-3,-90-62,112 67,2-2,0-1,-32-37,51 50,1-1,0 1,1-2,1 0,1 0,0-1,2 0,-11-34,16 44,1 0,-1 0,2 0,-1 0,1 0,0 0,1 0,0 0,0 0,1 0,0 0,0 0,1 1,0-1,0 1,1 0,0 0,0 0,1 0,0 1,0-1,0 1,1 0,0 1,0 0,0 0,1 0,0 1,0-1,0 2,0-1,1 1,-1 0,1 1,0-1,13-1,8 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01.48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832 322,'-8'1,"0"0,-1 0,1-1,-1 0,1-1,-11-1,1 0,-18-3,0-1,0-2,-58-20,-98-51,134 53,51 23,-7-4,0 2,-1-1,1 2,-17-3,28 6,-1 0,0 1,0 0,0 0,0 0,1 0,-1 1,0-1,0 1,0 0,1 0,-1 0,1 1,-1-1,1 1,-1 0,1 0,0 0,0 1,0-1,-4 5,-1 2,1 0,1 1,0 0,0 1,1-1,0 1,-6 21,-16 85,26-109,-12 56,4 1,2 0,3 82,6-120,0 0,2-1,1 0,12 37,-11-47,1 0,0 0,1-1,0 1,2-2,-1 1,22 22,-22-28,0-1,1 0,0 0,1-1,-1 0,2-1,-1 0,0 0,1-2,0 1,0-1,1-1,-1-1,1 1,-1-2,1 0,0 0,21-3,-1-1,0-2,0-2,-1-1,0-1,61-27,-58 20,0-1,-1-2,-1-1,-1-2,-1-1,-1-2,-1 0,45-52,-56 54,-1 0,0-2,-2 0,-1 0,-1-2,-1 1,-1-2,-2 1,0-2,-2 1,-2-1,4-34,-8 39,0 0,-1-1,-2 1,0 0,-2 0,-1 0,0 0,-2 1,-16-38,18 50,0 1,-1 0,0 0,0 0,-1 1,-1 0,1 0,-2 1,1 0,-1 0,0 1,-1 0,1 0,-1 1,-1 1,1 0,-1 0,0 1,0 0,0 1,-1 0,-11-1,3 3,0 0,0 2,0 0,0 1,0 1,0 0,1 2,0 0,0 2,-22 9,19-5,0 0,0 2,1 0,0 1,1 2,1 0,-30 32,35-30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03.6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180 0,'4'19,"1"10,-1 0,-1 1,-2-1,-1 0,-4 30,-132 984,103-817,29-199,-14 120,17-122,0 1,2 0,5 41,-3-56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04.1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1,'0'0,"0"0,7 15,3 12,0 10,-4 6,-4 4,-4-1,-4-2,0-8,4-9,7-8,2-9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04.57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0,'0'0,"0"0,0 0,0 0,0 0,11 12,10 9,9 6,12 4,-2-3,-7-6,-10-7,-8-6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04.9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28 142,'0'0,"1"4,8 51,-1 0,-3 1,-3-1,-2 1,-13 102,12-150,-1-1,1 0,-1 0,0 0,-1 0,-6 12,9-18,0-1,0 0,0 0,0 0,0 1,0-1,0 0,0 0,0 1,-1-1,1 0,0 0,0 0,0 0,0 1,-1-1,1 0,0 0,0 0,0 0,-1 0,1 1,0-1,0 0,-1 0,1 0,0 0,0 0,-1 0,1 0,0 0,0 0,-1 0,1 0,0 0,0 0,-1 0,1 0,0 0,0 0,0-1,-1 1,1 0,0 0,0 0,-1 0,1 0,0 0,0-1,0 1,0 0,-1 0,1 0,0-1,0 1,0 0,0 0,0 0,-1-1,-3-17,0-30,3-1,2 1,10-69,-10 105,3-37,3 1,2 0,1 0,24-63,-32 106,0 0,0 1,1-1,0 0,0 1,0-1,4-3,-6 7,-1 0,1 1,0-1,-1 1,1 0,0-1,-1 1,1-1,0 1,-1 0,1 0,0-1,0 1,-1 0,1 0,0 0,0 0,-1 0,1 0,0 0,1 0,-1 1,1-1,-1 1,0 0,0 0,0 0,1 0,-1 0,0 0,0 0,0 0,-1 0,1 0,0 0,0 1,-1-1,2 2,5 17,0 0,-1 0,-1 0,-1 1,-1 0,2 35,-3-25,3 32,19 132,-19-174,0 0,1-1,1 0,1 0,1-1,0 0,15 21,-8-19,-4-11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05.43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0 269,'0'0,"16"-6,14-7,11-6,6-3,3-2,-3-2,-3-3,-4 0,-2-1,-1 3,3 5,4 9,-5 7,-9 4,-10 2,-8 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05.86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34 0,'0'0,"0"0,-2 18,-3 24,-2 28,-1 25,1 13,2 4,7-6,7-13,11-20,16-28,19-33,1-19,-9-8,-13-2,-12 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06.5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1,'18'12,"52"41,83 81,54 75,-170-169,73 76,-6 4,-5 5,130 218,-149-201,85 142,-154-267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09.02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465 283,'-1'-3,"-3"-19,-1 1,-1 0,-1 0,-1 1,-1 0,-13-23,16 35,1 0,-1 0,-1 0,1 1,-1-1,-1 2,1-1,-1 1,0 0,-1 1,1 0,-1 0,0 1,0 0,-1 0,-10-2,11 4,0 0,-1 1,1 0,-1 0,1 1,-1 0,1 1,-1 0,-15 4,19-3,-1 0,1 1,0-1,-1 1,1 1,0-1,1 1,-1 0,1 1,0-1,0 1,0 0,0 0,-4 7,1 2,0 0,1 1,0 0,1 0,1 0,0 1,2 0,-1 0,0 21,1 2,2 0,7 69,6-22,39 147,49 75,-23-120,-48-125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09.52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52 1,'0'0,"-8"26,-4 24,0 21,1 14,5 9,4 8,5 5,6 3,5-2,9-8,10-18,-1-23,-6-22,-7-16,-7-13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10.7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0 283,'0'0,"2"-3,67-82,12-14,-76 94,0 0,0 1,0-1,0 1,1 1,0-1,0 1,0 0,0 0,0 1,7-2,7-1,0 2,26-2,13-2,1-5,1 4,0 1,94 4,-139 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11.6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332 114,'-14'-17,"8"10,0 0,0 1,-1 0,0 0,-10-7,15 11,0 1,0 0,0 0,0 0,0 0,-1 0,1 1,0-1,0 1,-1-1,1 1,0 0,0 0,-1 0,1 0,0 0,-1 0,1 1,0-1,0 1,0 0,-1 0,1-1,0 1,0 1,0-1,-2 2,-2 2,1 0,0 1,0-1,1 1,0 0,0 1,0-1,1 0,-1 1,2 0,-1 0,1 0,-2 9,0 6,0 1,-1 44,4-42,2 0,7 42,-6-56,0 0,1 0,1 0,0 0,0 0,1-1,12 20,-15-27,0 0,0-1,0 1,0-1,0 0,0 0,1 0,-1 0,1 0,-1 0,1-1,0 1,0-1,0 0,0 0,0 0,0 0,0 0,0-1,0 1,0-1,0 0,5 0,-3-1,-1 0,0 0,1-1,-1 1,0-1,0 0,0 0,0-1,0 1,-1-1,1 0,-1 0,1 0,-1 0,5-7,-1 0,0 0,-1 0,0 0,-1-1,0 0,-1 0,0 0,-1-1,0 1,0-1,-2 0,1 0,-1 1,-1-1,0 0,-1 0,0 0,-1 0,0 0,-1 1,0-1,-1 1,-1 0,-6-14,5 13,-1 0,0 0,-1 0,0 1,-1 0,0 1,-1 0,0 0,0 1,-1 0,0 1,-1 0,0 1,0 1,-1-1,1 2,-1 0,-1 0,1 2,-22-5,29 8,0-1,0 1,0 0,0 1,0-1,0 1,0 0,0 1,-8 3,12-5,0 1,-1 0,1 0,0 1,0-1,0 0,0 1,1-1,-1 1,0 0,1-1,-1 1,1 0,-1 0,1 0,0 0,0 0,0 0,0 1,0-1,1 0,-1 0,1 1,-1-1,1 0,0 5,1 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12.1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373 520,'0'-13,"-1"0,0 0,-1 0,-1 0,0 1,0-1,-2 1,1 0,-2 0,-12-21,16 29,0 0,-1 1,0-1,0 1,0-1,0 1,-1 0,1 0,-1 1,0-1,1 1,-1 0,0-1,-1 2,1-1,0 0,0 1,-1 0,1 0,-1 0,1 1,-1 0,1-1,-1 2,1-1,-1 0,1 1,-1 0,1 0,-1 0,1 1,0-1,-8 5,0 0,0 2,0-1,1 1,0 1,0 0,1 1,0 0,1 0,0 1,-9 15,9-12,1-1,1 1,0 1,1-1,0 1,2 0,-1 0,-3 29,8-35,-1 0,1 0,0 0,1 0,0 0,1-1,0 1,0 0,1-1,0 1,5 8,-6-13,0 1,1-1,0 0,0 0,0-1,0 1,0-1,1 1,0-1,0 0,0-1,0 1,0-1,0 1,1-1,-1 0,1-1,-1 1,1-1,0 0,0 0,4 0,1-1,-1-1,0 0,1 0,-1 0,0-1,0-1,0 0,0 0,-1-1,1 0,-1 0,0-1,0 0,-1 0,14-12,-2-1,-1 0,-1-1,-1 0,24-38,-16 14,-1-2,-2 0,-2-1,-2-1,-3-1,-1 0,-3-1,8-85,-16 78,-3 40,-3 13,3 4,0 0,0 0,0 1,1-1,-1 1,0-1,0 0,1 1,-1 0,1-1,-1 3,-12 42,3 1,-9 90,13 100,8-173,18 106,-15-142,1-1,2-1,0 0,2 0,1 0,20 33,-24-47,1-1,1 0,0 0,1-1,12 12,-17-18,-1-1,1 1,0-1,0 0,0 0,0-1,0 1,1-1,-1 0,1 0,0-1,-1 0,1 0,9 0,2-4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12.6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0,'0'0,"1"15,4 26,2 32,0 30,1 21,1 12,-1 6,-2 1,-3-3,-5-8,-2-17,-1-25,-3-27,1-24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13.07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0 542,'0'0,"12"-6,14-5,15-6,12-8,13-9,15-13,10-15,6-14,0-6,-16 11,-23 17,-20 19,-18 14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14.32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1407 0,'-2'4,"-45"59,-1-2,-67 64,12-19,5 5,-90 130,-17 61,-78 109,-23-26,294-370,21-20,19-19,-13 10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15.0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806 207,'-36'-37,"20"19,-1 1,-1 0,-24-17,23 22,-1 1,0 1,0 1,-1 1,0 0,0 2,-1 0,0 1,0 2,-43-2,34 4,1 2,0 2,0 0,0 2,1 1,0 2,-45 17,62-20,-1 1,2 0,-1 1,1 0,0 1,-17 14,26-19,0-1,0 0,0 1,0-1,0 1,1-1,-1 1,1 0,0 0,0-1,0 1,0 0,0 0,0 5,1-5,0 0,0 0,1-1,0 1,-1 0,1-1,0 1,0-1,0 1,1-1,-1 0,1 1,-1-1,1 0,0 0,0 0,0 0,0 0,3 2,11 7,1-1,0 0,0-1,1-1,0-1,36 9,-19-5,-13-4,26 8,88 41,-125-50,1 0,-1 1,-1 0,1 0,-1 1,0 1,-1-1,0 2,-1-1,0 1,0 0,12 23,-17-28,-1 1,0 0,0 0,0 0,-1 1,0-1,0 0,0 0,-1 1,0-1,0 0,-1 1,0-1,0 0,-3 11,1-9,-1-1,1 1,-1-1,-1 0,1 0,-1 0,0-1,-1 1,1-1,-14 10,9-8,0-1,0-1,0 0,-1 0,0-1,0 0,0-1,0 0,-1-1,0 0,1-1,-1-1,0 1,0-2,0 0,-20-2,24 1,0-1,1-1,-1 1,0-1,1-1,0 1,-1-1,1-1,1 1,-1-1,1 0,0-1,0 1,0-1,1-1,0 1,0-1,-7-12,7 9,1 0,-1-1,2 1,-1-1,1 0,1 0,0-1,1 1,0 0,1-1,0 1,3-23,2 11,1-1,1 1,1 0,1 0,1 1,1 0,1 1,19-26,-14 26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16.04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1,'12'12,"-8"-7,16 21,-1 0,-2 2,0 0,-2 0,-1 2,11 33,49 194,-42-97,-6 1,-8 1,-3 219,-15-377,0 25,-1 1,-7 45,8-74,0 0,-1 1,1-1,0 0,-1 1,1-1,-1 0,1 1,-1-1,0 0,0 0,1 0,-1 1,-2 0,3-2,-1 1,1-1,0 0,-1 0,1 0,-1 0,1 0,-1 0,1 0,-1 0,1 0,-1 0,1 0,-1 0,1 0,0 0,-1 0,1 0,-1 0,1 0,-1-1,1 1,0 0,-1 0,1-1,-1 1,0-1,-2-2,-1-1,1 0,0 0,0 0,0 0,-2-6,-61-125,-7-13,-11 13,-4-6,81 130,1-1,0 1,1-1,1-1,0 1,-3-14,6 22,1 0,0 0,-1 0,1 0,0 0,1 1,-1-1,1 0,0 0,0 0,0 1,0-1,1 0,-1 1,1-1,0 1,0 0,0-1,0 1,1 0,0 0,-1 1,1-1,6-4,7-3,0 1,1 1,0 0,1 2,0 0,22-5,-5 1,22-7,126-33,-161 46,0 0,1 2,0 0,-1 2,1 0,26 4,-38-2,0 1,-1 0,1 0,-1 1,0 1,0-1,0 1,-1 1,16 12,-13-8,0 2,0-1,-1 2,-1-1,17 27,-7-2,-2 0,-2 0,-1 2,13 54,-14-43,-3 1,-2 0,-2 0,0 79,-11-97,4-33,0 0,0 0,0 0,0-1,0 1,0 0,0 0,-1 0,1 0,0 0,0 0,0 0,0 0,0 0,0-1,-1 1,1 0,0 0,0 0,0 0,0 0,0 0,0 0,-1 0,1 0,0 0,0 0,0 0,0 0,-1 0,1 0,0 0,0 0,0 0,0 0,0 1,0-1,-1 0,1 0,0 0,0 0,0 0,0 0,0 0,0 0,0 0,-1 1,1-1,0 0,0 0,0 0,0 0,0 0,0 1,-3-14,0 1,1-1,0 1,0-26,2 25,-2-45,11-107,-6 136,2 0,2 0,0 0,2 1,19-42,-25 62,1 1,1 0,-1 0,1 0,0 0,1 1,-1 0,1 0,1 0,7-5,-11 9,0 0,0 0,1 1,-1 0,0-1,1 1,-1 0,0 1,1-1,-1 1,1-1,0 1,-1 0,1 0,-1 1,1-1,-1 1,1-1,-1 1,0 0,1 1,-1-1,0 1,0-1,0 1,4 2,3 4,0 1,0 0,-1 0,0 1,0 0,-1 0,-1 1,13 23,39 101,-52-118,10 31,-12-31,0-1,2 0,-1 0,2 0,0-1,1 0,17 21,-23-33,-1 0,1-1,-1 0,1 1,0-1,0 0,0 0,0-1,0 1,1-1,-1 1,0-1,1 0,-1 0,1-1,-1 1,1-1,-1 1,1-1,0 0,-1-1,1 1,-1 0,1-1,-1 0,1 0,-1 0,0 0,4-3,3-4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16.44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0,'0'0,"0"0,22 9,24 6,4 0,-6-1,-11-5,-10-2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16.8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1 180,'14'15,"-1"1,0 0,-1 1,-1 1,14 28,33 97,55 271,-107-394,-6-20,0 0,0 0,0 0,0 0,0-1,0 1,0 0,0 0,0 0,0 0,0 0,0 0,0 0,0 0,0 0,0-1,0 1,0 0,0 0,0 0,0 0,0 0,0 0,0 0,0 0,0 0,0 0,0-1,0 1,0 0,0 0,0 0,0 0,0 0,1 0,-1 0,0 0,0 0,0 0,0 0,0 0,0 0,0 0,0 0,0 0,0 0,1-1,-1 1,0 0,0 0,0 0,0 0,0 0,0 0,0 1,0-1,0 0,1 0,-1 0,0 0,0 0,0 0,0 0,0 0,0 0,2-39,-2 26,11-353,-5 295,3 1,3 0,24-79,-15 93,-20 52,1 0,0 0,1 0,-1 1,1-1,0 0,0 1,0 0,6-6,-8 8,0 1,0-1,0 0,1 1,-1-1,0 1,0-1,0 1,0 0,0 0,1-1,-1 1,0 0,0 0,0 0,1 0,-1 0,0 0,0 1,0-1,1 0,-1 1,0-1,0 1,0-1,2 2,0 0,0 1,1-1,-1 1,-1 0,1 0,0 1,2 3,12 23,0 0,-2 2,-1-1,11 42,-10-29,7 18,-9-20,3 1,1-2,30 52,-42-86,0 0,0 0,0-1,1 0,0 0,0 0,0-1,1 0,0 0,0 0,0-1,1 0,-1-1,1 0,0 0,0 0,0-1,0 0,1-1,-1 0,0 0,1-1,15-1,-4 0,0-1,-1-1,1 0,-1-2,0 0,26-11,-19 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8:17.3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748 142,'-1'-10,"1"1,-2-1,1 1,-1 0,-1-1,0 1,0 0,0 1,-1-1,-1 0,-9-14,12 22,1-1,-1 1,1-1,-1 1,1 0,-1-1,0 1,0 0,0 0,0 0,0 0,0 1,0-1,0 0,0 1,0 0,0-1,0 1,0 0,0 0,-1 0,1 0,0 1,0-1,0 0,0 1,0 0,0-1,0 1,0 0,0 0,0 0,1 0,-1 1,0-1,0 0,-1 2,-5 4,0 1,1-1,0 1,0 0,0 1,-6 12,-1 5,2 0,0 0,2 2,1-1,1 1,-5 39,7-24,2 0,1 0,7 70,-4-97,2 0,0 0,1-1,0 1,2-1,-1 0,2 0,9 18,-15-31,1 0,1-1,-1 1,0 0,0 0,1 0,-1-1,1 1,-1-1,1 1,0-1,-1 0,1 0,0 1,0-1,0 0,0-1,0 1,0 0,0-1,0 1,1-1,-1 1,0-1,0 0,0 0,0 0,1 0,-1-1,0 1,3-1,0-2,0 1,0-1,0 0,0 0,-1-1,1 1,-1-1,0 0,0 0,0 0,4-7,9-15,-1-1,-1 0,-1-1,-1-1,11-37,35-160,-39 141,-16 69,-4 12,1 0,-1 0,1 0,0 0,1 0,-1 0,1 0,-1 0,1 0,0 1,1-1,3-5,-5 9,-1 0,0 0,1 0,-1 0,1 0,-1 0,0 0,1 0,-1 0,1 0,-1 0,0 0,1 0,-1 0,1 1,-1-1,0 0,1 0,-1 0,0 1,1-1,-1 0,0 0,1 1,-1-1,0 0,1 1,-1-1,0 0,0 1,0-1,1 0,-1 1,0-1,0 1,0-1,0 1,6 11,-1 0,0 1,-1-1,-1 1,3 15,-4-18,23 124,-7 1,-5 1,-7 194,-9-258,-2 0,-26 120,23-161,0-1,-2 0,-1 0,-2-1,0 0,-2-1,-2-1,-29 39,40-58,-1 0,0-1,0 0,0 0,-1-1,0 1,0-2,-1 1,0-1,1-1,-2 0,1 0,0-1,-1 0,0 0,0-1,1 0,-1-1,0 0,-15-1,2-3,1 0,1-2,-1 0,1-2,0 0,0-1,-33-19,20 7,0-1,2-2,-43-39,50 40,2-1,1-2,0 0,2-1,1-1,2-1,-25-51,33 52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9:10.43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1943 789,'7'-19,"14"-42,19-97,-34 123,-1 0,-1-1,-3 1,-3-53,1 75,-1 0,-1-1,0 1,-1 0,0 0,-1 1,0-1,-1 1,-1 0,0 1,0-1,-1 1,0 1,-1-1,0 2,-1-1,0 1,-1 1,0 0,0 0,0 1,-1 0,0 1,-17-6,-2 2,0 0,-1 2,0 1,-38-2,-131-1,65 11,1 5,0 7,0 5,-189 52,279-57,1 2,0 2,1 1,2 3,0 2,-51 36,72-43,0 0,1 2,1 0,0 1,-21 32,29-36,1 1,0 0,1 1,1-1,0 1,2 1,0-1,-4 29,7-29,0 0,2 0,0 1,1-1,1 0,1 1,6 23,-1-16,1 0,1-1,1-1,18 31,9 0,1-1,3-2,51 49,-54-62,1-1,1-2,2-2,1-2,2-2,1-2,1-2,1-2,1-2,1-2,0-3,2-2,0-2,0-3,1-2,0-2,0-3,65-5,-75-1,0-3,-1-1,0-2,0-2,-1-2,-1-2,-1-2,0-1,-1-2,56-40,-64 37,-1-1,-1-1,-1-2,-1-1,-1-1,-2-1,-1-1,-2-1,-1-1,-2 0,-1-2,13-39,-22 52,-2 0,0-1,-1 1,-2-1,0-1,-1-46,-3 61,0 0,-1 0,0 1,-1-1,0 0,0 1,-1 0,-7-13,7 16,0 0,0 0,-1 0,0 1,0-1,0 2,-1-1,0 0,0 1,0 0,0 0,-12-4,5 3,0 1,0 0,-25-4,6 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8:59:11.8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1287 614,'1'-4,"10"-60,3-73,-13 115,-1-1,-1 0,-1 1,-1-1,-1 1,-1-1,-7-21,8 35,0 0,0 0,-1 0,0 1,-1-1,0 1,0 1,-1-1,0 1,0 0,-12-8,7 7,0 0,0 1,-1 1,0 0,0 1,0 1,-19-5,-2 4,0 0,0 3,-1 0,1 3,-64 8,36 0,0 2,1 4,1 2,1 2,-65 31,94-36,1 2,0 0,2 2,0 1,1 1,1 1,1 2,0 0,2 1,1 2,-26 40,38-51,1 0,1 0,0 1,1-1,1 1,0 1,1-1,-2 27,5-30,1 0,0 0,1 0,1 1,0-1,1 0,0-1,1 1,0 0,1-1,10 18,7 6,1-1,1-1,46 48,99 79,-129-127,0-3,2 0,1-3,74 36,-94-54,0-1,0-1,1 0,0-2,0-1,0-1,1-1,0-1,-1-2,1 0,42-6,-39 0,0-1,-1-1,0-2,0-1,-1-1,0-1,-1-1,-1-1,0-1,-1-2,-1 0,0-1,-2-1,33-42,-33 36,-1 0,-2-1,-1-1,-1-1,-2-1,0 1,-2-2,-2 0,0 0,-3-1,0 1,-2-2,0-32,-5 19,-2 1,-2 0,-1 0,-3 1,-2 0,-1 0,-3 1,-35-73,41 99,-1 0,0 1,-2 0,0 1,0 0,-28-25,30 32,0 1,0 0,-1 0,0 1,0 0,0 1,-1 0,1 1,-1 0,0 1,-20-2,21 3,-1 1,0 1,0 0,1 0,-1 1,0 1,1 0,-1 0,-17 7,10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30:27.9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1,'18'12,"52"41,83 81,54 75,-170-169,73 76,-6 4,-5 5,130 218,-149-201,85 142,-154-267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30:27.95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465 283,'-1'-3,"-3"-19,-1 1,-1 0,-1 0,-1 1,-1 0,-13-23,16 35,1 0,-1 0,-1 0,1 1,-1-1,-1 2,1-1,-1 1,0 0,-1 1,1 0,-1 0,0 1,0 0,-1 0,-10-2,11 4,0 0,-1 1,1 0,-1 0,1 1,-1 0,1 1,-1 0,-15 4,19-3,-1 0,1 1,0-1,-1 1,1 1,0-1,1 1,-1 0,1 1,0-1,0 1,0 0,0 0,-4 7,1 2,0 0,1 1,0 0,1 0,1 0,0 1,2 0,-1 0,0 21,1 2,2 0,7 69,6-22,39 147,49 75,-23-120,-48-125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30:27.95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52 1,'0'0,"-8"26,-4 24,0 21,1 14,5 9,4 8,5 5,6 3,5-2,9-8,10-18,-1-23,-6-22,-7-16,-7-13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30:27.9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0 283,'0'0,"2"-3,67-82,12-14,-76 94,0 0,0 1,0-1,0 1,1 1,0-1,0 1,0 0,0 0,0 1,7-2,7-1,0 2,26-2,13-2,1-5,1 4,0 1,94 4,-139 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30:27.9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332 114,'-14'-17,"8"10,0 0,0 1,-1 0,0 0,-10-7,15 11,0 1,0 0,0 0,0 0,0 0,-1 0,1 1,0-1,0 1,-1-1,1 1,0 0,0 0,-1 0,1 0,0 0,-1 0,1 1,0-1,0 1,0 0,-1 0,1-1,0 1,0 1,0-1,-2 2,-2 2,1 0,0 1,0-1,1 1,0 0,0 1,0-1,1 0,-1 1,2 0,-1 0,1 0,-2 9,0 6,0 1,-1 44,4-42,2 0,7 42,-6-56,0 0,1 0,1 0,0 0,0 0,1-1,12 20,-15-27,0 0,0-1,0 1,0-1,0 0,0 0,1 0,-1 0,1 0,-1 0,1-1,0 1,0-1,0 0,0 0,0 0,0 0,0 0,0-1,0 1,0-1,0 0,5 0,-3-1,-1 0,0 0,1-1,-1 1,0-1,0 0,0 0,0-1,0 1,-1-1,1 0,-1 0,1 0,-1 0,5-7,-1 0,0 0,-1 0,0 0,-1-1,0 0,-1 0,0 0,-1-1,0 1,0-1,-2 0,1 0,-1 1,-1-1,0 0,-1 0,0 0,-1 0,0 0,-1 1,0-1,-1 1,-1 0,-6-14,5 13,-1 0,0 0,-1 0,0 1,-1 0,0 1,-1 0,0 0,0 1,-1 0,0 1,-1 0,0 1,0 1,-1-1,1 2,-1 0,-1 0,1 2,-22-5,29 8,0-1,0 1,0 0,0 1,0-1,0 1,0 0,0 1,-8 3,12-5,0 1,-1 0,1 0,0 1,0-1,0 0,0 1,1-1,-1 1,0 0,1-1,-1 1,1 0,-1 0,1 0,0 0,0 0,0 0,0 1,0-1,1 0,-1 0,1 1,-1-1,1 0,0 5,1 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30:27.9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373 520,'0'-13,"-1"0,0 0,-1 0,-1 0,0 1,0-1,-2 1,1 0,-2 0,-12-21,16 29,0 0,-1 1,0-1,0 1,0-1,0 1,-1 0,1 0,-1 1,0-1,1 1,-1 0,0-1,-1 2,1-1,0 0,0 1,-1 0,1 0,-1 0,1 1,-1 0,1-1,-1 2,1-1,-1 0,1 1,-1 0,1 0,-1 0,1 1,0-1,-8 5,0 0,0 2,0-1,1 1,0 1,0 0,1 1,0 0,1 0,0 1,-9 15,9-12,1-1,1 1,0 1,1-1,0 1,2 0,-1 0,-3 29,8-35,-1 0,1 0,0 0,1 0,0 0,1-1,0 1,0 0,1-1,0 1,5 8,-6-13,0 1,1-1,0 0,0 0,0-1,0 1,0-1,1 1,0-1,0 0,0-1,0 1,0-1,0 1,1-1,-1 0,1-1,-1 1,1-1,0 0,0 0,4 0,1-1,-1-1,0 0,1 0,-1 0,0-1,0-1,0 0,0 0,-1-1,1 0,-1 0,0-1,0 0,-1 0,14-12,-2-1,-1 0,-1-1,-1 0,24-38,-16 14,-1-2,-2 0,-2-1,-2-1,-3-1,-1 0,-3-1,8-85,-16 78,-3 40,-3 13,3 4,0 0,0 0,0 1,1-1,-1 1,0-1,0 0,1 1,-1 0,1-1,-1 3,-12 42,3 1,-9 90,13 100,8-173,18 106,-15-142,1-1,2-1,0 0,2 0,1 0,20 33,-24-47,1-1,1 0,0 0,1-1,12 12,-17-18,-1-1,1 1,0-1,0 0,0 0,0-1,0 1,1-1,-1 0,1 0,0-1,-1 0,1 0,9 0,2-4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30:27.96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0,'0'0,"1"15,4 26,2 32,0 30,1 21,1 12,-1 6,-2 1,-3-3,-5-8,-2-17,-1-25,-3-27,1-24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30:27.96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0 542,'0'0,"12"-6,14-5,15-6,12-8,13-9,15-13,10-15,6-14,0-6,-16 11,-23 17,-20 19,-18 14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30:27.96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1287 614,'1'-4,"10"-60,3-73,-13 115,-1-1,-1 0,-1 1,-1-1,-1 1,-1-1,-7-21,8 35,0 0,0 0,-1 0,0 1,-1-1,0 1,0 1,-1-1,0 1,0 0,-12-8,7 7,0 0,0 1,-1 1,0 0,0 1,0 1,-19-5,-2 4,0 0,0 3,-1 0,1 3,-64 8,36 0,0 2,1 4,1 2,1 2,-65 31,94-36,1 2,0 0,2 2,0 1,1 1,1 1,1 2,0 0,2 1,1 2,-26 40,38-51,1 0,1 0,0 1,1-1,1 1,0 1,1-1,-2 27,5-30,1 0,0 0,1 0,1 1,0-1,1 0,0-1,1 1,0 0,1-1,10 18,7 6,1-1,1-1,46 48,99 79,-129-127,0-3,2 0,1-3,74 36,-94-54,0-1,0-1,1 0,0-2,0-1,0-1,1-1,0-1,-1-2,1 0,42-6,-39 0,0-1,-1-1,0-2,0-1,-1-1,0-1,-1-1,-1-1,0-1,-1-2,-1 0,0-1,-2-1,33-42,-33 36,-1 0,-2-1,-1-1,-1-1,-2-1,0 1,-2-2,-2 0,0 0,-3-1,0 1,-2-2,0-32,-5 19,-2 1,-2 0,-1 0,-3 1,-2 0,-1 0,-3 1,-35-73,41 99,-1 0,0 1,-2 0,0 1,0 0,-28-25,30 32,0 1,0 0,-1 0,0 1,0 0,0 1,-1 0,1 1,-1 0,0 1,-20-2,21 3,-1 1,0 1,0 0,1 0,-1 1,0 1,1 0,-1 0,-17 7,10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9:00:39.36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660 395,'20'-1,"439"-58,-136 14,347-24,71-8,-661 67,764-85,7 57,-3 83,-2 45,-528-54,304 30,581 70,-1183-133,352 53,-272-37,159 54,-223-60,0 2,48 27,-72-35,0 1,-1 0,0 0,0 2,-1-1,0 1,0 1,-1-1,13 22,-19-27,-1 0,1 0,-1 1,0-1,0 1,0-1,-1 1,0-1,0 1,-1 0,1 0,-1-1,0 1,-1 0,0-1,-1 8,0-6,-1-1,1 1,-1-1,-1 0,1 0,-1 0,0-1,0 1,-1-1,1 0,-1 0,0 0,-9 5,-5 3,0-1,-2 0,0-2,0 0,-36 11,-121 23,162-41,-238 43,-392 21,-269-45,856-22,-1765 22,177 0,357-27,8-84,1075 62,-399-106,555 118,1-2,1-2,-82-46,119 58,0 0,1-2,0 1,0-1,-10-12,19 18,0 1,-1-1,2 1,-1-1,0 0,0 0,1 0,0 0,-1 0,1 0,0 0,0 0,1 0,-1 0,1-1,0 1,0 0,0 0,0-1,0 1,1 0,-1 0,1-1,0 1,0 0,2-4,0 1,1 0,0 1,0 0,1-1,-1 1,1 1,0-1,1 1,-1 0,1 0,0 1,0-1,11-4,8-1,-1 1,31-6,-48 12,61-13,102-9,-127 21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9:00:41.1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1039 531,'16'-1,"165"-24,185-50,-268 53,467-100,9 25,929-52,-723 110,-537 40,295 39,28 53,-2 23,125 23,91-18,-241-40,-433-64,147 43,-228-51,0 0,30 16,-48-21,0 0,-1 0,1 1,-1 0,1 0,-2 1,1-1,-1 1,1 0,7 14,-11-16,0-1,-1 1,1 0,-1 0,0 0,0 0,0 0,0 1,-1-1,0 0,0 0,0 0,0 1,-1-1,1 0,-1 0,-2 6,0-2,-1 0,0 0,0 0,-1-1,0 0,0 0,-11 11,1-2,-2-2,1 0,-2 0,-31 17,6-7,-55 20,7-10,-1-4,-107 20,-205 14,34-28,-54-12,-799-4,-8-36,957 11,-2706-11,2473 23,62-4,74-12,83-15,232 16,-92-25,133 28,0 1,0-2,1 0,0-1,1 0,-1-1,1-1,-17-14,26 20,1-1,-1 0,1 0,0 0,0-1,0 1,1 0,-1-1,1 0,0 0,1 0,-1 0,1 0,0 0,0 0,1 0,-1 0,1 0,0 0,1-1,-1 1,1 0,0 0,0 0,1 0,-1 0,4-6,1-2,0 0,2 0,-1 1,1-1,1 2,12-14,2 1,49-38,-13 19,2 2,73-36,145-53,-7 17,300-80,-378 141,3 8,292-26,-413 64,-1 2,137 13,-171-2,-21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9:03:21.57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1,'0'5,"53"670,7 58,-47-620,13 130,-22-175,-7 107,2-163,1-1,-1 1,0-1,-1 0,0 0,-1 0,0 0,-6 13,5-19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7T19:03:22.12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1 262,'14'18,"338"372,-322-360,0-1,68 49,-88-71,0-1,1 0,0 0,0-1,0 0,1-1,0-1,-1 0,1 0,0-1,1-1,-1 0,0 0,24-3,-21-1,0 0,0-1,0-1,-1 0,0-1,0-1,16-10,-11 5,0-2,-1-1,0 0,19-21,-9 3,-2-1,0-1,-3-2,33-65,-30 46,-3-1,-2-1,-2 0,-3-2,14-99,-28 132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15:22.97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21:57.04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442 1,'-17'12,"-48"45,3 3,-63 76,103-109,1 0,1 1,1 0,2 2,1 0,-17 45,27-60,1 0,1 0,1 0,0 1,1-1,1 1,0 0,1-1,1 1,0 0,1-1,1 1,1-1,0 0,0 0,9 18,-2-13,0-1,2 0,0-1,1 0,0-1,2-1,0 0,1-1,0-1,1 0,1-2,21 12,-16-11,0-1,1-2,0 0,1-2,0-1,0-1,0-1,1-1,49 1,-52-7,0 0,0-1,0-2,0 0,-1-2,0 0,0-2,-1 0,32-20,-37 20,-1-1,-1-1,0-1,0 0,-1-1,-1-1,0 0,-1-1,-1 0,0-1,-1 0,13-27,-18 30,-1 0,-1 0,0-1,0 1,-1-1,-1 1,-1-1,0 0,-1-13,-5-19,-16-60,5 25,2-12,7 37,-25-93,33 147,-1 0,1 1,-1-1,0 0,1 0,-1 0,0 1,0-1,0 0,0 1,-1-1,1 1,0-1,-1 1,1 0,-1 0,1-1,-1 1,-3-1,2 1,0 0,-1 1,1 0,0 0,-1 0,1 0,0 0,-1 1,1 0,-5 1,-20 3,1-1,-1-2,-51-1,-21 0,69 6,23-4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21:59.6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44,'3'17,"23"152,11 54,-30-194,1-1,1 0,2 0,1-1,24 40,-28-56,0 0,0 0,1-1,0 0,1-1,0 0,1-1,0 0,0 0,0-1,1-1,0 0,1 0,-1-1,1-1,0 0,0-1,25 3,-16-4,0-2,0 0,0-1,0-1,-1-1,1-1,0-1,-1-1,0-1,37-17,0-7,-1-2,-1-3,-2-2,63-58,-108 87,0 0,0 0,-1 0,0-1,0 0,-1-1,-1 0,7-13,-10 16,0 0,-1 0,0-1,0 1,-1 0,0-1,-1 1,0-1,0 0,-1 1,1-1,-5-15,1 11,0 0,0 0,-1 1,-1 0,0 0,0 0,-1 0,-1 1,0 1,-1-1,0 1,-14-13,6 10,0 1,-1 0,0 1,-1 1,0 1,0 1,-25-8,16 8,1 0,-1 2,0 0,-1 3,1 0,-1 2,1 0,-1 3,0 0,-28 6,-259 61,272-57,34-8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24:43.097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11,'0'0,"9"-4,-5 3,0-1,0 1,1 1,-1-1,0 0,0 1,1 0,4 0,-6 1,-1-1,0 1,0-1,0 1,0 0,1 0,-1 0,0 0,0 0,-1 0,1 1,0-1,0 0,-1 1,1 0,-1-1,3 4,-1-1,0-1,0 0,1 0,-1 0,1 0,0 0,0-1,0 1,0-1,0 0,1-1,-1 1,1-1,7 2,8 0,1 0,21 0,-6-1,163 7,-130-8,1 3,128 23,-182-23,0-1,1-1,-1 0,0-1,1-1,-1 0,0-1,1-1,-1-1,0 0,20-8,57-15,44-14,-96 25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24:44.19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1 107,'3'0,"-1"-1,1 0,0 1,0-1,-1-1,1 1,0 0,2-2,8-4,14-2,0 1,1 2,0 0,0 2,35-1,143 9,-131-1,624 2,-678-6,51-4,-65 5,-1-2,1 1,0-1,0 0,-1 0,1-1,10-5,-16 7,-1 0,1 1,0-1,-1 0,1 0,-1 0,1 1,-1-1,1 0,-1 0,1 0,-1 0,0 0,0 0,1 0,-1 0,0 0,0 0,0 0,0 0,0 0,0 0,0 0,0 0,-1 0,1 0,0 0,-1 0,1 0,0 0,-1 1,1-1,-1 0,0 0,1 0,-1 1,-1-2,1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26:31.581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1447 324,'-10'-14,"-8"-9,0 1,-2 0,0 2,-1 0,-1 1,-1 2,0 0,-2 1,0 1,-48-20,19 13,-57-15,85 30,0 1,-1 1,0 2,-40-1,17 5,0 2,0 3,-64 14,91-15,2 2,-1 0,1 1,0 2,1 0,0 1,1 0,0 2,-30 26,11 0,2 2,2 2,1 1,3 1,-48 94,67-116,1 1,1 1,1-1,2 1,0 1,1-1,2 1,-1 42,5-38,1 1,2 0,1-1,1 1,1-1,23 54,-16-49,3-1,0 0,2-1,2-1,1-1,1-1,45 45,-53-61,0-1,1 0,0-1,1 0,1-2,0 0,0-1,1 0,0-2,0 0,1-1,0-1,0-1,0-1,38 1,-32-5,0-1,0-1,0-1,-1-1,1-2,-1 0,-1-2,37-18,-30 10,-1-1,-1-1,-1-1,-1-2,45-45,-30 19,-2-2,-3-2,-1-1,-3-2,-2-1,38-99,-43 90,-3-2,-3 0,22-134,-40 187,-1 0,0-1,-1 1,-1 0,0-1,-4-13,4 22,0 1,-1 0,0 0,0 0,0 1,-1-1,0 0,0 1,0-1,0 1,0 0,-1 0,0 0,0 1,0-1,0 1,-1 0,1 0,-6-2,1 1,-1 0,0 1,1 0,-1 1,-1 0,1 0,0 1,0 1,0-1,-1 2,1-1,0 1,-20 5,6 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26:32.836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335 946,'0'0,"0"0,2-14,1-18,-1 0,-2 1,-2-1,-6-39,-3 6,-21-65,-16-16,-72-153,113 285,-14-33,19 45,1-1,-1 0,0 1,0-1,0 1,0 0,0 0,0 0,-1 0,1 0,-1 0,-5-3,7 5,-1 0,1-1,0 1,-1 0,1 0,-1 0,1 0,0 0,-1 1,1-1,-1 0,1 0,0 1,-1-1,1 1,0 0,0-1,-1 1,1 0,0 0,0-1,0 1,0 0,0 0,0 0,0 0,-1 2,-1 1,0 0,1 0,-1 0,1 1,0-1,-3 7,2 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26:33.482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247 0,'0'0,"0"0,0 0,0 0,0 0,-2 3,-48 45,-45 48,78-77,1 1,1 1,-17 31,21-33,2-3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8T20:26:35.039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1 1,'6'42,"2"12,-7-53,-1-1,0 1,1 0,-1 0,1-1,-1 1,1 0,-1-1,1 1,0-1,-1 1,1-1,0 1,-1-1,1 1,0-1,0 0,0 1,-1-1,1 0,0 0,0 0,0 1,1-1,25 0,-16 0,44 2,-26 0,0-2,0 0,54-8,-72 6,-7 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2:26:33.4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0 153,'5'-1,"-1"-1,1 1,0 0,0 0,9-1,8-1,61-12,2 3,106-1,55-5,137-43,-352 54,-19 1,-12 6,1 0,-1 0,0 0,0 0,0 0,0 0,0 0,0-1,0 1,0 0,0 0,0 0,1 0,-1 0,0 0,0-1,0 1,0 0,0 0,0 0,0 0,0 0,0 0,0-1,0 1,0 0,0 0,0 0,0 0,0 0,0 0,0-1,-1 1,1 0,0 0,0 0,0 0,0 0,0 0,0 0,0-1,0 1,0 0,-1 0,1 0,0 0,0 0,0 0,0 0,0 0,0 0,0 0,-1 0,1 0,0 0,0 0,0 0,0 0,0 0,-1 0,-13-5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2:26:41.2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74,'3'0,"-1"0,0 0,1 1,-1-1,0 1,1-1,-1 1,3 1,6 1,8 0,1-1,0-1,-1 0,1-2,0 0,0-1,-1-1,1-1,-1 0,25-11,-16 6,0 0,1 2,-1 1,1 1,0 2,51 0,147 18,5 0,-178-14,0-3,69-10,-93 4,-24 2,-6 5,0 0,-1 1,1-1,0 1,-1-1,1 1,-1 0,1-1,0 1,-1-1,1 1,-1 0,1-1,-1 1,0 0,1 0,-1-1,1 1,-1 0,0 0,-37-10,30 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2:31:12.6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12680 5111,'-17'13,"-25"13,-1-2,-71 30,-100 26,-409 119,-14-53,511-126,-1-5,-166-4,223-12,2-4,-1-3,1-3,0-3,-122-42,154 42,2-1,0-2,1-1,1-2,1-1,-53-47,63 48,0-2,2 0,0-2,2 0,0-1,2 0,1-1,0-1,-10-32,11 18,2-1,2 0,1-1,3 0,1 0,2-1,5-48,0 53,1 0,3 0,1 0,2 1,1 1,2 0,2 0,19-34,-32 66,32-50,-31 52,0-1,0 1,0-1,0 1,0 0,0 0,1 0,0 1,-1-1,1 1,6-3,-10 5,0 0,1 0,-1 0,0 0,1-1,-1 1,0 0,1 0,-1 0,0 0,1 0,-1 0,0 0,1 0,-1 0,1 0,-1 0,0 0,1 0,-1 0,0 1,1-1,-1 0,0 0,1 0,-1 0,0 1,0-1,1 0,-1 0,0 1,0-1,1 0,-1 0,0 1,0-1,0 0,1 1,-1-1,0 0,0 1,0-1,0 0,0 1,0-1,0 0,0 1,-2 21,-3-7,-1 1,0-1,-1 0,-13 21,-44 55,53-77,-32 44,-2-3,-3-1,-2-3,-2-2,-3-2,-106 70,99-82,-1-2,-2-4,-1-2,-1-3,-1-3,-1-3,-1-3,0-3,0-3,-1-4,0-2,-123-12,130 2,1-4,0-2,1-3,1-3,0-2,-63-33,75 29,1-3,1-2,1-2,2-1,1-3,2-1,-53-62,69 69,2-2,1 0,1-1,2-1,1-1,2-1,-13-41,20 45,1-1,1 0,2-1,1 0,2 0,1 1,1-1,8-49,0 39,1 0,3 0,1 2,2-1,2 2,2 0,2 1,1 2,2 0,2 1,1 1,40-40,-52 61,1 1,0 1,1 1,0 0,1 1,27-13,-38 21,0 1,1-1,-1 2,0-1,1 1,-1 0,0 0,1 1,9 0,-13 1,1-1,0 1,0 1,-1-1,1 1,-1 0,0 0,1 0,-1 0,0 1,0-1,0 1,-1 0,1 1,5 5,-5-3,1 0,-1 0,0 1,-1-1,0 1,0 0,0 0,-1 0,3 12,-2-4,-1 0,-1 0,0 1,-2 14,-2-4,0 0,-2-1,-1 0,-1 0,-1 0,-2-1,0-1,-1 1,-1-1,-30 40,8-19,-2-1,-2-2,-1-2,-52 40,15-21,-3-3,-2-4,-2-4,-2-3,-181 65,165-77,-1-4,-1-5,0-4,-2-5,-135 1,158-15,-124-18,152 9,-1-2,2-2,-68-27,89 27,2-1,0-1,0-2,2-1,0-1,-35-32,45 33,0 0,1-2,0 0,2 0,1-2,0 0,2-1,0 0,-9-29,11 20,2 0,1 0,1 0,2-1,1 0,2 0,1 1,1-1,2 0,2 0,12-48,-7 45,1 1,2 0,2 0,0 2,3 0,0 1,3 0,0 2,48-52,-50 64,-21 23,-35 32,-21 8,-2-3,-90 48,-150 50,174-90,-2-7,-2-5,-247 39,281-65,0-5,-1-3,0-5,0-4,1-4,-110-25,151 21,0-3,2-2,0-2,1-2,-76-45,97 48,2-2,1 0,0-2,2-1,0-1,2-2,1 0,1-1,-34-59,37 50,3 0,1-2,1 0,3 0,1-1,2 0,1-1,3 0,1 0,2 0,7-67,0 57,2 1,3 0,1 0,3 1,2 1,1 1,3 0,54-86,-67 119,2 0,0 0,0 1,1 1,1-1,0 2,15-12,-25 22,-1 0,1 0,-1 0,1 0,0 1,-1-1,1 0,0 1,0 0,-1-1,1 1,0 0,0 0,2 0,-4 0,1 0,-1 0,0 0,1 0,-1 0,1 1,-1-1,0 0,1 0,-1 1,0-1,0 0,1 0,-1 1,0-1,1 0,-1 1,0-1,0 0,0 1,1-1,-1 0,0 1,-1 16,-2-9,0-1,0 0,-1 0,0 0,0 0,-1-1,-7 9,-48 45,-2-8,-2-3,-2-3,-2-3,-2-3,-1-3,-86 32,101-48,0-3,-1-2,-1-2,0-3,-1-3,0-2,-66-2,89-5,-1-2,1-1,0-2,1-1,0-2,0-1,1-2,0-2,1-1,0-1,1-2,-53-39,42 19,2-1,1-2,2-2,3-1,1-2,2-1,-38-78,15 10,5-2,-45-158,50 118,-31-206,63 268,4-1,4 1,11-151,0 186,4 0,1 1,24-68,-25 96,2 0,1 0,2 1,1 1,1 1,1 0,29-33,-37 51,-1-1,22-15,-29 24,1 0,-1 1,1-1,-1 0,1 1,0 0,-1 0,1 0,0 0,0 0,0 0,0 1,0-1,0 1,0 0,0 0,0 0,0 0,4 1,-5 0,0 0,-1 0,1 0,0 0,-1 1,1-1,-1 0,0 1,1-1,-1 1,0-1,0 1,0 0,0-1,0 1,0 0,0 0,-1 0,1-1,-1 1,1 0,-1 0,0 0,0 0,0 0,0 0,0 3,0 5,-1 0,-1-1,1 1,-4 11,2-11,-1 0,0-1,0 1,-1-1,0 1,0-1,-1-1,0 1,-12 11,16-18,0 0,0 1,-1-1,1 0,-1-1,0 1,0 0,1-1,-1 0,0 1,0-1,0 0,0-1,-1 1,1 0,0-1,0 0,0 0,-1 0,1 0,0 0,0 0,0-1,0 0,0 0,0 0,0 0,0 0,0 0,0-1,0 1,0-1,1 0,-4-3,-65-57,63 54,0 0,1-1,0 0,0-1,1 0,-6-11,13 22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2:31:13.3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246 0,'0'0,"0"0,-1 3,-4 30,-2-1,-1 0,-24 58,-53 88,6-13,73-153,1 0,1 0,0 1,1 0,-3 24,6-20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2:31:13.6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1,'0'0,"1"2,18 27,1-1,1-1,29 29,-37-43,0-2,0 1,2-2,-1 0,1 0,1-2,-1 0,23 8,34 4,0-3,93 10,-100-18,-48-6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2:31:23.4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4962,'18'-4,"46"-11,107-39,56-43,-145 58,-3-5,-1-2,-2-4,-2-4,-3-2,-3-3,82-92,-113 107,-1-1,-3-2,-2-2,-2-1,29-68,-41 77,-3 0,-1-1,-2 0,-2-1,-2 0,-2-1,-1-71,-5 81,-2 0,-1 1,-2-1,-1 1,-2 0,-1 1,-23-50,24 63,0 1,-2 1,0 0,0 0,-2 1,0 0,0 2,-2-1,0 2,0 0,-1 0,-1 2,-34-19,42 26,-1 0,1 1,-1 0,0 0,0 1,0 0,0 1,-1 0,1 0,0 1,-1 1,1 0,0 0,0 1,0 0,0 1,0 0,1 1,-1 0,1 0,0 1,0 0,0 1,1-1,0 2,0-1,0 1,1 1,0-1,0 1,1 0,0 1,1-1,0 1,-8 19,7-13,1-1,1 1,0 0,1 0,0 0,2 0,0 0,0 1,1-1,1 0,1 1,0-1,8 27,-8-34,1-1,0 1,0-1,1 1,0-1,0 0,0 0,1-1,0 1,1-1,-1 0,1-1,0 1,1-1,-1 0,1-1,0 0,0 0,0 0,1-1,-1 0,1 0,0-1,0 0,0 0,0-1,12 0,-2-1,0-1,0-1,0 0,0-2,-1 0,1-1,-1 0,0-2,0 0,-1-1,21-13,-7 1,-1 0,-1-2,-1-1,46-51,-47 44,-2-1,-2-2,-1 0,-1-1,-2-1,-1-1,-2-1,14-51,-22 61,-2 0,-1 0,0-1,-3 1,-1-39,-1 46,-2 0,0 0,-1 1,-2-1,1 1,-2 0,-1 1,-10-19,10 23,0 1,-1 1,-1 0,0 0,-1 1,0 0,0 0,-1 2,-1-1,0 2,0 0,0 0,-20-7,23 11,0 0,0 1,0 0,-1 1,1 0,-1 0,1 1,-1 1,1 0,-1 0,1 1,-1 0,1 1,-1 0,1 1,0 0,0 1,0 0,1 0,-12 7,17-8,1 0,-1-1,1 1,-1 0,1 0,0 1,0-1,1 1,-1 0,1-1,-1 1,1 0,1 0,-1 1,-1 4,2-8,1 1,0 0,0-1,0 1,0 0,0-1,0 1,0 0,1-1,-1 1,0-1,1 1,-1 0,1-1,0 1,0-1,0 2,1-1,0 0,0 0,0 0,0-1,0 1,0-1,0 0,0 1,0-1,1 0,-1 0,0 0,1-1,3 2,3-1,0 0,0 0,0-1,0 0,0-1,0 0,0 0,0-1,-1 0,1 0,0-1,-1 0,0-1,0 0,13-8,-5 1,-1 0,0 0,-1-1,0-1,-1-1,20-26,-13 10,-2-1,-1 0,-2-1,0-1,-3 0,-1-1,-1-1,-2 0,6-54,-8 21,-2 0,-4-1,-2 0,-13-70,4 69,-3 1,-3 0,-2 1,-4 1,-3 2,-49-92,68 147,-11-23,18 32,-1 1,1-1,-1 0,1 0,0 0,-1 0,1 0,0 0,0 0,0 0,0 0,-1 0,2 0,-1 1,0-1,0 0,0 0,0 0,0 0,1 0,-1 0,0 0,1 0,-1 0,1 1,-1-1,1 0,0-1,7-2,-1 0,0 1,1 0,-1 0,1 0,0 1,11-1,18-7,-17 4,-1-1,0-1,-1 0,0-2,0 0,-1-1,16-14,-28 21,0 0,-1 0,1-1,-1 1,-1-1,1 0,-1 0,0-1,0 1,0-1,0 1,-1-1,0 0,-1 0,1 0,-1 0,0 0,-1 0,1 0,-1 0,0-1,-1 1,0 0,0 0,0 0,0 0,-4-9,-3-3,-1 1,0 0,-1 1,0 0,-2 1,0 0,0 0,-30-25,-1 4,-86-54,70 53,-112-50,134 72,0 1,-1 2,-1 1,-59-7,36 13,58 5,-1 1,0-1,0 1,0 0,1 0,-1 0,0 0,1 1,-1 0,-4 3,8-5,1 0,-1 1,0-1,1 1,-1-1,0 0,1 1,-1 0,1-1,-1 1,1-1,-1 1,1 0,-1-1,1 1,0 0,-1-1,1 1,0 0,0 0,0-1,-1 1,1 0,0 0,0 0,0-1,0 1,0 0,0 0,1 0,-1-1,0 1,0 0,0 0,1-1,-1 1,0 0,1-1,-1 1,1 0,-1-1,1 1,-1-1,1 1,-1 0,1-1,-1 1,1-1,0 0,-1 1,1-1,1 1,0 1,1 0,0 0,0-1,0 1,0-1,0 0,0 1,1-1,-1-1,0 1,5 0,-8-1,0 0,1 0,-1 0,0 0,0 0,0 0,1 0,-1 0,0 0,0 0,1 0,-1-1,0 1,0 0,0 0,1 0,-1 0,0 0,0 0,0-1,0 1,1 0,-1 0,0 0,0-1,0 1,0 0,0 0,0 0,0-1,0 1,1 0,-1 0,0-1,0 1,0 0,0 0,0-1,0 1,-5-13,-9-10,4 11,0 1,-1 0,-23-17,22 18,0 0,0-1,-15-18,21 18,5 10,1-1,-1 1,1 0,-1 0,1 0,-1 0,0 0,1 0,-1 0,0 0,0 0,0 0,0 1,0-1,0 0,0 1,0-1,-2 0,-6-1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2:31:24.3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771 46,'-13'-8,"0"2,0 0,-1 1,0 0,0 1,-1 0,1 2,-1-1,1 2,-1 0,0 0,-20 3,-14 5,1 1,-66 21,-10 1,-52-6,120-18,74-3,-1 2,19 6,-15-2,0 0,0 2,-1 0,-1 1,0 1,27 25,94 100,-102-95,-8-8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2:20:43.4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0 575,'13'0,"-1"-2,0 0,1 0,-1-1,15-6,1 0,1121-283,-1014 263,374-88,-487 111,86-27,-97 28,1 0,-1 0,0-1,-1 0,1-1,14-13,-17 10,-7 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2:20:44.00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0,'21'20,"12"6,2 0,0-3,73 37,123 38,-112-54,2-6,1-4,2-6,206 20,92-32,-416-16,6 1,1-2,0 1,-1-2,21-3,-14-3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3:19:05.7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7567 631,'-4'-2,"1"0,0-1,0 1,0-1,0 1,-2-4,-11-9,-11-5,-1 1,-2 1,1 2,-34-14,-133-42,53 22,-29-16,-283-68,-185 34,-9 50,-494 29,-2 71,931-36,-1199 95,977-56,320-34,-188 59,144-18,144-52,1 0,-1 1,1 1,1 0,0 1,0 1,-15 16,26-24,0-1,0 1,0 0,1-1,-1 2,1-1,0 0,0 0,0 1,1-1,0 1,0-1,0 1,0-1,1 1,-1 6,2-5,0-1,0 0,1 1,-1-1,1 0,0 0,0 0,1 0,0-1,-1 1,2-1,-1 1,0-1,5 4,8 7,1 1,0-2,2 0,-1-2,25 13,108 46,-145-69,104 41,2-6,1-4,1-6,128 15,476 6,121-59,3-31,-617 29,438-22,753-46,-400-24,-986 101,142-27,-148 25,0-1,0 0,-1-2,38-20,-58 27,0 0,0 0,0 0,0 0,0-1,0 1,-1-1,1 0,-1 0,0 0,3-4,-5 6,1 0,-1 0,0-1,0 1,1 0,-1 0,0 0,0 0,0 0,0-1,0 1,-1 0,1 0,0 0,0 0,-1 0,1 0,-1 0,1 0,-1 0,1 0,-1 0,0 0,1 0,-1 0,0 0,0 0,0 1,0-1,0 0,0 1,0-1,0 0,0 1,0-1,0 1,-1-1,-7-2,1 0,0 0,-1 1,-16-2,-9-1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3:19:08.5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1,'15'5,"-7"-1,20 11,0 0,-1 2,-1 1,-1 1,27 26,105 123,-87-80,-4 3,98 178,-99-140,83 240,-83-152,-9 3,47 401,-81-400,-9 252,-20-304,-7 0,-39 181,36-264,-32 145,60-276,-8 34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3:19:09.3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0,'0'0,"18"10,14 5,16 0,13-2,13-5,11-4,9-5,4-4,-3-2,-9-2,-16-2,-20 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3:19:09.9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1,'11'19,"30"51,-16-29,24 53,-42-78,-2-1,1 1,-2 0,0 1,-1-1,-1 1,1 22,-3-25,0 0,-2 0,1 0,-1 0,-1 0,-1 0,-8 22,-1-10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3:19:24.952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3655 642,'0'0,"-3"-3,-31-27,-57-69,-12-12,70 82,-2 1,0 2,-2 2,-60-30,39 27,-1 3,-95-26,9 18,-283-26,-419 13,550 43,199 7,-98 16,145-12,1 1,0 3,0 1,1 3,1 2,1 3,1 1,1 2,-58 42,66-37,1 1,1 1,2 2,2 2,-41 57,55-68,2 0,1 1,1 1,1 0,1 1,1 0,2 0,1 1,-6 57,11-69,2 1,1 0,0 0,1 0,1-1,0 1,2-1,8 23,-8-27,2 0,-1 0,2-1,-1 0,2 0,0 0,0-1,1-1,0 0,22 17,-5-10,1 0,0-2,1-1,0-1,2-2,-1-1,1-1,39 6,9-3,0-4,98-2,-13-11,0-8,281-58,307-133,-423 90,-20-24,-288 127,-1 0,0-2,23-19,-42 31,0 1,0-1,1 0,-1 0,0-1,-1 1,1 0,0 0,0 0,0-1,-1 1,1 0,0-1,0-1,-1 3,0-1,0 1,-1-1,1 1,0-1,0 1,0-1,0 1,0-1,-1 1,1-1,0 1,0 0,-1-1,1 1,0-1,-1 1,1 0,0-1,-1 1,1 0,-1-1,1 1,-1 0,1 0,0-1,-1 1,-5-2,0 1,1-1,-1 1,0 1,-8-1,12 0,-16 0,-129-15,128 12,1 0,-1-2,1 0,0-1,-29-16,35 16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3:19:26.200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2830 1,'18'11,"11"10,-1 1,-1 1,-1 2,31 38,-15-10,51 83,-62-81,-2 0,-3 2,36 110,-40-87,-4 1,12 116,-20-46,-7 0,-30 283,3-249,-80 308,67-369,-5-2,-6-1,-83 151,52-138,-5-4,-6-3,-6-5,-176 176,127-162,-7-7,-4-6,-198 117,-505 236,633-357,163-85,14-6,-1-3,-1-1,-84 25,130-47,0-1,0 0,-1 0,1 0,-1-1,1 0,-1 0,1 0,-1 0,1-1,0 0,-9-3,12 3,0 0,1 0,-1 0,0 0,0-1,1 1,-1 0,1-1,-1 0,1 1,0-1,-1 0,1 0,0 0,0 0,0 0,1 0,-1 0,0 0,1 0,-1 0,1 0,0 0,0 0,0-1,0 1,0 0,0 0,0 0,1 0,0-4,6-17,2 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3:19:27.793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1 1,'2'3,"11"16,1-1,0-1,2 0,0 0,35 26,-38-34,0-1,1 0,0-1,0 0,1-1,0 0,0-2,0 0,27 4,-25-6,0 0,0-1,1-1,-1-1,0 0,1-1,20-6,-13-1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09T03:19:32.996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188 0,'0'0,"0"0,0 0,0 4,3 21,-1 1,-2-1,-1 1,0 0,-2-1,-11 44,-129 413,113-398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69ED9-CB95-4DAD-9B9B-E560A3321DC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470F9-3B63-4A29-A4D2-E4DBA5B3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0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82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88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23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98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49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47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83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25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87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70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27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46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468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41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52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3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576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80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484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123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349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821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079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984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402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047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868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261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297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CA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Ordering of columns is unimportant as far as contents are concerned</a:t>
                </a:r>
              </a:p>
              <a:p>
                <a:endParaRPr lang="en-CA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So cross product is </a:t>
                </a:r>
                <a:r>
                  <a:rPr lang="en-US" dirty="0">
                    <a:solidFill>
                      <a:schemeClr val="accent2"/>
                    </a:solidFill>
                  </a:rPr>
                  <a:t>commutative</a:t>
                </a:r>
                <a:r>
                  <a:rPr lang="en-US" dirty="0"/>
                  <a:t>, i.e., for any </a:t>
                </a:r>
                <a:r>
                  <a:rPr lang="en-US" i="0" dirty="0">
                    <a:latin typeface="Cambria Math" panose="02040503050406030204" pitchFamily="18" charset="0"/>
                  </a:rPr>
                  <a:t>𝑅</a:t>
                </a:r>
                <a:r>
                  <a:rPr lang="en-US" dirty="0"/>
                  <a:t> and </a:t>
                </a:r>
                <a:r>
                  <a:rPr lang="en-US" i="0" dirty="0">
                    <a:latin typeface="Cambria Math" panose="02040503050406030204" pitchFamily="18" charset="0"/>
                  </a:rPr>
                  <a:t>𝑆</a:t>
                </a:r>
                <a:r>
                  <a:rPr lang="en-US" dirty="0"/>
                  <a:t>, </a:t>
                </a:r>
                <a:r>
                  <a:rPr lang="en-US" b="0" i="0">
                    <a:latin typeface="Cambria Math" panose="02040503050406030204" pitchFamily="18" charset="0"/>
                  </a:rPr>
                  <a:t>𝑅×𝑆=𝑆×𝑅</a:t>
                </a:r>
                <a:r>
                  <a:rPr lang="en-US" dirty="0"/>
                  <a:t> (up to the ordering of columns)</a:t>
                </a:r>
              </a:p>
              <a:p>
                <a:endParaRPr lang="en-CA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834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665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531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352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342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586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402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78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5474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28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667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643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775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602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392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029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024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9418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454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2755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675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7787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949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4683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289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6241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652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3601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9076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0164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8412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3969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8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85E7-7033-4BD1-A625-C36166465D72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62161"/>
            <a:ext cx="8801664" cy="11801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264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8C2A-DC08-4D71-B5BC-A571B022E25E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74061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DCD6-3D10-40FA-A88B-E0AD5136A360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8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43D1-D08D-4D7D-B4AB-E82156BEAC2C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6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8F3BF-3FC2-4600-9976-243D0786F5BB}" type="datetime1">
              <a:rPr lang="en-US" smtClean="0"/>
              <a:t>7/26/2021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2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7219-C430-46CE-85B9-30B4F0CA56AD}" type="datetime1">
              <a:rPr lang="en-US" smtClean="0"/>
              <a:t>7/26/2021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6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57F-C273-4FC9-8FE1-6D874FEF83EF}" type="datetime1">
              <a:rPr lang="en-US" smtClean="0"/>
              <a:t>7/26/2021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8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ADF5-D710-4EBB-AA69-2A818CDF92E1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5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EE3B-FC30-46DA-98F7-BE80A4010F5D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8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1231-A0A7-4403-8B90-83ED4F249362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8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61F2-D403-4BA1-A95E-62DE29B59CB4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3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D50E-B569-40DB-B6B5-FEED8173E279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5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10.png"/><Relationship Id="rId12" Type="http://schemas.openxmlformats.org/officeDocument/2006/relationships/customXml" Target="../ink/ink4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6" Type="http://schemas.openxmlformats.org/officeDocument/2006/relationships/customXml" Target="../ink/ink6.xml"/><Relationship Id="rId1" Type="http://schemas.openxmlformats.org/officeDocument/2006/relationships/tags" Target="../tags/tag2.xml"/><Relationship Id="rId11" Type="http://schemas.openxmlformats.org/officeDocument/2006/relationships/image" Target="../media/image4.png"/><Relationship Id="rId15" Type="http://schemas.openxmlformats.org/officeDocument/2006/relationships/image" Target="../media/image6.png"/><Relationship Id="rId10" Type="http://schemas.openxmlformats.org/officeDocument/2006/relationships/customXml" Target="../ink/ink3.xml"/><Relationship Id="rId4" Type="http://schemas.openxmlformats.org/officeDocument/2006/relationships/customXml" Target="../ink/ink1.xml"/><Relationship Id="rId9" Type="http://schemas.openxmlformats.org/officeDocument/2006/relationships/image" Target="../media/image310.png"/><Relationship Id="rId1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1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10.png"/><Relationship Id="rId12" Type="http://schemas.openxmlformats.org/officeDocument/2006/relationships/customXml" Target="../ink/ink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11" Type="http://schemas.openxmlformats.org/officeDocument/2006/relationships/image" Target="../media/image10.png"/><Relationship Id="rId10" Type="http://schemas.openxmlformats.org/officeDocument/2006/relationships/customXml" Target="../ink/ink9.xml"/><Relationship Id="rId4" Type="http://schemas.openxmlformats.org/officeDocument/2006/relationships/customXml" Target="../ink/ink7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customXml" Target="../ink/ink17.xml"/><Relationship Id="rId26" Type="http://schemas.openxmlformats.org/officeDocument/2006/relationships/customXml" Target="../ink/ink21.xml"/><Relationship Id="rId39" Type="http://schemas.openxmlformats.org/officeDocument/2006/relationships/image" Target="../media/image28.png"/><Relationship Id="rId21" Type="http://schemas.openxmlformats.org/officeDocument/2006/relationships/image" Target="../media/image19.png"/><Relationship Id="rId34" Type="http://schemas.openxmlformats.org/officeDocument/2006/relationships/customXml" Target="../ink/ink25.xml"/><Relationship Id="rId42" Type="http://schemas.openxmlformats.org/officeDocument/2006/relationships/customXml" Target="../ink/ink29.xml"/><Relationship Id="rId47" Type="http://schemas.openxmlformats.org/officeDocument/2006/relationships/image" Target="../media/image32.png"/><Relationship Id="rId50" Type="http://schemas.openxmlformats.org/officeDocument/2006/relationships/customXml" Target="../ink/ink33.xml"/><Relationship Id="rId55" Type="http://schemas.openxmlformats.org/officeDocument/2006/relationships/customXml" Target="../ink/ink37.xml"/><Relationship Id="rId7" Type="http://schemas.openxmlformats.org/officeDocument/2006/relationships/image" Target="../media/image121.png"/><Relationship Id="rId2" Type="http://schemas.openxmlformats.org/officeDocument/2006/relationships/slideLayout" Target="../slideLayouts/slideLayout2.xml"/><Relationship Id="rId16" Type="http://schemas.openxmlformats.org/officeDocument/2006/relationships/customXml" Target="../ink/ink16.xml"/><Relationship Id="rId29" Type="http://schemas.openxmlformats.org/officeDocument/2006/relationships/image" Target="../media/image23.png"/><Relationship Id="rId11" Type="http://schemas.openxmlformats.org/officeDocument/2006/relationships/image" Target="../media/image14.png"/><Relationship Id="rId24" Type="http://schemas.openxmlformats.org/officeDocument/2006/relationships/customXml" Target="../ink/ink20.xml"/><Relationship Id="rId32" Type="http://schemas.openxmlformats.org/officeDocument/2006/relationships/customXml" Target="../ink/ink24.xml"/><Relationship Id="rId37" Type="http://schemas.openxmlformats.org/officeDocument/2006/relationships/image" Target="../media/image27.png"/><Relationship Id="rId40" Type="http://schemas.openxmlformats.org/officeDocument/2006/relationships/customXml" Target="../ink/ink28.xml"/><Relationship Id="rId45" Type="http://schemas.openxmlformats.org/officeDocument/2006/relationships/image" Target="../media/image31.png"/><Relationship Id="rId53" Type="http://schemas.openxmlformats.org/officeDocument/2006/relationships/customXml" Target="../ink/ink35.xml"/><Relationship Id="rId58" Type="http://schemas.openxmlformats.org/officeDocument/2006/relationships/customXml" Target="../ink/ink40.xml"/><Relationship Id="rId19" Type="http://schemas.openxmlformats.org/officeDocument/2006/relationships/image" Target="../media/image18.png"/><Relationship Id="rId4" Type="http://schemas.openxmlformats.org/officeDocument/2006/relationships/customXml" Target="../ink/ink11.xml"/><Relationship Id="rId9" Type="http://schemas.openxmlformats.org/officeDocument/2006/relationships/image" Target="../media/image13.png"/><Relationship Id="rId14" Type="http://schemas.openxmlformats.org/officeDocument/2006/relationships/customXml" Target="../ink/ink15.xml"/><Relationship Id="rId22" Type="http://schemas.openxmlformats.org/officeDocument/2006/relationships/customXml" Target="../ink/ink19.xml"/><Relationship Id="rId27" Type="http://schemas.openxmlformats.org/officeDocument/2006/relationships/image" Target="../media/image22.png"/><Relationship Id="rId30" Type="http://schemas.openxmlformats.org/officeDocument/2006/relationships/customXml" Target="../ink/ink23.xml"/><Relationship Id="rId35" Type="http://schemas.openxmlformats.org/officeDocument/2006/relationships/image" Target="../media/image26.png"/><Relationship Id="rId43" Type="http://schemas.openxmlformats.org/officeDocument/2006/relationships/image" Target="../media/image30.png"/><Relationship Id="rId48" Type="http://schemas.openxmlformats.org/officeDocument/2006/relationships/customXml" Target="../ink/ink32.xml"/><Relationship Id="rId56" Type="http://schemas.openxmlformats.org/officeDocument/2006/relationships/customXml" Target="../ink/ink38.xml"/><Relationship Id="rId8" Type="http://schemas.openxmlformats.org/officeDocument/2006/relationships/customXml" Target="../ink/ink12.xml"/><Relationship Id="rId51" Type="http://schemas.openxmlformats.org/officeDocument/2006/relationships/image" Target="../media/image34.png"/><Relationship Id="rId3" Type="http://schemas.openxmlformats.org/officeDocument/2006/relationships/notesSlide" Target="../notesSlides/notesSlide6.xml"/><Relationship Id="rId12" Type="http://schemas.openxmlformats.org/officeDocument/2006/relationships/customXml" Target="../ink/ink14.xml"/><Relationship Id="rId17" Type="http://schemas.openxmlformats.org/officeDocument/2006/relationships/image" Target="../media/image17.png"/><Relationship Id="rId25" Type="http://schemas.openxmlformats.org/officeDocument/2006/relationships/image" Target="../media/image21.png"/><Relationship Id="rId33" Type="http://schemas.openxmlformats.org/officeDocument/2006/relationships/image" Target="../media/image25.png"/><Relationship Id="rId38" Type="http://schemas.openxmlformats.org/officeDocument/2006/relationships/customXml" Target="../ink/ink27.xml"/><Relationship Id="rId46" Type="http://schemas.openxmlformats.org/officeDocument/2006/relationships/customXml" Target="../ink/ink31.xml"/><Relationship Id="rId59" Type="http://schemas.openxmlformats.org/officeDocument/2006/relationships/customXml" Target="../ink/ink41.xml"/><Relationship Id="rId20" Type="http://schemas.openxmlformats.org/officeDocument/2006/relationships/customXml" Target="../ink/ink18.xml"/><Relationship Id="rId41" Type="http://schemas.openxmlformats.org/officeDocument/2006/relationships/image" Target="../media/image29.png"/><Relationship Id="rId54" Type="http://schemas.openxmlformats.org/officeDocument/2006/relationships/customXml" Target="../ink/ink36.xml"/><Relationship Id="rId1" Type="http://schemas.openxmlformats.org/officeDocument/2006/relationships/tags" Target="../tags/tag4.xml"/><Relationship Id="rId15" Type="http://schemas.openxmlformats.org/officeDocument/2006/relationships/image" Target="../media/image16.png"/><Relationship Id="rId23" Type="http://schemas.openxmlformats.org/officeDocument/2006/relationships/image" Target="../media/image20.png"/><Relationship Id="rId28" Type="http://schemas.openxmlformats.org/officeDocument/2006/relationships/customXml" Target="../ink/ink22.xml"/><Relationship Id="rId36" Type="http://schemas.openxmlformats.org/officeDocument/2006/relationships/customXml" Target="../ink/ink26.xml"/><Relationship Id="rId49" Type="http://schemas.openxmlformats.org/officeDocument/2006/relationships/image" Target="../media/image33.png"/><Relationship Id="rId57" Type="http://schemas.openxmlformats.org/officeDocument/2006/relationships/customXml" Target="../ink/ink39.xml"/><Relationship Id="rId10" Type="http://schemas.openxmlformats.org/officeDocument/2006/relationships/customXml" Target="../ink/ink13.xml"/><Relationship Id="rId31" Type="http://schemas.openxmlformats.org/officeDocument/2006/relationships/image" Target="../media/image24.png"/><Relationship Id="rId44" Type="http://schemas.openxmlformats.org/officeDocument/2006/relationships/customXml" Target="../ink/ink30.xml"/><Relationship Id="rId52" Type="http://schemas.openxmlformats.org/officeDocument/2006/relationships/customXml" Target="../ink/ink34.xml"/><Relationship Id="rId60" Type="http://schemas.openxmlformats.org/officeDocument/2006/relationships/customXml" Target="../ink/ink4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13" Type="http://schemas.openxmlformats.org/officeDocument/2006/relationships/image" Target="../media/image38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51.png"/><Relationship Id="rId12" Type="http://schemas.openxmlformats.org/officeDocument/2006/relationships/customXml" Target="../ink/ink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11" Type="http://schemas.openxmlformats.org/officeDocument/2006/relationships/image" Target="../media/image37.png"/><Relationship Id="rId10" Type="http://schemas.openxmlformats.org/officeDocument/2006/relationships/customXml" Target="../ink/ink45.xml"/><Relationship Id="rId4" Type="http://schemas.openxmlformats.org/officeDocument/2006/relationships/customXml" Target="../ink/ink43.xml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39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40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13" Type="http://schemas.openxmlformats.org/officeDocument/2006/relationships/customXml" Target="../ink/ink50.xml"/><Relationship Id="rId18" Type="http://schemas.openxmlformats.org/officeDocument/2006/relationships/image" Target="../media/image46.png"/><Relationship Id="rId3" Type="http://schemas.openxmlformats.org/officeDocument/2006/relationships/notesSlide" Target="../notesSlides/notesSlide11.xml"/><Relationship Id="rId21" Type="http://schemas.openxmlformats.org/officeDocument/2006/relationships/customXml" Target="../ink/ink54.xml"/><Relationship Id="rId7" Type="http://schemas.openxmlformats.org/officeDocument/2006/relationships/customXml" Target="../ink/ink47.xml"/><Relationship Id="rId12" Type="http://schemas.openxmlformats.org/officeDocument/2006/relationships/image" Target="../media/image43.png"/><Relationship Id="rId17" Type="http://schemas.openxmlformats.org/officeDocument/2006/relationships/customXml" Target="../ink/ink5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5.png"/><Relationship Id="rId20" Type="http://schemas.openxmlformats.org/officeDocument/2006/relationships/image" Target="../media/image47.png"/><Relationship Id="rId1" Type="http://schemas.openxmlformats.org/officeDocument/2006/relationships/tags" Target="../tags/tag8.xml"/><Relationship Id="rId6" Type="http://schemas.openxmlformats.org/officeDocument/2006/relationships/image" Target="../media/image401.png"/><Relationship Id="rId11" Type="http://schemas.openxmlformats.org/officeDocument/2006/relationships/customXml" Target="../ink/ink49.xml"/><Relationship Id="rId24" Type="http://schemas.openxmlformats.org/officeDocument/2006/relationships/image" Target="../media/image49.png"/><Relationship Id="rId15" Type="http://schemas.openxmlformats.org/officeDocument/2006/relationships/customXml" Target="../ink/ink51.xml"/><Relationship Id="rId23" Type="http://schemas.openxmlformats.org/officeDocument/2006/relationships/customXml" Target="../ink/ink55.xml"/><Relationship Id="rId10" Type="http://schemas.openxmlformats.org/officeDocument/2006/relationships/image" Target="../media/image421.png"/><Relationship Id="rId19" Type="http://schemas.openxmlformats.org/officeDocument/2006/relationships/customXml" Target="../ink/ink53.xml"/><Relationship Id="rId9" Type="http://schemas.openxmlformats.org/officeDocument/2006/relationships/customXml" Target="../ink/ink48.xml"/><Relationship Id="rId14" Type="http://schemas.openxmlformats.org/officeDocument/2006/relationships/image" Target="../media/image44.png"/><Relationship Id="rId22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50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7.xml"/><Relationship Id="rId13" Type="http://schemas.openxmlformats.org/officeDocument/2006/relationships/image" Target="../media/image541.png"/><Relationship Id="rId18" Type="http://schemas.openxmlformats.org/officeDocument/2006/relationships/customXml" Target="../ink/ink62.xml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512.png"/><Relationship Id="rId12" Type="http://schemas.openxmlformats.org/officeDocument/2006/relationships/customXml" Target="../ink/ink59.xml"/><Relationship Id="rId17" Type="http://schemas.openxmlformats.org/officeDocument/2006/relationships/image" Target="../media/image561.png"/><Relationship Id="rId2" Type="http://schemas.openxmlformats.org/officeDocument/2006/relationships/slideLayout" Target="../slideLayouts/slideLayout2.xml"/><Relationship Id="rId16" Type="http://schemas.openxmlformats.org/officeDocument/2006/relationships/customXml" Target="../ink/ink61.xml"/><Relationship Id="rId1" Type="http://schemas.openxmlformats.org/officeDocument/2006/relationships/tags" Target="../tags/tag15.xml"/><Relationship Id="rId11" Type="http://schemas.openxmlformats.org/officeDocument/2006/relationships/image" Target="../media/image531.png"/><Relationship Id="rId15" Type="http://schemas.openxmlformats.org/officeDocument/2006/relationships/image" Target="../media/image551.png"/><Relationship Id="rId10" Type="http://schemas.openxmlformats.org/officeDocument/2006/relationships/customXml" Target="../ink/ink58.xml"/><Relationship Id="rId19" Type="http://schemas.openxmlformats.org/officeDocument/2006/relationships/image" Target="../media/image57.png"/><Relationship Id="rId4" Type="http://schemas.openxmlformats.org/officeDocument/2006/relationships/customXml" Target="../ink/ink56.xml"/><Relationship Id="rId9" Type="http://schemas.openxmlformats.org/officeDocument/2006/relationships/image" Target="../media/image521.png"/><Relationship Id="rId14" Type="http://schemas.openxmlformats.org/officeDocument/2006/relationships/customXml" Target="../ink/ink6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64.xml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58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customXml" Target="../ink/ink63.xml"/><Relationship Id="rId9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60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6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6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1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10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5.xml"/><Relationship Id="rId13" Type="http://schemas.openxmlformats.org/officeDocument/2006/relationships/image" Target="../media/image651.png"/><Relationship Id="rId18" Type="http://schemas.openxmlformats.org/officeDocument/2006/relationships/customXml" Target="../ink/ink70.xml"/><Relationship Id="rId3" Type="http://schemas.openxmlformats.org/officeDocument/2006/relationships/notesSlide" Target="../notesSlides/notesSlide28.xml"/><Relationship Id="rId21" Type="http://schemas.openxmlformats.org/officeDocument/2006/relationships/image" Target="../media/image69.png"/><Relationship Id="rId7" Type="http://schemas.openxmlformats.org/officeDocument/2006/relationships/image" Target="../media/image140.png"/><Relationship Id="rId12" Type="http://schemas.openxmlformats.org/officeDocument/2006/relationships/customXml" Target="../ink/ink67.xml"/><Relationship Id="rId17" Type="http://schemas.openxmlformats.org/officeDocument/2006/relationships/image" Target="../media/image671.png"/><Relationship Id="rId2" Type="http://schemas.openxmlformats.org/officeDocument/2006/relationships/slideLayout" Target="../slideLayouts/slideLayout2.xml"/><Relationship Id="rId16" Type="http://schemas.openxmlformats.org/officeDocument/2006/relationships/customXml" Target="../ink/ink69.xml"/><Relationship Id="rId20" Type="http://schemas.openxmlformats.org/officeDocument/2006/relationships/customXml" Target="../ink/ink71.xml"/><Relationship Id="rId1" Type="http://schemas.openxmlformats.org/officeDocument/2006/relationships/tags" Target="../tags/tag21.xml"/><Relationship Id="rId6" Type="http://schemas.openxmlformats.org/officeDocument/2006/relationships/image" Target="../media/image130.png"/><Relationship Id="rId11" Type="http://schemas.openxmlformats.org/officeDocument/2006/relationships/image" Target="../media/image640.png"/><Relationship Id="rId15" Type="http://schemas.openxmlformats.org/officeDocument/2006/relationships/image" Target="../media/image661.png"/><Relationship Id="rId23" Type="http://schemas.openxmlformats.org/officeDocument/2006/relationships/image" Target="../media/image70.png"/><Relationship Id="rId10" Type="http://schemas.openxmlformats.org/officeDocument/2006/relationships/customXml" Target="../ink/ink66.xml"/><Relationship Id="rId19" Type="http://schemas.openxmlformats.org/officeDocument/2006/relationships/image" Target="../media/image681.png"/><Relationship Id="rId9" Type="http://schemas.openxmlformats.org/officeDocument/2006/relationships/image" Target="../media/image631.png"/><Relationship Id="rId14" Type="http://schemas.openxmlformats.org/officeDocument/2006/relationships/customXml" Target="../ink/ink68.xml"/><Relationship Id="rId22" Type="http://schemas.openxmlformats.org/officeDocument/2006/relationships/customXml" Target="../ink/ink7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16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15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18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image" Target="../media/image71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2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720.png"/><Relationship Id="rId9" Type="http://schemas.openxmlformats.org/officeDocument/2006/relationships/image" Target="../media/image2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7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7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2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75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2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28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27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77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image" Target="../media/image7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image" Target="../media/image78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5" Type="http://schemas.openxmlformats.org/officeDocument/2006/relationships/image" Target="../media/image800.png"/><Relationship Id="rId4" Type="http://schemas.openxmlformats.org/officeDocument/2006/relationships/image" Target="../media/image79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4" Type="http://schemas.openxmlformats.org/officeDocument/2006/relationships/image" Target="../media/image81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3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image" Target="../media/image330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36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13" Type="http://schemas.openxmlformats.org/officeDocument/2006/relationships/image" Target="../media/image440.png"/><Relationship Id="rId3" Type="http://schemas.openxmlformats.org/officeDocument/2006/relationships/notesSlide" Target="../notesSlides/notesSlide46.xml"/><Relationship Id="rId7" Type="http://schemas.openxmlformats.org/officeDocument/2006/relationships/image" Target="../media/image400.png"/><Relationship Id="rId12" Type="http://schemas.openxmlformats.org/officeDocument/2006/relationships/image" Target="../media/image4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6" Type="http://schemas.openxmlformats.org/officeDocument/2006/relationships/image" Target="../media/image370.png"/><Relationship Id="rId11" Type="http://schemas.openxmlformats.org/officeDocument/2006/relationships/image" Target="../media/image420.png"/><Relationship Id="rId5" Type="http://schemas.openxmlformats.org/officeDocument/2006/relationships/image" Target="../media/image360.png"/><Relationship Id="rId10" Type="http://schemas.openxmlformats.org/officeDocument/2006/relationships/image" Target="../media/image85.png"/><Relationship Id="rId4" Type="http://schemas.openxmlformats.org/officeDocument/2006/relationships/image" Target="../media/image391.png"/><Relationship Id="rId9" Type="http://schemas.openxmlformats.org/officeDocument/2006/relationships/image" Target="../media/image412.png"/><Relationship Id="rId14" Type="http://schemas.openxmlformats.org/officeDocument/2006/relationships/image" Target="../media/image45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3" Type="http://schemas.openxmlformats.org/officeDocument/2006/relationships/notesSlide" Target="../notesSlides/notesSlide48.xml"/><Relationship Id="rId7" Type="http://schemas.openxmlformats.org/officeDocument/2006/relationships/image" Target="../media/image49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6" Type="http://schemas.openxmlformats.org/officeDocument/2006/relationships/image" Target="../media/image480.png"/><Relationship Id="rId11" Type="http://schemas.openxmlformats.org/officeDocument/2006/relationships/image" Target="../media/image530.png"/><Relationship Id="rId5" Type="http://schemas.openxmlformats.org/officeDocument/2006/relationships/image" Target="../media/image470.png"/><Relationship Id="rId10" Type="http://schemas.openxmlformats.org/officeDocument/2006/relationships/image" Target="../media/image520.png"/><Relationship Id="rId4" Type="http://schemas.openxmlformats.org/officeDocument/2006/relationships/image" Target="../media/image460.png"/><Relationship Id="rId9" Type="http://schemas.openxmlformats.org/officeDocument/2006/relationships/image" Target="../media/image5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13" Type="http://schemas.openxmlformats.org/officeDocument/2006/relationships/image" Target="../media/image630.png"/><Relationship Id="rId3" Type="http://schemas.openxmlformats.org/officeDocument/2006/relationships/notesSlide" Target="../notesSlides/notesSlide50.xml"/><Relationship Id="rId7" Type="http://schemas.openxmlformats.org/officeDocument/2006/relationships/image" Target="../media/image570.png"/><Relationship Id="rId12" Type="http://schemas.openxmlformats.org/officeDocument/2006/relationships/image" Target="../media/image6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6" Type="http://schemas.openxmlformats.org/officeDocument/2006/relationships/image" Target="../media/image560.png"/><Relationship Id="rId11" Type="http://schemas.openxmlformats.org/officeDocument/2006/relationships/image" Target="../media/image611.png"/><Relationship Id="rId5" Type="http://schemas.openxmlformats.org/officeDocument/2006/relationships/image" Target="../media/image550.png"/><Relationship Id="rId10" Type="http://schemas.openxmlformats.org/officeDocument/2006/relationships/image" Target="../media/image600.png"/><Relationship Id="rId4" Type="http://schemas.openxmlformats.org/officeDocument/2006/relationships/image" Target="../media/image540.png"/><Relationship Id="rId9" Type="http://schemas.openxmlformats.org/officeDocument/2006/relationships/image" Target="../media/image59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7" Type="http://schemas.openxmlformats.org/officeDocument/2006/relationships/image" Target="../media/image8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5" Type="http://schemas.openxmlformats.org/officeDocument/2006/relationships/image" Target="../media/image660.png"/><Relationship Id="rId4" Type="http://schemas.openxmlformats.org/officeDocument/2006/relationships/image" Target="../media/image65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4" Type="http://schemas.openxmlformats.org/officeDocument/2006/relationships/image" Target="../media/image67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4" Type="http://schemas.openxmlformats.org/officeDocument/2006/relationships/image" Target="../media/image68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Relationship Id="rId4" Type="http://schemas.openxmlformats.org/officeDocument/2006/relationships/image" Target="../media/image9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Relationship Id="rId4" Type="http://schemas.openxmlformats.org/officeDocument/2006/relationships/image" Target="../media/image9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the Relational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Database Management</a:t>
            </a:r>
          </a:p>
          <a:p>
            <a:r>
              <a:rPr lang="en-US" dirty="0"/>
              <a:t>CS348 Spring 2021</a:t>
            </a:r>
          </a:p>
        </p:txBody>
      </p:sp>
    </p:spTree>
    <p:extLst>
      <p:ext uri="{BB962C8B-B14F-4D97-AF65-F5344CB8AC3E}">
        <p14:creationId xmlns:p14="http://schemas.microsoft.com/office/powerpoint/2010/main" val="366528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Edgar F. </a:t>
            </a:r>
            <a:r>
              <a:rPr lang="en-US" dirty="0" err="1"/>
              <a:t>Codd</a:t>
            </a:r>
            <a:r>
              <a:rPr lang="en-US" dirty="0"/>
              <a:t> (1923-2003)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7565" y="2220685"/>
            <a:ext cx="5655692" cy="2084162"/>
          </a:xfrm>
        </p:spPr>
        <p:txBody>
          <a:bodyPr/>
          <a:lstStyle/>
          <a:p>
            <a:r>
              <a:rPr lang="en-US" dirty="0"/>
              <a:t>Pilot in the Royal Air Force in WW2</a:t>
            </a:r>
          </a:p>
          <a:p>
            <a:r>
              <a:rPr lang="en-US" dirty="0"/>
              <a:t>Inventor of the relational model </a:t>
            </a:r>
            <a:br>
              <a:rPr lang="en-US" dirty="0"/>
            </a:br>
            <a:r>
              <a:rPr lang="en-US" dirty="0"/>
              <a:t>and algebra while at IBM</a:t>
            </a:r>
          </a:p>
          <a:p>
            <a:r>
              <a:rPr lang="en-US" dirty="0"/>
              <a:t>Turing Award, 1981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41" y="1799521"/>
            <a:ext cx="2129736" cy="30280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1001"/>
            <a:ext cx="50999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Prestige12 BT" panose="02070509030506020304" pitchFamily="49" charset="0"/>
              </a:rPr>
              <a:t>http://en.wikipedia.org/wiki/File:Edgar_F_Codd.jpg</a:t>
            </a:r>
          </a:p>
        </p:txBody>
      </p:sp>
    </p:spTree>
    <p:extLst>
      <p:ext uri="{BB962C8B-B14F-4D97-AF65-F5344CB8AC3E}">
        <p14:creationId xmlns:p14="http://schemas.microsoft.com/office/powerpoint/2010/main" val="424298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E9D5-B5F9-48C7-A991-6DC514B6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BE113-87AD-40C9-9D4C-8493E320B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Part 1: Relational data model </a:t>
            </a:r>
          </a:p>
          <a:p>
            <a:pPr marL="457200" lvl="1" indent="0">
              <a:buNone/>
            </a:pPr>
            <a:br>
              <a:rPr lang="en-CA" dirty="0"/>
            </a:b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Part 2: Relational algebra 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marL="457200" lvl="1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C38C3-E712-49C1-BB19-3AB1C0DC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046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Relational data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994401"/>
              </p:ext>
            </p:extLst>
          </p:nvPr>
        </p:nvGraphicFramePr>
        <p:xfrm>
          <a:off x="1118601" y="1719092"/>
          <a:ext cx="317627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56010"/>
              </p:ext>
            </p:extLst>
          </p:nvPr>
        </p:nvGraphicFramePr>
        <p:xfrm>
          <a:off x="4901575" y="1454932"/>
          <a:ext cx="3421698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Book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Club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Dead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Putting Society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74181"/>
              </p:ext>
            </p:extLst>
          </p:nvPr>
        </p:nvGraphicFramePr>
        <p:xfrm>
          <a:off x="6153056" y="3699541"/>
          <a:ext cx="13436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8291" y="1319796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2066" y="1058549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5146" y="3629029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0FFA2E-2CBD-4EC2-B773-818D2F3ECDDE}"/>
              </a:ext>
            </a:extLst>
          </p:cNvPr>
          <p:cNvSpPr txBox="1"/>
          <p:nvPr/>
        </p:nvSpPr>
        <p:spPr>
          <a:xfrm>
            <a:off x="1647284" y="4779051"/>
            <a:ext cx="3176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relations</a:t>
            </a:r>
            <a:r>
              <a:rPr lang="en-US" sz="2800" dirty="0"/>
              <a:t> (or </a:t>
            </a:r>
            <a:r>
              <a:rPr lang="en-US" sz="2800" dirty="0">
                <a:solidFill>
                  <a:schemeClr val="accent2"/>
                </a:solidFill>
              </a:rPr>
              <a:t>tables</a:t>
            </a:r>
            <a:r>
              <a:rPr lang="en-US" sz="2800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788BA68-4252-4B0C-BB32-C443530B6627}"/>
                  </a:ext>
                </a:extLst>
              </p14:cNvPr>
              <p14:cNvContentPartPr/>
              <p14:nvPr/>
            </p14:nvContentPartPr>
            <p14:xfrm>
              <a:off x="472680" y="1174332"/>
              <a:ext cx="1244160" cy="732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788BA68-4252-4B0C-BB32-C443530B66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040" y="1138692"/>
                <a:ext cx="1279800" cy="80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BF3CE65-E6CD-4045-987D-E62517516536}"/>
                  </a:ext>
                </a:extLst>
              </p14:cNvPr>
              <p14:cNvContentPartPr/>
              <p14:nvPr/>
            </p14:nvContentPartPr>
            <p14:xfrm>
              <a:off x="4450320" y="1032132"/>
              <a:ext cx="1400760" cy="7801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BF3CE65-E6CD-4045-987D-E625175165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32320" y="996132"/>
                <a:ext cx="1436400" cy="85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C597EEC-BAAC-4D07-AD6D-1EB3CC3DE8D6}"/>
                  </a:ext>
                </a:extLst>
              </p14:cNvPr>
              <p14:cNvContentPartPr/>
              <p14:nvPr/>
            </p14:nvContentPartPr>
            <p14:xfrm>
              <a:off x="4921920" y="3531612"/>
              <a:ext cx="1594800" cy="737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C597EEC-BAAC-4D07-AD6D-1EB3CC3DE8D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04280" y="3495972"/>
                <a:ext cx="1630440" cy="80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4558F47-B7DA-434D-A62C-90CC7AF8273E}"/>
                  </a:ext>
                </a:extLst>
              </p14:cNvPr>
              <p14:cNvContentPartPr/>
              <p14:nvPr/>
            </p14:nvContentPartPr>
            <p14:xfrm>
              <a:off x="4572000" y="4338012"/>
              <a:ext cx="520920" cy="5090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4558F47-B7DA-434D-A62C-90CC7AF8273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54360" y="4302012"/>
                <a:ext cx="556560" cy="5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7C87396-B329-4602-96E6-4298D3DB6593}"/>
                  </a:ext>
                </a:extLst>
              </p14:cNvPr>
              <p14:cNvContentPartPr/>
              <p14:nvPr/>
            </p14:nvContentPartPr>
            <p14:xfrm>
              <a:off x="3829320" y="2654652"/>
              <a:ext cx="629280" cy="2214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7C87396-B329-4602-96E6-4298D3DB659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11320" y="2619012"/>
                <a:ext cx="664920" cy="22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C893E19-5F56-4720-94D8-F5879A77CD10}"/>
                  </a:ext>
                </a:extLst>
              </p14:cNvPr>
              <p14:cNvContentPartPr/>
              <p14:nvPr/>
            </p14:nvContentPartPr>
            <p14:xfrm>
              <a:off x="1358280" y="1801452"/>
              <a:ext cx="2030040" cy="27943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C893E19-5F56-4720-94D8-F5879A77CD1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40280" y="1765452"/>
                <a:ext cx="2065680" cy="28659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2621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Relational data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18601" y="1719092"/>
          <a:ext cx="317627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01575" y="1454932"/>
          <a:ext cx="3421698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Book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Club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Dead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Putting Society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53056" y="3699541"/>
          <a:ext cx="13436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8291" y="1319796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2066" y="1058549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5146" y="3629029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0FFA2E-2CBD-4EC2-B773-818D2F3ECDDE}"/>
              </a:ext>
            </a:extLst>
          </p:cNvPr>
          <p:cNvSpPr txBox="1"/>
          <p:nvPr/>
        </p:nvSpPr>
        <p:spPr>
          <a:xfrm>
            <a:off x="930166" y="4779051"/>
            <a:ext cx="38933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attributes</a:t>
            </a:r>
            <a:r>
              <a:rPr lang="en-US" sz="2800" dirty="0"/>
              <a:t> (or </a:t>
            </a:r>
            <a:r>
              <a:rPr lang="en-US" sz="2800" dirty="0">
                <a:solidFill>
                  <a:schemeClr val="accent2"/>
                </a:solidFill>
              </a:rPr>
              <a:t>columns</a:t>
            </a:r>
            <a:r>
              <a:rPr lang="en-US" sz="2800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80AB6B0-4554-4D41-A862-C437BF8691B2}"/>
                  </a:ext>
                </a:extLst>
              </p14:cNvPr>
              <p14:cNvContentPartPr/>
              <p14:nvPr/>
            </p14:nvContentPartPr>
            <p14:xfrm>
              <a:off x="957327" y="1721892"/>
              <a:ext cx="704880" cy="375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80AB6B0-4554-4D41-A862-C437BF8691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9687" y="1686252"/>
                <a:ext cx="74052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2549D07-56DC-4AE2-B142-9153B729D3D0}"/>
                  </a:ext>
                </a:extLst>
              </p14:cNvPr>
              <p14:cNvContentPartPr/>
              <p14:nvPr/>
            </p14:nvContentPartPr>
            <p14:xfrm>
              <a:off x="1828527" y="1703532"/>
              <a:ext cx="769320" cy="363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2549D07-56DC-4AE2-B142-9153B729D3D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10887" y="1667532"/>
                <a:ext cx="80496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DA1468C-E3E9-4E59-AA05-BE5C487EEFAE}"/>
                  </a:ext>
                </a:extLst>
              </p14:cNvPr>
              <p14:cNvContentPartPr/>
              <p14:nvPr/>
            </p14:nvContentPartPr>
            <p14:xfrm>
              <a:off x="2773167" y="1553412"/>
              <a:ext cx="845640" cy="582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DA1468C-E3E9-4E59-AA05-BE5C487EEFA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55527" y="1517412"/>
                <a:ext cx="881280" cy="65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196E2CE-C5D3-45C8-BBAA-4D5E7E7740FA}"/>
                  </a:ext>
                </a:extLst>
              </p14:cNvPr>
              <p14:cNvContentPartPr/>
              <p14:nvPr/>
            </p14:nvContentPartPr>
            <p14:xfrm>
              <a:off x="3680727" y="1697772"/>
              <a:ext cx="688320" cy="375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196E2CE-C5D3-45C8-BBAA-4D5E7E7740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62727" y="1661772"/>
                <a:ext cx="723960" cy="4467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74136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Relational data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18601" y="1719092"/>
          <a:ext cx="317627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01575" y="1454932"/>
          <a:ext cx="3421698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Book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Club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Dead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Putting Society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53056" y="3699541"/>
          <a:ext cx="13436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8291" y="1319796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2066" y="1058549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5146" y="3629029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0FFA2E-2CBD-4EC2-B773-818D2F3ECDDE}"/>
              </a:ext>
            </a:extLst>
          </p:cNvPr>
          <p:cNvSpPr txBox="1"/>
          <p:nvPr/>
        </p:nvSpPr>
        <p:spPr>
          <a:xfrm>
            <a:off x="1439049" y="5425185"/>
            <a:ext cx="38933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domain</a:t>
            </a:r>
            <a:r>
              <a:rPr lang="en-US" sz="2800" dirty="0"/>
              <a:t> (or </a:t>
            </a:r>
            <a:r>
              <a:rPr lang="en-US" sz="2800" dirty="0">
                <a:solidFill>
                  <a:schemeClr val="accent2"/>
                </a:solidFill>
              </a:rPr>
              <a:t>type</a:t>
            </a:r>
            <a:r>
              <a:rPr lang="en-US" sz="2800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50EE5CA-B65D-41CB-B9D2-DD40092D97F7}"/>
                  </a:ext>
                </a:extLst>
              </p14:cNvPr>
              <p14:cNvContentPartPr/>
              <p14:nvPr/>
            </p14:nvContentPartPr>
            <p14:xfrm>
              <a:off x="3161967" y="3017172"/>
              <a:ext cx="397080" cy="407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50EE5CA-B65D-41CB-B9D2-DD40092D97F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44327" y="2981172"/>
                <a:ext cx="43272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DA86909-4FD0-48A4-BCDE-A0DD61C677D5}"/>
                  </a:ext>
                </a:extLst>
              </p14:cNvPr>
              <p14:cNvContentPartPr/>
              <p14:nvPr/>
            </p14:nvContentPartPr>
            <p14:xfrm>
              <a:off x="3287607" y="3448452"/>
              <a:ext cx="71280" cy="656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DA86909-4FD0-48A4-BCDE-A0DD61C677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69607" y="3412452"/>
                <a:ext cx="106920" cy="72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C618B77-49FA-4D5D-BA0A-B82239EEC7C4}"/>
                  </a:ext>
                </a:extLst>
              </p14:cNvPr>
              <p14:cNvContentPartPr/>
              <p14:nvPr/>
            </p14:nvContentPartPr>
            <p14:xfrm>
              <a:off x="3225327" y="4471932"/>
              <a:ext cx="12960" cy="127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C618B77-49FA-4D5D-BA0A-B82239EEC7C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07327" y="4436292"/>
                <a:ext cx="486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EC2135B-C7A2-41EA-A887-3CAEB1ABF014}"/>
                  </a:ext>
                </a:extLst>
              </p14:cNvPr>
              <p14:cNvContentPartPr/>
              <p14:nvPr/>
            </p14:nvContentPartPr>
            <p14:xfrm>
              <a:off x="3233247" y="4291212"/>
              <a:ext cx="77760" cy="59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EC2135B-C7A2-41EA-A887-3CAEB1ABF01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15607" y="4255212"/>
                <a:ext cx="1134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344E4E9-373A-4026-97F5-660D4B93EACE}"/>
                  </a:ext>
                </a:extLst>
              </p14:cNvPr>
              <p14:cNvContentPartPr/>
              <p14:nvPr/>
            </p14:nvContentPartPr>
            <p14:xfrm>
              <a:off x="3415407" y="4381572"/>
              <a:ext cx="110520" cy="251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344E4E9-373A-4026-97F5-660D4B93EAC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97407" y="4345932"/>
                <a:ext cx="14616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E03F11D-7EDE-4CF5-B9FE-031FD3501B93}"/>
                  </a:ext>
                </a:extLst>
              </p14:cNvPr>
              <p14:cNvContentPartPr/>
              <p14:nvPr/>
            </p14:nvContentPartPr>
            <p14:xfrm>
              <a:off x="3578127" y="4389492"/>
              <a:ext cx="207000" cy="97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E03F11D-7EDE-4CF5-B9FE-031FD3501B9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60127" y="4353852"/>
                <a:ext cx="2426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01854E7-8581-4226-A3CE-1E849F85011F}"/>
                  </a:ext>
                </a:extLst>
              </p14:cNvPr>
              <p14:cNvContentPartPr/>
              <p14:nvPr/>
            </p14:nvContentPartPr>
            <p14:xfrm>
              <a:off x="3667767" y="4323612"/>
              <a:ext cx="101520" cy="278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01854E7-8581-4226-A3CE-1E849F85011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49767" y="4287612"/>
                <a:ext cx="13716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FFAF481-9E0F-4905-A6AE-90756971F9EF}"/>
                  </a:ext>
                </a:extLst>
              </p14:cNvPr>
              <p14:cNvContentPartPr/>
              <p14:nvPr/>
            </p14:nvContentPartPr>
            <p14:xfrm>
              <a:off x="4133607" y="3247572"/>
              <a:ext cx="462240" cy="574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FFAF481-9E0F-4905-A6AE-90756971F9E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15607" y="3211932"/>
                <a:ext cx="497880" cy="64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82275CF-1B38-482B-A8BD-5E33A3F05176}"/>
                  </a:ext>
                </a:extLst>
              </p14:cNvPr>
              <p14:cNvContentPartPr/>
              <p14:nvPr/>
            </p14:nvContentPartPr>
            <p14:xfrm>
              <a:off x="4552287" y="4092132"/>
              <a:ext cx="167400" cy="4708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82275CF-1B38-482B-A8BD-5E33A3F0517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34647" y="4056132"/>
                <a:ext cx="203040" cy="54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FC2AD6D-A113-4127-BFFE-66D9A2A8A741}"/>
                  </a:ext>
                </a:extLst>
              </p14:cNvPr>
              <p14:cNvContentPartPr/>
              <p14:nvPr/>
            </p14:nvContentPartPr>
            <p14:xfrm>
              <a:off x="4755687" y="4152612"/>
              <a:ext cx="61920" cy="381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FC2AD6D-A113-4127-BFFE-66D9A2A8A74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38047" y="4116972"/>
                <a:ext cx="9756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D06283D-20DC-43EB-9DEB-9015F9DBD446}"/>
                  </a:ext>
                </a:extLst>
              </p14:cNvPr>
              <p14:cNvContentPartPr/>
              <p14:nvPr/>
            </p14:nvContentPartPr>
            <p14:xfrm>
              <a:off x="4456527" y="4311732"/>
              <a:ext cx="261000" cy="101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D06283D-20DC-43EB-9DEB-9015F9DBD44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38527" y="4276092"/>
                <a:ext cx="2966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62CAEDE-7C1D-435F-AC9C-4932B1BF8A51}"/>
                  </a:ext>
                </a:extLst>
              </p14:cNvPr>
              <p14:cNvContentPartPr/>
              <p14:nvPr/>
            </p14:nvContentPartPr>
            <p14:xfrm>
              <a:off x="4883847" y="4275732"/>
              <a:ext cx="136440" cy="187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62CAEDE-7C1D-435F-AC9C-4932B1BF8A5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66207" y="4239732"/>
                <a:ext cx="1720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7610B48-18EF-4BD9-8C1B-9D11921CA44B}"/>
                  </a:ext>
                </a:extLst>
              </p14:cNvPr>
              <p14:cNvContentPartPr/>
              <p14:nvPr/>
            </p14:nvContentPartPr>
            <p14:xfrm>
              <a:off x="5104527" y="4142172"/>
              <a:ext cx="268920" cy="378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7610B48-18EF-4BD9-8C1B-9D11921CA44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86527" y="4106532"/>
                <a:ext cx="30456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ACAA395-3CA8-4B79-9B07-6E20827F7C2A}"/>
                  </a:ext>
                </a:extLst>
              </p14:cNvPr>
              <p14:cNvContentPartPr/>
              <p14:nvPr/>
            </p14:nvContentPartPr>
            <p14:xfrm>
              <a:off x="5516007" y="4070532"/>
              <a:ext cx="19800" cy="488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ACAA395-3CA8-4B79-9B07-6E20827F7C2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98367" y="4034532"/>
                <a:ext cx="5544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C6DEBEF-1359-4AED-BBD6-54CD6E62D9BD}"/>
                  </a:ext>
                </a:extLst>
              </p14:cNvPr>
              <p14:cNvContentPartPr/>
              <p14:nvPr/>
            </p14:nvContentPartPr>
            <p14:xfrm>
              <a:off x="5420247" y="4140012"/>
              <a:ext cx="274320" cy="1951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C6DEBEF-1359-4AED-BBD6-54CD6E62D9B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02247" y="4104372"/>
                <a:ext cx="3099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A2B0719-D9A0-4D6F-B193-EA33B83160C4}"/>
                  </a:ext>
                </a:extLst>
              </p14:cNvPr>
              <p14:cNvContentPartPr/>
              <p14:nvPr/>
            </p14:nvContentPartPr>
            <p14:xfrm>
              <a:off x="1459527" y="3392292"/>
              <a:ext cx="506880" cy="6570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A2B0719-D9A0-4D6F-B193-EA33B83160C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41527" y="3356292"/>
                <a:ext cx="542520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0D26B6C-BB4D-4444-811E-6CDACB3C675D}"/>
                  </a:ext>
                </a:extLst>
              </p14:cNvPr>
              <p14:cNvContentPartPr/>
              <p14:nvPr/>
            </p14:nvContentPartPr>
            <p14:xfrm>
              <a:off x="719727" y="4244772"/>
              <a:ext cx="290160" cy="271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0D26B6C-BB4D-4444-811E-6CDACB3C675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02087" y="4208772"/>
                <a:ext cx="32580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6462054-BF29-4039-BACE-511B24D1E1E2}"/>
                  </a:ext>
                </a:extLst>
              </p14:cNvPr>
              <p14:cNvContentPartPr/>
              <p14:nvPr/>
            </p14:nvContentPartPr>
            <p14:xfrm>
              <a:off x="997647" y="4053612"/>
              <a:ext cx="557640" cy="550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6462054-BF29-4039-BACE-511B24D1E1E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79647" y="4017972"/>
                <a:ext cx="59328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ADAA3DD-E096-47EF-BA1F-8CDE8EFDCCE9}"/>
                  </a:ext>
                </a:extLst>
              </p14:cNvPr>
              <p14:cNvContentPartPr/>
              <p14:nvPr/>
            </p14:nvContentPartPr>
            <p14:xfrm>
              <a:off x="1406607" y="4154052"/>
              <a:ext cx="78840" cy="24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ADAA3DD-E096-47EF-BA1F-8CDE8EFDCCE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388607" y="4118052"/>
                <a:ext cx="1144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5A03A75-932E-43EB-9015-ED1121953A4C}"/>
                  </a:ext>
                </a:extLst>
              </p14:cNvPr>
              <p14:cNvContentPartPr/>
              <p14:nvPr/>
            </p14:nvContentPartPr>
            <p14:xfrm>
              <a:off x="1606767" y="4270692"/>
              <a:ext cx="376920" cy="3189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5A03A75-932E-43EB-9015-ED1121953A4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88767" y="4234692"/>
                <a:ext cx="41256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B640DA0-B159-49C4-B614-B9F7DB7449BC}"/>
                  </a:ext>
                </a:extLst>
              </p14:cNvPr>
              <p14:cNvContentPartPr/>
              <p14:nvPr/>
            </p14:nvContentPartPr>
            <p14:xfrm>
              <a:off x="1749327" y="4204092"/>
              <a:ext cx="344160" cy="603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B640DA0-B159-49C4-B614-B9F7DB7449B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731687" y="4168092"/>
                <a:ext cx="379800" cy="67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982EDD1-F327-42C2-9A05-39C0F31685CE}"/>
                  </a:ext>
                </a:extLst>
              </p14:cNvPr>
              <p14:cNvContentPartPr/>
              <p14:nvPr/>
            </p14:nvContentPartPr>
            <p14:xfrm>
              <a:off x="1799007" y="2981892"/>
              <a:ext cx="775800" cy="556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982EDD1-F327-42C2-9A05-39C0F31685C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81367" y="2946252"/>
                <a:ext cx="811440" cy="6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72497A4-0B86-4D9F-9C89-EE276E2457DB}"/>
                  </a:ext>
                </a:extLst>
              </p14:cNvPr>
              <p14:cNvContentPartPr/>
              <p14:nvPr/>
            </p14:nvContentPartPr>
            <p14:xfrm>
              <a:off x="3721407" y="3020412"/>
              <a:ext cx="549000" cy="498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72497A4-0B86-4D9F-9C89-EE276E2457D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03767" y="2984772"/>
                <a:ext cx="584640" cy="56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6A63DCA-97BC-4AF5-8F44-39659E1BDBCB}"/>
                  </a:ext>
                </a:extLst>
              </p14:cNvPr>
              <p14:cNvContentPartPr/>
              <p14:nvPr/>
            </p14:nvContentPartPr>
            <p14:xfrm>
              <a:off x="4132794" y="3247804"/>
              <a:ext cx="462240" cy="5745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6A63DCA-97BC-4AF5-8F44-39659E1BDBC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14794" y="3212164"/>
                <a:ext cx="497880" cy="64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DFF3AB2-2EB8-4150-9E72-D84EB74B3E04}"/>
                  </a:ext>
                </a:extLst>
              </p14:cNvPr>
              <p14:cNvContentPartPr/>
              <p14:nvPr/>
            </p14:nvContentPartPr>
            <p14:xfrm>
              <a:off x="4551474" y="4092364"/>
              <a:ext cx="167400" cy="470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DFF3AB2-2EB8-4150-9E72-D84EB74B3E0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33834" y="4056364"/>
                <a:ext cx="203040" cy="54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29B7A21-2296-4EB9-95CA-BC6F812BBCC2}"/>
                  </a:ext>
                </a:extLst>
              </p14:cNvPr>
              <p14:cNvContentPartPr/>
              <p14:nvPr/>
            </p14:nvContentPartPr>
            <p14:xfrm>
              <a:off x="4754874" y="4152844"/>
              <a:ext cx="61920" cy="381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29B7A21-2296-4EB9-95CA-BC6F812BBCC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37234" y="4117204"/>
                <a:ext cx="9756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875DB97-2BF6-4821-9931-3BE44A5EBF01}"/>
                  </a:ext>
                </a:extLst>
              </p14:cNvPr>
              <p14:cNvContentPartPr/>
              <p14:nvPr/>
            </p14:nvContentPartPr>
            <p14:xfrm>
              <a:off x="4455714" y="4311964"/>
              <a:ext cx="261000" cy="1018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875DB97-2BF6-4821-9931-3BE44A5EBF0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37714" y="4276324"/>
                <a:ext cx="2966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5600C58-7B1D-453E-BEC9-3043E2E0DA16}"/>
                  </a:ext>
                </a:extLst>
              </p14:cNvPr>
              <p14:cNvContentPartPr/>
              <p14:nvPr/>
            </p14:nvContentPartPr>
            <p14:xfrm>
              <a:off x="4883034" y="4275964"/>
              <a:ext cx="136440" cy="1872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5600C58-7B1D-453E-BEC9-3043E2E0DA1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65394" y="4239964"/>
                <a:ext cx="1720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D7EC7A3-2DBE-43D8-8BDE-940D037E4157}"/>
                  </a:ext>
                </a:extLst>
              </p14:cNvPr>
              <p14:cNvContentPartPr/>
              <p14:nvPr/>
            </p14:nvContentPartPr>
            <p14:xfrm>
              <a:off x="5103714" y="4142404"/>
              <a:ext cx="268920" cy="378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D7EC7A3-2DBE-43D8-8BDE-940D037E415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85714" y="4106764"/>
                <a:ext cx="30456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7E2D19B-8C59-40DD-B1D4-37B01EDD1175}"/>
                  </a:ext>
                </a:extLst>
              </p14:cNvPr>
              <p14:cNvContentPartPr/>
              <p14:nvPr/>
            </p14:nvContentPartPr>
            <p14:xfrm>
              <a:off x="5515194" y="4070764"/>
              <a:ext cx="19800" cy="4881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7E2D19B-8C59-40DD-B1D4-37B01EDD117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97554" y="4034764"/>
                <a:ext cx="5544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1E8E577-7C7D-4E7E-9A9E-2136BB311A95}"/>
                  </a:ext>
                </a:extLst>
              </p14:cNvPr>
              <p14:cNvContentPartPr/>
              <p14:nvPr/>
            </p14:nvContentPartPr>
            <p14:xfrm>
              <a:off x="5419434" y="4140244"/>
              <a:ext cx="274320" cy="195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1E8E577-7C7D-4E7E-9A9E-2136BB311A9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01434" y="4104604"/>
                <a:ext cx="3099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0600F6D-C81D-43EA-BC6A-A1EA3723854B}"/>
                  </a:ext>
                </a:extLst>
              </p14:cNvPr>
              <p14:cNvContentPartPr/>
              <p14:nvPr/>
            </p14:nvContentPartPr>
            <p14:xfrm>
              <a:off x="3720594" y="3020644"/>
              <a:ext cx="549000" cy="4982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0600F6D-C81D-43EA-BC6A-A1EA3723854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702954" y="2985004"/>
                <a:ext cx="584640" cy="5698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1837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Relational data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18601" y="1719092"/>
          <a:ext cx="317627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01575" y="1454932"/>
          <a:ext cx="3421698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Book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Club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Dead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Putting Society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53056" y="3699541"/>
          <a:ext cx="13436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8291" y="1319796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2066" y="1058549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5146" y="3629029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0FFA2E-2CBD-4EC2-B773-818D2F3ECDDE}"/>
              </a:ext>
            </a:extLst>
          </p:cNvPr>
          <p:cNvSpPr txBox="1"/>
          <p:nvPr/>
        </p:nvSpPr>
        <p:spPr>
          <a:xfrm>
            <a:off x="1377533" y="4243842"/>
            <a:ext cx="38933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tuples</a:t>
            </a:r>
            <a:r>
              <a:rPr lang="en-US" sz="2800" dirty="0"/>
              <a:t> (or </a:t>
            </a:r>
            <a:r>
              <a:rPr lang="en-US" sz="2800" dirty="0">
                <a:solidFill>
                  <a:schemeClr val="accent2"/>
                </a:solidFill>
              </a:rPr>
              <a:t>rows</a:t>
            </a:r>
            <a:r>
              <a:rPr lang="en-US" sz="2800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9E5C543-56D9-4E68-ACCA-4EE6335B9FB4}"/>
                  </a:ext>
                </a:extLst>
              </p14:cNvPr>
              <p14:cNvContentPartPr/>
              <p14:nvPr/>
            </p14:nvContentPartPr>
            <p14:xfrm>
              <a:off x="1105647" y="2672292"/>
              <a:ext cx="3430800" cy="431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9E5C543-56D9-4E68-ACCA-4EE6335B9F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8007" y="2636652"/>
                <a:ext cx="346644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3592F6-1494-47FC-A459-D08C2C71DD39}"/>
                  </a:ext>
                </a:extLst>
              </p14:cNvPr>
              <p14:cNvContentPartPr/>
              <p14:nvPr/>
            </p14:nvContentPartPr>
            <p14:xfrm>
              <a:off x="1024647" y="3098892"/>
              <a:ext cx="3453480" cy="484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3592F6-1494-47FC-A459-D08C2C71DD3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6647" y="3063252"/>
                <a:ext cx="3489120" cy="55656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0AD0FE62-382F-4C70-AAB4-E8EB5B74C792}"/>
              </a:ext>
            </a:extLst>
          </p:cNvPr>
          <p:cNvSpPr txBox="1"/>
          <p:nvPr/>
        </p:nvSpPr>
        <p:spPr>
          <a:xfrm>
            <a:off x="1118601" y="5355772"/>
            <a:ext cx="33473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Ordering of rows doesn’t matter</a:t>
            </a:r>
            <a:br>
              <a:rPr lang="en-US" dirty="0"/>
            </a:br>
            <a:r>
              <a:rPr lang="en-US" dirty="0"/>
              <a:t>(even though output is</a:t>
            </a:r>
            <a:br>
              <a:rPr lang="en-US" dirty="0"/>
            </a:br>
            <a:r>
              <a:rPr lang="en-US" dirty="0"/>
              <a:t>always in some order)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B1C551-4F83-4F24-A00B-7F8E94082C53}"/>
              </a:ext>
            </a:extLst>
          </p:cNvPr>
          <p:cNvSpPr txBox="1"/>
          <p:nvPr/>
        </p:nvSpPr>
        <p:spPr>
          <a:xfrm>
            <a:off x="1319978" y="4925092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Duplicates are not allowed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A377164-D181-45AA-BF3B-A9D0D4701797}"/>
                  </a:ext>
                </a:extLst>
              </p14:cNvPr>
              <p14:cNvContentPartPr/>
              <p14:nvPr/>
            </p14:nvContentPartPr>
            <p14:xfrm>
              <a:off x="2961447" y="3616572"/>
              <a:ext cx="56880" cy="7675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A377164-D181-45AA-BF3B-A9D0D47017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43807" y="3580932"/>
                <a:ext cx="92520" cy="83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E7C66AF-373B-492D-8596-1D7806CDDBA9}"/>
                  </a:ext>
                </a:extLst>
              </p14:cNvPr>
              <p14:cNvContentPartPr/>
              <p14:nvPr/>
            </p14:nvContentPartPr>
            <p14:xfrm>
              <a:off x="2772447" y="4076652"/>
              <a:ext cx="453600" cy="309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E7C66AF-373B-492D-8596-1D7806CDDB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54807" y="4040652"/>
                <a:ext cx="489240" cy="3812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0916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Relational data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18601" y="1719092"/>
          <a:ext cx="317627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01575" y="1454932"/>
          <a:ext cx="3421698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Book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Club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Dead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Putting Society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53056" y="3699541"/>
          <a:ext cx="13436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8291" y="1319796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2066" y="1058549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5146" y="3629029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825EBC-FA59-4F33-9D54-412C350F26A4}"/>
                  </a:ext>
                </a:extLst>
              </p:cNvPr>
              <p:cNvSpPr txBox="1"/>
              <p:nvPr/>
            </p:nvSpPr>
            <p:spPr>
              <a:xfrm>
                <a:off x="260374" y="4526836"/>
                <a:ext cx="5701514" cy="92333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i="1" dirty="0"/>
                  <a:t>User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{〈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142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Bart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10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0.9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857</a:t>
                </a:r>
                <a:r>
                  <a:rPr lang="en-US" dirty="0"/>
                  <a:t>, </a:t>
                </a:r>
                <a:r>
                  <a:rPr lang="en-US" dirty="0" err="1">
                    <a:latin typeface="Prestige12 BT" panose="02070509030506020304" pitchFamily="49" charset="0"/>
                  </a:rPr>
                  <a:t>Milhouse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10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0.2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…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i="1" dirty="0"/>
                  <a:t>Group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{〈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abc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Book</a:t>
                </a:r>
                <a:r>
                  <a:rPr lang="en-US" dirty="0"/>
                  <a:t> </a:t>
                </a:r>
                <a:r>
                  <a:rPr lang="en-US" dirty="0">
                    <a:latin typeface="Prestige12 BT" panose="02070509030506020304" pitchFamily="49" charset="0"/>
                  </a:rPr>
                  <a:t>Club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gov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Student</a:t>
                </a:r>
                <a:r>
                  <a:rPr lang="en-US" dirty="0"/>
                  <a:t> </a:t>
                </a:r>
                <a:r>
                  <a:rPr lang="en-US" dirty="0">
                    <a:latin typeface="Prestige12 BT" panose="02070509030506020304" pitchFamily="49" charset="0"/>
                  </a:rPr>
                  <a:t>Government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…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i="1" dirty="0"/>
                  <a:t>Member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{〈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142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dps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123</a:t>
                </a:r>
                <a:r>
                  <a:rPr lang="en-US" dirty="0"/>
                  <a:t>, </a:t>
                </a:r>
                <a:r>
                  <a:rPr lang="en-US" dirty="0" err="1">
                    <a:latin typeface="Prestige12 BT" panose="02070509030506020304" pitchFamily="49" charset="0"/>
                  </a:rPr>
                  <a:t>gov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…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825EBC-FA59-4F33-9D54-412C350F2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74" y="4526836"/>
                <a:ext cx="5701514" cy="923330"/>
              </a:xfrm>
              <a:prstGeom prst="rect">
                <a:avLst/>
              </a:prstGeom>
              <a:blipFill>
                <a:blip r:embed="rId6"/>
                <a:stretch>
                  <a:fillRect l="-745" t="-2564" b="-7692"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7586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database is a collection of </a:t>
            </a:r>
            <a:r>
              <a:rPr lang="en-US" dirty="0">
                <a:solidFill>
                  <a:schemeClr val="accent2"/>
                </a:solidFill>
              </a:rPr>
              <a:t>relations</a:t>
            </a:r>
            <a:r>
              <a:rPr lang="en-US" dirty="0"/>
              <a:t> (or </a:t>
            </a:r>
            <a:r>
              <a:rPr lang="en-US" dirty="0">
                <a:solidFill>
                  <a:schemeClr val="accent2"/>
                </a:solidFill>
              </a:rPr>
              <a:t>tables</a:t>
            </a:r>
            <a:r>
              <a:rPr lang="en-US" dirty="0"/>
              <a:t>)</a:t>
            </a:r>
          </a:p>
          <a:p>
            <a:r>
              <a:rPr lang="en-US" dirty="0"/>
              <a:t>Each relation has a set of </a:t>
            </a:r>
            <a:r>
              <a:rPr lang="en-US" dirty="0">
                <a:solidFill>
                  <a:schemeClr val="accent2"/>
                </a:solidFill>
              </a:rPr>
              <a:t>attributes</a:t>
            </a:r>
            <a:r>
              <a:rPr lang="en-US" dirty="0"/>
              <a:t> (or </a:t>
            </a:r>
            <a:r>
              <a:rPr lang="en-US" dirty="0">
                <a:solidFill>
                  <a:schemeClr val="accent2"/>
                </a:solidFill>
              </a:rPr>
              <a:t>columns</a:t>
            </a:r>
            <a:r>
              <a:rPr lang="en-US" dirty="0"/>
              <a:t>)</a:t>
            </a:r>
          </a:p>
          <a:p>
            <a:r>
              <a:rPr lang="en-US" dirty="0"/>
              <a:t>Each attribute has a name and a </a:t>
            </a:r>
            <a:r>
              <a:rPr lang="en-US" dirty="0">
                <a:solidFill>
                  <a:schemeClr val="accent2"/>
                </a:solidFill>
              </a:rPr>
              <a:t>domain</a:t>
            </a:r>
            <a:r>
              <a:rPr lang="en-US" dirty="0"/>
              <a:t> (or </a:t>
            </a:r>
            <a:r>
              <a:rPr lang="en-US" dirty="0">
                <a:solidFill>
                  <a:schemeClr val="accent2"/>
                </a:solidFill>
              </a:rPr>
              <a:t>type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The domains are required to be atomic</a:t>
            </a:r>
          </a:p>
          <a:p>
            <a:r>
              <a:rPr lang="en-US" dirty="0"/>
              <a:t>Each relation contains a set of </a:t>
            </a:r>
            <a:r>
              <a:rPr lang="en-US" dirty="0">
                <a:solidFill>
                  <a:schemeClr val="accent2"/>
                </a:solidFill>
              </a:rPr>
              <a:t>tuples</a:t>
            </a:r>
            <a:r>
              <a:rPr lang="en-US" dirty="0"/>
              <a:t> (or </a:t>
            </a:r>
            <a:r>
              <a:rPr lang="en-US" dirty="0">
                <a:solidFill>
                  <a:schemeClr val="accent2"/>
                </a:solidFill>
              </a:rPr>
              <a:t>rows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Each tuple has a value for each attribute of the relation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Duplicate tuples are not allowed</a:t>
            </a:r>
          </a:p>
          <a:p>
            <a:pPr lvl="2"/>
            <a:r>
              <a:rPr lang="en-US" dirty="0"/>
              <a:t>Two tuples are duplicates if they agree on all attributes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"/>
            </a:pPr>
            <a:r>
              <a:rPr lang="en-US" dirty="0"/>
              <a:t>Simplicity is a virtue!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939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vs. instance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Schema</a:t>
            </a:r>
            <a:r>
              <a:rPr lang="en-US" dirty="0"/>
              <a:t> (</a:t>
            </a:r>
            <a:r>
              <a:rPr lang="en-US" dirty="0">
                <a:solidFill>
                  <a:schemeClr val="accent2"/>
                </a:solidFill>
              </a:rPr>
              <a:t>metadata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Specifies the </a:t>
            </a:r>
            <a:r>
              <a:rPr lang="en-US" dirty="0">
                <a:solidFill>
                  <a:schemeClr val="accent2"/>
                </a:solidFill>
              </a:rPr>
              <a:t>logical structure </a:t>
            </a:r>
            <a:r>
              <a:rPr lang="en-US" dirty="0"/>
              <a:t>of data</a:t>
            </a:r>
          </a:p>
          <a:p>
            <a:pPr lvl="1"/>
            <a:r>
              <a:rPr lang="en-US" dirty="0"/>
              <a:t>Is defined at setup time, rarely changes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Instance</a:t>
            </a:r>
          </a:p>
          <a:p>
            <a:pPr lvl="1"/>
            <a:r>
              <a:rPr lang="en-US" dirty="0"/>
              <a:t>Represents the data content</a:t>
            </a:r>
          </a:p>
          <a:p>
            <a:pPr lvl="1"/>
            <a:r>
              <a:rPr lang="en-US" dirty="0"/>
              <a:t>Changes rapidly, but always </a:t>
            </a:r>
            <a:r>
              <a:rPr lang="en-US" dirty="0">
                <a:solidFill>
                  <a:schemeClr val="accent2"/>
                </a:solidFill>
              </a:rPr>
              <a:t>conforms</a:t>
            </a:r>
            <a:r>
              <a:rPr lang="en-US" dirty="0"/>
              <a:t> to the schema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1FEFD-6594-412C-B5AE-50931737602D}"/>
              </a:ext>
            </a:extLst>
          </p:cNvPr>
          <p:cNvSpPr txBox="1"/>
          <p:nvPr/>
        </p:nvSpPr>
        <p:spPr>
          <a:xfrm>
            <a:off x="875538" y="2754619"/>
            <a:ext cx="6909046" cy="92333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i="1" dirty="0"/>
              <a:t>User</a:t>
            </a:r>
            <a:r>
              <a:rPr lang="en-US" dirty="0"/>
              <a:t> (</a:t>
            </a:r>
            <a:r>
              <a:rPr lang="en-US" i="1" dirty="0" err="1"/>
              <a:t>uid</a:t>
            </a:r>
            <a:r>
              <a:rPr lang="en-US" dirty="0"/>
              <a:t> int, </a:t>
            </a:r>
            <a:r>
              <a:rPr lang="en-US" i="1" dirty="0"/>
              <a:t>name</a:t>
            </a:r>
            <a:r>
              <a:rPr lang="en-US" dirty="0"/>
              <a:t> string, </a:t>
            </a:r>
            <a:r>
              <a:rPr lang="en-US" i="1" dirty="0"/>
              <a:t>age</a:t>
            </a:r>
            <a:r>
              <a:rPr lang="en-US" dirty="0"/>
              <a:t> int, </a:t>
            </a:r>
            <a:r>
              <a:rPr lang="en-US" i="1" dirty="0"/>
              <a:t>pop</a:t>
            </a:r>
            <a:r>
              <a:rPr lang="en-US" dirty="0"/>
              <a:t> float)</a:t>
            </a:r>
          </a:p>
          <a:p>
            <a:r>
              <a:rPr lang="en-US" i="1" dirty="0"/>
              <a:t>Group</a:t>
            </a:r>
            <a:r>
              <a:rPr lang="en-US" dirty="0"/>
              <a:t> (</a:t>
            </a:r>
            <a:r>
              <a:rPr lang="en-US" i="1" dirty="0"/>
              <a:t>gid</a:t>
            </a:r>
            <a:r>
              <a:rPr lang="en-US" dirty="0"/>
              <a:t> string, </a:t>
            </a:r>
            <a:r>
              <a:rPr lang="en-US" i="1" dirty="0"/>
              <a:t>name</a:t>
            </a:r>
            <a:r>
              <a:rPr lang="en-US" dirty="0"/>
              <a:t> string)</a:t>
            </a:r>
          </a:p>
          <a:p>
            <a:r>
              <a:rPr lang="en-US" i="1" dirty="0"/>
              <a:t>Member</a:t>
            </a:r>
            <a:r>
              <a:rPr lang="en-US" dirty="0"/>
              <a:t> (</a:t>
            </a:r>
            <a:r>
              <a:rPr lang="en-US" i="1" dirty="0" err="1"/>
              <a:t>uid</a:t>
            </a:r>
            <a:r>
              <a:rPr lang="en-US" dirty="0"/>
              <a:t> int, </a:t>
            </a:r>
            <a:r>
              <a:rPr lang="en-US" i="1" dirty="0"/>
              <a:t>gid</a:t>
            </a:r>
            <a:r>
              <a:rPr lang="en-US" dirty="0"/>
              <a:t> string)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4BB97B-668E-4FDC-91F9-7BD18EDB91CE}"/>
                  </a:ext>
                </a:extLst>
              </p:cNvPr>
              <p:cNvSpPr txBox="1"/>
              <p:nvPr/>
            </p:nvSpPr>
            <p:spPr>
              <a:xfrm>
                <a:off x="875538" y="5277466"/>
                <a:ext cx="6899902" cy="92333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i="1" dirty="0"/>
                  <a:t>User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{〈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142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Bart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10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0.9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857</a:t>
                </a:r>
                <a:r>
                  <a:rPr lang="en-US" dirty="0"/>
                  <a:t>, </a:t>
                </a:r>
                <a:r>
                  <a:rPr lang="en-US" dirty="0" err="1">
                    <a:latin typeface="Prestige12 BT" panose="02070509030506020304" pitchFamily="49" charset="0"/>
                  </a:rPr>
                  <a:t>Milhouse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10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0.2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…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i="1" dirty="0"/>
                  <a:t>Group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{〈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abc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Book</a:t>
                </a:r>
                <a:r>
                  <a:rPr lang="en-US" dirty="0"/>
                  <a:t> </a:t>
                </a:r>
                <a:r>
                  <a:rPr lang="en-US" dirty="0">
                    <a:latin typeface="Prestige12 BT" panose="02070509030506020304" pitchFamily="49" charset="0"/>
                  </a:rPr>
                  <a:t>Club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gov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Student</a:t>
                </a:r>
                <a:r>
                  <a:rPr lang="en-US" dirty="0"/>
                  <a:t> </a:t>
                </a:r>
                <a:r>
                  <a:rPr lang="en-US" dirty="0">
                    <a:latin typeface="Prestige12 BT" panose="02070509030506020304" pitchFamily="49" charset="0"/>
                  </a:rPr>
                  <a:t>Government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…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i="1" dirty="0"/>
                  <a:t>Member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{〈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142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dps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123</a:t>
                </a:r>
                <a:r>
                  <a:rPr lang="en-US" dirty="0"/>
                  <a:t>, </a:t>
                </a:r>
                <a:r>
                  <a:rPr lang="en-US" dirty="0" err="1">
                    <a:latin typeface="Prestige12 BT" panose="02070509030506020304" pitchFamily="49" charset="0"/>
                  </a:rPr>
                  <a:t>gov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…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4BB97B-668E-4FDC-91F9-7BD18EDB9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38" y="5277466"/>
                <a:ext cx="6899902" cy="923330"/>
              </a:xfrm>
              <a:prstGeom prst="rect">
                <a:avLst/>
              </a:prstGeom>
              <a:blipFill>
                <a:blip r:embed="rId6"/>
                <a:stretch>
                  <a:fillRect l="-616" t="-2564" b="-7692"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5624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258F-1ACA-49C8-BE32-C06321F6E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Integrity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70F34-E7AE-4898-9A3E-A4E17D81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set of rules that database instances should follow</a:t>
            </a:r>
          </a:p>
          <a:p>
            <a:r>
              <a:rPr lang="en-CA" dirty="0"/>
              <a:t>Example: </a:t>
            </a:r>
          </a:p>
          <a:p>
            <a:pPr lvl="1"/>
            <a:r>
              <a:rPr lang="en-CA" i="1" dirty="0"/>
              <a:t>age</a:t>
            </a:r>
            <a:r>
              <a:rPr lang="en-CA" dirty="0"/>
              <a:t> cannot be </a:t>
            </a:r>
            <a:r>
              <a:rPr lang="en-CA" dirty="0">
                <a:solidFill>
                  <a:srgbClr val="FF0000"/>
                </a:solidFill>
              </a:rPr>
              <a:t>negative </a:t>
            </a:r>
          </a:p>
          <a:p>
            <a:pPr lvl="1"/>
            <a:r>
              <a:rPr lang="en-CA" i="1" dirty="0" err="1"/>
              <a:t>uid</a:t>
            </a:r>
            <a:r>
              <a:rPr lang="en-CA" dirty="0"/>
              <a:t> should be </a:t>
            </a:r>
            <a:r>
              <a:rPr lang="en-CA" dirty="0">
                <a:solidFill>
                  <a:schemeClr val="accent6"/>
                </a:solidFill>
              </a:rPr>
              <a:t>unique</a:t>
            </a:r>
            <a:r>
              <a:rPr lang="en-CA" dirty="0"/>
              <a:t> in the </a:t>
            </a:r>
            <a:r>
              <a:rPr lang="en-CA" i="1" dirty="0"/>
              <a:t>User</a:t>
            </a:r>
            <a:r>
              <a:rPr lang="en-CA" dirty="0"/>
              <a:t> relation </a:t>
            </a:r>
          </a:p>
          <a:p>
            <a:pPr lvl="1"/>
            <a:r>
              <a:rPr lang="en-CA" i="1" dirty="0" err="1"/>
              <a:t>uid</a:t>
            </a:r>
            <a:r>
              <a:rPr lang="en-CA" dirty="0"/>
              <a:t> in </a:t>
            </a:r>
            <a:r>
              <a:rPr lang="en-CA" i="1" dirty="0"/>
              <a:t>Member</a:t>
            </a:r>
            <a:r>
              <a:rPr lang="en-CA" dirty="0"/>
              <a:t> must </a:t>
            </a:r>
            <a:r>
              <a:rPr lang="en-CA" dirty="0">
                <a:solidFill>
                  <a:srgbClr val="0070C0"/>
                </a:solidFill>
              </a:rPr>
              <a:t>refer to </a:t>
            </a:r>
            <a:r>
              <a:rPr lang="en-CA" dirty="0"/>
              <a:t>a row in </a:t>
            </a:r>
            <a:r>
              <a:rPr lang="en-CA" i="1" dirty="0"/>
              <a:t>User</a:t>
            </a:r>
            <a:r>
              <a:rPr lang="en-CA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E296A-74F8-4606-ACAE-E4B38A61D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7DAEB2-0468-4532-855B-22E457286526}"/>
                  </a:ext>
                </a:extLst>
              </p:cNvPr>
              <p:cNvSpPr txBox="1"/>
              <p:nvPr/>
            </p:nvSpPr>
            <p:spPr>
              <a:xfrm>
                <a:off x="875538" y="5277466"/>
                <a:ext cx="6899902" cy="92333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i="1" dirty="0"/>
                  <a:t>User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{〈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142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Bart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10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0.9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857</a:t>
                </a:r>
                <a:r>
                  <a:rPr lang="en-US" dirty="0"/>
                  <a:t>, </a:t>
                </a:r>
                <a:r>
                  <a:rPr lang="en-US" dirty="0" err="1">
                    <a:latin typeface="Prestige12 BT" panose="02070509030506020304" pitchFamily="49" charset="0"/>
                  </a:rPr>
                  <a:t>Milhouse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10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0.2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…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i="1" dirty="0"/>
                  <a:t>Group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{〈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abc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Book</a:t>
                </a:r>
                <a:r>
                  <a:rPr lang="en-US" dirty="0"/>
                  <a:t> </a:t>
                </a:r>
                <a:r>
                  <a:rPr lang="en-US" dirty="0">
                    <a:latin typeface="Prestige12 BT" panose="02070509030506020304" pitchFamily="49" charset="0"/>
                  </a:rPr>
                  <a:t>Club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gov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Student</a:t>
                </a:r>
                <a:r>
                  <a:rPr lang="en-US" dirty="0"/>
                  <a:t> </a:t>
                </a:r>
                <a:r>
                  <a:rPr lang="en-US" dirty="0">
                    <a:latin typeface="Prestige12 BT" panose="02070509030506020304" pitchFamily="49" charset="0"/>
                  </a:rPr>
                  <a:t>Government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…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i="1" dirty="0"/>
                  <a:t>Member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{〈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142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dps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123</a:t>
                </a:r>
                <a:r>
                  <a:rPr lang="en-US" dirty="0"/>
                  <a:t>, </a:t>
                </a:r>
                <a:r>
                  <a:rPr lang="en-US" dirty="0" err="1">
                    <a:latin typeface="Prestige12 BT" panose="02070509030506020304" pitchFamily="49" charset="0"/>
                  </a:rPr>
                  <a:t>gov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, …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7DAEB2-0468-4532-855B-22E457286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38" y="5277466"/>
                <a:ext cx="6899902" cy="923330"/>
              </a:xfrm>
              <a:prstGeom prst="rect">
                <a:avLst/>
              </a:prstGeom>
              <a:blipFill>
                <a:blip r:embed="rId6"/>
                <a:stretch>
                  <a:fillRect l="-616" t="-2564" b="-7692"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384FA2-6C0C-46BA-8BA5-70B1E830F0CD}"/>
                  </a:ext>
                </a:extLst>
              </p14:cNvPr>
              <p14:cNvContentPartPr/>
              <p14:nvPr/>
            </p14:nvContentPartPr>
            <p14:xfrm>
              <a:off x="9536904" y="2395512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384FA2-6C0C-46BA-8BA5-70B1E830F0C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18904" y="2377872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BC6BE482-047B-4E0A-A909-B0399E0ED38B}"/>
              </a:ext>
            </a:extLst>
          </p:cNvPr>
          <p:cNvSpPr txBox="1"/>
          <p:nvPr/>
        </p:nvSpPr>
        <p:spPr>
          <a:xfrm>
            <a:off x="866394" y="3903969"/>
            <a:ext cx="6909046" cy="92333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i="1" dirty="0"/>
              <a:t>User</a:t>
            </a:r>
            <a:r>
              <a:rPr lang="en-US" dirty="0"/>
              <a:t> (</a:t>
            </a:r>
            <a:r>
              <a:rPr lang="en-US" i="1" dirty="0" err="1"/>
              <a:t>uid</a:t>
            </a:r>
            <a:r>
              <a:rPr lang="en-US" dirty="0"/>
              <a:t> int, </a:t>
            </a:r>
            <a:r>
              <a:rPr lang="en-US" i="1" dirty="0"/>
              <a:t>name</a:t>
            </a:r>
            <a:r>
              <a:rPr lang="en-US" dirty="0"/>
              <a:t> string, </a:t>
            </a:r>
            <a:r>
              <a:rPr lang="en-US" i="1" dirty="0"/>
              <a:t>age</a:t>
            </a:r>
            <a:r>
              <a:rPr lang="en-US" dirty="0"/>
              <a:t> int, </a:t>
            </a:r>
            <a:r>
              <a:rPr lang="en-US" i="1" dirty="0"/>
              <a:t>pop</a:t>
            </a:r>
            <a:r>
              <a:rPr lang="en-US" dirty="0"/>
              <a:t> float)</a:t>
            </a:r>
          </a:p>
          <a:p>
            <a:r>
              <a:rPr lang="en-US" i="1" dirty="0"/>
              <a:t>Group</a:t>
            </a:r>
            <a:r>
              <a:rPr lang="en-US" dirty="0"/>
              <a:t> (</a:t>
            </a:r>
            <a:r>
              <a:rPr lang="en-US" i="1" dirty="0"/>
              <a:t>gid</a:t>
            </a:r>
            <a:r>
              <a:rPr lang="en-US" dirty="0"/>
              <a:t> string, </a:t>
            </a:r>
            <a:r>
              <a:rPr lang="en-US" i="1" dirty="0"/>
              <a:t>name</a:t>
            </a:r>
            <a:r>
              <a:rPr lang="en-US" dirty="0"/>
              <a:t> string)</a:t>
            </a:r>
          </a:p>
          <a:p>
            <a:r>
              <a:rPr lang="en-US" i="1" dirty="0"/>
              <a:t>Member</a:t>
            </a:r>
            <a:r>
              <a:rPr lang="en-US" dirty="0"/>
              <a:t> (</a:t>
            </a:r>
            <a:r>
              <a:rPr lang="en-US" i="1" dirty="0" err="1"/>
              <a:t>uid</a:t>
            </a:r>
            <a:r>
              <a:rPr lang="en-US" dirty="0"/>
              <a:t> int, </a:t>
            </a:r>
            <a:r>
              <a:rPr lang="en-US" i="1" dirty="0"/>
              <a:t>gid</a:t>
            </a:r>
            <a:r>
              <a:rPr lang="en-US" dirty="0"/>
              <a:t> string)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BA18EBF-957C-428B-92D8-F6C19A9D9D76}"/>
                  </a:ext>
                </a:extLst>
              </p14:cNvPr>
              <p14:cNvContentPartPr/>
              <p14:nvPr/>
            </p14:nvContentPartPr>
            <p14:xfrm>
              <a:off x="2539770" y="5221740"/>
              <a:ext cx="370080" cy="3931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BA18EBF-957C-428B-92D8-F6C19A9D9D7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21770" y="5204100"/>
                <a:ext cx="40572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C5AC58E-8F55-42C9-BD67-CDC6D48E6F62}"/>
                  </a:ext>
                </a:extLst>
              </p14:cNvPr>
              <p14:cNvContentPartPr/>
              <p14:nvPr/>
            </p14:nvContentPartPr>
            <p14:xfrm>
              <a:off x="4885530" y="5298780"/>
              <a:ext cx="392760" cy="289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C5AC58E-8F55-42C9-BD67-CDC6D48E6F6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67890" y="5280780"/>
                <a:ext cx="42840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52080C2-667F-4F91-9D9F-392DAACC3539}"/>
                  </a:ext>
                </a:extLst>
              </p14:cNvPr>
              <p14:cNvContentPartPr/>
              <p14:nvPr/>
            </p14:nvContentPartPr>
            <p14:xfrm>
              <a:off x="1569210" y="5605860"/>
              <a:ext cx="466920" cy="45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52080C2-667F-4F91-9D9F-392DAACC353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51570" y="5588220"/>
                <a:ext cx="5025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C56A801-3F18-4824-9101-E951F10C3467}"/>
                  </a:ext>
                </a:extLst>
              </p14:cNvPr>
              <p14:cNvContentPartPr/>
              <p14:nvPr/>
            </p14:nvContentPartPr>
            <p14:xfrm>
              <a:off x="3442290" y="5636460"/>
              <a:ext cx="499320" cy="38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C56A801-3F18-4824-9101-E951F10C346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24650" y="5618820"/>
                <a:ext cx="53496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6AB6264B-68A2-45CB-B81F-DAB82EF2F7C7}"/>
              </a:ext>
            </a:extLst>
          </p:cNvPr>
          <p:cNvGrpSpPr/>
          <p:nvPr/>
        </p:nvGrpSpPr>
        <p:grpSpPr>
          <a:xfrm>
            <a:off x="1922370" y="5444220"/>
            <a:ext cx="529200" cy="969120"/>
            <a:chOff x="1922370" y="5444220"/>
            <a:chExt cx="529200" cy="9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1D1B9DA-BFB7-46BF-9DFA-C4485FA2940B}"/>
                    </a:ext>
                  </a:extLst>
                </p14:cNvPr>
                <p14:cNvContentPartPr/>
                <p14:nvPr/>
              </p14:nvContentPartPr>
              <p14:xfrm>
                <a:off x="1922370" y="5881260"/>
                <a:ext cx="529200" cy="532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1D1B9DA-BFB7-46BF-9DFA-C4485FA2940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04730" y="5863260"/>
                  <a:ext cx="56484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19B42DA-34A0-4BAA-8200-1B3716C00646}"/>
                    </a:ext>
                  </a:extLst>
                </p14:cNvPr>
                <p14:cNvContentPartPr/>
                <p14:nvPr/>
              </p14:nvContentPartPr>
              <p14:xfrm>
                <a:off x="2012730" y="5497140"/>
                <a:ext cx="123120" cy="340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19B42DA-34A0-4BAA-8200-1B3716C0064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95090" y="5479140"/>
                  <a:ext cx="15876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EB569B3-CF9A-4A98-93BB-1B6CBB7E5255}"/>
                    </a:ext>
                  </a:extLst>
                </p14:cNvPr>
                <p14:cNvContentPartPr/>
                <p14:nvPr/>
              </p14:nvContentPartPr>
              <p14:xfrm>
                <a:off x="1947930" y="5482020"/>
                <a:ext cx="89280" cy="106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EB569B3-CF9A-4A98-93BB-1B6CBB7E525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29930" y="5464020"/>
                  <a:ext cx="1249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2292B43-E766-4509-BDCC-624F15B26BB1}"/>
                    </a:ext>
                  </a:extLst>
                </p14:cNvPr>
                <p14:cNvContentPartPr/>
                <p14:nvPr/>
              </p14:nvContentPartPr>
              <p14:xfrm>
                <a:off x="2042610" y="5444220"/>
                <a:ext cx="111960" cy="41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2292B43-E766-4509-BDCC-624F15B26BB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24970" y="5426580"/>
                  <a:ext cx="147600" cy="76680"/>
                </a:xfrm>
                <a:prstGeom prst="rect">
                  <a:avLst/>
                </a:prstGeom>
              </p:spPr>
            </p:pic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73621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DCF3-E20F-429C-9C45-D7D7E0985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Integrity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89AB6-277B-4380-B1B0-B4AA7865C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instance is only </a:t>
            </a:r>
            <a:r>
              <a:rPr lang="en-US" dirty="0">
                <a:solidFill>
                  <a:schemeClr val="accent2"/>
                </a:solidFill>
              </a:rPr>
              <a:t>valid</a:t>
            </a:r>
            <a:r>
              <a:rPr lang="en-US" dirty="0"/>
              <a:t> if it satisfies all the integrity constraints.</a:t>
            </a:r>
          </a:p>
          <a:p>
            <a:endParaRPr lang="en-US" dirty="0"/>
          </a:p>
          <a:p>
            <a:r>
              <a:rPr lang="en-US" dirty="0"/>
              <a:t>Reasons to use constraints:</a:t>
            </a:r>
          </a:p>
          <a:p>
            <a:pPr lvl="1"/>
            <a:r>
              <a:rPr lang="en-US" dirty="0"/>
              <a:t>Ensure data entry/modification respects to database design </a:t>
            </a:r>
          </a:p>
          <a:p>
            <a:pPr lvl="1"/>
            <a:r>
              <a:rPr lang="en-US" dirty="0"/>
              <a:t>Protect data from bugs in applications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76858-0521-4EEE-8DD6-744525AF5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588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32704-9259-4BF6-AABA-C8429E3C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Types of integrity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62DA-0702-441E-AE29-FD04DEFA1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Tuple-level </a:t>
            </a:r>
          </a:p>
          <a:p>
            <a:pPr lvl="1"/>
            <a:r>
              <a:rPr lang="en-CA" dirty="0"/>
              <a:t>Domain restrictions, attribute comparisons, etc.</a:t>
            </a:r>
          </a:p>
          <a:p>
            <a:pPr lvl="2"/>
            <a:r>
              <a:rPr lang="en-CA" dirty="0"/>
              <a:t>E.g. </a:t>
            </a:r>
            <a:r>
              <a:rPr lang="en-CA" i="1" dirty="0"/>
              <a:t>age</a:t>
            </a:r>
            <a:r>
              <a:rPr lang="en-CA" dirty="0"/>
              <a:t> cannot be </a:t>
            </a:r>
            <a:r>
              <a:rPr lang="en-CA" dirty="0">
                <a:solidFill>
                  <a:srgbClr val="FF0000"/>
                </a:solidFill>
              </a:rPr>
              <a:t>negative </a:t>
            </a:r>
            <a:br>
              <a:rPr lang="en-CA" dirty="0">
                <a:solidFill>
                  <a:srgbClr val="FF0000"/>
                </a:solidFill>
              </a:rPr>
            </a:br>
            <a:endParaRPr lang="en-CA" dirty="0"/>
          </a:p>
          <a:p>
            <a:r>
              <a:rPr lang="en-CA" dirty="0"/>
              <a:t>Relation-level </a:t>
            </a:r>
          </a:p>
          <a:p>
            <a:pPr lvl="1"/>
            <a:r>
              <a:rPr lang="en-CA" dirty="0">
                <a:solidFill>
                  <a:schemeClr val="accent2"/>
                </a:solidFill>
              </a:rPr>
              <a:t>Key constraints </a:t>
            </a:r>
            <a:r>
              <a:rPr lang="en-CA" dirty="0"/>
              <a:t>(focus in this lecture) </a:t>
            </a:r>
          </a:p>
          <a:p>
            <a:pPr lvl="2"/>
            <a:r>
              <a:rPr lang="en-CA" dirty="0"/>
              <a:t>E.g. </a:t>
            </a:r>
            <a:r>
              <a:rPr lang="en-CA" i="1" dirty="0" err="1"/>
              <a:t>uid</a:t>
            </a:r>
            <a:r>
              <a:rPr lang="en-CA" dirty="0"/>
              <a:t> should be </a:t>
            </a:r>
            <a:r>
              <a:rPr lang="en-CA" dirty="0">
                <a:solidFill>
                  <a:schemeClr val="accent6"/>
                </a:solidFill>
              </a:rPr>
              <a:t>unique</a:t>
            </a:r>
            <a:r>
              <a:rPr lang="en-CA" dirty="0"/>
              <a:t> in the </a:t>
            </a:r>
            <a:r>
              <a:rPr lang="en-CA" i="1" dirty="0"/>
              <a:t>User</a:t>
            </a:r>
            <a:r>
              <a:rPr lang="en-CA" dirty="0"/>
              <a:t> relation </a:t>
            </a:r>
          </a:p>
          <a:p>
            <a:pPr lvl="1"/>
            <a:r>
              <a:rPr lang="en-CA" dirty="0"/>
              <a:t>Functional dependencies (Textbook, Ch. 7)</a:t>
            </a:r>
            <a:br>
              <a:rPr lang="en-CA" dirty="0"/>
            </a:br>
            <a:endParaRPr lang="en-CA" dirty="0"/>
          </a:p>
          <a:p>
            <a:r>
              <a:rPr lang="en-CA" dirty="0"/>
              <a:t>Database-level</a:t>
            </a:r>
          </a:p>
          <a:p>
            <a:pPr lvl="1"/>
            <a:r>
              <a:rPr lang="en-CA" dirty="0"/>
              <a:t>Referential integrity – </a:t>
            </a:r>
            <a:r>
              <a:rPr lang="en-CA" dirty="0">
                <a:solidFill>
                  <a:schemeClr val="accent2"/>
                </a:solidFill>
              </a:rPr>
              <a:t>foreign key</a:t>
            </a:r>
            <a:r>
              <a:rPr lang="en-CA" dirty="0"/>
              <a:t> (focus in this lecture)</a:t>
            </a:r>
          </a:p>
          <a:p>
            <a:pPr lvl="2"/>
            <a:r>
              <a:rPr lang="en-CA" i="1" dirty="0" err="1"/>
              <a:t>uid</a:t>
            </a:r>
            <a:r>
              <a:rPr lang="en-CA" dirty="0"/>
              <a:t> in </a:t>
            </a:r>
            <a:r>
              <a:rPr lang="en-CA" i="1" dirty="0"/>
              <a:t>Member</a:t>
            </a:r>
            <a:r>
              <a:rPr lang="en-CA" dirty="0"/>
              <a:t> must </a:t>
            </a:r>
            <a:r>
              <a:rPr lang="en-CA" dirty="0">
                <a:solidFill>
                  <a:srgbClr val="0070C0"/>
                </a:solidFill>
              </a:rPr>
              <a:t>refer to </a:t>
            </a:r>
            <a:r>
              <a:rPr lang="en-CA" dirty="0"/>
              <a:t>a row in </a:t>
            </a:r>
            <a:r>
              <a:rPr lang="en-CA" i="1" dirty="0"/>
              <a:t>User </a:t>
            </a:r>
            <a:r>
              <a:rPr lang="en-CA" dirty="0"/>
              <a:t>with the same </a:t>
            </a:r>
            <a:r>
              <a:rPr lang="en-CA" i="1" dirty="0" err="1"/>
              <a:t>uid</a:t>
            </a:r>
            <a:r>
              <a:rPr lang="en-CA" dirty="0"/>
              <a:t> </a:t>
            </a:r>
          </a:p>
          <a:p>
            <a:pPr marL="457200" lvl="1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98B74-EA5D-46D9-83B4-712848BB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661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(Candidate Key)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Def: A set of attributes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for a relation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if</a:t>
                </a:r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Condition 1: </a:t>
                </a:r>
                <a:r>
                  <a:rPr lang="en-US" dirty="0"/>
                  <a:t>In no instance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will two different tuples agree on all attributes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That is,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can serve as a “</a:t>
                </a:r>
                <a:r>
                  <a:rPr lang="en-US" dirty="0">
                    <a:solidFill>
                      <a:schemeClr val="accent2"/>
                    </a:solidFill>
                  </a:rPr>
                  <a:t>tuple identifier</a:t>
                </a:r>
                <a:r>
                  <a:rPr lang="en-US" dirty="0"/>
                  <a:t>”</a:t>
                </a:r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Condition 2</a:t>
                </a:r>
                <a:r>
                  <a:rPr lang="en-US" dirty="0"/>
                  <a:t>: No proper subset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satisfies the above condition</a:t>
                </a:r>
              </a:p>
              <a:p>
                <a:pPr lvl="1"/>
                <a:r>
                  <a:rPr lang="en-US" dirty="0"/>
                  <a:t>That is,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chemeClr val="accent2"/>
                    </a:solidFill>
                  </a:rPr>
                  <a:t>minimal</a:t>
                </a:r>
                <a:br>
                  <a:rPr lang="en-US" dirty="0">
                    <a:solidFill>
                      <a:schemeClr val="accent2"/>
                    </a:solidFill>
                  </a:rPr>
                </a:br>
                <a:endParaRPr lang="en-US" dirty="0"/>
              </a:p>
              <a:p>
                <a:r>
                  <a:rPr lang="en-US" dirty="0"/>
                  <a:t>Example: </a:t>
                </a:r>
                <a:r>
                  <a:rPr lang="en-US" i="1" dirty="0"/>
                  <a:t>User </a:t>
                </a:r>
                <a:r>
                  <a:rPr lang="en-US" dirty="0"/>
                  <a:t>(</a:t>
                </a:r>
                <a:r>
                  <a:rPr lang="en-US" i="1" dirty="0" err="1"/>
                  <a:t>uid</a:t>
                </a:r>
                <a:r>
                  <a:rPr lang="en-US" dirty="0"/>
                  <a:t>, </a:t>
                </a:r>
                <a:r>
                  <a:rPr lang="en-US" i="1" dirty="0"/>
                  <a:t>name</a:t>
                </a:r>
                <a:r>
                  <a:rPr lang="en-US" dirty="0"/>
                  <a:t>, </a:t>
                </a:r>
                <a:r>
                  <a:rPr lang="en-US" i="1" dirty="0"/>
                  <a:t>age</a:t>
                </a:r>
                <a:r>
                  <a:rPr lang="en-US" dirty="0"/>
                  <a:t>, </a:t>
                </a:r>
                <a:r>
                  <a:rPr lang="en-US" i="1" dirty="0"/>
                  <a:t>pop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i="1" dirty="0" err="1"/>
                  <a:t>uid</a:t>
                </a:r>
                <a:r>
                  <a:rPr lang="en-US" dirty="0"/>
                  <a:t> is a key of </a:t>
                </a:r>
                <a:r>
                  <a:rPr lang="en-US" i="1" dirty="0"/>
                  <a:t>User</a:t>
                </a:r>
              </a:p>
              <a:p>
                <a:pPr lvl="1"/>
                <a:r>
                  <a:rPr lang="en-US" i="1" dirty="0"/>
                  <a:t>age</a:t>
                </a:r>
                <a:r>
                  <a:rPr lang="en-US" dirty="0"/>
                  <a:t> is not a key (not an identifier)</a:t>
                </a:r>
              </a:p>
              <a:p>
                <a:pPr lvl="1"/>
                <a:r>
                  <a:rPr lang="en-US" dirty="0"/>
                  <a:t>{</a:t>
                </a:r>
                <a:r>
                  <a:rPr lang="en-US" i="1" dirty="0" err="1"/>
                  <a:t>uid</a:t>
                </a:r>
                <a:r>
                  <a:rPr lang="en-US" dirty="0"/>
                  <a:t>, </a:t>
                </a:r>
                <a:r>
                  <a:rPr lang="en-US" i="1" dirty="0"/>
                  <a:t>name</a:t>
                </a:r>
                <a:r>
                  <a:rPr lang="en-US" dirty="0"/>
                  <a:t>} is not a key (not minimal)</a:t>
                </a:r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491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14</a:t>
            </a:fld>
            <a:endParaRPr lang="en-US"/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56C92D6D-22A8-44CB-9A00-FB99555EF515}"/>
              </a:ext>
            </a:extLst>
          </p:cNvPr>
          <p:cNvSpPr/>
          <p:nvPr/>
        </p:nvSpPr>
        <p:spPr>
          <a:xfrm>
            <a:off x="7507224" y="5046503"/>
            <a:ext cx="1566676" cy="819140"/>
          </a:xfrm>
          <a:prstGeom prst="borderCallout1">
            <a:avLst>
              <a:gd name="adj1" fmla="val 18750"/>
              <a:gd name="adj2" fmla="val -8333"/>
              <a:gd name="adj3" fmla="val 131802"/>
              <a:gd name="adj4" fmla="val -2374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CA" dirty="0"/>
              <a:t>Satisfies only Condition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695A2-D476-4B1D-ACB6-C271CFAA08DE}"/>
              </a:ext>
            </a:extLst>
          </p:cNvPr>
          <p:cNvSpPr txBox="1"/>
          <p:nvPr/>
        </p:nvSpPr>
        <p:spPr>
          <a:xfrm>
            <a:off x="5824728" y="60906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, but a </a:t>
            </a:r>
            <a:r>
              <a:rPr lang="en-US" sz="2400" dirty="0" err="1">
                <a:solidFill>
                  <a:schemeClr val="accent2"/>
                </a:solidFill>
              </a:rPr>
              <a:t>superkey</a:t>
            </a:r>
            <a:endParaRPr lang="en-CA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11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vs. instance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3995432"/>
            <a:ext cx="8173014" cy="2726043"/>
          </a:xfrm>
        </p:spPr>
        <p:txBody>
          <a:bodyPr/>
          <a:lstStyle/>
          <a:p>
            <a:r>
              <a:rPr lang="en-US" dirty="0"/>
              <a:t>Is </a:t>
            </a:r>
            <a:r>
              <a:rPr lang="en-US" i="1" dirty="0"/>
              <a:t>name</a:t>
            </a:r>
            <a:r>
              <a:rPr lang="en-US" dirty="0"/>
              <a:t> a key of </a:t>
            </a:r>
            <a:r>
              <a:rPr lang="en-US" i="1" dirty="0"/>
              <a:t>User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Yes? Seems reasonable for this instance</a:t>
            </a:r>
          </a:p>
          <a:p>
            <a:pPr lvl="1"/>
            <a:r>
              <a:rPr lang="en-US" dirty="0"/>
              <a:t>No! User names are not unique </a:t>
            </a:r>
            <a:r>
              <a:rPr lang="en-US" dirty="0">
                <a:solidFill>
                  <a:schemeClr val="accent2"/>
                </a:solidFill>
              </a:rPr>
              <a:t>in general</a:t>
            </a:r>
          </a:p>
          <a:p>
            <a:r>
              <a:rPr lang="en-US" dirty="0"/>
              <a:t>Key declarations are part of the schema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81631" y="1647021"/>
          <a:ext cx="317627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9048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of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Member </a:t>
            </a:r>
            <a:r>
              <a:rPr lang="en-US" dirty="0"/>
              <a:t>(</a:t>
            </a:r>
            <a:r>
              <a:rPr lang="en-US" i="1" dirty="0" err="1"/>
              <a:t>uid</a:t>
            </a:r>
            <a:r>
              <a:rPr lang="en-US" dirty="0"/>
              <a:t>, </a:t>
            </a:r>
            <a:r>
              <a:rPr lang="en-US" i="1" dirty="0" err="1"/>
              <a:t>gid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{</a:t>
            </a:r>
            <a:r>
              <a:rPr lang="en-US" i="1" dirty="0" err="1"/>
              <a:t>uid</a:t>
            </a:r>
            <a:r>
              <a:rPr lang="en-US" dirty="0"/>
              <a:t>, </a:t>
            </a:r>
            <a:r>
              <a:rPr lang="en-US" i="1" dirty="0" err="1"/>
              <a:t>gid</a:t>
            </a:r>
            <a:r>
              <a:rPr lang="en-US" dirty="0"/>
              <a:t>}</a:t>
            </a:r>
          </a:p>
          <a:p>
            <a:pPr lvl="1">
              <a:buFont typeface="Wingdings" pitchFamily="2" charset="2"/>
              <a:buChar char="F"/>
            </a:pPr>
            <a:r>
              <a:rPr lang="en-US" dirty="0"/>
              <a:t>A key can contain multiple attributes</a:t>
            </a:r>
          </a:p>
          <a:p>
            <a:pPr lvl="1">
              <a:buFont typeface="Wingdings" pitchFamily="2" charset="2"/>
              <a:buChar char="F"/>
            </a:pPr>
            <a:endParaRPr lang="en-US" dirty="0"/>
          </a:p>
          <a:p>
            <a:r>
              <a:rPr lang="en-US" i="1" dirty="0"/>
              <a:t>Address</a:t>
            </a:r>
            <a:r>
              <a:rPr lang="en-US" dirty="0"/>
              <a:t> (</a:t>
            </a:r>
            <a:r>
              <a:rPr lang="en-US" i="1" dirty="0" err="1"/>
              <a:t>street_address</a:t>
            </a:r>
            <a:r>
              <a:rPr lang="en-US" dirty="0"/>
              <a:t>, </a:t>
            </a:r>
            <a:r>
              <a:rPr lang="en-US" i="1" dirty="0"/>
              <a:t>city</a:t>
            </a:r>
            <a:r>
              <a:rPr lang="en-US" dirty="0"/>
              <a:t>, </a:t>
            </a:r>
            <a:r>
              <a:rPr lang="en-US" i="1" dirty="0"/>
              <a:t>state</a:t>
            </a:r>
            <a:r>
              <a:rPr lang="en-US" dirty="0"/>
              <a:t>, </a:t>
            </a:r>
            <a:r>
              <a:rPr lang="en-US" i="1" dirty="0"/>
              <a:t>zip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Key 1: {</a:t>
            </a:r>
            <a:r>
              <a:rPr lang="en-US" i="1" dirty="0" err="1"/>
              <a:t>street_address</a:t>
            </a:r>
            <a:r>
              <a:rPr lang="en-US" dirty="0"/>
              <a:t>, </a:t>
            </a:r>
            <a:r>
              <a:rPr lang="en-US" i="1" dirty="0"/>
              <a:t>city</a:t>
            </a:r>
            <a:r>
              <a:rPr lang="en-US" dirty="0"/>
              <a:t>, </a:t>
            </a:r>
            <a:r>
              <a:rPr lang="en-US" i="1" dirty="0"/>
              <a:t>state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Key 2: {</a:t>
            </a:r>
            <a:r>
              <a:rPr lang="en-US" i="1" dirty="0" err="1"/>
              <a:t>street_address</a:t>
            </a:r>
            <a:r>
              <a:rPr lang="en-US" dirty="0"/>
              <a:t>, </a:t>
            </a:r>
            <a:r>
              <a:rPr lang="en-US" i="1" dirty="0"/>
              <a:t>zip</a:t>
            </a:r>
            <a:r>
              <a:rPr lang="en-US" dirty="0"/>
              <a:t>}</a:t>
            </a:r>
          </a:p>
          <a:p>
            <a:pPr lvl="1">
              <a:buFont typeface="Wingdings" pitchFamily="2" charset="2"/>
              <a:buChar char="F"/>
            </a:pPr>
            <a:r>
              <a:rPr lang="en-US" dirty="0"/>
              <a:t>A relation can have multiple keys!</a:t>
            </a:r>
          </a:p>
          <a:p>
            <a:pPr lvl="1">
              <a:buFont typeface="Wingdings" pitchFamily="2" charset="2"/>
              <a:buChar char="F"/>
            </a:pPr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Primary key</a:t>
            </a:r>
            <a:r>
              <a:rPr lang="en-US" dirty="0"/>
              <a:t>: a </a:t>
            </a:r>
            <a:r>
              <a:rPr lang="en-US" dirty="0">
                <a:solidFill>
                  <a:schemeClr val="accent2"/>
                </a:solidFill>
              </a:rPr>
              <a:t>designated</a:t>
            </a:r>
            <a:r>
              <a:rPr lang="en-US" dirty="0"/>
              <a:t> candidate key in the schema declaration</a:t>
            </a:r>
          </a:p>
          <a:p>
            <a:pPr lvl="1"/>
            <a:r>
              <a:rPr lang="en-US" u="sng" dirty="0">
                <a:solidFill>
                  <a:schemeClr val="accent2"/>
                </a:solidFill>
              </a:rPr>
              <a:t>Underline</a:t>
            </a:r>
            <a:r>
              <a:rPr lang="en-US" dirty="0"/>
              <a:t> all its attributes, e.g., </a:t>
            </a:r>
            <a:r>
              <a:rPr lang="en-US" i="1" dirty="0"/>
              <a:t>Address</a:t>
            </a:r>
            <a:r>
              <a:rPr lang="en-US" dirty="0"/>
              <a:t> (</a:t>
            </a:r>
            <a:r>
              <a:rPr lang="en-US" i="1" u="sng" dirty="0" err="1"/>
              <a:t>street_address</a:t>
            </a:r>
            <a:r>
              <a:rPr lang="en-US" dirty="0"/>
              <a:t>, </a:t>
            </a:r>
            <a:r>
              <a:rPr lang="en-US" i="1" dirty="0"/>
              <a:t>city</a:t>
            </a:r>
            <a:r>
              <a:rPr lang="en-US" dirty="0"/>
              <a:t>, </a:t>
            </a:r>
            <a:r>
              <a:rPr lang="en-US" i="1" dirty="0"/>
              <a:t>state</a:t>
            </a:r>
            <a:r>
              <a:rPr lang="en-US" dirty="0"/>
              <a:t>, </a:t>
            </a:r>
            <a:r>
              <a:rPr lang="en-US" i="1" u="sng" dirty="0"/>
              <a:t>zip</a:t>
            </a:r>
            <a:r>
              <a:rPr lang="en-US" dirty="0"/>
              <a:t>)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F1C0F7-C321-3340-9767-2F2D463F8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605342"/>
              </p:ext>
            </p:extLst>
          </p:nvPr>
        </p:nvGraphicFramePr>
        <p:xfrm>
          <a:off x="6921984" y="1412833"/>
          <a:ext cx="13436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FD7247-AAF9-C04B-BCDA-2DE9B81949EE}"/>
              </a:ext>
            </a:extLst>
          </p:cNvPr>
          <p:cNvSpPr txBox="1"/>
          <p:nvPr/>
        </p:nvSpPr>
        <p:spPr>
          <a:xfrm>
            <a:off x="5804074" y="1342321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428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constraints on data, fewer mistakes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Look up a row by its key value</a:t>
            </a:r>
          </a:p>
          <a:p>
            <a:pPr lvl="1"/>
            <a:r>
              <a:rPr lang="en-US" dirty="0"/>
              <a:t>Many selection conditions are “key = value”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“Pointers” to other rows (often across tables)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489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“Pointers” to other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Foreign key</a:t>
            </a:r>
            <a:r>
              <a:rPr lang="en-US" dirty="0"/>
              <a:t>: primary key of one relation appearing as attribute of another relation</a:t>
            </a:r>
          </a:p>
          <a:p>
            <a:pPr marL="457200" lvl="1" indent="0">
              <a:buNone/>
            </a:pPr>
            <a:br>
              <a:rPr lang="en-US" dirty="0"/>
            </a:br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095CA5-0FDB-45F6-BF22-F9F67F661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977710"/>
              </p:ext>
            </p:extLst>
          </p:nvPr>
        </p:nvGraphicFramePr>
        <p:xfrm>
          <a:off x="1165236" y="2343490"/>
          <a:ext cx="317627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u="sng" dirty="0" err="1"/>
                        <a:t>uid</a:t>
                      </a:r>
                      <a:endParaRPr lang="en-US" sz="1600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764E99-A09C-4A2A-90C6-BA4233E60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6355"/>
              </p:ext>
            </p:extLst>
          </p:nvPr>
        </p:nvGraphicFramePr>
        <p:xfrm>
          <a:off x="4901575" y="2506492"/>
          <a:ext cx="3421698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i="1" u="sng" dirty="0" err="1"/>
                        <a:t>gid</a:t>
                      </a:r>
                      <a:endParaRPr lang="en-US" sz="1600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Book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Club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Dead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Putting Society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D2DBA4-6D66-471B-856D-9843671A3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582430"/>
              </p:ext>
            </p:extLst>
          </p:nvPr>
        </p:nvGraphicFramePr>
        <p:xfrm>
          <a:off x="6153056" y="4303045"/>
          <a:ext cx="13436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u="sng" dirty="0" err="1"/>
                        <a:t>uid</a:t>
                      </a:r>
                      <a:endParaRPr lang="en-US" sz="1600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u="sng" dirty="0" err="1"/>
                        <a:t>gid</a:t>
                      </a:r>
                      <a:endParaRPr lang="en-US" sz="1600" i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20C01D0-8A55-467B-A02D-A86A99E0BBEA}"/>
              </a:ext>
            </a:extLst>
          </p:cNvPr>
          <p:cNvSpPr txBox="1"/>
          <p:nvPr/>
        </p:nvSpPr>
        <p:spPr>
          <a:xfrm>
            <a:off x="452397" y="2239793"/>
            <a:ext cx="66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User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DEB67-E266-421C-B84D-4F3A1CDEB68F}"/>
              </a:ext>
            </a:extLst>
          </p:cNvPr>
          <p:cNvSpPr txBox="1"/>
          <p:nvPr/>
        </p:nvSpPr>
        <p:spPr>
          <a:xfrm>
            <a:off x="6252261" y="2093504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Group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875D57-E205-47DF-BCE6-51943C1C81D5}"/>
              </a:ext>
            </a:extLst>
          </p:cNvPr>
          <p:cNvSpPr txBox="1"/>
          <p:nvPr/>
        </p:nvSpPr>
        <p:spPr>
          <a:xfrm>
            <a:off x="5187546" y="4384933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2D849B5-E632-48F2-8D36-2A5808B5836E}"/>
              </a:ext>
            </a:extLst>
          </p:cNvPr>
          <p:cNvCxnSpPr>
            <a:cxnSpLocks/>
          </p:cNvCxnSpPr>
          <p:nvPr/>
        </p:nvCxnSpPr>
        <p:spPr>
          <a:xfrm>
            <a:off x="5386576" y="2742806"/>
            <a:ext cx="2110140" cy="1667369"/>
          </a:xfrm>
          <a:prstGeom prst="bentConnector3">
            <a:avLst>
              <a:gd name="adj1" fmla="val 158557"/>
            </a:avLst>
          </a:prstGeom>
          <a:ln w="190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3B72B2E-DE63-461B-925F-A1562516275E}"/>
              </a:ext>
            </a:extLst>
          </p:cNvPr>
          <p:cNvCxnSpPr>
            <a:cxnSpLocks/>
          </p:cNvCxnSpPr>
          <p:nvPr/>
        </p:nvCxnSpPr>
        <p:spPr>
          <a:xfrm>
            <a:off x="1165236" y="2592282"/>
            <a:ext cx="4987820" cy="1856014"/>
          </a:xfrm>
          <a:prstGeom prst="bentConnector3">
            <a:avLst>
              <a:gd name="adj1" fmla="val -11802"/>
            </a:avLst>
          </a:prstGeom>
          <a:ln w="190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3FE38D7-5A87-4E2D-813B-1C93FD6061CB}"/>
                  </a:ext>
                </a:extLst>
              </p14:cNvPr>
              <p14:cNvContentPartPr/>
              <p14:nvPr/>
            </p14:nvContentPartPr>
            <p14:xfrm>
              <a:off x="1262102" y="2612183"/>
              <a:ext cx="393840" cy="554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3FE38D7-5A87-4E2D-813B-1C93FD6061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44102" y="2594183"/>
                <a:ext cx="4294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3C2F37E-2045-493C-B89F-1AD83B727E4C}"/>
                  </a:ext>
                </a:extLst>
              </p14:cNvPr>
              <p14:cNvContentPartPr/>
              <p14:nvPr/>
            </p14:nvContentPartPr>
            <p14:xfrm>
              <a:off x="4906251" y="2743600"/>
              <a:ext cx="451080" cy="320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3C2F37E-2045-493C-B89F-1AD83B727E4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88251" y="2725600"/>
                <a:ext cx="48672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C772C55E-C29B-4098-B76B-EB886D277025}"/>
              </a:ext>
            </a:extLst>
          </p:cNvPr>
          <p:cNvGrpSpPr/>
          <p:nvPr/>
        </p:nvGrpSpPr>
        <p:grpSpPr>
          <a:xfrm>
            <a:off x="1411267" y="3204186"/>
            <a:ext cx="4650120" cy="2167560"/>
            <a:chOff x="1411267" y="3204186"/>
            <a:chExt cx="4650120" cy="21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B0712F7-BB92-4D13-84DA-00C618CA7CAE}"/>
                    </a:ext>
                  </a:extLst>
                </p14:cNvPr>
                <p14:cNvContentPartPr/>
                <p14:nvPr/>
              </p14:nvContentPartPr>
              <p14:xfrm>
                <a:off x="1496587" y="3319746"/>
                <a:ext cx="4564800" cy="2052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B0712F7-BB92-4D13-84DA-00C618CA7C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78947" y="3302106"/>
                  <a:ext cx="4600440" cy="20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A5F8C8E-C8FF-40C6-A947-D1F52EBC0B9B}"/>
                    </a:ext>
                  </a:extLst>
                </p14:cNvPr>
                <p14:cNvContentPartPr/>
                <p14:nvPr/>
              </p14:nvContentPartPr>
              <p14:xfrm>
                <a:off x="1411267" y="3204186"/>
                <a:ext cx="88560" cy="234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A5F8C8E-C8FF-40C6-A947-D1F52EBC0B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93627" y="3186186"/>
                  <a:ext cx="124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8D63981-1F2E-4C22-80ED-3799802A77D0}"/>
                    </a:ext>
                  </a:extLst>
                </p14:cNvPr>
                <p14:cNvContentPartPr/>
                <p14:nvPr/>
              </p14:nvContentPartPr>
              <p14:xfrm>
                <a:off x="1541947" y="3270426"/>
                <a:ext cx="235800" cy="114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8D63981-1F2E-4C22-80ED-3799802A77D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24307" y="3252786"/>
                  <a:ext cx="27144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828F370-6C4A-476A-8F64-9F9248A76BD9}"/>
              </a:ext>
            </a:extLst>
          </p:cNvPr>
          <p:cNvGrpSpPr/>
          <p:nvPr/>
        </p:nvGrpSpPr>
        <p:grpSpPr>
          <a:xfrm>
            <a:off x="7417867" y="3348906"/>
            <a:ext cx="613080" cy="1828800"/>
            <a:chOff x="7417867" y="3348906"/>
            <a:chExt cx="613080" cy="182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D24BC77-B1C7-4B61-9A2A-7F05CBF782DD}"/>
                    </a:ext>
                  </a:extLst>
                </p14:cNvPr>
                <p14:cNvContentPartPr/>
                <p14:nvPr/>
              </p14:nvContentPartPr>
              <p14:xfrm>
                <a:off x="7417867" y="3391386"/>
                <a:ext cx="613080" cy="1786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D24BC77-B1C7-4B61-9A2A-7F05CBF782D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00227" y="3373386"/>
                  <a:ext cx="648720" cy="18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72C33A5-E97F-4AFF-B836-6E959409E79F}"/>
                    </a:ext>
                  </a:extLst>
                </p14:cNvPr>
                <p14:cNvContentPartPr/>
                <p14:nvPr/>
              </p14:nvContentPartPr>
              <p14:xfrm>
                <a:off x="7564027" y="3348906"/>
                <a:ext cx="277920" cy="160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72C33A5-E97F-4AFF-B836-6E959409E7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46027" y="3330906"/>
                  <a:ext cx="313560" cy="195840"/>
                </a:xfrm>
                <a:prstGeom prst="rect">
                  <a:avLst/>
                </a:prstGeom>
              </p:spPr>
            </p:pic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41251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“Pointers” to other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Referential integrity</a:t>
            </a:r>
            <a:r>
              <a:rPr lang="en-US" dirty="0"/>
              <a:t>: A tuple with a non-null </a:t>
            </a:r>
            <a:r>
              <a:rPr lang="en-US" dirty="0">
                <a:solidFill>
                  <a:schemeClr val="accent2"/>
                </a:solidFill>
              </a:rPr>
              <a:t>value for a foreign key</a:t>
            </a:r>
            <a:r>
              <a:rPr lang="en-US" dirty="0"/>
              <a:t> that does </a:t>
            </a:r>
            <a:r>
              <a:rPr lang="en-US" dirty="0">
                <a:solidFill>
                  <a:schemeClr val="accent2"/>
                </a:solidFill>
              </a:rPr>
              <a:t>not match the primary key value</a:t>
            </a:r>
            <a:r>
              <a:rPr lang="en-US" dirty="0"/>
              <a:t> of a tuple in the referenced relation is </a:t>
            </a:r>
            <a:r>
              <a:rPr lang="en-CA" dirty="0"/>
              <a:t>not allowed.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35FDA44-2689-4C42-A6CF-47992CDCA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475056"/>
              </p:ext>
            </p:extLst>
          </p:nvPr>
        </p:nvGraphicFramePr>
        <p:xfrm>
          <a:off x="1321470" y="4200017"/>
          <a:ext cx="342169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i="1" u="sng" dirty="0" err="1"/>
                        <a:t>gid</a:t>
                      </a:r>
                      <a:endParaRPr lang="en-US" sz="1600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Book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Club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Dead</a:t>
                      </a:r>
                      <a:r>
                        <a:rPr lang="en-US" sz="1600" baseline="0" dirty="0">
                          <a:latin typeface="Prestige12 BT" panose="02070509030506020304" pitchFamily="49" charset="0"/>
                        </a:rPr>
                        <a:t> Putting Society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1ABF21D-3922-4842-A189-2081A040B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880144"/>
              </p:ext>
            </p:extLst>
          </p:nvPr>
        </p:nvGraphicFramePr>
        <p:xfrm>
          <a:off x="6973783" y="3317378"/>
          <a:ext cx="13436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u="sng" dirty="0" err="1"/>
                        <a:t>uid</a:t>
                      </a:r>
                      <a:endParaRPr lang="en-US" sz="1600" i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u="sng" dirty="0" err="1"/>
                        <a:t>gid</a:t>
                      </a:r>
                      <a:endParaRPr lang="en-US" sz="1600" i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gov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Xi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58BB07D-62F5-4420-B1EC-FDC19493D005}"/>
              </a:ext>
            </a:extLst>
          </p:cNvPr>
          <p:cNvSpPr txBox="1"/>
          <p:nvPr/>
        </p:nvSpPr>
        <p:spPr>
          <a:xfrm>
            <a:off x="2409641" y="3799907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Group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F61C45-FB5E-4615-B877-E7EDCEC55C3B}"/>
              </a:ext>
            </a:extLst>
          </p:cNvPr>
          <p:cNvSpPr txBox="1"/>
          <p:nvPr/>
        </p:nvSpPr>
        <p:spPr>
          <a:xfrm>
            <a:off x="5711161" y="3399797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16FAD8-3627-4622-A648-2ED7AB4A9BDF}"/>
              </a:ext>
            </a:extLst>
          </p:cNvPr>
          <p:cNvGrpSpPr/>
          <p:nvPr/>
        </p:nvGrpSpPr>
        <p:grpSpPr>
          <a:xfrm>
            <a:off x="7692547" y="4439097"/>
            <a:ext cx="770760" cy="236520"/>
            <a:chOff x="7692547" y="4985852"/>
            <a:chExt cx="770760" cy="2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67C276F-1501-41E5-9B04-FBDD7EBD0C9A}"/>
                    </a:ext>
                  </a:extLst>
                </p14:cNvPr>
                <p14:cNvContentPartPr/>
                <p14:nvPr/>
              </p14:nvContentPartPr>
              <p14:xfrm>
                <a:off x="7692547" y="5015012"/>
                <a:ext cx="770760" cy="207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67C276F-1501-41E5-9B04-FBDD7EBD0C9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74547" y="4997372"/>
                  <a:ext cx="8064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8232269-1DA2-4A69-B3F3-D27D168059BE}"/>
                    </a:ext>
                  </a:extLst>
                </p14:cNvPr>
                <p14:cNvContentPartPr/>
                <p14:nvPr/>
              </p14:nvContentPartPr>
              <p14:xfrm>
                <a:off x="7721347" y="4985852"/>
                <a:ext cx="651960" cy="166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8232269-1DA2-4A69-B3F3-D27D168059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03707" y="4967852"/>
                  <a:ext cx="687600" cy="2023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4E89995-E269-40AE-B3FF-82076806ECF4}"/>
              </a:ext>
            </a:extLst>
          </p:cNvPr>
          <p:cNvCxnSpPr>
            <a:cxnSpLocks/>
          </p:cNvCxnSpPr>
          <p:nvPr/>
        </p:nvCxnSpPr>
        <p:spPr>
          <a:xfrm flipV="1">
            <a:off x="1321470" y="3478490"/>
            <a:ext cx="6399877" cy="876694"/>
          </a:xfrm>
          <a:prstGeom prst="bentConnector3">
            <a:avLst>
              <a:gd name="adj1" fmla="val -7004"/>
            </a:avLst>
          </a:prstGeom>
          <a:ln w="190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50751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E9D5-B5F9-48C7-A991-6DC514B6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BE113-87AD-40C9-9D4C-8493E320B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Part 1: Relational data model </a:t>
            </a:r>
          </a:p>
          <a:p>
            <a:pPr lvl="1"/>
            <a:r>
              <a:rPr lang="en-C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model</a:t>
            </a:r>
          </a:p>
          <a:p>
            <a:pPr lvl="1"/>
            <a:r>
              <a:rPr lang="en-C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Database schema</a:t>
            </a:r>
          </a:p>
          <a:p>
            <a:pPr lvl="1"/>
            <a:r>
              <a:rPr lang="en-C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Integrity constraints (keys)</a:t>
            </a:r>
          </a:p>
          <a:p>
            <a:pPr lvl="1"/>
            <a:r>
              <a:rPr lang="en-CA" dirty="0"/>
              <a:t>Languages</a:t>
            </a:r>
          </a:p>
          <a:p>
            <a:pPr lvl="2"/>
            <a:r>
              <a:rPr lang="en-CA" dirty="0">
                <a:solidFill>
                  <a:schemeClr val="accent2"/>
                </a:solidFill>
              </a:rPr>
              <a:t>Relational algebra</a:t>
            </a:r>
            <a:r>
              <a:rPr lang="en-CA" dirty="0"/>
              <a:t> (focus in this lecture)</a:t>
            </a:r>
          </a:p>
          <a:p>
            <a:pPr lvl="2"/>
            <a:r>
              <a:rPr lang="en-CA" dirty="0"/>
              <a:t>SQL (next lecture)</a:t>
            </a:r>
          </a:p>
          <a:p>
            <a:pPr lvl="2"/>
            <a:r>
              <a:rPr lang="en-CA" dirty="0"/>
              <a:t>Relational calculus (textbook, Ch. 27)</a:t>
            </a:r>
            <a:br>
              <a:rPr lang="en-CA" dirty="0"/>
            </a:br>
            <a:endParaRPr lang="en-CA" dirty="0"/>
          </a:p>
          <a:p>
            <a:r>
              <a:rPr lang="en-CA" dirty="0"/>
              <a:t>Part 2: Relational algebra </a:t>
            </a:r>
          </a:p>
          <a:p>
            <a:pPr marL="457200" lvl="1" indent="0">
              <a:buNone/>
            </a:pPr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C38C3-E712-49C1-BB19-3AB1C0DC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867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11339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language for querying relational data </a:t>
            </a:r>
            <a:br>
              <a:rPr lang="en-US" dirty="0"/>
            </a:br>
            <a:r>
              <a:rPr lang="en-US" dirty="0"/>
              <a:t>based on “operators”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21</a:t>
            </a:fld>
            <a:endParaRPr lang="en-US"/>
          </a:p>
        </p:txBody>
      </p: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1905000" y="2438400"/>
            <a:ext cx="1524000" cy="838200"/>
            <a:chOff x="1008" y="1776"/>
            <a:chExt cx="960" cy="528"/>
          </a:xfrm>
        </p:grpSpPr>
        <p:sp>
          <p:nvSpPr>
            <p:cNvPr id="6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Text Box 65"/>
            <p:cNvSpPr txBox="1">
              <a:spLocks noChangeArrowheads="1"/>
            </p:cNvSpPr>
            <p:nvPr/>
          </p:nvSpPr>
          <p:spPr bwMode="auto">
            <a:xfrm>
              <a:off x="1200" y="1878"/>
              <a:ext cx="58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i="1" dirty="0" err="1">
                  <a:latin typeface="+mn-lt"/>
                </a:rPr>
                <a:t>RelOp</a:t>
              </a:r>
              <a:endParaRPr kumimoji="0" lang="en-US" i="1" dirty="0">
                <a:latin typeface="+mn-lt"/>
              </a:endParaRPr>
            </a:p>
          </p:txBody>
        </p:sp>
      </p:grpSp>
      <p:grpSp>
        <p:nvGrpSpPr>
          <p:cNvPr id="8" name="Group 66"/>
          <p:cNvGrpSpPr>
            <a:grpSpLocks/>
          </p:cNvGrpSpPr>
          <p:nvPr/>
        </p:nvGrpSpPr>
        <p:grpSpPr bwMode="auto">
          <a:xfrm>
            <a:off x="5334000" y="3048000"/>
            <a:ext cx="1524000" cy="838200"/>
            <a:chOff x="1008" y="1776"/>
            <a:chExt cx="960" cy="528"/>
          </a:xfrm>
        </p:grpSpPr>
        <p:sp>
          <p:nvSpPr>
            <p:cNvPr id="9" name="Oval 67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Text Box 68"/>
            <p:cNvSpPr txBox="1">
              <a:spLocks noChangeArrowheads="1"/>
            </p:cNvSpPr>
            <p:nvPr/>
          </p:nvSpPr>
          <p:spPr bwMode="auto">
            <a:xfrm>
              <a:off x="1200" y="1878"/>
              <a:ext cx="58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i="1" dirty="0" err="1">
                  <a:latin typeface="+mn-lt"/>
                </a:rPr>
                <a:t>RelOp</a:t>
              </a:r>
              <a:endParaRPr kumimoji="0" lang="en-US" i="1" dirty="0">
                <a:latin typeface="+mn-lt"/>
              </a:endParaRPr>
            </a:p>
          </p:txBody>
        </p:sp>
      </p:grpSp>
      <p:grpSp>
        <p:nvGrpSpPr>
          <p:cNvPr id="11" name="Group 69"/>
          <p:cNvGrpSpPr>
            <a:grpSpLocks/>
          </p:cNvGrpSpPr>
          <p:nvPr/>
        </p:nvGrpSpPr>
        <p:grpSpPr bwMode="auto">
          <a:xfrm>
            <a:off x="457200" y="2362200"/>
            <a:ext cx="1447800" cy="914400"/>
            <a:chOff x="288" y="1056"/>
            <a:chExt cx="912" cy="576"/>
          </a:xfrm>
        </p:grpSpPr>
        <p:grpSp>
          <p:nvGrpSpPr>
            <p:cNvPr id="12" name="Group 70"/>
            <p:cNvGrpSpPr>
              <a:grpSpLocks/>
            </p:cNvGrpSpPr>
            <p:nvPr/>
          </p:nvGrpSpPr>
          <p:grpSpPr bwMode="auto">
            <a:xfrm>
              <a:off x="288" y="1056"/>
              <a:ext cx="624" cy="576"/>
              <a:chOff x="1056" y="1920"/>
              <a:chExt cx="1296" cy="1152"/>
            </a:xfrm>
          </p:grpSpPr>
          <p:sp>
            <p:nvSpPr>
              <p:cNvPr id="14" name="Rectangle 71"/>
              <p:cNvSpPr>
                <a:spLocks noChangeArrowheads="1"/>
              </p:cNvSpPr>
              <p:nvPr/>
            </p:nvSpPr>
            <p:spPr bwMode="auto">
              <a:xfrm>
                <a:off x="1056" y="1920"/>
                <a:ext cx="1296" cy="1152"/>
              </a:xfrm>
              <a:prstGeom prst="rect">
                <a:avLst/>
              </a:prstGeom>
              <a:solidFill>
                <a:schemeClr val="tx2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Rectangle 72"/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1296" cy="960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73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74"/>
              <p:cNvSpPr>
                <a:spLocks noChangeShapeType="1"/>
              </p:cNvSpPr>
              <p:nvPr/>
            </p:nvSpPr>
            <p:spPr bwMode="auto">
              <a:xfrm>
                <a:off x="1776" y="192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75"/>
              <p:cNvSpPr>
                <a:spLocks noChangeShapeType="1"/>
              </p:cNvSpPr>
              <p:nvPr/>
            </p:nvSpPr>
            <p:spPr bwMode="auto">
              <a:xfrm>
                <a:off x="2016" y="192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76"/>
              <p:cNvSpPr>
                <a:spLocks noChangeShapeType="1"/>
              </p:cNvSpPr>
              <p:nvPr/>
            </p:nvSpPr>
            <p:spPr bwMode="auto">
              <a:xfrm>
                <a:off x="1056" y="2304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Line 77"/>
              <p:cNvSpPr>
                <a:spLocks noChangeShapeType="1"/>
              </p:cNvSpPr>
              <p:nvPr/>
            </p:nvSpPr>
            <p:spPr bwMode="auto">
              <a:xfrm>
                <a:off x="1056" y="2496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Line 78"/>
              <p:cNvSpPr>
                <a:spLocks noChangeShapeType="1"/>
              </p:cNvSpPr>
              <p:nvPr/>
            </p:nvSpPr>
            <p:spPr bwMode="auto">
              <a:xfrm>
                <a:off x="1056" y="2688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79"/>
              <p:cNvSpPr>
                <a:spLocks noChangeShapeType="1"/>
              </p:cNvSpPr>
              <p:nvPr/>
            </p:nvSpPr>
            <p:spPr bwMode="auto">
              <a:xfrm>
                <a:off x="1056" y="2880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" name="Line 80"/>
            <p:cNvSpPr>
              <a:spLocks noChangeShapeType="1"/>
            </p:cNvSpPr>
            <p:nvPr/>
          </p:nvSpPr>
          <p:spPr bwMode="auto">
            <a:xfrm>
              <a:off x="960" y="1344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" name="Group 81"/>
          <p:cNvGrpSpPr>
            <a:grpSpLocks/>
          </p:cNvGrpSpPr>
          <p:nvPr/>
        </p:nvGrpSpPr>
        <p:grpSpPr bwMode="auto">
          <a:xfrm>
            <a:off x="3429000" y="2438400"/>
            <a:ext cx="1447800" cy="762000"/>
            <a:chOff x="2160" y="1104"/>
            <a:chExt cx="912" cy="480"/>
          </a:xfrm>
        </p:grpSpPr>
        <p:grpSp>
          <p:nvGrpSpPr>
            <p:cNvPr id="24" name="Group 82"/>
            <p:cNvGrpSpPr>
              <a:grpSpLocks/>
            </p:cNvGrpSpPr>
            <p:nvPr/>
          </p:nvGrpSpPr>
          <p:grpSpPr bwMode="auto">
            <a:xfrm>
              <a:off x="2448" y="1104"/>
              <a:ext cx="624" cy="480"/>
              <a:chOff x="2400" y="1152"/>
              <a:chExt cx="624" cy="480"/>
            </a:xfrm>
          </p:grpSpPr>
          <p:sp>
            <p:nvSpPr>
              <p:cNvPr id="26" name="Rectangle 83"/>
              <p:cNvSpPr>
                <a:spLocks noChangeArrowheads="1"/>
              </p:cNvSpPr>
              <p:nvPr/>
            </p:nvSpPr>
            <p:spPr bwMode="auto">
              <a:xfrm>
                <a:off x="2400" y="1152"/>
                <a:ext cx="624" cy="480"/>
              </a:xfrm>
              <a:prstGeom prst="rect">
                <a:avLst/>
              </a:prstGeom>
              <a:solidFill>
                <a:schemeClr val="tx2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Rectangle 84"/>
              <p:cNvSpPr>
                <a:spLocks noChangeArrowheads="1"/>
              </p:cNvSpPr>
              <p:nvPr/>
            </p:nvSpPr>
            <p:spPr bwMode="auto">
              <a:xfrm>
                <a:off x="2400" y="1248"/>
                <a:ext cx="624" cy="384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Line 85"/>
              <p:cNvSpPr>
                <a:spLocks noChangeShapeType="1"/>
              </p:cNvSpPr>
              <p:nvPr/>
            </p:nvSpPr>
            <p:spPr bwMode="auto">
              <a:xfrm>
                <a:off x="2539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Line 86"/>
              <p:cNvSpPr>
                <a:spLocks noChangeShapeType="1"/>
              </p:cNvSpPr>
              <p:nvPr/>
            </p:nvSpPr>
            <p:spPr bwMode="auto">
              <a:xfrm>
                <a:off x="2759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87"/>
              <p:cNvSpPr>
                <a:spLocks noChangeShapeType="1"/>
              </p:cNvSpPr>
              <p:nvPr/>
            </p:nvSpPr>
            <p:spPr bwMode="auto">
              <a:xfrm>
                <a:off x="2880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88"/>
              <p:cNvSpPr>
                <a:spLocks noChangeShapeType="1"/>
              </p:cNvSpPr>
              <p:nvPr/>
            </p:nvSpPr>
            <p:spPr bwMode="auto">
              <a:xfrm>
                <a:off x="2400" y="1344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89"/>
              <p:cNvSpPr>
                <a:spLocks noChangeShapeType="1"/>
              </p:cNvSpPr>
              <p:nvPr/>
            </p:nvSpPr>
            <p:spPr bwMode="auto">
              <a:xfrm>
                <a:off x="2400" y="1440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Line 90"/>
              <p:cNvSpPr>
                <a:spLocks noChangeShapeType="1"/>
              </p:cNvSpPr>
              <p:nvPr/>
            </p:nvSpPr>
            <p:spPr bwMode="auto">
              <a:xfrm>
                <a:off x="2400" y="153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" name="Line 91"/>
            <p:cNvSpPr>
              <a:spLocks noChangeShapeType="1"/>
            </p:cNvSpPr>
            <p:nvPr/>
          </p:nvSpPr>
          <p:spPr bwMode="auto">
            <a:xfrm>
              <a:off x="2160" y="1344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4" name="Group 92"/>
          <p:cNvGrpSpPr>
            <a:grpSpLocks/>
          </p:cNvGrpSpPr>
          <p:nvPr/>
        </p:nvGrpSpPr>
        <p:grpSpPr bwMode="auto">
          <a:xfrm>
            <a:off x="3886200" y="2895600"/>
            <a:ext cx="1524000" cy="1600200"/>
            <a:chOff x="2448" y="1392"/>
            <a:chExt cx="960" cy="1008"/>
          </a:xfrm>
        </p:grpSpPr>
        <p:grpSp>
          <p:nvGrpSpPr>
            <p:cNvPr id="35" name="Group 93"/>
            <p:cNvGrpSpPr>
              <a:grpSpLocks/>
            </p:cNvGrpSpPr>
            <p:nvPr/>
          </p:nvGrpSpPr>
          <p:grpSpPr bwMode="auto">
            <a:xfrm>
              <a:off x="2448" y="1824"/>
              <a:ext cx="624" cy="576"/>
              <a:chOff x="1056" y="1920"/>
              <a:chExt cx="1296" cy="1152"/>
            </a:xfrm>
          </p:grpSpPr>
          <p:sp>
            <p:nvSpPr>
              <p:cNvPr id="38" name="Rectangle 94"/>
              <p:cNvSpPr>
                <a:spLocks noChangeArrowheads="1"/>
              </p:cNvSpPr>
              <p:nvPr/>
            </p:nvSpPr>
            <p:spPr bwMode="auto">
              <a:xfrm>
                <a:off x="1056" y="1920"/>
                <a:ext cx="1296" cy="1152"/>
              </a:xfrm>
              <a:prstGeom prst="rect">
                <a:avLst/>
              </a:prstGeom>
              <a:solidFill>
                <a:schemeClr val="tx2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Rectangle 95"/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1296" cy="960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Line 96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Line 97"/>
              <p:cNvSpPr>
                <a:spLocks noChangeShapeType="1"/>
              </p:cNvSpPr>
              <p:nvPr/>
            </p:nvSpPr>
            <p:spPr bwMode="auto">
              <a:xfrm>
                <a:off x="1776" y="192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98"/>
              <p:cNvSpPr>
                <a:spLocks noChangeShapeType="1"/>
              </p:cNvSpPr>
              <p:nvPr/>
            </p:nvSpPr>
            <p:spPr bwMode="auto">
              <a:xfrm>
                <a:off x="2016" y="192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99"/>
              <p:cNvSpPr>
                <a:spLocks noChangeShapeType="1"/>
              </p:cNvSpPr>
              <p:nvPr/>
            </p:nvSpPr>
            <p:spPr bwMode="auto">
              <a:xfrm>
                <a:off x="1056" y="2304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100"/>
              <p:cNvSpPr>
                <a:spLocks noChangeShapeType="1"/>
              </p:cNvSpPr>
              <p:nvPr/>
            </p:nvSpPr>
            <p:spPr bwMode="auto">
              <a:xfrm>
                <a:off x="1056" y="2496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Line 101"/>
              <p:cNvSpPr>
                <a:spLocks noChangeShapeType="1"/>
              </p:cNvSpPr>
              <p:nvPr/>
            </p:nvSpPr>
            <p:spPr bwMode="auto">
              <a:xfrm>
                <a:off x="1056" y="2688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Line 102"/>
              <p:cNvSpPr>
                <a:spLocks noChangeShapeType="1"/>
              </p:cNvSpPr>
              <p:nvPr/>
            </p:nvSpPr>
            <p:spPr bwMode="auto">
              <a:xfrm>
                <a:off x="1056" y="2880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6" name="Line 103"/>
            <p:cNvSpPr>
              <a:spLocks noChangeShapeType="1"/>
            </p:cNvSpPr>
            <p:nvPr/>
          </p:nvSpPr>
          <p:spPr bwMode="auto">
            <a:xfrm>
              <a:off x="3120" y="1392"/>
              <a:ext cx="288" cy="2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04"/>
            <p:cNvSpPr>
              <a:spLocks noChangeShapeType="1"/>
            </p:cNvSpPr>
            <p:nvPr/>
          </p:nvSpPr>
          <p:spPr bwMode="auto">
            <a:xfrm flipV="1">
              <a:off x="3120" y="1872"/>
              <a:ext cx="288" cy="2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7" name="Group 105"/>
          <p:cNvGrpSpPr>
            <a:grpSpLocks/>
          </p:cNvGrpSpPr>
          <p:nvPr/>
        </p:nvGrpSpPr>
        <p:grpSpPr bwMode="auto">
          <a:xfrm>
            <a:off x="6858000" y="2971800"/>
            <a:ext cx="1676400" cy="914400"/>
            <a:chOff x="4320" y="1440"/>
            <a:chExt cx="1056" cy="576"/>
          </a:xfrm>
        </p:grpSpPr>
        <p:grpSp>
          <p:nvGrpSpPr>
            <p:cNvPr id="48" name="Group 106"/>
            <p:cNvGrpSpPr>
              <a:grpSpLocks/>
            </p:cNvGrpSpPr>
            <p:nvPr/>
          </p:nvGrpSpPr>
          <p:grpSpPr bwMode="auto">
            <a:xfrm>
              <a:off x="4608" y="1440"/>
              <a:ext cx="768" cy="576"/>
              <a:chOff x="4560" y="1392"/>
              <a:chExt cx="768" cy="576"/>
            </a:xfrm>
          </p:grpSpPr>
          <p:sp>
            <p:nvSpPr>
              <p:cNvPr id="50" name="Rectangle 107"/>
              <p:cNvSpPr>
                <a:spLocks noChangeArrowheads="1"/>
              </p:cNvSpPr>
              <p:nvPr/>
            </p:nvSpPr>
            <p:spPr bwMode="auto">
              <a:xfrm>
                <a:off x="4560" y="1392"/>
                <a:ext cx="768" cy="576"/>
              </a:xfrm>
              <a:prstGeom prst="rect">
                <a:avLst/>
              </a:prstGeom>
              <a:solidFill>
                <a:schemeClr val="tx2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Rectangle 108"/>
              <p:cNvSpPr>
                <a:spLocks noChangeArrowheads="1"/>
              </p:cNvSpPr>
              <p:nvPr/>
            </p:nvSpPr>
            <p:spPr bwMode="auto">
              <a:xfrm>
                <a:off x="4560" y="1488"/>
                <a:ext cx="768" cy="480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Line 109"/>
              <p:cNvSpPr>
                <a:spLocks noChangeShapeType="1"/>
              </p:cNvSpPr>
              <p:nvPr/>
            </p:nvSpPr>
            <p:spPr bwMode="auto">
              <a:xfrm>
                <a:off x="4699" y="1392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Line 110"/>
              <p:cNvSpPr>
                <a:spLocks noChangeShapeType="1"/>
              </p:cNvSpPr>
              <p:nvPr/>
            </p:nvSpPr>
            <p:spPr bwMode="auto">
              <a:xfrm>
                <a:off x="4907" y="1392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Line 111"/>
              <p:cNvSpPr>
                <a:spLocks noChangeShapeType="1"/>
              </p:cNvSpPr>
              <p:nvPr/>
            </p:nvSpPr>
            <p:spPr bwMode="auto">
              <a:xfrm>
                <a:off x="5022" y="1392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Line 112"/>
              <p:cNvSpPr>
                <a:spLocks noChangeShapeType="1"/>
              </p:cNvSpPr>
              <p:nvPr/>
            </p:nvSpPr>
            <p:spPr bwMode="auto">
              <a:xfrm>
                <a:off x="4560" y="1584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Line 113"/>
              <p:cNvSpPr>
                <a:spLocks noChangeShapeType="1"/>
              </p:cNvSpPr>
              <p:nvPr/>
            </p:nvSpPr>
            <p:spPr bwMode="auto">
              <a:xfrm>
                <a:off x="4560" y="1680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" name="Line 114"/>
              <p:cNvSpPr>
                <a:spLocks noChangeShapeType="1"/>
              </p:cNvSpPr>
              <p:nvPr/>
            </p:nvSpPr>
            <p:spPr bwMode="auto">
              <a:xfrm>
                <a:off x="4560" y="1776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Line 115"/>
              <p:cNvSpPr>
                <a:spLocks noChangeShapeType="1"/>
              </p:cNvSpPr>
              <p:nvPr/>
            </p:nvSpPr>
            <p:spPr bwMode="auto">
              <a:xfrm>
                <a:off x="4560" y="1872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" name="Line 116"/>
              <p:cNvSpPr>
                <a:spLocks noChangeShapeType="1"/>
              </p:cNvSpPr>
              <p:nvPr/>
            </p:nvSpPr>
            <p:spPr bwMode="auto">
              <a:xfrm>
                <a:off x="5118" y="1392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" name="Line 117"/>
              <p:cNvSpPr>
                <a:spLocks noChangeShapeType="1"/>
              </p:cNvSpPr>
              <p:nvPr/>
            </p:nvSpPr>
            <p:spPr bwMode="auto">
              <a:xfrm>
                <a:off x="5232" y="1392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9" name="Line 118"/>
            <p:cNvSpPr>
              <a:spLocks noChangeShapeType="1"/>
            </p:cNvSpPr>
            <p:nvPr/>
          </p:nvSpPr>
          <p:spPr bwMode="auto">
            <a:xfrm>
              <a:off x="4320" y="1728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E4E1BF0D-9D16-4369-8F58-94F7A85FF5F7}"/>
              </a:ext>
            </a:extLst>
          </p:cNvPr>
          <p:cNvSpPr txBox="1">
            <a:spLocks/>
          </p:cNvSpPr>
          <p:nvPr/>
        </p:nvSpPr>
        <p:spPr>
          <a:xfrm>
            <a:off x="342336" y="4038598"/>
            <a:ext cx="8173014" cy="2682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Core</a:t>
            </a:r>
            <a:r>
              <a:rPr lang="en-US" dirty="0"/>
              <a:t> operators:</a:t>
            </a:r>
          </a:p>
          <a:p>
            <a:pPr lvl="1"/>
            <a:r>
              <a:rPr lang="en-US" dirty="0"/>
              <a:t>Selection, projection, cross product, union, difference, and renaming</a:t>
            </a:r>
          </a:p>
          <a:p>
            <a:r>
              <a:rPr lang="en-US" dirty="0"/>
              <a:t>Additional, </a:t>
            </a:r>
            <a:r>
              <a:rPr lang="en-US" dirty="0">
                <a:solidFill>
                  <a:schemeClr val="accent2"/>
                </a:solidFill>
              </a:rPr>
              <a:t>derived</a:t>
            </a:r>
            <a:r>
              <a:rPr lang="en-US" dirty="0"/>
              <a:t> operators:</a:t>
            </a:r>
          </a:p>
          <a:p>
            <a:pPr lvl="1"/>
            <a:r>
              <a:rPr lang="en-US" dirty="0"/>
              <a:t>Join, natural join, intersection, etc.</a:t>
            </a:r>
          </a:p>
          <a:p>
            <a:r>
              <a:rPr lang="en-US" dirty="0"/>
              <a:t>Compose operators to make complex queries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840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operator 1: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 Users with popularity higher than 0.5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𝑝𝑜𝑝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&gt;0.5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𝑈𝑠𝑒𝑟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895714"/>
              </p:ext>
            </p:extLst>
          </p:nvPr>
        </p:nvGraphicFramePr>
        <p:xfrm>
          <a:off x="856768" y="2933212"/>
          <a:ext cx="28587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582316"/>
              </p:ext>
            </p:extLst>
          </p:nvPr>
        </p:nvGraphicFramePr>
        <p:xfrm>
          <a:off x="5436157" y="2933212"/>
          <a:ext cx="28587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Group 63"/>
          <p:cNvGrpSpPr>
            <a:grpSpLocks/>
          </p:cNvGrpSpPr>
          <p:nvPr/>
        </p:nvGrpSpPr>
        <p:grpSpPr bwMode="auto">
          <a:xfrm>
            <a:off x="4055192" y="3500120"/>
            <a:ext cx="1103471" cy="650240"/>
            <a:chOff x="1008" y="1776"/>
            <a:chExt cx="993" cy="528"/>
          </a:xfrm>
        </p:grpSpPr>
        <p:sp>
          <p:nvSpPr>
            <p:cNvPr id="11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075" y="1862"/>
                  <a:ext cx="926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kumimoji="0"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𝑝𝑜𝑝</m:t>
                            </m:r>
                            <m:r>
                              <a:rPr kumimoji="0"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&gt;0.5</m:t>
                            </m:r>
                          </m:sub>
                        </m:sSub>
                      </m:oMath>
                    </m:oMathPara>
                  </a14:m>
                  <a:endParaRPr kumimoji="0" lang="en-US" sz="1800" i="1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2" name="Text 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5" y="1862"/>
                  <a:ext cx="926" cy="31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312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Line 80"/>
          <p:cNvSpPr>
            <a:spLocks noChangeShapeType="1"/>
          </p:cNvSpPr>
          <p:nvPr/>
        </p:nvSpPr>
        <p:spPr bwMode="auto">
          <a:xfrm flipV="1">
            <a:off x="3719912" y="3855720"/>
            <a:ext cx="33528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80"/>
          <p:cNvSpPr>
            <a:spLocks noChangeShapeType="1"/>
          </p:cNvSpPr>
          <p:nvPr/>
        </p:nvSpPr>
        <p:spPr bwMode="auto">
          <a:xfrm flipV="1">
            <a:off x="5121992" y="3815080"/>
            <a:ext cx="33528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61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operator 1: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a table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called a </a:t>
                </a:r>
                <a:r>
                  <a:rPr lang="en-US" dirty="0">
                    <a:solidFill>
                      <a:schemeClr val="accent2"/>
                    </a:solidFill>
                  </a:rPr>
                  <a:t>selection condition</a:t>
                </a:r>
                <a:r>
                  <a:rPr lang="en-US" dirty="0"/>
                  <a:t> (or </a:t>
                </a:r>
                <a:r>
                  <a:rPr lang="en-US" dirty="0">
                    <a:solidFill>
                      <a:schemeClr val="accent2"/>
                    </a:solidFill>
                  </a:rPr>
                  <a:t>predicate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Purpose: filter rows according to some criteria</a:t>
                </a:r>
              </a:p>
              <a:p>
                <a:r>
                  <a:rPr lang="en-US" dirty="0"/>
                  <a:t>Output: same columns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but only rows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that satisfy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40" t="-1928" r="-2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17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Selection condition can include any column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constants, comparison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, etc.) and Boolean connectives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: and,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dirty="0"/>
                  <a:t>: 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dirty="0"/>
                  <a:t>: not)</a:t>
                </a:r>
              </a:p>
              <a:p>
                <a:pPr lvl="1"/>
                <a:r>
                  <a:rPr lang="en-US" dirty="0"/>
                  <a:t>Example: users with popularity at least 0.9 and age under 10 or above 12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𝑝𝑜𝑝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≥0.9 ∧ 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𝑎𝑔𝑒</m:t>
                              </m:r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&lt;10 ∨ </m:t>
                              </m:r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𝑎𝑔𝑒</m:t>
                              </m:r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&gt;12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𝑈𝑠𝑒𝑟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You must be able to evaluate the condition over </a:t>
                </a:r>
                <a:r>
                  <a:rPr lang="en-US" dirty="0">
                    <a:solidFill>
                      <a:schemeClr val="accent2"/>
                    </a:solidFill>
                  </a:rPr>
                  <a:t>each single row</a:t>
                </a:r>
                <a:r>
                  <a:rPr lang="en-US" dirty="0"/>
                  <a:t> of the input table!</a:t>
                </a:r>
              </a:p>
              <a:p>
                <a:pPr lvl="1"/>
                <a:r>
                  <a:rPr lang="en-US" dirty="0"/>
                  <a:t>Example: the most popular user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𝑝𝑜𝑝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≥ 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𝑒𝑣𝑒𝑟𝑦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𝑝𝑜𝑝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𝑈𝑠𝑒𝑟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𝑈𝑠𝑒𝑟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 rot="20955794">
            <a:off x="5893722" y="5311052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Prestige12 BT" panose="02070509030506020304" pitchFamily="49" charset="0"/>
              </a:rPr>
              <a:t>WRONG!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680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operator 2: Projection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 IDs and names of all users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𝑢𝑖𝑑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𝑛𝑎𝑚𝑒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𝑈𝑠𝑒𝑟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803866"/>
              </p:ext>
            </p:extLst>
          </p:nvPr>
        </p:nvGraphicFramePr>
        <p:xfrm>
          <a:off x="1469369" y="2933212"/>
          <a:ext cx="28587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Group 63"/>
          <p:cNvGrpSpPr>
            <a:grpSpLocks/>
          </p:cNvGrpSpPr>
          <p:nvPr/>
        </p:nvGrpSpPr>
        <p:grpSpPr bwMode="auto">
          <a:xfrm>
            <a:off x="4620009" y="3500120"/>
            <a:ext cx="1163477" cy="650240"/>
            <a:chOff x="965" y="1776"/>
            <a:chExt cx="1047" cy="528"/>
          </a:xfrm>
        </p:grpSpPr>
        <p:sp>
          <p:nvSpPr>
            <p:cNvPr id="8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965" y="1847"/>
                  <a:ext cx="1047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kumimoji="0"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𝑢𝑖𝑑</m:t>
                            </m:r>
                            <m:r>
                              <a:rPr kumimoji="0"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0"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𝑛𝑎𝑚𝑒</m:t>
                            </m:r>
                          </m:sub>
                        </m:sSub>
                      </m:oMath>
                    </m:oMathPara>
                  </a14:m>
                  <a:endParaRPr kumimoji="0" lang="en-US" sz="1800" i="1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9" name="Text 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5" y="1847"/>
                  <a:ext cx="1047" cy="31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Line 80"/>
          <p:cNvSpPr>
            <a:spLocks noChangeShapeType="1"/>
          </p:cNvSpPr>
          <p:nvPr/>
        </p:nvSpPr>
        <p:spPr bwMode="auto">
          <a:xfrm flipV="1">
            <a:off x="4332513" y="3855720"/>
            <a:ext cx="33528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80"/>
          <p:cNvSpPr>
            <a:spLocks noChangeShapeType="1"/>
          </p:cNvSpPr>
          <p:nvPr/>
        </p:nvSpPr>
        <p:spPr bwMode="auto">
          <a:xfrm flipV="1">
            <a:off x="5734593" y="3815080"/>
            <a:ext cx="33528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849674"/>
              </p:ext>
            </p:extLst>
          </p:nvPr>
        </p:nvGraphicFramePr>
        <p:xfrm>
          <a:off x="6069873" y="2932312"/>
          <a:ext cx="174847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337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operator 2: Projection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a table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is a list of columns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Purpose: output chosen columns</a:t>
                </a:r>
              </a:p>
              <a:p>
                <a:r>
                  <a:rPr lang="en-US" dirty="0"/>
                  <a:t>Output: “same” rows, but only the columns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78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projection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Duplicate output rows are removed (by definition)</a:t>
                </a:r>
              </a:p>
              <a:p>
                <a:pPr lvl="1"/>
                <a:r>
                  <a:rPr lang="en-US" dirty="0"/>
                  <a:t>Example: user ages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𝑈𝑠𝑒𝑟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113117"/>
              </p:ext>
            </p:extLst>
          </p:nvPr>
        </p:nvGraphicFramePr>
        <p:xfrm>
          <a:off x="1469369" y="3005281"/>
          <a:ext cx="28587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Group 63"/>
          <p:cNvGrpSpPr>
            <a:grpSpLocks/>
          </p:cNvGrpSpPr>
          <p:nvPr/>
        </p:nvGrpSpPr>
        <p:grpSpPr bwMode="auto">
          <a:xfrm>
            <a:off x="4667792" y="3572189"/>
            <a:ext cx="1066798" cy="650240"/>
            <a:chOff x="1008" y="1776"/>
            <a:chExt cx="960" cy="528"/>
          </a:xfrm>
        </p:grpSpPr>
        <p:sp>
          <p:nvSpPr>
            <p:cNvPr id="7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175" y="1873"/>
                  <a:ext cx="622" cy="3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kumimoji="0" lang="en-US" sz="18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𝑎𝑔𝑒</m:t>
                            </m:r>
                          </m:sub>
                        </m:sSub>
                      </m:oMath>
                    </m:oMathPara>
                  </a14:m>
                  <a:endParaRPr kumimoji="0" lang="en-US" sz="1800" i="1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" name="Text 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75" y="1873"/>
                  <a:ext cx="622" cy="31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312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Line 80"/>
          <p:cNvSpPr>
            <a:spLocks noChangeShapeType="1"/>
          </p:cNvSpPr>
          <p:nvPr/>
        </p:nvSpPr>
        <p:spPr bwMode="auto">
          <a:xfrm flipV="1">
            <a:off x="4332513" y="3927789"/>
            <a:ext cx="33528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80"/>
          <p:cNvSpPr>
            <a:spLocks noChangeShapeType="1"/>
          </p:cNvSpPr>
          <p:nvPr/>
        </p:nvSpPr>
        <p:spPr bwMode="auto">
          <a:xfrm flipV="1">
            <a:off x="5734593" y="3887149"/>
            <a:ext cx="33528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762344"/>
              </p:ext>
            </p:extLst>
          </p:nvPr>
        </p:nvGraphicFramePr>
        <p:xfrm>
          <a:off x="6069873" y="3004381"/>
          <a:ext cx="50196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243315"/>
              </p:ext>
            </p:extLst>
          </p:nvPr>
        </p:nvGraphicFramePr>
        <p:xfrm>
          <a:off x="6069873" y="3004381"/>
          <a:ext cx="50196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4548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operator 3: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𝑈𝑠𝑒𝑟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𝑀𝑒𝑚𝑏𝑒𝑟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478507"/>
              </p:ext>
            </p:extLst>
          </p:nvPr>
        </p:nvGraphicFramePr>
        <p:xfrm>
          <a:off x="586500" y="2068361"/>
          <a:ext cx="285877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754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186208"/>
              </p:ext>
            </p:extLst>
          </p:nvPr>
        </p:nvGraphicFramePr>
        <p:xfrm>
          <a:off x="6408170" y="1924769"/>
          <a:ext cx="121666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Group 63"/>
          <p:cNvGrpSpPr>
            <a:grpSpLocks/>
          </p:cNvGrpSpPr>
          <p:nvPr/>
        </p:nvGrpSpPr>
        <p:grpSpPr bwMode="auto">
          <a:xfrm>
            <a:off x="4428843" y="2824450"/>
            <a:ext cx="1066798" cy="650240"/>
            <a:chOff x="1008" y="1776"/>
            <a:chExt cx="960" cy="528"/>
          </a:xfrm>
        </p:grpSpPr>
        <p:sp>
          <p:nvSpPr>
            <p:cNvPr id="8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257" y="1807"/>
                  <a:ext cx="463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kumimoji="0" lang="en-US" sz="2800" i="1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9" name="Text 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57" y="1807"/>
                  <a:ext cx="463" cy="42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032311"/>
              </p:ext>
            </p:extLst>
          </p:nvPr>
        </p:nvGraphicFramePr>
        <p:xfrm>
          <a:off x="2812129" y="4048035"/>
          <a:ext cx="4075431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Line 80"/>
          <p:cNvSpPr>
            <a:spLocks noChangeShapeType="1"/>
          </p:cNvSpPr>
          <p:nvPr/>
        </p:nvSpPr>
        <p:spPr bwMode="auto">
          <a:xfrm>
            <a:off x="3441387" y="2671129"/>
            <a:ext cx="987456" cy="41440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80"/>
          <p:cNvSpPr>
            <a:spLocks noChangeShapeType="1"/>
          </p:cNvSpPr>
          <p:nvPr/>
        </p:nvSpPr>
        <p:spPr bwMode="auto">
          <a:xfrm flipH="1">
            <a:off x="5495640" y="2671129"/>
            <a:ext cx="909662" cy="41440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80"/>
          <p:cNvSpPr>
            <a:spLocks noChangeShapeType="1"/>
          </p:cNvSpPr>
          <p:nvPr/>
        </p:nvSpPr>
        <p:spPr bwMode="auto">
          <a:xfrm>
            <a:off x="4972896" y="3474688"/>
            <a:ext cx="0" cy="56578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C4B1101-F96A-4BE8-B62E-05DDA7B8A2DC}"/>
              </a:ext>
            </a:extLst>
          </p:cNvPr>
          <p:cNvGrpSpPr/>
          <p:nvPr/>
        </p:nvGrpSpPr>
        <p:grpSpPr>
          <a:xfrm>
            <a:off x="2870707" y="2401052"/>
            <a:ext cx="2724120" cy="2014920"/>
            <a:chOff x="2870707" y="2401052"/>
            <a:chExt cx="2724120" cy="20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D192DFA-F27F-456D-893C-703AA0594DE9}"/>
                    </a:ext>
                  </a:extLst>
                </p14:cNvPr>
                <p14:cNvContentPartPr/>
                <p14:nvPr/>
              </p14:nvContentPartPr>
              <p14:xfrm>
                <a:off x="2870707" y="4043732"/>
                <a:ext cx="2724120" cy="372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D192DFA-F27F-456D-893C-703AA0594D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52707" y="4025732"/>
                  <a:ext cx="275976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8264147-9B7D-4369-BF66-913F5ECC6670}"/>
                    </a:ext>
                  </a:extLst>
                </p14:cNvPr>
                <p14:cNvContentPartPr/>
                <p14:nvPr/>
              </p14:nvContentPartPr>
              <p14:xfrm>
                <a:off x="3189667" y="2403212"/>
                <a:ext cx="410040" cy="1443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8264147-9B7D-4369-BF66-913F5ECC667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71667" y="2385572"/>
                  <a:ext cx="445680" cy="14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EDBA43C-6C36-4E5E-8BBF-86BC6F720C4D}"/>
                    </a:ext>
                  </a:extLst>
                </p14:cNvPr>
                <p14:cNvContentPartPr/>
                <p14:nvPr/>
              </p14:nvContentPartPr>
              <p14:xfrm>
                <a:off x="3254467" y="2401052"/>
                <a:ext cx="292320" cy="23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EDBA43C-6C36-4E5E-8BBF-86BC6F720C4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36467" y="2383052"/>
                  <a:ext cx="327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A652DF5-8A86-4F24-8F2C-ECCC31853B90}"/>
                    </a:ext>
                  </a:extLst>
                </p14:cNvPr>
                <p14:cNvContentPartPr/>
                <p14:nvPr/>
              </p14:nvContentPartPr>
              <p14:xfrm>
                <a:off x="3159787" y="2403212"/>
                <a:ext cx="57960" cy="193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A652DF5-8A86-4F24-8F2C-ECCC31853B9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41787" y="2385572"/>
                  <a:ext cx="9360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ECFB5F5-64AD-4FAB-A9B7-5F026EEFAED3}"/>
              </a:ext>
            </a:extLst>
          </p:cNvPr>
          <p:cNvGrpSpPr/>
          <p:nvPr/>
        </p:nvGrpSpPr>
        <p:grpSpPr>
          <a:xfrm>
            <a:off x="5582947" y="2147612"/>
            <a:ext cx="2246400" cy="2282040"/>
            <a:chOff x="5582947" y="2147612"/>
            <a:chExt cx="2246400" cy="22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2C18D8A-2D07-4C56-916B-7A68F9B264E2}"/>
                    </a:ext>
                  </a:extLst>
                </p14:cNvPr>
                <p14:cNvContentPartPr/>
                <p14:nvPr/>
              </p14:nvContentPartPr>
              <p14:xfrm>
                <a:off x="5582947" y="3960212"/>
                <a:ext cx="1315800" cy="469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2C18D8A-2D07-4C56-916B-7A68F9B264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64947" y="3942212"/>
                  <a:ext cx="135144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664446A-8E1B-4F3D-80AE-336F9C2BA6A6}"/>
                    </a:ext>
                  </a:extLst>
                </p14:cNvPr>
                <p14:cNvContentPartPr/>
                <p14:nvPr/>
              </p14:nvContentPartPr>
              <p14:xfrm>
                <a:off x="6611827" y="2265332"/>
                <a:ext cx="1217520" cy="1908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664446A-8E1B-4F3D-80AE-336F9C2BA6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94187" y="2247692"/>
                  <a:ext cx="1253160" cy="19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7BA8875-75BD-4EB2-8C3E-3E8D4B7DD7C2}"/>
                    </a:ext>
                  </a:extLst>
                </p14:cNvPr>
                <p14:cNvContentPartPr/>
                <p14:nvPr/>
              </p14:nvContentPartPr>
              <p14:xfrm>
                <a:off x="7645387" y="2234732"/>
                <a:ext cx="173520" cy="74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7BA8875-75BD-4EB2-8C3E-3E8D4B7DD7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27747" y="2217092"/>
                  <a:ext cx="209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03E6770-53BA-4F5D-B2A8-FC2428E52C36}"/>
                    </a:ext>
                  </a:extLst>
                </p14:cNvPr>
                <p14:cNvContentPartPr/>
                <p14:nvPr/>
              </p14:nvContentPartPr>
              <p14:xfrm>
                <a:off x="7539187" y="2147612"/>
                <a:ext cx="69480" cy="285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03E6770-53BA-4F5D-B2A8-FC2428E52C3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21547" y="2129612"/>
                  <a:ext cx="105120" cy="321120"/>
                </a:xfrm>
                <a:prstGeom prst="rect">
                  <a:avLst/>
                </a:prstGeom>
              </p:spPr>
            </p:pic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67365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operator 3: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two tables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Natation: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Purpose: pairs rows from two tables</a:t>
                </a:r>
              </a:p>
              <a:p>
                <a:r>
                  <a:rPr lang="en-US" dirty="0"/>
                  <a:t>Output: for each row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each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output a row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𝑟𝑠</m:t>
                    </m:r>
                  </m:oMath>
                </a14:m>
                <a:r>
                  <a:rPr lang="en-US" dirty="0"/>
                  <a:t> (concatenation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5"/>
                <a:stretch>
                  <a:fillRect l="-1342" t="-1736" r="-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08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a column 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Ordering of columns is unimportant as far as contents are concerned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 cross product is </a:t>
                </a:r>
                <a:r>
                  <a:rPr lang="en-US" dirty="0">
                    <a:solidFill>
                      <a:schemeClr val="accent2"/>
                    </a:solidFill>
                  </a:rPr>
                  <a:t>commutative</a:t>
                </a:r>
                <a:r>
                  <a:rPr lang="en-US" dirty="0"/>
                  <a:t>, i.e., for any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(up to the ordering of columns)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6"/>
                <a:stretch>
                  <a:fillRect l="-1342" t="-1968" r="-1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076832"/>
              </p:ext>
            </p:extLst>
          </p:nvPr>
        </p:nvGraphicFramePr>
        <p:xfrm>
          <a:off x="207207" y="2570581"/>
          <a:ext cx="4075431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59329"/>
              </p:ext>
            </p:extLst>
          </p:nvPr>
        </p:nvGraphicFramePr>
        <p:xfrm>
          <a:off x="4732712" y="2569830"/>
          <a:ext cx="4208781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299652" y="3719833"/>
                <a:ext cx="407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652" y="3719833"/>
                <a:ext cx="407484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2411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63"/>
          <p:cNvGrpSpPr>
            <a:grpSpLocks/>
          </p:cNvGrpSpPr>
          <p:nvPr/>
        </p:nvGrpSpPr>
        <p:grpSpPr bwMode="auto">
          <a:xfrm>
            <a:off x="5442600" y="3092794"/>
            <a:ext cx="1154587" cy="650239"/>
            <a:chOff x="968" y="1776"/>
            <a:chExt cx="1039" cy="528"/>
          </a:xfrm>
        </p:grpSpPr>
        <p:sp>
          <p:nvSpPr>
            <p:cNvPr id="19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968" y="1829"/>
                  <a:ext cx="1039" cy="3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eqArr>
                              <m:eqArrPr>
                                <m:ctrlP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𝑈𝑠𝑒𝑟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𝑢𝑖𝑑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e>
                              <m:e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𝑀𝑒𝑚𝑏𝑒𝑟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𝑢𝑖𝑑</m:t>
                                </m:r>
                              </m:e>
                            </m:eqArr>
                          </m:sub>
                        </m:sSub>
                      </m:oMath>
                    </m:oMathPara>
                  </a14:m>
                  <a:endParaRPr kumimoji="0" lang="en-US" sz="1400" i="1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0" name="Text 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8" y="1829"/>
                  <a:ext cx="1039" cy="34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Derived operator 1: Join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Info about users, plus IDs of their groups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𝑈𝑠𝑒𝑟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𝑈𝑠𝑒𝑟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𝑢𝑖𝑑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𝑀𝑒𝑚𝑏𝑒𝑟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𝑢𝑖𝑑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𝑀𝑒𝑚𝑏𝑒𝑟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7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603755"/>
              </p:ext>
            </p:extLst>
          </p:nvPr>
        </p:nvGraphicFramePr>
        <p:xfrm>
          <a:off x="3875175" y="4079296"/>
          <a:ext cx="4075431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941338"/>
              </p:ext>
            </p:extLst>
          </p:nvPr>
        </p:nvGraphicFramePr>
        <p:xfrm>
          <a:off x="1645662" y="2444406"/>
          <a:ext cx="2858771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754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500635"/>
              </p:ext>
            </p:extLst>
          </p:nvPr>
        </p:nvGraphicFramePr>
        <p:xfrm>
          <a:off x="7466708" y="2073414"/>
          <a:ext cx="121666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63"/>
          <p:cNvGrpSpPr>
            <a:grpSpLocks/>
          </p:cNvGrpSpPr>
          <p:nvPr/>
        </p:nvGrpSpPr>
        <p:grpSpPr bwMode="auto">
          <a:xfrm>
            <a:off x="5491888" y="3092794"/>
            <a:ext cx="1066798" cy="650240"/>
            <a:chOff x="1008" y="1776"/>
            <a:chExt cx="960" cy="528"/>
          </a:xfrm>
        </p:grpSpPr>
        <p:sp>
          <p:nvSpPr>
            <p:cNvPr id="9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257" y="1807"/>
                  <a:ext cx="463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kumimoji="0" lang="en-US" sz="2800" i="1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0" name="Text 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57" y="1807"/>
                  <a:ext cx="463" cy="42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Line 80"/>
          <p:cNvSpPr>
            <a:spLocks noChangeShapeType="1"/>
          </p:cNvSpPr>
          <p:nvPr/>
        </p:nvSpPr>
        <p:spPr bwMode="auto">
          <a:xfrm>
            <a:off x="4504433" y="3054006"/>
            <a:ext cx="987456" cy="41440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80"/>
          <p:cNvSpPr>
            <a:spLocks noChangeShapeType="1"/>
          </p:cNvSpPr>
          <p:nvPr/>
        </p:nvSpPr>
        <p:spPr bwMode="auto">
          <a:xfrm flipH="1">
            <a:off x="6558686" y="3004457"/>
            <a:ext cx="900656" cy="463957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" name="Group 63"/>
          <p:cNvGrpSpPr>
            <a:grpSpLocks/>
          </p:cNvGrpSpPr>
          <p:nvPr/>
        </p:nvGrpSpPr>
        <p:grpSpPr bwMode="auto">
          <a:xfrm>
            <a:off x="5442600" y="3092793"/>
            <a:ext cx="1154587" cy="650239"/>
            <a:chOff x="968" y="1776"/>
            <a:chExt cx="1039" cy="528"/>
          </a:xfrm>
        </p:grpSpPr>
        <p:sp>
          <p:nvSpPr>
            <p:cNvPr id="15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968" y="1829"/>
                  <a:ext cx="1039" cy="3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eqArr>
                              <m:eqArrPr>
                                <m:ctrlP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𝑈𝑠𝑒𝑟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𝑢𝑖𝑑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e>
                              <m:e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𝑀𝑒𝑚𝑏𝑒𝑟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𝑢𝑖𝑑</m:t>
                                </m:r>
                              </m:e>
                            </m:eqArr>
                          </m:sub>
                        </m:sSub>
                      </m:oMath>
                    </m:oMathPara>
                  </a14:m>
                  <a:endParaRPr kumimoji="0" lang="en-US" sz="1400" i="1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6" name="Text 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8" y="1829"/>
                  <a:ext cx="1039" cy="34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397610"/>
              </p:ext>
            </p:extLst>
          </p:nvPr>
        </p:nvGraphicFramePr>
        <p:xfrm>
          <a:off x="3875174" y="4079296"/>
          <a:ext cx="4075431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Line 80"/>
          <p:cNvSpPr>
            <a:spLocks noChangeShapeType="1"/>
          </p:cNvSpPr>
          <p:nvPr/>
        </p:nvSpPr>
        <p:spPr bwMode="auto">
          <a:xfrm>
            <a:off x="6035940" y="3743034"/>
            <a:ext cx="1" cy="35149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00893" y="4076513"/>
            <a:ext cx="33089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Prefix a column reference </a:t>
            </a:r>
            <a:br>
              <a:rPr lang="en-US" dirty="0"/>
            </a:br>
            <a:r>
              <a:rPr lang="en-US" dirty="0"/>
              <a:t>with table name and “.” to </a:t>
            </a:r>
            <a:br>
              <a:rPr lang="en-US" dirty="0"/>
            </a:br>
            <a:r>
              <a:rPr lang="en-US" dirty="0"/>
              <a:t>disambiguate identically named </a:t>
            </a:r>
            <a:br>
              <a:rPr lang="en-US" dirty="0"/>
            </a:br>
            <a:r>
              <a:rPr lang="en-US" dirty="0"/>
              <a:t>columns from different tables</a:t>
            </a:r>
          </a:p>
        </p:txBody>
      </p:sp>
      <p:sp>
        <p:nvSpPr>
          <p:cNvPr id="30" name="Freeform 29"/>
          <p:cNvSpPr/>
          <p:nvPr/>
        </p:nvSpPr>
        <p:spPr>
          <a:xfrm>
            <a:off x="1108091" y="2283748"/>
            <a:ext cx="1891862" cy="1828800"/>
          </a:xfrm>
          <a:custGeom>
            <a:avLst/>
            <a:gdLst>
              <a:gd name="connsiteX0" fmla="*/ 1891862 w 1891862"/>
              <a:gd name="connsiteY0" fmla="*/ 0 h 1828800"/>
              <a:gd name="connsiteX1" fmla="*/ 1891862 w 1891862"/>
              <a:gd name="connsiteY1" fmla="*/ 54053 h 1828800"/>
              <a:gd name="connsiteX2" fmla="*/ 0 w 1891862"/>
              <a:gd name="connsiteY2" fmla="*/ 54053 h 1828800"/>
              <a:gd name="connsiteX3" fmla="*/ 0 w 1891862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1862" h="1828800">
                <a:moveTo>
                  <a:pt x="1891862" y="0"/>
                </a:moveTo>
                <a:lnTo>
                  <a:pt x="1891862" y="54053"/>
                </a:lnTo>
                <a:lnTo>
                  <a:pt x="0" y="54053"/>
                </a:lnTo>
                <a:lnTo>
                  <a:pt x="0" y="1828800"/>
                </a:lnTo>
              </a:path>
            </a:pathLst>
          </a:custGeom>
          <a:noFill/>
          <a:ln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304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Derived operator 1: Join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two tables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called a </a:t>
                </a:r>
                <a:r>
                  <a:rPr lang="en-US" dirty="0">
                    <a:solidFill>
                      <a:schemeClr val="accent2"/>
                    </a:solidFill>
                  </a:rPr>
                  <a:t>join condition</a:t>
                </a:r>
                <a:r>
                  <a:rPr lang="en-US" dirty="0"/>
                  <a:t> (or </a:t>
                </a:r>
                <a:r>
                  <a:rPr lang="en-US" dirty="0">
                    <a:solidFill>
                      <a:schemeClr val="accent2"/>
                    </a:solidFill>
                  </a:rPr>
                  <a:t>predicate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Purpose: relate rows from two tables according to some criteria</a:t>
                </a:r>
              </a:p>
              <a:p>
                <a:r>
                  <a:rPr lang="en-US" dirty="0"/>
                  <a:t>Output: for each row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each row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output a row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𝑟𝑠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satisfy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Shorthand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(A.k.a. “theta-join”)</a:t>
                </a:r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550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222748"/>
              </p:ext>
            </p:extLst>
          </p:nvPr>
        </p:nvGraphicFramePr>
        <p:xfrm>
          <a:off x="3875173" y="4214337"/>
          <a:ext cx="4075431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762220"/>
              </p:ext>
            </p:extLst>
          </p:nvPr>
        </p:nvGraphicFramePr>
        <p:xfrm>
          <a:off x="3874024" y="4217135"/>
          <a:ext cx="4075431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i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Derived operator 2: Natural join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2336" y="1456854"/>
                <a:ext cx="8173014" cy="52646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𝑈𝑠𝑒𝑟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𝑀𝑒𝑚𝑏𝑒𝑟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𝑢𝑖𝑑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𝑛𝑎𝑚𝑒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𝑎𝑔𝑒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𝑝𝑜𝑝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𝑔𝑖𝑑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𝑈𝑠𝑒𝑟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⋈</m:t>
                              </m:r>
                            </m:e>
                            <m:sub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𝑈𝑠𝑒𝑟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𝑢𝑖𝑑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𝑀𝑒𝑚𝑏𝑒𝑟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𝑢𝑖𝑑</m:t>
                                  </m:r>
                                </m:e>
                              </m:eqAr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𝑀𝑒𝑚𝑏𝑒𝑟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336" y="1456854"/>
                <a:ext cx="8173014" cy="5264622"/>
              </a:xfrm>
              <a:blipFill>
                <a:blip r:embed="rId6"/>
                <a:stretch>
                  <a:fillRect l="-37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059943"/>
              </p:ext>
            </p:extLst>
          </p:nvPr>
        </p:nvGraphicFramePr>
        <p:xfrm>
          <a:off x="1645662" y="2578586"/>
          <a:ext cx="2858771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754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pop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811479"/>
              </p:ext>
            </p:extLst>
          </p:nvPr>
        </p:nvGraphicFramePr>
        <p:xfrm>
          <a:off x="7466708" y="2545530"/>
          <a:ext cx="121666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" name="Group 63"/>
          <p:cNvGrpSpPr>
            <a:grpSpLocks/>
          </p:cNvGrpSpPr>
          <p:nvPr/>
        </p:nvGrpSpPr>
        <p:grpSpPr bwMode="auto">
          <a:xfrm>
            <a:off x="5491888" y="3226974"/>
            <a:ext cx="1066798" cy="650240"/>
            <a:chOff x="1008" y="1776"/>
            <a:chExt cx="960" cy="528"/>
          </a:xfrm>
        </p:grpSpPr>
        <p:sp>
          <p:nvSpPr>
            <p:cNvPr id="13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257" y="1807"/>
                  <a:ext cx="501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⋈</m:t>
                        </m:r>
                      </m:oMath>
                    </m:oMathPara>
                  </a14:m>
                  <a:endParaRPr kumimoji="0" lang="en-US" sz="2800" i="1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4" name="Text 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57" y="1807"/>
                  <a:ext cx="501" cy="42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Line 80"/>
          <p:cNvSpPr>
            <a:spLocks noChangeShapeType="1"/>
          </p:cNvSpPr>
          <p:nvPr/>
        </p:nvSpPr>
        <p:spPr bwMode="auto">
          <a:xfrm>
            <a:off x="4504433" y="3188186"/>
            <a:ext cx="987456" cy="41440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80"/>
          <p:cNvSpPr>
            <a:spLocks noChangeShapeType="1"/>
          </p:cNvSpPr>
          <p:nvPr/>
        </p:nvSpPr>
        <p:spPr bwMode="auto">
          <a:xfrm flipH="1">
            <a:off x="6558686" y="3138637"/>
            <a:ext cx="900656" cy="463957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5442600" y="3226974"/>
            <a:ext cx="1154587" cy="650239"/>
            <a:chOff x="968" y="1776"/>
            <a:chExt cx="1039" cy="528"/>
          </a:xfrm>
        </p:grpSpPr>
        <p:sp>
          <p:nvSpPr>
            <p:cNvPr id="6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968" y="1829"/>
                  <a:ext cx="1039" cy="3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eqArr>
                              <m:eqArrPr>
                                <m:ctrlP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𝑈𝑠𝑒𝑟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𝑢𝑖𝑑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e>
                              <m:e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𝑀𝑒𝑚𝑏𝑒𝑟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kumimoji="0"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𝑢𝑖𝑑</m:t>
                                </m:r>
                              </m:e>
                            </m:eqArr>
                          </m:sub>
                        </m:sSub>
                      </m:oMath>
                    </m:oMathPara>
                  </a14:m>
                  <a:endParaRPr kumimoji="0" lang="en-US" sz="1400" i="1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7" name="Text 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8" y="1829"/>
                  <a:ext cx="1039" cy="34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63"/>
          <p:cNvGrpSpPr>
            <a:grpSpLocks/>
          </p:cNvGrpSpPr>
          <p:nvPr/>
        </p:nvGrpSpPr>
        <p:grpSpPr bwMode="auto">
          <a:xfrm>
            <a:off x="5486100" y="3226973"/>
            <a:ext cx="1066798" cy="650240"/>
            <a:chOff x="1008" y="1776"/>
            <a:chExt cx="960" cy="528"/>
          </a:xfrm>
        </p:grpSpPr>
        <p:sp>
          <p:nvSpPr>
            <p:cNvPr id="24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257" y="1807"/>
                  <a:ext cx="501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⋈</m:t>
                        </m:r>
                      </m:oMath>
                    </m:oMathPara>
                  </a14:m>
                  <a:endParaRPr kumimoji="0" lang="en-US" sz="2800" i="1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5" name="Text 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57" y="1807"/>
                  <a:ext cx="501" cy="42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Line 80"/>
          <p:cNvSpPr>
            <a:spLocks noChangeShapeType="1"/>
          </p:cNvSpPr>
          <p:nvPr/>
        </p:nvSpPr>
        <p:spPr bwMode="auto">
          <a:xfrm>
            <a:off x="6035940" y="3877214"/>
            <a:ext cx="1" cy="35149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363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Derived operator 2: Natural join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2336" y="1456854"/>
                <a:ext cx="8173014" cy="5264622"/>
              </a:xfrm>
            </p:spPr>
            <p:txBody>
              <a:bodyPr/>
              <a:lstStyle/>
              <a:p>
                <a:r>
                  <a:rPr lang="en-US" dirty="0"/>
                  <a:t>Input: two tables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sz="3200" dirty="0"/>
                  <a:t>Purpose: relate rows from two tables, and</a:t>
                </a:r>
              </a:p>
              <a:p>
                <a:pPr lvl="1"/>
                <a:r>
                  <a:rPr lang="en-US" dirty="0"/>
                  <a:t>Enforce equality between identically named columns</a:t>
                </a:r>
              </a:p>
              <a:p>
                <a:pPr lvl="1"/>
                <a:r>
                  <a:rPr lang="en-US" dirty="0">
                    <a:solidFill>
                      <a:schemeClr val="accent2"/>
                    </a:solidFill>
                  </a:rPr>
                  <a:t>Eliminate one copy of identically named columns</a:t>
                </a:r>
              </a:p>
              <a:p>
                <a:r>
                  <a:rPr lang="en-US" sz="3200" dirty="0"/>
                  <a:t>Shorthand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dirty="0"/>
                  <a:t>, where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equates each pair of columns common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is the union of column names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(with duplicate columns removed)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336" y="1456854"/>
                <a:ext cx="8173014" cy="5264622"/>
              </a:xfrm>
              <a:blipFill>
                <a:blip r:embed="rId6"/>
                <a:stretch>
                  <a:fillRect l="-1715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516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operator 4: Union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two tables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must have identical schema</a:t>
                </a:r>
              </a:p>
              <a:p>
                <a:r>
                  <a:rPr lang="en-US" dirty="0"/>
                  <a:t>Output:</a:t>
                </a:r>
              </a:p>
              <a:p>
                <a:pPr lvl="1"/>
                <a:r>
                  <a:rPr lang="en-US" dirty="0"/>
                  <a:t>Has the same schema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Contains all rows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all rows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(with duplicate rows removed)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197FE0-F48C-4E2A-9C61-5F2087B65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543575"/>
              </p:ext>
            </p:extLst>
          </p:nvPr>
        </p:nvGraphicFramePr>
        <p:xfrm>
          <a:off x="845467" y="4827106"/>
          <a:ext cx="12166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0605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6EEDA20-6F11-493D-8979-0F31B7855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139523"/>
              </p:ext>
            </p:extLst>
          </p:nvPr>
        </p:nvGraphicFramePr>
        <p:xfrm>
          <a:off x="3081191" y="4818261"/>
          <a:ext cx="12166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0605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edf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BBDE99-597C-433F-A54D-94107798327E}"/>
                  </a:ext>
                </a:extLst>
              </p:cNvPr>
              <p:cNvSpPr txBox="1"/>
              <p:nvPr/>
            </p:nvSpPr>
            <p:spPr>
              <a:xfrm>
                <a:off x="2457168" y="5090795"/>
                <a:ext cx="29820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CA" dirty="0"/>
                  <a:t>                                           =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BBDE99-597C-433F-A54D-941077983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168" y="5090795"/>
                <a:ext cx="2982098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0EC761C-0B2D-404D-A949-9BD641111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186868"/>
              </p:ext>
            </p:extLst>
          </p:nvPr>
        </p:nvGraphicFramePr>
        <p:xfrm>
          <a:off x="5189940" y="4818261"/>
          <a:ext cx="121666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0605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edf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41048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5315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operator 5: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two tables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must have identical schema</a:t>
                </a:r>
              </a:p>
              <a:p>
                <a:r>
                  <a:rPr lang="en-US" dirty="0"/>
                  <a:t>Output:</a:t>
                </a:r>
              </a:p>
              <a:p>
                <a:pPr lvl="1"/>
                <a:r>
                  <a:rPr lang="en-US" dirty="0"/>
                  <a:t>Has the same schema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Contains all rows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that are not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1692C1-A49F-487D-995C-4850CB2A1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426205"/>
              </p:ext>
            </p:extLst>
          </p:nvPr>
        </p:nvGraphicFramePr>
        <p:xfrm>
          <a:off x="845467" y="4827106"/>
          <a:ext cx="12166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0605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A2043D-9C79-4250-8C42-993B48358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374831"/>
              </p:ext>
            </p:extLst>
          </p:nvPr>
        </p:nvGraphicFramePr>
        <p:xfrm>
          <a:off x="3081191" y="4818261"/>
          <a:ext cx="12166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0605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edf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CDD535-1216-4114-9E79-A33EF82E30C4}"/>
                  </a:ext>
                </a:extLst>
              </p:cNvPr>
              <p:cNvSpPr txBox="1"/>
              <p:nvPr/>
            </p:nvSpPr>
            <p:spPr>
              <a:xfrm>
                <a:off x="2457168" y="5090795"/>
                <a:ext cx="29820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CA" dirty="0"/>
                  <a:t>                                          =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CDD535-1216-4114-9E79-A33EF82E3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168" y="5090795"/>
                <a:ext cx="2982098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C2ABB9-20A7-48D9-BB17-80063D4C6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967822"/>
              </p:ext>
            </p:extLst>
          </p:nvPr>
        </p:nvGraphicFramePr>
        <p:xfrm>
          <a:off x="5189940" y="4818261"/>
          <a:ext cx="1216660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1168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Derived operator 3: Intersection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two tables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must have identical schema</a:t>
                </a:r>
              </a:p>
              <a:p>
                <a:r>
                  <a:rPr lang="en-US" dirty="0"/>
                  <a:t>Output:</a:t>
                </a:r>
              </a:p>
              <a:p>
                <a:pPr lvl="1"/>
                <a:r>
                  <a:rPr lang="en-US" dirty="0"/>
                  <a:t>Has the same schema as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Contains all rows that are in both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Shorthand for</a:t>
                </a:r>
                <a:endParaRPr lang="en-US" b="0" dirty="0"/>
              </a:p>
              <a:p>
                <a:r>
                  <a:rPr lang="en-US" dirty="0"/>
                  <a:t>Also equivalent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And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696898" y="4135584"/>
                <a:ext cx="20929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898" y="4135584"/>
                <a:ext cx="2092945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2009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operator 6: Renaming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Input: a table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CA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Sup>
                              <m:sSubSupPr>
                                <m:ctrlPr>
                                  <a:rPr lang="en-CA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CA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CA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, …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CA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Sup>
                              <m:sSubSupPr>
                                <m:ctrlPr>
                                  <a:rPr lang="en-CA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CA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CA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,…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Purpose: “rename” a table and/or its columns</a:t>
                </a:r>
              </a:p>
              <a:p>
                <a:r>
                  <a:rPr lang="en-US" dirty="0"/>
                  <a:t>Output: a table with the same rows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but called differently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 r="-9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BAE46C-482F-4908-A345-54D89F0060F5}"/>
                  </a:ext>
                </a:extLst>
              </p:cNvPr>
              <p:cNvSpPr txBox="1"/>
              <p:nvPr/>
            </p:nvSpPr>
            <p:spPr>
              <a:xfrm>
                <a:off x="2147871" y="4267446"/>
                <a:ext cx="4572000" cy="493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𝑢𝑖𝑑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→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𝑢𝑖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𝑔𝑖𝑑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→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𝑔𝑖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𝑀𝑒𝑚𝑏𝑒𝑟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BAE46C-482F-4908-A345-54D89F006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871" y="4267446"/>
                <a:ext cx="4572000" cy="493405"/>
              </a:xfrm>
              <a:prstGeom prst="rect">
                <a:avLst/>
              </a:prstGeom>
              <a:blipFill>
                <a:blip r:embed="rId7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AA342E-A070-4C7F-855D-D6004C3B3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266343"/>
              </p:ext>
            </p:extLst>
          </p:nvPr>
        </p:nvGraphicFramePr>
        <p:xfrm>
          <a:off x="628650" y="4269514"/>
          <a:ext cx="12166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0605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DC7E2F-2C37-47F3-9F22-EE04570EE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553617"/>
              </p:ext>
            </p:extLst>
          </p:nvPr>
        </p:nvGraphicFramePr>
        <p:xfrm>
          <a:off x="6841641" y="4202553"/>
          <a:ext cx="12166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/>
                        <a:t>uid1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gid1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0605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8482208-7EF3-475F-93D7-0AFEF68694A9}"/>
              </a:ext>
            </a:extLst>
          </p:cNvPr>
          <p:cNvSpPr txBox="1"/>
          <p:nvPr/>
        </p:nvSpPr>
        <p:spPr>
          <a:xfrm>
            <a:off x="704622" y="3889110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384798-E6C1-4D2F-A94B-C06749FBBFBA}"/>
              </a:ext>
            </a:extLst>
          </p:cNvPr>
          <p:cNvSpPr txBox="1"/>
          <p:nvPr/>
        </p:nvSpPr>
        <p:spPr>
          <a:xfrm>
            <a:off x="6917613" y="3846475"/>
            <a:ext cx="47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28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operator 6: Renaming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As with all other relational operators, it doesn’t modify the database</a:t>
                </a:r>
              </a:p>
              <a:p>
                <a:pPr lvl="1"/>
                <a:r>
                  <a:rPr lang="en-US" dirty="0"/>
                  <a:t>Think of the renamed table as a copy of the original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Used to</a:t>
                </a:r>
              </a:p>
              <a:p>
                <a:pPr lvl="1"/>
                <a:r>
                  <a:rPr lang="en-US" dirty="0"/>
                  <a:t>Create identical column names for natural joins</a:t>
                </a:r>
              </a:p>
              <a:p>
                <a:pPr lvl="2"/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𝑟𝑖𝑑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, …)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𝑠𝑖𝑑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, ….)</m:t>
                    </m:r>
                  </m:oMath>
                </a14:m>
                <a:r>
                  <a:rPr lang="en-US" dirty="0"/>
                  <a:t> 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CA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CA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𝑟𝑖𝑑</m:t>
                        </m:r>
                        <m:r>
                          <a:rPr lang="en-CA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CA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𝑠𝑖𝑑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  can be written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𝑟𝑖𝑑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𝑖𝑑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⋈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𝑠𝑖𝑑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𝑖𝑑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Avoid confusion caused by identical column names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490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operator 6: Renaming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IDs of users who belong to </a:t>
                </a:r>
                <a:r>
                  <a:rPr lang="en-US" dirty="0">
                    <a:solidFill>
                      <a:schemeClr val="accent2"/>
                    </a:solidFill>
                  </a:rPr>
                  <a:t>at least two groups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𝑀𝑒𝑚𝑏𝑒𝑟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𝑀𝑒𝑚𝑏𝑒𝑟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789D90-7324-4D73-96C3-33A207089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764814"/>
              </p:ext>
            </p:extLst>
          </p:nvPr>
        </p:nvGraphicFramePr>
        <p:xfrm>
          <a:off x="6165601" y="1901423"/>
          <a:ext cx="121666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gov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gov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Line 80">
            <a:extLst>
              <a:ext uri="{FF2B5EF4-FFF2-40B4-BE49-F238E27FC236}">
                <a16:creationId xmlns:a16="http://schemas.microsoft.com/office/drawing/2014/main" id="{E612F2DC-4710-4DA8-B6D0-0DE57A893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2590" y="2552369"/>
            <a:ext cx="1248783" cy="375621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63">
            <a:extLst>
              <a:ext uri="{FF2B5EF4-FFF2-40B4-BE49-F238E27FC236}">
                <a16:creationId xmlns:a16="http://schemas.microsoft.com/office/drawing/2014/main" id="{B4A35FEB-43FD-48DA-A69F-343E020CCF96}"/>
              </a:ext>
            </a:extLst>
          </p:cNvPr>
          <p:cNvGrpSpPr>
            <a:grpSpLocks/>
          </p:cNvGrpSpPr>
          <p:nvPr/>
        </p:nvGrpSpPr>
        <p:grpSpPr bwMode="auto">
          <a:xfrm>
            <a:off x="3771373" y="2663423"/>
            <a:ext cx="1066798" cy="650239"/>
            <a:chOff x="1008" y="1776"/>
            <a:chExt cx="960" cy="528"/>
          </a:xfrm>
        </p:grpSpPr>
        <p:sp>
          <p:nvSpPr>
            <p:cNvPr id="10" name="Oval 64">
              <a:extLst>
                <a:ext uri="{FF2B5EF4-FFF2-40B4-BE49-F238E27FC236}">
                  <a16:creationId xmlns:a16="http://schemas.microsoft.com/office/drawing/2014/main" id="{ECEA2737-CC27-4848-AA1A-C0D3D8BE3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65">
                  <a:extLst>
                    <a:ext uri="{FF2B5EF4-FFF2-40B4-BE49-F238E27FC236}">
                      <a16:creationId xmlns:a16="http://schemas.microsoft.com/office/drawing/2014/main" id="{54502EF4-9B63-4A3E-B7A2-D099689EC2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93" y="1927"/>
                  <a:ext cx="391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r>
                              <a:rPr kumimoji="0" lang="en-CA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?</m:t>
                            </m:r>
                          </m:sub>
                        </m:sSub>
                      </m:oMath>
                    </m:oMathPara>
                  </a14:m>
                  <a:endParaRPr kumimoji="0" lang="en-US" sz="1400" i="1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" name="Text Box 65">
                  <a:extLst>
                    <a:ext uri="{FF2B5EF4-FFF2-40B4-BE49-F238E27FC236}">
                      <a16:creationId xmlns:a16="http://schemas.microsoft.com/office/drawing/2014/main" id="{54502EF4-9B63-4A3E-B7A2-D099689EC2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93" y="1927"/>
                  <a:ext cx="391" cy="25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FCA9B65-FA1A-4A0F-B4B2-163D3E2B6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887740"/>
              </p:ext>
            </p:extLst>
          </p:nvPr>
        </p:nvGraphicFramePr>
        <p:xfrm>
          <a:off x="3395127" y="3436338"/>
          <a:ext cx="2067431" cy="3049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0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931">
                <a:tc>
                  <a:txBody>
                    <a:bodyPr/>
                    <a:lstStyle/>
                    <a:p>
                      <a:r>
                        <a:rPr lang="en-US" sz="1400" i="1" dirty="0" err="1">
                          <a:latin typeface="Prestige12 BT" panose="02070509030506020304"/>
                        </a:rPr>
                        <a:t>uid</a:t>
                      </a:r>
                      <a:endParaRPr lang="en-US" sz="1400" i="1" dirty="0">
                        <a:latin typeface="Prestige12 BT" panose="02070509030506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latin typeface="Prestige12 BT" panose="02070509030506020304"/>
                        </a:rPr>
                        <a:t>gid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>
                          <a:latin typeface="Prestige12 BT" panose="02070509030506020304"/>
                        </a:rPr>
                        <a:t>uid</a:t>
                      </a:r>
                      <a:endParaRPr lang="en-US" sz="1400" i="1" dirty="0">
                        <a:latin typeface="Prestige12 BT" panose="02070509030506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>
                          <a:latin typeface="Prestige12 BT" panose="02070509030506020304"/>
                        </a:rPr>
                        <a:t>gid</a:t>
                      </a:r>
                      <a:endParaRPr lang="en-US" sz="1400" i="1" dirty="0">
                        <a:latin typeface="Prestige12 BT" panose="02070509030506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/>
                        </a:rPr>
                        <a:t>gov</a:t>
                      </a:r>
                      <a:endParaRPr lang="en-US" sz="1400" dirty="0">
                        <a:latin typeface="Prestige12 BT" panose="02070509030506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/>
                        </a:rPr>
                        <a:t>abc</a:t>
                      </a:r>
                      <a:endParaRPr lang="en-US" sz="1400" dirty="0">
                        <a:latin typeface="Prestige12 BT" panose="02070509030506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gov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/>
                        </a:rPr>
                        <a:t>abc</a:t>
                      </a:r>
                      <a:endParaRPr lang="en-US" sz="1400" dirty="0">
                        <a:latin typeface="Prestige12 BT" panose="02070509030506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/>
                        </a:rPr>
                        <a:t>gov</a:t>
                      </a:r>
                      <a:endParaRPr lang="en-US" sz="1400" dirty="0">
                        <a:latin typeface="Prestige12 BT" panose="02070509030506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/>
                        </a:rPr>
                        <a:t>abc</a:t>
                      </a:r>
                      <a:endParaRPr lang="en-US" sz="1400" dirty="0">
                        <a:latin typeface="Prestige12 BT" panose="02070509030506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/>
                        </a:rPr>
                        <a:t>abc</a:t>
                      </a:r>
                      <a:endParaRPr lang="en-US" sz="1400" dirty="0">
                        <a:latin typeface="Prestige12 BT" panose="02070509030506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/>
                        </a:rPr>
                        <a:t>abc</a:t>
                      </a:r>
                      <a:endParaRPr lang="en-US" sz="1400" dirty="0">
                        <a:latin typeface="Prestige12 BT" panose="02070509030506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gov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/>
                        </a:rPr>
                        <a:t>gov</a:t>
                      </a:r>
                      <a:endParaRPr lang="en-US" sz="1400" dirty="0">
                        <a:latin typeface="Prestige12 BT" panose="02070509030506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/>
                        </a:rPr>
                        <a:t>abc</a:t>
                      </a:r>
                      <a:endParaRPr lang="en-US" sz="1400" dirty="0">
                        <a:latin typeface="Prestige12 BT" panose="020705090305060203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106759"/>
                  </a:ext>
                </a:extLst>
              </a:tr>
              <a:tr h="30493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/>
                        </a:rPr>
                        <a:t>gov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15931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87B506F-94BC-4030-9D5F-A4FC8488E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197158"/>
              </p:ext>
            </p:extLst>
          </p:nvPr>
        </p:nvGraphicFramePr>
        <p:xfrm>
          <a:off x="1350332" y="1922743"/>
          <a:ext cx="121666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Line 80">
            <a:extLst>
              <a:ext uri="{FF2B5EF4-FFF2-40B4-BE49-F238E27FC236}">
                <a16:creationId xmlns:a16="http://schemas.microsoft.com/office/drawing/2014/main" id="{55EF1D85-EDC2-4E25-87C7-BFB23E12D0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38166" y="2548891"/>
            <a:ext cx="1248784" cy="375621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Callout: Line 14">
            <a:extLst>
              <a:ext uri="{FF2B5EF4-FFF2-40B4-BE49-F238E27FC236}">
                <a16:creationId xmlns:a16="http://schemas.microsoft.com/office/drawing/2014/main" id="{C6A18132-0BDE-4CD4-9F95-8F8BA2F50136}"/>
              </a:ext>
            </a:extLst>
          </p:cNvPr>
          <p:cNvSpPr/>
          <p:nvPr/>
        </p:nvSpPr>
        <p:spPr>
          <a:xfrm>
            <a:off x="6289482" y="3737378"/>
            <a:ext cx="2784418" cy="460911"/>
          </a:xfrm>
          <a:prstGeom prst="borderCallout1">
            <a:avLst>
              <a:gd name="adj1" fmla="val 18750"/>
              <a:gd name="adj2" fmla="val -8333"/>
              <a:gd name="adj3" fmla="val -139253"/>
              <a:gd name="adj4" fmla="val -6281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CA" dirty="0"/>
              <a:t>Condition 1: same </a:t>
            </a:r>
            <a:r>
              <a:rPr lang="en-CA" dirty="0" err="1"/>
              <a:t>uid</a:t>
            </a:r>
            <a:r>
              <a:rPr lang="en-CA" dirty="0"/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DC8C0C-3EF9-4107-984E-917E754E4CE7}"/>
              </a:ext>
            </a:extLst>
          </p:cNvPr>
          <p:cNvCxnSpPr/>
          <p:nvPr/>
        </p:nvCxnSpPr>
        <p:spPr>
          <a:xfrm>
            <a:off x="3254744" y="5440018"/>
            <a:ext cx="2297927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A4B751-CC17-49F7-B2DA-3A4B2F9874CC}"/>
              </a:ext>
            </a:extLst>
          </p:cNvPr>
          <p:cNvCxnSpPr/>
          <p:nvPr/>
        </p:nvCxnSpPr>
        <p:spPr>
          <a:xfrm>
            <a:off x="3261372" y="5719638"/>
            <a:ext cx="2297927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76C80C-C0E4-4324-95E1-CEE4D40E0E33}"/>
              </a:ext>
            </a:extLst>
          </p:cNvPr>
          <p:cNvCxnSpPr/>
          <p:nvPr/>
        </p:nvCxnSpPr>
        <p:spPr>
          <a:xfrm>
            <a:off x="3302453" y="6039015"/>
            <a:ext cx="2297927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Callout: Line 20">
            <a:extLst>
              <a:ext uri="{FF2B5EF4-FFF2-40B4-BE49-F238E27FC236}">
                <a16:creationId xmlns:a16="http://schemas.microsoft.com/office/drawing/2014/main" id="{0D09937E-29DE-45D8-83F2-77328FC400D1}"/>
              </a:ext>
            </a:extLst>
          </p:cNvPr>
          <p:cNvSpPr/>
          <p:nvPr/>
        </p:nvSpPr>
        <p:spPr>
          <a:xfrm>
            <a:off x="6289482" y="4354133"/>
            <a:ext cx="2784418" cy="460911"/>
          </a:xfrm>
          <a:prstGeom prst="borderCallout1">
            <a:avLst>
              <a:gd name="adj1" fmla="val 18750"/>
              <a:gd name="adj2" fmla="val -8333"/>
              <a:gd name="adj3" fmla="val -275538"/>
              <a:gd name="adj4" fmla="val -65673"/>
            </a:avLst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accent6"/>
                </a:solidFill>
              </a:rPr>
              <a:t>Condition 2: different gids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5FAE7D-B686-4799-AD89-A4F4472E03DE}"/>
              </a:ext>
            </a:extLst>
          </p:cNvPr>
          <p:cNvCxnSpPr/>
          <p:nvPr/>
        </p:nvCxnSpPr>
        <p:spPr>
          <a:xfrm>
            <a:off x="3302452" y="3943980"/>
            <a:ext cx="229792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755F59-90BE-4080-BEE5-9AE8E1A4A77E}"/>
              </a:ext>
            </a:extLst>
          </p:cNvPr>
          <p:cNvCxnSpPr/>
          <p:nvPr/>
        </p:nvCxnSpPr>
        <p:spPr>
          <a:xfrm>
            <a:off x="3279878" y="5130049"/>
            <a:ext cx="229792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CB0FA0-AE19-4C45-98DD-352B7D818311}"/>
              </a:ext>
            </a:extLst>
          </p:cNvPr>
          <p:cNvCxnSpPr/>
          <p:nvPr/>
        </p:nvCxnSpPr>
        <p:spPr>
          <a:xfrm>
            <a:off x="3225628" y="6363827"/>
            <a:ext cx="229792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AF68F7F-FDD1-46BB-9F8A-D0413214F3B1}"/>
              </a:ext>
            </a:extLst>
          </p:cNvPr>
          <p:cNvCxnSpPr/>
          <p:nvPr/>
        </p:nvCxnSpPr>
        <p:spPr>
          <a:xfrm>
            <a:off x="3261372" y="4516333"/>
            <a:ext cx="2297927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2131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5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Renaming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IDs of users who belong to </a:t>
                </a:r>
                <a:r>
                  <a:rPr lang="en-US" dirty="0">
                    <a:solidFill>
                      <a:schemeClr val="accent2"/>
                    </a:solidFill>
                  </a:rPr>
                  <a:t>at least two groups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𝑀𝑒𝑚𝑏𝑒𝑟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𝑀𝑒𝑚𝑏𝑒𝑟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𝑢𝑖𝑑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𝑀𝑒𝑚𝑏𝑒𝑟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⋈</m:t>
                              </m:r>
                            </m:e>
                            <m:sub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𝑀𝑒𝑚𝑏𝑒𝑟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𝑢𝑖𝑑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𝑀𝑒𝑚𝑏𝑒𝑟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𝑢𝑖𝑑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𝑀𝑒𝑚𝑏𝑒𝑟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𝑔𝑖𝑑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𝑀𝑒𝑚𝑏𝑒𝑟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𝑔𝑖𝑑</m:t>
                                  </m:r>
                                </m:e>
                              </m:eqAr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𝑀𝑒𝑚𝑏𝑒𝑟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𝑢𝑖𝑑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𝑢𝑖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𝑔𝑖𝑑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𝑔𝑖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𝑀𝑒𝑚𝑏𝑒𝑟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⋈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∧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𝑔𝑖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𝑢𝑖𝑑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𝑢𝑖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𝑔𝑖𝑑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𝑔𝑖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𝑀𝑒𝑚𝑏𝑒𝑟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 rot="20955794">
            <a:off x="6339470" y="3136612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Prestige12 BT" panose="02070509030506020304" pitchFamily="49" charset="0"/>
              </a:rPr>
              <a:t>WRONG!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393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 tree 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42</a:t>
            </a:fld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524578" y="3886946"/>
            <a:ext cx="8626472" cy="1422399"/>
            <a:chOff x="651" y="2880"/>
            <a:chExt cx="5434" cy="8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651" y="2880"/>
                  <a:ext cx="2346" cy="3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𝑢𝑖𝑑</m:t>
                                </m:r>
                                <m:r>
                                  <a:rPr lang="en-CA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𝑢𝑖</m:t>
                                </m:r>
                                <m:sSub>
                                  <m:sSub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𝑔𝑖𝑑</m:t>
                                </m:r>
                                <m:r>
                                  <a:rPr lang="en-CA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𝑔𝑖</m:t>
                                </m:r>
                                <m:sSub>
                                  <m:sSub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sz="3200" baseline="-250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" name="Text 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1" y="2880"/>
                  <a:ext cx="2346" cy="3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819" y="2880"/>
                  <a:ext cx="2266" cy="3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𝑢𝑖𝑑</m:t>
                                </m:r>
                                <m:r>
                                  <a:rPr lang="en-CA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3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𝑔𝑖𝑑</m:t>
                                </m:r>
                                <m:r>
                                  <a:rPr lang="en-CA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𝑔𝑖</m:t>
                                </m:r>
                                <m:sSub>
                                  <m:sSub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sz="3200" baseline="-250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7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19" y="2880"/>
                  <a:ext cx="2266" cy="3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>
                  <a:spLocks noChangeArrowheads="1"/>
                </p:cNvSpPr>
                <p:nvPr/>
              </p:nvSpPr>
              <p:spPr bwMode="auto">
                <a:xfrm>
                  <a:off x="902" y="3408"/>
                  <a:ext cx="1132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𝑀𝑒𝑚𝑏𝑒𝑟</m:t>
                        </m:r>
                      </m:oMath>
                    </m:oMathPara>
                  </a14:m>
                  <a:endParaRPr lang="en-US" sz="32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2" y="3408"/>
                  <a:ext cx="1132" cy="368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>
                  <a:spLocks noChangeArrowheads="1"/>
                </p:cNvSpPr>
                <p:nvPr/>
              </p:nvSpPr>
              <p:spPr bwMode="auto">
                <a:xfrm>
                  <a:off x="4080" y="3408"/>
                  <a:ext cx="1132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𝑀𝑒𝑚𝑏𝑒𝑟</m:t>
                        </m:r>
                      </m:oMath>
                    </m:oMathPara>
                  </a14:m>
                  <a:endParaRPr lang="en-US" sz="32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0" y="3408"/>
                  <a:ext cx="1132" cy="36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1344" y="324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V="1">
              <a:off x="4512" y="324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1624715" y="2096248"/>
            <a:ext cx="5484817" cy="2095500"/>
            <a:chOff x="1344" y="2035"/>
            <a:chExt cx="3455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448" y="2544"/>
                  <a:ext cx="2351" cy="3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r>
                              <a:rPr lang="en-US" sz="3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𝑢𝑖</m:t>
                            </m:r>
                            <m:sSub>
                              <m:sSubPr>
                                <m:ctrlP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3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𝑢𝑖</m:t>
                            </m:r>
                            <m:sSub>
                              <m:sSubPr>
                                <m:ctrlP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∧ </m:t>
                            </m:r>
                            <m:r>
                              <a:rPr lang="en-US" sz="3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𝑔𝑖</m:t>
                            </m:r>
                            <m:sSub>
                              <m:sSubPr>
                                <m:ctrlP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3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𝑔𝑖</m:t>
                            </m:r>
                            <m:sSub>
                              <m:sSubPr>
                                <m:ctrlP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3200" baseline="-250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3" name="Text 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544"/>
                  <a:ext cx="2351" cy="39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V="1">
              <a:off x="1344" y="2923"/>
              <a:ext cx="1536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2976" y="2923"/>
              <a:ext cx="1536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>
                  <a:spLocks noChangeArrowheads="1"/>
                </p:cNvSpPr>
                <p:nvPr/>
              </p:nvSpPr>
              <p:spPr bwMode="auto">
                <a:xfrm>
                  <a:off x="2623" y="2035"/>
                  <a:ext cx="688" cy="3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3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𝑢𝑖</m:t>
                            </m:r>
                            <m:sSub>
                              <m:sSubPr>
                                <m:ctrlP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3200" baseline="-25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23" y="2035"/>
                  <a:ext cx="688" cy="39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928" y="2400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4643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807-4B4A-47DC-9637-C56E5613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Take-home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42FCD-27CE-42FB-B4E4-84A941A6C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Exercise 1: IDs of groups who have </a:t>
            </a:r>
            <a:r>
              <a:rPr lang="en-US" dirty="0">
                <a:solidFill>
                  <a:schemeClr val="accent2"/>
                </a:solidFill>
              </a:rPr>
              <a:t>at least 2 users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Exercise 2: IDs of users who belong to </a:t>
            </a:r>
            <a:r>
              <a:rPr lang="en-US" dirty="0">
                <a:solidFill>
                  <a:schemeClr val="accent2"/>
                </a:solidFill>
              </a:rPr>
              <a:t>at least three groups</a:t>
            </a:r>
            <a:r>
              <a:rPr lang="en-US" dirty="0"/>
              <a:t>?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399A8-3176-4234-B192-AF887AAB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139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Core Operators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Selection: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Projection: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Cross product: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×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Union: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∪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Difference: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Renaming: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𝑆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CA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Sup>
                              <m:sSubSupPr>
                                <m:ctrlPr>
                                  <a:rPr lang="en-CA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CA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CA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CA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Sup>
                              <m:sSubSupPr>
                                <m:ctrlPr>
                                  <a:rPr lang="en-CA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CA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CA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,…</m:t>
                            </m:r>
                          </m:e>
                        </m:d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Does not really add “processing” power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Derived Operators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Join: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Natural join: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⋈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∩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42" t="-28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96864-7A32-44AD-BF5A-53EEEF63965B}"/>
              </a:ext>
            </a:extLst>
          </p:cNvPr>
          <p:cNvSpPr/>
          <p:nvPr/>
        </p:nvSpPr>
        <p:spPr>
          <a:xfrm>
            <a:off x="5747273" y="1645919"/>
            <a:ext cx="2297927" cy="127220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dirty="0">
                <a:solidFill>
                  <a:schemeClr val="tx1"/>
                </a:solidFill>
              </a:rPr>
              <a:t>Note: </a:t>
            </a:r>
            <a:r>
              <a:rPr lang="en-CA" sz="2000" dirty="0">
                <a:solidFill>
                  <a:schemeClr val="accent2"/>
                </a:solidFill>
              </a:rPr>
              <a:t>Only</a:t>
            </a:r>
            <a:r>
              <a:rPr lang="en-CA" sz="2000" dirty="0">
                <a:solidFill>
                  <a:schemeClr val="tx1"/>
                </a:solidFill>
              </a:rPr>
              <a:t> use these operators for assignments &amp; quiz</a:t>
            </a:r>
          </a:p>
        </p:txBody>
      </p:sp>
    </p:spTree>
    <p:extLst>
      <p:ext uri="{BB962C8B-B14F-4D97-AF65-F5344CB8AC3E}">
        <p14:creationId xmlns:p14="http://schemas.microsoft.com/office/powerpoint/2010/main" val="1473906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 of users in Lisa’s groups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45</a:t>
            </a:fld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F3ED84-F6F7-4464-AB87-4B673FC8FB09}"/>
              </a:ext>
            </a:extLst>
          </p:cNvPr>
          <p:cNvSpPr txBox="1"/>
          <p:nvPr/>
        </p:nvSpPr>
        <p:spPr>
          <a:xfrm>
            <a:off x="4555048" y="412752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A9F084-22D9-44FE-9D4D-76F9F64CEEB0}"/>
              </a:ext>
            </a:extLst>
          </p:cNvPr>
          <p:cNvSpPr txBox="1"/>
          <p:nvPr/>
        </p:nvSpPr>
        <p:spPr>
          <a:xfrm>
            <a:off x="4265374" y="4417108"/>
            <a:ext cx="4572000" cy="120032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CA" dirty="0"/>
              <a:t>If you have a different solution and you are uncertain about it, you can post your solution on Piazza with the lecture number and slide number; or discuss it during office hours. </a:t>
            </a:r>
          </a:p>
        </p:txBody>
      </p:sp>
    </p:spTree>
    <p:extLst>
      <p:ext uri="{BB962C8B-B14F-4D97-AF65-F5344CB8AC3E}">
        <p14:creationId xmlns:p14="http://schemas.microsoft.com/office/powerpoint/2010/main" val="7317920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 of users in Lisa’s groups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46</a:t>
            </a:fld>
            <a:endParaRPr lang="en-US"/>
          </a:p>
        </p:txBody>
      </p:sp>
      <p:sp>
        <p:nvSpPr>
          <p:cNvPr id="5" name="Text Box 23"/>
          <p:cNvSpPr txBox="1">
            <a:spLocks noChangeArrowheads="1"/>
          </p:cNvSpPr>
          <p:nvPr/>
        </p:nvSpPr>
        <p:spPr bwMode="auto">
          <a:xfrm>
            <a:off x="1949000" y="3063875"/>
            <a:ext cx="186621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buFont typeface="Wingdings" pitchFamily="2" charset="2"/>
              <a:buNone/>
            </a:pPr>
            <a:r>
              <a:rPr lang="en-US" dirty="0">
                <a:latin typeface="+mn-lt"/>
              </a:rPr>
              <a:t>Users in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Lisa’s groups</a:t>
            </a:r>
          </a:p>
        </p:txBody>
      </p:sp>
      <p:grpSp>
        <p:nvGrpSpPr>
          <p:cNvPr id="6" name="Group 40"/>
          <p:cNvGrpSpPr>
            <a:grpSpLocks/>
          </p:cNvGrpSpPr>
          <p:nvPr/>
        </p:nvGrpSpPr>
        <p:grpSpPr bwMode="auto">
          <a:xfrm>
            <a:off x="4187825" y="1828800"/>
            <a:ext cx="4800601" cy="2163768"/>
            <a:chOff x="2112" y="1152"/>
            <a:chExt cx="3024" cy="1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412" y="2147"/>
                  <a:ext cx="724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𝑈𝑠𝑒𝑟</m:t>
                        </m:r>
                      </m:oMath>
                    </m:oMathPara>
                  </a14:m>
                  <a:endParaRPr lang="en-US" sz="32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7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12" y="2147"/>
                  <a:ext cx="724" cy="36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255" y="1651"/>
                  <a:ext cx="395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⋈</m:t>
                        </m:r>
                      </m:oMath>
                    </m:oMathPara>
                  </a14:m>
                  <a:endParaRPr lang="en-US" sz="32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0751" name="Text 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55" y="1651"/>
                  <a:ext cx="395" cy="36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Line 27"/>
            <p:cNvSpPr>
              <a:spLocks noChangeShapeType="1"/>
            </p:cNvSpPr>
            <p:nvPr/>
          </p:nvSpPr>
          <p:spPr bwMode="auto">
            <a:xfrm flipH="1">
              <a:off x="2112" y="1920"/>
              <a:ext cx="116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9"/>
            <p:cNvSpPr>
              <a:spLocks noChangeShapeType="1"/>
            </p:cNvSpPr>
            <p:nvPr/>
          </p:nvSpPr>
          <p:spPr bwMode="auto">
            <a:xfrm>
              <a:off x="3640" y="1920"/>
              <a:ext cx="116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168" y="1152"/>
                  <a:ext cx="781" cy="3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𝑛𝑎𝑚𝑒</m:t>
                            </m:r>
                          </m:sub>
                        </m:sSub>
                      </m:oMath>
                    </m:oMathPara>
                  </a14:m>
                  <a:endParaRPr lang="en-US" sz="3200" i="1" baseline="-250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0754" name="Text 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68" y="1152"/>
                  <a:ext cx="848" cy="361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Line 31"/>
            <p:cNvSpPr>
              <a:spLocks noChangeShapeType="1"/>
            </p:cNvSpPr>
            <p:nvPr/>
          </p:nvSpPr>
          <p:spPr bwMode="auto">
            <a:xfrm>
              <a:off x="3454" y="1536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 Box 33"/>
          <p:cNvSpPr txBox="1">
            <a:spLocks noChangeArrowheads="1"/>
          </p:cNvSpPr>
          <p:nvPr/>
        </p:nvSpPr>
        <p:spPr bwMode="auto">
          <a:xfrm>
            <a:off x="4174360" y="1905000"/>
            <a:ext cx="17668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buFont typeface="Wingdings" pitchFamily="2" charset="2"/>
              <a:buNone/>
            </a:pPr>
            <a:r>
              <a:rPr lang="en-US">
                <a:latin typeface="+mn-lt"/>
              </a:rPr>
              <a:t>Their names</a:t>
            </a:r>
          </a:p>
        </p:txBody>
      </p:sp>
      <p:grpSp>
        <p:nvGrpSpPr>
          <p:cNvPr id="14" name="Group 39"/>
          <p:cNvGrpSpPr>
            <a:grpSpLocks/>
          </p:cNvGrpSpPr>
          <p:nvPr/>
        </p:nvGrpSpPr>
        <p:grpSpPr bwMode="auto">
          <a:xfrm>
            <a:off x="3362325" y="3276601"/>
            <a:ext cx="2930526" cy="1909763"/>
            <a:chOff x="1592" y="2064"/>
            <a:chExt cx="1846" cy="1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306" y="2899"/>
                  <a:ext cx="1132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𝑀𝑒𝑚𝑏𝑒𝑟</m:t>
                        </m:r>
                      </m:oMath>
                    </m:oMathPara>
                  </a14:m>
                  <a:endParaRPr lang="en-US" sz="32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5" name="Text 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06" y="2899"/>
                  <a:ext cx="1132" cy="36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936" y="2515"/>
                  <a:ext cx="395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⋈</m:t>
                        </m:r>
                      </m:oMath>
                    </m:oMathPara>
                  </a14:m>
                  <a:endParaRPr lang="en-US" sz="32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0744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36" y="2515"/>
                  <a:ext cx="395" cy="368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35"/>
            <p:cNvGrpSpPr>
              <a:grpSpLocks/>
            </p:cNvGrpSpPr>
            <p:nvPr/>
          </p:nvGrpSpPr>
          <p:grpSpPr bwMode="auto">
            <a:xfrm>
              <a:off x="1592" y="2825"/>
              <a:ext cx="1098" cy="170"/>
              <a:chOff x="1592" y="2234"/>
              <a:chExt cx="1098" cy="288"/>
            </a:xfrm>
          </p:grpSpPr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 flipH="1">
                <a:off x="1592" y="2234"/>
                <a:ext cx="474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Line 22"/>
              <p:cNvSpPr>
                <a:spLocks noChangeShapeType="1"/>
              </p:cNvSpPr>
              <p:nvPr/>
            </p:nvSpPr>
            <p:spPr bwMode="auto">
              <a:xfrm>
                <a:off x="2216" y="2234"/>
                <a:ext cx="474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840" y="2064"/>
                  <a:ext cx="631" cy="3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𝑢𝑖𝑑</m:t>
                            </m:r>
                          </m:sub>
                        </m:sSub>
                      </m:oMath>
                    </m:oMathPara>
                  </a14:m>
                  <a:endParaRPr lang="en-US" sz="3200" i="1" baseline="-250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8" name="Text 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40" y="2064"/>
                  <a:ext cx="631" cy="361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Line 36"/>
            <p:cNvSpPr>
              <a:spLocks noChangeShapeType="1"/>
            </p:cNvSpPr>
            <p:nvPr/>
          </p:nvSpPr>
          <p:spPr bwMode="auto">
            <a:xfrm>
              <a:off x="2133" y="2448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43"/>
          <p:cNvGrpSpPr>
            <a:grpSpLocks/>
          </p:cNvGrpSpPr>
          <p:nvPr/>
        </p:nvGrpSpPr>
        <p:grpSpPr bwMode="auto">
          <a:xfrm>
            <a:off x="1079500" y="4525961"/>
            <a:ext cx="4241800" cy="1849436"/>
            <a:chOff x="680" y="2851"/>
            <a:chExt cx="2672" cy="11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2220" y="3648"/>
                  <a:ext cx="1132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𝑀𝑒𝑚𝑏𝑒𝑟</m:t>
                        </m:r>
                      </m:oMath>
                    </m:oMathPara>
                  </a14:m>
                  <a:endParaRPr lang="en-US" sz="32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3" name="Text 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20" y="3648"/>
                  <a:ext cx="1132" cy="36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910" y="3283"/>
                  <a:ext cx="395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⋈</m:t>
                        </m:r>
                      </m:oMath>
                    </m:oMathPara>
                  </a14:m>
                  <a:endParaRPr lang="en-US" sz="32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0737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10" y="3283"/>
                  <a:ext cx="395" cy="368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Line 8"/>
            <p:cNvSpPr>
              <a:spLocks noChangeShapeType="1"/>
            </p:cNvSpPr>
            <p:nvPr/>
          </p:nvSpPr>
          <p:spPr bwMode="auto">
            <a:xfrm flipH="1">
              <a:off x="1417" y="3552"/>
              <a:ext cx="528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9"/>
            <p:cNvSpPr>
              <a:spLocks noChangeShapeType="1"/>
            </p:cNvSpPr>
            <p:nvPr/>
          </p:nvSpPr>
          <p:spPr bwMode="auto">
            <a:xfrm>
              <a:off x="2281" y="3552"/>
              <a:ext cx="528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826" y="2851"/>
                  <a:ext cx="622" cy="3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𝑔𝑖𝑑</m:t>
                            </m:r>
                          </m:sub>
                        </m:sSub>
                      </m:oMath>
                    </m:oMathPara>
                  </a14:m>
                  <a:endParaRPr lang="en-US" sz="3200" i="1" baseline="-250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7" name="Text 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26" y="2851"/>
                  <a:ext cx="622" cy="394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Line 13"/>
            <p:cNvSpPr>
              <a:spLocks noChangeShapeType="1"/>
            </p:cNvSpPr>
            <p:nvPr/>
          </p:nvSpPr>
          <p:spPr bwMode="auto">
            <a:xfrm>
              <a:off x="2110" y="321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Box 15"/>
            <p:cNvSpPr txBox="1">
              <a:spLocks noChangeArrowheads="1"/>
            </p:cNvSpPr>
            <p:nvPr/>
          </p:nvSpPr>
          <p:spPr bwMode="auto">
            <a:xfrm>
              <a:off x="680" y="2880"/>
              <a:ext cx="117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algn="ctr">
                <a:buFont typeface="Wingdings" pitchFamily="2" charset="2"/>
                <a:buNone/>
              </a:pPr>
              <a:r>
                <a:rPr lang="en-US" dirty="0">
                  <a:latin typeface="+mn-lt"/>
                </a:rPr>
                <a:t>Lisa’s groups</a:t>
              </a:r>
            </a:p>
          </p:txBody>
        </p:sp>
      </p:grpSp>
      <p:grpSp>
        <p:nvGrpSpPr>
          <p:cNvPr id="30" name="Group 42"/>
          <p:cNvGrpSpPr>
            <a:grpSpLocks/>
          </p:cNvGrpSpPr>
          <p:nvPr/>
        </p:nvGrpSpPr>
        <p:grpSpPr bwMode="auto">
          <a:xfrm>
            <a:off x="34925" y="5410202"/>
            <a:ext cx="3314701" cy="1452563"/>
            <a:chOff x="22" y="3408"/>
            <a:chExt cx="2088" cy="9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076" y="3955"/>
                  <a:ext cx="724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𝑈𝑠𝑒𝑟</m:t>
                        </m:r>
                      </m:oMath>
                    </m:oMathPara>
                  </a14:m>
                  <a:endParaRPr lang="en-US" sz="32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1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6" y="3955"/>
                  <a:ext cx="724" cy="368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672" y="3552"/>
                  <a:ext cx="1438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𝑛𝑎𝑚𝑒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="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𝐿𝑖𝑠𝑎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"</m:t>
                            </m:r>
                          </m:sub>
                        </m:sSub>
                      </m:oMath>
                    </m:oMathPara>
                  </a14:m>
                  <a:endParaRPr lang="en-US" sz="32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0733" name="Text 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2" y="3552"/>
                  <a:ext cx="1513" cy="368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Line 37"/>
            <p:cNvSpPr>
              <a:spLocks noChangeShapeType="1"/>
            </p:cNvSpPr>
            <p:nvPr/>
          </p:nvSpPr>
          <p:spPr bwMode="auto">
            <a:xfrm>
              <a:off x="1438" y="3888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Box 41"/>
            <p:cNvSpPr txBox="1">
              <a:spLocks noChangeArrowheads="1"/>
            </p:cNvSpPr>
            <p:nvPr/>
          </p:nvSpPr>
          <p:spPr bwMode="auto">
            <a:xfrm>
              <a:off x="22" y="3408"/>
              <a:ext cx="10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algn="ctr">
                <a:buFont typeface="Wingdings" pitchFamily="2" charset="2"/>
                <a:buNone/>
              </a:pPr>
              <a:r>
                <a:rPr lang="en-US">
                  <a:latin typeface="+mn-lt"/>
                </a:rPr>
                <a:t>Who’s Lisa?</a:t>
              </a:r>
            </a:p>
          </p:txBody>
        </p:sp>
      </p:grp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328613" y="1981200"/>
            <a:ext cx="37049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b="1" i="1" dirty="0">
                <a:solidFill>
                  <a:schemeClr val="accent2"/>
                </a:solidFill>
                <a:latin typeface="+mn-lt"/>
              </a:rPr>
              <a:t>Writing a query bottom-up: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37B837-5D3A-42D7-A17B-78682AC89C01}"/>
              </a:ext>
            </a:extLst>
          </p:cNvPr>
          <p:cNvSpPr txBox="1"/>
          <p:nvPr/>
        </p:nvSpPr>
        <p:spPr>
          <a:xfrm>
            <a:off x="4555048" y="404801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839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3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IDs of groups that Lisa doesn’t belong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47</a:t>
            </a:fld>
            <a:endParaRPr lang="en-US"/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28613" y="1981200"/>
            <a:ext cx="3576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b="1" i="1" dirty="0">
                <a:solidFill>
                  <a:schemeClr val="accent2"/>
                </a:solidFill>
                <a:latin typeface="+mn-lt"/>
              </a:rPr>
              <a:t>Writing a query top-down: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BE0D34-BCEF-42E4-AFBD-8815EF2801EE}"/>
              </a:ext>
            </a:extLst>
          </p:cNvPr>
          <p:cNvSpPr txBox="1"/>
          <p:nvPr/>
        </p:nvSpPr>
        <p:spPr>
          <a:xfrm>
            <a:off x="4555048" y="388898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extLst>
      <p:ext uri="{BB962C8B-B14F-4D97-AF65-F5344CB8AC3E}">
        <p14:creationId xmlns:p14="http://schemas.microsoft.com/office/powerpoint/2010/main" val="434392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IDs of groups that Lisa doesn’t belong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48</a:t>
            </a:fld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443038" y="2163763"/>
            <a:ext cx="5900734" cy="1574800"/>
            <a:chOff x="957" y="1363"/>
            <a:chExt cx="3717" cy="992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2981" y="1632"/>
              <a:ext cx="169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algn="ctr">
                <a:buFont typeface="Wingdings" pitchFamily="2" charset="2"/>
                <a:buNone/>
              </a:pPr>
              <a:r>
                <a:rPr lang="en-US" dirty="0">
                  <a:latin typeface="+mn-lt"/>
                </a:rPr>
                <a:t>IDs of Lisa’s groups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957" y="1632"/>
              <a:ext cx="116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dirty="0">
                  <a:latin typeface="+mn-lt"/>
                </a:rPr>
                <a:t>All group IDs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334" y="1363"/>
                  <a:ext cx="374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32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1767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34" y="1363"/>
                  <a:ext cx="374" cy="368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H="1">
              <a:off x="1446" y="1629"/>
              <a:ext cx="1008" cy="7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2598" y="1632"/>
              <a:ext cx="1008" cy="7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1371600" y="3505201"/>
            <a:ext cx="1411289" cy="1422401"/>
            <a:chOff x="864" y="2208"/>
            <a:chExt cx="889" cy="8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058" y="2208"/>
                  <a:ext cx="622" cy="3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𝑔𝑖𝑑</m:t>
                            </m:r>
                          </m:sub>
                        </m:sSub>
                      </m:oMath>
                    </m:oMathPara>
                  </a14:m>
                  <a:endParaRPr lang="en-US" sz="3200" i="1" baseline="-250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8" y="2208"/>
                  <a:ext cx="622" cy="39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1344" y="259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864" y="2736"/>
                  <a:ext cx="889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𝐺𝑟𝑜𝑢𝑝</m:t>
                        </m:r>
                      </m:oMath>
                    </m:oMathPara>
                  </a14:m>
                  <a:endParaRPr lang="en-US" sz="32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4" name="Text 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4" y="2736"/>
                  <a:ext cx="889" cy="368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3810001" y="3505202"/>
            <a:ext cx="4035425" cy="3089276"/>
            <a:chOff x="2400" y="2208"/>
            <a:chExt cx="2542" cy="19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400" y="3257"/>
                  <a:ext cx="1132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𝑀𝑒𝑚𝑏𝑒𝑟</m:t>
                        </m:r>
                      </m:oMath>
                    </m:oMathPara>
                  </a14:m>
                  <a:endParaRPr lang="en-US" sz="32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6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00" y="3257"/>
                  <a:ext cx="1132" cy="36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902" y="3786"/>
                  <a:ext cx="724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𝑈𝑠𝑒𝑟</m:t>
                        </m:r>
                      </m:oMath>
                    </m:oMathPara>
                  </a14:m>
                  <a:endParaRPr lang="en-US" sz="32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7" name="Text 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02" y="3786"/>
                  <a:ext cx="724" cy="36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3349" y="2729"/>
                  <a:ext cx="395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⋈</m:t>
                        </m:r>
                      </m:oMath>
                    </m:oMathPara>
                  </a14:m>
                  <a:endParaRPr lang="en-US" sz="32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1755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49" y="2729"/>
                  <a:ext cx="395" cy="368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>
              <a:off x="2857" y="2998"/>
              <a:ext cx="528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3721" y="2998"/>
              <a:ext cx="528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3504" y="3190"/>
                  <a:ext cx="1438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𝑛𝑎𝑚𝑒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="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𝐿𝑖𝑠𝑎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"</m:t>
                            </m:r>
                          </m:sub>
                        </m:sSub>
                      </m:oMath>
                    </m:oMathPara>
                  </a14:m>
                  <a:endParaRPr lang="en-US" sz="32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1758" name="Text 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04" y="3190"/>
                  <a:ext cx="1513" cy="368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4249" y="3526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266" y="2208"/>
                  <a:ext cx="622" cy="3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𝑔𝑖𝑑</m:t>
                            </m:r>
                          </m:sub>
                        </m:sSub>
                      </m:oMath>
                    </m:oMathPara>
                  </a14:m>
                  <a:endParaRPr lang="en-US" sz="3200" i="1" baseline="-250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3" name="Text 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66" y="2208"/>
                  <a:ext cx="622" cy="394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3552" y="259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28613" y="1981200"/>
            <a:ext cx="3576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b="1" i="1" dirty="0">
                <a:solidFill>
                  <a:schemeClr val="accent2"/>
                </a:solidFill>
                <a:latin typeface="+mn-lt"/>
              </a:rPr>
              <a:t>Writing a query top-down: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BE0D34-BCEF-42E4-AFBD-8815EF2801EE}"/>
              </a:ext>
            </a:extLst>
          </p:cNvPr>
          <p:cNvSpPr txBox="1"/>
          <p:nvPr/>
        </p:nvSpPr>
        <p:spPr>
          <a:xfrm>
            <a:off x="4555048" y="388898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359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trickier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are the most popular?</a:t>
            </a:r>
          </a:p>
          <a:p>
            <a:pPr lvl="1"/>
            <a:r>
              <a:rPr lang="en-US" dirty="0"/>
              <a:t>Who do NOT have the highest </a:t>
            </a:r>
            <a:r>
              <a:rPr lang="en-US" i="1" dirty="0"/>
              <a:t>pop</a:t>
            </a:r>
            <a:r>
              <a:rPr lang="en-US" dirty="0"/>
              <a:t> rating?</a:t>
            </a:r>
          </a:p>
          <a:p>
            <a:pPr lvl="1"/>
            <a:r>
              <a:rPr lang="en-US" dirty="0"/>
              <a:t>Whose </a:t>
            </a:r>
            <a:r>
              <a:rPr lang="en-US" i="1" dirty="0"/>
              <a:t>pop</a:t>
            </a:r>
            <a:r>
              <a:rPr lang="en-US" dirty="0"/>
              <a:t> is lower than somebody else’s?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49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446BE8-94B4-4496-8F1D-F8331C0FDF7E}"/>
              </a:ext>
            </a:extLst>
          </p:cNvPr>
          <p:cNvSpPr txBox="1"/>
          <p:nvPr/>
        </p:nvSpPr>
        <p:spPr>
          <a:xfrm>
            <a:off x="4817440" y="372995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171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trickier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are the most popular?</a:t>
            </a:r>
          </a:p>
          <a:p>
            <a:pPr lvl="1"/>
            <a:r>
              <a:rPr lang="en-US" dirty="0"/>
              <a:t>Who do NOT have the highest </a:t>
            </a:r>
            <a:r>
              <a:rPr lang="en-US" i="1" dirty="0"/>
              <a:t>pop</a:t>
            </a:r>
            <a:r>
              <a:rPr lang="en-US" dirty="0"/>
              <a:t> rating?</a:t>
            </a:r>
          </a:p>
          <a:p>
            <a:pPr lvl="1"/>
            <a:r>
              <a:rPr lang="en-US" dirty="0"/>
              <a:t>Whose </a:t>
            </a:r>
            <a:r>
              <a:rPr lang="en-US" i="1" dirty="0"/>
              <a:t>pop</a:t>
            </a:r>
            <a:r>
              <a:rPr lang="en-US" dirty="0"/>
              <a:t> is lower than somebody else’s?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50</a:t>
            </a:fld>
            <a:endParaRPr lang="en-US"/>
          </a:p>
        </p:txBody>
      </p: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1585912" y="3505200"/>
            <a:ext cx="1149351" cy="1414463"/>
            <a:chOff x="999" y="2208"/>
            <a:chExt cx="724" cy="8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058" y="2208"/>
                  <a:ext cx="631" cy="3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𝑢𝑖𝑑</m:t>
                            </m:r>
                          </m:sub>
                        </m:sSub>
                      </m:oMath>
                    </m:oMathPara>
                  </a14:m>
                  <a:endParaRPr lang="en-US" sz="3200" i="1" baseline="-250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8" y="2208"/>
                  <a:ext cx="631" cy="361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Line 12"/>
            <p:cNvSpPr>
              <a:spLocks noChangeShapeType="1"/>
            </p:cNvSpPr>
            <p:nvPr/>
          </p:nvSpPr>
          <p:spPr bwMode="auto">
            <a:xfrm>
              <a:off x="1344" y="259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999" y="2731"/>
                  <a:ext cx="724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𝑈𝑠𝑒𝑟</m:t>
                        </m:r>
                      </m:oMath>
                    </m:oMathPara>
                  </a14:m>
                  <a:endParaRPr lang="en-US" sz="32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" name="Text 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9" y="2731"/>
                  <a:ext cx="724" cy="36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34"/>
          <p:cNvGrpSpPr>
            <a:grpSpLocks/>
          </p:cNvGrpSpPr>
          <p:nvPr/>
        </p:nvGrpSpPr>
        <p:grpSpPr bwMode="auto">
          <a:xfrm>
            <a:off x="2209800" y="2743200"/>
            <a:ext cx="3438525" cy="1066800"/>
            <a:chOff x="1392" y="1728"/>
            <a:chExt cx="2166" cy="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280" y="1728"/>
                  <a:ext cx="374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32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2788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80" y="1728"/>
                  <a:ext cx="374" cy="368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H="1">
              <a:off x="1392" y="1994"/>
              <a:ext cx="1014" cy="4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28"/>
            <p:cNvSpPr>
              <a:spLocks noChangeShapeType="1"/>
            </p:cNvSpPr>
            <p:nvPr/>
          </p:nvSpPr>
          <p:spPr bwMode="auto">
            <a:xfrm>
              <a:off x="2544" y="1994"/>
              <a:ext cx="1014" cy="4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32"/>
          <p:cNvGrpSpPr>
            <a:grpSpLocks/>
          </p:cNvGrpSpPr>
          <p:nvPr/>
        </p:nvGrpSpPr>
        <p:grpSpPr bwMode="auto">
          <a:xfrm>
            <a:off x="3730624" y="3505201"/>
            <a:ext cx="3698869" cy="3144838"/>
            <a:chOff x="2350" y="2208"/>
            <a:chExt cx="2330" cy="19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910" y="3821"/>
                  <a:ext cx="724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𝑈𝑠𝑒𝑟</m:t>
                        </m:r>
                      </m:oMath>
                    </m:oMathPara>
                  </a14:m>
                  <a:endParaRPr lang="en-US" sz="32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4" name="Text 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10" y="3821"/>
                  <a:ext cx="724" cy="36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Line 18"/>
            <p:cNvSpPr>
              <a:spLocks noChangeShapeType="1"/>
            </p:cNvSpPr>
            <p:nvPr/>
          </p:nvSpPr>
          <p:spPr bwMode="auto">
            <a:xfrm flipH="1">
              <a:off x="2880" y="3034"/>
              <a:ext cx="528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3744" y="3034"/>
              <a:ext cx="528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21"/>
            <p:cNvSpPr>
              <a:spLocks noChangeShapeType="1"/>
            </p:cNvSpPr>
            <p:nvPr/>
          </p:nvSpPr>
          <p:spPr bwMode="auto">
            <a:xfrm>
              <a:off x="4272" y="3562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531" y="3821"/>
                  <a:ext cx="724" cy="3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𝑈𝑠𝑒𝑟</m:t>
                        </m:r>
                      </m:oMath>
                    </m:oMathPara>
                  </a14:m>
                  <a:endParaRPr lang="en-US" sz="3200" i="1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8" name="Text 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1" y="3821"/>
                  <a:ext cx="724" cy="36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Line 24"/>
            <p:cNvSpPr>
              <a:spLocks noChangeShapeType="1"/>
            </p:cNvSpPr>
            <p:nvPr/>
          </p:nvSpPr>
          <p:spPr bwMode="auto">
            <a:xfrm>
              <a:off x="2895" y="3560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436" y="3166"/>
                  <a:ext cx="827" cy="4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𝑈𝑠𝑒</m:t>
                            </m:r>
                            <m:sSub>
                              <m:sSubPr>
                                <m:ctrlP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3200" baseline="-250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0" name="Text 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36" y="3166"/>
                  <a:ext cx="827" cy="43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805" y="3165"/>
                  <a:ext cx="827" cy="4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𝑈𝑠𝑒</m:t>
                            </m:r>
                            <m:sSub>
                              <m:sSubPr>
                                <m:ctrlP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3200" baseline="-250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1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05" y="3165"/>
                  <a:ext cx="827" cy="437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350" y="2663"/>
                  <a:ext cx="2330" cy="3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𝑈𝑠𝑒</m:t>
                            </m:r>
                            <m:sSub>
                              <m:sSubPr>
                                <m:ctrlP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𝑝𝑜𝑝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𝑈𝑠𝑒</m:t>
                            </m:r>
                            <m:sSub>
                              <m:sSubPr>
                                <m:ctrlP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𝑝𝑜𝑝</m:t>
                            </m:r>
                          </m:sub>
                        </m:sSub>
                      </m:oMath>
                    </m:oMathPara>
                  </a14:m>
                  <a:endParaRPr lang="en-US" sz="3200" i="1" baseline="-250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2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50" y="2663"/>
                  <a:ext cx="2330" cy="395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976" y="2208"/>
                  <a:ext cx="1185" cy="3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itchFamily="2" charset="2"/>
                    <a:buChar char="•"/>
                    <a:defRPr kumimoji="1" sz="2400">
                      <a:solidFill>
                        <a:schemeClr val="tx1"/>
                      </a:solidFill>
                      <a:latin typeface="AmeriGarmnd BT" pitchFamily="18" charset="0"/>
                    </a:defRPr>
                  </a:lvl9pPr>
                </a:lstStyle>
                <a:p>
                  <a:pP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𝑈𝑠𝑒</m:t>
                            </m:r>
                            <m:sSub>
                              <m:sSubPr>
                                <m:ctrlP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𝑢𝑖𝑑</m:t>
                            </m:r>
                          </m:sub>
                        </m:sSub>
                      </m:oMath>
                    </m:oMathPara>
                  </a14:m>
                  <a:endParaRPr lang="en-US" sz="3200" i="1" baseline="-250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3" name="Text 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76" y="2208"/>
                  <a:ext cx="1185" cy="395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Line 30"/>
            <p:cNvSpPr>
              <a:spLocks noChangeShapeType="1"/>
            </p:cNvSpPr>
            <p:nvPr/>
          </p:nvSpPr>
          <p:spPr bwMode="auto">
            <a:xfrm>
              <a:off x="3600" y="259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31"/>
              <p:cNvSpPr txBox="1">
                <a:spLocks noChangeArrowheads="1"/>
              </p:cNvSpPr>
              <p:nvPr/>
            </p:nvSpPr>
            <p:spPr bwMode="auto">
              <a:xfrm>
                <a:off x="208303" y="5356652"/>
                <a:ext cx="4363695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b="1" i="1" dirty="0">
                    <a:solidFill>
                      <a:schemeClr val="accent2"/>
                    </a:solidFill>
                    <a:latin typeface="+mn-lt"/>
                  </a:rPr>
                  <a:t>A deeper question:</a:t>
                </a:r>
                <a:br>
                  <a:rPr lang="en-US" b="1" i="1" dirty="0">
                    <a:solidFill>
                      <a:schemeClr val="accent2"/>
                    </a:solidFill>
                    <a:latin typeface="+mn-lt"/>
                  </a:rPr>
                </a:br>
                <a:r>
                  <a:rPr lang="en-US" b="1" i="1" dirty="0">
                    <a:solidFill>
                      <a:schemeClr val="accent2"/>
                    </a:solidFill>
                    <a:latin typeface="+mn-lt"/>
                  </a:rPr>
                  <a:t>When (and why) is “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i="1" dirty="0">
                    <a:solidFill>
                      <a:schemeClr val="accent2"/>
                    </a:solidFill>
                    <a:latin typeface="+mn-lt"/>
                  </a:rPr>
                  <a:t>” needed?</a:t>
                </a:r>
              </a:p>
            </p:txBody>
          </p:sp>
        </mc:Choice>
        <mc:Fallback xmlns="">
          <p:sp>
            <p:nvSpPr>
              <p:cNvPr id="25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303" y="5356652"/>
                <a:ext cx="4363695" cy="830997"/>
              </a:xfrm>
              <a:prstGeom prst="rect">
                <a:avLst/>
              </a:prstGeom>
              <a:blipFill rotWithShape="0">
                <a:blip r:embed="rId13"/>
                <a:stretch>
                  <a:fillRect l="-2095" t="-5882" b="-1617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31446BE8-94B4-4496-8F1D-F8331C0FDF7E}"/>
              </a:ext>
            </a:extLst>
          </p:cNvPr>
          <p:cNvSpPr txBox="1"/>
          <p:nvPr/>
        </p:nvSpPr>
        <p:spPr>
          <a:xfrm>
            <a:off x="4817440" y="372996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271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Non-monotone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2336" y="3171462"/>
                <a:ext cx="8173014" cy="355001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If some 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old output rows </a:t>
                </a:r>
                <a:r>
                  <a:rPr lang="en-US" sz="2400" dirty="0"/>
                  <a:t>may become 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invalid</a:t>
                </a:r>
                <a:r>
                  <a:rPr lang="en-US" sz="2400" dirty="0"/>
                  <a:t>, and need to 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be removed </a:t>
                </a:r>
                <a:r>
                  <a:rPr lang="en-US" sz="2400" dirty="0">
                    <a:sym typeface="Wingdings" panose="05000000000000000000" pitchFamily="2" charset="2"/>
                  </a:rPr>
                  <a:t></a:t>
                </a:r>
                <a:r>
                  <a:rPr lang="en-US" sz="2400" dirty="0">
                    <a:solidFill>
                      <a:schemeClr val="accent2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400" dirty="0"/>
                  <a:t>the operator is 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non-monotone</a:t>
                </a:r>
                <a:endParaRPr lang="en-US" sz="2000" dirty="0">
                  <a:solidFill>
                    <a:schemeClr val="accent2"/>
                  </a:solidFill>
                </a:endParaRPr>
              </a:p>
              <a:p>
                <a:pPr lvl="1"/>
                <a:endParaRPr lang="en-US" sz="2000" dirty="0">
                  <a:solidFill>
                    <a:schemeClr val="accent2"/>
                  </a:solidFill>
                </a:endParaRPr>
              </a:p>
              <a:p>
                <a:r>
                  <a:rPr lang="en-US" sz="2400" dirty="0"/>
                  <a:t>Example: difference operator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𝑅</m:t>
                    </m:r>
                    <m:r>
                      <a:rPr lang="en-US" sz="2400" i="1" dirty="0">
                        <a:latin typeface="Cambria Math"/>
                      </a:rPr>
                      <m:t>−</m:t>
                    </m:r>
                    <m:r>
                      <a:rPr lang="en-US" sz="2400" i="1" dirty="0">
                        <a:latin typeface="Cambria Math"/>
                      </a:rPr>
                      <m:t>𝑆</m:t>
                    </m:r>
                  </m:oMath>
                </a14:m>
                <a:endParaRPr lang="en-US" sz="2400" dirty="0"/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336" y="3171462"/>
                <a:ext cx="8173014" cy="3550013"/>
              </a:xfrm>
              <a:blipFill>
                <a:blip r:embed="rId4"/>
                <a:stretch>
                  <a:fillRect l="-969" t="-240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51</a:t>
            </a:fld>
            <a:endParaRPr lang="en-US"/>
          </a:p>
        </p:txBody>
      </p: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3722225" y="1418521"/>
            <a:ext cx="1524000" cy="838200"/>
            <a:chOff x="1008" y="1776"/>
            <a:chExt cx="960" cy="528"/>
          </a:xfrm>
        </p:grpSpPr>
        <p:sp>
          <p:nvSpPr>
            <p:cNvPr id="6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Text Box 65"/>
            <p:cNvSpPr txBox="1">
              <a:spLocks noChangeArrowheads="1"/>
            </p:cNvSpPr>
            <p:nvPr/>
          </p:nvSpPr>
          <p:spPr bwMode="auto">
            <a:xfrm>
              <a:off x="1200" y="1878"/>
              <a:ext cx="58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i="1" dirty="0" err="1">
                  <a:latin typeface="+mn-lt"/>
                </a:rPr>
                <a:t>RelOp</a:t>
              </a:r>
              <a:endParaRPr kumimoji="0" lang="en-US" i="1" dirty="0">
                <a:latin typeface="+mn-lt"/>
              </a:endParaRPr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2274425" y="1342321"/>
            <a:ext cx="1447800" cy="914400"/>
            <a:chOff x="288" y="1056"/>
            <a:chExt cx="912" cy="576"/>
          </a:xfrm>
        </p:grpSpPr>
        <p:grpSp>
          <p:nvGrpSpPr>
            <p:cNvPr id="9" name="Group 70"/>
            <p:cNvGrpSpPr>
              <a:grpSpLocks/>
            </p:cNvGrpSpPr>
            <p:nvPr/>
          </p:nvGrpSpPr>
          <p:grpSpPr bwMode="auto">
            <a:xfrm>
              <a:off x="288" y="1056"/>
              <a:ext cx="624" cy="576"/>
              <a:chOff x="1056" y="1920"/>
              <a:chExt cx="1296" cy="1152"/>
            </a:xfrm>
          </p:grpSpPr>
          <p:sp>
            <p:nvSpPr>
              <p:cNvPr id="11" name="Rectangle 71"/>
              <p:cNvSpPr>
                <a:spLocks noChangeArrowheads="1"/>
              </p:cNvSpPr>
              <p:nvPr/>
            </p:nvSpPr>
            <p:spPr bwMode="auto">
              <a:xfrm>
                <a:off x="1056" y="1920"/>
                <a:ext cx="1296" cy="1152"/>
              </a:xfrm>
              <a:prstGeom prst="rect">
                <a:avLst/>
              </a:prstGeom>
              <a:solidFill>
                <a:schemeClr val="tx2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2"/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1296" cy="960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73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Line 74"/>
              <p:cNvSpPr>
                <a:spLocks noChangeShapeType="1"/>
              </p:cNvSpPr>
              <p:nvPr/>
            </p:nvSpPr>
            <p:spPr bwMode="auto">
              <a:xfrm>
                <a:off x="1776" y="192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75"/>
              <p:cNvSpPr>
                <a:spLocks noChangeShapeType="1"/>
              </p:cNvSpPr>
              <p:nvPr/>
            </p:nvSpPr>
            <p:spPr bwMode="auto">
              <a:xfrm>
                <a:off x="2016" y="192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76"/>
              <p:cNvSpPr>
                <a:spLocks noChangeShapeType="1"/>
              </p:cNvSpPr>
              <p:nvPr/>
            </p:nvSpPr>
            <p:spPr bwMode="auto">
              <a:xfrm>
                <a:off x="1056" y="2304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77"/>
              <p:cNvSpPr>
                <a:spLocks noChangeShapeType="1"/>
              </p:cNvSpPr>
              <p:nvPr/>
            </p:nvSpPr>
            <p:spPr bwMode="auto">
              <a:xfrm>
                <a:off x="1056" y="2496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78"/>
              <p:cNvSpPr>
                <a:spLocks noChangeShapeType="1"/>
              </p:cNvSpPr>
              <p:nvPr/>
            </p:nvSpPr>
            <p:spPr bwMode="auto">
              <a:xfrm>
                <a:off x="1056" y="2688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79"/>
              <p:cNvSpPr>
                <a:spLocks noChangeShapeType="1"/>
              </p:cNvSpPr>
              <p:nvPr/>
            </p:nvSpPr>
            <p:spPr bwMode="auto">
              <a:xfrm>
                <a:off x="1056" y="2880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" name="Line 80"/>
            <p:cNvSpPr>
              <a:spLocks noChangeShapeType="1"/>
            </p:cNvSpPr>
            <p:nvPr/>
          </p:nvSpPr>
          <p:spPr bwMode="auto">
            <a:xfrm>
              <a:off x="960" y="1344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" name="Group 81"/>
          <p:cNvGrpSpPr>
            <a:grpSpLocks/>
          </p:cNvGrpSpPr>
          <p:nvPr/>
        </p:nvGrpSpPr>
        <p:grpSpPr bwMode="auto">
          <a:xfrm>
            <a:off x="5246225" y="1418521"/>
            <a:ext cx="1447800" cy="762000"/>
            <a:chOff x="2160" y="1104"/>
            <a:chExt cx="912" cy="480"/>
          </a:xfrm>
        </p:grpSpPr>
        <p:grpSp>
          <p:nvGrpSpPr>
            <p:cNvPr id="21" name="Group 82"/>
            <p:cNvGrpSpPr>
              <a:grpSpLocks/>
            </p:cNvGrpSpPr>
            <p:nvPr/>
          </p:nvGrpSpPr>
          <p:grpSpPr bwMode="auto">
            <a:xfrm>
              <a:off x="2448" y="1104"/>
              <a:ext cx="624" cy="480"/>
              <a:chOff x="2400" y="1152"/>
              <a:chExt cx="624" cy="480"/>
            </a:xfrm>
          </p:grpSpPr>
          <p:sp>
            <p:nvSpPr>
              <p:cNvPr id="23" name="Rectangle 83"/>
              <p:cNvSpPr>
                <a:spLocks noChangeArrowheads="1"/>
              </p:cNvSpPr>
              <p:nvPr/>
            </p:nvSpPr>
            <p:spPr bwMode="auto">
              <a:xfrm>
                <a:off x="2400" y="1152"/>
                <a:ext cx="624" cy="480"/>
              </a:xfrm>
              <a:prstGeom prst="rect">
                <a:avLst/>
              </a:prstGeom>
              <a:solidFill>
                <a:schemeClr val="tx2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Rectangle 84"/>
              <p:cNvSpPr>
                <a:spLocks noChangeArrowheads="1"/>
              </p:cNvSpPr>
              <p:nvPr/>
            </p:nvSpPr>
            <p:spPr bwMode="auto">
              <a:xfrm>
                <a:off x="2400" y="1248"/>
                <a:ext cx="624" cy="384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85"/>
              <p:cNvSpPr>
                <a:spLocks noChangeShapeType="1"/>
              </p:cNvSpPr>
              <p:nvPr/>
            </p:nvSpPr>
            <p:spPr bwMode="auto">
              <a:xfrm>
                <a:off x="2539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86"/>
              <p:cNvSpPr>
                <a:spLocks noChangeShapeType="1"/>
              </p:cNvSpPr>
              <p:nvPr/>
            </p:nvSpPr>
            <p:spPr bwMode="auto">
              <a:xfrm>
                <a:off x="2759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87"/>
              <p:cNvSpPr>
                <a:spLocks noChangeShapeType="1"/>
              </p:cNvSpPr>
              <p:nvPr/>
            </p:nvSpPr>
            <p:spPr bwMode="auto">
              <a:xfrm>
                <a:off x="2880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Line 88"/>
              <p:cNvSpPr>
                <a:spLocks noChangeShapeType="1"/>
              </p:cNvSpPr>
              <p:nvPr/>
            </p:nvSpPr>
            <p:spPr bwMode="auto">
              <a:xfrm>
                <a:off x="2400" y="1344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Line 89"/>
              <p:cNvSpPr>
                <a:spLocks noChangeShapeType="1"/>
              </p:cNvSpPr>
              <p:nvPr/>
            </p:nvSpPr>
            <p:spPr bwMode="auto">
              <a:xfrm>
                <a:off x="2400" y="1440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90"/>
              <p:cNvSpPr>
                <a:spLocks noChangeShapeType="1"/>
              </p:cNvSpPr>
              <p:nvPr/>
            </p:nvSpPr>
            <p:spPr bwMode="auto">
              <a:xfrm>
                <a:off x="2400" y="153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" name="Line 91"/>
            <p:cNvSpPr>
              <a:spLocks noChangeShapeType="1"/>
            </p:cNvSpPr>
            <p:nvPr/>
          </p:nvSpPr>
          <p:spPr bwMode="auto">
            <a:xfrm>
              <a:off x="2160" y="1344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" name="Group 28"/>
          <p:cNvGrpSpPr>
            <a:grpSpLocks/>
          </p:cNvGrpSpPr>
          <p:nvPr/>
        </p:nvGrpSpPr>
        <p:grpSpPr bwMode="auto">
          <a:xfrm>
            <a:off x="60831" y="1976425"/>
            <a:ext cx="3205163" cy="830263"/>
            <a:chOff x="93" y="1358"/>
            <a:chExt cx="2019" cy="523"/>
          </a:xfrm>
        </p:grpSpPr>
        <p:grpSp>
          <p:nvGrpSpPr>
            <p:cNvPr id="32" name="Group 29"/>
            <p:cNvGrpSpPr>
              <a:grpSpLocks/>
            </p:cNvGrpSpPr>
            <p:nvPr/>
          </p:nvGrpSpPr>
          <p:grpSpPr bwMode="auto">
            <a:xfrm>
              <a:off x="1488" y="1536"/>
              <a:ext cx="624" cy="192"/>
              <a:chOff x="1488" y="1536"/>
              <a:chExt cx="624" cy="192"/>
            </a:xfrm>
          </p:grpSpPr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1488" y="1536"/>
                <a:ext cx="624" cy="192"/>
              </a:xfrm>
              <a:prstGeom prst="rect">
                <a:avLst/>
              </a:prstGeom>
              <a:solidFill>
                <a:srgbClr val="FF0000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31"/>
              <p:cNvSpPr>
                <a:spLocks noChangeShapeType="1"/>
              </p:cNvSpPr>
              <p:nvPr/>
            </p:nvSpPr>
            <p:spPr bwMode="auto">
              <a:xfrm>
                <a:off x="1488" y="163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32"/>
              <p:cNvSpPr>
                <a:spLocks noChangeShapeType="1"/>
              </p:cNvSpPr>
              <p:nvPr/>
            </p:nvSpPr>
            <p:spPr bwMode="auto">
              <a:xfrm>
                <a:off x="1624" y="153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Line 33"/>
              <p:cNvSpPr>
                <a:spLocks noChangeShapeType="1"/>
              </p:cNvSpPr>
              <p:nvPr/>
            </p:nvSpPr>
            <p:spPr bwMode="auto">
              <a:xfrm>
                <a:off x="1840" y="153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Line 34"/>
              <p:cNvSpPr>
                <a:spLocks noChangeShapeType="1"/>
              </p:cNvSpPr>
              <p:nvPr/>
            </p:nvSpPr>
            <p:spPr bwMode="auto">
              <a:xfrm>
                <a:off x="1952" y="153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93" y="1358"/>
              <a:ext cx="1545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Add more rows   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to the input...   </a:t>
              </a:r>
            </a:p>
          </p:txBody>
        </p:sp>
      </p:grpSp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6770061" y="1544638"/>
            <a:ext cx="206659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dirty="0">
                <a:solidFill>
                  <a:schemeClr val="accent2"/>
                </a:solidFill>
                <a:latin typeface="+mn-lt"/>
              </a:rPr>
              <a:t>What happens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dirty="0">
                <a:solidFill>
                  <a:schemeClr val="accent2"/>
                </a:solidFill>
                <a:latin typeface="+mn-lt"/>
              </a:rPr>
              <a:t>to the output?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0DC58A0-4CC0-4EC7-A938-F9998FC52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914878"/>
              </p:ext>
            </p:extLst>
          </p:nvPr>
        </p:nvGraphicFramePr>
        <p:xfrm>
          <a:off x="811650" y="4971245"/>
          <a:ext cx="12166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0605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00CB1C22-0549-498E-83EE-21CDD1282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66454"/>
              </p:ext>
            </p:extLst>
          </p:nvPr>
        </p:nvGraphicFramePr>
        <p:xfrm>
          <a:off x="3047374" y="4962400"/>
          <a:ext cx="12166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0605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edf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212FC6-CF2C-4724-A714-A6AD4CC91707}"/>
                  </a:ext>
                </a:extLst>
              </p:cNvPr>
              <p:cNvSpPr txBox="1"/>
              <p:nvPr/>
            </p:nvSpPr>
            <p:spPr>
              <a:xfrm>
                <a:off x="2423351" y="5234934"/>
                <a:ext cx="29820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CA" dirty="0"/>
                  <a:t>                                          =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212FC6-CF2C-4724-A714-A6AD4CC91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351" y="5234934"/>
                <a:ext cx="2982098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D3D7D1A-DB0E-4108-AF41-B19B891EE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119759"/>
              </p:ext>
            </p:extLst>
          </p:nvPr>
        </p:nvGraphicFramePr>
        <p:xfrm>
          <a:off x="5156123" y="4962400"/>
          <a:ext cx="1216660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p:grpSp>
        <p:nvGrpSpPr>
          <p:cNvPr id="45" name="Group 70">
            <a:extLst>
              <a:ext uri="{FF2B5EF4-FFF2-40B4-BE49-F238E27FC236}">
                <a16:creationId xmlns:a16="http://schemas.microsoft.com/office/drawing/2014/main" id="{A4B23EC8-2CDB-4920-9855-9B81C95D6D9E}"/>
              </a:ext>
            </a:extLst>
          </p:cNvPr>
          <p:cNvGrpSpPr>
            <a:grpSpLocks/>
          </p:cNvGrpSpPr>
          <p:nvPr/>
        </p:nvGrpSpPr>
        <p:grpSpPr bwMode="auto">
          <a:xfrm>
            <a:off x="1834522" y="1112582"/>
            <a:ext cx="990600" cy="914400"/>
            <a:chOff x="1056" y="1920"/>
            <a:chExt cx="1296" cy="1152"/>
          </a:xfrm>
        </p:grpSpPr>
        <p:sp>
          <p:nvSpPr>
            <p:cNvPr id="47" name="Rectangle 71">
              <a:extLst>
                <a:ext uri="{FF2B5EF4-FFF2-40B4-BE49-F238E27FC236}">
                  <a16:creationId xmlns:a16="http://schemas.microsoft.com/office/drawing/2014/main" id="{334E20A6-E700-4431-8241-4FF71BB75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20"/>
              <a:ext cx="1296" cy="1152"/>
            </a:xfrm>
            <a:prstGeom prst="rect">
              <a:avLst/>
            </a:prstGeom>
            <a:solidFill>
              <a:schemeClr val="tx2"/>
            </a:solidFill>
            <a:ln w="381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72">
              <a:extLst>
                <a:ext uri="{FF2B5EF4-FFF2-40B4-BE49-F238E27FC236}">
                  <a16:creationId xmlns:a16="http://schemas.microsoft.com/office/drawing/2014/main" id="{D97734A9-CBA9-40FF-BAF2-6DE4DF99F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112"/>
              <a:ext cx="1296" cy="960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73">
              <a:extLst>
                <a:ext uri="{FF2B5EF4-FFF2-40B4-BE49-F238E27FC236}">
                  <a16:creationId xmlns:a16="http://schemas.microsoft.com/office/drawing/2014/main" id="{7B0F3E42-30EA-461C-923A-2338F8CF4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920"/>
              <a:ext cx="0" cy="115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74">
              <a:extLst>
                <a:ext uri="{FF2B5EF4-FFF2-40B4-BE49-F238E27FC236}">
                  <a16:creationId xmlns:a16="http://schemas.microsoft.com/office/drawing/2014/main" id="{B8C6E568-6BD6-46DB-8C88-0DAAA7C6F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20"/>
              <a:ext cx="0" cy="115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75">
              <a:extLst>
                <a:ext uri="{FF2B5EF4-FFF2-40B4-BE49-F238E27FC236}">
                  <a16:creationId xmlns:a16="http://schemas.microsoft.com/office/drawing/2014/main" id="{18B72C2C-FE9E-4FCA-8608-F61F620087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20"/>
              <a:ext cx="0" cy="115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76">
              <a:extLst>
                <a:ext uri="{FF2B5EF4-FFF2-40B4-BE49-F238E27FC236}">
                  <a16:creationId xmlns:a16="http://schemas.microsoft.com/office/drawing/2014/main" id="{C04EF499-9918-4A70-91FB-E8ED86D32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304"/>
              <a:ext cx="129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77">
              <a:extLst>
                <a:ext uri="{FF2B5EF4-FFF2-40B4-BE49-F238E27FC236}">
                  <a16:creationId xmlns:a16="http://schemas.microsoft.com/office/drawing/2014/main" id="{C5508B73-E71C-4413-8FD8-323AE7D76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496"/>
              <a:ext cx="129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78">
              <a:extLst>
                <a:ext uri="{FF2B5EF4-FFF2-40B4-BE49-F238E27FC236}">
                  <a16:creationId xmlns:a16="http://schemas.microsoft.com/office/drawing/2014/main" id="{6EE01F03-E8E5-49BC-950D-A6D58E15D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688"/>
              <a:ext cx="129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79">
              <a:extLst>
                <a:ext uri="{FF2B5EF4-FFF2-40B4-BE49-F238E27FC236}">
                  <a16:creationId xmlns:a16="http://schemas.microsoft.com/office/drawing/2014/main" id="{3AC36FD2-14E5-4663-AA1B-15B20E75A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880"/>
              <a:ext cx="129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50B7E26E-7F6B-40AC-A0D4-5A20ED7E9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670416"/>
              </p:ext>
            </p:extLst>
          </p:nvPr>
        </p:nvGraphicFramePr>
        <p:xfrm>
          <a:off x="3047374" y="5844534"/>
          <a:ext cx="121666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2C8FE43-1A81-46E1-8425-844DDD7EA6A1}"/>
              </a:ext>
            </a:extLst>
          </p:cNvPr>
          <p:cNvCxnSpPr>
            <a:cxnSpLocks/>
          </p:cNvCxnSpPr>
          <p:nvPr/>
        </p:nvCxnSpPr>
        <p:spPr>
          <a:xfrm>
            <a:off x="4980723" y="5419600"/>
            <a:ext cx="15268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2" name="Callout: Line 61">
            <a:extLst>
              <a:ext uri="{FF2B5EF4-FFF2-40B4-BE49-F238E27FC236}">
                <a16:creationId xmlns:a16="http://schemas.microsoft.com/office/drawing/2014/main" id="{22E94F62-53D8-4F7A-8ECD-F8F7EB701D29}"/>
              </a:ext>
            </a:extLst>
          </p:cNvPr>
          <p:cNvSpPr/>
          <p:nvPr/>
        </p:nvSpPr>
        <p:spPr>
          <a:xfrm>
            <a:off x="6680903" y="4703982"/>
            <a:ext cx="1896269" cy="1431235"/>
          </a:xfrm>
          <a:prstGeom prst="borderCallout1">
            <a:avLst>
              <a:gd name="adj1" fmla="val 18750"/>
              <a:gd name="adj2" fmla="val -8333"/>
              <a:gd name="adj3" fmla="val 45713"/>
              <a:gd name="adj4" fmla="val -32952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This old row becomes invalid because the new row added to 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91D4F7A-14A7-4AE7-B6B3-C227FD1198AF}"/>
                  </a:ext>
                </a:extLst>
              </p:cNvPr>
              <p:cNvSpPr txBox="1"/>
              <p:nvPr/>
            </p:nvSpPr>
            <p:spPr>
              <a:xfrm>
                <a:off x="3323884" y="6173794"/>
                <a:ext cx="7014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91D4F7A-14A7-4AE7-B6B3-C227FD119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884" y="6173794"/>
                <a:ext cx="70144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9865689-FDAA-4A41-AABB-A55F367D67E1}"/>
                  </a:ext>
                </a:extLst>
              </p:cNvPr>
              <p:cNvSpPr txBox="1"/>
              <p:nvPr/>
            </p:nvSpPr>
            <p:spPr>
              <a:xfrm>
                <a:off x="1069259" y="6158252"/>
                <a:ext cx="7014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9865689-FDAA-4A41-AABB-A55F367D6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259" y="6158252"/>
                <a:ext cx="70144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4529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9" grpId="0" autoUpdateAnimBg="0"/>
      <p:bldP spid="42" grpId="0"/>
      <p:bldP spid="62" grpId="0" animBg="1"/>
      <p:bldP spid="64" grpId="0"/>
      <p:bldP spid="6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Non-monotone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3171462"/>
            <a:ext cx="8173014" cy="3550013"/>
          </a:xfrm>
        </p:spPr>
        <p:txBody>
          <a:bodyPr>
            <a:normAutofit/>
          </a:bodyPr>
          <a:lstStyle/>
          <a:p>
            <a:r>
              <a:rPr lang="en-US" sz="2400" dirty="0"/>
              <a:t>If some </a:t>
            </a:r>
            <a:r>
              <a:rPr lang="en-US" sz="2400" dirty="0">
                <a:solidFill>
                  <a:schemeClr val="accent2"/>
                </a:solidFill>
              </a:rPr>
              <a:t>old output rows </a:t>
            </a:r>
            <a:r>
              <a:rPr lang="en-US" sz="2400" dirty="0"/>
              <a:t>may become </a:t>
            </a:r>
            <a:r>
              <a:rPr lang="en-US" sz="2400" dirty="0">
                <a:solidFill>
                  <a:schemeClr val="accent2"/>
                </a:solidFill>
              </a:rPr>
              <a:t>invalid</a:t>
            </a:r>
            <a:r>
              <a:rPr lang="en-US" sz="2400" dirty="0"/>
              <a:t>, and need to </a:t>
            </a:r>
            <a:r>
              <a:rPr lang="en-US" sz="2400" dirty="0">
                <a:solidFill>
                  <a:schemeClr val="accent2"/>
                </a:solidFill>
              </a:rPr>
              <a:t>be removed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US" sz="2400" dirty="0"/>
              <a:t>the operator is </a:t>
            </a:r>
            <a:r>
              <a:rPr lang="en-US" sz="2400" dirty="0">
                <a:solidFill>
                  <a:schemeClr val="accent2"/>
                </a:solidFill>
              </a:rPr>
              <a:t>non-monotone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400" dirty="0"/>
              <a:t>Otherwise (</a:t>
            </a:r>
            <a:r>
              <a:rPr lang="en-US" sz="2400" dirty="0">
                <a:solidFill>
                  <a:schemeClr val="accent2"/>
                </a:solidFill>
              </a:rPr>
              <a:t>old output rows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/>
                </a:solidFill>
              </a:rPr>
              <a:t>always remain “correct”</a:t>
            </a:r>
            <a:r>
              <a:rPr lang="en-US" sz="2400" dirty="0"/>
              <a:t>)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the operator is </a:t>
            </a:r>
            <a:r>
              <a:rPr lang="en-US" sz="2400" dirty="0">
                <a:solidFill>
                  <a:schemeClr val="accent2"/>
                </a:solidFill>
              </a:rPr>
              <a:t>monotone</a:t>
            </a:r>
            <a:endParaRPr lang="en-US" sz="2400" dirty="0"/>
          </a:p>
          <a:p>
            <a:pPr lvl="1"/>
            <a:endParaRPr lang="en-US" sz="2000" dirty="0">
              <a:solidFill>
                <a:schemeClr val="accent2"/>
              </a:solidFill>
            </a:endParaRPr>
          </a:p>
          <a:p>
            <a:pPr lvl="1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52</a:t>
            </a:fld>
            <a:endParaRPr lang="en-US"/>
          </a:p>
        </p:txBody>
      </p: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3722225" y="1418521"/>
            <a:ext cx="1524000" cy="838200"/>
            <a:chOff x="1008" y="1776"/>
            <a:chExt cx="960" cy="528"/>
          </a:xfrm>
        </p:grpSpPr>
        <p:sp>
          <p:nvSpPr>
            <p:cNvPr id="6" name="Oval 64"/>
            <p:cNvSpPr>
              <a:spLocks noChangeArrowheads="1"/>
            </p:cNvSpPr>
            <p:nvPr/>
          </p:nvSpPr>
          <p:spPr bwMode="auto">
            <a:xfrm>
              <a:off x="1008" y="1776"/>
              <a:ext cx="960" cy="528"/>
            </a:xfrm>
            <a:prstGeom prst="ellipse">
              <a:avLst/>
            </a:prstGeom>
            <a:gradFill rotWithShape="0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path path="rect">
                <a:fillToRect r="100000" b="100000"/>
              </a:path>
            </a:gradFill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Text Box 65"/>
            <p:cNvSpPr txBox="1">
              <a:spLocks noChangeArrowheads="1"/>
            </p:cNvSpPr>
            <p:nvPr/>
          </p:nvSpPr>
          <p:spPr bwMode="auto">
            <a:xfrm>
              <a:off x="1200" y="1878"/>
              <a:ext cx="58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i="1" dirty="0" err="1">
                  <a:latin typeface="+mn-lt"/>
                </a:rPr>
                <a:t>RelOp</a:t>
              </a:r>
              <a:endParaRPr kumimoji="0" lang="en-US" i="1" dirty="0">
                <a:latin typeface="+mn-lt"/>
              </a:endParaRPr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2274425" y="1342321"/>
            <a:ext cx="1447800" cy="914400"/>
            <a:chOff x="288" y="1056"/>
            <a:chExt cx="912" cy="576"/>
          </a:xfrm>
        </p:grpSpPr>
        <p:grpSp>
          <p:nvGrpSpPr>
            <p:cNvPr id="9" name="Group 70"/>
            <p:cNvGrpSpPr>
              <a:grpSpLocks/>
            </p:cNvGrpSpPr>
            <p:nvPr/>
          </p:nvGrpSpPr>
          <p:grpSpPr bwMode="auto">
            <a:xfrm>
              <a:off x="288" y="1056"/>
              <a:ext cx="624" cy="576"/>
              <a:chOff x="1056" y="1920"/>
              <a:chExt cx="1296" cy="1152"/>
            </a:xfrm>
          </p:grpSpPr>
          <p:sp>
            <p:nvSpPr>
              <p:cNvPr id="11" name="Rectangle 71"/>
              <p:cNvSpPr>
                <a:spLocks noChangeArrowheads="1"/>
              </p:cNvSpPr>
              <p:nvPr/>
            </p:nvSpPr>
            <p:spPr bwMode="auto">
              <a:xfrm>
                <a:off x="1056" y="1920"/>
                <a:ext cx="1296" cy="1152"/>
              </a:xfrm>
              <a:prstGeom prst="rect">
                <a:avLst/>
              </a:prstGeom>
              <a:solidFill>
                <a:schemeClr val="tx2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72"/>
              <p:cNvSpPr>
                <a:spLocks noChangeArrowheads="1"/>
              </p:cNvSpPr>
              <p:nvPr/>
            </p:nvSpPr>
            <p:spPr bwMode="auto">
              <a:xfrm>
                <a:off x="1056" y="2112"/>
                <a:ext cx="1296" cy="960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73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Line 74"/>
              <p:cNvSpPr>
                <a:spLocks noChangeShapeType="1"/>
              </p:cNvSpPr>
              <p:nvPr/>
            </p:nvSpPr>
            <p:spPr bwMode="auto">
              <a:xfrm>
                <a:off x="1776" y="192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75"/>
              <p:cNvSpPr>
                <a:spLocks noChangeShapeType="1"/>
              </p:cNvSpPr>
              <p:nvPr/>
            </p:nvSpPr>
            <p:spPr bwMode="auto">
              <a:xfrm>
                <a:off x="2016" y="192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76"/>
              <p:cNvSpPr>
                <a:spLocks noChangeShapeType="1"/>
              </p:cNvSpPr>
              <p:nvPr/>
            </p:nvSpPr>
            <p:spPr bwMode="auto">
              <a:xfrm>
                <a:off x="1056" y="2304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77"/>
              <p:cNvSpPr>
                <a:spLocks noChangeShapeType="1"/>
              </p:cNvSpPr>
              <p:nvPr/>
            </p:nvSpPr>
            <p:spPr bwMode="auto">
              <a:xfrm>
                <a:off x="1056" y="2496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78"/>
              <p:cNvSpPr>
                <a:spLocks noChangeShapeType="1"/>
              </p:cNvSpPr>
              <p:nvPr/>
            </p:nvSpPr>
            <p:spPr bwMode="auto">
              <a:xfrm>
                <a:off x="1056" y="2688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79"/>
              <p:cNvSpPr>
                <a:spLocks noChangeShapeType="1"/>
              </p:cNvSpPr>
              <p:nvPr/>
            </p:nvSpPr>
            <p:spPr bwMode="auto">
              <a:xfrm>
                <a:off x="1056" y="2880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" name="Line 80"/>
            <p:cNvSpPr>
              <a:spLocks noChangeShapeType="1"/>
            </p:cNvSpPr>
            <p:nvPr/>
          </p:nvSpPr>
          <p:spPr bwMode="auto">
            <a:xfrm>
              <a:off x="960" y="1344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" name="Group 81"/>
          <p:cNvGrpSpPr>
            <a:grpSpLocks/>
          </p:cNvGrpSpPr>
          <p:nvPr/>
        </p:nvGrpSpPr>
        <p:grpSpPr bwMode="auto">
          <a:xfrm>
            <a:off x="5246225" y="1418521"/>
            <a:ext cx="1447800" cy="762000"/>
            <a:chOff x="2160" y="1104"/>
            <a:chExt cx="912" cy="480"/>
          </a:xfrm>
        </p:grpSpPr>
        <p:grpSp>
          <p:nvGrpSpPr>
            <p:cNvPr id="21" name="Group 82"/>
            <p:cNvGrpSpPr>
              <a:grpSpLocks/>
            </p:cNvGrpSpPr>
            <p:nvPr/>
          </p:nvGrpSpPr>
          <p:grpSpPr bwMode="auto">
            <a:xfrm>
              <a:off x="2448" y="1104"/>
              <a:ext cx="624" cy="480"/>
              <a:chOff x="2400" y="1152"/>
              <a:chExt cx="624" cy="480"/>
            </a:xfrm>
          </p:grpSpPr>
          <p:sp>
            <p:nvSpPr>
              <p:cNvPr id="23" name="Rectangle 83"/>
              <p:cNvSpPr>
                <a:spLocks noChangeArrowheads="1"/>
              </p:cNvSpPr>
              <p:nvPr/>
            </p:nvSpPr>
            <p:spPr bwMode="auto">
              <a:xfrm>
                <a:off x="2400" y="1152"/>
                <a:ext cx="624" cy="480"/>
              </a:xfrm>
              <a:prstGeom prst="rect">
                <a:avLst/>
              </a:prstGeom>
              <a:solidFill>
                <a:schemeClr val="tx2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Rectangle 84"/>
              <p:cNvSpPr>
                <a:spLocks noChangeArrowheads="1"/>
              </p:cNvSpPr>
              <p:nvPr/>
            </p:nvSpPr>
            <p:spPr bwMode="auto">
              <a:xfrm>
                <a:off x="2400" y="1248"/>
                <a:ext cx="624" cy="384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85"/>
              <p:cNvSpPr>
                <a:spLocks noChangeShapeType="1"/>
              </p:cNvSpPr>
              <p:nvPr/>
            </p:nvSpPr>
            <p:spPr bwMode="auto">
              <a:xfrm>
                <a:off x="2539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86"/>
              <p:cNvSpPr>
                <a:spLocks noChangeShapeType="1"/>
              </p:cNvSpPr>
              <p:nvPr/>
            </p:nvSpPr>
            <p:spPr bwMode="auto">
              <a:xfrm>
                <a:off x="2759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87"/>
              <p:cNvSpPr>
                <a:spLocks noChangeShapeType="1"/>
              </p:cNvSpPr>
              <p:nvPr/>
            </p:nvSpPr>
            <p:spPr bwMode="auto">
              <a:xfrm>
                <a:off x="2880" y="1152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Line 88"/>
              <p:cNvSpPr>
                <a:spLocks noChangeShapeType="1"/>
              </p:cNvSpPr>
              <p:nvPr/>
            </p:nvSpPr>
            <p:spPr bwMode="auto">
              <a:xfrm>
                <a:off x="2400" y="1344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Line 89"/>
              <p:cNvSpPr>
                <a:spLocks noChangeShapeType="1"/>
              </p:cNvSpPr>
              <p:nvPr/>
            </p:nvSpPr>
            <p:spPr bwMode="auto">
              <a:xfrm>
                <a:off x="2400" y="1440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90"/>
              <p:cNvSpPr>
                <a:spLocks noChangeShapeType="1"/>
              </p:cNvSpPr>
              <p:nvPr/>
            </p:nvSpPr>
            <p:spPr bwMode="auto">
              <a:xfrm>
                <a:off x="2400" y="153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" name="Line 91"/>
            <p:cNvSpPr>
              <a:spLocks noChangeShapeType="1"/>
            </p:cNvSpPr>
            <p:nvPr/>
          </p:nvSpPr>
          <p:spPr bwMode="auto">
            <a:xfrm>
              <a:off x="2160" y="1344"/>
              <a:ext cx="2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" name="Group 28"/>
          <p:cNvGrpSpPr>
            <a:grpSpLocks/>
          </p:cNvGrpSpPr>
          <p:nvPr/>
        </p:nvGrpSpPr>
        <p:grpSpPr bwMode="auto">
          <a:xfrm>
            <a:off x="60831" y="1976425"/>
            <a:ext cx="3205163" cy="830263"/>
            <a:chOff x="93" y="1358"/>
            <a:chExt cx="2019" cy="523"/>
          </a:xfrm>
        </p:grpSpPr>
        <p:grpSp>
          <p:nvGrpSpPr>
            <p:cNvPr id="32" name="Group 29"/>
            <p:cNvGrpSpPr>
              <a:grpSpLocks/>
            </p:cNvGrpSpPr>
            <p:nvPr/>
          </p:nvGrpSpPr>
          <p:grpSpPr bwMode="auto">
            <a:xfrm>
              <a:off x="1488" y="1536"/>
              <a:ext cx="624" cy="192"/>
              <a:chOff x="1488" y="1536"/>
              <a:chExt cx="624" cy="192"/>
            </a:xfrm>
          </p:grpSpPr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1488" y="1536"/>
                <a:ext cx="624" cy="192"/>
              </a:xfrm>
              <a:prstGeom prst="rect">
                <a:avLst/>
              </a:prstGeom>
              <a:solidFill>
                <a:srgbClr val="FF0000"/>
              </a:solidFill>
              <a:ln w="381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31"/>
              <p:cNvSpPr>
                <a:spLocks noChangeShapeType="1"/>
              </p:cNvSpPr>
              <p:nvPr/>
            </p:nvSpPr>
            <p:spPr bwMode="auto">
              <a:xfrm>
                <a:off x="1488" y="163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32"/>
              <p:cNvSpPr>
                <a:spLocks noChangeShapeType="1"/>
              </p:cNvSpPr>
              <p:nvPr/>
            </p:nvSpPr>
            <p:spPr bwMode="auto">
              <a:xfrm>
                <a:off x="1624" y="153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Line 33"/>
              <p:cNvSpPr>
                <a:spLocks noChangeShapeType="1"/>
              </p:cNvSpPr>
              <p:nvPr/>
            </p:nvSpPr>
            <p:spPr bwMode="auto">
              <a:xfrm>
                <a:off x="1840" y="153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Line 34"/>
              <p:cNvSpPr>
                <a:spLocks noChangeShapeType="1"/>
              </p:cNvSpPr>
              <p:nvPr/>
            </p:nvSpPr>
            <p:spPr bwMode="auto">
              <a:xfrm>
                <a:off x="1952" y="153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93" y="1358"/>
              <a:ext cx="1545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Add more rows   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dirty="0">
                  <a:solidFill>
                    <a:schemeClr val="accent2"/>
                  </a:solidFill>
                  <a:latin typeface="+mn-lt"/>
                </a:rPr>
                <a:t>to the input...   </a:t>
              </a:r>
            </a:p>
          </p:txBody>
        </p:sp>
      </p:grpSp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6770061" y="1544638"/>
            <a:ext cx="206659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dirty="0">
                <a:solidFill>
                  <a:schemeClr val="accent2"/>
                </a:solidFill>
                <a:latin typeface="+mn-lt"/>
              </a:rPr>
              <a:t>What happens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dirty="0">
                <a:solidFill>
                  <a:schemeClr val="accent2"/>
                </a:solidFill>
                <a:latin typeface="+mn-lt"/>
              </a:rPr>
              <a:t>to the output?</a:t>
            </a:r>
          </a:p>
        </p:txBody>
      </p:sp>
      <p:grpSp>
        <p:nvGrpSpPr>
          <p:cNvPr id="45" name="Group 70">
            <a:extLst>
              <a:ext uri="{FF2B5EF4-FFF2-40B4-BE49-F238E27FC236}">
                <a16:creationId xmlns:a16="http://schemas.microsoft.com/office/drawing/2014/main" id="{A4B23EC8-2CDB-4920-9855-9B81C95D6D9E}"/>
              </a:ext>
            </a:extLst>
          </p:cNvPr>
          <p:cNvGrpSpPr>
            <a:grpSpLocks/>
          </p:cNvGrpSpPr>
          <p:nvPr/>
        </p:nvGrpSpPr>
        <p:grpSpPr bwMode="auto">
          <a:xfrm>
            <a:off x="1834522" y="1112582"/>
            <a:ext cx="990600" cy="914400"/>
            <a:chOff x="1056" y="1920"/>
            <a:chExt cx="1296" cy="1152"/>
          </a:xfrm>
        </p:grpSpPr>
        <p:sp>
          <p:nvSpPr>
            <p:cNvPr id="47" name="Rectangle 71">
              <a:extLst>
                <a:ext uri="{FF2B5EF4-FFF2-40B4-BE49-F238E27FC236}">
                  <a16:creationId xmlns:a16="http://schemas.microsoft.com/office/drawing/2014/main" id="{334E20A6-E700-4431-8241-4FF71BB75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20"/>
              <a:ext cx="1296" cy="1152"/>
            </a:xfrm>
            <a:prstGeom prst="rect">
              <a:avLst/>
            </a:prstGeom>
            <a:solidFill>
              <a:schemeClr val="tx2"/>
            </a:solidFill>
            <a:ln w="381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72">
              <a:extLst>
                <a:ext uri="{FF2B5EF4-FFF2-40B4-BE49-F238E27FC236}">
                  <a16:creationId xmlns:a16="http://schemas.microsoft.com/office/drawing/2014/main" id="{D97734A9-CBA9-40FF-BAF2-6DE4DF99F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112"/>
              <a:ext cx="1296" cy="960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73">
              <a:extLst>
                <a:ext uri="{FF2B5EF4-FFF2-40B4-BE49-F238E27FC236}">
                  <a16:creationId xmlns:a16="http://schemas.microsoft.com/office/drawing/2014/main" id="{7B0F3E42-30EA-461C-923A-2338F8CF4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920"/>
              <a:ext cx="0" cy="115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74">
              <a:extLst>
                <a:ext uri="{FF2B5EF4-FFF2-40B4-BE49-F238E27FC236}">
                  <a16:creationId xmlns:a16="http://schemas.microsoft.com/office/drawing/2014/main" id="{B8C6E568-6BD6-46DB-8C88-0DAAA7C6F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20"/>
              <a:ext cx="0" cy="115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75">
              <a:extLst>
                <a:ext uri="{FF2B5EF4-FFF2-40B4-BE49-F238E27FC236}">
                  <a16:creationId xmlns:a16="http://schemas.microsoft.com/office/drawing/2014/main" id="{18B72C2C-FE9E-4FCA-8608-F61F620087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20"/>
              <a:ext cx="0" cy="115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76">
              <a:extLst>
                <a:ext uri="{FF2B5EF4-FFF2-40B4-BE49-F238E27FC236}">
                  <a16:creationId xmlns:a16="http://schemas.microsoft.com/office/drawing/2014/main" id="{C04EF499-9918-4A70-91FB-E8ED86D32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304"/>
              <a:ext cx="129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77">
              <a:extLst>
                <a:ext uri="{FF2B5EF4-FFF2-40B4-BE49-F238E27FC236}">
                  <a16:creationId xmlns:a16="http://schemas.microsoft.com/office/drawing/2014/main" id="{C5508B73-E71C-4413-8FD8-323AE7D76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496"/>
              <a:ext cx="129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78">
              <a:extLst>
                <a:ext uri="{FF2B5EF4-FFF2-40B4-BE49-F238E27FC236}">
                  <a16:creationId xmlns:a16="http://schemas.microsoft.com/office/drawing/2014/main" id="{6EE01F03-E8E5-49BC-950D-A6D58E15D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688"/>
              <a:ext cx="129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79">
              <a:extLst>
                <a:ext uri="{FF2B5EF4-FFF2-40B4-BE49-F238E27FC236}">
                  <a16:creationId xmlns:a16="http://schemas.microsoft.com/office/drawing/2014/main" id="{3AC36FD2-14E5-4663-AA1B-15B20E75A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880"/>
              <a:ext cx="1296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23736203-CBA0-44E2-B3CC-50D88F72B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574152"/>
              </p:ext>
            </p:extLst>
          </p:nvPr>
        </p:nvGraphicFramePr>
        <p:xfrm>
          <a:off x="811650" y="4971245"/>
          <a:ext cx="12166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0605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27D6FA9D-C10A-4EC0-AF62-5D6784D25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78342"/>
              </p:ext>
            </p:extLst>
          </p:nvPr>
        </p:nvGraphicFramePr>
        <p:xfrm>
          <a:off x="3047374" y="4962400"/>
          <a:ext cx="12166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0605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edf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FFCF122-7C85-4AAF-93ED-B288CA2AB666}"/>
                  </a:ext>
                </a:extLst>
              </p:cNvPr>
              <p:cNvSpPr txBox="1"/>
              <p:nvPr/>
            </p:nvSpPr>
            <p:spPr>
              <a:xfrm>
                <a:off x="2423351" y="5234934"/>
                <a:ext cx="29820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CA" dirty="0"/>
                  <a:t>                                          =</a:t>
                </a: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FFCF122-7C85-4AAF-93ED-B288CA2AB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351" y="5234934"/>
                <a:ext cx="2982098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634C3B4E-7106-48E0-A24D-FDDC4BD70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31758"/>
              </p:ext>
            </p:extLst>
          </p:nvPr>
        </p:nvGraphicFramePr>
        <p:xfrm>
          <a:off x="5156123" y="4962400"/>
          <a:ext cx="1216660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uid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 err="1"/>
                        <a:t>gid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218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1FBA523A-CEC0-4089-8EDB-9F58F3341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045583"/>
              </p:ext>
            </p:extLst>
          </p:nvPr>
        </p:nvGraphicFramePr>
        <p:xfrm>
          <a:off x="811114" y="5876800"/>
          <a:ext cx="121666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189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D471B685-253D-4832-ACA3-AD08B2AC2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504031"/>
              </p:ext>
            </p:extLst>
          </p:nvPr>
        </p:nvGraphicFramePr>
        <p:xfrm>
          <a:off x="5155464" y="5578363"/>
          <a:ext cx="121666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3623211592"/>
                    </a:ext>
                  </a:extLst>
                </a:gridCol>
                <a:gridCol w="608330">
                  <a:extLst>
                    <a:ext uri="{9D8B030D-6E8A-4147-A177-3AD203B41FA5}">
                      <a16:colId xmlns:a16="http://schemas.microsoft.com/office/drawing/2014/main" val="3824244882"/>
                    </a:ext>
                  </a:extLst>
                </a:gridCol>
              </a:tblGrid>
              <a:tr h="1906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estige12 BT" panose="02070509030506020304" pitchFamily="49" charset="0"/>
                        </a:rPr>
                        <a:t>189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4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38038"/>
                  </a:ext>
                </a:extLst>
              </a:tr>
            </a:tbl>
          </a:graphicData>
        </a:graphic>
      </p:graphicFrame>
      <p:sp>
        <p:nvSpPr>
          <p:cNvPr id="79" name="Callout: Line 78">
            <a:extLst>
              <a:ext uri="{FF2B5EF4-FFF2-40B4-BE49-F238E27FC236}">
                <a16:creationId xmlns:a16="http://schemas.microsoft.com/office/drawing/2014/main" id="{E51ABE48-5DBD-4BB9-B62B-74DD24A578EE}"/>
              </a:ext>
            </a:extLst>
          </p:cNvPr>
          <p:cNvSpPr/>
          <p:nvPr/>
        </p:nvSpPr>
        <p:spPr>
          <a:xfrm>
            <a:off x="6680903" y="4703982"/>
            <a:ext cx="1896269" cy="1431235"/>
          </a:xfrm>
          <a:prstGeom prst="borderCallout1">
            <a:avLst>
              <a:gd name="adj1" fmla="val 18750"/>
              <a:gd name="adj2" fmla="val -8333"/>
              <a:gd name="adj3" fmla="val 45713"/>
              <a:gd name="adj4" fmla="val -32952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This old row is always valid no matter what rows are added to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B78D852-BB7D-4077-9B1C-DAD116DC73B4}"/>
                  </a:ext>
                </a:extLst>
              </p:cNvPr>
              <p:cNvSpPr txBox="1"/>
              <p:nvPr/>
            </p:nvSpPr>
            <p:spPr>
              <a:xfrm>
                <a:off x="3323884" y="6173794"/>
                <a:ext cx="7014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B78D852-BB7D-4077-9B1C-DAD116DC7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884" y="6173794"/>
                <a:ext cx="70144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B71F941-5CFF-4E79-BB56-D6669DE82C5A}"/>
                  </a:ext>
                </a:extLst>
              </p:cNvPr>
              <p:cNvSpPr txBox="1"/>
              <p:nvPr/>
            </p:nvSpPr>
            <p:spPr>
              <a:xfrm>
                <a:off x="1069259" y="6158252"/>
                <a:ext cx="7014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B71F941-5CFF-4E79-BB56-D6669DE82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259" y="6158252"/>
                <a:ext cx="70144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686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relational operators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2336" y="1456854"/>
                <a:ext cx="3760889" cy="5264622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Selection: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Projection: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Cross product: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×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Join: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⋈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Natural join: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⋈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Union: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∪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Difference: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∩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336" y="1456854"/>
                <a:ext cx="3760889" cy="5264622"/>
              </a:xfrm>
              <a:blipFill rotWithShape="0">
                <a:blip r:embed="rId4"/>
                <a:stretch>
                  <a:fillRect l="-2917" t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3952754" y="1456854"/>
                <a:ext cx="5191245" cy="52646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3400"/>
                  </a:lnSpc>
                  <a:spcBef>
                    <a:spcPts val="672"/>
                  </a:spcBef>
                  <a:buFont typeface="Wingdings" pitchFamily="2" charset="2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Monotone</a:t>
                </a:r>
              </a:p>
              <a:p>
                <a:pPr>
                  <a:lnSpc>
                    <a:spcPts val="3400"/>
                  </a:lnSpc>
                  <a:spcBef>
                    <a:spcPts val="672"/>
                  </a:spcBef>
                  <a:buFont typeface="Wingdings" pitchFamily="2" charset="2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Monotone</a:t>
                </a:r>
              </a:p>
              <a:p>
                <a:pPr>
                  <a:lnSpc>
                    <a:spcPts val="3400"/>
                  </a:lnSpc>
                  <a:spcBef>
                    <a:spcPts val="672"/>
                  </a:spcBef>
                  <a:buFont typeface="Wingdings" pitchFamily="2" charset="2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Monotone</a:t>
                </a:r>
              </a:p>
              <a:p>
                <a:pPr>
                  <a:lnSpc>
                    <a:spcPts val="3400"/>
                  </a:lnSpc>
                  <a:spcBef>
                    <a:spcPts val="672"/>
                  </a:spcBef>
                  <a:buFont typeface="Wingdings" pitchFamily="2" charset="2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Monotone</a:t>
                </a:r>
              </a:p>
              <a:p>
                <a:pPr>
                  <a:lnSpc>
                    <a:spcPts val="3400"/>
                  </a:lnSpc>
                  <a:spcBef>
                    <a:spcPts val="672"/>
                  </a:spcBef>
                  <a:buFont typeface="Wingdings" pitchFamily="2" charset="2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Monotone</a:t>
                </a:r>
              </a:p>
              <a:p>
                <a:pPr>
                  <a:lnSpc>
                    <a:spcPts val="3400"/>
                  </a:lnSpc>
                  <a:spcBef>
                    <a:spcPts val="672"/>
                  </a:spcBef>
                  <a:buFont typeface="Wingdings" pitchFamily="2" charset="2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Monotone</a:t>
                </a:r>
              </a:p>
              <a:p>
                <a:pPr>
                  <a:lnSpc>
                    <a:spcPts val="3400"/>
                  </a:lnSpc>
                  <a:spcBef>
                    <a:spcPts val="672"/>
                  </a:spcBef>
                  <a:buFont typeface="Wingdings" pitchFamily="2" charset="2"/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Monotone w.r.t.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; non-monotone w.r.t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ts val="3400"/>
                  </a:lnSpc>
                  <a:spcBef>
                    <a:spcPts val="672"/>
                  </a:spcBef>
                  <a:buFont typeface="Wingdings" pitchFamily="2" charset="2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Monotone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754" y="1456854"/>
                <a:ext cx="5191245" cy="5264622"/>
              </a:xfrm>
              <a:prstGeom prst="rect">
                <a:avLst/>
              </a:prstGeom>
              <a:blipFill rotWithShape="0">
                <a:blip r:embed="rId5"/>
                <a:stretch>
                  <a:fillRect l="-2347" t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6529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is “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−</m:t>
                    </m:r>
                  </m:oMath>
                </a14:m>
                <a:r>
                  <a:rPr lang="en-US" dirty="0"/>
                  <a:t>” needed for “highest”?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4"/>
                <a:stretch>
                  <a:fillRect l="-2770" b="-4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Composition of monotone operators produces a </a:t>
            </a:r>
            <a:r>
              <a:rPr lang="en-US" dirty="0">
                <a:solidFill>
                  <a:schemeClr val="accent2"/>
                </a:solidFill>
              </a:rPr>
              <a:t>monotone query</a:t>
            </a:r>
          </a:p>
          <a:p>
            <a:pPr lvl="1"/>
            <a:r>
              <a:rPr lang="en-US" dirty="0"/>
              <a:t>Old output rows remain “correct” when more rows are added to the input</a:t>
            </a:r>
          </a:p>
          <a:p>
            <a:r>
              <a:rPr lang="en-US" dirty="0"/>
              <a:t>Is the “highest” query monotone? (slide 50)</a:t>
            </a:r>
          </a:p>
          <a:p>
            <a:pPr lvl="1"/>
            <a:r>
              <a:rPr lang="en-US" dirty="0"/>
              <a:t>No!</a:t>
            </a: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dirty="0"/>
              <a:t>Current highest </a:t>
            </a:r>
            <a:r>
              <a:rPr lang="en-US" i="1" dirty="0"/>
              <a:t>pop</a:t>
            </a:r>
            <a:r>
              <a:rPr lang="en-US" dirty="0"/>
              <a:t> is 0.9</a:t>
            </a:r>
          </a:p>
          <a:p>
            <a:pPr lvl="1"/>
            <a:r>
              <a:rPr lang="en-US" dirty="0"/>
              <a:t>Add another row with </a:t>
            </a:r>
            <a:r>
              <a:rPr lang="en-US" i="1" dirty="0"/>
              <a:t>pop</a:t>
            </a:r>
            <a:r>
              <a:rPr lang="en-US" dirty="0"/>
              <a:t> 0.91</a:t>
            </a:r>
          </a:p>
          <a:p>
            <a:pPr lvl="1"/>
            <a:r>
              <a:rPr lang="en-US" dirty="0"/>
              <a:t>Old answer is invalidated</a:t>
            </a:r>
          </a:p>
          <a:p>
            <a:pPr>
              <a:buFont typeface="Wingdings" pitchFamily="2" charset="2"/>
              <a:buChar char="F"/>
            </a:pPr>
            <a:r>
              <a:rPr lang="en-US" dirty="0"/>
              <a:t>So it must use difference!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960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do we need core operator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4"/>
                <a:stretch>
                  <a:fillRect l="-2770" b="-4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</a:t>
            </a:r>
          </a:p>
          <a:p>
            <a:pPr lvl="1"/>
            <a:r>
              <a:rPr lang="en-US" dirty="0"/>
              <a:t>The only </a:t>
            </a:r>
            <a:r>
              <a:rPr lang="en-US" dirty="0">
                <a:solidFill>
                  <a:schemeClr val="accent2"/>
                </a:solidFill>
              </a:rPr>
              <a:t>non-monotone</a:t>
            </a:r>
            <a:r>
              <a:rPr lang="en-US" dirty="0"/>
              <a:t> operator</a:t>
            </a:r>
          </a:p>
          <a:p>
            <a:r>
              <a:rPr lang="en-US" dirty="0"/>
              <a:t>Projection</a:t>
            </a:r>
          </a:p>
          <a:p>
            <a:pPr lvl="1"/>
            <a:r>
              <a:rPr lang="en-US" dirty="0"/>
              <a:t>The only operator that </a:t>
            </a:r>
            <a:r>
              <a:rPr lang="en-US" dirty="0">
                <a:solidFill>
                  <a:schemeClr val="accent2"/>
                </a:solidFill>
              </a:rPr>
              <a:t>removes columns</a:t>
            </a:r>
          </a:p>
          <a:p>
            <a:r>
              <a:rPr lang="en-US" dirty="0"/>
              <a:t>Cross product</a:t>
            </a:r>
          </a:p>
          <a:p>
            <a:pPr lvl="1"/>
            <a:r>
              <a:rPr lang="en-US" dirty="0"/>
              <a:t>The only operator that </a:t>
            </a:r>
            <a:r>
              <a:rPr lang="en-US" dirty="0">
                <a:solidFill>
                  <a:schemeClr val="accent2"/>
                </a:solidFill>
              </a:rPr>
              <a:t>adds columns</a:t>
            </a:r>
          </a:p>
          <a:p>
            <a:r>
              <a:rPr lang="en-US" dirty="0"/>
              <a:t>Union</a:t>
            </a:r>
          </a:p>
          <a:p>
            <a:pPr lvl="1"/>
            <a:r>
              <a:rPr lang="en-US" dirty="0"/>
              <a:t>?</a:t>
            </a:r>
          </a:p>
          <a:p>
            <a:r>
              <a:rPr lang="en-US" dirty="0"/>
              <a:t>Selection</a:t>
            </a:r>
          </a:p>
          <a:p>
            <a:pPr lvl="1"/>
            <a:r>
              <a:rPr lang="en-US" dirty="0"/>
              <a:t>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048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 to relational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Duplicate handling (“bag algebra”)</a:t>
            </a:r>
          </a:p>
          <a:p>
            <a:r>
              <a:rPr lang="en-US" dirty="0"/>
              <a:t>Grouping and aggregation</a:t>
            </a:r>
          </a:p>
          <a:p>
            <a:r>
              <a:rPr lang="en-US" dirty="0"/>
              <a:t>“Extension” (or “extended projection”) to allow new column values to be computed</a:t>
            </a:r>
          </a:p>
          <a:p>
            <a:endParaRPr lang="en-US" dirty="0"/>
          </a:p>
          <a:p>
            <a:pPr>
              <a:buFont typeface="Wingdings" pitchFamily="2" charset="2"/>
              <a:buChar char="F"/>
            </a:pPr>
            <a:r>
              <a:rPr lang="en-US" dirty="0"/>
              <a:t>All these will come up when we talk about SQL</a:t>
            </a:r>
          </a:p>
          <a:p>
            <a:pPr>
              <a:buFont typeface="Wingdings" pitchFamily="2" charset="2"/>
              <a:buChar char="F"/>
            </a:pPr>
            <a:r>
              <a:rPr lang="en-US" dirty="0"/>
              <a:t>But for now we will stick to standard relational algebra without these extensions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114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</a:t>
            </a:r>
            <a:r>
              <a:rPr lang="en-US" dirty="0" err="1"/>
              <a:t>r.a.</a:t>
            </a:r>
            <a:r>
              <a:rPr lang="en-US" dirty="0"/>
              <a:t> a good query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</a:t>
            </a:r>
          </a:p>
          <a:p>
            <a:pPr lvl="1"/>
            <a:r>
              <a:rPr lang="en-US" dirty="0"/>
              <a:t>A small set of core operators</a:t>
            </a:r>
          </a:p>
          <a:p>
            <a:pPr lvl="1"/>
            <a:r>
              <a:rPr lang="en-US" dirty="0"/>
              <a:t>Semantics are easy to grasp</a:t>
            </a:r>
          </a:p>
          <a:p>
            <a:r>
              <a:rPr lang="en-US" dirty="0"/>
              <a:t>Declarative?</a:t>
            </a:r>
          </a:p>
          <a:p>
            <a:pPr lvl="1"/>
            <a:r>
              <a:rPr lang="en-US" dirty="0"/>
              <a:t>Yes, compared with older languages like CODASYL</a:t>
            </a:r>
          </a:p>
          <a:p>
            <a:pPr lvl="1"/>
            <a:r>
              <a:rPr lang="en-US" dirty="0"/>
              <a:t>Though operators do look somewhat “procedural”</a:t>
            </a:r>
          </a:p>
          <a:p>
            <a:r>
              <a:rPr lang="en-US" dirty="0"/>
              <a:t>Complete?</a:t>
            </a:r>
          </a:p>
          <a:p>
            <a:pPr lvl="1"/>
            <a:r>
              <a:rPr lang="en-US" dirty="0"/>
              <a:t>With respect to what?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604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calculus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First-order logic</a:t>
                </a:r>
              </a:p>
              <a:p>
                <a:endParaRPr lang="en-US" dirty="0"/>
              </a:p>
              <a:p>
                <a:r>
                  <a:rPr lang="en-US" dirty="0"/>
                  <a:t>Example: Who are the most popular?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𝑢𝑖𝑑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𝑈𝑠𝑒𝑟</m:t>
                    </m:r>
                    <m:r>
                      <a:rPr lang="en-US" i="1">
                        <a:latin typeface="Cambria Math"/>
                      </a:rPr>
                      <m:t>∧</m:t>
                    </m:r>
                  </m:oMath>
                </a14:m>
                <a:br>
                  <a:rPr lang="en-US" i="1" dirty="0">
                    <a:latin typeface="Cambria Math"/>
                  </a:rPr>
                </a:br>
                <a:r>
                  <a:rPr lang="en-US" i="1" dirty="0">
                    <a:latin typeface="Cambria Math"/>
                  </a:rPr>
                  <a:t>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¬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∃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𝑈𝑠𝑒𝑟</m:t>
                        </m:r>
                        <m:r>
                          <a:rPr lang="en-US" i="1">
                            <a:latin typeface="Cambria Math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𝑝𝑜𝑝</m:t>
                        </m:r>
                        <m:r>
                          <a:rPr lang="en-US" i="1">
                            <a:latin typeface="Cambria Math"/>
                          </a:rPr>
                          <m:t>&lt;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𝑝𝑜𝑝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}</m:t>
                    </m:r>
                  </m:oMath>
                </a14:m>
                <a:r>
                  <a:rPr lang="en-US" dirty="0"/>
                  <a:t>, or</a:t>
                </a:r>
                <a:br>
                  <a:rPr lang="en-US" dirty="0"/>
                </a:br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𝑢𝑖𝑑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𝑈𝑠𝑒𝑟</m:t>
                    </m:r>
                    <m:r>
                      <a:rPr lang="en-US" i="1">
                        <a:latin typeface="Cambria Math"/>
                      </a:rPr>
                      <m:t>∧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∀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𝑈𝑠𝑒𝑟</m:t>
                        </m:r>
                        <m:r>
                          <a:rPr lang="en-US" i="1">
                            <a:latin typeface="Cambria Math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𝑝𝑜𝑝</m:t>
                        </m:r>
                        <m:r>
                          <a:rPr lang="en-US" i="1">
                            <a:latin typeface="Cambria Math"/>
                          </a:rPr>
                          <m:t>≥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𝑝𝑜𝑝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CE9A1-7CEE-4867-AB85-0AACDEF22218}"/>
              </a:ext>
            </a:extLst>
          </p:cNvPr>
          <p:cNvSpPr txBox="1"/>
          <p:nvPr/>
        </p:nvSpPr>
        <p:spPr>
          <a:xfrm>
            <a:off x="5000320" y="388898"/>
            <a:ext cx="3992652" cy="86177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/>
              <a:t>User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u="sng" dirty="0"/>
              <a:t> </a:t>
            </a:r>
            <a:r>
              <a:rPr lang="en-US" sz="1600" dirty="0"/>
              <a:t>int, </a:t>
            </a:r>
            <a:r>
              <a:rPr lang="en-US" sz="1600" i="1" dirty="0"/>
              <a:t>name</a:t>
            </a:r>
            <a:r>
              <a:rPr lang="en-US" sz="1600" dirty="0"/>
              <a:t> string, </a:t>
            </a:r>
            <a:r>
              <a:rPr lang="en-US" sz="1600" i="1" dirty="0"/>
              <a:t>age</a:t>
            </a:r>
            <a:r>
              <a:rPr lang="en-US" sz="1600" dirty="0"/>
              <a:t> int, </a:t>
            </a:r>
            <a:r>
              <a:rPr lang="en-US" sz="1600" i="1" dirty="0"/>
              <a:t>pop</a:t>
            </a:r>
            <a:r>
              <a:rPr lang="en-US" sz="1600" dirty="0"/>
              <a:t> float)</a:t>
            </a:r>
          </a:p>
          <a:p>
            <a:r>
              <a:rPr lang="en-US" sz="1600" i="1" dirty="0"/>
              <a:t>Group</a:t>
            </a:r>
            <a:r>
              <a:rPr lang="en-US" sz="1600" dirty="0"/>
              <a:t> (</a:t>
            </a:r>
            <a:r>
              <a:rPr lang="en-US" sz="1600" i="1" u="sng" dirty="0"/>
              <a:t>gid</a:t>
            </a:r>
            <a:r>
              <a:rPr lang="en-US" sz="1600" dirty="0"/>
              <a:t> string, </a:t>
            </a:r>
            <a:r>
              <a:rPr lang="en-US" sz="1600" i="1" dirty="0"/>
              <a:t>name</a:t>
            </a:r>
            <a:r>
              <a:rPr lang="en-US" sz="1600" dirty="0"/>
              <a:t> string)</a:t>
            </a:r>
          </a:p>
          <a:p>
            <a:r>
              <a:rPr lang="en-US" sz="1600" i="1" dirty="0"/>
              <a:t>Member</a:t>
            </a:r>
            <a:r>
              <a:rPr lang="en-US" sz="1600" dirty="0"/>
              <a:t> (</a:t>
            </a:r>
            <a:r>
              <a:rPr lang="en-US" sz="1600" i="1" u="sng" dirty="0" err="1"/>
              <a:t>uid</a:t>
            </a:r>
            <a:r>
              <a:rPr lang="en-US" sz="1600" dirty="0"/>
              <a:t> int, </a:t>
            </a:r>
            <a:r>
              <a:rPr lang="en-US" sz="1600" i="1" u="sng" dirty="0"/>
              <a:t>gid</a:t>
            </a:r>
            <a:r>
              <a:rPr lang="en-US" sz="1600" dirty="0"/>
              <a:t> string)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672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calculus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Relational algebra = “</a:t>
                </a:r>
                <a:r>
                  <a:rPr lang="en-US" dirty="0">
                    <a:solidFill>
                      <a:schemeClr val="accent2"/>
                    </a:solidFill>
                  </a:rPr>
                  <a:t>safe</a:t>
                </a:r>
                <a:r>
                  <a:rPr lang="en-US" dirty="0"/>
                  <a:t>” relational calculus</a:t>
                </a:r>
              </a:p>
              <a:p>
                <a:pPr lvl="1"/>
                <a:r>
                  <a:rPr lang="en-US" dirty="0"/>
                  <a:t>Every query expressible as a safe relational calculus query is also expressible as a relational algebra query</a:t>
                </a:r>
              </a:p>
              <a:p>
                <a:pPr lvl="1"/>
                <a:r>
                  <a:rPr lang="en-US" dirty="0"/>
                  <a:t>And vice versa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Example of an “</a:t>
                </a:r>
                <a:r>
                  <a:rPr lang="en-US" dirty="0">
                    <a:solidFill>
                      <a:schemeClr val="accent2"/>
                    </a:solidFill>
                  </a:rPr>
                  <a:t>unsafe</a:t>
                </a:r>
                <a:r>
                  <a:rPr lang="en-US" dirty="0"/>
                  <a:t>” relational calculus query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/>
                          </a:rPr>
                          <m:t>.</m:t>
                        </m:r>
                        <m:r>
                          <a:rPr lang="en-US" i="1">
                            <a:latin typeface="Cambria Math"/>
                          </a:rPr>
                          <m:t>𝑛𝑎𝑚𝑒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</m:e>
                      <m:e>
                        <m:r>
                          <a:rPr lang="en-US" i="1">
                            <a:latin typeface="Cambria Math"/>
                          </a:rPr>
                          <m:t> ¬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>
                                <a:latin typeface="Cambria Math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𝑈𝑠𝑒𝑟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 </a:t>
                </a:r>
                <a:r>
                  <a:rPr lang="en-US" dirty="0">
                    <a:sym typeface="Wingdings" panose="05000000000000000000" pitchFamily="2" charset="2"/>
                  </a:rPr>
                  <a:t> users not in the database</a:t>
                </a:r>
                <a:endParaRPr lang="en-US" dirty="0"/>
              </a:p>
              <a:p>
                <a:pPr lvl="1"/>
                <a:r>
                  <a:rPr lang="en-US" dirty="0">
                    <a:solidFill>
                      <a:schemeClr val="accent2"/>
                    </a:solidFill>
                  </a:rPr>
                  <a:t>Cannot evaluate it just by looking at the database</a:t>
                </a:r>
              </a:p>
              <a:p>
                <a:pPr lvl="1"/>
                <a:endParaRPr lang="en-US" dirty="0">
                  <a:solidFill>
                    <a:schemeClr val="accent2"/>
                  </a:solidFill>
                </a:endParaRPr>
              </a:p>
              <a:p>
                <a:r>
                  <a:rPr lang="en-US" dirty="0"/>
                  <a:t>A query is </a:t>
                </a:r>
                <a:r>
                  <a:rPr lang="en-US" i="1" dirty="0">
                    <a:solidFill>
                      <a:schemeClr val="accent2"/>
                    </a:solidFill>
                  </a:rPr>
                  <a:t>safe</a:t>
                </a:r>
                <a:r>
                  <a:rPr lang="en-US" dirty="0"/>
                  <a:t> if, for all database instances conforming to the schema, the query result can be computed using </a:t>
                </a:r>
                <a:r>
                  <a:rPr lang="en-US" dirty="0">
                    <a:solidFill>
                      <a:schemeClr val="accent2"/>
                    </a:solidFill>
                  </a:rPr>
                  <a:t>only constants appearing in the database instance</a:t>
                </a:r>
                <a:r>
                  <a:rPr lang="en-US" dirty="0"/>
                  <a:t> or in the query itself.</a:t>
                </a:r>
              </a:p>
              <a:p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42" t="-2662" r="-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856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Turing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does relational algebra compare with a Turing machine?</a:t>
            </a:r>
          </a:p>
          <a:p>
            <a:r>
              <a:rPr lang="en-US" dirty="0"/>
              <a:t>A conceptual device that can </a:t>
            </a:r>
            <a:br>
              <a:rPr lang="en-US" dirty="0"/>
            </a:br>
            <a:r>
              <a:rPr lang="en-US" dirty="0"/>
              <a:t>execute any computer algorithm</a:t>
            </a:r>
          </a:p>
          <a:p>
            <a:r>
              <a:rPr lang="en-US" dirty="0"/>
              <a:t>Approximates what </a:t>
            </a:r>
            <a:r>
              <a:rPr lang="en-US" dirty="0">
                <a:solidFill>
                  <a:schemeClr val="accent2"/>
                </a:solidFill>
              </a:rPr>
              <a:t>general-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purpose programming languages </a:t>
            </a:r>
            <a:br>
              <a:rPr lang="en-US" dirty="0"/>
            </a:br>
            <a:r>
              <a:rPr lang="en-US" dirty="0"/>
              <a:t>can do</a:t>
            </a:r>
          </a:p>
          <a:p>
            <a:pPr lvl="1"/>
            <a:r>
              <a:rPr lang="en-US" dirty="0"/>
              <a:t>E.g., Python, Java, C++, 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5" y="1959315"/>
            <a:ext cx="2209269" cy="27631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76371"/>
            <a:ext cx="77550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Prestige12 BT" panose="02070509030506020304" pitchFamily="49" charset="0"/>
              </a:rPr>
              <a:t>http://en.wikipedia.org/wiki/File:Alan_Turing_photo.jpg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2395" y="4722457"/>
            <a:ext cx="2390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Alan Turing (1912-1954)</a:t>
            </a:r>
          </a:p>
        </p:txBody>
      </p:sp>
    </p:spTree>
    <p:extLst>
      <p:ext uri="{BB962C8B-B14F-4D97-AF65-F5344CB8AC3E}">
        <p14:creationId xmlns:p14="http://schemas.microsoft.com/office/powerpoint/2010/main" val="1722788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of relational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algebra has </a:t>
            </a:r>
            <a:r>
              <a:rPr lang="en-US" dirty="0">
                <a:solidFill>
                  <a:schemeClr val="accent2"/>
                </a:solidFill>
              </a:rPr>
              <a:t>no recursion</a:t>
            </a:r>
          </a:p>
          <a:p>
            <a:pPr lvl="1"/>
            <a:r>
              <a:rPr lang="en-US" dirty="0"/>
              <a:t>Example: given relation </a:t>
            </a:r>
            <a:r>
              <a:rPr lang="en-US" i="1" dirty="0"/>
              <a:t>Friend</a:t>
            </a:r>
            <a:r>
              <a:rPr lang="en-US" dirty="0"/>
              <a:t>(</a:t>
            </a:r>
            <a:r>
              <a:rPr lang="en-US" i="1" dirty="0"/>
              <a:t>uid1</a:t>
            </a:r>
            <a:r>
              <a:rPr lang="en-US" dirty="0"/>
              <a:t>, </a:t>
            </a:r>
            <a:r>
              <a:rPr lang="en-US" i="1" dirty="0"/>
              <a:t>uid2</a:t>
            </a:r>
            <a:r>
              <a:rPr lang="en-US" dirty="0"/>
              <a:t>), who can Bart reach in his social network with any number of hops?</a:t>
            </a:r>
          </a:p>
          <a:p>
            <a:pPr lvl="2"/>
            <a:r>
              <a:rPr lang="en-US" dirty="0"/>
              <a:t>Writing this query in </a:t>
            </a:r>
            <a:r>
              <a:rPr lang="en-US" dirty="0" err="1"/>
              <a:t>r.a.</a:t>
            </a:r>
            <a:r>
              <a:rPr lang="en-US" dirty="0"/>
              <a:t> is impossible!</a:t>
            </a:r>
          </a:p>
          <a:p>
            <a:pPr lvl="1"/>
            <a:r>
              <a:rPr lang="en-US" dirty="0"/>
              <a:t>So </a:t>
            </a:r>
            <a:r>
              <a:rPr lang="en-US" dirty="0" err="1"/>
              <a:t>r.a.</a:t>
            </a:r>
            <a:r>
              <a:rPr lang="en-US" dirty="0"/>
              <a:t> is not as powerful as general-purpose languages</a:t>
            </a:r>
          </a:p>
          <a:p>
            <a:pPr lvl="1"/>
            <a:endParaRPr lang="en-US" dirty="0"/>
          </a:p>
          <a:p>
            <a:r>
              <a:rPr lang="en-US" dirty="0"/>
              <a:t>But why not?</a:t>
            </a:r>
          </a:p>
          <a:p>
            <a:pPr lvl="1"/>
            <a:r>
              <a:rPr lang="en-US" dirty="0"/>
              <a:t>Optimization becomes </a:t>
            </a:r>
            <a:r>
              <a:rPr lang="en-US" dirty="0">
                <a:solidFill>
                  <a:schemeClr val="accent2"/>
                </a:solidFill>
              </a:rPr>
              <a:t>undecidable</a:t>
            </a:r>
          </a:p>
          <a:p>
            <a:pPr lvl="1">
              <a:buFont typeface="Wingdings" panose="05000000000000000000" pitchFamily="2" charset="2"/>
              <a:buChar char="F"/>
            </a:pPr>
            <a:r>
              <a:rPr lang="en-US" dirty="0"/>
              <a:t>Simplicity is empowering</a:t>
            </a:r>
          </a:p>
          <a:p>
            <a:pPr lvl="1"/>
            <a:r>
              <a:rPr lang="en-US" dirty="0"/>
              <a:t>Besides, you can always implement it at the application level, and recursion is added to SQL nevertheless!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842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E9D5-B5F9-48C7-A991-6DC514B6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BE113-87AD-40C9-9D4C-8493E320B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Part 1: Relational data model </a:t>
            </a:r>
          </a:p>
          <a:p>
            <a:pPr lvl="1"/>
            <a:r>
              <a:rPr lang="en-CA" dirty="0"/>
              <a:t>Data model</a:t>
            </a:r>
          </a:p>
          <a:p>
            <a:pPr lvl="1"/>
            <a:r>
              <a:rPr lang="en-CA" dirty="0"/>
              <a:t>Database schema</a:t>
            </a:r>
          </a:p>
          <a:p>
            <a:pPr lvl="1"/>
            <a:r>
              <a:rPr lang="en-CA" dirty="0"/>
              <a:t>Integrity constraints (</a:t>
            </a:r>
            <a:r>
              <a:rPr lang="en-CA" dirty="0">
                <a:solidFill>
                  <a:schemeClr val="accent2"/>
                </a:solidFill>
              </a:rPr>
              <a:t>keys</a:t>
            </a:r>
            <a:r>
              <a:rPr lang="en-CA" dirty="0"/>
              <a:t>)</a:t>
            </a:r>
          </a:p>
          <a:p>
            <a:pPr lvl="1"/>
            <a:r>
              <a:rPr lang="en-CA" dirty="0"/>
              <a:t>Languages (relational algebra, relational calculus, SQL)</a:t>
            </a:r>
          </a:p>
          <a:p>
            <a:pPr lvl="1"/>
            <a:endParaRPr lang="en-CA" dirty="0"/>
          </a:p>
          <a:p>
            <a:r>
              <a:rPr lang="en-CA" dirty="0"/>
              <a:t>Part 2: Relational algebra – basic language</a:t>
            </a:r>
          </a:p>
          <a:p>
            <a:pPr lvl="1"/>
            <a:r>
              <a:rPr lang="en-CA" dirty="0"/>
              <a:t>Core operators &amp; derived operators </a:t>
            </a:r>
            <a:br>
              <a:rPr lang="en-CA" dirty="0"/>
            </a:br>
            <a:r>
              <a:rPr lang="en-CA" dirty="0"/>
              <a:t>(</a:t>
            </a:r>
            <a:r>
              <a:rPr lang="en-CA" dirty="0">
                <a:solidFill>
                  <a:schemeClr val="accent2"/>
                </a:solidFill>
              </a:rPr>
              <a:t>how to write a query</a:t>
            </a:r>
            <a:r>
              <a:rPr lang="en-CA" dirty="0"/>
              <a:t>)</a:t>
            </a:r>
            <a:r>
              <a:rPr lang="en-CA" dirty="0">
                <a:solidFill>
                  <a:schemeClr val="accent2"/>
                </a:solidFill>
              </a:rPr>
              <a:t> </a:t>
            </a:r>
          </a:p>
          <a:p>
            <a:pPr lvl="1"/>
            <a:r>
              <a:rPr lang="en-CA" dirty="0"/>
              <a:t>V.s. relational calculus </a:t>
            </a:r>
          </a:p>
          <a:p>
            <a:pPr lvl="1"/>
            <a:r>
              <a:rPr lang="en-CA" dirty="0"/>
              <a:t>V.s. general programming language </a:t>
            </a:r>
          </a:p>
          <a:p>
            <a:pPr lvl="1"/>
            <a:endParaRPr lang="en-CA" dirty="0"/>
          </a:p>
          <a:p>
            <a:r>
              <a:rPr lang="en-CA" dirty="0"/>
              <a:t>What’s next?</a:t>
            </a:r>
          </a:p>
          <a:p>
            <a:pPr lvl="1"/>
            <a:r>
              <a:rPr lang="en-CA" dirty="0"/>
              <a:t>SQL – query language used in practice (4 lectures)</a:t>
            </a:r>
          </a:p>
          <a:p>
            <a:endParaRPr lang="en-CA" dirty="0"/>
          </a:p>
          <a:p>
            <a:pPr lvl="1"/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C38C3-E712-49C1-BB19-3AB1C0DC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261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|3.1|6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3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8.9|29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8.2|1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4|9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4|21.1|23.1|12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9.7|6|24.6|10.2|24.8|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|6.5|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9|12.8|13.8|10|4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7.3|16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6|5.5|4.9|6.8|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9|1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6|5.1|2.4|1.9|47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1.4|1|2.1|2.4|1.3|13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6|7.6|6.5|21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4|5|0.7|17.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10.1|4.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5|5.7|10.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0.6|7.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7.4|9.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2|21.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19.2|8|11.6|15.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6.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11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5|16.9|5.6|5.8|7.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20.5|9.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|9.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4|38.1|8.2|11.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4|10.7|4|9.3|2.9|8.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14.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7|6.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3|4.7|4.1|2.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13.4|7.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11.1|14.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3|10.5|11.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22.2|20.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29.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|8|11.4|23.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4312</Words>
  <Application>Microsoft Office PowerPoint</Application>
  <PresentationFormat>On-screen Show (4:3)</PresentationFormat>
  <Paragraphs>1621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Prestige12 BT</vt:lpstr>
      <vt:lpstr>Arial</vt:lpstr>
      <vt:lpstr>Calibri</vt:lpstr>
      <vt:lpstr>Cambria Math</vt:lpstr>
      <vt:lpstr>Candara</vt:lpstr>
      <vt:lpstr>Wingdings</vt:lpstr>
      <vt:lpstr>Office Theme</vt:lpstr>
      <vt:lpstr>Intro to the Relational Model</vt:lpstr>
      <vt:lpstr>Edgar F. Codd (1923-2003)</vt:lpstr>
      <vt:lpstr>Outline</vt:lpstr>
      <vt:lpstr>Example for Relational data model</vt:lpstr>
      <vt:lpstr>Example for Relational data model</vt:lpstr>
      <vt:lpstr>Example for Relational data model</vt:lpstr>
      <vt:lpstr>Example for Relational data model</vt:lpstr>
      <vt:lpstr>Example for Relational data model</vt:lpstr>
      <vt:lpstr>Relational data model</vt:lpstr>
      <vt:lpstr>Schema vs. instance</vt:lpstr>
      <vt:lpstr>Integrity constraints</vt:lpstr>
      <vt:lpstr>Integrity constraints</vt:lpstr>
      <vt:lpstr>Types of integrity constraints</vt:lpstr>
      <vt:lpstr>Key (Candidate Key)</vt:lpstr>
      <vt:lpstr>Schema vs. instance</vt:lpstr>
      <vt:lpstr>More examples of keys</vt:lpstr>
      <vt:lpstr>Use of keys</vt:lpstr>
      <vt:lpstr>“Pointers” to other rows</vt:lpstr>
      <vt:lpstr>“Pointers” to other rows</vt:lpstr>
      <vt:lpstr>Outline</vt:lpstr>
      <vt:lpstr>Relational algebra</vt:lpstr>
      <vt:lpstr>Core operator 1: Selection</vt:lpstr>
      <vt:lpstr>Core operator 1: Selection</vt:lpstr>
      <vt:lpstr>More on selection</vt:lpstr>
      <vt:lpstr>Core operator 2: Projection</vt:lpstr>
      <vt:lpstr>Core operator 2: Projection</vt:lpstr>
      <vt:lpstr>More on projection</vt:lpstr>
      <vt:lpstr>Core operator 3: Cross product</vt:lpstr>
      <vt:lpstr>Core operator 3: Cross product</vt:lpstr>
      <vt:lpstr>A note a column ordering</vt:lpstr>
      <vt:lpstr>Derived operator 1: Join</vt:lpstr>
      <vt:lpstr>Derived operator 1: Join</vt:lpstr>
      <vt:lpstr>Derived operator 2: Natural join</vt:lpstr>
      <vt:lpstr>Derived operator 2: Natural join</vt:lpstr>
      <vt:lpstr>Core operator 4: Union</vt:lpstr>
      <vt:lpstr>Core operator 5: Difference</vt:lpstr>
      <vt:lpstr>Derived operator 3: Intersection</vt:lpstr>
      <vt:lpstr>Core operator 6: Renaming</vt:lpstr>
      <vt:lpstr>Core operator 6: Renaming</vt:lpstr>
      <vt:lpstr>Core operator 6: Renaming</vt:lpstr>
      <vt:lpstr>Renaming example</vt:lpstr>
      <vt:lpstr>Expression tree notation</vt:lpstr>
      <vt:lpstr>Take-home Exercises</vt:lpstr>
      <vt:lpstr>Summary of operators</vt:lpstr>
      <vt:lpstr>More example</vt:lpstr>
      <vt:lpstr>More example</vt:lpstr>
      <vt:lpstr>More example</vt:lpstr>
      <vt:lpstr>More example</vt:lpstr>
      <vt:lpstr>A trickier example</vt:lpstr>
      <vt:lpstr>A trickier example</vt:lpstr>
      <vt:lpstr>Non-monotone operators</vt:lpstr>
      <vt:lpstr>Non-monotone operators</vt:lpstr>
      <vt:lpstr>Classification of relational operators</vt:lpstr>
      <vt:lpstr>Why is “-” needed for “highest”?</vt:lpstr>
      <vt:lpstr>Why do we need core operator X?</vt:lpstr>
      <vt:lpstr>Extensions to relational algebra</vt:lpstr>
      <vt:lpstr>Why is r.a. a good query language?</vt:lpstr>
      <vt:lpstr>Relational calculus</vt:lpstr>
      <vt:lpstr>Relational calculus</vt:lpstr>
      <vt:lpstr>Turing machine</vt:lpstr>
      <vt:lpstr>Limits of relational algebra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2021-07-27T02:19:00Z</dcterms:created>
  <dcterms:modified xsi:type="dcterms:W3CDTF">2021-07-27T02:19:14Z</dcterms:modified>
</cp:coreProperties>
</file>