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320" r:id="rId2"/>
    <p:sldId id="327" r:id="rId3"/>
    <p:sldId id="390" r:id="rId4"/>
    <p:sldId id="329" r:id="rId5"/>
    <p:sldId id="334" r:id="rId6"/>
    <p:sldId id="331" r:id="rId7"/>
    <p:sldId id="330" r:id="rId8"/>
    <p:sldId id="333" r:id="rId9"/>
    <p:sldId id="284" r:id="rId10"/>
    <p:sldId id="391" r:id="rId11"/>
    <p:sldId id="336" r:id="rId12"/>
    <p:sldId id="337" r:id="rId13"/>
    <p:sldId id="344" r:id="rId14"/>
    <p:sldId id="397" r:id="rId15"/>
    <p:sldId id="343" r:id="rId16"/>
    <p:sldId id="338" r:id="rId17"/>
    <p:sldId id="339" r:id="rId18"/>
    <p:sldId id="340" r:id="rId19"/>
    <p:sldId id="341" r:id="rId20"/>
    <p:sldId id="392" r:id="rId21"/>
    <p:sldId id="342" r:id="rId22"/>
    <p:sldId id="345" r:id="rId23"/>
    <p:sldId id="371" r:id="rId24"/>
    <p:sldId id="346" r:id="rId25"/>
    <p:sldId id="348" r:id="rId26"/>
    <p:sldId id="349" r:id="rId27"/>
    <p:sldId id="350" r:id="rId28"/>
    <p:sldId id="366" r:id="rId29"/>
    <p:sldId id="373" r:id="rId30"/>
    <p:sldId id="393" r:id="rId31"/>
    <p:sldId id="351" r:id="rId32"/>
    <p:sldId id="352" r:id="rId33"/>
    <p:sldId id="372" r:id="rId34"/>
    <p:sldId id="353" r:id="rId35"/>
    <p:sldId id="374" r:id="rId36"/>
    <p:sldId id="355" r:id="rId37"/>
    <p:sldId id="354" r:id="rId38"/>
    <p:sldId id="375" r:id="rId39"/>
    <p:sldId id="356" r:id="rId40"/>
    <p:sldId id="394" r:id="rId41"/>
    <p:sldId id="376" r:id="rId42"/>
    <p:sldId id="378" r:id="rId43"/>
    <p:sldId id="357" r:id="rId44"/>
    <p:sldId id="380" r:id="rId45"/>
    <p:sldId id="381" r:id="rId46"/>
    <p:sldId id="382" r:id="rId47"/>
    <p:sldId id="384" r:id="rId48"/>
    <p:sldId id="363" r:id="rId49"/>
    <p:sldId id="364" r:id="rId50"/>
    <p:sldId id="395" r:id="rId51"/>
    <p:sldId id="358" r:id="rId52"/>
    <p:sldId id="383" r:id="rId53"/>
    <p:sldId id="398" r:id="rId54"/>
    <p:sldId id="399" r:id="rId55"/>
    <p:sldId id="400" r:id="rId56"/>
    <p:sldId id="385" r:id="rId57"/>
    <p:sldId id="361" r:id="rId58"/>
    <p:sldId id="386" r:id="rId59"/>
    <p:sldId id="360" r:id="rId60"/>
    <p:sldId id="362" r:id="rId61"/>
    <p:sldId id="387" r:id="rId62"/>
    <p:sldId id="335" r:id="rId63"/>
    <p:sldId id="388" r:id="rId64"/>
    <p:sldId id="365" r:id="rId65"/>
    <p:sldId id="396" r:id="rId66"/>
    <p:sldId id="367" r:id="rId67"/>
    <p:sldId id="369" r:id="rId68"/>
    <p:sldId id="370" r:id="rId69"/>
    <p:sldId id="389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1"/>
    <p:restoredTop sz="87687" autoAdjust="0"/>
  </p:normalViewPr>
  <p:slideViewPr>
    <p:cSldViewPr snapToGrid="0" snapToObjects="1">
      <p:cViewPr varScale="1">
        <p:scale>
          <a:sx n="111" d="100"/>
          <a:sy n="111" d="100"/>
        </p:scale>
        <p:origin x="164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449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5388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025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468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5886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452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18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2173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776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845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455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4542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484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251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9866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1084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3900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6903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5893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8581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08070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05089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73826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93765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60974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76729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26407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548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82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6231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02697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62321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59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82746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02180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2884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02238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81226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94756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04830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7783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639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10858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819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66761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87818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16474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76016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47124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5311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15265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42891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3026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77276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1954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57647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42111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9122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05425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209471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232497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84184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944923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319583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71175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03590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4354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060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10/11/21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-book.com/db6/appendices-dir/b.pdf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vldb.org/pvldb/vol14/p2491-gupta.pdf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003665.3003667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4565"/>
            <a:ext cx="9144001" cy="254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Lectures 7-8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Database Design Theory: 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Theory of Normal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 30</a:t>
            </a:r>
            <a:r>
              <a:rPr lang="en-US" sz="3000" kern="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000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-Oct 5 2021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Lectures on Relational Algebra &amp; SQL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Main SQL clauses for querying and data manipulation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Founded on relational algebra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Constraints: Primary Keys, Foreign Keys, Not NULL, General Assertions and CHECKs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Triggers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Primary ways to get different abstractions on data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materialized also a way to achieve performance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Indexes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Fast access to some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7FD6F9-1742-AA4B-A6AC-FD7107C6D7FB}"/>
              </a:ext>
            </a:extLst>
          </p:cNvPr>
          <p:cNvSpPr/>
          <p:nvPr/>
        </p:nvSpPr>
        <p:spPr>
          <a:xfrm>
            <a:off x="127322" y="2002420"/>
            <a:ext cx="8912506" cy="1524496"/>
          </a:xfrm>
          <a:prstGeom prst="roundRect">
            <a:avLst/>
          </a:prstGeom>
          <a:noFill/>
          <a:ln w="349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26BA6-F0F2-D745-855E-3EF254153F17}"/>
              </a:ext>
            </a:extLst>
          </p:cNvPr>
          <p:cNvSpPr txBox="1"/>
          <p:nvPr/>
        </p:nvSpPr>
        <p:spPr>
          <a:xfrm>
            <a:off x="4525701" y="2963009"/>
            <a:ext cx="4490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Achieve Integrity of Database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18D936-884E-D14D-A663-43999EF7FBE7}"/>
              </a:ext>
            </a:extLst>
          </p:cNvPr>
          <p:cNvSpPr/>
          <p:nvPr/>
        </p:nvSpPr>
        <p:spPr>
          <a:xfrm>
            <a:off x="148042" y="3636379"/>
            <a:ext cx="8671867" cy="1620456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0406E-CC4D-F74B-B71B-489480A0DA3B}"/>
              </a:ext>
            </a:extLst>
          </p:cNvPr>
          <p:cNvSpPr txBox="1"/>
          <p:nvPr/>
        </p:nvSpPr>
        <p:spPr>
          <a:xfrm>
            <a:off x="4569571" y="3636379"/>
            <a:ext cx="4490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Ease of Programming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EF125-BF7F-804F-B6CE-202C8C464A2C}"/>
              </a:ext>
            </a:extLst>
          </p:cNvPr>
          <p:cNvSpPr txBox="1"/>
          <p:nvPr/>
        </p:nvSpPr>
        <p:spPr>
          <a:xfrm>
            <a:off x="5275626" y="5853240"/>
            <a:ext cx="341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**Performance**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41EF0CC-F4BF-9D45-AE18-A1537016BF5A}"/>
              </a:ext>
            </a:extLst>
          </p:cNvPr>
          <p:cNvSpPr/>
          <p:nvPr/>
        </p:nvSpPr>
        <p:spPr>
          <a:xfrm>
            <a:off x="113317" y="3566929"/>
            <a:ext cx="8882641" cy="2785899"/>
          </a:xfrm>
          <a:prstGeom prst="round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8CB30-D033-F74B-AC20-62DCE894EF30}"/>
              </a:ext>
            </a:extLst>
          </p:cNvPr>
          <p:cNvSpPr txBox="1"/>
          <p:nvPr/>
        </p:nvSpPr>
        <p:spPr>
          <a:xfrm>
            <a:off x="1569903" y="5380000"/>
            <a:ext cx="69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2F8718-471F-A248-80F1-1A5E5AA4F176}"/>
              </a:ext>
            </a:extLst>
          </p:cNvPr>
          <p:cNvSpPr txBox="1"/>
          <p:nvPr/>
        </p:nvSpPr>
        <p:spPr>
          <a:xfrm>
            <a:off x="1323799" y="3706996"/>
            <a:ext cx="695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127402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 animBg="1"/>
      <p:bldP spid="9" grpId="0"/>
      <p:bldP spid="10" grpId="0"/>
      <p:bldP spid="11" grpId="0" animBg="1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Lectures on Relational Algebra &amp; SQL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692902"/>
            <a:ext cx="9144000" cy="363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Recursion: Can be considered a weak point for SQL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 an elegant way to express recursive computations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E.g.: Try to express finding shortest paths in a graph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GraphDB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query languages: better but minor additional support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(I think) better declarative logic-based language for recursive programming</a:t>
            </a:r>
          </a:p>
          <a:p>
            <a:pPr marL="1371600" lvl="2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DBMSs implement it. Good for coffee/OH chat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D6598-D5A5-414C-AE3A-BBC7AAA7C174}"/>
              </a:ext>
            </a:extLst>
          </p:cNvPr>
          <p:cNvSpPr txBox="1"/>
          <p:nvPr/>
        </p:nvSpPr>
        <p:spPr>
          <a:xfrm>
            <a:off x="16078" y="4327828"/>
            <a:ext cx="9069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Example </a:t>
            </a:r>
            <a:r>
              <a:rPr lang="en-US" dirty="0" err="1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Datalog</a:t>
            </a:r>
            <a:r>
              <a:rPr lang="en-US" dirty="0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 Program</a:t>
            </a:r>
          </a:p>
          <a:p>
            <a:r>
              <a:rPr lang="en-US" dirty="0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Parent(A, B) is an external relation w/ tuples (e.g., (Alice, Bob))</a:t>
            </a:r>
          </a:p>
          <a:p>
            <a:r>
              <a:rPr lang="en-US" dirty="0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Ancestor(X, Y) :- parent(X, Y)</a:t>
            </a:r>
          </a:p>
          <a:p>
            <a:r>
              <a:rPr lang="en-US" dirty="0">
                <a:latin typeface="Consolas" panose="020B0609020204030204" pitchFamily="49" charset="0"/>
                <a:ea typeface="Cambria Math"/>
                <a:cs typeface="Consolas" panose="020B0609020204030204" pitchFamily="49" charset="0"/>
              </a:rPr>
              <a:t>Ancestor(X, Y) :- parent(X, Z), ancestor(Z, Y)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1C8B65-9075-DE47-9671-95D59247EF4B}"/>
              </a:ext>
            </a:extLst>
          </p:cNvPr>
          <p:cNvSpPr/>
          <p:nvPr/>
        </p:nvSpPr>
        <p:spPr>
          <a:xfrm>
            <a:off x="16078" y="5628402"/>
            <a:ext cx="9069785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There are alg. (e.g., “semi-naïve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algorithm”) that can find “fixed point” states of any set of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Datalog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rules</a:t>
            </a:r>
          </a:p>
        </p:txBody>
      </p:sp>
    </p:spTree>
    <p:extLst>
      <p:ext uri="{BB962C8B-B14F-4D97-AF65-F5344CB8AC3E}">
        <p14:creationId xmlns:p14="http://schemas.microsoft.com/office/powerpoint/2010/main" val="283264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Lectures on Relational Algebra &amp; SQL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692902"/>
            <a:ext cx="9144000" cy="3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SQL Programming Interfaces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SLQ programming is almost always through a programming language (PL) or framework.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Frameworks (e.g., Ruby on Rails) give basic functionality with no explicit SQL coding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somewhat complex apps, need direct SQL through a PL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1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Lectures on Relational Algebra &amp; SQL (4)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19BFD4-BCD2-434A-B854-1A4DC263A812}"/>
              </a:ext>
            </a:extLst>
          </p:cNvPr>
          <p:cNvSpPr txBox="1"/>
          <p:nvPr/>
        </p:nvSpPr>
        <p:spPr>
          <a:xfrm>
            <a:off x="0" y="692902"/>
            <a:ext cx="914400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Primary Takeaway: </a:t>
            </a: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SQL is very high-level and a very different style of programming data processing tasks than standard procedural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PLs.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Little needs to be known algorithmically to perform tasks.</a:t>
            </a:r>
          </a:p>
        </p:txBody>
      </p:sp>
    </p:spTree>
    <p:extLst>
      <p:ext uri="{BB962C8B-B14F-4D97-AF65-F5344CB8AC3E}">
        <p14:creationId xmlns:p14="http://schemas.microsoft.com/office/powerpoint/2010/main" val="3089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Next 2 Lectures: Relational Database Design Theory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D8D5E6-29A3-7B48-A3A5-E7AFECF6065B}"/>
              </a:ext>
            </a:extLst>
          </p:cNvPr>
          <p:cNvSpPr txBox="1"/>
          <p:nvPr/>
        </p:nvSpPr>
        <p:spPr>
          <a:xfrm>
            <a:off x="0" y="773927"/>
            <a:ext cx="9144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Theory of Normal Forms (TNF): Given a set of constraints about the real-world facts that an app will store, how can we formally separate “good” and ”bad” relational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schemas?</a:t>
            </a:r>
          </a:p>
        </p:txBody>
      </p:sp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354E960F-5D75-1F4D-951B-218FEAC48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64454"/>
              </p:ext>
            </p:extLst>
          </p:nvPr>
        </p:nvGraphicFramePr>
        <p:xfrm>
          <a:off x="314195" y="2475752"/>
          <a:ext cx="4562603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InstDep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iID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bldng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A9FBD811-21D0-D348-ABD1-C20605CA1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505191"/>
              </p:ext>
            </p:extLst>
          </p:nvPr>
        </p:nvGraphicFramePr>
        <p:xfrm>
          <a:off x="5502875" y="2410400"/>
          <a:ext cx="3067750" cy="178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35635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iID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9755498"/>
                  </a:ext>
                </a:extLst>
              </a:tr>
            </a:tbl>
          </a:graphicData>
        </a:graphic>
      </p:graphicFrame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4D902727-43CD-C745-990C-17F37EFFB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482930"/>
              </p:ext>
            </p:extLst>
          </p:nvPr>
        </p:nvGraphicFramePr>
        <p:xfrm>
          <a:off x="5502875" y="4312615"/>
          <a:ext cx="2726821" cy="1425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b="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bldng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789631-B58C-A143-87EC-51B5BA741031}"/>
              </a:ext>
            </a:extLst>
          </p:cNvPr>
          <p:cNvSpPr/>
          <p:nvPr/>
        </p:nvSpPr>
        <p:spPr>
          <a:xfrm>
            <a:off x="2286887" y="3149083"/>
            <a:ext cx="2578336" cy="34647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2E3244-47AE-374C-82A3-1542A3D2BC9A}"/>
              </a:ext>
            </a:extLst>
          </p:cNvPr>
          <p:cNvSpPr/>
          <p:nvPr/>
        </p:nvSpPr>
        <p:spPr>
          <a:xfrm>
            <a:off x="2286887" y="3810577"/>
            <a:ext cx="2578336" cy="34647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AB5142-459C-634E-831F-8658F35B97EF}"/>
              </a:ext>
            </a:extLst>
          </p:cNvPr>
          <p:cNvSpPr/>
          <p:nvPr/>
        </p:nvSpPr>
        <p:spPr>
          <a:xfrm>
            <a:off x="2286887" y="4143407"/>
            <a:ext cx="2578336" cy="34647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2FE1F-63F6-4349-A02B-C5B2D7ABFDE6}"/>
              </a:ext>
            </a:extLst>
          </p:cNvPr>
          <p:cNvSpPr txBox="1"/>
          <p:nvPr/>
        </p:nvSpPr>
        <p:spPr>
          <a:xfrm>
            <a:off x="-208218" y="5078449"/>
            <a:ext cx="65974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If given a depName: (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, budget) </a:t>
            </a: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is unique, i.e., determined, </a:t>
            </a: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Design 1, intuitively, is a bad design with redundancy.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C5783-3235-3A4A-BBB7-02091307074F}"/>
              </a:ext>
            </a:extLst>
          </p:cNvPr>
          <p:cNvSpPr txBox="1"/>
          <p:nvPr/>
        </p:nvSpPr>
        <p:spPr>
          <a:xfrm>
            <a:off x="649861" y="1987046"/>
            <a:ext cx="3586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7CCBE5-D2EF-5045-BC3D-E4CA10CA2D38}"/>
              </a:ext>
            </a:extLst>
          </p:cNvPr>
          <p:cNvSpPr txBox="1"/>
          <p:nvPr/>
        </p:nvSpPr>
        <p:spPr>
          <a:xfrm>
            <a:off x="5485768" y="1969189"/>
            <a:ext cx="3015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Design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9226A-2323-2D44-A103-BC7654A20D06}"/>
              </a:ext>
            </a:extLst>
          </p:cNvPr>
          <p:cNvSpPr/>
          <p:nvPr/>
        </p:nvSpPr>
        <p:spPr>
          <a:xfrm>
            <a:off x="39229" y="6186850"/>
            <a:ext cx="9050132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Goal of TNF: make the above intuition formal.  </a:t>
            </a:r>
          </a:p>
        </p:txBody>
      </p:sp>
    </p:spTree>
    <p:extLst>
      <p:ext uri="{BB962C8B-B14F-4D97-AF65-F5344CB8AC3E}">
        <p14:creationId xmlns:p14="http://schemas.microsoft.com/office/powerpoint/2010/main" val="178508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0" grpId="0" animBg="1"/>
      <p:bldP spid="11" grpId="0" animBg="1"/>
      <p:bldP spid="12" grpId="0" animBg="1"/>
      <p:bldP spid="4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Following 2 Lectures: Entity/Relationship (ER) Model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880430" y="64285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FCACA-198E-164B-B432-FC9CD6D9C38E}"/>
              </a:ext>
            </a:extLst>
          </p:cNvPr>
          <p:cNvSpPr txBox="1"/>
          <p:nvPr/>
        </p:nvSpPr>
        <p:spPr>
          <a:xfrm>
            <a:off x="104172" y="740778"/>
            <a:ext cx="8843058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Often users do not directly design relational tables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 Model: An even higher-level data model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Close to object-oriented programming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turn is close to modeling data as a graph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complex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are modeled in practice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Analogous to programming frameworks</a:t>
            </a:r>
          </a:p>
        </p:txBody>
      </p:sp>
    </p:spTree>
    <p:extLst>
      <p:ext uri="{BB962C8B-B14F-4D97-AF65-F5344CB8AC3E}">
        <p14:creationId xmlns:p14="http://schemas.microsoft.com/office/powerpoint/2010/main" val="7112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Following 2 Lectures: Entity/Relationship (ER) Model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880430" y="64285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9BD001-A5A2-F04D-9572-4D8890B0C4F3}"/>
              </a:ext>
            </a:extLst>
          </p:cNvPr>
          <p:cNvGrpSpPr/>
          <p:nvPr/>
        </p:nvGrpSpPr>
        <p:grpSpPr>
          <a:xfrm>
            <a:off x="911506" y="966515"/>
            <a:ext cx="7688483" cy="2054475"/>
            <a:chOff x="228600" y="2274439"/>
            <a:chExt cx="8610600" cy="39624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311CB13-8228-A44C-937E-121AA2FC8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2884039"/>
              <a:ext cx="9906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Trains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47CA464D-817E-7A4A-83AC-2AC6E5382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884039"/>
              <a:ext cx="12192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Stations</a:t>
              </a:r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5BA65E71-500A-2742-8785-0CC0CC1AF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25792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/>
                <a:t>name</a:t>
              </a:r>
            </a:p>
          </p:txBody>
        </p:sp>
        <p:sp>
          <p:nvSpPr>
            <p:cNvPr id="28" name="Oval 10">
              <a:extLst>
                <a:ext uri="{FF2B5EF4-FFF2-40B4-BE49-F238E27FC236}">
                  <a16:creationId xmlns:a16="http://schemas.microsoft.com/office/drawing/2014/main" id="{F25BE362-97B2-7C4A-90E0-FD42A47DE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31888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address</a:t>
              </a:r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42BDEE04-CFA6-5F41-A7A1-A9188732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25792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/>
                <a:t>number</a:t>
              </a:r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A2157639-FD43-9D4A-AAA8-F95964D76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0" y="2807839"/>
              <a:ext cx="3048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04A26D52-6BAC-1249-91F6-FFCCB4D02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7600" y="3188839"/>
              <a:ext cx="3048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2AF8BA7B-E73E-0541-A41F-8DA8E347C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31888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engineer</a:t>
              </a:r>
            </a:p>
          </p:txBody>
        </p:sp>
        <p:sp>
          <p:nvSpPr>
            <p:cNvPr id="33" name="Line 18">
              <a:extLst>
                <a:ext uri="{FF2B5EF4-FFF2-40B4-BE49-F238E27FC236}">
                  <a16:creationId xmlns:a16="http://schemas.microsoft.com/office/drawing/2014/main" id="{42E99942-C5D4-BA47-BC77-C966C1A66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95400" y="2807839"/>
              <a:ext cx="3048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0">
              <a:extLst>
                <a:ext uri="{FF2B5EF4-FFF2-40B4-BE49-F238E27FC236}">
                  <a16:creationId xmlns:a16="http://schemas.microsoft.com/office/drawing/2014/main" id="{D12AB9E1-CC50-2F47-8AE6-720D2C76F7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3188839"/>
              <a:ext cx="30480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21">
              <a:extLst>
                <a:ext uri="{FF2B5EF4-FFF2-40B4-BE49-F238E27FC236}">
                  <a16:creationId xmlns:a16="http://schemas.microsoft.com/office/drawing/2014/main" id="{97DF5146-6E6A-3F4A-A81C-DBCEF6149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775" y="22744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time</a:t>
              </a:r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1088E180-C631-B343-BB61-A9D875D93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813" y="2731639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CEC2DD7B-EB4C-8349-AD71-89DF5D50A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65239"/>
              <a:ext cx="16002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ExpressTrains</a:t>
              </a:r>
            </a:p>
          </p:txBody>
        </p:sp>
        <p:sp>
          <p:nvSpPr>
            <p:cNvPr id="38" name="Rectangle 24">
              <a:extLst>
                <a:ext uri="{FF2B5EF4-FFF2-40B4-BE49-F238E27FC236}">
                  <a16:creationId xmlns:a16="http://schemas.microsoft.com/office/drawing/2014/main" id="{91B9EB9F-A374-7D46-9323-CC7AA8EC7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79439"/>
              <a:ext cx="16002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LocalTrains</a:t>
              </a:r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B2898154-2CA1-C341-81A1-3B499AB1C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179439"/>
              <a:ext cx="16764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LocalStations</a:t>
              </a: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FF240ADD-53F1-5E40-9873-DB28F842F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865239"/>
              <a:ext cx="16764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ExpressStations</a:t>
              </a:r>
            </a:p>
          </p:txBody>
        </p:sp>
        <p:sp>
          <p:nvSpPr>
            <p:cNvPr id="41" name="AutoShape 30">
              <a:extLst>
                <a:ext uri="{FF2B5EF4-FFF2-40B4-BE49-F238E27FC236}">
                  <a16:creationId xmlns:a16="http://schemas.microsoft.com/office/drawing/2014/main" id="{222F15CC-41AA-AF4D-A1E4-E0961D83F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063" y="3569839"/>
              <a:ext cx="914400" cy="457200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ISA</a:t>
              </a:r>
            </a:p>
          </p:txBody>
        </p:sp>
        <p:sp>
          <p:nvSpPr>
            <p:cNvPr id="42" name="Rectangle 31">
              <a:extLst>
                <a:ext uri="{FF2B5EF4-FFF2-40B4-BE49-F238E27FC236}">
                  <a16:creationId xmlns:a16="http://schemas.microsoft.com/office/drawing/2014/main" id="{0EE293D3-4131-7541-88B8-5AF504ABC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2884039"/>
              <a:ext cx="19812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LocalTrainStops</a:t>
              </a: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A8672A5B-9F82-514C-8FCA-439729F2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2960239"/>
              <a:ext cx="18288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AutoShape 33">
              <a:extLst>
                <a:ext uri="{FF2B5EF4-FFF2-40B4-BE49-F238E27FC236}">
                  <a16:creationId xmlns:a16="http://schemas.microsoft.com/office/drawing/2014/main" id="{E8E27F41-AD86-684F-9DFE-B67768995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3569839"/>
              <a:ext cx="914400" cy="457200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/>
                <a:t>ISA</a:t>
              </a:r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07B560C2-004A-E644-96FD-EB519A8E9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1375" y="3341239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09521B95-9DE5-4040-958E-EE79C19A5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3341239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88B577F3-455A-E341-BDB9-B596F0763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800" y="4027039"/>
              <a:ext cx="177800" cy="381000"/>
            </a:xfrm>
            <a:custGeom>
              <a:avLst/>
              <a:gdLst>
                <a:gd name="T0" fmla="*/ 2147483647 w 112"/>
                <a:gd name="T1" fmla="*/ 0 h 288"/>
                <a:gd name="T2" fmla="*/ 2147483647 w 112"/>
                <a:gd name="T3" fmla="*/ 2147483647 h 288"/>
                <a:gd name="T4" fmla="*/ 2147483647 w 112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112"/>
                <a:gd name="T10" fmla="*/ 0 h 288"/>
                <a:gd name="T11" fmla="*/ 112 w 112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288">
                  <a:moveTo>
                    <a:pt x="16" y="0"/>
                  </a:moveTo>
                  <a:cubicBezTo>
                    <a:pt x="8" y="48"/>
                    <a:pt x="0" y="96"/>
                    <a:pt x="16" y="144"/>
                  </a:cubicBezTo>
                  <a:cubicBezTo>
                    <a:pt x="32" y="192"/>
                    <a:pt x="72" y="240"/>
                    <a:pt x="112" y="28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DDDE9055-A22E-F84F-A76C-3FDC9E7BB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4027039"/>
              <a:ext cx="431800" cy="1066800"/>
            </a:xfrm>
            <a:custGeom>
              <a:avLst/>
              <a:gdLst>
                <a:gd name="T0" fmla="*/ 2147483647 w 272"/>
                <a:gd name="T1" fmla="*/ 0 h 672"/>
                <a:gd name="T2" fmla="*/ 2147483647 w 272"/>
                <a:gd name="T3" fmla="*/ 2147483647 h 672"/>
                <a:gd name="T4" fmla="*/ 2147483647 w 272"/>
                <a:gd name="T5" fmla="*/ 2147483647 h 672"/>
                <a:gd name="T6" fmla="*/ 0 60000 65536"/>
                <a:gd name="T7" fmla="*/ 0 60000 65536"/>
                <a:gd name="T8" fmla="*/ 0 60000 65536"/>
                <a:gd name="T9" fmla="*/ 0 w 272"/>
                <a:gd name="T10" fmla="*/ 0 h 672"/>
                <a:gd name="T11" fmla="*/ 272 w 2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672">
                  <a:moveTo>
                    <a:pt x="80" y="0"/>
                  </a:moveTo>
                  <a:cubicBezTo>
                    <a:pt x="40" y="160"/>
                    <a:pt x="0" y="320"/>
                    <a:pt x="32" y="432"/>
                  </a:cubicBezTo>
                  <a:cubicBezTo>
                    <a:pt x="64" y="544"/>
                    <a:pt x="168" y="608"/>
                    <a:pt x="272" y="67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6CBC889E-737A-0F4D-8E02-03811B5D57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861175" y="4027039"/>
              <a:ext cx="177800" cy="381000"/>
            </a:xfrm>
            <a:custGeom>
              <a:avLst/>
              <a:gdLst>
                <a:gd name="T0" fmla="*/ 2147483647 w 112"/>
                <a:gd name="T1" fmla="*/ 0 h 288"/>
                <a:gd name="T2" fmla="*/ 2147483647 w 112"/>
                <a:gd name="T3" fmla="*/ 2147483647 h 288"/>
                <a:gd name="T4" fmla="*/ 2147483647 w 112"/>
                <a:gd name="T5" fmla="*/ 2147483647 h 288"/>
                <a:gd name="T6" fmla="*/ 0 60000 65536"/>
                <a:gd name="T7" fmla="*/ 0 60000 65536"/>
                <a:gd name="T8" fmla="*/ 0 60000 65536"/>
                <a:gd name="T9" fmla="*/ 0 w 112"/>
                <a:gd name="T10" fmla="*/ 0 h 288"/>
                <a:gd name="T11" fmla="*/ 112 w 112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288">
                  <a:moveTo>
                    <a:pt x="16" y="0"/>
                  </a:moveTo>
                  <a:cubicBezTo>
                    <a:pt x="8" y="48"/>
                    <a:pt x="0" y="96"/>
                    <a:pt x="16" y="144"/>
                  </a:cubicBezTo>
                  <a:cubicBezTo>
                    <a:pt x="32" y="192"/>
                    <a:pt x="72" y="240"/>
                    <a:pt x="112" y="28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8BA45543-984D-3448-9479-2B14E603744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861175" y="4027039"/>
              <a:ext cx="431800" cy="1066800"/>
            </a:xfrm>
            <a:custGeom>
              <a:avLst/>
              <a:gdLst>
                <a:gd name="T0" fmla="*/ 2147483647 w 272"/>
                <a:gd name="T1" fmla="*/ 0 h 672"/>
                <a:gd name="T2" fmla="*/ 2147483647 w 272"/>
                <a:gd name="T3" fmla="*/ 2147483647 h 672"/>
                <a:gd name="T4" fmla="*/ 2147483647 w 272"/>
                <a:gd name="T5" fmla="*/ 2147483647 h 672"/>
                <a:gd name="T6" fmla="*/ 0 60000 65536"/>
                <a:gd name="T7" fmla="*/ 0 60000 65536"/>
                <a:gd name="T8" fmla="*/ 0 60000 65536"/>
                <a:gd name="T9" fmla="*/ 0 w 272"/>
                <a:gd name="T10" fmla="*/ 0 h 672"/>
                <a:gd name="T11" fmla="*/ 272 w 272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672">
                  <a:moveTo>
                    <a:pt x="80" y="0"/>
                  </a:moveTo>
                  <a:cubicBezTo>
                    <a:pt x="40" y="160"/>
                    <a:pt x="0" y="320"/>
                    <a:pt x="32" y="432"/>
                  </a:cubicBezTo>
                  <a:cubicBezTo>
                    <a:pt x="64" y="544"/>
                    <a:pt x="168" y="608"/>
                    <a:pt x="272" y="67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AutoShape 40">
              <a:extLst>
                <a:ext uri="{FF2B5EF4-FFF2-40B4-BE49-F238E27FC236}">
                  <a16:creationId xmlns:a16="http://schemas.microsoft.com/office/drawing/2014/main" id="{C3EB1C51-5ADB-4E41-8A78-2E442AB6F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493639"/>
              <a:ext cx="9144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52" name="AutoShape 41">
              <a:extLst>
                <a:ext uri="{FF2B5EF4-FFF2-40B4-BE49-F238E27FC236}">
                  <a16:creationId xmlns:a16="http://schemas.microsoft.com/office/drawing/2014/main" id="{7654B4BF-116E-6348-AD42-DA8B21446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3569839"/>
              <a:ext cx="609600" cy="3048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53" name="AutoShape 42">
              <a:extLst>
                <a:ext uri="{FF2B5EF4-FFF2-40B4-BE49-F238E27FC236}">
                  <a16:creationId xmlns:a16="http://schemas.microsoft.com/office/drawing/2014/main" id="{82CAEE28-2F51-384B-9479-43B2DD4A7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884039"/>
              <a:ext cx="9144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54" name="Line 44">
              <a:extLst>
                <a:ext uri="{FF2B5EF4-FFF2-40B4-BE49-F238E27FC236}">
                  <a16:creationId xmlns:a16="http://schemas.microsoft.com/office/drawing/2014/main" id="{C0B938A6-E6DC-0043-8D15-2DB15E9D6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3341239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5">
              <a:extLst>
                <a:ext uri="{FF2B5EF4-FFF2-40B4-BE49-F238E27FC236}">
                  <a16:creationId xmlns:a16="http://schemas.microsoft.com/office/drawing/2014/main" id="{E390C0C1-E9CC-7C48-8EF0-E371990B6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3950839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46">
              <a:extLst>
                <a:ext uri="{FF2B5EF4-FFF2-40B4-BE49-F238E27FC236}">
                  <a16:creationId xmlns:a16="http://schemas.microsoft.com/office/drawing/2014/main" id="{83BBF3BF-53DE-B443-8242-6D730773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112639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7">
              <a:extLst>
                <a:ext uri="{FF2B5EF4-FFF2-40B4-BE49-F238E27FC236}">
                  <a16:creationId xmlns:a16="http://schemas.microsoft.com/office/drawing/2014/main" id="{1D2635CA-72B6-6D4B-A94A-24F3B1517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3112639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48">
              <a:extLst>
                <a:ext uri="{FF2B5EF4-FFF2-40B4-BE49-F238E27FC236}">
                  <a16:creationId xmlns:a16="http://schemas.microsoft.com/office/drawing/2014/main" id="{878AEEE0-FCE1-8549-AEEA-879371CD3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950" y="5170039"/>
              <a:ext cx="10668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time</a:t>
              </a:r>
            </a:p>
          </p:txBody>
        </p:sp>
        <p:sp>
          <p:nvSpPr>
            <p:cNvPr id="59" name="Line 49">
              <a:extLst>
                <a:ext uri="{FF2B5EF4-FFF2-40B4-BE49-F238E27FC236}">
                  <a16:creationId xmlns:a16="http://schemas.microsoft.com/office/drawing/2014/main" id="{D03169FF-F1D7-4F4C-A928-4A76750A3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1988" y="5627239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50">
              <a:extLst>
                <a:ext uri="{FF2B5EF4-FFF2-40B4-BE49-F238E27FC236}">
                  <a16:creationId xmlns:a16="http://schemas.microsoft.com/office/drawing/2014/main" id="{9565E176-7092-344E-B9C3-3181E81F7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779639"/>
              <a:ext cx="2133600" cy="457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ExpressTrainStops</a:t>
              </a:r>
              <a:endParaRPr lang="en-US" i="1" dirty="0"/>
            </a:p>
          </p:txBody>
        </p:sp>
        <p:sp>
          <p:nvSpPr>
            <p:cNvPr id="61" name="Rectangle 51">
              <a:extLst>
                <a:ext uri="{FF2B5EF4-FFF2-40B4-BE49-F238E27FC236}">
                  <a16:creationId xmlns:a16="http://schemas.microsoft.com/office/drawing/2014/main" id="{8977EF62-5711-B34C-9EF1-54CB21E08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855839"/>
              <a:ext cx="19812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23E533E1-66C6-1C4C-8041-22347C305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6008239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AutoShape 54">
              <a:extLst>
                <a:ext uri="{FF2B5EF4-FFF2-40B4-BE49-F238E27FC236}">
                  <a16:creationId xmlns:a16="http://schemas.microsoft.com/office/drawing/2014/main" id="{81BD41AC-CFB1-6E47-8B17-B8045CD09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5779639"/>
              <a:ext cx="9144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grpSp>
          <p:nvGrpSpPr>
            <p:cNvPr id="66" name="Group 62">
              <a:extLst>
                <a:ext uri="{FF2B5EF4-FFF2-40B4-BE49-F238E27FC236}">
                  <a16:creationId xmlns:a16="http://schemas.microsoft.com/office/drawing/2014/main" id="{2D653B92-A640-2D4E-96A7-91A8F1984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960239"/>
              <a:ext cx="1219200" cy="3200400"/>
              <a:chOff x="5257800" y="2057400"/>
              <a:chExt cx="1219200" cy="3200400"/>
            </a:xfrm>
          </p:grpSpPr>
          <p:sp>
            <p:nvSpPr>
              <p:cNvPr id="67" name="AutoShape 43">
                <a:extLst>
                  <a:ext uri="{FF2B5EF4-FFF2-40B4-BE49-F238E27FC236}">
                    <a16:creationId xmlns:a16="http://schemas.microsoft.com/office/drawing/2014/main" id="{6709057F-F2B7-1C42-9B6F-4B116F5F8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7800" y="2057400"/>
                <a:ext cx="609600" cy="304800"/>
              </a:xfrm>
              <a:prstGeom prst="flowChartDecision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buFont typeface="Wingdings" pitchFamily="2" charset="2"/>
                  <a:buNone/>
                </a:pPr>
                <a:endParaRPr lang="en-US" i="1"/>
              </a:p>
            </p:txBody>
          </p:sp>
          <p:sp>
            <p:nvSpPr>
              <p:cNvPr id="68" name="AutoShape 55">
                <a:extLst>
                  <a:ext uri="{FF2B5EF4-FFF2-40B4-BE49-F238E27FC236}">
                    <a16:creationId xmlns:a16="http://schemas.microsoft.com/office/drawing/2014/main" id="{D9A11B61-110C-5749-8D1E-C2632F7B8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4953000"/>
                <a:ext cx="609600" cy="304800"/>
              </a:xfrm>
              <a:prstGeom prst="flowChartDecision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buFont typeface="Wingdings" pitchFamily="2" charset="2"/>
                  <a:buNone/>
                </a:pPr>
                <a:endParaRPr lang="en-US" i="1"/>
              </a:p>
            </p:txBody>
          </p:sp>
        </p:grpSp>
        <p:sp>
          <p:nvSpPr>
            <p:cNvPr id="69" name="Line 57">
              <a:extLst>
                <a:ext uri="{FF2B5EF4-FFF2-40B4-BE49-F238E27FC236}">
                  <a16:creationId xmlns:a16="http://schemas.microsoft.com/office/drawing/2014/main" id="{77C596F1-D404-C24F-B742-752AB34A1C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72200" y="5322439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58">
              <a:extLst>
                <a:ext uri="{FF2B5EF4-FFF2-40B4-BE49-F238E27FC236}">
                  <a16:creationId xmlns:a16="http://schemas.microsoft.com/office/drawing/2014/main" id="{AB29D24C-887D-AA40-928D-F49EB8633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6600" y="6008239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59">
              <a:extLst>
                <a:ext uri="{FF2B5EF4-FFF2-40B4-BE49-F238E27FC236}">
                  <a16:creationId xmlns:a16="http://schemas.microsoft.com/office/drawing/2014/main" id="{F306A89F-BAE9-154B-9BFA-E6697A8937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62200" y="5779639"/>
              <a:ext cx="914400" cy="4572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72" name="AutoShape 60">
              <a:extLst>
                <a:ext uri="{FF2B5EF4-FFF2-40B4-BE49-F238E27FC236}">
                  <a16:creationId xmlns:a16="http://schemas.microsoft.com/office/drawing/2014/main" id="{4D66C830-A842-3C46-8A65-CC19C6BA00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14600" y="5855839"/>
              <a:ext cx="609600" cy="30480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endParaRPr lang="en-US" i="1"/>
            </a:p>
          </p:txBody>
        </p:sp>
        <p:sp>
          <p:nvSpPr>
            <p:cNvPr id="73" name="Line 61">
              <a:extLst>
                <a:ext uri="{FF2B5EF4-FFF2-40B4-BE49-F238E27FC236}">
                  <a16:creationId xmlns:a16="http://schemas.microsoft.com/office/drawing/2014/main" id="{37B0089F-F589-614B-816E-263687F2F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19400" y="5322439"/>
              <a:ext cx="0" cy="457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29FE9B8-44BF-B346-B60A-6368DB5A0DBE}"/>
                </a:ext>
              </a:extLst>
            </p:cNvPr>
            <p:cNvCxnSpPr>
              <a:stCxn id="70" idx="0"/>
              <a:endCxn id="71" idx="1"/>
            </p:cNvCxnSpPr>
            <p:nvPr/>
          </p:nvCxnSpPr>
          <p:spPr>
            <a:xfrm flipH="1">
              <a:off x="3276600" y="6008239"/>
              <a:ext cx="152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9192488-559C-F845-B57B-8BEA3940BD67}"/>
                </a:ext>
              </a:extLst>
            </p:cNvPr>
            <p:cNvCxnSpPr>
              <a:stCxn id="54" idx="0"/>
              <a:endCxn id="51" idx="0"/>
            </p:cNvCxnSpPr>
            <p:nvPr/>
          </p:nvCxnSpPr>
          <p:spPr>
            <a:xfrm>
              <a:off x="3505200" y="3341239"/>
              <a:ext cx="0" cy="152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1B08A2A-2573-5447-9721-27137EA59A26}"/>
                </a:ext>
              </a:extLst>
            </p:cNvPr>
            <p:cNvCxnSpPr>
              <a:stCxn id="42" idx="3"/>
              <a:endCxn id="53" idx="1"/>
            </p:cNvCxnSpPr>
            <p:nvPr/>
          </p:nvCxnSpPr>
          <p:spPr>
            <a:xfrm>
              <a:off x="4953000" y="3112639"/>
              <a:ext cx="152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F6A03D1-4EFE-CD42-B3BA-384E287790FC}"/>
                </a:ext>
              </a:extLst>
            </p:cNvPr>
            <p:cNvCxnSpPr>
              <a:stCxn id="62" idx="0"/>
              <a:endCxn id="65" idx="1"/>
            </p:cNvCxnSpPr>
            <p:nvPr/>
          </p:nvCxnSpPr>
          <p:spPr>
            <a:xfrm>
              <a:off x="5562600" y="6008239"/>
              <a:ext cx="152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E68AF08-AF42-324C-BA06-DB068D6841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0673" y="2645638"/>
              <a:ext cx="687414" cy="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290306B-6687-0F49-8A9F-A0455F15A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0531" y="5511298"/>
              <a:ext cx="687414" cy="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3858FF-771C-2B45-A0BD-5A0D01515846}"/>
              </a:ext>
            </a:extLst>
          </p:cNvPr>
          <p:cNvCxnSpPr>
            <a:cxnSpLocks/>
            <a:stCxn id="60" idx="2"/>
            <a:endCxn id="9" idx="0"/>
          </p:cNvCxnSpPr>
          <p:nvPr/>
        </p:nvCxnSpPr>
        <p:spPr>
          <a:xfrm flipH="1">
            <a:off x="4719890" y="3020990"/>
            <a:ext cx="1838" cy="4115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79094C-ECF2-D540-A702-AE7E401F6BB4}"/>
              </a:ext>
            </a:extLst>
          </p:cNvPr>
          <p:cNvSpPr txBox="1"/>
          <p:nvPr/>
        </p:nvSpPr>
        <p:spPr>
          <a:xfrm>
            <a:off x="-33708" y="3005301"/>
            <a:ext cx="3681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DBMSs provide an actual E/R Schema Designer. Can be done manually for small/medium-size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schemas.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AE411-2D13-FF49-8265-4200654748A0}"/>
              </a:ext>
            </a:extLst>
          </p:cNvPr>
          <p:cNvSpPr/>
          <p:nvPr/>
        </p:nvSpPr>
        <p:spPr>
          <a:xfrm>
            <a:off x="3647354" y="3432564"/>
            <a:ext cx="2145071" cy="610565"/>
          </a:xfrm>
          <a:prstGeom prst="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ER-to-Relational Mapper</a:t>
            </a:r>
          </a:p>
        </p:txBody>
      </p:sp>
      <p:graphicFrame>
        <p:nvGraphicFramePr>
          <p:cNvPr id="76" name="Table 21">
            <a:extLst>
              <a:ext uri="{FF2B5EF4-FFF2-40B4-BE49-F238E27FC236}">
                <a16:creationId xmlns:a16="http://schemas.microsoft.com/office/drawing/2014/main" id="{CF1BD612-80F4-F34D-86BB-2D657EE05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08998"/>
              </p:ext>
            </p:extLst>
          </p:nvPr>
        </p:nvGraphicFramePr>
        <p:xfrm>
          <a:off x="264148" y="4358914"/>
          <a:ext cx="2726821" cy="1069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  <a:r>
                        <a:rPr lang="en-US" sz="1600" baseline="-25000" dirty="0"/>
                        <a:t>1,1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  <a:r>
                        <a:rPr lang="en-US" sz="1600" baseline="-25000" dirty="0"/>
                        <a:t>1,m1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</a:tbl>
          </a:graphicData>
        </a:graphic>
      </p:graphicFrame>
      <p:graphicFrame>
        <p:nvGraphicFramePr>
          <p:cNvPr id="77" name="Table 21">
            <a:extLst>
              <a:ext uri="{FF2B5EF4-FFF2-40B4-BE49-F238E27FC236}">
                <a16:creationId xmlns:a16="http://schemas.microsoft.com/office/drawing/2014/main" id="{C2766AB4-2BAD-6C49-B5F3-E9E7A0405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205070"/>
              </p:ext>
            </p:extLst>
          </p:nvPr>
        </p:nvGraphicFramePr>
        <p:xfrm>
          <a:off x="3208589" y="4355887"/>
          <a:ext cx="2726821" cy="1069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  <a:r>
                        <a:rPr lang="en-US" sz="1600" baseline="-25000" dirty="0"/>
                        <a:t>2,1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  <a:r>
                        <a:rPr lang="en-US" sz="1600" baseline="-25000" dirty="0"/>
                        <a:t>2,m2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</a:tbl>
          </a:graphicData>
        </a:graphic>
      </p:graphicFrame>
      <p:graphicFrame>
        <p:nvGraphicFramePr>
          <p:cNvPr id="78" name="Table 21">
            <a:extLst>
              <a:ext uri="{FF2B5EF4-FFF2-40B4-BE49-F238E27FC236}">
                <a16:creationId xmlns:a16="http://schemas.microsoft.com/office/drawing/2014/main" id="{2FCDC3F9-ABBA-1F47-BD5E-B5E506E22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11361"/>
              </p:ext>
            </p:extLst>
          </p:nvPr>
        </p:nvGraphicFramePr>
        <p:xfrm>
          <a:off x="6284023" y="4342611"/>
          <a:ext cx="2726821" cy="1069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  <a:r>
                        <a:rPr lang="en-US" sz="1600" baseline="-25000" dirty="0"/>
                        <a:t>n,1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</a:t>
                      </a:r>
                      <a:r>
                        <a:rPr lang="en-US" sz="1600" baseline="-25000" dirty="0" err="1"/>
                        <a:t>n,mn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055ACDF-F376-3B41-BF85-11ACA763E8DC}"/>
              </a:ext>
            </a:extLst>
          </p:cNvPr>
          <p:cNvSpPr txBox="1"/>
          <p:nvPr/>
        </p:nvSpPr>
        <p:spPr>
          <a:xfrm>
            <a:off x="5946442" y="4684443"/>
            <a:ext cx="34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AF81F7-1715-DA4E-AA54-47A813E180CC}"/>
              </a:ext>
            </a:extLst>
          </p:cNvPr>
          <p:cNvSpPr/>
          <p:nvPr/>
        </p:nvSpPr>
        <p:spPr>
          <a:xfrm>
            <a:off x="93869" y="5610815"/>
            <a:ext cx="9050132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Upshot: Does not guarantee good designs as in TNF.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Still need to ensure final relations adhere to the principles of TNF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39421D6-A8B8-1E4F-BD27-4FB9EA715D5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719890" y="4043129"/>
            <a:ext cx="0" cy="2651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5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8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Application Constraints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11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3C1AD-D85F-9C48-93EB-FC78CC1F0B27}"/>
              </a:ext>
            </a:extLst>
          </p:cNvPr>
          <p:cNvSpPr/>
          <p:nvPr/>
        </p:nvSpPr>
        <p:spPr>
          <a:xfrm>
            <a:off x="16080" y="725830"/>
            <a:ext cx="9127920" cy="4982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Consider a simple university DB: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Independent of stored data: there will be external app. constraints.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/>
              <a:t>Each instructor has 1 name, salary, and department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/>
              <a:t>Each department has 1 building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/>
              <a:t>Each student can have 1 advisor from each department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/>
              <a:t>Instructor i’s set of addresses are independent of the departments of </a:t>
            </a:r>
            <a:r>
              <a:rPr lang="en-US" sz="2100" dirty="0" err="1"/>
              <a:t>i</a:t>
            </a:r>
            <a:endParaRPr lang="en-US" sz="2100" dirty="0"/>
          </a:p>
          <a:p>
            <a:pPr marL="285750" indent="-285750" algn="ctr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i="1" dirty="0">
                <a:solidFill>
                  <a:srgbClr val="C00000"/>
                </a:solidFill>
              </a:rPr>
              <a:t>High-level idea: A “good” DB makes such constraints explicit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8EA1E07-804D-E74C-B1A5-8C20EF29AB5D}"/>
              </a:ext>
            </a:extLst>
          </p:cNvPr>
          <p:cNvGrpSpPr/>
          <p:nvPr/>
        </p:nvGrpSpPr>
        <p:grpSpPr>
          <a:xfrm>
            <a:off x="753652" y="1248637"/>
            <a:ext cx="1423686" cy="1361628"/>
            <a:chOff x="753652" y="1248637"/>
            <a:chExt cx="1423686" cy="1361628"/>
          </a:xfrm>
        </p:grpSpPr>
        <p:pic>
          <p:nvPicPr>
            <p:cNvPr id="16" name="Graphic 15" descr="Lecturer with solid fill">
              <a:extLst>
                <a:ext uri="{FF2B5EF4-FFF2-40B4-BE49-F238E27FC236}">
                  <a16:creationId xmlns:a16="http://schemas.microsoft.com/office/drawing/2014/main" id="{8FD86610-5BB7-A64A-AE29-CE39DA006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1345" y="1695865"/>
              <a:ext cx="914400" cy="9144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9869B4-A17A-0848-87BB-E2709AA1D432}"/>
                </a:ext>
              </a:extLst>
            </p:cNvPr>
            <p:cNvSpPr txBox="1"/>
            <p:nvPr/>
          </p:nvSpPr>
          <p:spPr>
            <a:xfrm>
              <a:off x="753652" y="1248637"/>
              <a:ext cx="1423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Instructors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F5D12E-9D41-3B4D-9608-44EB9C2CF59A}"/>
              </a:ext>
            </a:extLst>
          </p:cNvPr>
          <p:cNvGrpSpPr/>
          <p:nvPr/>
        </p:nvGrpSpPr>
        <p:grpSpPr>
          <a:xfrm>
            <a:off x="2563321" y="1248637"/>
            <a:ext cx="1615140" cy="1361628"/>
            <a:chOff x="2563321" y="1248637"/>
            <a:chExt cx="1615140" cy="1361628"/>
          </a:xfrm>
        </p:grpSpPr>
        <p:pic>
          <p:nvPicPr>
            <p:cNvPr id="18" name="Graphic 17" descr="Schoolhouse outline">
              <a:extLst>
                <a:ext uri="{FF2B5EF4-FFF2-40B4-BE49-F238E27FC236}">
                  <a16:creationId xmlns:a16="http://schemas.microsoft.com/office/drawing/2014/main" id="{3DAD92B0-B5A5-CA46-BAD4-A63CD8B4F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17797" y="1695865"/>
              <a:ext cx="914400" cy="9144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5A8EA1D-3B41-5C47-B2B1-B70EA38CED01}"/>
                </a:ext>
              </a:extLst>
            </p:cNvPr>
            <p:cNvSpPr txBox="1"/>
            <p:nvPr/>
          </p:nvSpPr>
          <p:spPr>
            <a:xfrm>
              <a:off x="2563321" y="1248637"/>
              <a:ext cx="1615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Departments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156C30-C5A4-8C41-9C8C-92FA3AA6A71A}"/>
              </a:ext>
            </a:extLst>
          </p:cNvPr>
          <p:cNvGrpSpPr/>
          <p:nvPr/>
        </p:nvGrpSpPr>
        <p:grpSpPr>
          <a:xfrm>
            <a:off x="4572000" y="1248637"/>
            <a:ext cx="1423686" cy="1361628"/>
            <a:chOff x="4572000" y="1248637"/>
            <a:chExt cx="1423686" cy="1361628"/>
          </a:xfrm>
        </p:grpSpPr>
        <p:pic>
          <p:nvPicPr>
            <p:cNvPr id="24" name="Graphic 23" descr="Books with solid fill">
              <a:extLst>
                <a:ext uri="{FF2B5EF4-FFF2-40B4-BE49-F238E27FC236}">
                  <a16:creationId xmlns:a16="http://schemas.microsoft.com/office/drawing/2014/main" id="{35F61A21-956A-484A-9345-9F9F0EF79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44249" y="1695865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478E4F-9310-654E-87E7-68DA6B745ECC}"/>
                </a:ext>
              </a:extLst>
            </p:cNvPr>
            <p:cNvSpPr txBox="1"/>
            <p:nvPr/>
          </p:nvSpPr>
          <p:spPr>
            <a:xfrm>
              <a:off x="4572000" y="1248637"/>
              <a:ext cx="1423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Courses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0931B1-FBAC-4741-A509-F32B8A7C04D2}"/>
              </a:ext>
            </a:extLst>
          </p:cNvPr>
          <p:cNvGrpSpPr/>
          <p:nvPr/>
        </p:nvGrpSpPr>
        <p:grpSpPr>
          <a:xfrm>
            <a:off x="6516059" y="1248637"/>
            <a:ext cx="1423686" cy="1361628"/>
            <a:chOff x="6516059" y="1248637"/>
            <a:chExt cx="1423686" cy="1361628"/>
          </a:xfrm>
        </p:grpSpPr>
        <p:pic>
          <p:nvPicPr>
            <p:cNvPr id="29" name="Graphic 28" descr="Graduation cap with solid fill">
              <a:extLst>
                <a:ext uri="{FF2B5EF4-FFF2-40B4-BE49-F238E27FC236}">
                  <a16:creationId xmlns:a16="http://schemas.microsoft.com/office/drawing/2014/main" id="{52F0512E-2FAD-4347-B572-495570B6D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70702" y="1695865"/>
              <a:ext cx="914400" cy="9144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730EBEA-707B-2B42-AACD-D18F627354B4}"/>
                </a:ext>
              </a:extLst>
            </p:cNvPr>
            <p:cNvSpPr txBox="1"/>
            <p:nvPr/>
          </p:nvSpPr>
          <p:spPr>
            <a:xfrm>
              <a:off x="6516059" y="1248637"/>
              <a:ext cx="1423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Students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810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Application Constraints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863CF670-FA7A-C94E-A7DA-9E9DDFAB1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06494"/>
              </p:ext>
            </p:extLst>
          </p:nvPr>
        </p:nvGraphicFramePr>
        <p:xfrm>
          <a:off x="2290698" y="3684587"/>
          <a:ext cx="4562603" cy="2240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70852">
                <a:tc gridSpan="6">
                  <a:txBody>
                    <a:bodyPr/>
                    <a:lstStyle/>
                    <a:p>
                      <a:pPr algn="ctr"/>
                      <a:r>
                        <a:rPr lang="en-US" sz="1500" dirty="0" err="1"/>
                        <a:t>InstDep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u="none" dirty="0" err="1"/>
                        <a:t>iID</a:t>
                      </a:r>
                      <a:endParaRPr lang="en-US" sz="15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/>
                        <a:t>bldng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7085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7483AD-3836-2747-848A-96F472751CF1}"/>
              </a:ext>
            </a:extLst>
          </p:cNvPr>
          <p:cNvSpPr/>
          <p:nvPr/>
        </p:nvSpPr>
        <p:spPr>
          <a:xfrm>
            <a:off x="4272787" y="5308375"/>
            <a:ext cx="2578336" cy="31879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860297-D340-094B-85D1-D0C24F9E5E90}"/>
              </a:ext>
            </a:extLst>
          </p:cNvPr>
          <p:cNvSpPr/>
          <p:nvPr/>
        </p:nvSpPr>
        <p:spPr>
          <a:xfrm>
            <a:off x="4261498" y="4341464"/>
            <a:ext cx="2578336" cy="279747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6CC82C-18DA-D344-8793-6CCFE8906D4F}"/>
              </a:ext>
            </a:extLst>
          </p:cNvPr>
          <p:cNvSpPr/>
          <p:nvPr/>
        </p:nvSpPr>
        <p:spPr>
          <a:xfrm>
            <a:off x="4272787" y="4973026"/>
            <a:ext cx="2578336" cy="34647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3C1AD-D85F-9C48-93EB-FC78CC1F0B27}"/>
              </a:ext>
            </a:extLst>
          </p:cNvPr>
          <p:cNvSpPr/>
          <p:nvPr/>
        </p:nvSpPr>
        <p:spPr>
          <a:xfrm>
            <a:off x="16079" y="735378"/>
            <a:ext cx="9127920" cy="2940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Instructors: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names, salaries, departments (w/ unique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Departments: names, building, budget (w/ unique names)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Constraint 1: Each instructor has 1 name, salary, and department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Constraint 2: Each department has 1 building and 1 associated budget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Possible Design: 1 large table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InstDep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with one row for each instructor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E14B5F-E7E8-894B-841D-757C3C5824A6}"/>
              </a:ext>
            </a:extLst>
          </p:cNvPr>
          <p:cNvSpPr/>
          <p:nvPr/>
        </p:nvSpPr>
        <p:spPr>
          <a:xfrm>
            <a:off x="8695471" y="1764749"/>
            <a:ext cx="47320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ED30A1-0822-8F44-B19A-C7DC8DDFC58B}"/>
              </a:ext>
            </a:extLst>
          </p:cNvPr>
          <p:cNvSpPr/>
          <p:nvPr/>
        </p:nvSpPr>
        <p:spPr>
          <a:xfrm>
            <a:off x="8695471" y="2127100"/>
            <a:ext cx="5261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14FF1-B855-964E-B701-BAB0240A8363}"/>
              </a:ext>
            </a:extLst>
          </p:cNvPr>
          <p:cNvSpPr txBox="1"/>
          <p:nvPr/>
        </p:nvSpPr>
        <p:spPr>
          <a:xfrm>
            <a:off x="7653865" y="1351230"/>
            <a:ext cx="181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b/c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key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E7E93B-98BA-9341-BC3C-2823547E65CF}"/>
              </a:ext>
            </a:extLst>
          </p:cNvPr>
          <p:cNvSpPr/>
          <p:nvPr/>
        </p:nvSpPr>
        <p:spPr>
          <a:xfrm>
            <a:off x="8040" y="5969054"/>
            <a:ext cx="91279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200" dirty="0"/>
              <a:t>Problem: redundant data replication. (CS, DC, 20000) repeated k times if there are k instructors in CS.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C8FC73-EA37-3A42-A69C-614CEE601ACD}"/>
              </a:ext>
            </a:extLst>
          </p:cNvPr>
          <p:cNvSpPr txBox="1"/>
          <p:nvPr/>
        </p:nvSpPr>
        <p:spPr>
          <a:xfrm>
            <a:off x="6594594" y="2805812"/>
            <a:ext cx="264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b/c depName is not key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4798BD-5D09-394E-8FFA-E90E7B521D9C}"/>
              </a:ext>
            </a:extLst>
          </p:cNvPr>
          <p:cNvSpPr/>
          <p:nvPr/>
        </p:nvSpPr>
        <p:spPr>
          <a:xfrm>
            <a:off x="310446" y="1765560"/>
            <a:ext cx="8413248" cy="440284"/>
          </a:xfrm>
          <a:prstGeom prst="roundRect">
            <a:avLst/>
          </a:prstGeom>
          <a:solidFill>
            <a:schemeClr val="bg2">
              <a:lumMod val="90000"/>
              <a:alpha val="2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3C0A95E-AC52-0E49-B820-44EF99F38BA6}"/>
              </a:ext>
            </a:extLst>
          </p:cNvPr>
          <p:cNvSpPr/>
          <p:nvPr/>
        </p:nvSpPr>
        <p:spPr>
          <a:xfrm>
            <a:off x="338668" y="2272029"/>
            <a:ext cx="8413248" cy="440284"/>
          </a:xfrm>
          <a:prstGeom prst="roundRect">
            <a:avLst/>
          </a:prstGeom>
          <a:solidFill>
            <a:schemeClr val="bg2">
              <a:lumMod val="90000"/>
              <a:alpha val="25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3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/>
      <p:bldP spid="18" grpId="0"/>
      <p:bldP spid="4" grpId="0"/>
      <p:bldP spid="19" grpId="0"/>
      <p:bldP spid="20" grpId="0"/>
      <p:bldP spid="6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Problems of Redundancy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13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E7E93B-98BA-9341-BC3C-2823547E65CF}"/>
              </a:ext>
            </a:extLst>
          </p:cNvPr>
          <p:cNvSpPr/>
          <p:nvPr/>
        </p:nvSpPr>
        <p:spPr>
          <a:xfrm>
            <a:off x="0" y="3368019"/>
            <a:ext cx="9281926" cy="2940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Harder to keep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consistent when facts are stored multiple times.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CS’s building changed to E4 =&gt; need to update 3 rows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Suppose Bob is the only instructor in Physics and retires (a delete):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Deletion of Bob’s tuple: Physics department, which might exist, is deleted unless extra work is done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new department (w/out yet an instructor) is added: new row w/ NULLs </a:t>
            </a:r>
          </a:p>
        </p:txBody>
      </p:sp>
      <p:graphicFrame>
        <p:nvGraphicFramePr>
          <p:cNvPr id="15" name="Table 21">
            <a:extLst>
              <a:ext uri="{FF2B5EF4-FFF2-40B4-BE49-F238E27FC236}">
                <a16:creationId xmlns:a16="http://schemas.microsoft.com/office/drawing/2014/main" id="{94B81216-7E37-BE48-8A7E-70F450981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934638"/>
              </p:ext>
            </p:extLst>
          </p:nvPr>
        </p:nvGraphicFramePr>
        <p:xfrm>
          <a:off x="2290699" y="945309"/>
          <a:ext cx="4562603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46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Redundancy Is Determined By App. Constraints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863CF670-FA7A-C94E-A7DA-9E9DDFAB1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16538"/>
              </p:ext>
            </p:extLst>
          </p:nvPr>
        </p:nvGraphicFramePr>
        <p:xfrm>
          <a:off x="3031990" y="1449518"/>
          <a:ext cx="3080021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092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10633">
                  <a:extLst>
                    <a:ext uri="{9D8B030D-6E8A-4147-A177-3AD203B41FA5}">
                      <a16:colId xmlns:a16="http://schemas.microsoft.com/office/drawing/2014/main" val="3408441097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90506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cID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Semih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Lap Chi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F7483AD-3836-2747-848A-96F472751CF1}"/>
              </a:ext>
            </a:extLst>
          </p:cNvPr>
          <p:cNvSpPr/>
          <p:nvPr/>
        </p:nvSpPr>
        <p:spPr>
          <a:xfrm>
            <a:off x="3031990" y="2123058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3C1AD-D85F-9C48-93EB-FC78CC1F0B27}"/>
              </a:ext>
            </a:extLst>
          </p:cNvPr>
          <p:cNvSpPr/>
          <p:nvPr/>
        </p:nvSpPr>
        <p:spPr>
          <a:xfrm>
            <a:off x="16079" y="735378"/>
            <a:ext cx="9127920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Courses: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term,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capacity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3588302-19D2-1C43-A1E7-98D1D28AF33C}"/>
              </a:ext>
            </a:extLst>
          </p:cNvPr>
          <p:cNvSpPr/>
          <p:nvPr/>
        </p:nvSpPr>
        <p:spPr>
          <a:xfrm>
            <a:off x="3031990" y="2782449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C6C90A2-2AD9-D448-BF5F-AEF91925A77E}"/>
              </a:ext>
            </a:extLst>
          </p:cNvPr>
          <p:cNvSpPr/>
          <p:nvPr/>
        </p:nvSpPr>
        <p:spPr>
          <a:xfrm>
            <a:off x="3031990" y="3129976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F43AD-9682-7C46-96B0-D11F2E4FF492}"/>
              </a:ext>
            </a:extLst>
          </p:cNvPr>
          <p:cNvSpPr/>
          <p:nvPr/>
        </p:nvSpPr>
        <p:spPr>
          <a:xfrm>
            <a:off x="16079" y="4255111"/>
            <a:ext cx="9127921" cy="148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Unclear if this is redundant or not. Depends on external app constraint: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courses have 1 associated capacity (independent of term): Redundant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O.w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repetition may be necessary and reflects similarity across entities.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F6E0858-6228-3549-92F8-9764CE8FF35A}"/>
              </a:ext>
            </a:extLst>
          </p:cNvPr>
          <p:cNvSpPr/>
          <p:nvPr/>
        </p:nvSpPr>
        <p:spPr>
          <a:xfrm>
            <a:off x="5272834" y="2130293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A7F291-B241-2541-A4A1-3115A0F0E92F}"/>
              </a:ext>
            </a:extLst>
          </p:cNvPr>
          <p:cNvSpPr/>
          <p:nvPr/>
        </p:nvSpPr>
        <p:spPr>
          <a:xfrm>
            <a:off x="5272834" y="2789684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1E43D37-6DEA-3A4A-BE2E-CA37D66603B5}"/>
              </a:ext>
            </a:extLst>
          </p:cNvPr>
          <p:cNvSpPr/>
          <p:nvPr/>
        </p:nvSpPr>
        <p:spPr>
          <a:xfrm>
            <a:off x="5272834" y="3137211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3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  <p:bldP spid="25" grpId="0" animBg="1"/>
      <p:bldP spid="18" grpId="0" animBg="1"/>
      <p:bldP spid="20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Redundancy Is Determined By App. Constraints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15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43C1AD-D85F-9C48-93EB-FC78CC1F0B27}"/>
              </a:ext>
            </a:extLst>
          </p:cNvPr>
          <p:cNvSpPr/>
          <p:nvPr/>
        </p:nvSpPr>
        <p:spPr>
          <a:xfrm>
            <a:off x="16079" y="735378"/>
            <a:ext cx="9127920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Courses: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term,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capacity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431F4-FF09-7340-9E86-6914BBA70C24}"/>
              </a:ext>
            </a:extLst>
          </p:cNvPr>
          <p:cNvSpPr/>
          <p:nvPr/>
        </p:nvSpPr>
        <p:spPr>
          <a:xfrm>
            <a:off x="16079" y="4255111"/>
            <a:ext cx="9127921" cy="2456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Unclear if this is redundant or not. Depends on external app constraint: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courses have 1 associated capacity (independent of term): Redundant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O.w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repetition may be necessary and reflects similarity across entities.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Takeaway: Constraints are external to the </a:t>
            </a:r>
            <a:r>
              <a:rPr lang="en-US" sz="21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1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/app and need to be inputs in a </a:t>
            </a:r>
            <a:r>
              <a:rPr lang="en-US" sz="2100" dirty="0" err="1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1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 theory.</a:t>
            </a:r>
          </a:p>
        </p:txBody>
      </p:sp>
      <p:graphicFrame>
        <p:nvGraphicFramePr>
          <p:cNvPr id="28" name="Table 21">
            <a:extLst>
              <a:ext uri="{FF2B5EF4-FFF2-40B4-BE49-F238E27FC236}">
                <a16:creationId xmlns:a16="http://schemas.microsoft.com/office/drawing/2014/main" id="{5DB00137-1080-094E-AEB7-5ADCECB6D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652849"/>
              </p:ext>
            </p:extLst>
          </p:nvPr>
        </p:nvGraphicFramePr>
        <p:xfrm>
          <a:off x="3031990" y="1449518"/>
          <a:ext cx="3080021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0092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10633">
                  <a:extLst>
                    <a:ext uri="{9D8B030D-6E8A-4147-A177-3AD203B41FA5}">
                      <a16:colId xmlns:a16="http://schemas.microsoft.com/office/drawing/2014/main" val="3408441097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90506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cID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Semih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Lap Chi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CS348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David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2280292"/>
                  </a:ext>
                </a:extLst>
              </a:tr>
            </a:tbl>
          </a:graphicData>
        </a:graphic>
      </p:graphicFrame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6BD1B15-75A0-A44C-A738-943937392CA5}"/>
              </a:ext>
            </a:extLst>
          </p:cNvPr>
          <p:cNvSpPr/>
          <p:nvPr/>
        </p:nvSpPr>
        <p:spPr>
          <a:xfrm>
            <a:off x="3031990" y="2123058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BB5075-1AC4-B64E-9FA3-04ED8FD0B94D}"/>
              </a:ext>
            </a:extLst>
          </p:cNvPr>
          <p:cNvSpPr/>
          <p:nvPr/>
        </p:nvSpPr>
        <p:spPr>
          <a:xfrm>
            <a:off x="3031990" y="2782449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227A2EE-6C87-534F-AC9A-29C530489440}"/>
              </a:ext>
            </a:extLst>
          </p:cNvPr>
          <p:cNvSpPr/>
          <p:nvPr/>
        </p:nvSpPr>
        <p:spPr>
          <a:xfrm>
            <a:off x="3031990" y="3129976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823CD03-B4F2-FE49-8368-156192FCC06D}"/>
              </a:ext>
            </a:extLst>
          </p:cNvPr>
          <p:cNvSpPr/>
          <p:nvPr/>
        </p:nvSpPr>
        <p:spPr>
          <a:xfrm>
            <a:off x="5272834" y="2130293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13235DB-F23C-FE44-ADC0-1380A21CEAEF}"/>
              </a:ext>
            </a:extLst>
          </p:cNvPr>
          <p:cNvSpPr/>
          <p:nvPr/>
        </p:nvSpPr>
        <p:spPr>
          <a:xfrm>
            <a:off x="5272834" y="2789684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11729DF-818C-EB47-98E9-D65519C2F9CD}"/>
              </a:ext>
            </a:extLst>
          </p:cNvPr>
          <p:cNvSpPr/>
          <p:nvPr/>
        </p:nvSpPr>
        <p:spPr>
          <a:xfrm>
            <a:off x="5272834" y="3137211"/>
            <a:ext cx="725811" cy="29178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Solution To Redundancy: Decompositions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863CF670-FA7A-C94E-A7DA-9E9DDFAB1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137934"/>
              </p:ext>
            </p:extLst>
          </p:nvPr>
        </p:nvGraphicFramePr>
        <p:xfrm>
          <a:off x="2290699" y="899415"/>
          <a:ext cx="4562603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5" name="Table 21">
            <a:extLst>
              <a:ext uri="{FF2B5EF4-FFF2-40B4-BE49-F238E27FC236}">
                <a16:creationId xmlns:a16="http://schemas.microsoft.com/office/drawing/2014/main" id="{CC61BFAE-F676-6341-AD16-1438A05D4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6162"/>
              </p:ext>
            </p:extLst>
          </p:nvPr>
        </p:nvGraphicFramePr>
        <p:xfrm>
          <a:off x="386865" y="4006561"/>
          <a:ext cx="3062987" cy="2138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35635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9755498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29812"/>
                  </a:ext>
                </a:extLst>
              </a:tr>
            </a:tbl>
          </a:graphicData>
        </a:graphic>
      </p:graphicFrame>
      <p:graphicFrame>
        <p:nvGraphicFramePr>
          <p:cNvPr id="16" name="Table 21">
            <a:extLst>
              <a:ext uri="{FF2B5EF4-FFF2-40B4-BE49-F238E27FC236}">
                <a16:creationId xmlns:a16="http://schemas.microsoft.com/office/drawing/2014/main" id="{5FFD000B-B27B-B647-AA1B-FB5E7038D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70334"/>
              </p:ext>
            </p:extLst>
          </p:nvPr>
        </p:nvGraphicFramePr>
        <p:xfrm>
          <a:off x="6185781" y="4008281"/>
          <a:ext cx="2726821" cy="1425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E0B3F3-226E-124B-9E36-A502EDC04C30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flipH="1">
            <a:off x="1918358" y="2911095"/>
            <a:ext cx="2653642" cy="1095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E1E335-BA81-D741-9BC6-A515862D721B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4572000" y="2911095"/>
            <a:ext cx="2977191" cy="1097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77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Desiderata for Decompositions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5620D-3477-7E42-85AC-D4830AAED33B}"/>
              </a:ext>
            </a:extLst>
          </p:cNvPr>
          <p:cNvSpPr txBox="1"/>
          <p:nvPr/>
        </p:nvSpPr>
        <p:spPr>
          <a:xfrm>
            <a:off x="0" y="773927"/>
            <a:ext cx="9144000" cy="1619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D1 (Lossless): If R is decomposed into R1 and R2, then:</a:t>
            </a:r>
          </a:p>
          <a:p>
            <a:pPr algn="ctr">
              <a:lnSpc>
                <a:spcPct val="150000"/>
              </a:lnSpc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 = R1 ⋈ R2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Lossless-ness achieved by decomposing on an appropriate key</a:t>
            </a:r>
          </a:p>
        </p:txBody>
      </p:sp>
      <p:graphicFrame>
        <p:nvGraphicFramePr>
          <p:cNvPr id="11" name="Table 21">
            <a:extLst>
              <a:ext uri="{FF2B5EF4-FFF2-40B4-BE49-F238E27FC236}">
                <a16:creationId xmlns:a16="http://schemas.microsoft.com/office/drawing/2014/main" id="{327107E0-ACF2-6F48-A2D6-E6181D32B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72924"/>
              </p:ext>
            </p:extLst>
          </p:nvPr>
        </p:nvGraphicFramePr>
        <p:xfrm>
          <a:off x="120647" y="4890620"/>
          <a:ext cx="4142168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3849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4890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73450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 err="1"/>
                        <a:t>iID</a:t>
                      </a:r>
                      <a:endParaRPr lang="en-US" sz="14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E5D7F6DD-856F-204A-8F56-CB017FCEE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084319"/>
              </p:ext>
            </p:extLst>
          </p:nvPr>
        </p:nvGraphicFramePr>
        <p:xfrm>
          <a:off x="1175001" y="2517402"/>
          <a:ext cx="3062987" cy="2138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35635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9755498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29812"/>
                  </a:ext>
                </a:extLst>
              </a:tr>
            </a:tbl>
          </a:graphicData>
        </a:graphic>
      </p:graphicFrame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247547AC-24A2-334A-9D66-E766EB4C5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79036"/>
              </p:ext>
            </p:extLst>
          </p:nvPr>
        </p:nvGraphicFramePr>
        <p:xfrm>
          <a:off x="5009024" y="2517402"/>
          <a:ext cx="2726821" cy="1425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04929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35635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3563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3E3CF08-8EAB-1449-92DE-1A344243C5AA}"/>
              </a:ext>
            </a:extLst>
          </p:cNvPr>
          <p:cNvSpPr/>
          <p:nvPr/>
        </p:nvSpPr>
        <p:spPr>
          <a:xfrm>
            <a:off x="4353738" y="3167390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28262AD6-0536-2446-8486-4AC5B71A5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649506"/>
              </p:ext>
            </p:extLst>
          </p:nvPr>
        </p:nvGraphicFramePr>
        <p:xfrm>
          <a:off x="4881187" y="4910789"/>
          <a:ext cx="4142168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3849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4890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73450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InstDep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 err="1"/>
                        <a:t>iID</a:t>
                      </a:r>
                      <a:endParaRPr lang="en-US" sz="14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D6263A30-37CE-8445-A6B0-88FA03EB20ED}"/>
              </a:ext>
            </a:extLst>
          </p:cNvPr>
          <p:cNvSpPr/>
          <p:nvPr/>
        </p:nvSpPr>
        <p:spPr>
          <a:xfrm>
            <a:off x="4365883" y="5659157"/>
            <a:ext cx="394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107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 Lossy Decomposition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28262AD6-0536-2446-8486-4AC5B71A5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64966"/>
              </p:ext>
            </p:extLst>
          </p:nvPr>
        </p:nvGraphicFramePr>
        <p:xfrm>
          <a:off x="2508955" y="899415"/>
          <a:ext cx="4142168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3849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4890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73450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InstDep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4" name="Table 21">
            <a:extLst>
              <a:ext uri="{FF2B5EF4-FFF2-40B4-BE49-F238E27FC236}">
                <a16:creationId xmlns:a16="http://schemas.microsoft.com/office/drawing/2014/main" id="{7ED10D85-1D74-314A-B0B5-3A3ADA5D2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1221"/>
              </p:ext>
            </p:extLst>
          </p:nvPr>
        </p:nvGraphicFramePr>
        <p:xfrm>
          <a:off x="867628" y="3340482"/>
          <a:ext cx="49403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5" name="Table 21">
            <a:extLst>
              <a:ext uri="{FF2B5EF4-FFF2-40B4-BE49-F238E27FC236}">
                <a16:creationId xmlns:a16="http://schemas.microsoft.com/office/drawing/2014/main" id="{9AEB865A-B29C-DF43-86B8-928CBEF80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18531"/>
              </p:ext>
            </p:extLst>
          </p:nvPr>
        </p:nvGraphicFramePr>
        <p:xfrm>
          <a:off x="2042272" y="3340482"/>
          <a:ext cx="638492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49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6" name="Table 21">
            <a:extLst>
              <a:ext uri="{FF2B5EF4-FFF2-40B4-BE49-F238E27FC236}">
                <a16:creationId xmlns:a16="http://schemas.microsoft.com/office/drawing/2014/main" id="{0ED864D1-93AB-4845-88E7-1ECD40764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25572"/>
              </p:ext>
            </p:extLst>
          </p:nvPr>
        </p:nvGraphicFramePr>
        <p:xfrm>
          <a:off x="3349803" y="3340482"/>
          <a:ext cx="648906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90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0F34D5D8-CA9F-1C41-B42E-7D33F2EC9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905421"/>
              </p:ext>
            </p:extLst>
          </p:nvPr>
        </p:nvGraphicFramePr>
        <p:xfrm>
          <a:off x="4667748" y="3340482"/>
          <a:ext cx="997268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72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B4A7E1F4-F941-5448-9047-A77989009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78919"/>
              </p:ext>
            </p:extLst>
          </p:nvPr>
        </p:nvGraphicFramePr>
        <p:xfrm>
          <a:off x="6334055" y="3340482"/>
          <a:ext cx="628968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9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EF04365F-76E8-2C4F-B07D-6C64A67A1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257877"/>
              </p:ext>
            </p:extLst>
          </p:nvPr>
        </p:nvGraphicFramePr>
        <p:xfrm>
          <a:off x="7632062" y="3340482"/>
          <a:ext cx="734504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50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318F49-3762-784E-8D68-64B3D7D51F5F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1114643" y="2728215"/>
            <a:ext cx="3465396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6F09AE-D110-2C4A-A27D-649C8A32015C}"/>
              </a:ext>
            </a:extLst>
          </p:cNvPr>
          <p:cNvCxnSpPr>
            <a:cxnSpLocks/>
            <a:stCxn id="19" idx="2"/>
            <a:endCxn id="15" idx="0"/>
          </p:cNvCxnSpPr>
          <p:nvPr/>
        </p:nvCxnSpPr>
        <p:spPr>
          <a:xfrm flipH="1">
            <a:off x="2361518" y="2728215"/>
            <a:ext cx="2218521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A0DD1A-F3EB-B340-893F-744EEC09F1EA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 flipH="1">
            <a:off x="3674256" y="2728215"/>
            <a:ext cx="905783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D329EB-8FEF-9846-A9DF-9C8CC3E9A2FC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4580039" y="2728215"/>
            <a:ext cx="586343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D6A77E-EDB4-E34F-B705-27FAF0731CD9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4580039" y="2728215"/>
            <a:ext cx="2068500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E9811F-4B7B-004F-BDD7-43ECF55CBDA8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4580039" y="2728215"/>
            <a:ext cx="3419275" cy="612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21">
            <a:extLst>
              <a:ext uri="{FF2B5EF4-FFF2-40B4-BE49-F238E27FC236}">
                <a16:creationId xmlns:a16="http://schemas.microsoft.com/office/drawing/2014/main" id="{B648A28F-0518-0343-A9E0-DF925A42A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783459"/>
              </p:ext>
            </p:extLst>
          </p:nvPr>
        </p:nvGraphicFramePr>
        <p:xfrm>
          <a:off x="120017" y="5151321"/>
          <a:ext cx="4142168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0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3849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648906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289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73450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u="sng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72320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C0539E6B-3B6F-C74D-823D-80C8F5E465A5}"/>
              </a:ext>
            </a:extLst>
          </p:cNvPr>
          <p:cNvSpPr/>
          <p:nvPr/>
        </p:nvSpPr>
        <p:spPr>
          <a:xfrm>
            <a:off x="1460942" y="3840872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BB902D-BCE8-2E4C-B952-91F214AE2B0E}"/>
              </a:ext>
            </a:extLst>
          </p:cNvPr>
          <p:cNvSpPr/>
          <p:nvPr/>
        </p:nvSpPr>
        <p:spPr>
          <a:xfrm>
            <a:off x="2779270" y="3852453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7BBE9F-B5F4-9047-82DA-710ED0950F83}"/>
              </a:ext>
            </a:extLst>
          </p:cNvPr>
          <p:cNvSpPr/>
          <p:nvPr/>
        </p:nvSpPr>
        <p:spPr>
          <a:xfrm>
            <a:off x="4078589" y="3840884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880F22-9739-0348-AAD7-FCAE72D95B98}"/>
              </a:ext>
            </a:extLst>
          </p:cNvPr>
          <p:cNvSpPr/>
          <p:nvPr/>
        </p:nvSpPr>
        <p:spPr>
          <a:xfrm>
            <a:off x="5712392" y="3840872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778BF2-DAF1-A348-B7AA-107E909B7777}"/>
              </a:ext>
            </a:extLst>
          </p:cNvPr>
          <p:cNvSpPr/>
          <p:nvPr/>
        </p:nvSpPr>
        <p:spPr>
          <a:xfrm>
            <a:off x="7010399" y="3840872"/>
            <a:ext cx="4828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⋈</a:t>
            </a:r>
            <a:endParaRPr lang="en-US" sz="2800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92A4F75-DC00-9149-A56D-CCBBD8106D9E}"/>
              </a:ext>
            </a:extLst>
          </p:cNvPr>
          <p:cNvSpPr/>
          <p:nvPr/>
        </p:nvSpPr>
        <p:spPr>
          <a:xfrm>
            <a:off x="878651" y="3657046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4509CDD-B099-BC41-8064-7011259136B7}"/>
              </a:ext>
            </a:extLst>
          </p:cNvPr>
          <p:cNvSpPr/>
          <p:nvPr/>
        </p:nvSpPr>
        <p:spPr>
          <a:xfrm>
            <a:off x="2095110" y="3973421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3EFF0E9-0642-9049-A2A4-A7AB6D8772B8}"/>
              </a:ext>
            </a:extLst>
          </p:cNvPr>
          <p:cNvSpPr/>
          <p:nvPr/>
        </p:nvSpPr>
        <p:spPr>
          <a:xfrm>
            <a:off x="3394699" y="4271500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3A166DE-86ED-A14F-833C-6EDEEB9B23AB}"/>
              </a:ext>
            </a:extLst>
          </p:cNvPr>
          <p:cNvSpPr/>
          <p:nvPr/>
        </p:nvSpPr>
        <p:spPr>
          <a:xfrm>
            <a:off x="4908276" y="3642615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6703C9D-09C6-6449-90BF-4DCF18316839}"/>
              </a:ext>
            </a:extLst>
          </p:cNvPr>
          <p:cNvSpPr/>
          <p:nvPr/>
        </p:nvSpPr>
        <p:spPr>
          <a:xfrm>
            <a:off x="6407127" y="3985002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A492547-45BC-AD44-BB85-6017A35976B3}"/>
              </a:ext>
            </a:extLst>
          </p:cNvPr>
          <p:cNvSpPr/>
          <p:nvPr/>
        </p:nvSpPr>
        <p:spPr>
          <a:xfrm>
            <a:off x="7683058" y="3965701"/>
            <a:ext cx="625348" cy="273559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D89856-2DC4-FC40-947C-AAB68BFB12F4}"/>
              </a:ext>
            </a:extLst>
          </p:cNvPr>
          <p:cNvSpPr/>
          <p:nvPr/>
        </p:nvSpPr>
        <p:spPr>
          <a:xfrm>
            <a:off x="4347105" y="5740131"/>
            <a:ext cx="5261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33CE24-245C-5E48-B1BE-34E0C23F89A2}"/>
              </a:ext>
            </a:extLst>
          </p:cNvPr>
          <p:cNvSpPr/>
          <p:nvPr/>
        </p:nvSpPr>
        <p:spPr>
          <a:xfrm>
            <a:off x="4908276" y="5814075"/>
            <a:ext cx="43556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Can’t tell what’s fact and what’s not.</a:t>
            </a:r>
          </a:p>
        </p:txBody>
      </p:sp>
    </p:spTree>
    <p:extLst>
      <p:ext uri="{BB962C8B-B14F-4D97-AF65-F5344CB8AC3E}">
        <p14:creationId xmlns:p14="http://schemas.microsoft.com/office/powerpoint/2010/main" val="327135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Desiderata for Decompositions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F5620D-3477-7E42-85AC-D4830AAED33B}"/>
              </a:ext>
            </a:extLst>
          </p:cNvPr>
          <p:cNvSpPr txBox="1"/>
          <p:nvPr/>
        </p:nvSpPr>
        <p:spPr>
          <a:xfrm>
            <a:off x="0" y="773927"/>
            <a:ext cx="9144000" cy="1619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D2 (Locality of Constraints): If the app had a constraint C, we would prefer to check C in a single relation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Will discuss more in 3</a:t>
            </a:r>
            <a:r>
              <a:rPr lang="en-US" sz="23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Normal Form. Stay tuned.</a:t>
            </a:r>
          </a:p>
        </p:txBody>
      </p:sp>
    </p:spTree>
    <p:extLst>
      <p:ext uri="{BB962C8B-B14F-4D97-AF65-F5344CB8AC3E}">
        <p14:creationId xmlns:p14="http://schemas.microsoft.com/office/powerpoint/2010/main" val="308224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64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Functional Dependencies (FDs): Generalized Uniqueness Constraints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112118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54A00D-1400-234A-B851-3A432B416BED}"/>
              </a:ext>
            </a:extLst>
          </p:cNvPr>
          <p:cNvSpPr txBox="1"/>
          <p:nvPr/>
        </p:nvSpPr>
        <p:spPr>
          <a:xfrm>
            <a:off x="0" y="1121189"/>
            <a:ext cx="9144000" cy="3433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Informally: Let X, Y be sets of attributes. A functional dependency X → Y holds if for each possible value of attributes X there is only 1 possible value Y value. I.e. X “determines” Y uniquely (independent of other values in a tuple).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Formally: Let t[A] be a tuple t’s projection on attributes A</a:t>
            </a:r>
          </a:p>
          <a:p>
            <a:pPr algn="ctr">
              <a:lnSpc>
                <a:spcPct val="150000"/>
              </a:lnSpc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Let X, Y be sets of attributes. 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X → Y holds in a relation R, if given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[X], then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holds.</a:t>
            </a:r>
          </a:p>
        </p:txBody>
      </p:sp>
    </p:spTree>
    <p:extLst>
      <p:ext uri="{BB962C8B-B14F-4D97-AF65-F5344CB8AC3E}">
        <p14:creationId xmlns:p14="http://schemas.microsoft.com/office/powerpoint/2010/main" val="322575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 FDs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54A00D-1400-234A-B851-3A432B416BED}"/>
              </a:ext>
            </a:extLst>
          </p:cNvPr>
          <p:cNvSpPr txBox="1"/>
          <p:nvPr/>
        </p:nvSpPr>
        <p:spPr>
          <a:xfrm>
            <a:off x="8039" y="3473744"/>
            <a:ext cx="9144000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Constraint 1: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has 1 name and salary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name, salary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Constraint 2: Each depName has 1 building &amp; 1 associated budget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depName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budget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Key constraints: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depName is unique in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InstDep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depName → name, salary,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bldgn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budget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0A24FB53-27B5-A545-B153-6E679D2B6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489307"/>
              </p:ext>
            </p:extLst>
          </p:nvPr>
        </p:nvGraphicFramePr>
        <p:xfrm>
          <a:off x="1974646" y="1126784"/>
          <a:ext cx="4562603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1D13A51-B193-E24C-A977-7F52F526FEBC}"/>
              </a:ext>
            </a:extLst>
          </p:cNvPr>
          <p:cNvSpPr txBox="1"/>
          <p:nvPr/>
        </p:nvSpPr>
        <p:spPr>
          <a:xfrm>
            <a:off x="8039" y="624404"/>
            <a:ext cx="9144000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Captures generalized uniqueness constraints (beyond keys):</a:t>
            </a:r>
          </a:p>
        </p:txBody>
      </p:sp>
    </p:spTree>
    <p:extLst>
      <p:ext uri="{BB962C8B-B14F-4D97-AF65-F5344CB8AC3E}">
        <p14:creationId xmlns:p14="http://schemas.microsoft.com/office/powerpoint/2010/main" val="422490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Some FD Vocabulary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54A00D-1400-234A-B851-3A432B416BED}"/>
                  </a:ext>
                </a:extLst>
              </p:cNvPr>
              <p:cNvSpPr txBox="1"/>
              <p:nvPr/>
            </p:nvSpPr>
            <p:spPr>
              <a:xfrm>
                <a:off x="16079" y="4886563"/>
                <a:ext cx="9144000" cy="1971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: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name, salary; (ii) depName →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bldng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budget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above instance is a </a:t>
                </a:r>
                <a:r>
                  <a:rPr lang="en-US" sz="2100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legal instance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name, salary </a:t>
                </a:r>
                <a:r>
                  <a:rPr lang="en-US" sz="2100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holds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the above instance.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Won’t need this vocabulary much in lecture. May see in assignments.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54A00D-1400-234A-B851-3A432B416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4886563"/>
                <a:ext cx="9144000" cy="1971437"/>
              </a:xfrm>
              <a:prstGeom prst="rect">
                <a:avLst/>
              </a:prstGeom>
              <a:blipFill>
                <a:blip r:embed="rId3"/>
                <a:stretch>
                  <a:fillRect l="-693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0A24FB53-27B5-A545-B153-6E679D2B6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23649"/>
              </p:ext>
            </p:extLst>
          </p:nvPr>
        </p:nvGraphicFramePr>
        <p:xfrm>
          <a:off x="2182991" y="2451317"/>
          <a:ext cx="4562603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Biology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076292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/>
              <p:nvPr/>
            </p:nvSpPr>
            <p:spPr>
              <a:xfrm>
                <a:off x="8039" y="719153"/>
                <a:ext cx="9144000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We take FDs as given, i.e., cannot be inferred from a relation instance.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FDs limit legal instances of a relation R(A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…, A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a set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4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R, on all </a:t>
                </a:r>
                <a:r>
                  <a:rPr lang="en-US" sz="2100" i="1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legal instances of R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each F ∈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100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hold.</a:t>
                </a:r>
                <a:endParaRPr lang="en-US" sz="2100" i="1" dirty="0">
                  <a:solidFill>
                    <a:srgbClr val="00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" y="719153"/>
                <a:ext cx="9144000" cy="1538883"/>
              </a:xfrm>
              <a:prstGeom prst="rect">
                <a:avLst/>
              </a:prstGeom>
              <a:blipFill>
                <a:blip r:embed="rId4"/>
                <a:stretch>
                  <a:fillRect l="-555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Implied FDs: Armstrong’s Axioms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D13A51-B193-E24C-A977-7F52F526FEBC}"/>
              </a:ext>
            </a:extLst>
          </p:cNvPr>
          <p:cNvSpPr txBox="1"/>
          <p:nvPr/>
        </p:nvSpPr>
        <p:spPr>
          <a:xfrm>
            <a:off x="8039" y="624404"/>
            <a:ext cx="9144000" cy="391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set of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can imply other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via 3 intuitive rules: Armstrong’s Axioms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Reflexivity: If Y⊆ X, then X → Y (trivially)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name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English: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name value takes a unique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value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Augmentation: if X → Y, then XZ → YZ (trivially)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salary then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salary,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English: if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takes a unique salary value, then each (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 value pair takes a unique (salary,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 value</a:t>
            </a:r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9EBCC443-4878-A34D-B905-3CD282B4E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867513"/>
              </p:ext>
            </p:extLst>
          </p:nvPr>
        </p:nvGraphicFramePr>
        <p:xfrm>
          <a:off x="2290699" y="4724145"/>
          <a:ext cx="4562603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 err="1"/>
                        <a:t>iID</a:t>
                      </a:r>
                      <a:endParaRPr lang="en-US" sz="16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10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Implied FDs: Armstrong’s Axioms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D13A51-B193-E24C-A977-7F52F526FEBC}"/>
              </a:ext>
            </a:extLst>
          </p:cNvPr>
          <p:cNvSpPr txBox="1"/>
          <p:nvPr/>
        </p:nvSpPr>
        <p:spPr>
          <a:xfrm>
            <a:off x="8039" y="624404"/>
            <a:ext cx="9144000" cy="391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3. Transitivity: if X → Y and Y → Z, then X → Z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Suppose each instructor can be in a single department and each dep has a single budget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FD1: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 FD2: depName → budget, then </a:t>
            </a:r>
          </a:p>
          <a:p>
            <a:pPr lvl="1" algn="ctr">
              <a:lnSpc>
                <a:spcPct val="150000"/>
              </a:lnSpc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budget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English: If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value takes a unique depName value, which in turn takes a unique budget value, then each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value takes a unique budget value.</a:t>
            </a:r>
          </a:p>
        </p:txBody>
      </p: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45DAD5C6-9D76-4A46-BF61-628D40103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62868"/>
              </p:ext>
            </p:extLst>
          </p:nvPr>
        </p:nvGraphicFramePr>
        <p:xfrm>
          <a:off x="2290699" y="4724145"/>
          <a:ext cx="4562603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 err="1"/>
                        <a:t>iID</a:t>
                      </a:r>
                      <a:endParaRPr lang="en-US" sz="16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90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Other Rules Implied by Armstrong’s Axioms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D13A51-B193-E24C-A977-7F52F526FEBC}"/>
              </a:ext>
            </a:extLst>
          </p:cNvPr>
          <p:cNvSpPr txBox="1"/>
          <p:nvPr/>
        </p:nvSpPr>
        <p:spPr>
          <a:xfrm>
            <a:off x="8039" y="624404"/>
            <a:ext cx="9144000" cy="3910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Decomposition: If X → YZ, then X → Y and X → Z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Proof: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X → YZ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YZ → Y (by reflexivity)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X → Y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(by transitivity)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Union: If X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Y and X → Z then X → YZ (Prove as exercise)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Pseudo-transitivity: If X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Y and YZ → T then XZ→ T (Prove as exercise)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2191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32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/>
                      </a:rPr>
                      <m:t>: </m:t>
                    </m:r>
                  </m:oMath>
                </a14:m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Closure of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blipFill>
                <a:blip r:embed="rId3"/>
                <a:stretch>
                  <a:fillRect l="-556" t="-869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/>
              <p:nvPr/>
            </p:nvSpPr>
            <p:spPr>
              <a:xfrm>
                <a:off x="16079" y="725203"/>
                <a:ext cx="9144000" cy="1107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Dfn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: 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be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. The closure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is the set of all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implied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725203"/>
                <a:ext cx="9144000" cy="1107867"/>
              </a:xfrm>
              <a:prstGeom prst="rect">
                <a:avLst/>
              </a:prstGeom>
              <a:blipFill>
                <a:blip r:embed="rId4"/>
                <a:stretch>
                  <a:fillRect r="-277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6AF201-6F0C-2447-834D-ADCEECBA2384}"/>
                  </a:ext>
                </a:extLst>
              </p:cNvPr>
              <p:cNvSpPr txBox="1"/>
              <p:nvPr/>
            </p:nvSpPr>
            <p:spPr>
              <a:xfrm>
                <a:off x="8039" y="1691243"/>
                <a:ext cx="9144000" cy="148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</a:t>
                </a:r>
                <a14:m>
                  <m:oMath xmlns:m="http://schemas.openxmlformats.org/officeDocument/2006/math">
                    <m:r>
                      <a:rPr lang="en-US" sz="2100" i="0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iID→name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depName,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depName→bldng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100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∪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iID,email→name,email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 (trivial ones) … ∪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iID→bldng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 (transitivity) etc..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6AF201-6F0C-2447-834D-ADCEECBA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" y="1691243"/>
                <a:ext cx="9144000" cy="1486689"/>
              </a:xfrm>
              <a:prstGeom prst="rect">
                <a:avLst/>
              </a:prstGeom>
              <a:blipFill>
                <a:blip r:embed="rId5"/>
                <a:stretch>
                  <a:fillRect l="-555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75DA3FF7-E9CC-1746-B67C-79D19B038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586704"/>
              </p:ext>
            </p:extLst>
          </p:nvPr>
        </p:nvGraphicFramePr>
        <p:xfrm>
          <a:off x="1937242" y="3825637"/>
          <a:ext cx="4459287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19542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carl@gmail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165650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187998-EC3A-A449-9A2F-7039A6A9572B}"/>
              </a:ext>
            </a:extLst>
          </p:cNvPr>
          <p:cNvSpPr/>
          <p:nvPr/>
        </p:nvSpPr>
        <p:spPr>
          <a:xfrm>
            <a:off x="1959820" y="4525147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ECA10AC-84D2-C44E-AFF0-E3172E4B78C5}"/>
              </a:ext>
            </a:extLst>
          </p:cNvPr>
          <p:cNvSpPr/>
          <p:nvPr/>
        </p:nvSpPr>
        <p:spPr>
          <a:xfrm>
            <a:off x="1959820" y="4874769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047B73D-E713-4A47-846F-617C08502687}"/>
              </a:ext>
            </a:extLst>
          </p:cNvPr>
          <p:cNvSpPr/>
          <p:nvPr/>
        </p:nvSpPr>
        <p:spPr>
          <a:xfrm>
            <a:off x="5822063" y="4527571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A77997-37E7-F446-B81E-4D0202767F25}"/>
              </a:ext>
            </a:extLst>
          </p:cNvPr>
          <p:cNvSpPr/>
          <p:nvPr/>
        </p:nvSpPr>
        <p:spPr>
          <a:xfrm>
            <a:off x="5822921" y="4873624"/>
            <a:ext cx="482824" cy="25812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6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Exercise Showing an FD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32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blipFill>
                <a:blip r:embed="rId3"/>
                <a:stretch>
                  <a:fillRect l="-1530" t="-869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D13A51-B193-E24C-A977-7F52F526FEBC}"/>
              </a:ext>
            </a:extLst>
          </p:cNvPr>
          <p:cNvSpPr txBox="1"/>
          <p:nvPr/>
        </p:nvSpPr>
        <p:spPr>
          <a:xfrm>
            <a:off x="16079" y="725203"/>
            <a:ext cx="9144000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Consider 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Inst_Proj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relation of instructors and their research projects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75DA3FF7-E9CC-1746-B67C-79D19B038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78367"/>
              </p:ext>
            </p:extLst>
          </p:nvPr>
        </p:nvGraphicFramePr>
        <p:xfrm>
          <a:off x="1932969" y="1318524"/>
          <a:ext cx="5641474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501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695642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36790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052703">
                  <a:extLst>
                    <a:ext uri="{9D8B030D-6E8A-4147-A177-3AD203B41FA5}">
                      <a16:colId xmlns:a16="http://schemas.microsoft.com/office/drawing/2014/main" val="3230997222"/>
                    </a:ext>
                  </a:extLst>
                </a:gridCol>
                <a:gridCol w="1128903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51413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706522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InstProj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projID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projName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projDep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B8C2D2-6740-8D43-B746-567AA9D5AB26}"/>
              </a:ext>
            </a:extLst>
          </p:cNvPr>
          <p:cNvSpPr txBox="1"/>
          <p:nvPr/>
        </p:nvSpPr>
        <p:spPr>
          <a:xfrm>
            <a:off x="16079" y="2065212"/>
            <a:ext cx="9144000" cy="342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)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name; (ii)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projName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projDep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(iii)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hours; (iv)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projDep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hours → funds;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Prove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funds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hours (by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iii)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projName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projDep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(by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ii)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hours,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projName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projDep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(by pseudo-transitivity of 1 &amp; 2)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projID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funds (by transitivity of 3, and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iv) (+ decomposition) 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9835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32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64300"/>
                <a:ext cx="9127921" cy="584775"/>
              </a:xfrm>
              <a:prstGeom prst="rect">
                <a:avLst/>
              </a:prstGeom>
              <a:blipFill>
                <a:blip r:embed="rId3"/>
                <a:stretch>
                  <a:fillRect l="-1530" t="-869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D72C5582-50BD-6144-BFA4-9C2B0D18B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562100"/>
            <a:ext cx="78486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1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89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Boyce-Codd Normal Form (BCNF)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/>
              <p:nvPr/>
            </p:nvSpPr>
            <p:spPr>
              <a:xfrm>
                <a:off x="130628" y="730245"/>
                <a:ext cx="8882743" cy="2625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Dfn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(BCNF): Given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, a relation R is in BCNF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iff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∀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Y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s.t.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XY ⊆ R, one of the following two conditions hold: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Y is trivial (i.e., Y ⊆ X)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is a super key of R (i.e., 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R)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Q: Why does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R imply X is super key?</a:t>
                </a:r>
                <a:endParaRPr lang="en-US" sz="2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13A51-B193-E24C-A977-7F52F526F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8" y="730245"/>
                <a:ext cx="8882743" cy="2625462"/>
              </a:xfrm>
              <a:prstGeom prst="rect">
                <a:avLst/>
              </a:prstGeom>
              <a:blipFill>
                <a:blip r:embed="rId3"/>
                <a:stretch>
                  <a:fillRect l="-1429" b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77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 Relations in BCNF and not in BCNF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7F20D531-511F-5143-B9B3-B8AF1B716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31681"/>
              </p:ext>
            </p:extLst>
          </p:nvPr>
        </p:nvGraphicFramePr>
        <p:xfrm>
          <a:off x="2290699" y="1979029"/>
          <a:ext cx="4562603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09B4F-1793-F346-8410-44DCFAA92EC1}"/>
                  </a:ext>
                </a:extLst>
              </p:cNvPr>
              <p:cNvSpPr txBox="1"/>
              <p:nvPr/>
            </p:nvSpPr>
            <p:spPr>
              <a:xfrm>
                <a:off x="108339" y="689121"/>
                <a:ext cx="9144000" cy="1143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 we only need to look at the schema of R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400" dirty="0"/>
                  <a:t> As before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mbria Math"/>
                      </a:rPr>
                      <m:t>: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iID→name,salary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; (ii)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depName→bldng,budget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09B4F-1793-F346-8410-44DCFAA92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9" y="689121"/>
                <a:ext cx="9144000" cy="1143070"/>
              </a:xfrm>
              <a:prstGeom prst="rect">
                <a:avLst/>
              </a:prstGeom>
              <a:blipFill>
                <a:blip r:embed="rId3"/>
                <a:stretch>
                  <a:fillRect l="-971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91D387-2B77-284B-9967-F2D23EE829FA}"/>
                  </a:ext>
                </a:extLst>
              </p:cNvPr>
              <p:cNvSpPr/>
              <p:nvPr/>
            </p:nvSpPr>
            <p:spPr>
              <a:xfrm>
                <a:off x="108339" y="2656137"/>
                <a:ext cx="8927322" cy="1495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Q: Is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InstDep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BCNF?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A: No b/c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not key. Can check by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/>
                  <a:t> =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/>
                  <a:t> ∪ all trivial </a:t>
                </a:r>
                <a:r>
                  <a:rPr lang="en-US" sz="2100" dirty="0" err="1"/>
                  <a:t>fds</a:t>
                </a:r>
                <a:r>
                  <a:rPr lang="en-US" sz="2100" dirty="0"/>
                  <a:t>. B/c can’t apply transitivity to the </a:t>
                </a:r>
                <a:r>
                  <a:rPr lang="en-US" sz="2100" dirty="0" err="1"/>
                  <a:t>fds</a:t>
                </a:r>
                <a:r>
                  <a:rPr lang="en-US" sz="2100" dirty="0"/>
                  <a:t> in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/>
                  <a:t> to generate more non-trivial </a:t>
                </a:r>
                <a:r>
                  <a:rPr lang="en-US" sz="2100" dirty="0" err="1"/>
                  <a:t>fds</a:t>
                </a:r>
                <a:r>
                  <a:rPr lang="en-US" sz="2100" dirty="0"/>
                  <a:t>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91D387-2B77-284B-9967-F2D23EE82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9" y="2656137"/>
                <a:ext cx="8927322" cy="1495602"/>
              </a:xfrm>
              <a:prstGeom prst="rect">
                <a:avLst/>
              </a:prstGeom>
              <a:blipFill>
                <a:blip r:embed="rId4"/>
                <a:stretch>
                  <a:fillRect l="-852" r="-994"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43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Example Relations in BCNF and not in BCNF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7F20D531-511F-5143-B9B3-B8AF1B716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258956"/>
              </p:ext>
            </p:extLst>
          </p:nvPr>
        </p:nvGraphicFramePr>
        <p:xfrm>
          <a:off x="221227" y="1596115"/>
          <a:ext cx="3062987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791D387-2B77-284B-9967-F2D23EE829FA}"/>
              </a:ext>
            </a:extLst>
          </p:cNvPr>
          <p:cNvSpPr/>
          <p:nvPr/>
        </p:nvSpPr>
        <p:spPr>
          <a:xfrm>
            <a:off x="221227" y="2297922"/>
            <a:ext cx="3489105" cy="1009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Q: Is R1 in BCNF?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A: No b/c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is still not key.</a:t>
            </a:r>
            <a:endParaRPr lang="en-US" sz="2100" dirty="0"/>
          </a:p>
        </p:txBody>
      </p:sp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E7DE022D-CB61-D143-9BF5-4E00A0E93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20313"/>
              </p:ext>
            </p:extLst>
          </p:nvPr>
        </p:nvGraphicFramePr>
        <p:xfrm>
          <a:off x="5710694" y="1548937"/>
          <a:ext cx="261118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27B944-22C2-2E47-B70C-5EF1D3F31FD1}"/>
                  </a:ext>
                </a:extLst>
              </p:cNvPr>
              <p:cNvSpPr/>
              <p:nvPr/>
            </p:nvSpPr>
            <p:spPr>
              <a:xfrm>
                <a:off x="108338" y="818153"/>
                <a:ext cx="8927321" cy="524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/>
                  <a:t> As before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mbria Math"/>
                      </a:rPr>
                      <m:t>: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iID→name,salary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; (ii)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depName→bldng,budget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27B944-22C2-2E47-B70C-5EF1D3F31F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8" y="818153"/>
                <a:ext cx="8927321" cy="524887"/>
              </a:xfrm>
              <a:prstGeom prst="rect">
                <a:avLst/>
              </a:prstGeom>
              <a:blipFill>
                <a:blip r:embed="rId3"/>
                <a:stretch>
                  <a:fillRect l="-710" r="-568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7EAB2543-F9D7-B34A-A8F5-A12504598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86131"/>
              </p:ext>
            </p:extLst>
          </p:nvPr>
        </p:nvGraphicFramePr>
        <p:xfrm>
          <a:off x="221227" y="3851092"/>
          <a:ext cx="1951419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11" name="Table 21">
            <a:extLst>
              <a:ext uri="{FF2B5EF4-FFF2-40B4-BE49-F238E27FC236}">
                <a16:creationId xmlns:a16="http://schemas.microsoft.com/office/drawing/2014/main" id="{93EB3FE0-5188-1B45-B166-0EBAE59C8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757951"/>
              </p:ext>
            </p:extLst>
          </p:nvPr>
        </p:nvGraphicFramePr>
        <p:xfrm>
          <a:off x="5710694" y="3803914"/>
          <a:ext cx="261118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15" name="Table 21">
            <a:extLst>
              <a:ext uri="{FF2B5EF4-FFF2-40B4-BE49-F238E27FC236}">
                <a16:creationId xmlns:a16="http://schemas.microsoft.com/office/drawing/2014/main" id="{41D1546D-ADFD-E945-A8EE-F0DBEBD6C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13798"/>
              </p:ext>
            </p:extLst>
          </p:nvPr>
        </p:nvGraphicFramePr>
        <p:xfrm>
          <a:off x="3116646" y="3847302"/>
          <a:ext cx="1650048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A005281E-3BDA-6945-B4D1-E2A1FE3A8131}"/>
              </a:ext>
            </a:extLst>
          </p:cNvPr>
          <p:cNvSpPr/>
          <p:nvPr/>
        </p:nvSpPr>
        <p:spPr>
          <a:xfrm>
            <a:off x="116378" y="4623264"/>
            <a:ext cx="2518538" cy="1009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Q: Is R3 in BCNF?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A: Yes</a:t>
            </a:r>
            <a:endParaRPr lang="en-US" sz="2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DB6873-E571-1B40-8BB8-6D3ADA352ADA}"/>
              </a:ext>
            </a:extLst>
          </p:cNvPr>
          <p:cNvSpPr/>
          <p:nvPr/>
        </p:nvSpPr>
        <p:spPr>
          <a:xfrm>
            <a:off x="5665538" y="2297922"/>
            <a:ext cx="3489105" cy="1009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Q: Is R2 in BCNF?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A: Yes b/c depName is key.</a:t>
            </a:r>
            <a:endParaRPr lang="en-US" sz="2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E608F8-C632-D542-AFBB-02D99E89C6DE}"/>
              </a:ext>
            </a:extLst>
          </p:cNvPr>
          <p:cNvSpPr/>
          <p:nvPr/>
        </p:nvSpPr>
        <p:spPr>
          <a:xfrm>
            <a:off x="2657494" y="4605478"/>
            <a:ext cx="3617422" cy="1009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Q: Is R4 in BCNF?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A: Yes b/c no non-trivial FDs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0639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Greedy BCNF Decomposition Algorithm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048ECD-3B86-A349-9F27-570A0E7A47ED}"/>
                  </a:ext>
                </a:extLst>
              </p:cNvPr>
              <p:cNvSpPr txBox="1"/>
              <p:nvPr/>
            </p:nvSpPr>
            <p:spPr>
              <a:xfrm>
                <a:off x="16079" y="790705"/>
                <a:ext cx="899557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Very High-level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Input: 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{ R }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1. find an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X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→ Y violating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BCNF on a relation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∊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2. Split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into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– Y and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XY; 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  result = (result –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3. repeat 1-2 until no such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can be found.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048ECD-3B86-A349-9F27-570A0E7A4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790705"/>
                <a:ext cx="8995573" cy="2246769"/>
              </a:xfrm>
              <a:prstGeom prst="rect">
                <a:avLst/>
              </a:prstGeom>
              <a:blipFill>
                <a:blip r:embed="rId3"/>
                <a:stretch>
                  <a:fillRect l="-705" t="-1685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B8C6075-5098-3244-A10E-EC2152BEAD1D}"/>
              </a:ext>
            </a:extLst>
          </p:cNvPr>
          <p:cNvSpPr/>
          <p:nvPr/>
        </p:nvSpPr>
        <p:spPr>
          <a:xfrm>
            <a:off x="78205" y="3126362"/>
            <a:ext cx="8987588" cy="2940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Several properties of the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(won’t formally prove):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Always returns a set of relations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is in BCNF and this is a lossless decomposition of R, i.e.,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⋈ …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= R.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output is *not* unique. (Exercise: show a simple example with a relation and two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to demonstrate this)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Is lossless (Why? Stay tuned.)</a:t>
            </a:r>
          </a:p>
        </p:txBody>
      </p:sp>
    </p:spTree>
    <p:extLst>
      <p:ext uri="{BB962C8B-B14F-4D97-AF65-F5344CB8AC3E}">
        <p14:creationId xmlns:p14="http://schemas.microsoft.com/office/powerpoint/2010/main" val="5843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Greedy BCNF Decomposition Algorithm (2)</a:t>
            </a:r>
          </a:p>
        </p:txBody>
      </p:sp>
      <p:graphicFrame>
        <p:nvGraphicFramePr>
          <p:cNvPr id="5" name="Table 21">
            <a:extLst>
              <a:ext uri="{FF2B5EF4-FFF2-40B4-BE49-F238E27FC236}">
                <a16:creationId xmlns:a16="http://schemas.microsoft.com/office/drawing/2014/main" id="{91A07093-850A-2844-A8A3-88DD69745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696651"/>
              </p:ext>
            </p:extLst>
          </p:nvPr>
        </p:nvGraphicFramePr>
        <p:xfrm>
          <a:off x="2654744" y="1979029"/>
          <a:ext cx="4562603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8C5C17A0-A916-0148-99CF-1BF1AADC3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65297"/>
              </p:ext>
            </p:extLst>
          </p:nvPr>
        </p:nvGraphicFramePr>
        <p:xfrm>
          <a:off x="766805" y="3562939"/>
          <a:ext cx="3062987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C0DB3186-4B0C-6B4F-A062-4394BAA8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403673"/>
              </p:ext>
            </p:extLst>
          </p:nvPr>
        </p:nvGraphicFramePr>
        <p:xfrm>
          <a:off x="5804798" y="3547699"/>
          <a:ext cx="2611184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1A3DDF-0239-874D-9AAE-24C442A34CB9}"/>
                  </a:ext>
                </a:extLst>
              </p:cNvPr>
              <p:cNvSpPr txBox="1"/>
              <p:nvPr/>
            </p:nvSpPr>
            <p:spPr>
              <a:xfrm>
                <a:off x="108339" y="689121"/>
                <a:ext cx="9144000" cy="1010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mbria Math"/>
                      </a:rPr>
                      <m:t>: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iID→name,salary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; (ii)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depName→bldng,budget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∪ all trivial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1A3DDF-0239-874D-9AAE-24C442A34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9" y="689121"/>
                <a:ext cx="9144000" cy="1010213"/>
              </a:xfrm>
              <a:prstGeom prst="rect">
                <a:avLst/>
              </a:prstGeom>
              <a:blipFill>
                <a:blip r:embed="rId3"/>
                <a:stretch>
                  <a:fillRect l="-693"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8923206F-82AB-0747-A339-FC5A01D18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537611"/>
              </p:ext>
            </p:extLst>
          </p:nvPr>
        </p:nvGraphicFramePr>
        <p:xfrm>
          <a:off x="227934" y="5146848"/>
          <a:ext cx="1951419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6944B35F-4A43-B04A-BB9E-D01AC9DA7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558208"/>
              </p:ext>
            </p:extLst>
          </p:nvPr>
        </p:nvGraphicFramePr>
        <p:xfrm>
          <a:off x="2417244" y="5143058"/>
          <a:ext cx="1650048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2CDB2C-8D74-CE4E-A930-972021B288C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936045" y="2649589"/>
            <a:ext cx="2174345" cy="89811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DBF195-5739-F14D-BA40-DDA6B9AD2F9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298298" y="2649589"/>
            <a:ext cx="2637747" cy="91335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648EAE-666E-E044-A61C-110E4BA3D621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1203643" y="4233499"/>
            <a:ext cx="1094655" cy="913349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8ABC68-A412-A04B-866A-E1576875402F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2298298" y="4233499"/>
            <a:ext cx="943970" cy="909559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B0FD38D-4426-BF41-9632-13381FE93071}"/>
              </a:ext>
            </a:extLst>
          </p:cNvPr>
          <p:cNvSpPr/>
          <p:nvPr/>
        </p:nvSpPr>
        <p:spPr>
          <a:xfrm>
            <a:off x="3242268" y="3146093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depName→bldng,budget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4DCC1B-A09F-7A4E-BAD4-AA1036596468}"/>
              </a:ext>
            </a:extLst>
          </p:cNvPr>
          <p:cNvSpPr/>
          <p:nvPr/>
        </p:nvSpPr>
        <p:spPr>
          <a:xfrm>
            <a:off x="2770283" y="432852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iID→name,salary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A78270-9975-0E43-9D61-9AD534BFD0C2}"/>
                  </a:ext>
                </a:extLst>
              </p:cNvPr>
              <p:cNvSpPr txBox="1"/>
              <p:nvPr/>
            </p:nvSpPr>
            <p:spPr>
              <a:xfrm>
                <a:off x="16079" y="64300"/>
                <a:ext cx="9127921" cy="573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Why Do We Consider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3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3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US" sz="30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A78270-9975-0E43-9D61-9AD534BFD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64300"/>
                <a:ext cx="9127921" cy="573427"/>
              </a:xfrm>
              <a:prstGeom prst="rect">
                <a:avLst/>
              </a:prstGeom>
              <a:blipFill>
                <a:blip r:embed="rId3"/>
                <a:stretch>
                  <a:fillRect l="-1530" t="-1304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45867-E063-FF4A-B588-E5A1F6EFF3F8}"/>
                  </a:ext>
                </a:extLst>
              </p:cNvPr>
              <p:cNvSpPr txBox="1"/>
              <p:nvPr/>
            </p:nvSpPr>
            <p:spPr>
              <a:xfrm>
                <a:off x="108339" y="689121"/>
                <a:ext cx="9144000" cy="154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a split some non-trivial but implied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(through transitivity) could remain and cause redundancy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 panose="02040503050406030204" pitchFamily="18" charset="0"/>
                        <a:ea typeface="Cambria Math"/>
                      </a:rPr>
                      <m:t>: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iID→depName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; (ii)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depName→bldng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45867-E063-FF4A-B588-E5A1F6EFF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9" y="689121"/>
                <a:ext cx="9144000" cy="1543179"/>
              </a:xfrm>
              <a:prstGeom prst="rect">
                <a:avLst/>
              </a:prstGeom>
              <a:blipFill>
                <a:blip r:embed="rId4"/>
                <a:stretch>
                  <a:fillRect l="-69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3BB1BAB9-6AA0-474D-A844-1E17AE9CE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980499"/>
              </p:ext>
            </p:extLst>
          </p:nvPr>
        </p:nvGraphicFramePr>
        <p:xfrm>
          <a:off x="2534428" y="2299074"/>
          <a:ext cx="3495740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9420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19962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6E11E3-FF7D-0D4E-BCCF-CB32C53B1B63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4282298" y="3640194"/>
            <a:ext cx="2133499" cy="415599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20488B-5B52-5149-8BB5-A289CED5B0C6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2384323" y="3640194"/>
            <a:ext cx="1897975" cy="39054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57F23287-09D6-B949-9B81-17D6409BD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18501"/>
              </p:ext>
            </p:extLst>
          </p:nvPr>
        </p:nvGraphicFramePr>
        <p:xfrm>
          <a:off x="1597399" y="4030740"/>
          <a:ext cx="1573848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9420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58FCE33-E8AC-9144-8C6A-1C97B14455B6}"/>
              </a:ext>
            </a:extLst>
          </p:cNvPr>
          <p:cNvSpPr/>
          <p:nvPr/>
        </p:nvSpPr>
        <p:spPr>
          <a:xfrm>
            <a:off x="3079410" y="3742963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iID→depName</a:t>
            </a:r>
            <a:endParaRPr lang="en-US" dirty="0"/>
          </a:p>
        </p:txBody>
      </p:sp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85FB5EEC-B6A5-5F4F-A661-6FE872BF8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442914"/>
              </p:ext>
            </p:extLst>
          </p:nvPr>
        </p:nvGraphicFramePr>
        <p:xfrm>
          <a:off x="5185611" y="4055793"/>
          <a:ext cx="2460372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9420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199623"/>
                  </a:ext>
                </a:extLst>
              </a:tr>
            </a:tbl>
          </a:graphicData>
        </a:graphic>
      </p:graphicFrame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A7FDA4D-1B58-9746-A0A8-EA82B9D81D27}"/>
              </a:ext>
            </a:extLst>
          </p:cNvPr>
          <p:cNvSpPr/>
          <p:nvPr/>
        </p:nvSpPr>
        <p:spPr>
          <a:xfrm flipH="1">
            <a:off x="7038473" y="4418960"/>
            <a:ext cx="409072" cy="638751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BAA672-F5CB-D84B-9CC1-41F56371FAEF}"/>
              </a:ext>
            </a:extLst>
          </p:cNvPr>
          <p:cNvSpPr/>
          <p:nvPr/>
        </p:nvSpPr>
        <p:spPr>
          <a:xfrm>
            <a:off x="7721151" y="4417063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still repetition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297657-2BD8-704B-9035-B0F1F8B979A6}"/>
              </a:ext>
            </a:extLst>
          </p:cNvPr>
          <p:cNvCxnSpPr>
            <a:cxnSpLocks/>
            <a:stCxn id="18" idx="2"/>
            <a:endCxn id="35" idx="0"/>
          </p:cNvCxnSpPr>
          <p:nvPr/>
        </p:nvCxnSpPr>
        <p:spPr>
          <a:xfrm>
            <a:off x="6415797" y="5061633"/>
            <a:ext cx="1856772" cy="53138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EF6C74-0D6E-EF4A-8017-690F0076E728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4355577" y="5061633"/>
            <a:ext cx="2060220" cy="53138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18D4C74-2F82-3049-BB48-1CFDE5B85405}"/>
                  </a:ext>
                </a:extLst>
              </p:cNvPr>
              <p:cNvSpPr/>
              <p:nvPr/>
            </p:nvSpPr>
            <p:spPr>
              <a:xfrm>
                <a:off x="5169878" y="5279021"/>
                <a:ext cx="24205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need: </a:t>
                </a:r>
                <a:r>
                  <a:rPr lang="en-US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iID→bldg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18D4C74-2F82-3049-BB48-1CFDE5B85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878" y="5279021"/>
                <a:ext cx="2420534" cy="369332"/>
              </a:xfrm>
              <a:prstGeom prst="rect">
                <a:avLst/>
              </a:prstGeom>
              <a:blipFill>
                <a:blip r:embed="rId5"/>
                <a:stretch>
                  <a:fillRect l="-209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21">
            <a:extLst>
              <a:ext uri="{FF2B5EF4-FFF2-40B4-BE49-F238E27FC236}">
                <a16:creationId xmlns:a16="http://schemas.microsoft.com/office/drawing/2014/main" id="{BEC332E6-A536-DE44-800F-4902F1069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522276"/>
              </p:ext>
            </p:extLst>
          </p:nvPr>
        </p:nvGraphicFramePr>
        <p:xfrm>
          <a:off x="3681175" y="5593017"/>
          <a:ext cx="1348804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94208"/>
                  </a:ext>
                </a:extLst>
              </a:tr>
            </a:tbl>
          </a:graphicData>
        </a:graphic>
      </p:graphicFrame>
      <p:graphicFrame>
        <p:nvGraphicFramePr>
          <p:cNvPr id="35" name="Table 21">
            <a:extLst>
              <a:ext uri="{FF2B5EF4-FFF2-40B4-BE49-F238E27FC236}">
                <a16:creationId xmlns:a16="http://schemas.microsoft.com/office/drawing/2014/main" id="{DC7598F2-8B51-EF49-A7F9-46BFEE704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096886"/>
              </p:ext>
            </p:extLst>
          </p:nvPr>
        </p:nvGraphicFramePr>
        <p:xfrm>
          <a:off x="7447545" y="5593017"/>
          <a:ext cx="1650048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9420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199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07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 animBg="1"/>
      <p:bldP spid="20" grpId="0"/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Why is BCNF A Lossless Decomposition? 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DD670-3706-2149-9B80-E9117734D3DB}"/>
              </a:ext>
            </a:extLst>
          </p:cNvPr>
          <p:cNvSpPr/>
          <p:nvPr/>
        </p:nvSpPr>
        <p:spPr>
          <a:xfrm>
            <a:off x="-1" y="3298331"/>
            <a:ext cx="8987588" cy="19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By construction of the algorithm, X, which are the join attributes or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i.e.,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∩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is a key in one of the split relations.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Since it’s a key, the join is 1-1: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i.e., each tuple t in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will join with 1 tuple t’ in R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B5CF81-DEEF-4D4A-AF42-2B2D2A3DD309}"/>
                  </a:ext>
                </a:extLst>
              </p:cNvPr>
              <p:cNvSpPr txBox="1"/>
              <p:nvPr/>
            </p:nvSpPr>
            <p:spPr>
              <a:xfrm>
                <a:off x="16079" y="790705"/>
                <a:ext cx="8995573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Very High-level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Input: 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{ R }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find an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X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→ Y violating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BCNF on a relation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∊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s.t.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XY ∈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attr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(R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(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attr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(R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is the attributes/cols of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2. Split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into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– Y and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XY; 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    result = (result –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3. repeat 1-2 until no such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can be found.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B5CF81-DEEF-4D4A-AF42-2B2D2A3DD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790705"/>
                <a:ext cx="8995573" cy="2554545"/>
              </a:xfrm>
              <a:prstGeom prst="rect">
                <a:avLst/>
              </a:prstGeom>
              <a:blipFill>
                <a:blip r:embed="rId3"/>
                <a:stretch>
                  <a:fillRect l="-705" t="-1485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8BE7D8-BF94-2E48-B28A-BD162C5FFE96}"/>
              </a:ext>
            </a:extLst>
          </p:cNvPr>
          <p:cNvSpPr/>
          <p:nvPr/>
        </p:nvSpPr>
        <p:spPr>
          <a:xfrm flipH="1">
            <a:off x="4580039" y="2338107"/>
            <a:ext cx="1299412" cy="369608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Why is BCNF A Lossless Decomposition? (2)</a:t>
            </a:r>
          </a:p>
        </p:txBody>
      </p: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E685E405-C9A5-D648-BBF2-1D6391C4C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43063"/>
              </p:ext>
            </p:extLst>
          </p:nvPr>
        </p:nvGraphicFramePr>
        <p:xfrm>
          <a:off x="2411676" y="960457"/>
          <a:ext cx="4562603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526939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814564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8896336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5477847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564149"/>
                  </a:ext>
                </a:extLst>
              </a:tr>
            </a:tbl>
          </a:graphicData>
        </a:graphic>
      </p:graphicFrame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86478F25-8234-0441-8CCB-7CB2A42F0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02013"/>
              </p:ext>
            </p:extLst>
          </p:nvPr>
        </p:nvGraphicFramePr>
        <p:xfrm>
          <a:off x="523737" y="3828940"/>
          <a:ext cx="3062987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5142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630720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253204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166109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6637109"/>
                  </a:ext>
                </a:extLst>
              </a:tr>
            </a:tbl>
          </a:graphicData>
        </a:graphic>
      </p:graphicFrame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871D146E-4F72-BD40-A949-BD43DDD5C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392775"/>
              </p:ext>
            </p:extLst>
          </p:nvPr>
        </p:nvGraphicFramePr>
        <p:xfrm>
          <a:off x="5561730" y="3813700"/>
          <a:ext cx="2611184" cy="1356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18682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00792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D48D0F-E4E5-1D47-9EA3-BE3C2E0A86B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692977" y="3307417"/>
            <a:ext cx="2174345" cy="5062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EA300F-F77D-D648-8EAA-86C1874CD6D4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055230" y="3307417"/>
            <a:ext cx="2637747" cy="52152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2C8E78A-A852-CA4D-9C22-AAF541ED6623}"/>
              </a:ext>
            </a:extLst>
          </p:cNvPr>
          <p:cNvSpPr/>
          <p:nvPr/>
        </p:nvSpPr>
        <p:spPr>
          <a:xfrm>
            <a:off x="2949462" y="3497708"/>
            <a:ext cx="3249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depName→bldng,budget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505AE5-6931-2849-BFF0-67FD6C6391AB}"/>
              </a:ext>
            </a:extLst>
          </p:cNvPr>
          <p:cNvSpPr/>
          <p:nvPr/>
        </p:nvSpPr>
        <p:spPr>
          <a:xfrm flipH="1">
            <a:off x="523737" y="4491880"/>
            <a:ext cx="3058534" cy="369332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6E8127-9795-1245-9897-18D5429DE5CE}"/>
              </a:ext>
            </a:extLst>
          </p:cNvPr>
          <p:cNvSpPr/>
          <p:nvPr/>
        </p:nvSpPr>
        <p:spPr>
          <a:xfrm flipH="1">
            <a:off x="5557277" y="4517538"/>
            <a:ext cx="2611185" cy="321096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A0B46B-C752-F94D-A3D2-61E5A4D3E944}"/>
              </a:ext>
            </a:extLst>
          </p:cNvPr>
          <p:cNvSpPr/>
          <p:nvPr/>
        </p:nvSpPr>
        <p:spPr>
          <a:xfrm>
            <a:off x="156412" y="6248172"/>
            <a:ext cx="8987588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Since CS is key in R2, each R1 tuple can join with only 1 R2 tuple.</a:t>
            </a:r>
          </a:p>
        </p:txBody>
      </p:sp>
    </p:spTree>
    <p:extLst>
      <p:ext uri="{BB962C8B-B14F-4D97-AF65-F5344CB8AC3E}">
        <p14:creationId xmlns:p14="http://schemas.microsoft.com/office/powerpoint/2010/main" val="406368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Why is BCNF Decomp Alg. *Not* “Depend. Preserving”?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C16C3-8CA8-CC41-B7DB-5281C50C63C5}"/>
              </a:ext>
            </a:extLst>
          </p:cNvPr>
          <p:cNvSpPr/>
          <p:nvPr/>
        </p:nvSpPr>
        <p:spPr>
          <a:xfrm>
            <a:off x="-1" y="704501"/>
            <a:ext cx="8987588" cy="148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Decomposing on non-trivial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can “break” a non-trivial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Ex: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depName: an instructor belongs to 1 dep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        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depName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a student has 1 advisor from each dep.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AEDE5AFE-0D80-A442-BF20-702CC0FE3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016618"/>
              </p:ext>
            </p:extLst>
          </p:nvPr>
        </p:nvGraphicFramePr>
        <p:xfrm>
          <a:off x="3009286" y="2172580"/>
          <a:ext cx="2836228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DeptAdvisor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186829"/>
                  </a:ext>
                </a:extLst>
              </a:tr>
              <a:tr h="2634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007921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4023306"/>
                  </a:ext>
                </a:extLst>
              </a:tr>
            </a:tbl>
          </a:graphicData>
        </a:graphic>
      </p:graphicFrame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6BC5E0B9-C239-3F4E-92FA-4CB22C740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01476"/>
              </p:ext>
            </p:extLst>
          </p:nvPr>
        </p:nvGraphicFramePr>
        <p:xfrm>
          <a:off x="6333591" y="4227956"/>
          <a:ext cx="1724660" cy="1356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186829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007921"/>
                  </a:ext>
                </a:extLst>
              </a:tr>
            </a:tbl>
          </a:graphicData>
        </a:graphic>
      </p:graphicFrame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DECF50E3-8C34-EA49-B07D-A8248B27E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721206"/>
              </p:ext>
            </p:extLst>
          </p:nvPr>
        </p:nvGraphicFramePr>
        <p:xfrm>
          <a:off x="720349" y="4227956"/>
          <a:ext cx="1800860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186829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007921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4023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8D7737-4FA3-BC47-93B3-FC295EC1147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620779" y="3864220"/>
            <a:ext cx="2806621" cy="36373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C6AAA8-F223-5340-B907-E32453CA5C7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427400" y="3864220"/>
            <a:ext cx="2768521" cy="36373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547A7-880B-9143-970B-B7EA368751C3}"/>
              </a:ext>
            </a:extLst>
          </p:cNvPr>
          <p:cNvSpPr/>
          <p:nvPr/>
        </p:nvSpPr>
        <p:spPr>
          <a:xfrm>
            <a:off x="3189252" y="3974178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depName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81599-8FBE-074A-AC21-5A72476055FB}"/>
              </a:ext>
            </a:extLst>
          </p:cNvPr>
          <p:cNvSpPr/>
          <p:nvPr/>
        </p:nvSpPr>
        <p:spPr>
          <a:xfrm>
            <a:off x="55381" y="6018042"/>
            <a:ext cx="859401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Can no longer check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in a single relation. Need to join R1 and R2. </a:t>
            </a:r>
            <a:endParaRPr lang="en-US" sz="2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B63E2-4712-4B4B-B1FE-758B21924C49}"/>
              </a:ext>
            </a:extLst>
          </p:cNvPr>
          <p:cNvSpPr/>
          <p:nvPr/>
        </p:nvSpPr>
        <p:spPr>
          <a:xfrm>
            <a:off x="55381" y="2571623"/>
            <a:ext cx="2918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Not in BCNF. 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76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67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Dependency Preservation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8C16C3-8CA8-CC41-B7DB-5281C50C63C5}"/>
                  </a:ext>
                </a:extLst>
              </p:cNvPr>
              <p:cNvSpPr/>
              <p:nvPr/>
            </p:nvSpPr>
            <p:spPr>
              <a:xfrm>
                <a:off x="-1" y="704501"/>
                <a:ext cx="8987588" cy="29409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Dfn (Restriction): Let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restriction of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a relation R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contain all its attributes in R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Dfn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(Dependency Preservation): Let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on a relation R. Let D={R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…,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21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} be a decomposition of R with F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’, …,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1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as the restrictions of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onto R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=1,…,k.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=F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∪ … ∪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1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’. D is dependency preserving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iff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latin typeface="Cambria Math"/>
                                <a:ea typeface="Cambria Math"/>
                              </a:rPr>
                              <m:t>ℱ</m:t>
                            </m:r>
                          </m:e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/>
                              </a:rPr>
                              <m:t>+</m:t>
                            </m:r>
                          </m:sup>
                        </m:sSup>
                        <m:r>
                          <a:rPr lang="en-US" sz="21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=</m:t>
                        </m:r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  <m:r>
                          <a:rPr lang="en-US" sz="21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8C16C3-8CA8-CC41-B7DB-5281C50C6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04501"/>
                <a:ext cx="8987588" cy="2940933"/>
              </a:xfrm>
              <a:prstGeom prst="rect">
                <a:avLst/>
              </a:prstGeom>
              <a:blipFill>
                <a:blip r:embed="rId3"/>
                <a:stretch>
                  <a:fillRect l="-706" r="-1554" b="-2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B0B539-CD53-184A-8D79-3124A81C1AB4}"/>
                  </a:ext>
                </a:extLst>
              </p:cNvPr>
              <p:cNvSpPr/>
              <p:nvPr/>
            </p:nvSpPr>
            <p:spPr>
              <a:xfrm>
                <a:off x="16079" y="3645434"/>
                <a:ext cx="9127920" cy="1486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 some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may not be “localized” in a single relation in D but every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must be implied by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are localized to a single relation.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B0B539-CD53-184A-8D79-3124A81C1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9" y="3645434"/>
                <a:ext cx="9127920" cy="1486689"/>
              </a:xfrm>
              <a:prstGeom prst="rect">
                <a:avLst/>
              </a:prstGeom>
              <a:blipFill>
                <a:blip r:embed="rId4"/>
                <a:stretch>
                  <a:fillRect l="-69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21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Dependency Preservation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8C16C3-8CA8-CC41-B7DB-5281C50C63C5}"/>
                  </a:ext>
                </a:extLst>
              </p:cNvPr>
              <p:cNvSpPr/>
              <p:nvPr/>
            </p:nvSpPr>
            <p:spPr>
              <a:xfrm>
                <a:off x="-1" y="704501"/>
                <a:ext cx="8987588" cy="14866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  <m:r>
                      <a:rPr lang="en-US" sz="21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= 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depName: an instructor belongs to 1 dep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student has 1 advisor from each dep.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contains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depName.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78C16C3-8CA8-CC41-B7DB-5281C50C6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04501"/>
                <a:ext cx="8987588" cy="1486689"/>
              </a:xfrm>
              <a:prstGeom prst="rect">
                <a:avLst/>
              </a:prstGeom>
              <a:blipFill>
                <a:blip r:embed="rId3"/>
                <a:stretch>
                  <a:fillRect l="-706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AEDE5AFE-0D80-A442-BF20-702CC0FE3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93495"/>
              </p:ext>
            </p:extLst>
          </p:nvPr>
        </p:nvGraphicFramePr>
        <p:xfrm>
          <a:off x="2934277" y="2172580"/>
          <a:ext cx="2836228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DeptAdvisor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6BC5E0B9-C239-3F4E-92FA-4CB22C740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21051"/>
              </p:ext>
            </p:extLst>
          </p:nvPr>
        </p:nvGraphicFramePr>
        <p:xfrm>
          <a:off x="6333591" y="3269811"/>
          <a:ext cx="172466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DECF50E3-8C34-EA49-B07D-A8248B27E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39246"/>
              </p:ext>
            </p:extLst>
          </p:nvPr>
        </p:nvGraphicFramePr>
        <p:xfrm>
          <a:off x="720349" y="3269811"/>
          <a:ext cx="180086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8D7737-4FA3-BC47-93B3-FC295EC1147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620779" y="2858380"/>
            <a:ext cx="2731612" cy="41143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C6AAA8-F223-5340-B907-E32453CA5C7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352391" y="2858380"/>
            <a:ext cx="2843530" cy="41143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547A7-880B-9143-970B-B7EA368751C3}"/>
              </a:ext>
            </a:extLst>
          </p:cNvPr>
          <p:cNvSpPr/>
          <p:nvPr/>
        </p:nvSpPr>
        <p:spPr>
          <a:xfrm>
            <a:off x="3189252" y="3045246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depName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C808A-214F-7843-96D9-0B67239E79EA}"/>
              </a:ext>
            </a:extLst>
          </p:cNvPr>
          <p:cNvSpPr/>
          <p:nvPr/>
        </p:nvSpPr>
        <p:spPr>
          <a:xfrm>
            <a:off x="78205" y="4171083"/>
            <a:ext cx="8987588" cy="2456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Cannot check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 in a single relation but that’s OK.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We can still check it without any joins: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 can be checked in R2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can be checked in R1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imply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</a:t>
            </a:r>
          </a:p>
        </p:txBody>
      </p:sp>
    </p:spTree>
    <p:extLst>
      <p:ext uri="{BB962C8B-B14F-4D97-AF65-F5344CB8AC3E}">
        <p14:creationId xmlns:p14="http://schemas.microsoft.com/office/powerpoint/2010/main" val="272286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5288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Normal Form (3NF): Relaxation of BCNF To Allow Some “Reasonable” Redundancy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52D033-F8E4-FC4D-9A1F-E440DD15DE4A}"/>
                  </a:ext>
                </a:extLst>
              </p:cNvPr>
              <p:cNvSpPr txBox="1"/>
              <p:nvPr/>
            </p:nvSpPr>
            <p:spPr>
              <a:xfrm>
                <a:off x="0" y="1056585"/>
                <a:ext cx="9144000" cy="4072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Dfn: Given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 dirty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, a relation R is in 3NF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iff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∀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Y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s.t.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XY ⊆ R, one of the following three conditions hold: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Y is trivial (i.e., Y ⊆ X)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is a super key of R (i.e., 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R)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Each attribute in Y – X is part of a candidate key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Recall candidate key K: a set of “minimal” attributes K that form a key for R, i.e., no proper subset of K is a key for 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52D033-F8E4-FC4D-9A1F-E440DD15D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6585"/>
                <a:ext cx="9144000" cy="4072012"/>
              </a:xfrm>
              <a:prstGeom prst="rect">
                <a:avLst/>
              </a:prstGeom>
              <a:blipFill>
                <a:blip r:embed="rId3"/>
                <a:stretch>
                  <a:fillRect l="-1528" r="-833" b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93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3NF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8C16C3-8CA8-CC41-B7DB-5281C50C63C5}"/>
              </a:ext>
            </a:extLst>
          </p:cNvPr>
          <p:cNvSpPr/>
          <p:nvPr/>
        </p:nvSpPr>
        <p:spPr>
          <a:xfrm>
            <a:off x="-1" y="704501"/>
            <a:ext cx="8987588" cy="148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Recall non-BCNF example: 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→ depName: an instructor belongs to 1 dep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	fd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depName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a student has 1 advisor from each dep.</a:t>
            </a:r>
          </a:p>
        </p:txBody>
      </p:sp>
      <p:graphicFrame>
        <p:nvGraphicFramePr>
          <p:cNvPr id="6" name="Table 21">
            <a:extLst>
              <a:ext uri="{FF2B5EF4-FFF2-40B4-BE49-F238E27FC236}">
                <a16:creationId xmlns:a16="http://schemas.microsoft.com/office/drawing/2014/main" id="{AEDE5AFE-0D80-A442-BF20-702CC0FE3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397742"/>
              </p:ext>
            </p:extLst>
          </p:nvPr>
        </p:nvGraphicFramePr>
        <p:xfrm>
          <a:off x="2934277" y="2172580"/>
          <a:ext cx="2836228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DeptAdvisor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1186829"/>
                  </a:ext>
                </a:extLst>
              </a:tr>
              <a:tr h="26347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007921"/>
                  </a:ext>
                </a:extLst>
              </a:tr>
              <a:tr h="25839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40233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81599-8FBE-074A-AC21-5A72476055FB}"/>
                  </a:ext>
                </a:extLst>
              </p:cNvPr>
              <p:cNvSpPr/>
              <p:nvPr/>
            </p:nvSpPr>
            <p:spPr>
              <a:xfrm>
                <a:off x="8038" y="3775647"/>
                <a:ext cx="9144001" cy="30101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∉ BCNF but ∈ 3NF b/c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depName is a non-trivial, non-key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but: 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sID,depName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-&gt;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key. Moreover a </a:t>
                </a:r>
                <a:r>
                  <a:rPr lang="en-US" sz="2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candidate key.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B/c: depName nor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alone is a key (check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Key point: </a:t>
                </a:r>
                <a:r>
                  <a:rPr lang="en-US" sz="21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3NF relations can have redundant repetition (e.g., due to </a:t>
                </a:r>
                <a:r>
                  <a:rPr lang="en-US" sz="2100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→ depName) that BCNF does not.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1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this repetition allows us to verify every </a:t>
                </a:r>
                <a:r>
                  <a:rPr lang="en-US" sz="21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fd</a:t>
                </a:r>
                <a:r>
                  <a:rPr lang="en-US" sz="21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without any joins.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81599-8FBE-074A-AC21-5A72476055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" y="3775647"/>
                <a:ext cx="9144001" cy="3010183"/>
              </a:xfrm>
              <a:prstGeom prst="rect">
                <a:avLst/>
              </a:prstGeom>
              <a:blipFill>
                <a:blip r:embed="rId3"/>
                <a:stretch>
                  <a:fillRect l="-555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54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Intuition Behind 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Rule in 3NF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81599-8FBE-074A-AC21-5A72476055FB}"/>
                  </a:ext>
                </a:extLst>
              </p:cNvPr>
              <p:cNvSpPr/>
              <p:nvPr/>
            </p:nvSpPr>
            <p:spPr>
              <a:xfrm>
                <a:off x="-2" y="704501"/>
                <a:ext cx="9144001" cy="58494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BCNF requires that in the final relations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either </a:t>
                </a:r>
                <a:r>
                  <a:rPr lang="en-US" sz="2100" i="1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trivial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:r>
                  <a:rPr lang="en-US" sz="2100" i="1" dirty="0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Trivial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can’t lead to repetition. Neither can keys by definition.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If an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is non-trivial and non-key, a relation R needs to be decomposed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Problem: Not every relation R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a dependency preserving decomposition into BCNF. i.e., a decomposition using 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“break” the attributes of another non-trivial 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into 2 relations so a join is required.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Ex: 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 depName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	fd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depName →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iID</a:t>
                </a: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2100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3NF’s 3</a:t>
                </a:r>
                <a:r>
                  <a:rPr lang="en-US" sz="2100" baseline="300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rd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condition allows non-trivial, non key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X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→Y if each attribute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	A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∈ Y–X is part of a candidate key. 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E.g., depName is part of a cand. key, so we don’t need to decompose.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81599-8FBE-074A-AC21-5A72476055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704501"/>
                <a:ext cx="9144001" cy="5849422"/>
              </a:xfrm>
              <a:prstGeom prst="rect">
                <a:avLst/>
              </a:prstGeom>
              <a:blipFill>
                <a:blip r:embed="rId3"/>
                <a:stretch>
                  <a:fillRect l="-833" r="-278" b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C501EA36-C08B-7147-A9CF-F56EBECB7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009601"/>
              </p:ext>
            </p:extLst>
          </p:nvPr>
        </p:nvGraphicFramePr>
        <p:xfrm>
          <a:off x="4790345" y="3609831"/>
          <a:ext cx="2836228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DeptAdvisor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E0A298A2-11CC-1744-A527-1F006D1E8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12733"/>
              </p:ext>
            </p:extLst>
          </p:nvPr>
        </p:nvGraphicFramePr>
        <p:xfrm>
          <a:off x="6764243" y="4435043"/>
          <a:ext cx="172466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1035368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graphicFrame>
        <p:nvGraphicFramePr>
          <p:cNvPr id="11" name="Table 21">
            <a:extLst>
              <a:ext uri="{FF2B5EF4-FFF2-40B4-BE49-F238E27FC236}">
                <a16:creationId xmlns:a16="http://schemas.microsoft.com/office/drawing/2014/main" id="{8F77EB07-13E1-E748-943D-320A21711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52466"/>
              </p:ext>
            </p:extLst>
          </p:nvPr>
        </p:nvGraphicFramePr>
        <p:xfrm>
          <a:off x="3979867" y="4448152"/>
          <a:ext cx="180086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2060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110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4BDC74-EB3F-2145-A6AD-761F00085AB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4880297" y="4295631"/>
            <a:ext cx="1328162" cy="15252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0C7A9E-243A-A44B-B576-F6B413C4913C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208459" y="4295631"/>
            <a:ext cx="1418114" cy="13941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98A2858-0F1A-0640-9D30-DE9CEABE6041}"/>
              </a:ext>
            </a:extLst>
          </p:cNvPr>
          <p:cNvSpPr/>
          <p:nvPr/>
        </p:nvSpPr>
        <p:spPr>
          <a:xfrm flipH="1">
            <a:off x="522514" y="3702362"/>
            <a:ext cx="2529444" cy="40648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4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Intuition Behind 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Rule in 3NF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81599-8FBE-074A-AC21-5A72476055FB}"/>
              </a:ext>
            </a:extLst>
          </p:cNvPr>
          <p:cNvSpPr/>
          <p:nvPr/>
        </p:nvSpPr>
        <p:spPr>
          <a:xfrm>
            <a:off x="-2" y="704501"/>
            <a:ext cx="9144001" cy="5918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Question: Why does the 3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condition guarantee every relation has a dependency preserving decomposition?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cond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*: X → Y is OK if each A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Y – X is part of a candidate key.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High-level Intuition: Y – X are the “repeated” values due to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*.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Let A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Y – X. If A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is part of a candidate key in the relation R, then: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∃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  <a:r>
              <a:rPr lang="en-US" sz="2100">
                <a:latin typeface="Arial" panose="020B0604020202020204" pitchFamily="34" charset="0"/>
                <a:cs typeface="Arial" panose="020B0604020202020204" pitchFamily="34" charset="0"/>
              </a:rPr>
              <a:t>: Z, A</a:t>
            </a:r>
            <a:r>
              <a:rPr lang="en-US" sz="2100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→ R. So if we decompose according to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*: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 will split, so we need a join to check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3</a:t>
            </a:r>
            <a:r>
              <a:rPr lang="en-US" sz="2100" baseline="30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rule allows us to not split in these cases.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Note: This is not a proof.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simpler proof for Question: study a 3NF decomposition alg. (next slide) and observe that it is dependency preserving by construction and is guaranteed to output relations in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3NF.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9EEB7F-0741-DC43-AAC5-D252BBAC7780}"/>
              </a:ext>
            </a:extLst>
          </p:cNvPr>
          <p:cNvSpPr txBox="1"/>
          <p:nvPr/>
        </p:nvSpPr>
        <p:spPr>
          <a:xfrm>
            <a:off x="2422566" y="76833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3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" y="70450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3NF and BCNF Venn Diagram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9EEB7F-0741-DC43-AAC5-D252BBAC7780}"/>
              </a:ext>
            </a:extLst>
          </p:cNvPr>
          <p:cNvSpPr txBox="1"/>
          <p:nvPr/>
        </p:nvSpPr>
        <p:spPr>
          <a:xfrm>
            <a:off x="2422566" y="76833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E62DFA-38E8-2F42-86AA-3451C1803D27}"/>
              </a:ext>
            </a:extLst>
          </p:cNvPr>
          <p:cNvSpPr/>
          <p:nvPr/>
        </p:nvSpPr>
        <p:spPr>
          <a:xfrm>
            <a:off x="3063240" y="2075213"/>
            <a:ext cx="3017520" cy="30163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58CD32-EC7A-BB47-A717-5023C90A0DAE}"/>
              </a:ext>
            </a:extLst>
          </p:cNvPr>
          <p:cNvSpPr>
            <a:spLocks/>
          </p:cNvSpPr>
          <p:nvPr/>
        </p:nvSpPr>
        <p:spPr>
          <a:xfrm>
            <a:off x="2286000" y="1297379"/>
            <a:ext cx="4572000" cy="457200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89CDA-8B93-1E4C-8831-688DA08FB1C8}"/>
              </a:ext>
            </a:extLst>
          </p:cNvPr>
          <p:cNvSpPr txBox="1"/>
          <p:nvPr/>
        </p:nvSpPr>
        <p:spPr>
          <a:xfrm>
            <a:off x="3416259" y="1866797"/>
            <a:ext cx="10925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88D8E-6E79-2540-BEE5-B735059C6109}"/>
              </a:ext>
            </a:extLst>
          </p:cNvPr>
          <p:cNvSpPr txBox="1"/>
          <p:nvPr/>
        </p:nvSpPr>
        <p:spPr>
          <a:xfrm>
            <a:off x="2949261" y="1240547"/>
            <a:ext cx="10925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5E6C7-2670-864A-8308-3E8C48A551F5}"/>
              </a:ext>
            </a:extLst>
          </p:cNvPr>
          <p:cNvSpPr txBox="1"/>
          <p:nvPr/>
        </p:nvSpPr>
        <p:spPr>
          <a:xfrm>
            <a:off x="16079" y="713792"/>
            <a:ext cx="82372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Every relation in BCNF is in 3NF but not vice versa.</a:t>
            </a:r>
          </a:p>
        </p:txBody>
      </p:sp>
    </p:spTree>
    <p:extLst>
      <p:ext uri="{BB962C8B-B14F-4D97-AF65-F5344CB8AC3E}">
        <p14:creationId xmlns:p14="http://schemas.microsoft.com/office/powerpoint/2010/main" val="14267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3" grpId="0"/>
      <p:bldP spid="10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6079" y="103131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3NF Bottom-Up Decomp.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(1): </a:t>
            </a: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Minimal/Canonical Covers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C22A64-3157-9A49-9868-0106D18BDE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158670"/>
                <a:ext cx="9144000" cy="52646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 typeface="Wingdings" pitchFamily="2" charset="2"/>
                  <a:buChar char="Ø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set of FDs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minimal if:</a:t>
                </a:r>
              </a:p>
              <a:p>
                <a:pPr marL="914400" lvl="1" indent="-457200" algn="l">
                  <a:buFont typeface="+mj-lt"/>
                  <a:buAutoNum type="arabicPeriod"/>
                </a:pPr>
                <a:r>
                  <a:rPr lang="en-US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 right-hand side of a FD in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single attribute</a:t>
                </a:r>
              </a:p>
              <a:p>
                <a:pPr marL="914400" lvl="1" indent="-457200" algn="l">
                  <a:buFont typeface="+mj-lt"/>
                  <a:buAutoNum type="arabicPeriod"/>
                </a:pPr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no </a:t>
                </a:r>
                <a14:m>
                  <m:oMath xmlns:m="http://schemas.openxmlformats.org/officeDocument/2006/math">
                    <m:r>
                      <a:rPr lang="en-CA" sz="2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sz="21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CA" sz="2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set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  <m:r>
                      <a:rPr lang="en-CA" sz="21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−{</m:t>
                    </m:r>
                    <m:r>
                      <a:rPr lang="en-CA" sz="21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m:rPr>
                        <m:nor/>
                      </m:rPr>
                      <a:rPr lang="en-US" sz="21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CA" sz="21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CA" sz="21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}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equivalent to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i.e.,                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′ 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  <m:r>
                      <a:rPr lang="en-CA" sz="21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m:rPr>
                            <m:nor/>
                          </m:rPr>
                          <a:rPr lang="en-US" sz="210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→</m:t>
                        </m:r>
                        <m: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1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100" i="1" dirty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ℱ</m:t>
                            </m:r>
                          </m:e>
                          <m:sup>
                            <m:r>
                              <a:rPr lang="en-US" sz="21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′</m:t>
                            </m:r>
                            <m:r>
                              <a:rPr lang="en-US" sz="2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+</m:t>
                            </m:r>
                            <m:r>
                              <a:rPr lang="en-US" sz="21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 </m:t>
                            </m:r>
                          </m:sup>
                        </m:sSup>
                        <m:r>
                          <a:rPr lang="en-US" sz="21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=</m:t>
                        </m:r>
                        <m:r>
                          <a:rPr lang="en-US" sz="2100" b="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ℱ</m:t>
                        </m:r>
                      </m:e>
                      <m:sup>
                        <m:r>
                          <a:rPr lang="en-US" sz="21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914400" lvl="1" indent="-457200" algn="l">
                  <a:buFont typeface="+mj-lt"/>
                  <a:buAutoNum type="arabicPeriod"/>
                </a:pPr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no </a:t>
                </a:r>
                <a14:m>
                  <m:oMath xmlns:m="http://schemas.openxmlformats.org/officeDocument/2006/math">
                    <m:r>
                      <a:rPr lang="en-CA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sz="21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CA" sz="2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A" sz="2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proper subset of </a:t>
                </a:r>
                <a14:m>
                  <m:oMath xmlns:m="http://schemas.openxmlformats.org/officeDocument/2006/math">
                    <m:r>
                      <a:rPr lang="en-CA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set </a:t>
                </a:r>
                <a:b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CA" sz="21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  <m:r>
                      <a:rPr lang="en-CA" sz="21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m:rPr>
                            <m:nor/>
                          </m:rPr>
                          <a:rPr lang="en-US" sz="210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→</m:t>
                        </m:r>
                        <m:r>
                          <a:rPr lang="en-CA" sz="2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en-CA" sz="21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)∪</m:t>
                    </m:r>
                    <m:d>
                      <m:dPr>
                        <m:begChr m:val="{"/>
                        <m:endChr m:val="}"/>
                        <m:ctrlP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CA" sz="21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𝑍</m:t>
                        </m:r>
                        <m:r>
                          <m:rPr>
                            <m:nor/>
                          </m:rPr>
                          <a:rPr lang="en-US" sz="210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→</m:t>
                        </m:r>
                        <m:r>
                          <a:rPr lang="en-CA" sz="21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equivalent to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 algn="l">
                  <a:buFont typeface="Wingdings" pitchFamily="2" charset="2"/>
                  <a:buChar char="Ø"/>
                </a:pPr>
                <a:r>
                  <a:rPr lang="en-CA" sz="2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Ex: R(A, B, C, D, E, F, G)</a:t>
                </a:r>
                <a:endParaRPr lang="en-US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CA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l"/>
                <a:endParaRPr lang="en-CA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l"/>
                <a:endParaRPr lang="en-CA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l"/>
                <a:endParaRPr lang="en-CA" sz="2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C22A64-3157-9A49-9868-0106D18BD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58670"/>
                <a:ext cx="9144000" cy="5264622"/>
              </a:xfrm>
              <a:prstGeom prst="rect">
                <a:avLst/>
              </a:prstGeom>
              <a:blipFill>
                <a:blip r:embed="rId3"/>
                <a:stretch>
                  <a:fillRect l="-694" t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6F17B9-E3C8-BD43-AC5B-9FB206B7BC6A}"/>
                  </a:ext>
                </a:extLst>
              </p:cNvPr>
              <p:cNvSpPr/>
              <p:nvPr/>
            </p:nvSpPr>
            <p:spPr>
              <a:xfrm>
                <a:off x="510160" y="3790981"/>
                <a:ext cx="2280542" cy="170816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/>
                        <a:ea typeface="Cambria Math"/>
                      </a:rPr>
                      <m:t>ℱ</m:t>
                    </m:r>
                  </m:oMath>
                </a14:m>
                <a:r>
                  <a:rPr lang="en-US" sz="2100" dirty="0"/>
                  <a:t>: fd</a:t>
                </a:r>
                <a:r>
                  <a:rPr lang="en-US" sz="2100" baseline="-25000" dirty="0"/>
                  <a:t>1</a:t>
                </a:r>
                <a:r>
                  <a:rPr lang="en-US" sz="2100" dirty="0"/>
                  <a:t>: </a:t>
                </a: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m:rPr>
                        <m:nor/>
                      </m:rPr>
                      <a: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𝐵𝐶</m:t>
                    </m:r>
                  </m:oMath>
                </a14:m>
                <a:r>
                  <a:rPr lang="en-US" sz="2100" dirty="0"/>
                  <a:t>       </a:t>
                </a:r>
                <a:br>
                  <a:rPr lang="en-US" sz="2100" dirty="0"/>
                </a:br>
                <a:r>
                  <a:rPr lang="en-US" sz="2100" dirty="0"/>
                  <a:t>      fd</a:t>
                </a:r>
                <a:r>
                  <a:rPr lang="en-US" sz="2100" baseline="-25000" dirty="0"/>
                  <a:t>2</a:t>
                </a:r>
                <a:r>
                  <a:rPr lang="en-US" sz="2100" dirty="0"/>
                  <a:t>: D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𝐸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100" i="1" dirty="0"/>
                  <a:t>        </a:t>
                </a:r>
                <a:br>
                  <a:rPr lang="en-US" sz="2100" i="1" dirty="0"/>
                </a:br>
                <a:r>
                  <a:rPr lang="en-US" sz="2100" i="1" dirty="0"/>
                  <a:t>      </a:t>
                </a:r>
                <a:r>
                  <a:rPr lang="en-US" sz="2100" dirty="0"/>
                  <a:t>fd</a:t>
                </a:r>
                <a:r>
                  <a:rPr lang="en-US" sz="2100" baseline="-25000" dirty="0"/>
                  <a:t>3</a:t>
                </a:r>
                <a:r>
                  <a:rPr lang="en-US" sz="2100" dirty="0"/>
                  <a:t>: A,D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𝐹</m:t>
                    </m:r>
                  </m:oMath>
                </a14:m>
                <a:endParaRPr lang="en-CA" sz="2100" b="0" dirty="0">
                  <a:ea typeface="Cambria Math"/>
                </a:endParaRPr>
              </a:p>
              <a:p>
                <a:r>
                  <a:rPr lang="en-US" sz="2100" i="1" dirty="0"/>
                  <a:t>      </a:t>
                </a:r>
                <a:r>
                  <a:rPr lang="en-US" sz="2100" dirty="0"/>
                  <a:t>fd</a:t>
                </a:r>
                <a:r>
                  <a:rPr lang="en-US" sz="2100" baseline="-25000" dirty="0"/>
                  <a:t>4</a:t>
                </a:r>
                <a:r>
                  <a:rPr lang="en-US" sz="2100" dirty="0"/>
                  <a:t>: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𝐸</m:t>
                    </m:r>
                    <m:r>
                      <m:rPr>
                        <m:nor/>
                      </m:rPr>
                      <a: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𝐹</m:t>
                    </m:r>
                  </m:oMath>
                </a14:m>
                <a:endParaRPr lang="en-US" sz="2100" b="0" dirty="0">
                  <a:ea typeface="Cambria Math"/>
                </a:endParaRPr>
              </a:p>
              <a:p>
                <a:r>
                  <a:rPr lang="en-US" sz="2100" i="1" dirty="0"/>
                  <a:t>      </a:t>
                </a:r>
                <a:r>
                  <a:rPr lang="en-US" sz="2100" dirty="0"/>
                  <a:t>fd</a:t>
                </a:r>
                <a:r>
                  <a:rPr lang="en-US" sz="2100" baseline="-25000" dirty="0"/>
                  <a:t>5</a:t>
                </a:r>
                <a:r>
                  <a:rPr lang="en-US" sz="2100" dirty="0"/>
                  <a:t>: D,E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</a:t>
                </a: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  <a:ea typeface="Cambria Math"/>
                      </a:rPr>
                      <m:t>𝐺</m:t>
                    </m:r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6F17B9-E3C8-BD43-AC5B-9FB206B7B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0" y="3790981"/>
                <a:ext cx="2280542" cy="1708160"/>
              </a:xfrm>
              <a:prstGeom prst="rect">
                <a:avLst/>
              </a:prstGeom>
              <a:blipFill>
                <a:blip r:embed="rId4"/>
                <a:stretch>
                  <a:fillRect t="-2222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6FF3A7E-2D99-234D-A98A-87D400B0ECB8}"/>
              </a:ext>
            </a:extLst>
          </p:cNvPr>
          <p:cNvSpPr/>
          <p:nvPr/>
        </p:nvSpPr>
        <p:spPr>
          <a:xfrm flipH="1">
            <a:off x="869425" y="3853180"/>
            <a:ext cx="1508164" cy="33249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AC6176-7E3E-2445-A799-5954EC9EFD87}"/>
              </a:ext>
            </a:extLst>
          </p:cNvPr>
          <p:cNvCxnSpPr>
            <a:cxnSpLocks/>
          </p:cNvCxnSpPr>
          <p:nvPr/>
        </p:nvCxnSpPr>
        <p:spPr>
          <a:xfrm flipH="1">
            <a:off x="2576945" y="4019427"/>
            <a:ext cx="8787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DD9AAB-EA56-144D-87FD-C57B515C2B76}"/>
              </a:ext>
            </a:extLst>
          </p:cNvPr>
          <p:cNvSpPr txBox="1"/>
          <p:nvPr/>
        </p:nvSpPr>
        <p:spPr>
          <a:xfrm>
            <a:off x="3407741" y="3816342"/>
            <a:ext cx="228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Fails Condition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46C802-D85B-7440-97AA-370892819021}"/>
              </a:ext>
            </a:extLst>
          </p:cNvPr>
          <p:cNvSpPr txBox="1"/>
          <p:nvPr/>
        </p:nvSpPr>
        <p:spPr>
          <a:xfrm>
            <a:off x="3455719" y="4441961"/>
            <a:ext cx="4975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Fails Condition 2: e.g., fd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fd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imply fd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151C42-7B01-4644-8BC7-9FA881BDB085}"/>
              </a:ext>
            </a:extLst>
          </p:cNvPr>
          <p:cNvCxnSpPr>
            <a:cxnSpLocks/>
          </p:cNvCxnSpPr>
          <p:nvPr/>
        </p:nvCxnSpPr>
        <p:spPr>
          <a:xfrm flipH="1">
            <a:off x="2528967" y="4646840"/>
            <a:ext cx="8787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F2A4869-579D-1848-A825-54DD256ED8DC}"/>
              </a:ext>
            </a:extLst>
          </p:cNvPr>
          <p:cNvSpPr/>
          <p:nvPr/>
        </p:nvSpPr>
        <p:spPr>
          <a:xfrm flipH="1">
            <a:off x="869425" y="4478814"/>
            <a:ext cx="1508164" cy="33249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FA0501-5966-5443-8E30-44F1AFC1E48A}"/>
              </a:ext>
            </a:extLst>
          </p:cNvPr>
          <p:cNvCxnSpPr>
            <a:cxnSpLocks/>
          </p:cNvCxnSpPr>
          <p:nvPr/>
        </p:nvCxnSpPr>
        <p:spPr>
          <a:xfrm flipH="1">
            <a:off x="2410689" y="5309879"/>
            <a:ext cx="8787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8C8B81A-9DB3-6741-9B5A-4A434627C0DA}"/>
              </a:ext>
            </a:extLst>
          </p:cNvPr>
          <p:cNvSpPr txBox="1"/>
          <p:nvPr/>
        </p:nvSpPr>
        <p:spPr>
          <a:xfrm>
            <a:off x="3407741" y="5066006"/>
            <a:ext cx="5023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Fails Condition 3: difficult to directly see, but you can try that having instead fd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D→G has the same closure, i.e., is the same set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63ACABC-9748-5F48-AB2E-CB95202C674E}"/>
              </a:ext>
            </a:extLst>
          </p:cNvPr>
          <p:cNvSpPr/>
          <p:nvPr/>
        </p:nvSpPr>
        <p:spPr>
          <a:xfrm flipH="1">
            <a:off x="869425" y="5143632"/>
            <a:ext cx="1508164" cy="332494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9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5" grpId="0"/>
      <p:bldP spid="17" grpId="0" animBg="1"/>
      <p:bldP spid="19" grpId="0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6079" y="68135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3NF Bottom-Up Decomp.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3E2D7031-5B7F-E24F-99DD-ECB615204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79" y="928624"/>
            <a:ext cx="7489042" cy="535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332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74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Restatement of FDs: Conditional Independence Among Attribute Sets (1)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054F2-0B3C-C842-90D3-392499102EEE}"/>
              </a:ext>
            </a:extLst>
          </p:cNvPr>
          <p:cNvSpPr/>
          <p:nvPr/>
        </p:nvSpPr>
        <p:spPr>
          <a:xfrm>
            <a:off x="106878" y="1181131"/>
            <a:ext cx="9037122" cy="19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Recall the informal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of FDs: Let X, Y be sets of attributes. A functional dependency X → Y holds if for each possible value of attributes X there is only 1 possible value Y value. I.e. X “determines” Y uniquely (independent of other values in a tuple).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59585-569E-F84A-A7E8-A9AFE8E14C64}"/>
              </a:ext>
            </a:extLst>
          </p:cNvPr>
          <p:cNvSpPr/>
          <p:nvPr/>
        </p:nvSpPr>
        <p:spPr>
          <a:xfrm>
            <a:off x="45399" y="3152568"/>
            <a:ext cx="9037122" cy="1971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Equivalently: Let “RST= R- (X ∪ Y). X → Y means given a set of X values (x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Y values of tuples w/ (x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): are independent of values in RST.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And there is only 1 set of Y values.</a:t>
            </a:r>
          </a:p>
        </p:txBody>
      </p:sp>
    </p:spTree>
    <p:extLst>
      <p:ext uri="{BB962C8B-B14F-4D97-AF65-F5344CB8AC3E}">
        <p14:creationId xmlns:p14="http://schemas.microsoft.com/office/powerpoint/2010/main" val="39719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Restatement of FDs: Conditional Independence Among Attribute Sets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59585-569E-F84A-A7E8-A9AFE8E14C64}"/>
              </a:ext>
            </a:extLst>
          </p:cNvPr>
          <p:cNvSpPr/>
          <p:nvPr/>
        </p:nvSpPr>
        <p:spPr>
          <a:xfrm>
            <a:off x="0" y="1098041"/>
            <a:ext cx="9037122" cy="1486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Let “RST= R- (X ∪ Y). X → Y means given a set of X values (x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Y values of tuples w/ (x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): are independent of values in RST.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And there is only 1 set of Y values.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C196A-9657-4949-9010-17A9FB8D5A21}"/>
              </a:ext>
            </a:extLst>
          </p:cNvPr>
          <p:cNvSpPr txBox="1"/>
          <p:nvPr/>
        </p:nvSpPr>
        <p:spPr>
          <a:xfrm>
            <a:off x="114917" y="4596410"/>
            <a:ext cx="9144000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Ex: depName →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bldng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budget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RST: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name, salary </a:t>
            </a:r>
          </a:p>
        </p:txBody>
      </p:sp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F2FC80BD-F4B9-3748-945E-BA26427CE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91831"/>
              </p:ext>
            </p:extLst>
          </p:nvPr>
        </p:nvGraphicFramePr>
        <p:xfrm>
          <a:off x="2140901" y="2584730"/>
          <a:ext cx="4562603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712534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  <a:gridCol w="810324">
                  <a:extLst>
                    <a:ext uri="{9D8B030D-6E8A-4147-A177-3AD203B41FA5}">
                      <a16:colId xmlns:a16="http://schemas.microsoft.com/office/drawing/2014/main" val="3748470761"/>
                    </a:ext>
                  </a:extLst>
                </a:gridCol>
              </a:tblGrid>
              <a:tr h="29834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salary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Diana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2192504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08E503C-8D7F-DB45-B51D-3B9767E7E960}"/>
              </a:ext>
            </a:extLst>
          </p:cNvPr>
          <p:cNvSpPr/>
          <p:nvPr/>
        </p:nvSpPr>
        <p:spPr>
          <a:xfrm flipH="1">
            <a:off x="4138435" y="3241964"/>
            <a:ext cx="1062957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DDFA0B-4DDF-2748-9F62-FCFB5150555D}"/>
              </a:ext>
            </a:extLst>
          </p:cNvPr>
          <p:cNvSpPr/>
          <p:nvPr/>
        </p:nvSpPr>
        <p:spPr>
          <a:xfrm flipH="1">
            <a:off x="4138435" y="3929083"/>
            <a:ext cx="1062957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EEF885-675E-8E43-8045-2240DD414FE7}"/>
              </a:ext>
            </a:extLst>
          </p:cNvPr>
          <p:cNvSpPr/>
          <p:nvPr/>
        </p:nvSpPr>
        <p:spPr>
          <a:xfrm flipH="1">
            <a:off x="4138434" y="4260068"/>
            <a:ext cx="1062957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B48364-EB0D-6B4A-9FAC-285B312FA5F6}"/>
              </a:ext>
            </a:extLst>
          </p:cNvPr>
          <p:cNvSpPr/>
          <p:nvPr/>
        </p:nvSpPr>
        <p:spPr>
          <a:xfrm flipH="1">
            <a:off x="2140900" y="3238064"/>
            <a:ext cx="1908585" cy="35250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7565CE-283D-8C4C-8031-CDD3757A1C3D}"/>
              </a:ext>
            </a:extLst>
          </p:cNvPr>
          <p:cNvSpPr/>
          <p:nvPr/>
        </p:nvSpPr>
        <p:spPr>
          <a:xfrm flipH="1">
            <a:off x="2140900" y="3925474"/>
            <a:ext cx="1908585" cy="35250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FC81090-4FBA-7F4F-B324-A648C18C44FB}"/>
              </a:ext>
            </a:extLst>
          </p:cNvPr>
          <p:cNvSpPr/>
          <p:nvPr/>
        </p:nvSpPr>
        <p:spPr>
          <a:xfrm flipH="1">
            <a:off x="2140900" y="4272551"/>
            <a:ext cx="1908585" cy="352505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736F39-AF4A-564D-A141-D8C3CA24912D}"/>
              </a:ext>
            </a:extLst>
          </p:cNvPr>
          <p:cNvSpPr/>
          <p:nvPr/>
        </p:nvSpPr>
        <p:spPr>
          <a:xfrm flipH="1">
            <a:off x="5201390" y="3250045"/>
            <a:ext cx="1502113" cy="352505"/>
          </a:xfrm>
          <a:prstGeom prst="roundRect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74496D7-5DAC-EF47-9133-54E34851FB2A}"/>
              </a:ext>
            </a:extLst>
          </p:cNvPr>
          <p:cNvSpPr/>
          <p:nvPr/>
        </p:nvSpPr>
        <p:spPr>
          <a:xfrm flipH="1">
            <a:off x="5201390" y="3900437"/>
            <a:ext cx="1502113" cy="352505"/>
          </a:xfrm>
          <a:prstGeom prst="roundRect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E44A023-1758-9541-965F-1B0EE72E7A98}"/>
              </a:ext>
            </a:extLst>
          </p:cNvPr>
          <p:cNvSpPr/>
          <p:nvPr/>
        </p:nvSpPr>
        <p:spPr>
          <a:xfrm flipH="1">
            <a:off x="5201390" y="4243297"/>
            <a:ext cx="1502113" cy="352505"/>
          </a:xfrm>
          <a:prstGeom prst="roundRect">
            <a:avLst/>
          </a:prstGeom>
          <a:noFill/>
          <a:ln w="34925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1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Multivalued Dependencies (MVDs): Generalized Conditional Independence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D3D13-190E-E54A-A36A-48D097CCB2F6}"/>
              </a:ext>
            </a:extLst>
          </p:cNvPr>
          <p:cNvSpPr txBox="1"/>
          <p:nvPr/>
        </p:nvSpPr>
        <p:spPr>
          <a:xfrm>
            <a:off x="0" y="1121189"/>
            <a:ext cx="9144000" cy="342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MVDs remove uniqueness constraint: given X, Y is independent of RST.</a:t>
            </a:r>
          </a:p>
          <a:p>
            <a:pPr algn="ctr">
              <a:lnSpc>
                <a:spcPct val="150000"/>
              </a:lnSpc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(MVD): Let X, Y be sets of attributes. An MVD X ↠ Y holds in R, 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given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≠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[Y],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then ∃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3,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05FF07-15AE-BB42-89C2-B2D29168E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533500"/>
              </p:ext>
            </p:extLst>
          </p:nvPr>
        </p:nvGraphicFramePr>
        <p:xfrm>
          <a:off x="3267693" y="4809711"/>
          <a:ext cx="2608614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709">
                  <a:extLst>
                    <a:ext uri="{9D8B030D-6E8A-4147-A177-3AD203B41FA5}">
                      <a16:colId xmlns:a16="http://schemas.microsoft.com/office/drawing/2014/main" val="1177865026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109078823"/>
                    </a:ext>
                  </a:extLst>
                </a:gridCol>
                <a:gridCol w="583142">
                  <a:extLst>
                    <a:ext uri="{9D8B030D-6E8A-4147-A177-3AD203B41FA5}">
                      <a16:colId xmlns:a16="http://schemas.microsoft.com/office/drawing/2014/main" val="83052748"/>
                    </a:ext>
                  </a:extLst>
                </a:gridCol>
                <a:gridCol w="799140">
                  <a:extLst>
                    <a:ext uri="{9D8B030D-6E8A-4147-A177-3AD203B41FA5}">
                      <a16:colId xmlns:a16="http://schemas.microsoft.com/office/drawing/2014/main" val="1488351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69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56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906035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FF14FC-BDB5-C94A-866D-738B4424D8BF}"/>
              </a:ext>
            </a:extLst>
          </p:cNvPr>
          <p:cNvSpPr/>
          <p:nvPr/>
        </p:nvSpPr>
        <p:spPr>
          <a:xfrm flipH="1">
            <a:off x="4476996" y="5201393"/>
            <a:ext cx="570015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6F1C7F5-2AFC-B949-A27A-C47A0EFDBA55}"/>
              </a:ext>
            </a:extLst>
          </p:cNvPr>
          <p:cNvSpPr/>
          <p:nvPr/>
        </p:nvSpPr>
        <p:spPr>
          <a:xfrm flipH="1">
            <a:off x="5092752" y="5561128"/>
            <a:ext cx="700648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34DDC0-41B5-C44E-B37F-D2638698608E}"/>
              </a:ext>
            </a:extLst>
          </p:cNvPr>
          <p:cNvSpPr/>
          <p:nvPr/>
        </p:nvSpPr>
        <p:spPr>
          <a:xfrm flipH="1">
            <a:off x="5092752" y="5191720"/>
            <a:ext cx="700648" cy="352505"/>
          </a:xfrm>
          <a:prstGeom prst="round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73C7DB-6D44-E94F-83FC-948526D3CAAA}"/>
              </a:ext>
            </a:extLst>
          </p:cNvPr>
          <p:cNvSpPr/>
          <p:nvPr/>
        </p:nvSpPr>
        <p:spPr>
          <a:xfrm flipH="1">
            <a:off x="4488870" y="5566803"/>
            <a:ext cx="570015" cy="352505"/>
          </a:xfrm>
          <a:prstGeom prst="round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5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Multivalued Dependencies (MVDs): Generalized Conditional Independence 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D3D13-190E-E54A-A36A-48D097CCB2F6}"/>
              </a:ext>
            </a:extLst>
          </p:cNvPr>
          <p:cNvSpPr txBox="1"/>
          <p:nvPr/>
        </p:nvSpPr>
        <p:spPr>
          <a:xfrm>
            <a:off x="0" y="1121189"/>
            <a:ext cx="9144000" cy="342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MVDs remove uniqueness constraint: given X, Y is independent of RST.</a:t>
            </a:r>
          </a:p>
          <a:p>
            <a:pPr algn="ctr">
              <a:lnSpc>
                <a:spcPct val="150000"/>
              </a:lnSpc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(MVD): Let X, Y be sets of attributes. An MVD X ↠ Y holds in R, 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 given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≠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[Y],</a:t>
            </a:r>
          </a:p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then ∃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3,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FF14FC-BDB5-C94A-866D-738B4424D8BF}"/>
              </a:ext>
            </a:extLst>
          </p:cNvPr>
          <p:cNvSpPr/>
          <p:nvPr/>
        </p:nvSpPr>
        <p:spPr>
          <a:xfrm flipH="1">
            <a:off x="4476996" y="5201393"/>
            <a:ext cx="570015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6F1C7F5-2AFC-B949-A27A-C47A0EFDBA55}"/>
              </a:ext>
            </a:extLst>
          </p:cNvPr>
          <p:cNvSpPr/>
          <p:nvPr/>
        </p:nvSpPr>
        <p:spPr>
          <a:xfrm flipH="1">
            <a:off x="5092752" y="5561128"/>
            <a:ext cx="700648" cy="352505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34DDC0-41B5-C44E-B37F-D2638698608E}"/>
              </a:ext>
            </a:extLst>
          </p:cNvPr>
          <p:cNvSpPr/>
          <p:nvPr/>
        </p:nvSpPr>
        <p:spPr>
          <a:xfrm flipH="1">
            <a:off x="5092752" y="5191720"/>
            <a:ext cx="700648" cy="352505"/>
          </a:xfrm>
          <a:prstGeom prst="round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73C7DB-6D44-E94F-83FC-948526D3CAAA}"/>
              </a:ext>
            </a:extLst>
          </p:cNvPr>
          <p:cNvSpPr/>
          <p:nvPr/>
        </p:nvSpPr>
        <p:spPr>
          <a:xfrm flipH="1">
            <a:off x="4488870" y="5566803"/>
            <a:ext cx="570015" cy="352505"/>
          </a:xfrm>
          <a:prstGeom prst="roundRect">
            <a:avLst/>
          </a:prstGeom>
          <a:noFill/>
          <a:ln w="34925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9B24A62F-A8D4-5247-B262-5CCB52E01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70842"/>
              </p:ext>
            </p:extLst>
          </p:nvPr>
        </p:nvGraphicFramePr>
        <p:xfrm>
          <a:off x="3267693" y="4809711"/>
          <a:ext cx="2608614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709">
                  <a:extLst>
                    <a:ext uri="{9D8B030D-6E8A-4147-A177-3AD203B41FA5}">
                      <a16:colId xmlns:a16="http://schemas.microsoft.com/office/drawing/2014/main" val="1177865026"/>
                    </a:ext>
                  </a:extLst>
                </a:gridCol>
                <a:gridCol w="627623">
                  <a:extLst>
                    <a:ext uri="{9D8B030D-6E8A-4147-A177-3AD203B41FA5}">
                      <a16:colId xmlns:a16="http://schemas.microsoft.com/office/drawing/2014/main" val="2109078823"/>
                    </a:ext>
                  </a:extLst>
                </a:gridCol>
                <a:gridCol w="583142">
                  <a:extLst>
                    <a:ext uri="{9D8B030D-6E8A-4147-A177-3AD203B41FA5}">
                      <a16:colId xmlns:a16="http://schemas.microsoft.com/office/drawing/2014/main" val="83052748"/>
                    </a:ext>
                  </a:extLst>
                </a:gridCol>
                <a:gridCol w="799140">
                  <a:extLst>
                    <a:ext uri="{9D8B030D-6E8A-4147-A177-3AD203B41FA5}">
                      <a16:colId xmlns:a16="http://schemas.microsoft.com/office/drawing/2014/main" val="1488351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69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56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90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38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102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Multivalued Dependencies (MVDs): Generalized Conditional Independence Constraints</a:t>
            </a:r>
          </a:p>
        </p:txBody>
      </p:sp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D20C0D43-943C-0A4E-9041-0D9673D6E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84087"/>
              </p:ext>
            </p:extLst>
          </p:nvPr>
        </p:nvGraphicFramePr>
        <p:xfrm>
          <a:off x="164488" y="2737603"/>
          <a:ext cx="4459287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19542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carl@gmail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597068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3B6A6DD-D1FC-F149-A4C6-C0DE749251AD}"/>
              </a:ext>
            </a:extLst>
          </p:cNvPr>
          <p:cNvSpPr/>
          <p:nvPr/>
        </p:nvSpPr>
        <p:spPr>
          <a:xfrm>
            <a:off x="0" y="1098041"/>
            <a:ext cx="9144000" cy="1494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 Constraint: given an instructor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i’s emails are independent of the departments and buildings of these departments (but not unique).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↠ email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A24D6E-1EFD-7D4B-9920-57177AFB92BB}"/>
              </a:ext>
            </a:extLst>
          </p:cNvPr>
          <p:cNvSpPr/>
          <p:nvPr/>
        </p:nvSpPr>
        <p:spPr>
          <a:xfrm>
            <a:off x="4623775" y="3074798"/>
            <a:ext cx="4706900" cy="1979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Let x* be a set of values for X attributes (possibly &gt; 1)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for any X values , R contains exactly: {x*} X {𝚷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(𝞂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X=x*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(R)} X {𝚷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RST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(𝞂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X=x*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(R)}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4627ED-0990-E244-8E93-EF7B2B586BA2}"/>
              </a:ext>
            </a:extLst>
          </p:cNvPr>
          <p:cNvCxnSpPr>
            <a:cxnSpLocks/>
          </p:cNvCxnSpPr>
          <p:nvPr/>
        </p:nvCxnSpPr>
        <p:spPr>
          <a:xfrm flipV="1">
            <a:off x="5343896" y="5054507"/>
            <a:ext cx="0" cy="490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FBD73D-F7B5-134E-908D-A434123E70A3}"/>
              </a:ext>
            </a:extLst>
          </p:cNvPr>
          <p:cNvSpPr/>
          <p:nvPr/>
        </p:nvSpPr>
        <p:spPr>
          <a:xfrm>
            <a:off x="4562263" y="5488576"/>
            <a:ext cx="2414962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Cartesian Product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97B3C5-612A-CB44-8F0F-80FFEFC283F1}"/>
              </a:ext>
            </a:extLst>
          </p:cNvPr>
          <p:cNvSpPr/>
          <p:nvPr/>
        </p:nvSpPr>
        <p:spPr>
          <a:xfrm flipH="1">
            <a:off x="1444978" y="3429000"/>
            <a:ext cx="1332089" cy="973667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64F8289-260E-9049-9C4F-1ED8E71035F7}"/>
              </a:ext>
            </a:extLst>
          </p:cNvPr>
          <p:cNvSpPr/>
          <p:nvPr/>
        </p:nvSpPr>
        <p:spPr>
          <a:xfrm flipH="1">
            <a:off x="2897727" y="3726744"/>
            <a:ext cx="917918" cy="687212"/>
          </a:xfrm>
          <a:prstGeom prst="roundRect">
            <a:avLst/>
          </a:prstGeom>
          <a:noFill/>
          <a:ln w="34925">
            <a:solidFill>
              <a:srgbClr val="000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2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 animBg="1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0" y="109804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Multivalued Dependencies (MVDs): Generalized Conditional Independence Constraints</a:t>
            </a:r>
          </a:p>
        </p:txBody>
      </p:sp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D20C0D43-943C-0A4E-9041-0D9673D6E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07447"/>
              </p:ext>
            </p:extLst>
          </p:nvPr>
        </p:nvGraphicFramePr>
        <p:xfrm>
          <a:off x="164488" y="2737603"/>
          <a:ext cx="4459287" cy="335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19542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carl@gmail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1656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6445896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612713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3B6A6DD-D1FC-F149-A4C6-C0DE749251AD}"/>
              </a:ext>
            </a:extLst>
          </p:cNvPr>
          <p:cNvSpPr/>
          <p:nvPr/>
        </p:nvSpPr>
        <p:spPr>
          <a:xfrm>
            <a:off x="0" y="1098041"/>
            <a:ext cx="9144000" cy="1494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Example Constraint: given an instructor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i’s emails are independent of the departments and buildings of these departments (but not unique).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↠ email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A24D6E-1EFD-7D4B-9920-57177AFB92BB}"/>
              </a:ext>
            </a:extLst>
          </p:cNvPr>
          <p:cNvSpPr/>
          <p:nvPr/>
        </p:nvSpPr>
        <p:spPr>
          <a:xfrm>
            <a:off x="4623775" y="3074798"/>
            <a:ext cx="4706900" cy="1979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Let x* be a set of values for X attributes (possibly &gt; 1)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for any X values , R contains exactly: {x*} X {𝚷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(𝞂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X=x*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(R)} X {𝚷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RST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(𝞂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X=x*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(R)}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4627ED-0990-E244-8E93-EF7B2B586BA2}"/>
              </a:ext>
            </a:extLst>
          </p:cNvPr>
          <p:cNvCxnSpPr>
            <a:cxnSpLocks/>
          </p:cNvCxnSpPr>
          <p:nvPr/>
        </p:nvCxnSpPr>
        <p:spPr>
          <a:xfrm flipV="1">
            <a:off x="5343896" y="5054507"/>
            <a:ext cx="0" cy="490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EFBD73D-F7B5-134E-908D-A434123E70A3}"/>
              </a:ext>
            </a:extLst>
          </p:cNvPr>
          <p:cNvSpPr/>
          <p:nvPr/>
        </p:nvSpPr>
        <p:spPr>
          <a:xfrm>
            <a:off x="4562263" y="5488576"/>
            <a:ext cx="2414962" cy="517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Cartesian Product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FA1AE-1128-E746-84AB-E88FF04FF92D}"/>
              </a:ext>
            </a:extLst>
          </p:cNvPr>
          <p:cNvSpPr/>
          <p:nvPr/>
        </p:nvSpPr>
        <p:spPr>
          <a:xfrm>
            <a:off x="-16079" y="6175221"/>
            <a:ext cx="9144000" cy="50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∈ BCNF b/c 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InstDep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no non-trivial, non-key </a:t>
            </a:r>
            <a:r>
              <a:rPr lang="en-US" sz="2000" i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Yet has repetition. </a:t>
            </a:r>
          </a:p>
        </p:txBody>
      </p:sp>
    </p:spTree>
    <p:extLst>
      <p:ext uri="{BB962C8B-B14F-4D97-AF65-F5344CB8AC3E}">
        <p14:creationId xmlns:p14="http://schemas.microsoft.com/office/powerpoint/2010/main" val="140173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6079" y="68135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FDs are Specialized MVDs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F74FB-F73D-5745-9E8C-8DAF2BDA00FA}"/>
              </a:ext>
            </a:extLst>
          </p:cNvPr>
          <p:cNvSpPr txBox="1"/>
          <p:nvPr/>
        </p:nvSpPr>
        <p:spPr>
          <a:xfrm>
            <a:off x="0" y="681353"/>
            <a:ext cx="9144000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More formal way to see FDs are specialized MDs (i.e., other than the informal definition that says MDs remove the uniqueness constraints)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C4EA7-A475-3241-BFC3-708C0021DB1A}"/>
              </a:ext>
            </a:extLst>
          </p:cNvPr>
          <p:cNvSpPr/>
          <p:nvPr/>
        </p:nvSpPr>
        <p:spPr>
          <a:xfrm>
            <a:off x="0" y="1683294"/>
            <a:ext cx="9127921" cy="2456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(MVD): Let X, Y be sets of attributes. An MVD X ↠ Y holds in a relation R, if given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∈ R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s.t.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≠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[Y], then ∃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3,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s.t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[X] 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  <a:p>
            <a:pPr marL="457200" indent="-457200" algn="ctr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[Y] and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 = t</a:t>
            </a:r>
            <a:r>
              <a:rPr lang="en-US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[RST]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7F8E0D-19F7-D045-B933-3B37ECE59B7D}"/>
                  </a:ext>
                </a:extLst>
              </p:cNvPr>
              <p:cNvSpPr txBox="1"/>
              <p:nvPr/>
            </p:nvSpPr>
            <p:spPr>
              <a:xfrm>
                <a:off x="39462" y="4130863"/>
                <a:ext cx="9144000" cy="1979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Y holds, then by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dfn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t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[X] = t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[X] then t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[Y] = t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[Y], so the condition of MVD trivially holds.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I.e. no non-trivial Cartesian product needs to be taken since {𝚷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(𝞂</a:t>
                </a:r>
                <a:r>
                  <a:rPr lang="en-US" sz="21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X=x*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(R)} has size 1)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7F8E0D-19F7-D045-B933-3B37ECE59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62" y="4130863"/>
                <a:ext cx="9144000" cy="1979709"/>
              </a:xfrm>
              <a:prstGeom prst="rect">
                <a:avLst/>
              </a:prstGeom>
              <a:blipFill>
                <a:blip r:embed="rId3"/>
                <a:stretch>
                  <a:fillRect l="-555" r="-1387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8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-16079" y="681353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Closure of MVDs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5F74FB-F73D-5745-9E8C-8DAF2BDA00FA}"/>
                  </a:ext>
                </a:extLst>
              </p:cNvPr>
              <p:cNvSpPr txBox="1"/>
              <p:nvPr/>
            </p:nvSpPr>
            <p:spPr>
              <a:xfrm>
                <a:off x="0" y="681353"/>
                <a:ext cx="9144000" cy="2940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Given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mvds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𝐷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sz="2100" dirty="0"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𝐷</m:t>
                        </m:r>
                      </m:e>
                      <m:sup>
                        <m:r>
                          <a:rPr lang="en-US" sz="21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s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closure</a:t>
                </a:r>
                <a14:m>
                  <m:oMath xmlns:m="http://schemas.openxmlformats.org/officeDocument/2006/math">
                    <m:r>
                      <a:rPr lang="en-US" sz="2100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𝐷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100" dirty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mvds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logically implied by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𝐷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 to Armstrong’s Axioms, there are a set of inference rules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𝐷</m:t>
                        </m:r>
                      </m:e>
                      <m:sup>
                        <m:r>
                          <a:rPr lang="en-US" sz="21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100" b="0" i="0" dirty="0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More rules than Armstrong’s 3 axioms. See Appendix B.1.1 of the text book’s 6</a:t>
                </a:r>
                <a:r>
                  <a:rPr lang="en-US" sz="21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edition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hlinkClick r:id="rId3"/>
                  </a:rPr>
                  <a:t>here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 (or C.1.1 of 7</a:t>
                </a:r>
                <a:r>
                  <a:rPr lang="en-US" sz="21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edition).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5F74FB-F73D-5745-9E8C-8DAF2BDA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81353"/>
                <a:ext cx="9144000" cy="2940933"/>
              </a:xfrm>
              <a:prstGeom prst="rect">
                <a:avLst/>
              </a:prstGeom>
              <a:blipFill>
                <a:blip r:embed="rId4"/>
                <a:stretch>
                  <a:fillRect l="-694" r="-833" b="-2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56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16079" y="61807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11575"/>
            <a:ext cx="912792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4NF: Avoiding All Repetition Due to MVDs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5D03A3-9C31-E94B-90C8-41458B7F6815}"/>
                  </a:ext>
                </a:extLst>
              </p:cNvPr>
              <p:cNvSpPr txBox="1"/>
              <p:nvPr/>
            </p:nvSpPr>
            <p:spPr>
              <a:xfrm>
                <a:off x="108339" y="737249"/>
                <a:ext cx="9144000" cy="2617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Dfn (4NF): Given a set of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mvds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𝐷</m:t>
                    </m:r>
                  </m:oMath>
                </a14:m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(which by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dfn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include all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fds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), a relation R is in 4NF </a:t>
                </a:r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iff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∀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X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↠Y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𝐷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sz="2000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s.t.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 XY ⊆ R, one of the following two conditions hold: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 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↠ Y is trivial (i.e., Y ⊆ X)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X is a super key of R (i.e., X </a:t>
                </a:r>
                <a:r>
                  <a:rPr lang="en-US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R)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5D03A3-9C31-E94B-90C8-41458B7F6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9" y="737249"/>
                <a:ext cx="9144000" cy="2617768"/>
              </a:xfrm>
              <a:prstGeom prst="rect">
                <a:avLst/>
              </a:prstGeom>
              <a:blipFill>
                <a:blip r:embed="rId3"/>
                <a:stretch>
                  <a:fillRect l="-1387" r="-555" b="-3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84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16079" y="61807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11575"/>
            <a:ext cx="912792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4th Normal Form Decomposition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E22FB-BBC8-CF42-9DD2-2E0128A7632A}"/>
              </a:ext>
            </a:extLst>
          </p:cNvPr>
          <p:cNvSpPr txBox="1"/>
          <p:nvPr/>
        </p:nvSpPr>
        <p:spPr>
          <a:xfrm>
            <a:off x="-16079" y="685975"/>
            <a:ext cx="9144000" cy="557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Simply replace FDs in the BCNF Decomposition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with MVDs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8FD4C-1F89-C243-AFA3-E629C5D9AA35}"/>
                  </a:ext>
                </a:extLst>
              </p:cNvPr>
              <p:cNvSpPr txBox="1"/>
              <p:nvPr/>
            </p:nvSpPr>
            <p:spPr>
              <a:xfrm>
                <a:off x="66173" y="1379355"/>
                <a:ext cx="8995573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Very High-level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Input: 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ea typeface="Cambria Math"/>
                          </a:rPr>
                          <m:t>D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{ R }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find an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mvd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X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↠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Y violating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4NF on a relation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∊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rels</a:t>
                </a:r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s.t.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XY ∈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attr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(R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(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attr</a:t>
                </a:r>
                <a:r>
                  <a:rPr lang="en-US" sz="200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(R</a:t>
                </a:r>
                <a:r>
                  <a:rPr lang="en-US" sz="2000" baseline="-2500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 is the attributes/cols of R</a:t>
                </a:r>
                <a:r>
                  <a:rPr lang="en-US" sz="2000" baseline="-2500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)</a:t>
                </a:r>
                <a:endParaRPr lang="en-US" sz="2000" dirty="0">
                  <a:latin typeface="Consolas" panose="020B0609020204030204" pitchFamily="49" charset="0"/>
                  <a:ea typeface="Cambria Math"/>
                  <a:cs typeface="Consolas" panose="020B0609020204030204" pitchFamily="49" charset="0"/>
                </a:endParaRP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2. Split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into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– Y and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= XY; 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    result = result -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i1 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∪ R</a:t>
                </a:r>
                <a:r>
                  <a:rPr lang="en-US" sz="2000" baseline="-25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i2</a:t>
                </a:r>
              </a:p>
              <a:p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3. repeat 1-2 until no such </a:t>
                </a:r>
                <a:r>
                  <a:rPr lang="en-US" sz="2000" dirty="0" err="1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mvd</a:t>
                </a:r>
                <a:r>
                  <a:rPr lang="en-US" sz="2000" dirty="0">
                    <a:latin typeface="Consolas" panose="020B0609020204030204" pitchFamily="49" charset="0"/>
                    <a:ea typeface="Cambria Math"/>
                    <a:cs typeface="Consolas" panose="020B0609020204030204" pitchFamily="49" charset="0"/>
                  </a:rPr>
                  <a:t> can be found.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8FD4C-1F89-C243-AFA3-E629C5D9A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3" y="1379355"/>
                <a:ext cx="8995573" cy="2554545"/>
              </a:xfrm>
              <a:prstGeom prst="rect">
                <a:avLst/>
              </a:prstGeom>
              <a:blipFill>
                <a:blip r:embed="rId3"/>
                <a:stretch>
                  <a:fillRect l="-705" t="-990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02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>
            <a:off x="16079" y="61807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78270-9975-0E43-9D61-9AD534BFD0C2}"/>
              </a:ext>
            </a:extLst>
          </p:cNvPr>
          <p:cNvSpPr txBox="1"/>
          <p:nvPr/>
        </p:nvSpPr>
        <p:spPr>
          <a:xfrm>
            <a:off x="0" y="11575"/>
            <a:ext cx="912792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4NF Decomposition Example</a:t>
            </a:r>
          </a:p>
        </p:txBody>
      </p:sp>
      <p:graphicFrame>
        <p:nvGraphicFramePr>
          <p:cNvPr id="7" name="Table 21">
            <a:extLst>
              <a:ext uri="{FF2B5EF4-FFF2-40B4-BE49-F238E27FC236}">
                <a16:creationId xmlns:a16="http://schemas.microsoft.com/office/drawing/2014/main" id="{CCE5810E-74D1-7D4E-9C3F-EDF99A584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392035"/>
              </p:ext>
            </p:extLst>
          </p:nvPr>
        </p:nvGraphicFramePr>
        <p:xfrm>
          <a:off x="2342357" y="778174"/>
          <a:ext cx="4459287" cy="335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419542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 gridSpan="5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InstDep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carl@gmail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51656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6445896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6127137"/>
                  </a:ext>
                </a:extLst>
              </a:tr>
            </a:tbl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7EACE2-EA64-E745-BC02-F0DAB50FEEFC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1852379" y="4130974"/>
            <a:ext cx="2719621" cy="4213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BC1A8C-09EC-1349-BF2A-0A86A5B9F03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4572000" y="4130974"/>
            <a:ext cx="2829582" cy="262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D0287F1C-953C-F94B-A7B4-B73E54D31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24030"/>
              </p:ext>
            </p:extLst>
          </p:nvPr>
        </p:nvGraphicFramePr>
        <p:xfrm>
          <a:off x="332507" y="4552329"/>
          <a:ext cx="3039745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729982082"/>
                    </a:ext>
                  </a:extLst>
                </a:gridCol>
                <a:gridCol w="1111568">
                  <a:extLst>
                    <a:ext uri="{9D8B030D-6E8A-4147-A177-3AD203B41FA5}">
                      <a16:colId xmlns:a16="http://schemas.microsoft.com/office/drawing/2014/main" val="554991712"/>
                    </a:ext>
                  </a:extLst>
                </a:gridCol>
                <a:gridCol w="689292">
                  <a:extLst>
                    <a:ext uri="{9D8B030D-6E8A-4147-A177-3AD203B41FA5}">
                      <a16:colId xmlns:a16="http://schemas.microsoft.com/office/drawing/2014/main" val="1820800544"/>
                    </a:ext>
                  </a:extLst>
                </a:gridCol>
              </a:tblGrid>
              <a:tr h="29834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Dep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bldng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Physics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Carl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</a:tbl>
          </a:graphicData>
        </a:graphic>
      </p:graphicFrame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5089530E-CF24-FE44-91F5-0C96B458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53230"/>
              </p:ext>
            </p:extLst>
          </p:nvPr>
        </p:nvGraphicFramePr>
        <p:xfrm>
          <a:off x="6422571" y="4393871"/>
          <a:ext cx="1958022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419542">
                  <a:extLst>
                    <a:ext uri="{9D8B030D-6E8A-4147-A177-3AD203B41FA5}">
                      <a16:colId xmlns:a16="http://schemas.microsoft.com/office/drawing/2014/main" val="261422764"/>
                    </a:ext>
                  </a:extLst>
                </a:gridCol>
              </a:tblGrid>
              <a:tr h="2983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3988350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 err="1"/>
                        <a:t>iID</a:t>
                      </a:r>
                      <a:endParaRPr lang="en-US" sz="16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34732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5358941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441028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alice@uw.ca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1521023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bob@hotmail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097389"/>
                  </a:ext>
                </a:extLst>
              </a:tr>
              <a:tr h="2983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carl@gmail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211922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CBC2565-1C08-4C42-ACDD-11C37FAAACF9}"/>
              </a:ext>
            </a:extLst>
          </p:cNvPr>
          <p:cNvSpPr/>
          <p:nvPr/>
        </p:nvSpPr>
        <p:spPr>
          <a:xfrm>
            <a:off x="3483212" y="4162108"/>
            <a:ext cx="1824538" cy="463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↠ email</a:t>
            </a:r>
          </a:p>
        </p:txBody>
      </p:sp>
    </p:spTree>
    <p:extLst>
      <p:ext uri="{BB962C8B-B14F-4D97-AF65-F5344CB8AC3E}">
        <p14:creationId xmlns:p14="http://schemas.microsoft.com/office/powerpoint/2010/main" val="322641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Venn Diagram of Normal Forms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62</a:t>
            </a:fld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7246AE-87FA-C64D-9C37-BD8CE7E5879E}"/>
              </a:ext>
            </a:extLst>
          </p:cNvPr>
          <p:cNvSpPr/>
          <p:nvPr/>
        </p:nvSpPr>
        <p:spPr>
          <a:xfrm>
            <a:off x="3063240" y="2514600"/>
            <a:ext cx="3017520" cy="3016333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3A959B-6B9F-5544-A04B-D81212B7ED68}"/>
              </a:ext>
            </a:extLst>
          </p:cNvPr>
          <p:cNvSpPr>
            <a:spLocks/>
          </p:cNvSpPr>
          <p:nvPr/>
        </p:nvSpPr>
        <p:spPr>
          <a:xfrm>
            <a:off x="2286000" y="1736766"/>
            <a:ext cx="4572000" cy="457200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04CB36-7B12-4446-9EA8-730D30D0A038}"/>
              </a:ext>
            </a:extLst>
          </p:cNvPr>
          <p:cNvSpPr txBox="1"/>
          <p:nvPr/>
        </p:nvSpPr>
        <p:spPr>
          <a:xfrm>
            <a:off x="3321258" y="2329934"/>
            <a:ext cx="10925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BCNF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F26EE2-7EE5-0543-A51D-D39DBD0381E5}"/>
              </a:ext>
            </a:extLst>
          </p:cNvPr>
          <p:cNvSpPr txBox="1"/>
          <p:nvPr/>
        </p:nvSpPr>
        <p:spPr>
          <a:xfrm>
            <a:off x="2949261" y="1679934"/>
            <a:ext cx="10925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3NF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8920E4-E546-6F45-B489-95DC71D7D3BA}"/>
              </a:ext>
            </a:extLst>
          </p:cNvPr>
          <p:cNvSpPr/>
          <p:nvPr/>
        </p:nvSpPr>
        <p:spPr>
          <a:xfrm>
            <a:off x="3657600" y="3108366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4F203B-F62A-DF4D-BA70-473F8836A7BE}"/>
              </a:ext>
            </a:extLst>
          </p:cNvPr>
          <p:cNvSpPr txBox="1"/>
          <p:nvPr/>
        </p:nvSpPr>
        <p:spPr>
          <a:xfrm>
            <a:off x="3721184" y="2840902"/>
            <a:ext cx="109253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4NF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9DC94B-B066-2746-B868-190E1D0779F8}"/>
              </a:ext>
            </a:extLst>
          </p:cNvPr>
          <p:cNvSpPr txBox="1"/>
          <p:nvPr/>
        </p:nvSpPr>
        <p:spPr>
          <a:xfrm>
            <a:off x="16079" y="829594"/>
            <a:ext cx="9127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Every relation in 4NF is in BCNF but not vice versa (see previous slide).</a:t>
            </a:r>
          </a:p>
        </p:txBody>
      </p:sp>
    </p:spTree>
    <p:extLst>
      <p:ext uri="{BB962C8B-B14F-4D97-AF65-F5344CB8AC3E}">
        <p14:creationId xmlns:p14="http://schemas.microsoft.com/office/powerpoint/2010/main" val="14282144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Enforcing FDs/MVDs in Practice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62DA1-BCD5-6342-A4E3-13877FF7CE4B}"/>
              </a:ext>
            </a:extLst>
          </p:cNvPr>
          <p:cNvSpPr txBox="1"/>
          <p:nvPr/>
        </p:nvSpPr>
        <p:spPr>
          <a:xfrm>
            <a:off x="0" y="773927"/>
            <a:ext cx="9144000" cy="4879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Key constraints are specialized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that RDBMSs can enforce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But no direct support in RDBMSs for general FDs and MVDs.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But can use table level CHECKs and triggers to enforce these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There is also little support for specifying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mvds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and decomposing relations in practice.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Users manually decompose relations if they observe repetition in design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But TNF is very useful when thinking about application constraints and their implications for redundancy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Try to target relations in 4NF or BCNF in practice. Often many natural designs are already in these forms.</a:t>
            </a:r>
          </a:p>
        </p:txBody>
      </p:sp>
    </p:spTree>
    <p:extLst>
      <p:ext uri="{BB962C8B-B14F-4D97-AF65-F5344CB8AC3E}">
        <p14:creationId xmlns:p14="http://schemas.microsoft.com/office/powerpoint/2010/main" val="413531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62DA1-BCD5-6342-A4E3-13877FF7CE4B}"/>
              </a:ext>
            </a:extLst>
          </p:cNvPr>
          <p:cNvSpPr txBox="1"/>
          <p:nvPr/>
        </p:nvSpPr>
        <p:spPr>
          <a:xfrm>
            <a:off x="0" y="773927"/>
            <a:ext cx="914400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Theory of Normal Forms (TNF): Given a specification of the real-world facts that an app will store, how can we formally separate “good” and ”bad” relational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schemas?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Ultimate Goal: Remove redundancy/repetition in design by factoring out ”conditionally” independent parts.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Redundancy depends on app constraints. Same exact relation can sometimes be redundant or not depending on app constraints.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FDs: Generalized Uniqueness Constraints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BCNF: Using FDs and the schema of R, can formally state whether R has redundant repetition due to uniqueness constraints.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3NF: Allows some redundancy to “localize” checking of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fds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to 1 relation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4NF: Most strict. Also does not allow repetition due to non-unique conditional independence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61979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Constraints and Decompositions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Boyce-Codd Normal Form (BCNF) &amp; BCNF Decomposition Alg.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Dependency Preservation and 3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 Dependencies and 4</a:t>
            </a:r>
            <a:r>
              <a:rPr lang="en-US" sz="2100" baseline="30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Form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Short Note on Other Applications of Factorization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427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0"/>
            <a:ext cx="9127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Normal Form Decompositions Are Examples of Factorization 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104531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D4C36-BADD-5443-8C14-EBBBBFE03AD5}"/>
              </a:ext>
            </a:extLst>
          </p:cNvPr>
          <p:cNvSpPr txBox="1"/>
          <p:nvPr/>
        </p:nvSpPr>
        <p:spPr>
          <a:xfrm>
            <a:off x="0" y="1074966"/>
            <a:ext cx="91440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Factorization: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General set of techniques to represent relations in </a:t>
            </a:r>
            <a:r>
              <a:rPr lang="en-US" sz="21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lossless compressed format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NF Decompositions: application of factorization in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schema design.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Can also be applied in storage or even query processing.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Something my research group is actively working on.</a:t>
            </a:r>
          </a:p>
        </p:txBody>
      </p:sp>
      <p:pic>
        <p:nvPicPr>
          <p:cNvPr id="4" name="Picture 3" descr="A black and white photo of a document&#10;&#10;Description automatically generated with low confidence">
            <a:hlinkClick r:id="rId3"/>
            <a:extLst>
              <a:ext uri="{FF2B5EF4-FFF2-40B4-BE49-F238E27FC236}">
                <a16:creationId xmlns:a16="http://schemas.microsoft.com/office/drawing/2014/main" id="{970A868F-E4FB-5747-88B7-746B1CCAD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286" y="2896313"/>
            <a:ext cx="2666358" cy="3325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2B03F-7A2D-C945-892A-27023D096240}"/>
              </a:ext>
            </a:extLst>
          </p:cNvPr>
          <p:cNvSpPr txBox="1"/>
          <p:nvPr/>
        </p:nvSpPr>
        <p:spPr>
          <a:xfrm>
            <a:off x="2472265" y="6266743"/>
            <a:ext cx="447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VLDB 2021 [Gupta, </a:t>
            </a:r>
            <a:r>
              <a:rPr lang="en-US" sz="2000" dirty="0" err="1"/>
              <a:t>Mhedhbi</a:t>
            </a:r>
            <a:r>
              <a:rPr lang="en-US" sz="2000" dirty="0"/>
              <a:t>, Salihoglu]</a:t>
            </a:r>
          </a:p>
        </p:txBody>
      </p:sp>
    </p:spTree>
    <p:extLst>
      <p:ext uri="{BB962C8B-B14F-4D97-AF65-F5344CB8AC3E}">
        <p14:creationId xmlns:p14="http://schemas.microsoft.com/office/powerpoint/2010/main" val="101356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Factorization At Physical Record Storage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67492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060C0-C91D-AF40-9A8F-378ABB7A4C39}"/>
              </a:ext>
            </a:extLst>
          </p:cNvPr>
          <p:cNvSpPr txBox="1"/>
          <p:nvPr/>
        </p:nvSpPr>
        <p:spPr>
          <a:xfrm>
            <a:off x="16079" y="697210"/>
            <a:ext cx="9144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Factorization: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Consider a set of records for financial transactions.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0B25B6-2460-0A41-8C0A-04CF41896604}"/>
              </a:ext>
            </a:extLst>
          </p:cNvPr>
          <p:cNvGrpSpPr/>
          <p:nvPr/>
        </p:nvGrpSpPr>
        <p:grpSpPr>
          <a:xfrm>
            <a:off x="2903481" y="1212952"/>
            <a:ext cx="3337038" cy="1192837"/>
            <a:chOff x="5211846" y="681620"/>
            <a:chExt cx="3337038" cy="119160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5C5468D-40E9-574C-8E67-BF7348A45E3A}"/>
                </a:ext>
              </a:extLst>
            </p:cNvPr>
            <p:cNvCxnSpPr>
              <a:cxnSpLocks/>
              <a:stCxn id="19" idx="3"/>
              <a:endCxn id="21" idx="2"/>
            </p:cNvCxnSpPr>
            <p:nvPr/>
          </p:nvCxnSpPr>
          <p:spPr>
            <a:xfrm flipV="1">
              <a:off x="7110761" y="883626"/>
              <a:ext cx="931621" cy="3867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92CF6A-A752-5340-B3F5-30235142D848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>
              <a:off x="7069871" y="1277422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E31034-13E2-C149-8811-C5208AAD60E2}"/>
                </a:ext>
              </a:extLst>
            </p:cNvPr>
            <p:cNvSpPr/>
            <p:nvPr/>
          </p:nvSpPr>
          <p:spPr>
            <a:xfrm>
              <a:off x="5274400" y="1469212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02977AB-1C26-884F-A84B-722D90EDE13B}"/>
                </a:ext>
              </a:extLst>
            </p:cNvPr>
            <p:cNvSpPr/>
            <p:nvPr/>
          </p:nvSpPr>
          <p:spPr>
            <a:xfrm>
              <a:off x="5274400" y="681620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397EAE-8040-804A-BCB6-47B4D63A3207}"/>
                </a:ext>
              </a:extLst>
            </p:cNvPr>
            <p:cNvSpPr/>
            <p:nvPr/>
          </p:nvSpPr>
          <p:spPr>
            <a:xfrm>
              <a:off x="6658391" y="1075416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13921F-2308-9749-8B7B-3719FA54D55E}"/>
                </a:ext>
              </a:extLst>
            </p:cNvPr>
            <p:cNvSpPr txBox="1"/>
            <p:nvPr/>
          </p:nvSpPr>
          <p:spPr>
            <a:xfrm>
              <a:off x="6653561" y="1104203"/>
              <a:ext cx="457200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1D2869B-CD87-B34A-8079-2329201A8B49}"/>
                </a:ext>
              </a:extLst>
            </p:cNvPr>
            <p:cNvSpPr/>
            <p:nvPr/>
          </p:nvSpPr>
          <p:spPr>
            <a:xfrm>
              <a:off x="8042382" y="1469212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DD85476-4CA7-FB45-AA64-50745F292736}"/>
                </a:ext>
              </a:extLst>
            </p:cNvPr>
            <p:cNvSpPr/>
            <p:nvPr/>
          </p:nvSpPr>
          <p:spPr>
            <a:xfrm>
              <a:off x="8042382" y="681620"/>
              <a:ext cx="411480" cy="404011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76FC7A4-FB28-4142-BD9D-C9CB5366E291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5685880" y="883626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65FA041-20A8-854F-B121-CD2DEEF7E894}"/>
                </a:ext>
              </a:extLst>
            </p:cNvPr>
            <p:cNvCxnSpPr>
              <a:cxnSpLocks/>
              <a:stCxn id="16" idx="6"/>
              <a:endCxn id="18" idx="2"/>
            </p:cNvCxnSpPr>
            <p:nvPr/>
          </p:nvCxnSpPr>
          <p:spPr>
            <a:xfrm flipV="1">
              <a:off x="5685880" y="1277422"/>
              <a:ext cx="972511" cy="3937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5DCE26-7607-0E45-A0FA-29BA28350707}"/>
                </a:ext>
              </a:extLst>
            </p:cNvPr>
            <p:cNvSpPr txBox="1"/>
            <p:nvPr/>
          </p:nvSpPr>
          <p:spPr>
            <a:xfrm>
              <a:off x="5262019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BC3817-6D90-F142-AA68-5571FFC9462F}"/>
                </a:ext>
              </a:extLst>
            </p:cNvPr>
            <p:cNvSpPr txBox="1"/>
            <p:nvPr/>
          </p:nvSpPr>
          <p:spPr>
            <a:xfrm>
              <a:off x="8058433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EC88C57-824E-E645-A20E-7DC3CB1D52BB}"/>
                </a:ext>
              </a:extLst>
            </p:cNvPr>
            <p:cNvSpPr txBox="1"/>
            <p:nvPr/>
          </p:nvSpPr>
          <p:spPr>
            <a:xfrm>
              <a:off x="5228680" y="698166"/>
              <a:ext cx="457200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FA1B24-00FA-D846-979B-1FEDE541A665}"/>
                </a:ext>
              </a:extLst>
            </p:cNvPr>
            <p:cNvSpPr txBox="1"/>
            <p:nvPr/>
          </p:nvSpPr>
          <p:spPr>
            <a:xfrm>
              <a:off x="8014393" y="713425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  <a:r>
                <a:rPr lang="en-US" sz="1600" baseline="-25000" dirty="0"/>
                <a:t>1</a:t>
              </a:r>
              <a:endParaRPr lang="en-US" sz="1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12BF77D-4DFC-5946-89F8-F6D70C65E21C}"/>
                </a:ext>
              </a:extLst>
            </p:cNvPr>
            <p:cNvSpPr txBox="1"/>
            <p:nvPr/>
          </p:nvSpPr>
          <p:spPr>
            <a:xfrm>
              <a:off x="5211846" y="1477681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  <a:r>
                <a:rPr lang="en-US" sz="1600" baseline="-25000" dirty="0"/>
                <a:t>100</a:t>
              </a:r>
              <a:endParaRPr lang="en-US" sz="16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55B097-1E7C-F049-904B-870B37B02AAB}"/>
                </a:ext>
              </a:extLst>
            </p:cNvPr>
            <p:cNvSpPr txBox="1"/>
            <p:nvPr/>
          </p:nvSpPr>
          <p:spPr>
            <a:xfrm>
              <a:off x="8008191" y="1484100"/>
              <a:ext cx="534491" cy="33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  <a:r>
                <a:rPr lang="en-US" sz="1600" baseline="-25000" dirty="0"/>
                <a:t>100</a:t>
              </a:r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7C4EE5-4CDE-EE4D-A69E-F3EA76FB0C6E}"/>
                </a:ext>
              </a:extLst>
            </p:cNvPr>
            <p:cNvSpPr txBox="1"/>
            <p:nvPr/>
          </p:nvSpPr>
          <p:spPr>
            <a:xfrm>
              <a:off x="7129303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16584C7-F353-2F48-BF9A-C40D5467288B}"/>
                </a:ext>
              </a:extLst>
            </p:cNvPr>
            <p:cNvSpPr txBox="1"/>
            <p:nvPr/>
          </p:nvSpPr>
          <p:spPr>
            <a:xfrm>
              <a:off x="6145064" y="1026690"/>
              <a:ext cx="406965" cy="362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</p:grp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2A9AE87-222C-614C-B06F-740DE1680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75276"/>
              </p:ext>
            </p:extLst>
          </p:nvPr>
        </p:nvGraphicFramePr>
        <p:xfrm>
          <a:off x="533182" y="2667949"/>
          <a:ext cx="357857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289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2291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Transfer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153407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  <a:r>
                        <a:rPr lang="en-US" sz="1800" baseline="-250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  <a:r>
                        <a:rPr lang="en-US" sz="1800" baseline="-250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</a:t>
                      </a:r>
                      <a:r>
                        <a:rPr lang="en-US" sz="18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</a:t>
                      </a:r>
                      <a:r>
                        <a:rPr lang="en-US" sz="1800" baseline="-250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501429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45518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</a:t>
                      </a:r>
                      <a:r>
                        <a:rPr lang="en-US" sz="1800" baseline="-25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</a:t>
                      </a:r>
                      <a:r>
                        <a:rPr lang="en-US" sz="1800" baseline="-250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16410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r>
                        <a:rPr lang="en-US" sz="1800" baseline="-25000" dirty="0"/>
                        <a:t>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077561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</a:t>
                      </a:r>
                      <a:r>
                        <a:rPr lang="en-US" sz="1800" baseline="-25000" dirty="0"/>
                        <a:t>100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55985A38-1070-FB4B-BD43-70A5FBC21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945366"/>
              </p:ext>
            </p:extLst>
          </p:nvPr>
        </p:nvGraphicFramePr>
        <p:xfrm>
          <a:off x="5221110" y="2667949"/>
          <a:ext cx="3578578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289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1789289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2291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Transfer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153407"/>
                  </a:ext>
                </a:extLst>
              </a:tr>
              <a:tr h="2291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From X 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{U</a:t>
                      </a:r>
                      <a:r>
                        <a:rPr lang="en-US" sz="1800" baseline="-25000" dirty="0"/>
                        <a:t>1</a:t>
                      </a:r>
                      <a:r>
                        <a:rPr lang="en-US" sz="1800" baseline="0" dirty="0"/>
                        <a:t>, U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baseline="0" dirty="0"/>
                        <a:t>, …, U</a:t>
                      </a:r>
                      <a:r>
                        <a:rPr lang="en-US" sz="1800" baseline="-25000" dirty="0"/>
                        <a:t>100</a:t>
                      </a:r>
                      <a:r>
                        <a:rPr lang="en-US" sz="1800" baseline="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{L</a:t>
                      </a:r>
                      <a:r>
                        <a:rPr lang="en-US" sz="1800" baseline="-25000" dirty="0"/>
                        <a:t>1</a:t>
                      </a:r>
                      <a:r>
                        <a:rPr lang="en-US" sz="1800" baseline="0" dirty="0"/>
                        <a:t>}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22912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{L</a:t>
                      </a:r>
                      <a:r>
                        <a:rPr lang="en-US" sz="1800" baseline="-25000" dirty="0"/>
                        <a:t>1</a:t>
                      </a:r>
                      <a:r>
                        <a:rPr lang="en-US" sz="1800" baseline="0" dirty="0"/>
                        <a:t>}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{C</a:t>
                      </a:r>
                      <a:r>
                        <a:rPr lang="en-US" sz="1800" baseline="-25000" dirty="0"/>
                        <a:t>1</a:t>
                      </a:r>
                      <a:r>
                        <a:rPr lang="en-US" sz="1800" baseline="0" dirty="0"/>
                        <a:t>, C</a:t>
                      </a:r>
                      <a:r>
                        <a:rPr lang="en-US" sz="1800" baseline="-25000" dirty="0"/>
                        <a:t>2</a:t>
                      </a:r>
                      <a:r>
                        <a:rPr lang="en-US" sz="1800" baseline="0" dirty="0"/>
                        <a:t>, …, C</a:t>
                      </a:r>
                      <a:r>
                        <a:rPr lang="en-US" sz="1800" baseline="-25000" dirty="0"/>
                        <a:t>100</a:t>
                      </a:r>
                      <a:r>
                        <a:rPr lang="en-US" sz="1800" baseline="0" dirty="0"/>
                        <a:t>}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A37552-3827-5C40-A5C7-CFAEA8A22837}"/>
              </a:ext>
            </a:extLst>
          </p:cNvPr>
          <p:cNvSpPr txBox="1"/>
          <p:nvPr/>
        </p:nvSpPr>
        <p:spPr>
          <a:xfrm>
            <a:off x="544887" y="6007242"/>
            <a:ext cx="362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Flat tuple representation (standard)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433540-80F9-AC4D-BE07-A3B0D5FFA84E}"/>
              </a:ext>
            </a:extLst>
          </p:cNvPr>
          <p:cNvSpPr txBox="1"/>
          <p:nvPr/>
        </p:nvSpPr>
        <p:spPr>
          <a:xfrm>
            <a:off x="5221110" y="4298374"/>
            <a:ext cx="362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Factorized representation (f-rep)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043ACB-9A4E-FD42-9BBF-CD755922F90C}"/>
              </a:ext>
            </a:extLst>
          </p:cNvPr>
          <p:cNvSpPr txBox="1"/>
          <p:nvPr/>
        </p:nvSpPr>
        <p:spPr>
          <a:xfrm>
            <a:off x="-1" y="6558307"/>
            <a:ext cx="90198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hlinkClick r:id="rId3"/>
              </a:rPr>
              <a:t>Dan </a:t>
            </a:r>
            <a:r>
              <a:rPr lang="en-US" sz="1500" i="1" dirty="0" err="1">
                <a:hlinkClick r:id="rId3"/>
              </a:rPr>
              <a:t>Olteanu</a:t>
            </a:r>
            <a:r>
              <a:rPr lang="en-US" sz="1500" i="1" dirty="0">
                <a:hlinkClick r:id="rId3"/>
              </a:rPr>
              <a:t>, Factorized Databases, 2016, SIGMOD Record</a:t>
            </a:r>
            <a:endParaRPr lang="en-US" sz="1500" i="1" dirty="0"/>
          </a:p>
        </p:txBody>
      </p:sp>
    </p:spTree>
    <p:extLst>
      <p:ext uri="{BB962C8B-B14F-4D97-AF65-F5344CB8AC3E}">
        <p14:creationId xmlns:p14="http://schemas.microsoft.com/office/powerpoint/2010/main" val="299678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Factorization During Query Processing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67492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68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E7E5A0-1928-6C40-A343-F5549B8E2B97}"/>
              </a:ext>
            </a:extLst>
          </p:cNvPr>
          <p:cNvSpPr/>
          <p:nvPr/>
        </p:nvSpPr>
        <p:spPr>
          <a:xfrm>
            <a:off x="3696256" y="3429000"/>
            <a:ext cx="1783645" cy="544689"/>
          </a:xfrm>
          <a:prstGeom prst="roundRect">
            <a:avLst/>
          </a:prstGeom>
          <a:noFill/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B5D433-E357-204A-B5F8-8A3DDCC56080}"/>
              </a:ext>
            </a:extLst>
          </p:cNvPr>
          <p:cNvSpPr/>
          <p:nvPr/>
        </p:nvSpPr>
        <p:spPr>
          <a:xfrm>
            <a:off x="5960533" y="4910670"/>
            <a:ext cx="1783645" cy="53954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ECC213-FD97-2849-97DE-5DF1F9E3F2B7}"/>
              </a:ext>
            </a:extLst>
          </p:cNvPr>
          <p:cNvSpPr/>
          <p:nvPr/>
        </p:nvSpPr>
        <p:spPr>
          <a:xfrm>
            <a:off x="1693333" y="4910670"/>
            <a:ext cx="1783645" cy="53954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15ED298C-FCAA-1145-B7F4-E8AD43CA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360485"/>
              </p:ext>
            </p:extLst>
          </p:nvPr>
        </p:nvGraphicFramePr>
        <p:xfrm>
          <a:off x="2062296" y="5546233"/>
          <a:ext cx="1045718" cy="12008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738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BC2E942-6FC1-5E49-B2A3-A60BAB1E36B5}"/>
              </a:ext>
            </a:extLst>
          </p:cNvPr>
          <p:cNvSpPr txBox="1"/>
          <p:nvPr/>
        </p:nvSpPr>
        <p:spPr>
          <a:xfrm>
            <a:off x="32156" y="700905"/>
            <a:ext cx="4555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FROM Transfer T1, Transfer T2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WHERE T1.To = T2.From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F39416C1-180E-5841-AA99-FF3306D94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38893"/>
              </p:ext>
            </p:extLst>
          </p:nvPr>
        </p:nvGraphicFramePr>
        <p:xfrm>
          <a:off x="6348878" y="5546233"/>
          <a:ext cx="1045718" cy="1215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738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615EECF9-FAD1-8D47-A685-B86FDB9D5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52120"/>
              </p:ext>
            </p:extLst>
          </p:nvPr>
        </p:nvGraphicFramePr>
        <p:xfrm>
          <a:off x="3633236" y="1174730"/>
          <a:ext cx="1914399" cy="1822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643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777113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4081600194"/>
                    </a:ext>
                  </a:extLst>
                </a:gridCol>
              </a:tblGrid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T1.To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T2.From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T2.To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4551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16410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FE2E035-4FF1-A34B-8B5A-A60C26093F99}"/>
              </a:ext>
            </a:extLst>
          </p:cNvPr>
          <p:cNvSpPr txBox="1"/>
          <p:nvPr/>
        </p:nvSpPr>
        <p:spPr>
          <a:xfrm>
            <a:off x="94071" y="2351067"/>
            <a:ext cx="3113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Standard query processing over flat tuples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C8683-E99E-3D40-A461-1B0DE1F374B3}"/>
              </a:ext>
            </a:extLst>
          </p:cNvPr>
          <p:cNvSpPr txBox="1"/>
          <p:nvPr/>
        </p:nvSpPr>
        <p:spPr>
          <a:xfrm>
            <a:off x="4963728" y="1947330"/>
            <a:ext cx="311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 x 100 tuples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3C78C6-BBEC-164C-997F-B896B028375D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V="1">
            <a:off x="2585156" y="3973689"/>
            <a:ext cx="2002923" cy="93698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C6583E-9564-5A4F-9588-DE030078B2FE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flipH="1" flipV="1">
            <a:off x="4588079" y="3973689"/>
            <a:ext cx="2264277" cy="9369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48AF38-B2DC-AA48-BDD3-4DCC9EFD2D77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flipV="1">
            <a:off x="4588079" y="2997398"/>
            <a:ext cx="2356" cy="43160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41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-0.02223 L 0.18889 -0.28565 " pathEditMode="relative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27 0.0044 L -0.23542 -0.29815 " pathEditMode="relative" ptsTypes="AA"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Factorization During Query Processing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16079" y="674924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399" y="64928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2E942-6FC1-5E49-B2A3-A60BAB1E36B5}"/>
              </a:ext>
            </a:extLst>
          </p:cNvPr>
          <p:cNvSpPr txBox="1"/>
          <p:nvPr/>
        </p:nvSpPr>
        <p:spPr>
          <a:xfrm>
            <a:off x="32156" y="700905"/>
            <a:ext cx="45559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FROM Transfer T1, Transfer T2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WHERE T1.To = T2.From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615EECF9-FAD1-8D47-A685-B86FDB9D5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93664"/>
              </p:ext>
            </p:extLst>
          </p:nvPr>
        </p:nvGraphicFramePr>
        <p:xfrm>
          <a:off x="3286565" y="1707594"/>
          <a:ext cx="2781173" cy="607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1080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777113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4081600194"/>
                    </a:ext>
                  </a:extLst>
                </a:gridCol>
              </a:tblGrid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T1.To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T2.From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T2.To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{U</a:t>
                      </a:r>
                      <a:r>
                        <a:rPr lang="en-US" sz="1300" baseline="-25000" dirty="0"/>
                        <a:t>1</a:t>
                      </a:r>
                      <a:r>
                        <a:rPr lang="en-US" sz="1300" baseline="0" dirty="0"/>
                        <a:t>, …, </a:t>
                      </a:r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100</a:t>
                      </a:r>
                      <a:r>
                        <a:rPr lang="en-US" sz="1300" baseline="0" dirty="0"/>
                        <a:t>}</a:t>
                      </a:r>
                      <a:endParaRPr lang="en-US" sz="13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{L</a:t>
                      </a:r>
                      <a:r>
                        <a:rPr lang="en-US" sz="1300" baseline="-25000" dirty="0"/>
                        <a:t>1</a:t>
                      </a:r>
                      <a:r>
                        <a:rPr lang="en-US" sz="1300" baseline="0" dirty="0"/>
                        <a:t>}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{C</a:t>
                      </a:r>
                      <a:r>
                        <a:rPr lang="en-US" sz="1300" baseline="-25000" dirty="0"/>
                        <a:t>1</a:t>
                      </a:r>
                      <a:r>
                        <a:rPr lang="en-US" sz="1300" baseline="0" dirty="0"/>
                        <a:t>, …, C</a:t>
                      </a:r>
                      <a:r>
                        <a:rPr lang="en-US" sz="1300" baseline="-25000" dirty="0"/>
                        <a:t>100</a:t>
                      </a:r>
                      <a:r>
                        <a:rPr lang="en-US" sz="1300" baseline="0" dirty="0"/>
                        <a:t>}</a:t>
                      </a:r>
                      <a:endParaRPr lang="en-US" sz="13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253914-9C55-634F-8D48-3F45350BDA91}"/>
              </a:ext>
            </a:extLst>
          </p:cNvPr>
          <p:cNvSpPr txBox="1"/>
          <p:nvPr/>
        </p:nvSpPr>
        <p:spPr>
          <a:xfrm>
            <a:off x="47361" y="2212462"/>
            <a:ext cx="311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Factorized query 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4CEC4-1B74-D248-AD2E-F67EA72D4267}"/>
              </a:ext>
            </a:extLst>
          </p:cNvPr>
          <p:cNvSpPr txBox="1"/>
          <p:nvPr/>
        </p:nvSpPr>
        <p:spPr>
          <a:xfrm>
            <a:off x="5960533" y="1780540"/>
            <a:ext cx="2781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tuple with 200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A6AD72-F22B-0747-9666-80EBAC9D2DDA}"/>
              </a:ext>
            </a:extLst>
          </p:cNvPr>
          <p:cNvSpPr txBox="1"/>
          <p:nvPr/>
        </p:nvSpPr>
        <p:spPr>
          <a:xfrm>
            <a:off x="129825" y="6073545"/>
            <a:ext cx="8942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interesting questions about how to architect a factorized query processor: e.g.:  how to detect from a given query when the intermediate results can be factorized.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5A79CA1-9205-B04F-9826-01DC17C50656}"/>
              </a:ext>
            </a:extLst>
          </p:cNvPr>
          <p:cNvSpPr/>
          <p:nvPr/>
        </p:nvSpPr>
        <p:spPr>
          <a:xfrm>
            <a:off x="3696256" y="2751660"/>
            <a:ext cx="1783645" cy="544689"/>
          </a:xfrm>
          <a:prstGeom prst="roundRect">
            <a:avLst/>
          </a:prstGeom>
          <a:noFill/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D6EB669-2CDC-1C40-B34F-D6B801AE780E}"/>
              </a:ext>
            </a:extLst>
          </p:cNvPr>
          <p:cNvSpPr/>
          <p:nvPr/>
        </p:nvSpPr>
        <p:spPr>
          <a:xfrm>
            <a:off x="5960533" y="4233330"/>
            <a:ext cx="1783645" cy="539546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5AAF4A6-E167-9245-BFB3-B45BA844FD3C}"/>
              </a:ext>
            </a:extLst>
          </p:cNvPr>
          <p:cNvSpPr/>
          <p:nvPr/>
        </p:nvSpPr>
        <p:spPr>
          <a:xfrm>
            <a:off x="1693333" y="4233330"/>
            <a:ext cx="1783645" cy="53954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</a:p>
        </p:txBody>
      </p:sp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94F73D3E-4896-E74F-B423-E49C5CE12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99397"/>
              </p:ext>
            </p:extLst>
          </p:nvPr>
        </p:nvGraphicFramePr>
        <p:xfrm>
          <a:off x="2062296" y="4868893"/>
          <a:ext cx="1045718" cy="12008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738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2608D8F8-3859-EA49-98B6-8B4B8FCB0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470891"/>
              </p:ext>
            </p:extLst>
          </p:nvPr>
        </p:nvGraphicFramePr>
        <p:xfrm>
          <a:off x="6348878" y="4868893"/>
          <a:ext cx="1045718" cy="1215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738">
                  <a:extLst>
                    <a:ext uri="{9D8B030D-6E8A-4147-A177-3AD203B41FA5}">
                      <a16:colId xmlns:a16="http://schemas.microsoft.com/office/drawing/2014/main" val="4252947751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1255199912"/>
                    </a:ext>
                  </a:extLst>
                </a:gridCol>
              </a:tblGrid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From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759975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43788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aseline="-250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321424"/>
                  </a:ext>
                </a:extLst>
              </a:tr>
              <a:tr h="30377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L</a:t>
                      </a:r>
                      <a:r>
                        <a:rPr lang="en-US" sz="13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</a:t>
                      </a:r>
                      <a:r>
                        <a:rPr lang="en-US" sz="1300" baseline="-25000" dirty="0"/>
                        <a:t>100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268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EA103CF-2E20-E442-828B-C9F3C02D7F66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V="1">
            <a:off x="2585156" y="3296349"/>
            <a:ext cx="2002923" cy="93698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DE16F4-051C-3B44-A142-2B1A72110829}"/>
              </a:ext>
            </a:extLst>
          </p:cNvPr>
          <p:cNvCxnSpPr>
            <a:cxnSpLocks/>
            <a:stCxn id="27" idx="0"/>
            <a:endCxn id="26" idx="2"/>
          </p:cNvCxnSpPr>
          <p:nvPr/>
        </p:nvCxnSpPr>
        <p:spPr>
          <a:xfrm flipH="1" flipV="1">
            <a:off x="4588079" y="3296349"/>
            <a:ext cx="2264277" cy="9369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515760-1513-E04D-906A-D19747D9F070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4588079" y="2320058"/>
            <a:ext cx="2356" cy="43160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06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-0.02222 L 0.18889 -0.28564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81" y="-1317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27 0.0044 L -0.23542 -0.2981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16" y="-1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35083</TotalTime>
  <Words>6948</Words>
  <Application>Microsoft Macintosh PowerPoint</Application>
  <PresentationFormat>On-screen Show (4:3)</PresentationFormat>
  <Paragraphs>1696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Cambria Math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1410</cp:revision>
  <dcterms:created xsi:type="dcterms:W3CDTF">2016-04-06T14:30:24Z</dcterms:created>
  <dcterms:modified xsi:type="dcterms:W3CDTF">2021-10-11T09:02:51Z</dcterms:modified>
</cp:coreProperties>
</file>