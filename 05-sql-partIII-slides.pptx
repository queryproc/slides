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ink/ink3.xml" ContentType="application/inkml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23.xml" ContentType="application/vnd.openxmlformats-officedocument.presentationml.tags+xml"/>
  <Override PartName="/ppt/notesSlides/notesSlide25.xml" ContentType="application/vnd.openxmlformats-officedocument.presentationml.notesSlide+xml"/>
  <Override PartName="/ppt/tags/tag24.xml" ContentType="application/vnd.openxmlformats-officedocument.presentationml.tags+xml"/>
  <Override PartName="/ppt/notesSlides/notesSlide26.xml" ContentType="application/vnd.openxmlformats-officedocument.presentationml.notesSlide+xml"/>
  <Override PartName="/ppt/tags/tag25.xml" ContentType="application/vnd.openxmlformats-officedocument.presentationml.tags+xml"/>
  <Override PartName="/ppt/notesSlides/notesSlide27.xml" ContentType="application/vnd.openxmlformats-officedocument.presentationml.notesSlide+xml"/>
  <Override PartName="/ppt/tags/tag26.xml" ContentType="application/vnd.openxmlformats-officedocument.presentationml.tags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1"/>
  </p:sldMasterIdLst>
  <p:notesMasterIdLst>
    <p:notesMasterId r:id="rId31"/>
  </p:notesMasterIdLst>
  <p:sldIdLst>
    <p:sldId id="256" r:id="rId2"/>
    <p:sldId id="258" r:id="rId3"/>
    <p:sldId id="284" r:id="rId4"/>
    <p:sldId id="303" r:id="rId5"/>
    <p:sldId id="304" r:id="rId6"/>
    <p:sldId id="260" r:id="rId7"/>
    <p:sldId id="305" r:id="rId8"/>
    <p:sldId id="308" r:id="rId9"/>
    <p:sldId id="306" r:id="rId10"/>
    <p:sldId id="307" r:id="rId11"/>
    <p:sldId id="309" r:id="rId12"/>
    <p:sldId id="311" r:id="rId13"/>
    <p:sldId id="267" r:id="rId14"/>
    <p:sldId id="268" r:id="rId15"/>
    <p:sldId id="285" r:id="rId16"/>
    <p:sldId id="269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13" r:id="rId25"/>
    <p:sldId id="286" r:id="rId26"/>
    <p:sldId id="314" r:id="rId27"/>
    <p:sldId id="315" r:id="rId28"/>
    <p:sldId id="279" r:id="rId29"/>
    <p:sldId id="287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2" autoAdjust="0"/>
    <p:restoredTop sz="73889" autoAdjust="0"/>
  </p:normalViewPr>
  <p:slideViewPr>
    <p:cSldViewPr snapToGrid="0">
      <p:cViewPr varScale="1">
        <p:scale>
          <a:sx n="74" d="100"/>
          <a:sy n="74" d="100"/>
        </p:scale>
        <p:origin x="19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3T02:48:08.919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0 183,'0'0,"3"1,-1-1,1 1,-1 0,1-1,-1 1,1 1,-1-1,3 1,5 4,17 5,0-1,1-2,0 0,1-2,-1-1,1-1,0-1,1-2,-1-1,0-1,0-2,52-11,90-20,188-14,-154 24,-145 16,246-26,-235 30,1 3,91 10,-51 7,-52-6,0-3,70 0,-95-10,0-3,0 0,0-2,54-21,17-3,-54 19,0 2,85-7,-117 17,-1 0,1 2,-1 0,1 1,-1 1,0 1,0 1,0 0,0 1,26 14,-5 6,-30-18,1 0,0-1,21 9,-28-14,-1-1,0 0,0 0,1 0,-1-1,1 1,-1-1,0 0,1 0,-1 0,1 0,-1-1,0 1,1-1,-1 0,0 0,1 0,-1 0,3-3,31-18,33-28,-29 20,-27 20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3T02:48:10.836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0 170,'7'-1,"0"0,0 0,0-1,12-4,11-2,2 4,0 2,1 1,52 5,5 0,-39-4,22 2,-1-4,122-17,-155 11,0 2,0 2,0 2,0 1,0 2,56 9,-75-7,457 68,2-30,233-51,-281-54,-388 55,89-10,190-3,-69 7,-19-18,-29 3,-119 21,216-17,-295 26,-1 0,1 0,-1 1,9 1,-13-1,0-1,0 1,0-1,0 1,-1 0,1 0,0 0,-1 0,1 0,0 0,-1 0,1 0,-1 1,0-1,1 0,-1 1,0 0,1 1,0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2T04:07:44.75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1,'2'3,"25"60,4-1,44 66,-38-55,-27-50,22 36,-30-57,-1 0,1 0,0 0,0 0,0-1,0 1,0 0,0-1,0 0,1 1,-1-1,0 0,1 0,-1 0,1-1,-1 1,1 0,0-1,4 0,5 0,0 0,-1-1,17-4,9 0,-3 4,-1 2,0 0,0 3,0 1,0 1,-1 1,62 24,-21-8,1-3,114 16,-85-18,182 29,-206-38,133-3,-88-11,0-6,-1-5,185-48,29-14,-256 67,1 3,99 2,314-5,-179-35,-62 7,-203 34,-1 3,1 2,69 8,147 36,-216-34,35 4,133 4,86-17,-279-2,994 23,-749-10,382-29,-456-6,92-6,-231 26,0 2,0 3,87 14,-85 2,-47-13,-1-1,0 0,1-1,21 3,10-5,-31-1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2T04:25:36.211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0 181,'30'-17,"1"1,1 2,0 2,1 0,49-9,174-19,-149 26,-36 3,97-11,-138 21,-1 0,0 2,54 8,300 39,-299-44,0-5,136-17,-120 6,0 5,107 6,201 36,397 26,-593-50,-163-10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2T04:25:36.212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35,'0'0,"0"0,0 0,0 0,0 0,0 0,0 0,0 0,0 0,0 0,3 1,14 8,0-1,1-1,0 0,0-2,34 7,100 7,-128-17,264 7,3-21,-163 5,324-41,-385 38,81-3,179 7,-101 5,499-11,-381 7,-261 6,153 22,-176-15,-7-2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2T04:04:43.52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4543 592,'-3'1,"0"0,0-1,0 1,-1-1,1 0,0 0,0-1,-6 0,-4 0,-6 1,-53-3,66 2,-1 0,1 0,0-1,-1 0,1 0,0 0,0-1,-9-5,12 6,1 0,0 0,0 0,0-1,0 1,0-1,0 1,0-1,1 0,0 1,-1-1,1 0,-1-5,-7-44,2 8,2 28,0 1,0 0,-2 0,0 0,0 1,-2 0,1 0,-2 1,0 0,0 1,-1 0,-1 0,0 2,0-1,-1 1,-1 1,0 1,0 0,-18-8,-29-7,-1 2,-95-19,-136-8,15 19,-433 12,470 25,1 11,-367 76,462-61,1 6,3 6,1 7,3 6,-173 101,250-124,2 3,-57 49,97-73,1 1,0 1,2 0,0 1,0 1,2 0,1 1,0 0,1 1,-8 24,14-28,1 0,1 1,1 0,0-1,1 1,1 0,1 0,1 0,0 0,1-1,6 21,5 6,1 0,3 0,24 43,-24-53,3-1,0-1,2 0,2-2,40 40,-29-37,2-1,1-2,80 46,-52-41,1-3,2-4,2-2,0-4,130 24,-88-31,1-4,0-5,0-5,120-15,-4-15,228-59,-226 30,-3-10,-3-10,-4-10,-4-10,-4-9,335-225,-343 176,-176 129,-1-2,-1-1,-2-1,26-38,-44 56,-1 0,-1 0,0-1,-1 0,0 0,4-16,-9 24,0 0,0 0,0 0,0 0,-1 0,0 0,-1 0,1 0,-1 0,0 0,0 0,-1 1,0-1,0 0,0 1,-1-1,-6-9,2 6,-1 1,0 0,0 0,0 1,-1 0,-1 0,1 1,-1 0,0 1,0 0,-18-6,1 2,1 2,-1 1,-46-5,54 9,-1 1,1 1,-25 3,9 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2T04:08:36.776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1 66,'3'2,"0"0,-1 0,1 1,0-1,-1 1,5 5,4 4,0-2,1-1,0-1,1 0,0 0,0-2,0 1,1-2,0 0,0 0,1-2,17 3,19 1,96-1,-10-9,140-22,-163 4,-75 12,80-7,152 9,261-21,-97-2,-322 23,-40 1,93 5,-90 8,37 2,-46-8,74 3,-53 2,174-11,-165 4,105 11,-36 1,425-3,-317-7,-190-4,105-18,-139 16,0 2,0 2,97 11,9 1,-50-9,201-23,-288 17,0-1,35-14,-37 13,0-1,0 2,30-5,-12 7,-2 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2T04:08:46.309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30,'3'1,"-1"0,1 0,-1 0,1 0,-1 1,1-1,-1 0,3 4,6 2,6 1,0-2,1 0,-1 0,1-2,0 0,0-1,1-1,30 0,17-4,70-12,-94 9,278-10,188-10,-340 13,511-1,-433 14,-96-3,210 5,-79-2,-240-2,-4 3,-29-1,1-1,-1 0,0 0,1 0,11-3,4-4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2T04:08:49.405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36,'30'-5,"-26"5,-1-1,1 2,0-1,-1 0,1 1,-1 0,1-1,-1 1,1 1,-1-1,1 1,-1-1,0 1,0 0,0 0,5 4,2 4,0 0,0 0,8 13,12 13,-20-26,0-1,0 0,1-1,0 0,1-1,0 0,0-1,0 0,1-1,21 6,-19-7,1-2,-1 1,1-2,0 0,0-1,0-1,0-1,29-6,16-5,319-81,-192 29,-61 20,-121 43,1 0,-1 0,1 1,0 0,0 0,0 1,0 0,0 0,0 0,9 3,0 1,0 1,30 13,-27-9,49 15,1-2,2-3,0-3,108 9,-103-20,1-3,116-13,-151 10,1 1,63 10,29 1,277 3,-240-14,-53-2,116-4,-200 3,-1-2,0-1,-1-1,60-23,-88 28,0 0,0 0,0 0,0 1,1 0,-1 0,0 0,1 1,-1 0,1 0,-1 0,0 0,1 1,-1 0,0 0,0 1,1-1,-1 1,7 4,-6-4,1-1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2T04:10:00.55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8928 373,'-6'0,"0"1,-1-1,1 0,0 0,-1 1,1-2,0 1,-11 0,-9-1,-11 1,-105-2,129 1,1 1,-1-1,1 0,0 0,0-1,0 1,1-1,-20-3,26 4,1-1,-1 1,1 0,0-1,0 1,0-1,1 0,0 1,0-1,0 0,1 1,0-1,-3-3,-13-28,4 5,6 18,-2 1,-1-1,-2 1,-1 0,-1 0,-1 0,-1 0,-2 1,0 0,-2 0,-1 1,0-1,-2 1,-1 1,0 0,-1 0,-1 1,-1 0,-35-5,-58-5,-1 2,-187-12,-265-5,27 12,-850 6,924 18,0 5,-719 49,907-38,3 3,3 4,5 4,5 4,-341 64,492-78,4 1,-112 32,191-47,2 1,0 1,2 0,2 0,1 1,2 0,1 0,2 1,2 0,-17 16,29-18,1 0,2 0,1 0,2 0,2 0,1 0,1 1,2-1,2 0,1 0,12 13,8 4,5 0,3-1,49 28,-46-34,2 0,4-1,2 0,3-1,79 25,-55-23,2-1,2-1,158 29,-102-26,3-2,3-2,2-2,1-2,256 15,-172-19,0-3,2-4,-1-2,236-10,-9-9,449-37,-445 18,-4-6,-7-6,-7-7,-8-5,-9-7,658-141,-674 111,-344 81,-4-1,-1-1,-3-1,50-23,-87 35,-1 0,-1-1,-2 1,-1-1,-1 0,8-10,-16 15,0 0,-1 1,-1-1,0 0,0 0,-2 1,1-1,-1 0,-1 0,0 1,-1-1,0 0,0 1,-2-1,1 1,-1-1,-13-5,4 3,-1 1,0 0,-2 0,0 0,0 1,-1 0,-1 0,0 0,-1 1,0 0,-36-4,5 1,-2 2,0 0,-89-3,104 6,-1 0,1 1,-48 2,17 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2T04:11:39.334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0 181,'30'-17,"1"1,1 2,0 2,1 0,49-9,174-19,-149 26,-36 3,97-11,-138 21,-1 0,0 2,54 8,300 39,-299-44,0-5,136-17,-120 6,0 5,107 6,201 36,397 26,-593-50,-163-10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2T04:11:40.984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35,'0'0,"0"0,0 0,0 0,0 0,0 0,0 0,0 0,0 0,0 0,3 1,14 8,0-1,1-1,0 0,0-2,34 7,100 7,-128-17,264 7,3-21,-163 5,324-41,-385 38,81-3,179 7,-101 5,499-11,-381 7,-261 6,153 22,-176-15,-7-2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2T04:13:02.163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99 124,'-15'13,"3"-3,3-3,1 0,-1 1,1 0,1 0,0 1,0 0,-9 16,52-32,425-78,-264 56,571-54,-56 79,-433 10,154-2,441 7,-34-24,-660-3,-105 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69ED9-CB95-4DAD-9B9B-E560A3321DC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470F9-3B63-4A29-A4D2-E4DBA5B3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0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44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09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28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13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20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64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73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539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56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19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274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34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295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49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708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679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499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91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070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01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150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48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655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928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633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489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348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79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85E7-7033-4BD1-A625-C36166465D72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36" y="162161"/>
            <a:ext cx="8801664" cy="11801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5264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8C2A-DC08-4D71-B5BC-A571B022E25E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1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9DCD6-3D10-40FA-A88B-E0AD5136A360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8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43D1-D08D-4D7D-B4AB-E82156BEAC2C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6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8F3BF-3FC2-4600-9976-243D0786F5BB}" type="datetime1">
              <a:rPr lang="en-US" smtClean="0"/>
              <a:t>7/26/2021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2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7219-C430-46CE-85B9-30B4F0CA56AD}" type="datetime1">
              <a:rPr lang="en-US" smtClean="0"/>
              <a:t>7/26/2021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6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57F-C273-4FC9-8FE1-6D874FEF83EF}" type="datetime1">
              <a:rPr lang="en-US" smtClean="0"/>
              <a:t>7/26/2021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8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ADF5-D710-4EBB-AA69-2A818CDF92E1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5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EE3B-FC30-46DA-98F7-BE80A4010F5D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8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1231-A0A7-4403-8B90-83ED4F249362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8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61F2-D403-4BA1-A95E-62DE29B59CB4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3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7D50E-B569-40DB-B6B5-FEED8173E279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3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customXml" Target="../ink/ink1.xml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customXml" Target="../ink/ink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customXml" Target="../ink/ink4.xml"/><Relationship Id="rId9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9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0.png"/><Relationship Id="rId12" Type="http://schemas.openxmlformats.org/officeDocument/2006/relationships/customXml" Target="../ink/ink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11" Type="http://schemas.openxmlformats.org/officeDocument/2006/relationships/image" Target="../media/image8.png"/><Relationship Id="rId10" Type="http://schemas.openxmlformats.org/officeDocument/2006/relationships/customXml" Target="../ink/ink8.xml"/><Relationship Id="rId4" Type="http://schemas.openxmlformats.org/officeDocument/2006/relationships/customXml" Target="../ink/ink6.xml"/><Relationship Id="rId9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100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60.png"/><Relationship Id="rId12" Type="http://schemas.openxmlformats.org/officeDocument/2006/relationships/customXml" Target="../ink/ink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11" Type="http://schemas.openxmlformats.org/officeDocument/2006/relationships/image" Target="../media/image50.png"/><Relationship Id="rId10" Type="http://schemas.openxmlformats.org/officeDocument/2006/relationships/customXml" Target="../ink/ink12.xml"/><Relationship Id="rId4" Type="http://schemas.openxmlformats.org/officeDocument/2006/relationships/customXml" Target="../ink/ink10.xml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6" Type="http://schemas.openxmlformats.org/officeDocument/2006/relationships/image" Target="../media/image1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1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SQL: </a:t>
            </a:r>
            <a:br>
              <a:rPr lang="en-US" dirty="0"/>
            </a:br>
            <a:r>
              <a:rPr lang="en-US" dirty="0"/>
              <a:t>Triggers, Views, Indexes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Database Management</a:t>
            </a:r>
          </a:p>
          <a:p>
            <a:r>
              <a:rPr lang="en-US" dirty="0"/>
              <a:t>CS348 Spring 2021</a:t>
            </a:r>
          </a:p>
        </p:txBody>
      </p:sp>
    </p:spTree>
    <p:extLst>
      <p:ext uri="{BB962C8B-B14F-4D97-AF65-F5344CB8AC3E}">
        <p14:creationId xmlns:p14="http://schemas.microsoft.com/office/powerpoint/2010/main" val="366528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 (Tue., May 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Milestone 0 - Project groups are formed by tonight!</a:t>
            </a:r>
          </a:p>
          <a:p>
            <a:pPr lvl="1"/>
            <a:r>
              <a:rPr lang="en-US" dirty="0"/>
              <a:t>Questions are welcome on Piazza </a:t>
            </a:r>
          </a:p>
          <a:p>
            <a:pPr lvl="1"/>
            <a:r>
              <a:rPr lang="en-US" dirty="0"/>
              <a:t>Watch out for updates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Assignment #1 </a:t>
            </a:r>
            <a:r>
              <a:rPr lang="en-US" dirty="0"/>
              <a:t>due next Mon (May 31, 11pm)</a:t>
            </a:r>
          </a:p>
          <a:p>
            <a:pPr lvl="1"/>
            <a:r>
              <a:rPr lang="en-US" dirty="0"/>
              <a:t>Servers:  </a:t>
            </a:r>
          </a:p>
          <a:p>
            <a:pPr lvl="2"/>
            <a:r>
              <a:rPr lang="en-CA" dirty="0"/>
              <a:t>ubuntu2004-002.student.cs.uwaterloo.ca</a:t>
            </a:r>
          </a:p>
          <a:p>
            <a:pPr lvl="2"/>
            <a:r>
              <a:rPr lang="en-CA" dirty="0"/>
              <a:t>ubuntu2004-004.student.cs.uwaterloo.ca</a:t>
            </a:r>
            <a:endParaRPr lang="en-US" dirty="0"/>
          </a:p>
          <a:p>
            <a:pPr lvl="1"/>
            <a:r>
              <a:rPr lang="en-US" dirty="0"/>
              <a:t>Setup db2 environment: </a:t>
            </a:r>
          </a:p>
          <a:p>
            <a:pPr lvl="2"/>
            <a:r>
              <a:rPr lang="en-CA" dirty="0"/>
              <a:t>$  source ~cs348/public/db2profile</a:t>
            </a:r>
          </a:p>
          <a:p>
            <a:pPr lvl="2"/>
            <a:endParaRPr lang="en-US" dirty="0"/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7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F9B0E-932F-7247-AAFA-876A7CC22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6834E-3031-9141-B7FE-3C7596368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Basic SQL (queries, modifications, and constraints)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Intermediate SQL</a:t>
            </a:r>
          </a:p>
          <a:p>
            <a:pPr lvl="1"/>
            <a:r>
              <a:rPr lang="en-US" dirty="0"/>
              <a:t>Triggers </a:t>
            </a:r>
          </a:p>
          <a:p>
            <a:pPr lvl="1"/>
            <a:r>
              <a:rPr lang="en-US" dirty="0"/>
              <a:t>Views</a:t>
            </a:r>
          </a:p>
          <a:p>
            <a:pPr lvl="1"/>
            <a:r>
              <a:rPr lang="en-US" dirty="0"/>
              <a:t>Indexes</a:t>
            </a:r>
          </a:p>
          <a:p>
            <a:pPr lvl="1"/>
            <a:endParaRPr lang="en-US" dirty="0"/>
          </a:p>
          <a:p>
            <a:r>
              <a:rPr lang="en-US" dirty="0"/>
              <a:t>Advanced SQL</a:t>
            </a:r>
          </a:p>
          <a:p>
            <a:pPr lvl="1"/>
            <a:r>
              <a:rPr lang="en-US" dirty="0"/>
              <a:t>Programming </a:t>
            </a:r>
          </a:p>
          <a:p>
            <a:pPr lvl="1"/>
            <a:r>
              <a:rPr lang="en-US" dirty="0"/>
              <a:t>Recursive queries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787F3-8802-774B-856C-CE923BD0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</a:t>
            </a:fld>
            <a:endParaRPr lang="en-US"/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5681E4BA-1F03-4553-980D-2E9B450979B4}"/>
              </a:ext>
            </a:extLst>
          </p:cNvPr>
          <p:cNvSpPr/>
          <p:nvPr/>
        </p:nvSpPr>
        <p:spPr>
          <a:xfrm>
            <a:off x="4294493" y="2442118"/>
            <a:ext cx="383177" cy="3543188"/>
          </a:xfrm>
          <a:prstGeom prst="rightBracket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93ED89-10D2-4D47-B913-E78991EF8046}"/>
              </a:ext>
            </a:extLst>
          </p:cNvPr>
          <p:cNvSpPr txBox="1"/>
          <p:nvPr/>
        </p:nvSpPr>
        <p:spPr>
          <a:xfrm>
            <a:off x="4795799" y="3677967"/>
            <a:ext cx="12540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accent2"/>
                </a:solidFill>
              </a:rPr>
              <a:t>this </a:t>
            </a:r>
          </a:p>
          <a:p>
            <a:r>
              <a:rPr lang="en-CA" sz="2400" dirty="0">
                <a:solidFill>
                  <a:schemeClr val="accent2"/>
                </a:solidFill>
              </a:rPr>
              <a:t>week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044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Still remember “referential integrity”?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/>
              <a:t>Example: </a:t>
            </a:r>
            <a:r>
              <a:rPr lang="en-US" i="1" dirty="0" err="1">
                <a:solidFill>
                  <a:schemeClr val="accent2"/>
                </a:solidFill>
              </a:rPr>
              <a:t>Member</a:t>
            </a:r>
            <a:r>
              <a:rPr lang="en-US" dirty="0" err="1">
                <a:solidFill>
                  <a:schemeClr val="accent2"/>
                </a:solidFill>
              </a:rPr>
              <a:t>.</a:t>
            </a:r>
            <a:r>
              <a:rPr lang="en-US" i="1" dirty="0" err="1">
                <a:solidFill>
                  <a:schemeClr val="accent2"/>
                </a:solidFill>
              </a:rPr>
              <a:t>uid</a:t>
            </a:r>
            <a:r>
              <a:rPr lang="en-US" dirty="0">
                <a:solidFill>
                  <a:schemeClr val="accent2"/>
                </a:solidFill>
              </a:rPr>
              <a:t> references </a:t>
            </a:r>
            <a:r>
              <a:rPr lang="en-US" i="1" dirty="0" err="1">
                <a:solidFill>
                  <a:schemeClr val="accent2"/>
                </a:solidFill>
              </a:rPr>
              <a:t>User</a:t>
            </a:r>
            <a:r>
              <a:rPr lang="en-US" dirty="0" err="1">
                <a:solidFill>
                  <a:schemeClr val="accent2"/>
                </a:solidFill>
              </a:rPr>
              <a:t>.</a:t>
            </a:r>
            <a:r>
              <a:rPr lang="en-US" i="1" dirty="0" err="1">
                <a:solidFill>
                  <a:schemeClr val="accent2"/>
                </a:solidFill>
              </a:rPr>
              <a:t>uid</a:t>
            </a:r>
            <a:endParaRPr lang="en-US" i="1" dirty="0">
              <a:solidFill>
                <a:schemeClr val="accent2"/>
              </a:solidFill>
            </a:endParaRPr>
          </a:p>
          <a:p>
            <a:r>
              <a:rPr lang="en-US" dirty="0"/>
              <a:t>Delete or update a </a:t>
            </a:r>
            <a:r>
              <a:rPr lang="en-US" i="1" dirty="0"/>
              <a:t>User</a:t>
            </a:r>
            <a:r>
              <a:rPr lang="en-US" dirty="0"/>
              <a:t> row whose </a:t>
            </a:r>
            <a:r>
              <a:rPr lang="en-US" i="1" dirty="0" err="1"/>
              <a:t>uid</a:t>
            </a:r>
            <a:r>
              <a:rPr lang="en-US" dirty="0"/>
              <a:t> is </a:t>
            </a:r>
            <a:r>
              <a:rPr lang="en-US" dirty="0">
                <a:solidFill>
                  <a:schemeClr val="accent2"/>
                </a:solidFill>
              </a:rPr>
              <a:t>referenced by some </a:t>
            </a:r>
            <a:r>
              <a:rPr lang="en-US" i="1" dirty="0">
                <a:solidFill>
                  <a:schemeClr val="accent2"/>
                </a:solidFill>
              </a:rPr>
              <a:t>Member</a:t>
            </a:r>
            <a:r>
              <a:rPr lang="en-US" dirty="0">
                <a:solidFill>
                  <a:schemeClr val="accent2"/>
                </a:solidFill>
              </a:rPr>
              <a:t> row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Multiple Options (in SQL)</a:t>
            </a:r>
            <a:endParaRPr lang="en-US" dirty="0">
              <a:latin typeface="Prestige12 BT" panose="020705090305060203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F827EA-B0CF-4315-AE45-09E5AE0C7614}"/>
              </a:ext>
            </a:extLst>
          </p:cNvPr>
          <p:cNvGraphicFramePr>
            <a:graphicFrameLocks noGrp="1"/>
          </p:cNvGraphicFramePr>
          <p:nvPr/>
        </p:nvGraphicFramePr>
        <p:xfrm>
          <a:off x="571943" y="4089165"/>
          <a:ext cx="2504441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Nelson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17BB2F-3DB5-4E0D-BCFD-6A1400943C3B}"/>
              </a:ext>
            </a:extLst>
          </p:cNvPr>
          <p:cNvGraphicFramePr>
            <a:graphicFrameLocks noGrp="1"/>
          </p:cNvGraphicFramePr>
          <p:nvPr/>
        </p:nvGraphicFramePr>
        <p:xfrm>
          <a:off x="4010685" y="4098552"/>
          <a:ext cx="134366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4D690F2-5971-4884-801E-169CD14DDCF0}"/>
              </a:ext>
            </a:extLst>
          </p:cNvPr>
          <p:cNvSpPr txBox="1"/>
          <p:nvPr/>
        </p:nvSpPr>
        <p:spPr>
          <a:xfrm>
            <a:off x="1343556" y="3773674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User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DAB5B-8CC3-435C-9CFA-BD432A1458E6}"/>
              </a:ext>
            </a:extLst>
          </p:cNvPr>
          <p:cNvSpPr txBox="1"/>
          <p:nvPr/>
        </p:nvSpPr>
        <p:spPr>
          <a:xfrm>
            <a:off x="4148455" y="3773674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B2AC9A-FD65-4A99-A83F-E5D4D05754B9}"/>
              </a:ext>
            </a:extLst>
          </p:cNvPr>
          <p:cNvCxnSpPr/>
          <p:nvPr/>
        </p:nvCxnSpPr>
        <p:spPr>
          <a:xfrm flipH="1">
            <a:off x="3025833" y="4617720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130D50-7FA7-43BD-9383-8D6C62D96FAB}"/>
              </a:ext>
            </a:extLst>
          </p:cNvPr>
          <p:cNvCxnSpPr/>
          <p:nvPr/>
        </p:nvCxnSpPr>
        <p:spPr>
          <a:xfrm flipH="1">
            <a:off x="3025833" y="4936375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4F0FCF-EB6A-4EF3-8DDE-FD66A0D5768F}"/>
              </a:ext>
            </a:extLst>
          </p:cNvPr>
          <p:cNvCxnSpPr/>
          <p:nvPr/>
        </p:nvCxnSpPr>
        <p:spPr>
          <a:xfrm flipH="1">
            <a:off x="3025833" y="5255030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565EEA-6749-424D-8F0F-716219827154}"/>
              </a:ext>
            </a:extLst>
          </p:cNvPr>
          <p:cNvCxnSpPr/>
          <p:nvPr/>
        </p:nvCxnSpPr>
        <p:spPr>
          <a:xfrm flipH="1" flipV="1">
            <a:off x="3025833" y="5270270"/>
            <a:ext cx="994822" cy="31244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E94C0A-70E7-4586-9FDB-FEF6BBDA64ED}"/>
              </a:ext>
            </a:extLst>
          </p:cNvPr>
          <p:cNvCxnSpPr/>
          <p:nvPr/>
        </p:nvCxnSpPr>
        <p:spPr>
          <a:xfrm flipH="1" flipV="1">
            <a:off x="3025833" y="5573685"/>
            <a:ext cx="994822" cy="37684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E4339C-FFEA-464C-ABB5-458BD9790EDE}"/>
              </a:ext>
            </a:extLst>
          </p:cNvPr>
          <p:cNvCxnSpPr/>
          <p:nvPr/>
        </p:nvCxnSpPr>
        <p:spPr>
          <a:xfrm flipH="1" flipV="1">
            <a:off x="3025833" y="5573685"/>
            <a:ext cx="994822" cy="698986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5BBF4CC-3104-4B9A-9E11-E7FE52A91675}"/>
              </a:ext>
            </a:extLst>
          </p:cNvPr>
          <p:cNvSpPr txBox="1"/>
          <p:nvPr/>
        </p:nvSpPr>
        <p:spPr>
          <a:xfrm>
            <a:off x="760431" y="4991106"/>
            <a:ext cx="2242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restige12 BT" panose="02070509030506020304" pitchFamily="49" charset="0"/>
              </a:rPr>
              <a:t>Option 1: Reject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285181-BD5B-4EF5-8606-6076E3949666}"/>
              </a:ext>
            </a:extLst>
          </p:cNvPr>
          <p:cNvCxnSpPr/>
          <p:nvPr/>
        </p:nvCxnSpPr>
        <p:spPr>
          <a:xfrm flipV="1">
            <a:off x="409903" y="5573685"/>
            <a:ext cx="2809650" cy="90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54714FA-1ACF-488E-AA94-9095B61E8137}"/>
              </a:ext>
            </a:extLst>
          </p:cNvPr>
          <p:cNvCxnSpPr>
            <a:cxnSpLocks/>
          </p:cNvCxnSpPr>
          <p:nvPr/>
        </p:nvCxnSpPr>
        <p:spPr>
          <a:xfrm>
            <a:off x="3523244" y="5955042"/>
            <a:ext cx="200703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B244E1-2239-4BB6-9D6C-C53AFC8422E2}"/>
              </a:ext>
            </a:extLst>
          </p:cNvPr>
          <p:cNvCxnSpPr>
            <a:cxnSpLocks/>
          </p:cNvCxnSpPr>
          <p:nvPr/>
        </p:nvCxnSpPr>
        <p:spPr>
          <a:xfrm>
            <a:off x="3568485" y="6272671"/>
            <a:ext cx="200703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69A18F-6BFB-4053-99FE-535A64960A7F}"/>
              </a:ext>
            </a:extLst>
          </p:cNvPr>
          <p:cNvSpPr txBox="1"/>
          <p:nvPr/>
        </p:nvSpPr>
        <p:spPr>
          <a:xfrm>
            <a:off x="5610979" y="5161941"/>
            <a:ext cx="3553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restige12 BT" panose="02070509030506020304" pitchFamily="49" charset="0"/>
              </a:rPr>
              <a:t>Option 2: Cascade </a:t>
            </a:r>
          </a:p>
          <a:p>
            <a:r>
              <a:rPr lang="en-US" sz="2400" dirty="0">
                <a:solidFill>
                  <a:srgbClr val="FF0000"/>
                </a:solidFill>
                <a:latin typeface="Prestige12 BT" panose="02070509030506020304" pitchFamily="49" charset="0"/>
              </a:rPr>
              <a:t>(ripple changes to all referring rows)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83DC23-DE68-4469-B2F4-052269E0EA8F}"/>
              </a:ext>
            </a:extLst>
          </p:cNvPr>
          <p:cNvSpPr/>
          <p:nvPr/>
        </p:nvSpPr>
        <p:spPr>
          <a:xfrm>
            <a:off x="5550031" y="3514115"/>
            <a:ext cx="3498385" cy="1590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CREATE TABLE Member</a:t>
            </a:r>
            <a:b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uid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 DECIMAL(3,0) NOT NULL REFERENCES User(</a:t>
            </a:r>
            <a:r>
              <a:rPr lang="en-US" sz="2000" dirty="0" err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uid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)</a:t>
            </a:r>
            <a:b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ON DELETE CASCADE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,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…..</a:t>
            </a:r>
            <a:r>
              <a:rPr lang="en-US" sz="2000" dirty="0">
                <a:latin typeface="+mj-lt"/>
                <a:cs typeface="Calibri" panose="020F0502020204030204" pitchFamily="34" charset="0"/>
              </a:rPr>
              <a:t>)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814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C07E-5790-431C-BA7B-A1DE697CB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we generalize it?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77EA3-4C43-4D90-A924-E443410B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5BE6E2-955D-4843-8DE1-6B3F68DDE207}"/>
              </a:ext>
            </a:extLst>
          </p:cNvPr>
          <p:cNvSpPr/>
          <p:nvPr/>
        </p:nvSpPr>
        <p:spPr>
          <a:xfrm>
            <a:off x="3704735" y="2066641"/>
            <a:ext cx="1904218" cy="51630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Event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9AA290-BD4C-4C15-A6E1-F74FEC7B913E}"/>
              </a:ext>
            </a:extLst>
          </p:cNvPr>
          <p:cNvSpPr/>
          <p:nvPr/>
        </p:nvSpPr>
        <p:spPr>
          <a:xfrm>
            <a:off x="3704735" y="3185135"/>
            <a:ext cx="1904218" cy="5761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Condition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E04410-A3EB-4F3D-91AE-F3D0E461BC9E}"/>
              </a:ext>
            </a:extLst>
          </p:cNvPr>
          <p:cNvSpPr/>
          <p:nvPr/>
        </p:nvSpPr>
        <p:spPr>
          <a:xfrm>
            <a:off x="3704735" y="4275057"/>
            <a:ext cx="1904218" cy="5761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Action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5495EF-DB6D-4BCA-9F71-8045D5531A0D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656844" y="2582943"/>
            <a:ext cx="0" cy="602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9A4A8E-C104-4C2B-8E5F-BCAAC62FFA21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656844" y="3761296"/>
            <a:ext cx="0" cy="513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99AD88-7854-4AD4-A7E5-3A9E660ED865}"/>
              </a:ext>
            </a:extLst>
          </p:cNvPr>
          <p:cNvSpPr txBox="1"/>
          <p:nvPr/>
        </p:nvSpPr>
        <p:spPr>
          <a:xfrm>
            <a:off x="1093509" y="1948162"/>
            <a:ext cx="21351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800" dirty="0"/>
              <a:t>Delete/update  a User row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4738C7-940C-4B50-B9C3-1E63E17D8893}"/>
              </a:ext>
            </a:extLst>
          </p:cNvPr>
          <p:cNvSpPr txBox="1"/>
          <p:nvPr/>
        </p:nvSpPr>
        <p:spPr>
          <a:xfrm>
            <a:off x="749429" y="3115027"/>
            <a:ext cx="27856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800" dirty="0"/>
              <a:t>Whether its </a:t>
            </a:r>
            <a:r>
              <a:rPr lang="en-CA" sz="1800" dirty="0" err="1"/>
              <a:t>uid</a:t>
            </a:r>
            <a:r>
              <a:rPr lang="en-CA" sz="1800" dirty="0"/>
              <a:t> is referenced by some Member row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98F50F-8678-4D7A-BDE0-66773C3598ED}"/>
              </a:ext>
            </a:extLst>
          </p:cNvPr>
          <p:cNvSpPr txBox="1"/>
          <p:nvPr/>
        </p:nvSpPr>
        <p:spPr>
          <a:xfrm>
            <a:off x="128440" y="4249428"/>
            <a:ext cx="3934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800" dirty="0"/>
              <a:t>Yes: reject/delete cascade/null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315730-F8DC-42DC-BB5D-DC3A773E4C04}"/>
              </a:ext>
            </a:extLst>
          </p:cNvPr>
          <p:cNvSpPr txBox="1"/>
          <p:nvPr/>
        </p:nvSpPr>
        <p:spPr>
          <a:xfrm>
            <a:off x="589174" y="5364979"/>
            <a:ext cx="314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Referential constraints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BA30E7-6D52-4703-8F8E-35C7B927BEB9}"/>
              </a:ext>
            </a:extLst>
          </p:cNvPr>
          <p:cNvSpPr txBox="1"/>
          <p:nvPr/>
        </p:nvSpPr>
        <p:spPr>
          <a:xfrm>
            <a:off x="6318323" y="5384711"/>
            <a:ext cx="25263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Data Monitoring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53BF74-D602-48D7-82CD-9F24DFF5304A}"/>
              </a:ext>
            </a:extLst>
          </p:cNvPr>
          <p:cNvSpPr txBox="1"/>
          <p:nvPr/>
        </p:nvSpPr>
        <p:spPr>
          <a:xfrm>
            <a:off x="5986027" y="2051859"/>
            <a:ext cx="22859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Some user’s popularity is updated</a:t>
            </a:r>
            <a:endParaRPr lang="en-CA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DFCBDD6-8722-4D84-AD7C-5D9D75614E9C}"/>
              </a:ext>
            </a:extLst>
          </p:cNvPr>
          <p:cNvSpPr txBox="1"/>
          <p:nvPr/>
        </p:nvSpPr>
        <p:spPr>
          <a:xfrm>
            <a:off x="5653730" y="3115247"/>
            <a:ext cx="31909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Whether the user is a member of  “S group” and </a:t>
            </a:r>
            <a:r>
              <a:rPr lang="en-US" i="1" dirty="0"/>
              <a:t>pop</a:t>
            </a:r>
            <a:r>
              <a:rPr lang="en-US" dirty="0"/>
              <a:t> drops below 0.5</a:t>
            </a:r>
            <a:endParaRPr lang="en-CA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C66034-863E-48AC-B805-94F99D456CBB}"/>
              </a:ext>
            </a:extLst>
          </p:cNvPr>
          <p:cNvSpPr txBox="1"/>
          <p:nvPr/>
        </p:nvSpPr>
        <p:spPr>
          <a:xfrm>
            <a:off x="6115648" y="4378754"/>
            <a:ext cx="25263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Yes: kick that user out of S group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07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30" grpId="0"/>
      <p:bldP spid="32" grpId="0"/>
      <p:bldP spid="34" grpId="0"/>
      <p:bldP spid="64" grpId="0"/>
      <p:bldP spid="66" grpId="0"/>
      <p:bldP spid="68" grpId="0"/>
      <p:bldP spid="7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accent2"/>
                </a:solidFill>
              </a:rPr>
              <a:t>trigger</a:t>
            </a:r>
            <a:r>
              <a:rPr lang="en-US" dirty="0"/>
              <a:t> is an event-condition-action (ECA) rule</a:t>
            </a:r>
          </a:p>
          <a:p>
            <a:pPr lvl="1"/>
            <a:r>
              <a:rPr lang="en-US" dirty="0"/>
              <a:t>When </a:t>
            </a:r>
            <a:r>
              <a:rPr lang="en-US" dirty="0">
                <a:solidFill>
                  <a:schemeClr val="accent4"/>
                </a:solidFill>
              </a:rPr>
              <a:t>event</a:t>
            </a:r>
            <a:r>
              <a:rPr lang="en-US" dirty="0"/>
              <a:t> occurs, test </a:t>
            </a:r>
            <a:r>
              <a:rPr lang="en-US" dirty="0">
                <a:solidFill>
                  <a:schemeClr val="accent2"/>
                </a:solidFill>
              </a:rPr>
              <a:t>condition</a:t>
            </a:r>
            <a:r>
              <a:rPr lang="en-US" dirty="0"/>
              <a:t>; if condition is satisfied, execute </a:t>
            </a:r>
            <a:r>
              <a:rPr lang="en-US" dirty="0">
                <a:solidFill>
                  <a:schemeClr val="accent1"/>
                </a:solidFill>
              </a:rPr>
              <a:t>action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6A7291-1F90-49B4-AF85-20EA81A15FC1}"/>
              </a:ext>
            </a:extLst>
          </p:cNvPr>
          <p:cNvSpPr/>
          <p:nvPr/>
        </p:nvSpPr>
        <p:spPr>
          <a:xfrm>
            <a:off x="628650" y="2849981"/>
            <a:ext cx="7886700" cy="364289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Prestige12 BT" panose="02070509030506020304" pitchFamily="49" charset="0"/>
              </a:rPr>
              <a:t>CREATE TRIGGER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PickySGroup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AFTER </a:t>
            </a:r>
            <a:r>
              <a:rPr lang="en-US" sz="2400" dirty="0">
                <a:solidFill>
                  <a:schemeClr val="accent4"/>
                </a:solidFill>
                <a:latin typeface="Prestige12 BT" panose="02070509030506020304" pitchFamily="49" charset="0"/>
              </a:rPr>
              <a:t>UPDATE OF pop ON User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REFERENCING NEW ROW AS </a:t>
            </a:r>
            <a:r>
              <a:rPr lang="en-US" sz="2400" dirty="0" err="1">
                <a:latin typeface="Prestige12 BT" panose="02070509030506020304" pitchFamily="49" charset="0"/>
              </a:rPr>
              <a:t>newUser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FOR EACH ROW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WHEN (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newUser.pop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&lt; 0.5)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		AND (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newUser.uid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IN (SELECT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          			FROM Member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          			WHERE gid = ‘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sgroup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')) 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		</a:t>
            </a: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DELETE FROM Member</a:t>
            </a:r>
            <a:b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		WHERE </a:t>
            </a:r>
            <a:r>
              <a:rPr lang="en-US" sz="2400" dirty="0" err="1">
                <a:solidFill>
                  <a:schemeClr val="accent1"/>
                </a:solidFill>
                <a:latin typeface="Prestige12 BT" panose="02070509030506020304" pitchFamily="49" charset="0"/>
              </a:rPr>
              <a:t>uid</a:t>
            </a: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 = </a:t>
            </a:r>
            <a:r>
              <a:rPr lang="en-US" sz="2400" dirty="0" err="1">
                <a:solidFill>
                  <a:schemeClr val="accent1"/>
                </a:solidFill>
                <a:latin typeface="Prestige12 BT" panose="02070509030506020304" pitchFamily="49" charset="0"/>
              </a:rPr>
              <a:t>newUser.uid</a:t>
            </a: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 AND gid = ‘</a:t>
            </a:r>
            <a:r>
              <a:rPr lang="en-US" sz="2400" dirty="0" err="1">
                <a:solidFill>
                  <a:schemeClr val="accent1"/>
                </a:solidFill>
                <a:latin typeface="Prestige12 BT" panose="02070509030506020304" pitchFamily="49" charset="0"/>
              </a:rPr>
              <a:t>sgroup</a:t>
            </a: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'</a:t>
            </a:r>
            <a:r>
              <a:rPr lang="en-US" sz="2400" dirty="0"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57B482D6-2CC0-488F-A7A9-87EE47CF13B4}"/>
              </a:ext>
            </a:extLst>
          </p:cNvPr>
          <p:cNvSpPr/>
          <p:nvPr/>
        </p:nvSpPr>
        <p:spPr>
          <a:xfrm>
            <a:off x="5842497" y="3000810"/>
            <a:ext cx="944802" cy="33628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8714"/>
              <a:gd name="adj6" fmla="val -9990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accent4"/>
                </a:solidFill>
              </a:rPr>
              <a:t>Event </a:t>
            </a:r>
          </a:p>
        </p:txBody>
      </p: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8C2FD147-D756-486C-93AA-6BB2023F42EB}"/>
              </a:ext>
            </a:extLst>
          </p:cNvPr>
          <p:cNvSpPr/>
          <p:nvPr/>
        </p:nvSpPr>
        <p:spPr>
          <a:xfrm>
            <a:off x="6098867" y="4123158"/>
            <a:ext cx="1376863" cy="39507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7239"/>
              <a:gd name="adj6" fmla="val -6293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/>
              <a:t>Condition</a:t>
            </a:r>
          </a:p>
        </p:txBody>
      </p: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851CBC05-9E75-4E09-886D-D389C1298AF2}"/>
              </a:ext>
            </a:extLst>
          </p:cNvPr>
          <p:cNvSpPr/>
          <p:nvPr/>
        </p:nvSpPr>
        <p:spPr>
          <a:xfrm>
            <a:off x="7407113" y="5713820"/>
            <a:ext cx="1029878" cy="39507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7239"/>
              <a:gd name="adj6" fmla="val -6293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accent1"/>
                </a:solidFill>
              </a:rPr>
              <a:t>Action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1893BA-3108-42BA-B0BE-9AFAB01320AC}"/>
              </a:ext>
            </a:extLst>
          </p:cNvPr>
          <p:cNvGrpSpPr/>
          <p:nvPr/>
        </p:nvGrpSpPr>
        <p:grpSpPr>
          <a:xfrm>
            <a:off x="2616157" y="3873318"/>
            <a:ext cx="2892600" cy="91800"/>
            <a:chOff x="2616157" y="3873318"/>
            <a:chExt cx="2892600" cy="9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A4661B0-DE67-43FC-8D37-A4DA24CF386C}"/>
                    </a:ext>
                  </a:extLst>
                </p14:cNvPr>
                <p14:cNvContentPartPr/>
                <p14:nvPr/>
              </p14:nvContentPartPr>
              <p14:xfrm>
                <a:off x="2616157" y="3873678"/>
                <a:ext cx="1216080" cy="91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A4661B0-DE67-43FC-8D37-A4DA24CF386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98157" y="3856038"/>
                  <a:ext cx="1251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C5FA5AC-4F55-4A0B-907E-7FDE4AE1D380}"/>
                    </a:ext>
                  </a:extLst>
                </p14:cNvPr>
                <p14:cNvContentPartPr/>
                <p14:nvPr/>
              </p14:nvContentPartPr>
              <p14:xfrm>
                <a:off x="3767077" y="3873318"/>
                <a:ext cx="1741680" cy="86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C5FA5AC-4F55-4A0B-907E-7FDE4AE1D38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49077" y="3855678"/>
                  <a:ext cx="1777320" cy="121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Callout: Bent Line 14">
            <a:extLst>
              <a:ext uri="{FF2B5EF4-FFF2-40B4-BE49-F238E27FC236}">
                <a16:creationId xmlns:a16="http://schemas.microsoft.com/office/drawing/2014/main" id="{D23FB551-12FC-43CD-A540-FB79ECE5A3BF}"/>
              </a:ext>
            </a:extLst>
          </p:cNvPr>
          <p:cNvSpPr/>
          <p:nvPr/>
        </p:nvSpPr>
        <p:spPr>
          <a:xfrm>
            <a:off x="6144738" y="3487919"/>
            <a:ext cx="2216837" cy="39507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2922"/>
              <a:gd name="adj6" fmla="val -31043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bg1"/>
                </a:solidFill>
              </a:rPr>
              <a:t>Transition variable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425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option 1 – possible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events include:</a:t>
            </a:r>
          </a:p>
          <a:p>
            <a:pPr lvl="1"/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INSERT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ON</a:t>
            </a:r>
            <a:r>
              <a:rPr lang="en-US" dirty="0"/>
              <a:t> </a:t>
            </a:r>
            <a:r>
              <a:rPr lang="en-US" i="1" dirty="0"/>
              <a:t>table;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DELETE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ON</a:t>
            </a:r>
            <a:r>
              <a:rPr lang="en-US" dirty="0"/>
              <a:t> </a:t>
            </a:r>
            <a:r>
              <a:rPr lang="en-US" i="1" dirty="0"/>
              <a:t>table;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UPDATE</a:t>
            </a:r>
            <a:r>
              <a:rPr lang="en-US" dirty="0"/>
              <a:t> [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OF</a:t>
            </a:r>
            <a:r>
              <a:rPr lang="en-US" dirty="0"/>
              <a:t> </a:t>
            </a:r>
            <a:r>
              <a:rPr lang="en-US" i="1" dirty="0"/>
              <a:t>column</a:t>
            </a:r>
            <a:r>
              <a:rPr lang="en-US" dirty="0"/>
              <a:t>]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ON</a:t>
            </a:r>
            <a:r>
              <a:rPr lang="en-US" dirty="0"/>
              <a:t> </a:t>
            </a:r>
            <a:r>
              <a:rPr lang="en-US" i="1" dirty="0"/>
              <a:t>table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6A7291-1F90-49B4-AF85-20EA81A15FC1}"/>
              </a:ext>
            </a:extLst>
          </p:cNvPr>
          <p:cNvSpPr/>
          <p:nvPr/>
        </p:nvSpPr>
        <p:spPr>
          <a:xfrm>
            <a:off x="628650" y="2849981"/>
            <a:ext cx="7886700" cy="364289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Prestige12 BT" panose="02070509030506020304" pitchFamily="49" charset="0"/>
              </a:rPr>
              <a:t>CREATE TRIGGER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PickySGroup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AFTER </a:t>
            </a:r>
            <a:r>
              <a:rPr lang="en-US" sz="2400" dirty="0">
                <a:solidFill>
                  <a:schemeClr val="accent4"/>
                </a:solidFill>
                <a:latin typeface="Prestige12 BT" panose="02070509030506020304" pitchFamily="49" charset="0"/>
              </a:rPr>
              <a:t>UPDATE OF pop ON User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REFERENCING NEW ROW AS </a:t>
            </a:r>
            <a:r>
              <a:rPr lang="en-US" sz="2400" dirty="0" err="1">
                <a:latin typeface="Prestige12 BT" panose="02070509030506020304" pitchFamily="49" charset="0"/>
              </a:rPr>
              <a:t>newUser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FOR EACH ROW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WHEN (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newUser.pop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&lt; 0.5)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		AND (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newUser.uid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IN (SELECT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          			FROM Member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          			WHERE gid = ‘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sgroup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')) 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		</a:t>
            </a: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DELETE FROM Member</a:t>
            </a:r>
            <a:b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		WHERE </a:t>
            </a:r>
            <a:r>
              <a:rPr lang="en-US" sz="2400" dirty="0" err="1">
                <a:solidFill>
                  <a:schemeClr val="accent1"/>
                </a:solidFill>
                <a:latin typeface="Prestige12 BT" panose="02070509030506020304" pitchFamily="49" charset="0"/>
              </a:rPr>
              <a:t>uid</a:t>
            </a: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 = </a:t>
            </a:r>
            <a:r>
              <a:rPr lang="en-US" sz="2400" dirty="0" err="1">
                <a:solidFill>
                  <a:schemeClr val="accent1"/>
                </a:solidFill>
                <a:latin typeface="Prestige12 BT" panose="02070509030506020304" pitchFamily="49" charset="0"/>
              </a:rPr>
              <a:t>newUser.uid</a:t>
            </a: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 AND gid = ‘</a:t>
            </a:r>
            <a:r>
              <a:rPr lang="en-US" sz="2400" dirty="0" err="1">
                <a:solidFill>
                  <a:schemeClr val="accent1"/>
                </a:solidFill>
                <a:latin typeface="Prestige12 BT" panose="02070509030506020304" pitchFamily="49" charset="0"/>
              </a:rPr>
              <a:t>sgroup</a:t>
            </a: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'</a:t>
            </a:r>
            <a:r>
              <a:rPr lang="en-US" sz="2400" dirty="0"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57B482D6-2CC0-488F-A7A9-87EE47CF13B4}"/>
              </a:ext>
            </a:extLst>
          </p:cNvPr>
          <p:cNvSpPr/>
          <p:nvPr/>
        </p:nvSpPr>
        <p:spPr>
          <a:xfrm>
            <a:off x="5842497" y="3000810"/>
            <a:ext cx="944802" cy="33628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8714"/>
              <a:gd name="adj6" fmla="val -9990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accent4"/>
                </a:solidFill>
              </a:rPr>
              <a:t>Event </a:t>
            </a:r>
          </a:p>
        </p:txBody>
      </p: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8C2FD147-D756-486C-93AA-6BB2023F42EB}"/>
              </a:ext>
            </a:extLst>
          </p:cNvPr>
          <p:cNvSpPr/>
          <p:nvPr/>
        </p:nvSpPr>
        <p:spPr>
          <a:xfrm>
            <a:off x="6098867" y="4123158"/>
            <a:ext cx="1376863" cy="39507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7239"/>
              <a:gd name="adj6" fmla="val -6293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/>
              <a:t>Condition</a:t>
            </a:r>
          </a:p>
        </p:txBody>
      </p: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851CBC05-9E75-4E09-886D-D389C1298AF2}"/>
              </a:ext>
            </a:extLst>
          </p:cNvPr>
          <p:cNvSpPr/>
          <p:nvPr/>
        </p:nvSpPr>
        <p:spPr>
          <a:xfrm>
            <a:off x="7407113" y="5713820"/>
            <a:ext cx="1029878" cy="39507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7239"/>
              <a:gd name="adj6" fmla="val -6293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accent1"/>
                </a:solidFill>
              </a:rPr>
              <a:t>Action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550A3F2-9BAF-462C-803D-E366B94DB45D}"/>
                  </a:ext>
                </a:extLst>
              </p14:cNvPr>
              <p14:cNvContentPartPr/>
              <p14:nvPr/>
            </p14:nvContentPartPr>
            <p14:xfrm>
              <a:off x="1693117" y="3453198"/>
              <a:ext cx="2989440" cy="230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550A3F2-9BAF-462C-803D-E366B94DB4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75117" y="3435558"/>
                <a:ext cx="3025080" cy="26568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50918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option 2 –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Timing—action can be executed:</a:t>
            </a:r>
          </a:p>
          <a:p>
            <a:pPr lvl="1"/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AFTER</a:t>
            </a:r>
            <a:r>
              <a:rPr lang="en-US" dirty="0"/>
              <a:t> or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BEFORE</a:t>
            </a:r>
            <a:r>
              <a:rPr lang="en-US" dirty="0"/>
              <a:t> the triggering event</a:t>
            </a:r>
          </a:p>
          <a:p>
            <a:pPr lvl="1"/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INSTEAD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OF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the triggering event on views (more later)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6A7291-1F90-49B4-AF85-20EA81A15FC1}"/>
              </a:ext>
            </a:extLst>
          </p:cNvPr>
          <p:cNvSpPr/>
          <p:nvPr/>
        </p:nvSpPr>
        <p:spPr>
          <a:xfrm>
            <a:off x="694638" y="2947550"/>
            <a:ext cx="7886700" cy="2507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Prestige12 BT" panose="02070509030506020304" pitchFamily="49" charset="0"/>
              </a:rPr>
              <a:t>CREATE TRIGGER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NoFountainOfYouth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BEFORE </a:t>
            </a:r>
            <a:r>
              <a:rPr lang="en-US" sz="2400" dirty="0">
                <a:solidFill>
                  <a:schemeClr val="accent4"/>
                </a:solidFill>
                <a:latin typeface="Prestige12 BT" panose="02070509030506020304" pitchFamily="49" charset="0"/>
              </a:rPr>
              <a:t>UPDATE OF age ON User</a:t>
            </a:r>
            <a:br>
              <a:rPr lang="en-US" sz="2400" dirty="0">
                <a:solidFill>
                  <a:schemeClr val="accent4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REFERENCING OLD ROW AS o, NEW ROW AS n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FOR EACH ROW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	WHEN (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n.age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&lt;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o.age</a:t>
            </a:r>
            <a:r>
              <a:rPr lang="en-US" sz="2400" dirty="0">
                <a:latin typeface="Prestige12 BT" panose="02070509030506020304" pitchFamily="49" charset="0"/>
              </a:rPr>
              <a:t>)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		</a:t>
            </a: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SET </a:t>
            </a:r>
            <a:r>
              <a:rPr lang="en-US" sz="2400" dirty="0" err="1">
                <a:solidFill>
                  <a:schemeClr val="accent1"/>
                </a:solidFill>
                <a:latin typeface="Prestige12 BT" panose="02070509030506020304" pitchFamily="49" charset="0"/>
              </a:rPr>
              <a:t>n.age</a:t>
            </a: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 = </a:t>
            </a:r>
            <a:r>
              <a:rPr lang="en-US" sz="2400" dirty="0" err="1">
                <a:solidFill>
                  <a:schemeClr val="accent1"/>
                </a:solidFill>
                <a:latin typeface="Prestige12 BT" panose="02070509030506020304" pitchFamily="49" charset="0"/>
              </a:rPr>
              <a:t>o.age</a:t>
            </a:r>
            <a:r>
              <a:rPr lang="en-US" sz="2400" dirty="0"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16" name="Callout: Bent Line 15">
            <a:extLst>
              <a:ext uri="{FF2B5EF4-FFF2-40B4-BE49-F238E27FC236}">
                <a16:creationId xmlns:a16="http://schemas.microsoft.com/office/drawing/2014/main" id="{4CC77EB7-B3F8-40BA-A55F-422EE53A51C7}"/>
              </a:ext>
            </a:extLst>
          </p:cNvPr>
          <p:cNvSpPr/>
          <p:nvPr/>
        </p:nvSpPr>
        <p:spPr>
          <a:xfrm>
            <a:off x="6038101" y="3252975"/>
            <a:ext cx="944802" cy="33628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8714"/>
              <a:gd name="adj6" fmla="val -9990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accent4"/>
                </a:solidFill>
              </a:rPr>
              <a:t>Event </a:t>
            </a:r>
          </a:p>
        </p:txBody>
      </p:sp>
      <p:sp>
        <p:nvSpPr>
          <p:cNvPr id="17" name="Callout: Bent Line 16">
            <a:extLst>
              <a:ext uri="{FF2B5EF4-FFF2-40B4-BE49-F238E27FC236}">
                <a16:creationId xmlns:a16="http://schemas.microsoft.com/office/drawing/2014/main" id="{CB209E0C-D927-4384-8F46-D4794B483AD3}"/>
              </a:ext>
            </a:extLst>
          </p:cNvPr>
          <p:cNvSpPr/>
          <p:nvPr/>
        </p:nvSpPr>
        <p:spPr>
          <a:xfrm>
            <a:off x="5322489" y="4332528"/>
            <a:ext cx="1376863" cy="39507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7239"/>
              <a:gd name="adj6" fmla="val -6293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/>
              <a:t>Condition</a:t>
            </a:r>
          </a:p>
        </p:txBody>
      </p:sp>
      <p:sp>
        <p:nvSpPr>
          <p:cNvPr id="18" name="Callout: Bent Line 17">
            <a:extLst>
              <a:ext uri="{FF2B5EF4-FFF2-40B4-BE49-F238E27FC236}">
                <a16:creationId xmlns:a16="http://schemas.microsoft.com/office/drawing/2014/main" id="{4D2F1432-565F-4A86-BC58-2FB763B364E5}"/>
              </a:ext>
            </a:extLst>
          </p:cNvPr>
          <p:cNvSpPr/>
          <p:nvPr/>
        </p:nvSpPr>
        <p:spPr>
          <a:xfrm>
            <a:off x="5593786" y="4842131"/>
            <a:ext cx="1029878" cy="39507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7239"/>
              <a:gd name="adj6" fmla="val -6293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accent1"/>
                </a:solidFill>
              </a:rPr>
              <a:t>Action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8400216-7ED1-46DB-A640-956C003B459F}"/>
              </a:ext>
            </a:extLst>
          </p:cNvPr>
          <p:cNvGrpSpPr/>
          <p:nvPr/>
        </p:nvGrpSpPr>
        <p:grpSpPr>
          <a:xfrm>
            <a:off x="3046788" y="4121894"/>
            <a:ext cx="3182400" cy="102240"/>
            <a:chOff x="2512477" y="4017678"/>
            <a:chExt cx="318240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15DB292-1998-462B-85C1-B31F201FC966}"/>
                    </a:ext>
                  </a:extLst>
                </p14:cNvPr>
                <p14:cNvContentPartPr/>
                <p14:nvPr/>
              </p14:nvContentPartPr>
              <p14:xfrm>
                <a:off x="2512477" y="4017678"/>
                <a:ext cx="1319760" cy="65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15DB292-1998-462B-85C1-B31F201FC96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94477" y="3999678"/>
                  <a:ext cx="1355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177EB5-4519-4849-8EEB-37DEB32473C6}"/>
                    </a:ext>
                  </a:extLst>
                </p14:cNvPr>
                <p14:cNvContentPartPr/>
                <p14:nvPr/>
              </p14:nvContentPartPr>
              <p14:xfrm>
                <a:off x="4345597" y="4078518"/>
                <a:ext cx="1349280" cy="41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177EB5-4519-4849-8EEB-37DEB32473C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27597" y="4060518"/>
                  <a:ext cx="1384920" cy="77040"/>
                </a:xfrm>
                <a:prstGeom prst="rect">
                  <a:avLst/>
                </a:prstGeom>
              </p:spPr>
            </p:pic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2161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option 3 – granularity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Granularity—trigger can be activated:</a:t>
            </a:r>
          </a:p>
          <a:p>
            <a:pPr lvl="1"/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FOR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EACH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ROW</a:t>
            </a:r>
            <a:r>
              <a:rPr lang="en-US" dirty="0"/>
              <a:t> modified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9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6A7291-1F90-49B4-AF85-20EA81A15FC1}"/>
              </a:ext>
            </a:extLst>
          </p:cNvPr>
          <p:cNvSpPr/>
          <p:nvPr/>
        </p:nvSpPr>
        <p:spPr>
          <a:xfrm>
            <a:off x="628650" y="2849981"/>
            <a:ext cx="7886700" cy="364289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Prestige12 BT" panose="02070509030506020304" pitchFamily="49" charset="0"/>
              </a:rPr>
              <a:t>CREATE TRIGGER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PickySGroup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AFTER </a:t>
            </a:r>
            <a:r>
              <a:rPr lang="en-US" sz="2400" dirty="0">
                <a:solidFill>
                  <a:schemeClr val="accent4"/>
                </a:solidFill>
                <a:latin typeface="Prestige12 BT" panose="02070509030506020304" pitchFamily="49" charset="0"/>
              </a:rPr>
              <a:t>UPDATE OF pop ON User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REFERENCING NEW ROW AS </a:t>
            </a:r>
            <a:r>
              <a:rPr lang="en-US" sz="2400" dirty="0" err="1">
                <a:latin typeface="Prestige12 BT" panose="02070509030506020304" pitchFamily="49" charset="0"/>
              </a:rPr>
              <a:t>newUser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FOR EACH ROW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WHEN (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newUser.pop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&lt; 0.5)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		AND (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newUser.uid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IN (SELECT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          			FROM Member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          			WHERE gid = ‘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sgroup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')) 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		</a:t>
            </a: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DELETE FROM Member</a:t>
            </a:r>
            <a:b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		WHERE </a:t>
            </a:r>
            <a:r>
              <a:rPr lang="en-US" sz="2400" dirty="0" err="1">
                <a:solidFill>
                  <a:schemeClr val="accent1"/>
                </a:solidFill>
                <a:latin typeface="Prestige12 BT" panose="02070509030506020304" pitchFamily="49" charset="0"/>
              </a:rPr>
              <a:t>uid</a:t>
            </a: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 = </a:t>
            </a:r>
            <a:r>
              <a:rPr lang="en-US" sz="2400" dirty="0" err="1">
                <a:solidFill>
                  <a:schemeClr val="accent1"/>
                </a:solidFill>
                <a:latin typeface="Prestige12 BT" panose="02070509030506020304" pitchFamily="49" charset="0"/>
              </a:rPr>
              <a:t>newUser.uid</a:t>
            </a: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 AND gid = ‘</a:t>
            </a:r>
            <a:r>
              <a:rPr lang="en-US" sz="2400" dirty="0" err="1">
                <a:solidFill>
                  <a:schemeClr val="accent1"/>
                </a:solidFill>
                <a:latin typeface="Prestige12 BT" panose="02070509030506020304" pitchFamily="49" charset="0"/>
              </a:rPr>
              <a:t>sgroup</a:t>
            </a:r>
            <a:r>
              <a:rPr lang="en-US" sz="2400" dirty="0">
                <a:solidFill>
                  <a:schemeClr val="accent1"/>
                </a:solidFill>
                <a:latin typeface="Prestige12 BT" panose="02070509030506020304" pitchFamily="49" charset="0"/>
              </a:rPr>
              <a:t>'</a:t>
            </a:r>
            <a:r>
              <a:rPr lang="en-US" sz="2400" dirty="0"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57B482D6-2CC0-488F-A7A9-87EE47CF13B4}"/>
              </a:ext>
            </a:extLst>
          </p:cNvPr>
          <p:cNvSpPr/>
          <p:nvPr/>
        </p:nvSpPr>
        <p:spPr>
          <a:xfrm>
            <a:off x="5842497" y="3000810"/>
            <a:ext cx="944802" cy="33628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8714"/>
              <a:gd name="adj6" fmla="val -9990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accent4"/>
                </a:solidFill>
              </a:rPr>
              <a:t>Event </a:t>
            </a:r>
          </a:p>
        </p:txBody>
      </p: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8C2FD147-D756-486C-93AA-6BB2023F42EB}"/>
              </a:ext>
            </a:extLst>
          </p:cNvPr>
          <p:cNvSpPr/>
          <p:nvPr/>
        </p:nvSpPr>
        <p:spPr>
          <a:xfrm>
            <a:off x="6098867" y="4123158"/>
            <a:ext cx="1376863" cy="39507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7239"/>
              <a:gd name="adj6" fmla="val -6293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/>
              <a:t>Condition</a:t>
            </a:r>
          </a:p>
        </p:txBody>
      </p: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851CBC05-9E75-4E09-886D-D389C1298AF2}"/>
              </a:ext>
            </a:extLst>
          </p:cNvPr>
          <p:cNvSpPr/>
          <p:nvPr/>
        </p:nvSpPr>
        <p:spPr>
          <a:xfrm>
            <a:off x="7407113" y="5713820"/>
            <a:ext cx="1029878" cy="39507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7239"/>
              <a:gd name="adj6" fmla="val -6293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accent1"/>
                </a:solidFill>
              </a:rPr>
              <a:t>Action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F8487F8-3FEA-4933-8ABC-951936EBBB1F}"/>
                  </a:ext>
                </a:extLst>
              </p14:cNvPr>
              <p14:cNvContentPartPr/>
              <p14:nvPr/>
            </p14:nvContentPartPr>
            <p14:xfrm>
              <a:off x="1256437" y="3896358"/>
              <a:ext cx="1720080" cy="712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F8487F8-3FEA-4933-8ABC-951936EBBB1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38437" y="3878718"/>
                <a:ext cx="1755720" cy="74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2DED08C-88D7-4B90-BF42-2F7725CDE929}"/>
                  </a:ext>
                </a:extLst>
              </p14:cNvPr>
              <p14:cNvContentPartPr/>
              <p14:nvPr/>
            </p14:nvContentPartPr>
            <p14:xfrm>
              <a:off x="3055897" y="3896358"/>
              <a:ext cx="2217240" cy="69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2DED08C-88D7-4B90-BF42-2F7725CDE92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38257" y="3878358"/>
                <a:ext cx="225288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D67DBDE-5910-4368-A209-B246979A24BA}"/>
                  </a:ext>
                </a:extLst>
              </p14:cNvPr>
              <p14:cNvContentPartPr/>
              <p14:nvPr/>
            </p14:nvContentPartPr>
            <p14:xfrm>
              <a:off x="2554237" y="4709238"/>
              <a:ext cx="1205280" cy="331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D67DBDE-5910-4368-A209-B246979A24B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36237" y="4691598"/>
                <a:ext cx="124092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3AFBF0C-EEF8-4727-BF06-5529B197B616}"/>
                  </a:ext>
                </a:extLst>
              </p14:cNvPr>
              <p14:cNvContentPartPr/>
              <p14:nvPr/>
            </p14:nvContentPartPr>
            <p14:xfrm>
              <a:off x="4164517" y="6471798"/>
              <a:ext cx="1385280" cy="856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3AFBF0C-EEF8-4727-BF06-5529B197B61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46517" y="6454158"/>
                <a:ext cx="1420920" cy="12132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5648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option 3 – granularity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Granularity—trigger can be activated:</a:t>
            </a:r>
          </a:p>
          <a:p>
            <a:pPr lvl="1"/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FOR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EACH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ROW</a:t>
            </a:r>
            <a:r>
              <a:rPr lang="en-US" dirty="0"/>
              <a:t> modified</a:t>
            </a:r>
          </a:p>
          <a:p>
            <a:pPr lvl="1"/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FOR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EACH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STATEMENT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that performs modification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10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6A7291-1F90-49B4-AF85-20EA81A15FC1}"/>
              </a:ext>
            </a:extLst>
          </p:cNvPr>
          <p:cNvSpPr/>
          <p:nvPr/>
        </p:nvSpPr>
        <p:spPr>
          <a:xfrm>
            <a:off x="628650" y="2849981"/>
            <a:ext cx="7886700" cy="364289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Prestige12 BT" panose="02070509030506020304" pitchFamily="49" charset="0"/>
              </a:rPr>
              <a:t>CREATE TRIGGER 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PickySGroup2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AFTER </a:t>
            </a:r>
            <a:r>
              <a:rPr lang="en-US" sz="2400" dirty="0">
                <a:solidFill>
                  <a:schemeClr val="accent4"/>
                </a:solidFill>
                <a:latin typeface="Prestige12 BT" panose="02070509030506020304" pitchFamily="49" charset="0"/>
              </a:rPr>
              <a:t>UPDATE OF pop ON User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REFERENCING NEW TABLE AS </a:t>
            </a:r>
            <a:r>
              <a:rPr lang="en-US" sz="2400" dirty="0" err="1">
                <a:latin typeface="Prestige12 BT" panose="02070509030506020304" pitchFamily="49" charset="0"/>
              </a:rPr>
              <a:t>newUsers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FOR EACH STATEMENT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	DELETE FROM Member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		WHERE gid = ‘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sgroup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’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		AND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IN (SELECT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				FROM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newUsers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				WHERE pop &lt; 0.5);</a:t>
            </a:r>
          </a:p>
        </p:txBody>
      </p:sp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57B482D6-2CC0-488F-A7A9-87EE47CF13B4}"/>
              </a:ext>
            </a:extLst>
          </p:cNvPr>
          <p:cNvSpPr/>
          <p:nvPr/>
        </p:nvSpPr>
        <p:spPr>
          <a:xfrm>
            <a:off x="5842497" y="3000810"/>
            <a:ext cx="944802" cy="33628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8714"/>
              <a:gd name="adj6" fmla="val -9990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accent4"/>
                </a:solidFill>
              </a:rPr>
              <a:t>Event </a:t>
            </a:r>
          </a:p>
        </p:txBody>
      </p: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8C2FD147-D756-486C-93AA-6BB2023F42EB}"/>
              </a:ext>
            </a:extLst>
          </p:cNvPr>
          <p:cNvSpPr/>
          <p:nvPr/>
        </p:nvSpPr>
        <p:spPr>
          <a:xfrm>
            <a:off x="6734917" y="4816126"/>
            <a:ext cx="1390988" cy="65431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7239"/>
              <a:gd name="adj6" fmla="val -6293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/>
              <a:t>Condition &amp; </a:t>
            </a:r>
            <a:r>
              <a:rPr lang="en-US" sz="2000" dirty="0">
                <a:solidFill>
                  <a:schemeClr val="accent1"/>
                </a:solidFill>
              </a:rPr>
              <a:t>Action</a:t>
            </a:r>
            <a:endParaRPr lang="en-US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86BF975-FE06-40C8-9EFE-B0E6C09BEFA4}"/>
                  </a:ext>
                </a:extLst>
              </p14:cNvPr>
              <p14:cNvContentPartPr/>
              <p14:nvPr/>
            </p14:nvContentPartPr>
            <p14:xfrm>
              <a:off x="628650" y="4123158"/>
              <a:ext cx="3380061" cy="448842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86BF975-FE06-40C8-9EFE-B0E6C09BEFA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1010" y="4105161"/>
                <a:ext cx="3415701" cy="484476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434C40F-76DA-49E9-965D-B550E076E417}"/>
              </a:ext>
            </a:extLst>
          </p:cNvPr>
          <p:cNvGrpSpPr/>
          <p:nvPr/>
        </p:nvGrpSpPr>
        <p:grpSpPr>
          <a:xfrm>
            <a:off x="2512477" y="4017678"/>
            <a:ext cx="3182400" cy="102240"/>
            <a:chOff x="2512477" y="4017678"/>
            <a:chExt cx="318240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BF6E131-03D2-4464-8F82-E4521E06A3AD}"/>
                    </a:ext>
                  </a:extLst>
                </p14:cNvPr>
                <p14:cNvContentPartPr/>
                <p14:nvPr/>
              </p14:nvContentPartPr>
              <p14:xfrm>
                <a:off x="2512477" y="4017678"/>
                <a:ext cx="1319760" cy="65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BF6E131-03D2-4464-8F82-E4521E06A3A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94477" y="3999678"/>
                  <a:ext cx="1355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5559375-AEE4-465B-AEB2-CBB1F8D5E9FF}"/>
                    </a:ext>
                  </a:extLst>
                </p14:cNvPr>
                <p14:cNvContentPartPr/>
                <p14:nvPr/>
              </p14:nvContentPartPr>
              <p14:xfrm>
                <a:off x="4345597" y="4078518"/>
                <a:ext cx="1349280" cy="41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5559375-AEE4-465B-AEB2-CBB1F8D5E9F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27597" y="4060518"/>
                  <a:ext cx="138492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D2ABE6E-78F3-41FC-ADCC-594C81A3A745}"/>
                  </a:ext>
                </a:extLst>
              </p14:cNvPr>
              <p14:cNvContentPartPr/>
              <p14:nvPr/>
            </p14:nvContentPartPr>
            <p14:xfrm>
              <a:off x="4986397" y="5940438"/>
              <a:ext cx="1748520" cy="82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D2ABE6E-78F3-41FC-ADCC-594C81A3A74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68757" y="5922438"/>
                <a:ext cx="1784160" cy="11808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Callout: Bent Line 14">
            <a:extLst>
              <a:ext uri="{FF2B5EF4-FFF2-40B4-BE49-F238E27FC236}">
                <a16:creationId xmlns:a16="http://schemas.microsoft.com/office/drawing/2014/main" id="{B4745A04-478D-496B-88D6-F86BE0450EDC}"/>
              </a:ext>
            </a:extLst>
          </p:cNvPr>
          <p:cNvSpPr/>
          <p:nvPr/>
        </p:nvSpPr>
        <p:spPr>
          <a:xfrm>
            <a:off x="6144738" y="3487918"/>
            <a:ext cx="2216837" cy="94485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8049"/>
              <a:gd name="adj6" fmla="val -36571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>
              <a:buFont typeface="Wingdings" pitchFamily="2" charset="2"/>
              <a:buNone/>
            </a:pPr>
            <a:r>
              <a:rPr lang="en-US" sz="2000" dirty="0">
                <a:solidFill>
                  <a:schemeClr val="bg1"/>
                </a:solidFill>
              </a:rPr>
              <a:t>Transition table: contains all the affected rows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667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option 3 – granularity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Granularity—trigger can be activated:</a:t>
            </a:r>
          </a:p>
          <a:p>
            <a:pPr lvl="1"/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FOR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EACH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ROW</a:t>
            </a:r>
            <a:r>
              <a:rPr lang="en-US" dirty="0"/>
              <a:t> modified</a:t>
            </a:r>
          </a:p>
          <a:p>
            <a:pPr lvl="1"/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FOR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EACH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STATEMENT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that performs modification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6A7291-1F90-49B4-AF85-20EA81A15FC1}"/>
              </a:ext>
            </a:extLst>
          </p:cNvPr>
          <p:cNvSpPr/>
          <p:nvPr/>
        </p:nvSpPr>
        <p:spPr>
          <a:xfrm>
            <a:off x="628650" y="2849982"/>
            <a:ext cx="7886700" cy="364289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Prestige12 BT" panose="02070509030506020304" pitchFamily="49" charset="0"/>
              </a:rPr>
              <a:t>CREATE TRIGGER 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PickySGroup2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AFTER </a:t>
            </a:r>
            <a:r>
              <a:rPr lang="en-US" sz="2400" dirty="0">
                <a:solidFill>
                  <a:schemeClr val="accent4"/>
                </a:solidFill>
                <a:latin typeface="Prestige12 BT" panose="02070509030506020304" pitchFamily="49" charset="0"/>
              </a:rPr>
              <a:t>UPDATE OF pop ON User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REFERENCING NEW TABLE AS </a:t>
            </a:r>
            <a:r>
              <a:rPr lang="en-US" sz="2400" dirty="0" err="1">
                <a:latin typeface="Prestige12 BT" panose="02070509030506020304" pitchFamily="49" charset="0"/>
              </a:rPr>
              <a:t>newUsers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FOR EACH STATEMENT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	DELETE FROM Member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		WHERE gid = ‘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sgroup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’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		AND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IN (SELECT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				FROM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newUsers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				WHERE pop &lt; 0.5);</a:t>
            </a:r>
          </a:p>
        </p:txBody>
      </p:sp>
      <p:sp>
        <p:nvSpPr>
          <p:cNvPr id="15" name="Callout: Bent Line 14">
            <a:extLst>
              <a:ext uri="{FF2B5EF4-FFF2-40B4-BE49-F238E27FC236}">
                <a16:creationId xmlns:a16="http://schemas.microsoft.com/office/drawing/2014/main" id="{B4745A04-478D-496B-88D6-F86BE0450EDC}"/>
              </a:ext>
            </a:extLst>
          </p:cNvPr>
          <p:cNvSpPr/>
          <p:nvPr/>
        </p:nvSpPr>
        <p:spPr>
          <a:xfrm>
            <a:off x="6173018" y="3488828"/>
            <a:ext cx="2216837" cy="94485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8049"/>
              <a:gd name="adj6" fmla="val -36571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>
              <a:buFont typeface="Wingdings" pitchFamily="2" charset="2"/>
              <a:buNone/>
            </a:pPr>
            <a:r>
              <a:rPr lang="en-US" sz="2000" dirty="0">
                <a:solidFill>
                  <a:schemeClr val="bg1"/>
                </a:solidFill>
              </a:rPr>
              <a:t>Transition table: contains all the affected rows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02B37B-7B4D-47BF-A228-0DDEF605020A}"/>
              </a:ext>
            </a:extLst>
          </p:cNvPr>
          <p:cNvSpPr/>
          <p:nvPr/>
        </p:nvSpPr>
        <p:spPr>
          <a:xfrm>
            <a:off x="6169891" y="4433688"/>
            <a:ext cx="2216836" cy="11163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dirty="0">
                <a:solidFill>
                  <a:schemeClr val="bg1"/>
                </a:solidFill>
              </a:rPr>
              <a:t>Only can be used with </a:t>
            </a:r>
            <a:r>
              <a:rPr lang="en-CA" sz="2000" b="1" dirty="0">
                <a:solidFill>
                  <a:schemeClr val="bg1"/>
                </a:solidFill>
              </a:rPr>
              <a:t>AFTER</a:t>
            </a:r>
            <a:r>
              <a:rPr lang="en-CA" sz="2000" dirty="0">
                <a:solidFill>
                  <a:schemeClr val="bg1"/>
                </a:solidFill>
              </a:rPr>
              <a:t> triggers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802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variables/tables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OLD ROW</a:t>
            </a:r>
            <a:r>
              <a:rPr lang="en-US" sz="2400" dirty="0"/>
              <a:t>: the modified row before the triggering event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NEW ROW</a:t>
            </a:r>
            <a:r>
              <a:rPr lang="en-US" sz="2400" dirty="0"/>
              <a:t>: the modified row after the triggering event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OLD TABLE</a:t>
            </a:r>
            <a:r>
              <a:rPr lang="en-US" sz="2400" dirty="0"/>
              <a:t>: a hypothetical read-only table containing all rows to be modified before the triggering event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NEW TABLE</a:t>
            </a:r>
            <a:r>
              <a:rPr lang="en-US" sz="2400" dirty="0"/>
              <a:t>: a hypothetical table containing all modified rows after the triggering event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	AFTER Trigger                                          BEFORE Trigger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A7D1DCB-5121-40D7-8117-87C93A9C1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630736"/>
              </p:ext>
            </p:extLst>
          </p:nvPr>
        </p:nvGraphicFramePr>
        <p:xfrm>
          <a:off x="331747" y="4234421"/>
          <a:ext cx="44079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163">
                  <a:extLst>
                    <a:ext uri="{9D8B030D-6E8A-4147-A177-3AD203B41FA5}">
                      <a16:colId xmlns:a16="http://schemas.microsoft.com/office/drawing/2014/main" val="4291637884"/>
                    </a:ext>
                  </a:extLst>
                </a:gridCol>
                <a:gridCol w="2206399">
                  <a:extLst>
                    <a:ext uri="{9D8B030D-6E8A-4147-A177-3AD203B41FA5}">
                      <a16:colId xmlns:a16="http://schemas.microsoft.com/office/drawing/2014/main" val="3474174505"/>
                    </a:ext>
                  </a:extLst>
                </a:gridCol>
                <a:gridCol w="1229374">
                  <a:extLst>
                    <a:ext uri="{9D8B030D-6E8A-4147-A177-3AD203B41FA5}">
                      <a16:colId xmlns:a16="http://schemas.microsoft.com/office/drawing/2014/main" val="4202691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Event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894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old r; old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old 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91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Insert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new r; new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new 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9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old/new r; old/new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old/new 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86536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D552A7-237A-428D-BF4B-DE3967360D2C}"/>
              </a:ext>
            </a:extLst>
          </p:cNvPr>
          <p:cNvGraphicFramePr>
            <a:graphicFrameLocks noGrp="1"/>
          </p:cNvGraphicFramePr>
          <p:nvPr/>
        </p:nvGraphicFramePr>
        <p:xfrm>
          <a:off x="5090403" y="4233528"/>
          <a:ext cx="3386157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459">
                  <a:extLst>
                    <a:ext uri="{9D8B030D-6E8A-4147-A177-3AD203B41FA5}">
                      <a16:colId xmlns:a16="http://schemas.microsoft.com/office/drawing/2014/main" val="4291637884"/>
                    </a:ext>
                  </a:extLst>
                </a:gridCol>
                <a:gridCol w="1143318">
                  <a:extLst>
                    <a:ext uri="{9D8B030D-6E8A-4147-A177-3AD203B41FA5}">
                      <a16:colId xmlns:a16="http://schemas.microsoft.com/office/drawing/2014/main" val="3474174505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4202691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Event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894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old/new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91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Insert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new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9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old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86536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BF2AAED-27EB-4A55-81F1-C09AB159C07A}"/>
              </a:ext>
            </a:extLst>
          </p:cNvPr>
          <p:cNvSpPr/>
          <p:nvPr/>
        </p:nvSpPr>
        <p:spPr>
          <a:xfrm>
            <a:off x="342336" y="4611757"/>
            <a:ext cx="4325080" cy="373711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1D8734-1081-405B-8267-6B17910B72A5}"/>
              </a:ext>
            </a:extLst>
          </p:cNvPr>
          <p:cNvSpPr/>
          <p:nvPr/>
        </p:nvSpPr>
        <p:spPr>
          <a:xfrm>
            <a:off x="6066845" y="4611757"/>
            <a:ext cx="2409715" cy="1100051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781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96296E-6 L 0.00087 0.0544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Statement- vs. row-level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row-level triggers are easier to implement</a:t>
            </a:r>
          </a:p>
          <a:p>
            <a:pPr lvl="1"/>
            <a:r>
              <a:rPr lang="en-US" dirty="0"/>
              <a:t>Statement-level triggers: require significant amount of state to be maintained in </a:t>
            </a:r>
            <a:r>
              <a:rPr lang="en-US" dirty="0">
                <a:latin typeface="Prestige12 BT" panose="02070509030506020304" pitchFamily="49" charset="0"/>
              </a:rPr>
              <a:t>OLD</a:t>
            </a:r>
            <a:r>
              <a:rPr lang="en-US" dirty="0"/>
              <a:t> </a:t>
            </a:r>
            <a:r>
              <a:rPr lang="en-US" dirty="0">
                <a:latin typeface="Prestige12 BT" panose="02070509030506020304" pitchFamily="49" charset="0"/>
              </a:rPr>
              <a:t>TABLE</a:t>
            </a:r>
            <a:r>
              <a:rPr lang="en-US" dirty="0"/>
              <a:t> and </a:t>
            </a:r>
            <a:r>
              <a:rPr lang="en-US" dirty="0">
                <a:latin typeface="Prestige12 BT" panose="02070509030506020304" pitchFamily="49" charset="0"/>
              </a:rPr>
              <a:t>NEW</a:t>
            </a:r>
            <a:r>
              <a:rPr lang="en-US" dirty="0"/>
              <a:t> </a:t>
            </a:r>
            <a:r>
              <a:rPr lang="en-US" dirty="0">
                <a:latin typeface="Prestige12 BT" panose="02070509030506020304" pitchFamily="49" charset="0"/>
              </a:rPr>
              <a:t>TABLE</a:t>
            </a:r>
          </a:p>
          <a:p>
            <a:pPr lvl="1"/>
            <a:endParaRPr lang="en-US" dirty="0"/>
          </a:p>
          <a:p>
            <a:r>
              <a:rPr lang="en-US" dirty="0"/>
              <a:t>Exercise 1: However, can you think of a case when a row-level trigger may be less efficient? </a:t>
            </a:r>
          </a:p>
          <a:p>
            <a:pPr lvl="1"/>
            <a:endParaRPr lang="en-US" dirty="0"/>
          </a:p>
          <a:p>
            <a:r>
              <a:rPr lang="en-US" dirty="0"/>
              <a:t>Exercise 2: Certain triggers are only possible at statement level. Can you think of an example?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938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Recursive firing of triggers</a:t>
            </a:r>
          </a:p>
          <a:p>
            <a:pPr lvl="1"/>
            <a:r>
              <a:rPr lang="en-US" dirty="0"/>
              <a:t>Action of one trigger causes another trigger to fire</a:t>
            </a:r>
          </a:p>
          <a:p>
            <a:pPr lvl="1"/>
            <a:r>
              <a:rPr lang="en-US" dirty="0"/>
              <a:t>Can get into an infinite loop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Interaction with constraints (tricky to get right!)</a:t>
            </a:r>
          </a:p>
          <a:p>
            <a:pPr lvl="1"/>
            <a:r>
              <a:rPr lang="en-US" dirty="0"/>
              <a:t>When to check if a triggering event violates constraints?</a:t>
            </a:r>
          </a:p>
          <a:p>
            <a:pPr lvl="2"/>
            <a:r>
              <a:rPr lang="en-US" dirty="0"/>
              <a:t>After a BEFORE trigger</a:t>
            </a:r>
          </a:p>
          <a:p>
            <a:pPr lvl="2"/>
            <a:r>
              <a:rPr lang="en-US" dirty="0"/>
              <a:t>Before an AFTER trigger</a:t>
            </a:r>
          </a:p>
          <a:p>
            <a:pPr lvl="2"/>
            <a:r>
              <a:rPr lang="en-US" dirty="0"/>
              <a:t>(based on db2, other DBMS may differ)</a:t>
            </a:r>
            <a:br>
              <a:rPr lang="en-US" dirty="0"/>
            </a:br>
            <a:endParaRPr lang="en-US" dirty="0"/>
          </a:p>
          <a:p>
            <a:r>
              <a:rPr lang="en-US" dirty="0"/>
              <a:t>Be best avoided when alternatives exist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287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F9B0E-932F-7247-AAFA-876A7CC22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features 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6834E-3031-9141-B7FE-3C7596368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accent3"/>
                </a:solidFill>
              </a:rPr>
              <a:t>Basic SQL </a:t>
            </a:r>
          </a:p>
          <a:p>
            <a:pPr marL="0" indent="0">
              <a:buNone/>
            </a:pPr>
            <a:endParaRPr lang="en-US" dirty="0">
              <a:solidFill>
                <a:schemeClr val="accent3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Intermediate SQL</a:t>
            </a:r>
          </a:p>
          <a:p>
            <a:pPr lvl="1"/>
            <a:r>
              <a:rPr lang="en-US" dirty="0">
                <a:solidFill>
                  <a:schemeClr val="accent3"/>
                </a:solidFill>
              </a:rPr>
              <a:t>Triggers </a:t>
            </a:r>
          </a:p>
          <a:p>
            <a:pPr lvl="1"/>
            <a:r>
              <a:rPr lang="en-US" dirty="0"/>
              <a:t>Views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787F3-8802-774B-856C-CE923BD0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594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accent2"/>
                </a:solidFill>
              </a:rPr>
              <a:t>view</a:t>
            </a:r>
            <a:r>
              <a:rPr lang="en-US" dirty="0"/>
              <a:t> is like a “virtual” table</a:t>
            </a:r>
            <a:endParaRPr lang="en-US" dirty="0">
              <a:solidFill>
                <a:schemeClr val="tx2"/>
              </a:solidFill>
            </a:endParaRPr>
          </a:p>
          <a:p>
            <a:pPr lvl="1"/>
            <a:r>
              <a:rPr lang="en-US" dirty="0"/>
              <a:t>Defined by a query, which describes </a:t>
            </a:r>
            <a:r>
              <a:rPr lang="en-US" dirty="0">
                <a:solidFill>
                  <a:schemeClr val="accent2"/>
                </a:solidFill>
              </a:rPr>
              <a:t>how to compute the view contents on the fly</a:t>
            </a:r>
            <a:endParaRPr lang="en-US" dirty="0"/>
          </a:p>
          <a:p>
            <a:pPr lvl="1"/>
            <a:r>
              <a:rPr lang="en-US" dirty="0"/>
              <a:t>Stored by DBMS instead of view contents </a:t>
            </a:r>
          </a:p>
          <a:p>
            <a:pPr lvl="1"/>
            <a:r>
              <a:rPr lang="en-US" dirty="0"/>
              <a:t>Can be used in queries just like a regular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EC0E77-D748-4076-A9DD-FF3C855143F8}"/>
              </a:ext>
            </a:extLst>
          </p:cNvPr>
          <p:cNvSpPr/>
          <p:nvPr/>
        </p:nvSpPr>
        <p:spPr>
          <a:xfrm>
            <a:off x="543174" y="3654222"/>
            <a:ext cx="4310088" cy="15630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CREATE VIEW </a:t>
            </a:r>
            <a:r>
              <a:rPr lang="en-US" sz="2000" dirty="0" err="1">
                <a:latin typeface="Prestige12 BT" panose="02070509030506020304" pitchFamily="49" charset="0"/>
              </a:rPr>
              <a:t>SGroup</a:t>
            </a:r>
            <a:r>
              <a:rPr lang="en-US" sz="2000" dirty="0">
                <a:latin typeface="Prestige12 BT" panose="020705090305060203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AS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       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SELECT * FROM User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       WHERE </a:t>
            </a:r>
            <a:r>
              <a:rPr lang="en-US" sz="2000" dirty="0" err="1">
                <a:solidFill>
                  <a:schemeClr val="bg1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IN (SELECT </a:t>
            </a:r>
            <a:r>
              <a:rPr lang="en-US" sz="2000" dirty="0" err="1">
                <a:solidFill>
                  <a:schemeClr val="bg1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                             FROM Member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             	              WHERE gid = ‘</a:t>
            </a:r>
            <a:r>
              <a:rPr lang="en-US" sz="2000" dirty="0" err="1">
                <a:latin typeface="Prestige12 BT" panose="02070509030506020304" pitchFamily="49" charset="0"/>
              </a:rPr>
              <a:t>sgroup</a:t>
            </a:r>
            <a:r>
              <a:rPr lang="en-US" sz="2000" dirty="0">
                <a:latin typeface="Prestige12 BT" panose="02070509030506020304" pitchFamily="49" charset="0"/>
              </a:rPr>
              <a:t>');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06698C-5C4F-4D8D-808A-830D1D10B1B4}"/>
              </a:ext>
            </a:extLst>
          </p:cNvPr>
          <p:cNvSpPr/>
          <p:nvPr/>
        </p:nvSpPr>
        <p:spPr>
          <a:xfrm>
            <a:off x="5836383" y="5891640"/>
            <a:ext cx="2836130" cy="4647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DROP VIEW </a:t>
            </a:r>
            <a:r>
              <a:rPr lang="en-US" sz="2000" dirty="0" err="1">
                <a:latin typeface="Prestige12 BT" panose="02070509030506020304" pitchFamily="49" charset="0"/>
              </a:rPr>
              <a:t>SGroup</a:t>
            </a:r>
            <a:r>
              <a:rPr lang="en-US" sz="2000" dirty="0">
                <a:latin typeface="Prestige12 BT" panose="02070509030506020304" pitchFamily="49" charset="0"/>
              </a:rPr>
              <a:t>;</a:t>
            </a:r>
            <a:endParaRPr lang="en-US" sz="1400" dirty="0">
              <a:latin typeface="Prestige12 BT" panose="02070509030506020304" pitchFamily="49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C6ABB4-1E46-4B38-A0A7-B8CC1F338E2C}"/>
              </a:ext>
            </a:extLst>
          </p:cNvPr>
          <p:cNvGrpSpPr/>
          <p:nvPr/>
        </p:nvGrpSpPr>
        <p:grpSpPr>
          <a:xfrm>
            <a:off x="3554233" y="3759942"/>
            <a:ext cx="1188203" cy="920965"/>
            <a:chOff x="4514629" y="3799699"/>
            <a:chExt cx="1188203" cy="920965"/>
          </a:xfrm>
        </p:grpSpPr>
        <p:sp>
          <p:nvSpPr>
            <p:cNvPr id="7" name="Callout: Bent Line 6">
              <a:extLst>
                <a:ext uri="{FF2B5EF4-FFF2-40B4-BE49-F238E27FC236}">
                  <a16:creationId xmlns:a16="http://schemas.microsoft.com/office/drawing/2014/main" id="{81AACA12-8D87-4916-A1FE-9B1D0140C64C}"/>
                </a:ext>
              </a:extLst>
            </p:cNvPr>
            <p:cNvSpPr/>
            <p:nvPr/>
          </p:nvSpPr>
          <p:spPr>
            <a:xfrm>
              <a:off x="4852529" y="3799699"/>
              <a:ext cx="850303" cy="510682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61213"/>
                <a:gd name="adj6" fmla="val -90055"/>
              </a:avLst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>
                <a:buFont typeface="Wingdings" pitchFamily="2" charset="2"/>
                <a:buNone/>
              </a:pPr>
              <a:r>
                <a:rPr lang="en-US" sz="2000" dirty="0">
                  <a:solidFill>
                    <a:schemeClr val="accent4"/>
                  </a:solidFill>
                </a:rPr>
                <a:t>Base tables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04C574-57C3-48EE-A9BC-966B30CB5E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4629" y="3900098"/>
              <a:ext cx="159000" cy="82056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FE5C1A5-83C3-46E1-A3E3-4939070A7672}"/>
              </a:ext>
            </a:extLst>
          </p:cNvPr>
          <p:cNvSpPr/>
          <p:nvPr/>
        </p:nvSpPr>
        <p:spPr>
          <a:xfrm>
            <a:off x="543174" y="5349619"/>
            <a:ext cx="4310088" cy="4647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latin typeface="Prestige12 BT" panose="02070509030506020304" pitchFamily="49" charset="0"/>
              </a:rPr>
              <a:t>SELECT AVG(pop) FROM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SGroup</a:t>
            </a:r>
            <a:r>
              <a:rPr lang="en-US" sz="2000" dirty="0"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95B1A0-B15C-4804-894D-B4A8953788DF}"/>
              </a:ext>
            </a:extLst>
          </p:cNvPr>
          <p:cNvSpPr/>
          <p:nvPr/>
        </p:nvSpPr>
        <p:spPr>
          <a:xfrm>
            <a:off x="5167587" y="3656293"/>
            <a:ext cx="3769687" cy="19268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Prestige12 BT" panose="02070509030506020304" pitchFamily="49" charset="0"/>
              </a:rPr>
              <a:t>SELECT AVG(pop)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FROM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(SELECT * FROM User</a:t>
            </a:r>
            <a:b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WHERE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IN</a:t>
            </a:r>
            <a:b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(SELECT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FROM Member</a:t>
            </a:r>
            <a:b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 WHERE gid = '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jes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'))</a:t>
            </a:r>
            <a:b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 AS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SGroup</a:t>
            </a:r>
            <a:r>
              <a:rPr lang="en-US" sz="2000" dirty="0"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2D1EA0-94B9-48E3-9E09-55ECEF0BA586}"/>
              </a:ext>
            </a:extLst>
          </p:cNvPr>
          <p:cNvSpPr/>
          <p:nvPr/>
        </p:nvSpPr>
        <p:spPr>
          <a:xfrm>
            <a:off x="857499" y="5781612"/>
            <a:ext cx="4310088" cy="4647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latin typeface="Prestige12 BT" panose="02070509030506020304" pitchFamily="49" charset="0"/>
              </a:rPr>
              <a:t>SELECT MIN(pop) FROM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SGroup</a:t>
            </a:r>
            <a:r>
              <a:rPr lang="en-US" sz="2000" dirty="0"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FB4388-58FF-471E-9930-14A5BB8039E4}"/>
              </a:ext>
            </a:extLst>
          </p:cNvPr>
          <p:cNvSpPr/>
          <p:nvPr/>
        </p:nvSpPr>
        <p:spPr>
          <a:xfrm>
            <a:off x="1279906" y="6171524"/>
            <a:ext cx="4310088" cy="4647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latin typeface="Prestige12 BT" panose="02070509030506020304" pitchFamily="49" charset="0"/>
              </a:rPr>
              <a:t>SELECT … FROM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SGroup</a:t>
            </a:r>
            <a:r>
              <a:rPr lang="en-US" sz="2000" dirty="0"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F808608-95BE-4080-959A-E1C7C7F9D6C7}"/>
              </a:ext>
            </a:extLst>
          </p:cNvPr>
          <p:cNvSpPr/>
          <p:nvPr/>
        </p:nvSpPr>
        <p:spPr>
          <a:xfrm rot="20151113">
            <a:off x="4742436" y="5401146"/>
            <a:ext cx="743964" cy="180828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156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views?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</a:t>
            </a:r>
            <a:r>
              <a:rPr lang="en-US" dirty="0">
                <a:solidFill>
                  <a:schemeClr val="accent2"/>
                </a:solidFill>
              </a:rPr>
              <a:t>hide complexity </a:t>
            </a:r>
            <a:r>
              <a:rPr lang="en-US" dirty="0"/>
              <a:t>from users</a:t>
            </a:r>
            <a:br>
              <a:rPr lang="en-US" dirty="0"/>
            </a:br>
            <a:endParaRPr lang="en-US" dirty="0"/>
          </a:p>
          <a:p>
            <a:r>
              <a:rPr lang="en-US" dirty="0"/>
              <a:t>To </a:t>
            </a:r>
            <a:r>
              <a:rPr lang="en-US" dirty="0">
                <a:solidFill>
                  <a:schemeClr val="accent2"/>
                </a:solidFill>
              </a:rPr>
              <a:t>hide data </a:t>
            </a:r>
            <a:r>
              <a:rPr lang="en-US" dirty="0"/>
              <a:t>from users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Logical</a:t>
            </a:r>
            <a:r>
              <a:rPr lang="en-US" dirty="0"/>
              <a:t> data independence</a:t>
            </a:r>
            <a:br>
              <a:rPr lang="en-US" dirty="0"/>
            </a:br>
            <a:endParaRPr lang="en-US" dirty="0"/>
          </a:p>
          <a:p>
            <a:r>
              <a:rPr lang="en-US" dirty="0"/>
              <a:t>To provide a </a:t>
            </a:r>
            <a:r>
              <a:rPr lang="en-US" dirty="0">
                <a:solidFill>
                  <a:schemeClr val="accent2"/>
                </a:solidFill>
              </a:rPr>
              <a:t>uniform interface </a:t>
            </a:r>
            <a:r>
              <a:rPr lang="en-US" dirty="0"/>
              <a:t>for different implementations or sources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196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it even make sense, since views are virtual?</a:t>
            </a:r>
          </a:p>
          <a:p>
            <a:endParaRPr lang="en-US" dirty="0"/>
          </a:p>
          <a:p>
            <a:r>
              <a:rPr lang="en-US" dirty="0"/>
              <a:t>It does make sense if we want users to really see views as tables</a:t>
            </a:r>
          </a:p>
          <a:p>
            <a:endParaRPr lang="en-US" dirty="0"/>
          </a:p>
          <a:p>
            <a:r>
              <a:rPr lang="en-US" dirty="0"/>
              <a:t>Goal: </a:t>
            </a:r>
            <a:r>
              <a:rPr lang="en-US" dirty="0">
                <a:solidFill>
                  <a:schemeClr val="accent2"/>
                </a:solidFill>
              </a:rPr>
              <a:t>modify the base tables </a:t>
            </a:r>
            <a:r>
              <a:rPr lang="en-US" dirty="0"/>
              <a:t>such that the modification would </a:t>
            </a:r>
            <a:r>
              <a:rPr lang="en-US" dirty="0">
                <a:solidFill>
                  <a:schemeClr val="accent2"/>
                </a:solidFill>
              </a:rPr>
              <a:t>appear to have been accomplished on the 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577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D2E6B-D9A0-4454-907A-B0F16761C368}"/>
              </a:ext>
            </a:extLst>
          </p:cNvPr>
          <p:cNvSpPr/>
          <p:nvPr/>
        </p:nvSpPr>
        <p:spPr>
          <a:xfrm>
            <a:off x="1725930" y="1815739"/>
            <a:ext cx="4910254" cy="10918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CREATE VIEW </a:t>
            </a:r>
            <a:r>
              <a:rPr lang="en-US" sz="2400" dirty="0" err="1">
                <a:solidFill>
                  <a:schemeClr val="bg1"/>
                </a:solidFill>
                <a:latin typeface="Prestige12 BT" panose="02070509030506020304" pitchFamily="49" charset="0"/>
              </a:rPr>
              <a:t>UserPop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AS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    SELECT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, pop FROM User;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50097-D582-4FBE-9181-5593CAC41600}"/>
              </a:ext>
            </a:extLst>
          </p:cNvPr>
          <p:cNvSpPr/>
          <p:nvPr/>
        </p:nvSpPr>
        <p:spPr>
          <a:xfrm>
            <a:off x="1323592" y="3421250"/>
            <a:ext cx="6201919" cy="67022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Font typeface="Wingdings" pitchFamily="2" charset="2"/>
              <a:buNone/>
            </a:pPr>
            <a:r>
              <a:rPr lang="en-US" sz="2400" dirty="0">
                <a:latin typeface="Prestige12 BT" panose="02070509030506020304" pitchFamily="49" charset="0"/>
              </a:rPr>
              <a:t>DELETE FROM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UserPop</a:t>
            </a:r>
            <a:r>
              <a:rPr lang="en-US" sz="2400" dirty="0">
                <a:latin typeface="Prestige12 BT" panose="02070509030506020304" pitchFamily="49" charset="0"/>
              </a:rPr>
              <a:t> WHERE </a:t>
            </a:r>
            <a:r>
              <a:rPr lang="en-US" sz="2400" dirty="0" err="1">
                <a:latin typeface="Prestige12 BT" panose="02070509030506020304" pitchFamily="49" charset="0"/>
              </a:rPr>
              <a:t>uid</a:t>
            </a:r>
            <a:r>
              <a:rPr lang="en-US" sz="2400" dirty="0">
                <a:latin typeface="Prestige12 BT" panose="02070509030506020304" pitchFamily="49" charset="0"/>
              </a:rPr>
              <a:t> = 123;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E4840C-9FAA-4127-A998-5B4D86C180D7}"/>
              </a:ext>
            </a:extLst>
          </p:cNvPr>
          <p:cNvSpPr/>
          <p:nvPr/>
        </p:nvSpPr>
        <p:spPr>
          <a:xfrm>
            <a:off x="1323593" y="4935050"/>
            <a:ext cx="6201919" cy="67022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Font typeface="Wingdings" pitchFamily="2" charset="2"/>
              <a:buNone/>
            </a:pPr>
            <a:r>
              <a:rPr lang="en-US" sz="2400" dirty="0">
                <a:latin typeface="Prestige12 BT" panose="02070509030506020304" pitchFamily="49" charset="0"/>
              </a:rPr>
              <a:t>DELETE FROM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User </a:t>
            </a:r>
            <a:r>
              <a:rPr lang="en-US" sz="2400" dirty="0">
                <a:latin typeface="Prestige12 BT" panose="02070509030506020304" pitchFamily="49" charset="0"/>
              </a:rPr>
              <a:t>WHERE </a:t>
            </a:r>
            <a:r>
              <a:rPr lang="en-US" sz="2400" dirty="0" err="1">
                <a:latin typeface="Prestige12 BT" panose="02070509030506020304" pitchFamily="49" charset="0"/>
              </a:rPr>
              <a:t>uid</a:t>
            </a:r>
            <a:r>
              <a:rPr lang="en-US" sz="2400" dirty="0">
                <a:latin typeface="Prestige12 BT" panose="02070509030506020304" pitchFamily="49" charset="0"/>
              </a:rPr>
              <a:t> = 123;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16F6D9-D17E-4757-BB8D-56824063178F}"/>
              </a:ext>
            </a:extLst>
          </p:cNvPr>
          <p:cNvSpPr txBox="1"/>
          <p:nvPr/>
        </p:nvSpPr>
        <p:spPr>
          <a:xfrm>
            <a:off x="3255264" y="3999966"/>
            <a:ext cx="2075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translates to: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876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impossible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en-US" dirty="0">
              <a:latin typeface="Prestige12 BT" panose="02070509030506020304" pitchFamily="49" charset="0"/>
            </a:endParaRPr>
          </a:p>
          <a:p>
            <a:pPr>
              <a:buFont typeface="Wingdings" pitchFamily="2" charset="2"/>
              <a:buNone/>
            </a:pPr>
            <a:endParaRPr lang="en-US" dirty="0">
              <a:latin typeface="Prestige12 BT" panose="02070509030506020304" pitchFamily="49" charset="0"/>
            </a:endParaRPr>
          </a:p>
          <a:p>
            <a:pPr>
              <a:buFont typeface="Wingdings" pitchFamily="2" charset="2"/>
              <a:buNone/>
            </a:pPr>
            <a:endParaRPr lang="en-US" dirty="0">
              <a:latin typeface="Prestige12 BT" panose="02070509030506020304" pitchFamily="49" charset="0"/>
            </a:endParaRPr>
          </a:p>
          <a:p>
            <a:pPr>
              <a:buFont typeface="Wingdings" pitchFamily="2" charset="2"/>
              <a:buNone/>
            </a:pPr>
            <a:endParaRPr lang="en-US" dirty="0">
              <a:latin typeface="Prestige12 BT" panose="02070509030506020304" pitchFamily="49" charset="0"/>
            </a:endParaRPr>
          </a:p>
          <a:p>
            <a:pPr>
              <a:buFont typeface="Wingdings" pitchFamily="2" charset="2"/>
              <a:buNone/>
            </a:pPr>
            <a:endParaRPr lang="en-US" dirty="0">
              <a:latin typeface="Prestige12 BT" panose="02070509030506020304" pitchFamily="49" charset="0"/>
            </a:endParaRPr>
          </a:p>
          <a:p>
            <a:endParaRPr lang="en-US" dirty="0"/>
          </a:p>
          <a:p>
            <a:r>
              <a:rPr lang="en-US" dirty="0"/>
              <a:t>No matter what we do on </a:t>
            </a:r>
            <a:r>
              <a:rPr lang="en-US" i="1" dirty="0"/>
              <a:t>User</a:t>
            </a:r>
            <a:r>
              <a:rPr lang="en-US" dirty="0"/>
              <a:t>, the inserted row will not be in </a:t>
            </a:r>
            <a:r>
              <a:rPr lang="en-US" i="1" dirty="0" err="1"/>
              <a:t>PopularUser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5BBD3A-AE62-44EC-B34B-566795E67C47}"/>
              </a:ext>
            </a:extLst>
          </p:cNvPr>
          <p:cNvSpPr/>
          <p:nvPr/>
        </p:nvSpPr>
        <p:spPr>
          <a:xfrm>
            <a:off x="2027737" y="1530006"/>
            <a:ext cx="5213711" cy="11583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CREATE VIEW </a:t>
            </a:r>
            <a:r>
              <a:rPr lang="en-US" sz="2400" dirty="0" err="1">
                <a:solidFill>
                  <a:schemeClr val="bg1"/>
                </a:solidFill>
                <a:latin typeface="Prestige12 BT" panose="02070509030506020304" pitchFamily="49" charset="0"/>
              </a:rPr>
              <a:t>PopularUser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AS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	SELECT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, pop FROM User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	WHERE pop &gt;= 0.8;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C5D2F7-316E-492D-82C1-62A0AB7163C6}"/>
              </a:ext>
            </a:extLst>
          </p:cNvPr>
          <p:cNvSpPr/>
          <p:nvPr/>
        </p:nvSpPr>
        <p:spPr>
          <a:xfrm>
            <a:off x="1755076" y="3264408"/>
            <a:ext cx="5935028" cy="6949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Font typeface="Wingdings" pitchFamily="2" charset="2"/>
              <a:buNone/>
            </a:pPr>
            <a:r>
              <a:rPr lang="en-US" sz="2400" dirty="0">
                <a:latin typeface="Prestige12 BT" panose="02070509030506020304" pitchFamily="49" charset="0"/>
              </a:rPr>
              <a:t>INSERT INTO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PopularUser</a:t>
            </a:r>
            <a:r>
              <a:rPr lang="en-US" sz="2400" dirty="0">
                <a:latin typeface="Prestige12 BT" panose="02070509030506020304" pitchFamily="49" charset="0"/>
              </a:rPr>
              <a:t> VALUES(987, 0.3);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8414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case with too many possibilities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en-US" dirty="0">
              <a:latin typeface="LettrGoth12 BT" pitchFamily="49" charset="0"/>
            </a:endParaRPr>
          </a:p>
          <a:p>
            <a:pPr>
              <a:buFont typeface="Wingdings" pitchFamily="2" charset="2"/>
              <a:buNone/>
            </a:pPr>
            <a:endParaRPr lang="en-US" dirty="0">
              <a:latin typeface="LettrGoth12 BT" pitchFamily="49" charset="0"/>
            </a:endParaRPr>
          </a:p>
          <a:p>
            <a:pPr>
              <a:buFont typeface="Wingdings" pitchFamily="2" charset="2"/>
              <a:buNone/>
            </a:pPr>
            <a:endParaRPr lang="en-US" dirty="0">
              <a:latin typeface="LettrGoth12 BT" pitchFamily="49" charset="0"/>
            </a:endParaRPr>
          </a:p>
          <a:p>
            <a:pPr>
              <a:buFont typeface="Wingdings" pitchFamily="2" charset="2"/>
              <a:buNone/>
            </a:pPr>
            <a:endParaRPr lang="en-US" dirty="0">
              <a:latin typeface="LettrGoth12 BT" pitchFamily="49" charset="0"/>
            </a:endParaRPr>
          </a:p>
          <a:p>
            <a:pPr>
              <a:buFont typeface="Wingdings" pitchFamily="2" charset="2"/>
              <a:buNone/>
            </a:pPr>
            <a:endParaRPr lang="en-US" dirty="0">
              <a:latin typeface="LettrGoth12 BT" pitchFamily="49" charset="0"/>
            </a:endParaRPr>
          </a:p>
          <a:p>
            <a:pPr>
              <a:buFont typeface="Wingdings" pitchFamily="2" charset="2"/>
              <a:buNone/>
            </a:pPr>
            <a:endParaRPr lang="en-US" dirty="0">
              <a:latin typeface="LettrGoth12 BT" pitchFamily="49" charset="0"/>
            </a:endParaRPr>
          </a:p>
          <a:p>
            <a:r>
              <a:rPr lang="en-US" dirty="0"/>
              <a:t>Set everybody’s </a:t>
            </a:r>
            <a:r>
              <a:rPr lang="en-US" i="1" dirty="0"/>
              <a:t>pop</a:t>
            </a:r>
            <a:r>
              <a:rPr lang="en-US" dirty="0"/>
              <a:t> to 0.5?</a:t>
            </a:r>
          </a:p>
          <a:p>
            <a:r>
              <a:rPr lang="en-US" dirty="0"/>
              <a:t>Adjust everybody’s </a:t>
            </a:r>
            <a:r>
              <a:rPr lang="en-US" i="1" dirty="0"/>
              <a:t>pop</a:t>
            </a:r>
            <a:r>
              <a:rPr lang="en-US" dirty="0"/>
              <a:t> by the same amount?</a:t>
            </a:r>
          </a:p>
          <a:p>
            <a:r>
              <a:rPr lang="en-US" dirty="0"/>
              <a:t>Just lower one user’s </a:t>
            </a:r>
            <a:r>
              <a:rPr lang="en-US" i="1" dirty="0"/>
              <a:t>pop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1A9D8C-2739-4EF6-A120-705193B93303}"/>
              </a:ext>
            </a:extLst>
          </p:cNvPr>
          <p:cNvSpPr/>
          <p:nvPr/>
        </p:nvSpPr>
        <p:spPr>
          <a:xfrm>
            <a:off x="1400197" y="1818226"/>
            <a:ext cx="6343605" cy="96450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CREATE VIEW </a:t>
            </a:r>
            <a:r>
              <a:rPr lang="en-US" sz="2400" dirty="0" err="1">
                <a:solidFill>
                  <a:schemeClr val="bg1"/>
                </a:solidFill>
                <a:latin typeface="Prestige12 BT" panose="02070509030506020304" pitchFamily="49" charset="0"/>
              </a:rPr>
              <a:t>AveragePop</a:t>
            </a:r>
            <a:r>
              <a:rPr lang="en-US" sz="2400" dirty="0">
                <a:solidFill>
                  <a:schemeClr val="bg1"/>
                </a:solidFill>
                <a:latin typeface="Prestige12 BT" panose="02070509030506020304" pitchFamily="49" charset="0"/>
              </a:rPr>
              <a:t>(</a:t>
            </a:r>
            <a:r>
              <a:rPr lang="en-US" sz="2400" dirty="0">
                <a:solidFill>
                  <a:schemeClr val="accent4"/>
                </a:solidFill>
                <a:latin typeface="Prestige12 BT" panose="02070509030506020304" pitchFamily="49" charset="0"/>
              </a:rPr>
              <a:t>pop</a:t>
            </a:r>
            <a:r>
              <a:rPr lang="en-US" sz="2400" dirty="0">
                <a:solidFill>
                  <a:schemeClr val="bg1"/>
                </a:solidFill>
                <a:latin typeface="Prestige12 BT" panose="02070509030506020304" pitchFamily="49" charset="0"/>
              </a:rPr>
              <a:t>)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AS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	SELECT AVG(pop) FROM User;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B7EC5-3E15-4E31-BB49-D56B41133AE6}"/>
              </a:ext>
            </a:extLst>
          </p:cNvPr>
          <p:cNvSpPr/>
          <p:nvPr/>
        </p:nvSpPr>
        <p:spPr>
          <a:xfrm>
            <a:off x="1604485" y="3144107"/>
            <a:ext cx="5935028" cy="6949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None/>
            </a:pPr>
            <a:r>
              <a:rPr lang="en-US" sz="2400" dirty="0">
                <a:latin typeface="Prestige12 BT" panose="02070509030506020304" pitchFamily="49" charset="0"/>
              </a:rPr>
              <a:t>UPDATE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AveragePop</a:t>
            </a:r>
            <a:r>
              <a:rPr lang="en-US" sz="2400" dirty="0">
                <a:latin typeface="Prestige12 BT" panose="02070509030506020304" pitchFamily="49" charset="0"/>
              </a:rPr>
              <a:t> SET pop = 0.5;</a:t>
            </a: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E0ED2631-2DBB-41ED-838D-389F5F0A5231}"/>
              </a:ext>
            </a:extLst>
          </p:cNvPr>
          <p:cNvSpPr/>
          <p:nvPr/>
        </p:nvSpPr>
        <p:spPr>
          <a:xfrm>
            <a:off x="6351869" y="1903210"/>
            <a:ext cx="1319947" cy="51068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8679"/>
              <a:gd name="adj6" fmla="val -87038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>
              <a:buFont typeface="Wingdings" pitchFamily="2" charset="2"/>
              <a:buNone/>
            </a:pPr>
            <a:r>
              <a:rPr lang="en-US" sz="2000" dirty="0">
                <a:solidFill>
                  <a:schemeClr val="accent4"/>
                </a:solidFill>
              </a:rPr>
              <a:t>Renamed column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886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SQL92 updateable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or less just single-table selection queries</a:t>
            </a:r>
          </a:p>
          <a:p>
            <a:pPr lvl="1"/>
            <a:r>
              <a:rPr lang="en-US" dirty="0"/>
              <a:t>No join</a:t>
            </a:r>
          </a:p>
          <a:p>
            <a:pPr lvl="1"/>
            <a:r>
              <a:rPr lang="en-US" dirty="0"/>
              <a:t>No aggregation</a:t>
            </a:r>
          </a:p>
          <a:p>
            <a:pPr lvl="1"/>
            <a:r>
              <a:rPr lang="en-US" dirty="0"/>
              <a:t>No </a:t>
            </a:r>
            <a:r>
              <a:rPr lang="en-US" dirty="0" err="1"/>
              <a:t>subqueries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Arguably somewhat restrictive</a:t>
            </a:r>
          </a:p>
          <a:p>
            <a:r>
              <a:rPr lang="en-US" dirty="0"/>
              <a:t>Still might get it wrong in some cases</a:t>
            </a:r>
          </a:p>
          <a:p>
            <a:pPr lvl="1"/>
            <a:r>
              <a:rPr lang="en-US" dirty="0"/>
              <a:t>See the slide titled “An impossible case” (slide 20)</a:t>
            </a:r>
          </a:p>
          <a:p>
            <a:pPr lvl="1"/>
            <a:r>
              <a:rPr lang="en-US" dirty="0"/>
              <a:t>Adding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WITH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CHECK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OPTION</a:t>
            </a:r>
            <a:r>
              <a:rPr lang="en-US" dirty="0"/>
              <a:t> to the end of the view definition will make DBMS reject such modifications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951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INSTEAD</a:t>
            </a:r>
            <a:r>
              <a:rPr lang="en-US" dirty="0"/>
              <a:t> </a:t>
            </a:r>
            <a:r>
              <a:rPr lang="en-US" dirty="0">
                <a:latin typeface="Prestige12 BT" panose="02070509030506020304" pitchFamily="49" charset="0"/>
              </a:rPr>
              <a:t>OF</a:t>
            </a:r>
            <a:r>
              <a:rPr lang="en-US" dirty="0"/>
              <a:t> triggers for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What does this trigger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C92F1A-42A0-4A95-A0C3-4DFFB1FEE432}"/>
              </a:ext>
            </a:extLst>
          </p:cNvPr>
          <p:cNvSpPr/>
          <p:nvPr/>
        </p:nvSpPr>
        <p:spPr>
          <a:xfrm>
            <a:off x="1918812" y="2299819"/>
            <a:ext cx="5304948" cy="271650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Prestige12 BT" panose="02070509030506020304" pitchFamily="49" charset="0"/>
              </a:rPr>
              <a:t>CREATE TRIGGER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AdjustAveragePop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INSTEAD OF</a:t>
            </a:r>
            <a:r>
              <a:rPr lang="en-US" sz="2400" dirty="0">
                <a:latin typeface="Prestige12 BT" panose="02070509030506020304" pitchFamily="49" charset="0"/>
              </a:rPr>
              <a:t> UPDATE ON </a:t>
            </a:r>
            <a:r>
              <a:rPr lang="en-US" sz="2400" dirty="0" err="1">
                <a:latin typeface="Prestige12 BT" panose="02070509030506020304" pitchFamily="49" charset="0"/>
              </a:rPr>
              <a:t>AveragePop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REFERENCING OLD ROW AS o,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            NEW ROW AS n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FOR EACH ROW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	UPDATE User</a:t>
            </a:r>
          </a:p>
          <a:p>
            <a:r>
              <a:rPr lang="en-US" sz="2400" dirty="0">
                <a:latin typeface="Prestige12 BT" panose="02070509030506020304" pitchFamily="49" charset="0"/>
              </a:rPr>
              <a:t>	SET pop = pop + (</a:t>
            </a:r>
            <a:r>
              <a:rPr lang="en-US" sz="2400" dirty="0" err="1">
                <a:latin typeface="Prestige12 BT" panose="02070509030506020304" pitchFamily="49" charset="0"/>
              </a:rPr>
              <a:t>n.pop-o.pop</a:t>
            </a:r>
            <a:r>
              <a:rPr lang="en-US" sz="2400" dirty="0">
                <a:latin typeface="Prestige12 BT" panose="02070509030506020304" pitchFamily="49" charset="0"/>
              </a:rPr>
              <a:t>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00761C-03CE-420F-BF17-83449A738601}"/>
              </a:ext>
            </a:extLst>
          </p:cNvPr>
          <p:cNvSpPr/>
          <p:nvPr/>
        </p:nvSpPr>
        <p:spPr>
          <a:xfrm>
            <a:off x="1399484" y="1437170"/>
            <a:ext cx="6343605" cy="74811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CREATE VIEW </a:t>
            </a:r>
            <a:r>
              <a:rPr lang="en-US" sz="2400" dirty="0" err="1">
                <a:solidFill>
                  <a:schemeClr val="bg1"/>
                </a:solidFill>
                <a:latin typeface="Prestige12 BT" panose="02070509030506020304" pitchFamily="49" charset="0"/>
              </a:rPr>
              <a:t>AveragePop</a:t>
            </a:r>
            <a:r>
              <a:rPr lang="en-US" sz="2400" dirty="0">
                <a:solidFill>
                  <a:schemeClr val="bg1"/>
                </a:solidFill>
                <a:latin typeface="Prestige12 BT" panose="02070509030506020304" pitchFamily="49" charset="0"/>
              </a:rPr>
              <a:t>(</a:t>
            </a:r>
            <a:r>
              <a:rPr lang="en-US" sz="2400" dirty="0">
                <a:solidFill>
                  <a:schemeClr val="accent4"/>
                </a:solidFill>
                <a:latin typeface="Prestige12 BT" panose="02070509030506020304" pitchFamily="49" charset="0"/>
              </a:rPr>
              <a:t>pop</a:t>
            </a:r>
            <a:r>
              <a:rPr lang="en-US" sz="2400" dirty="0">
                <a:solidFill>
                  <a:schemeClr val="bg1"/>
                </a:solidFill>
                <a:latin typeface="Prestige12 BT" panose="02070509030506020304" pitchFamily="49" charset="0"/>
              </a:rPr>
              <a:t>)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AS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	SELECT AVG(pop) FROM User;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73A2B1-721B-4620-BCF9-7878ED81A351}"/>
              </a:ext>
            </a:extLst>
          </p:cNvPr>
          <p:cNvSpPr/>
          <p:nvPr/>
        </p:nvSpPr>
        <p:spPr>
          <a:xfrm>
            <a:off x="2174160" y="5857706"/>
            <a:ext cx="5075566" cy="4584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None/>
            </a:pPr>
            <a:r>
              <a:rPr lang="en-US" sz="2400" dirty="0">
                <a:latin typeface="Prestige12 BT" panose="02070509030506020304" pitchFamily="49" charset="0"/>
              </a:rPr>
              <a:t>UPDATE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AveragePop</a:t>
            </a:r>
            <a:r>
              <a:rPr lang="en-US" sz="2400" dirty="0">
                <a:latin typeface="Prestige12 BT" panose="02070509030506020304" pitchFamily="49" charset="0"/>
              </a:rPr>
              <a:t> SET pop = 0.5;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562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INSTEAD</a:t>
            </a:r>
            <a:r>
              <a:rPr lang="en-US" dirty="0"/>
              <a:t> </a:t>
            </a:r>
            <a:r>
              <a:rPr lang="en-US" dirty="0">
                <a:latin typeface="Prestige12 BT" panose="02070509030506020304" pitchFamily="49" charset="0"/>
              </a:rPr>
              <a:t>OF</a:t>
            </a:r>
            <a:r>
              <a:rPr lang="en-US" dirty="0"/>
              <a:t> triggers for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What does this trigger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C92F1A-42A0-4A95-A0C3-4DFFB1FEE432}"/>
              </a:ext>
            </a:extLst>
          </p:cNvPr>
          <p:cNvSpPr/>
          <p:nvPr/>
        </p:nvSpPr>
        <p:spPr>
          <a:xfrm>
            <a:off x="1918812" y="2299819"/>
            <a:ext cx="5304948" cy="271650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Prestige12 BT" panose="02070509030506020304" pitchFamily="49" charset="0"/>
              </a:rPr>
              <a:t>CREATE TRIGGER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AdjustAveragePop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INSTEAD OF</a:t>
            </a:r>
            <a:r>
              <a:rPr lang="en-US" sz="2400" dirty="0">
                <a:latin typeface="Prestige12 BT" panose="02070509030506020304" pitchFamily="49" charset="0"/>
              </a:rPr>
              <a:t> UPDATE ON </a:t>
            </a:r>
            <a:r>
              <a:rPr lang="en-US" sz="2400" dirty="0" err="1">
                <a:latin typeface="Prestige12 BT" panose="02070509030506020304" pitchFamily="49" charset="0"/>
              </a:rPr>
              <a:t>AveragePop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REFERENCING OLD ROW AS o,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            NEW ROW AS n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FOR EACH ROW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	UPDATE User</a:t>
            </a:r>
          </a:p>
          <a:p>
            <a:r>
              <a:rPr lang="en-US" sz="2400" dirty="0">
                <a:latin typeface="Prestige12 BT" panose="02070509030506020304" pitchFamily="49" charset="0"/>
              </a:rPr>
              <a:t>	SET pop = pop + (</a:t>
            </a:r>
            <a:r>
              <a:rPr lang="en-US" sz="2400" dirty="0" err="1">
                <a:latin typeface="Prestige12 BT" panose="02070509030506020304" pitchFamily="49" charset="0"/>
              </a:rPr>
              <a:t>n.pop-o.pop</a:t>
            </a:r>
            <a:r>
              <a:rPr lang="en-US" sz="2400" dirty="0">
                <a:latin typeface="Prestige12 BT" panose="02070509030506020304" pitchFamily="49" charset="0"/>
              </a:rPr>
              <a:t>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00761C-03CE-420F-BF17-83449A738601}"/>
              </a:ext>
            </a:extLst>
          </p:cNvPr>
          <p:cNvSpPr/>
          <p:nvPr/>
        </p:nvSpPr>
        <p:spPr>
          <a:xfrm>
            <a:off x="1399484" y="1437170"/>
            <a:ext cx="6343605" cy="74811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CREATE VIEW </a:t>
            </a:r>
            <a:r>
              <a:rPr lang="en-US" sz="2400" dirty="0" err="1">
                <a:solidFill>
                  <a:schemeClr val="bg1"/>
                </a:solidFill>
                <a:latin typeface="Prestige12 BT" panose="02070509030506020304" pitchFamily="49" charset="0"/>
              </a:rPr>
              <a:t>AveragePop</a:t>
            </a:r>
            <a:r>
              <a:rPr lang="en-US" sz="2400" dirty="0">
                <a:solidFill>
                  <a:schemeClr val="bg1"/>
                </a:solidFill>
                <a:latin typeface="Prestige12 BT" panose="02070509030506020304" pitchFamily="49" charset="0"/>
              </a:rPr>
              <a:t>(</a:t>
            </a:r>
            <a:r>
              <a:rPr lang="en-US" sz="2400" dirty="0">
                <a:solidFill>
                  <a:schemeClr val="accent4"/>
                </a:solidFill>
                <a:latin typeface="Prestige12 BT" panose="02070509030506020304" pitchFamily="49" charset="0"/>
              </a:rPr>
              <a:t>pop</a:t>
            </a:r>
            <a:r>
              <a:rPr lang="en-US" sz="2400" dirty="0">
                <a:solidFill>
                  <a:schemeClr val="bg1"/>
                </a:solidFill>
                <a:latin typeface="Prestige12 BT" panose="02070509030506020304" pitchFamily="49" charset="0"/>
              </a:rPr>
              <a:t>)</a:t>
            </a: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 AS</a:t>
            </a:r>
            <a:b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400" dirty="0">
                <a:solidFill>
                  <a:schemeClr val="accent2"/>
                </a:solidFill>
                <a:latin typeface="Prestige12 BT" panose="02070509030506020304" pitchFamily="49" charset="0"/>
              </a:rPr>
              <a:t>	SELECT AVG(pop) FROM User;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6EDD87-6236-4E56-A221-31BA75737885}"/>
              </a:ext>
            </a:extLst>
          </p:cNvPr>
          <p:cNvSpPr/>
          <p:nvPr/>
        </p:nvSpPr>
        <p:spPr>
          <a:xfrm>
            <a:off x="2174160" y="5857706"/>
            <a:ext cx="5075566" cy="4584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None/>
            </a:pPr>
            <a:r>
              <a:rPr lang="en-US" sz="2400" dirty="0">
                <a:latin typeface="Prestige12 BT" panose="02070509030506020304" pitchFamily="49" charset="0"/>
              </a:rPr>
              <a:t>UPDATE </a:t>
            </a:r>
            <a:r>
              <a:rPr lang="en-US" sz="24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AveragePop</a:t>
            </a:r>
            <a:r>
              <a:rPr lang="en-US" sz="2400" dirty="0">
                <a:latin typeface="Prestige12 BT" panose="02070509030506020304" pitchFamily="49" charset="0"/>
              </a:rPr>
              <a:t> SET pop = 0.5;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4CAC71B-C338-439C-968A-9D0BE9A55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836966"/>
              </p:ext>
            </p:extLst>
          </p:nvPr>
        </p:nvGraphicFramePr>
        <p:xfrm>
          <a:off x="7268014" y="4062877"/>
          <a:ext cx="1666812" cy="2315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272">
                  <a:extLst>
                    <a:ext uri="{9D8B030D-6E8A-4147-A177-3AD203B41FA5}">
                      <a16:colId xmlns:a16="http://schemas.microsoft.com/office/drawing/2014/main" val="2228373347"/>
                    </a:ext>
                  </a:extLst>
                </a:gridCol>
                <a:gridCol w="616268">
                  <a:extLst>
                    <a:ext uri="{9D8B030D-6E8A-4147-A177-3AD203B41FA5}">
                      <a16:colId xmlns:a16="http://schemas.microsoft.com/office/drawing/2014/main" val="3448854702"/>
                    </a:ext>
                  </a:extLst>
                </a:gridCol>
                <a:gridCol w="525272">
                  <a:extLst>
                    <a:ext uri="{9D8B030D-6E8A-4147-A177-3AD203B41FA5}">
                      <a16:colId xmlns:a16="http://schemas.microsoft.com/office/drawing/2014/main" val="2869722095"/>
                    </a:ext>
                  </a:extLst>
                </a:gridCol>
              </a:tblGrid>
              <a:tr h="463093">
                <a:tc>
                  <a:txBody>
                    <a:bodyPr/>
                    <a:lstStyle/>
                    <a:p>
                      <a:r>
                        <a:rPr lang="en-CA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608633"/>
                  </a:ext>
                </a:extLst>
              </a:tr>
              <a:tr h="463093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676812"/>
                  </a:ext>
                </a:extLst>
              </a:tr>
              <a:tr h="463093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365071"/>
                  </a:ext>
                </a:extLst>
              </a:tr>
              <a:tr h="463093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485917"/>
                  </a:ext>
                </a:extLst>
              </a:tr>
              <a:tr h="463093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9485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B143A5D-93C8-4E22-9FEF-922FA8AB0CB5}"/>
              </a:ext>
            </a:extLst>
          </p:cNvPr>
          <p:cNvSpPr txBox="1"/>
          <p:nvPr/>
        </p:nvSpPr>
        <p:spPr>
          <a:xfrm>
            <a:off x="7831098" y="3642478"/>
            <a:ext cx="740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Prestige12 BT" panose="02070509030506020304" pitchFamily="49" charset="0"/>
              </a:rPr>
              <a:t>User</a:t>
            </a:r>
          </a:p>
        </p:txBody>
      </p: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4342BDCF-CA40-4CBC-9901-F0E45DAC4B93}"/>
              </a:ext>
            </a:extLst>
          </p:cNvPr>
          <p:cNvSpPr/>
          <p:nvPr/>
        </p:nvSpPr>
        <p:spPr>
          <a:xfrm>
            <a:off x="6416433" y="4043524"/>
            <a:ext cx="740664" cy="25534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45639"/>
              <a:gd name="adj6" fmla="val -47532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>
              <a:buFont typeface="Wingdings" pitchFamily="2" charset="2"/>
              <a:buNone/>
            </a:pPr>
            <a:r>
              <a:rPr lang="en-US" sz="2000" dirty="0">
                <a:solidFill>
                  <a:schemeClr val="accent4"/>
                </a:solidFill>
              </a:rPr>
              <a:t>0.4</a:t>
            </a:r>
          </a:p>
        </p:txBody>
      </p: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F6B4CAEC-D28E-42D4-8A56-C18F347C82A3}"/>
              </a:ext>
            </a:extLst>
          </p:cNvPr>
          <p:cNvSpPr/>
          <p:nvPr/>
        </p:nvSpPr>
        <p:spPr>
          <a:xfrm>
            <a:off x="5757018" y="3579861"/>
            <a:ext cx="740664" cy="25534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96045"/>
              <a:gd name="adj6" fmla="val -42594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>
              <a:buFont typeface="Wingdings" pitchFamily="2" charset="2"/>
              <a:buNone/>
            </a:pPr>
            <a:r>
              <a:rPr lang="en-US" sz="2000" dirty="0">
                <a:solidFill>
                  <a:schemeClr val="accent4"/>
                </a:solidFill>
              </a:rPr>
              <a:t>0.5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C09672-7EAA-4D87-9071-31964C4B4F63}"/>
              </a:ext>
            </a:extLst>
          </p:cNvPr>
          <p:cNvSpPr txBox="1"/>
          <p:nvPr/>
        </p:nvSpPr>
        <p:spPr>
          <a:xfrm>
            <a:off x="8201430" y="4496288"/>
            <a:ext cx="59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+0.1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231257-57A8-46E5-AC82-09C84E9138F1}"/>
              </a:ext>
            </a:extLst>
          </p:cNvPr>
          <p:cNvSpPr txBox="1"/>
          <p:nvPr/>
        </p:nvSpPr>
        <p:spPr>
          <a:xfrm>
            <a:off x="8166633" y="5031814"/>
            <a:ext cx="59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+0.1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D66375-5A00-42BA-9EA4-86F44E914C32}"/>
              </a:ext>
            </a:extLst>
          </p:cNvPr>
          <p:cNvSpPr txBox="1"/>
          <p:nvPr/>
        </p:nvSpPr>
        <p:spPr>
          <a:xfrm>
            <a:off x="8201430" y="5465244"/>
            <a:ext cx="59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+0.1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24AE3C-39ED-4E05-ACB7-4593AB23C3B7}"/>
              </a:ext>
            </a:extLst>
          </p:cNvPr>
          <p:cNvSpPr txBox="1"/>
          <p:nvPr/>
        </p:nvSpPr>
        <p:spPr>
          <a:xfrm>
            <a:off x="8126282" y="5946845"/>
            <a:ext cx="59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+0.1</a:t>
            </a:r>
            <a:endParaRPr lang="en-CA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152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3" grpId="0" animBg="1"/>
      <p:bldP spid="15" grpId="0"/>
      <p:bldP spid="16" grpId="0"/>
      <p:bldP spid="17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F9B0E-932F-7247-AAFA-876A7CC22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features 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6834E-3031-9141-B7FE-3C7596368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accent3"/>
                </a:solidFill>
              </a:rPr>
              <a:t>Basic SQL </a:t>
            </a:r>
          </a:p>
          <a:p>
            <a:pPr marL="0" indent="0">
              <a:buNone/>
            </a:pPr>
            <a:endParaRPr lang="en-US" dirty="0">
              <a:solidFill>
                <a:schemeClr val="accent3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Intermediate SQL</a:t>
            </a:r>
          </a:p>
          <a:p>
            <a:pPr lvl="1"/>
            <a:r>
              <a:rPr lang="en-US" dirty="0">
                <a:solidFill>
                  <a:schemeClr val="accent3"/>
                </a:solidFill>
              </a:rPr>
              <a:t>Triggers </a:t>
            </a:r>
          </a:p>
          <a:p>
            <a:pPr lvl="1"/>
            <a:r>
              <a:rPr lang="en-US" dirty="0">
                <a:solidFill>
                  <a:schemeClr val="accent3"/>
                </a:solidFill>
              </a:rPr>
              <a:t>Views</a:t>
            </a:r>
          </a:p>
          <a:p>
            <a:pPr lvl="1"/>
            <a:r>
              <a:rPr lang="en-US" dirty="0"/>
              <a:t>Indexes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787F3-8802-774B-856C-CE923BD0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58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60C5-760E-41EE-8C90-6E5824018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Motivating examples of using indexes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74D84-4839-4655-815C-B852FF21E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Can we go “directly” to rows with </a:t>
            </a:r>
            <a:r>
              <a:rPr lang="en-US" i="1" dirty="0"/>
              <a:t>name</a:t>
            </a:r>
            <a:r>
              <a:rPr lang="en-US" dirty="0">
                <a:latin typeface="+mj-lt"/>
              </a:rPr>
              <a:t>='Bart’ instead of scanning the entire table?  </a:t>
            </a:r>
          </a:p>
          <a:p>
            <a:pPr marL="457200" lvl="1" indent="0">
              <a:buNone/>
            </a:pPr>
            <a:r>
              <a:rPr lang="en-US" dirty="0">
                <a:latin typeface="+mj-lt"/>
                <a:sym typeface="Wingdings" panose="05000000000000000000" pitchFamily="2" charset="2"/>
              </a:rPr>
              <a:t>	 </a:t>
            </a:r>
            <a:r>
              <a:rPr lang="en-US" dirty="0"/>
              <a:t>index on </a:t>
            </a:r>
            <a:r>
              <a:rPr lang="en-US" i="1" dirty="0"/>
              <a:t>User.name</a:t>
            </a:r>
            <a:endParaRPr lang="en-US" dirty="0">
              <a:latin typeface="Prestige12 BT" panose="02070509030506020304" pitchFamily="49" charset="0"/>
            </a:endParaRPr>
          </a:p>
          <a:p>
            <a:endParaRPr lang="en-US" dirty="0">
              <a:latin typeface="Prestige12 BT" panose="02070509030506020304" pitchFamily="49" charset="0"/>
            </a:endParaRPr>
          </a:p>
          <a:p>
            <a:endParaRPr lang="en-US" dirty="0">
              <a:latin typeface="Prestige12 BT" panose="02070509030506020304" pitchFamily="49" charset="0"/>
            </a:endParaRPr>
          </a:p>
          <a:p>
            <a:pPr lvl="1"/>
            <a:r>
              <a:rPr lang="en-US" dirty="0"/>
              <a:t>Can we find relevant </a:t>
            </a:r>
            <a:r>
              <a:rPr lang="en-US" i="1" dirty="0"/>
              <a:t>Member</a:t>
            </a:r>
            <a:r>
              <a:rPr lang="en-US" dirty="0"/>
              <a:t> rows “directly”?</a:t>
            </a:r>
          </a:p>
          <a:p>
            <a:pPr marL="457200" lvl="1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CA" sz="2400" dirty="0">
                <a:sym typeface="Wingdings" panose="05000000000000000000" pitchFamily="2" charset="2"/>
              </a:rPr>
              <a:t> index on </a:t>
            </a:r>
            <a:r>
              <a:rPr lang="en-US" sz="2400" i="1" dirty="0" err="1"/>
              <a:t>Member</a:t>
            </a:r>
            <a:r>
              <a:rPr lang="en-US" sz="2400" dirty="0" err="1"/>
              <a:t>.</a:t>
            </a:r>
            <a:r>
              <a:rPr lang="en-US" sz="2400" i="1" dirty="0" err="1"/>
              <a:t>gid</a:t>
            </a:r>
            <a:r>
              <a:rPr lang="en-US" sz="2400" dirty="0"/>
              <a:t> or (</a:t>
            </a:r>
            <a:r>
              <a:rPr lang="en-US" sz="2400" i="1" dirty="0"/>
              <a:t>gid</a:t>
            </a:r>
            <a:r>
              <a:rPr lang="en-US" sz="2400" dirty="0"/>
              <a:t>, </a:t>
            </a:r>
            <a:r>
              <a:rPr lang="en-US" sz="2400" i="1" dirty="0" err="1"/>
              <a:t>uid</a:t>
            </a:r>
            <a:r>
              <a:rPr lang="en-US" sz="2400" dirty="0"/>
              <a:t>)</a:t>
            </a:r>
            <a:endParaRPr lang="en-US" dirty="0"/>
          </a:p>
          <a:p>
            <a:pPr lvl="1"/>
            <a:r>
              <a:rPr lang="en-US" dirty="0"/>
              <a:t>For each relevant </a:t>
            </a:r>
            <a:r>
              <a:rPr lang="en-US" i="1" dirty="0"/>
              <a:t>Member</a:t>
            </a:r>
            <a:r>
              <a:rPr lang="en-US" dirty="0"/>
              <a:t> row, can we “directly” look up </a:t>
            </a:r>
            <a:r>
              <a:rPr lang="en-US" i="1" dirty="0"/>
              <a:t>User</a:t>
            </a:r>
            <a:r>
              <a:rPr lang="en-US" dirty="0"/>
              <a:t> rows with matching </a:t>
            </a:r>
            <a:r>
              <a:rPr lang="en-US" i="1" dirty="0" err="1"/>
              <a:t>uid</a:t>
            </a:r>
            <a:r>
              <a:rPr lang="en-US" i="1" dirty="0"/>
              <a:t> </a:t>
            </a:r>
          </a:p>
          <a:p>
            <a:pPr marL="457200" lvl="1" indent="0">
              <a:buNone/>
            </a:pPr>
            <a:r>
              <a:rPr lang="en-US" i="1" dirty="0">
                <a:sym typeface="Wingdings" panose="05000000000000000000" pitchFamily="2" charset="2"/>
              </a:rPr>
              <a:t>	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index on </a:t>
            </a:r>
            <a:r>
              <a:rPr lang="en-US" sz="2400" i="1" dirty="0" err="1"/>
              <a:t>User</a:t>
            </a:r>
            <a:r>
              <a:rPr lang="en-US" sz="2400" dirty="0" err="1"/>
              <a:t>.</a:t>
            </a:r>
            <a:r>
              <a:rPr lang="en-US" sz="2400" i="1" dirty="0" err="1"/>
              <a:t>uid</a:t>
            </a:r>
            <a:endParaRPr lang="en-CA" sz="2400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2B73F-C6BF-4A19-A13B-F244278E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A54208-EBA2-4D1C-AB68-1B9D79EB75BB}"/>
              </a:ext>
            </a:extLst>
          </p:cNvPr>
          <p:cNvSpPr/>
          <p:nvPr/>
        </p:nvSpPr>
        <p:spPr>
          <a:xfrm>
            <a:off x="572039" y="1342321"/>
            <a:ext cx="7883875" cy="4584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Prestige12 BT" panose="02070509030506020304" pitchFamily="49" charset="0"/>
              </a:rPr>
              <a:t>SELECT * FROM User WHERE name = 'Bart';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0EC5-B2FD-4631-A6F4-5D0291EB53F3}"/>
              </a:ext>
            </a:extLst>
          </p:cNvPr>
          <p:cNvSpPr/>
          <p:nvPr/>
        </p:nvSpPr>
        <p:spPr>
          <a:xfrm>
            <a:off x="572038" y="3030630"/>
            <a:ext cx="7883876" cy="8869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Prestige12 BT" panose="02070509030506020304" pitchFamily="49" charset="0"/>
              </a:rPr>
              <a:t>SELECT * FROM User, Member</a:t>
            </a:r>
            <a:br>
              <a:rPr lang="en-US" sz="2400" dirty="0">
                <a:latin typeface="Prestige12 BT" panose="02070509030506020304" pitchFamily="49" charset="0"/>
              </a:rPr>
            </a:br>
            <a:r>
              <a:rPr lang="en-US" sz="2400" dirty="0">
                <a:latin typeface="Prestige12 BT" panose="02070509030506020304" pitchFamily="49" charset="0"/>
              </a:rPr>
              <a:t>WHERE </a:t>
            </a:r>
            <a:r>
              <a:rPr lang="en-US" sz="2400" dirty="0" err="1">
                <a:latin typeface="Prestige12 BT" panose="02070509030506020304" pitchFamily="49" charset="0"/>
              </a:rPr>
              <a:t>User.uid</a:t>
            </a:r>
            <a:r>
              <a:rPr lang="en-US" sz="2400" dirty="0">
                <a:latin typeface="Prestige12 BT" panose="02070509030506020304" pitchFamily="49" charset="0"/>
              </a:rPr>
              <a:t> = </a:t>
            </a:r>
            <a:r>
              <a:rPr lang="en-US" sz="2400" dirty="0" err="1">
                <a:latin typeface="Prestige12 BT" panose="02070509030506020304" pitchFamily="49" charset="0"/>
              </a:rPr>
              <a:t>Member.uid</a:t>
            </a:r>
            <a:r>
              <a:rPr lang="en-US" sz="2400" dirty="0">
                <a:latin typeface="Prestige12 BT" panose="02070509030506020304" pitchFamily="49" charset="0"/>
              </a:rPr>
              <a:t> AND </a:t>
            </a:r>
            <a:r>
              <a:rPr lang="en-US" sz="2400" dirty="0" err="1">
                <a:latin typeface="Prestige12 BT" panose="02070509030506020304" pitchFamily="49" charset="0"/>
              </a:rPr>
              <a:t>Member.gid</a:t>
            </a:r>
            <a:r>
              <a:rPr lang="en-US" sz="2400" dirty="0">
                <a:latin typeface="Prestige12 BT" panose="02070509030506020304" pitchFamily="49" charset="0"/>
              </a:rPr>
              <a:t> = ‘</a:t>
            </a:r>
            <a:r>
              <a:rPr lang="en-US" sz="2400" dirty="0" err="1">
                <a:latin typeface="Prestige12 BT" panose="02070509030506020304" pitchFamily="49" charset="0"/>
              </a:rPr>
              <a:t>sgroup</a:t>
            </a:r>
            <a:r>
              <a:rPr lang="en-US" sz="2400" dirty="0">
                <a:latin typeface="Prestige12 BT" panose="02070509030506020304" pitchFamily="49" charset="0"/>
              </a:rPr>
              <a:t>';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794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sz="3000" dirty="0"/>
                  <a:t>An </a:t>
                </a:r>
                <a:r>
                  <a:rPr lang="en-US" sz="3000" dirty="0">
                    <a:solidFill>
                      <a:schemeClr val="accent2"/>
                    </a:solidFill>
                  </a:rPr>
                  <a:t>index</a:t>
                </a:r>
                <a:r>
                  <a:rPr lang="en-US" sz="3000" dirty="0"/>
                  <a:t> is an auxiliary persistent data structure</a:t>
                </a:r>
              </a:p>
              <a:p>
                <a:pPr lvl="1"/>
                <a:r>
                  <a:rPr lang="en-US" sz="2600" dirty="0"/>
                  <a:t>Search tree (e.g., B</a:t>
                </a:r>
                <a:r>
                  <a:rPr lang="en-US" sz="2600" baseline="30000" dirty="0"/>
                  <a:t>+</a:t>
                </a:r>
                <a:r>
                  <a:rPr lang="en-US" sz="2600" dirty="0"/>
                  <a:t>-tree), lookup table (e.g., hash table), etc.</a:t>
                </a:r>
              </a:p>
              <a:p>
                <a:pPr lvl="1">
                  <a:buFont typeface="Wingdings" pitchFamily="2" charset="2"/>
                  <a:buChar char="F"/>
                </a:pPr>
                <a:r>
                  <a:rPr lang="en-US" sz="2600" dirty="0"/>
                  <a:t>More on indexes later in this course!</a:t>
                </a:r>
              </a:p>
              <a:p>
                <a:pPr lvl="1">
                  <a:buFont typeface="Wingdings" pitchFamily="2" charset="2"/>
                  <a:buChar char="F"/>
                </a:pPr>
                <a:endParaRPr lang="en-US" dirty="0"/>
              </a:p>
              <a:p>
                <a:r>
                  <a:rPr lang="en-US" sz="3000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CREATE [UNIQUE] INDEX </a:t>
                </a:r>
                <a14:m>
                  <m:oMath xmlns:m="http://schemas.openxmlformats.org/officeDocument/2006/math">
                    <m:r>
                      <a:rPr lang="en-US" sz="30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𝑖𝑛𝑑𝑒𝑥𝑛𝑎𝑚𝑒</m:t>
                    </m:r>
                  </m:oMath>
                </a14:m>
                <a:r>
                  <a:rPr lang="en-US" sz="3000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 ON </a:t>
                </a:r>
                <a14:m>
                  <m:oMath xmlns:m="http://schemas.openxmlformats.org/officeDocument/2006/math">
                    <m:r>
                      <a:rPr lang="en-US" sz="30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𝑡𝑎𝑏𝑙𝑒𝑛𝑎𝑚𝑒</m:t>
                    </m:r>
                  </m:oMath>
                </a14:m>
                <a:r>
                  <a:rPr lang="en-US" sz="3000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0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𝑐𝑜𝑙𝑢𝑚𝑛𝑛𝑎𝑚</m:t>
                    </m:r>
                    <m:sSub>
                      <m:sSubPr>
                        <m:ctrlPr>
                          <a:rPr lang="en-US" sz="3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3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,…,</a:t>
                </a:r>
                <a14:m>
                  <m:oMath xmlns:m="http://schemas.openxmlformats.org/officeDocument/2006/math">
                    <m:r>
                      <a:rPr lang="en-US" sz="30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𝑐𝑜𝑙𝑢𝑚𝑛𝑛𝑎𝑚</m:t>
                    </m:r>
                    <m:sSub>
                      <m:sSubPr>
                        <m:ctrlPr>
                          <a:rPr lang="en-US" sz="3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3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);</a:t>
                </a:r>
              </a:p>
              <a:p>
                <a:pPr lvl="1"/>
                <a:r>
                  <a:rPr lang="en-US" sz="2600" dirty="0"/>
                  <a:t>With </a:t>
                </a:r>
                <a:r>
                  <a:rPr lang="en-US" sz="2600" dirty="0">
                    <a:latin typeface="Prestige12 BT" panose="02070509030506020304" pitchFamily="49" charset="0"/>
                  </a:rPr>
                  <a:t>UNIQUE</a:t>
                </a:r>
                <a:r>
                  <a:rPr lang="en-US" sz="2600" dirty="0"/>
                  <a:t>, the DBMS will also enforce that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𝑐𝑜𝑙𝑢𝑚𝑛𝑛𝑎𝑚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𝑐𝑜𝑙𝑢𝑚𝑛𝑛𝑎𝑚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600" dirty="0"/>
                  <a:t> is a key of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</a:rPr>
                      <m:t>𝑡𝑎𝑏𝑙𝑒𝑛𝑎𝑚𝑒</m:t>
                    </m:r>
                  </m:oMath>
                </a14:m>
                <a:endParaRPr lang="en-US" sz="2600" i="1" dirty="0"/>
              </a:p>
              <a:p>
                <a:r>
                  <a:rPr lang="en-US" sz="3000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DROP INDEX </a:t>
                </a:r>
                <a14:m>
                  <m:oMath xmlns:m="http://schemas.openxmlformats.org/officeDocument/2006/math">
                    <m:r>
                      <a:rPr lang="en-US" sz="30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𝑖𝑛𝑑𝑒𝑥𝑛𝑎𝑚𝑒</m:t>
                    </m:r>
                  </m:oMath>
                </a14:m>
                <a:r>
                  <a:rPr lang="en-US" sz="3000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;</a:t>
                </a:r>
              </a:p>
              <a:p>
                <a:endParaRPr lang="en-US" dirty="0">
                  <a:solidFill>
                    <a:schemeClr val="accent2"/>
                  </a:solidFill>
                  <a:latin typeface="Prestige12 BT" panose="02070509030506020304" pitchFamily="49" charset="0"/>
                </a:endParaRPr>
              </a:p>
              <a:p>
                <a:r>
                  <a:rPr lang="en-US" sz="3000" dirty="0"/>
                  <a:t>Typically, the DBMS will automatically create indexes for </a:t>
                </a:r>
                <a:r>
                  <a:rPr lang="en-US" sz="3000" dirty="0">
                    <a:latin typeface="Prestige12 BT" panose="02070509030506020304" pitchFamily="49" charset="0"/>
                  </a:rPr>
                  <a:t>PRIMARY</a:t>
                </a:r>
                <a:r>
                  <a:rPr lang="en-US" sz="3000" dirty="0"/>
                  <a:t> </a:t>
                </a:r>
                <a:r>
                  <a:rPr lang="en-US" sz="3000" dirty="0">
                    <a:latin typeface="Prestige12 BT" panose="02070509030506020304" pitchFamily="49" charset="0"/>
                  </a:rPr>
                  <a:t>KEY</a:t>
                </a:r>
                <a:r>
                  <a:rPr lang="en-US" sz="3000" dirty="0"/>
                  <a:t> and </a:t>
                </a:r>
                <a:r>
                  <a:rPr lang="en-US" sz="3000" dirty="0">
                    <a:latin typeface="Prestige12 BT" panose="02070509030506020304" pitchFamily="49" charset="0"/>
                  </a:rPr>
                  <a:t>UNIQUE</a:t>
                </a:r>
                <a:r>
                  <a:rPr lang="en-US" sz="3000" dirty="0"/>
                  <a:t> constraint declarations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324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46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An index 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can speed up accesses of the form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𝑣𝑎𝑙𝑢𝑒</m:t>
                    </m:r>
                  </m:oMath>
                </a14:m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𝑣𝑎𝑙𝑢𝑒</m:t>
                    </m:r>
                  </m:oMath>
                </a14:m>
                <a:r>
                  <a:rPr lang="en-US" dirty="0"/>
                  <a:t> </a:t>
                </a:r>
                <a:r>
                  <a:rPr lang="en-US" sz="2000" dirty="0"/>
                  <a:t>(sometimes; depending on the index type)</a:t>
                </a:r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An index 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,…, 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can speed up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𝑣𝑎𝑙𝑢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∧…∧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𝑣𝑎𝑙𝑢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𝑣𝑎𝑙𝑢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𝑣𝑎𝑙𝑢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sz="2000" dirty="0"/>
                  <a:t>(again depends)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Questions (lecture 12):</a:t>
                </a:r>
              </a:p>
              <a:p>
                <a:pPr lvl="1">
                  <a:buFont typeface="Wingdings" pitchFamily="2" charset="2"/>
                  <a:buChar char="F"/>
                </a:pPr>
                <a:r>
                  <a:rPr lang="en-US" dirty="0"/>
                  <a:t>Ordering of index columns is important—is an index 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 equivalent to one 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dirty="0"/>
                  <a:t>?</a:t>
                </a:r>
              </a:p>
              <a:p>
                <a:pPr lvl="1">
                  <a:buFont typeface="Wingdings" pitchFamily="2" charset="2"/>
                  <a:buChar char="F"/>
                </a:pPr>
                <a:r>
                  <a:rPr lang="en-US" dirty="0"/>
                  <a:t>How about an index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plus another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>
                  <a:buFont typeface="Wingdings" pitchFamily="2" charset="2"/>
                  <a:buChar char="F"/>
                </a:pPr>
                <a:r>
                  <a:rPr lang="en-US" dirty="0"/>
                  <a:t>More indexes = better performance?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491" t="-2662" r="-74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283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features covered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Basic &amp; Intermediate SQL </a:t>
            </a:r>
          </a:p>
          <a:p>
            <a:r>
              <a:rPr lang="en-US" dirty="0"/>
              <a:t>Query</a:t>
            </a:r>
          </a:p>
          <a:p>
            <a:r>
              <a:rPr lang="en-US" dirty="0"/>
              <a:t>Modification</a:t>
            </a:r>
          </a:p>
          <a:p>
            <a:r>
              <a:rPr lang="en-US" dirty="0"/>
              <a:t>Constraints</a:t>
            </a:r>
          </a:p>
          <a:p>
            <a:r>
              <a:rPr lang="en-US" dirty="0"/>
              <a:t>Triggers</a:t>
            </a:r>
          </a:p>
          <a:p>
            <a:r>
              <a:rPr lang="en-US" dirty="0"/>
              <a:t>Views</a:t>
            </a:r>
          </a:p>
          <a:p>
            <a:r>
              <a:rPr lang="en-US" dirty="0"/>
              <a:t>Indexes</a:t>
            </a:r>
            <a:br>
              <a:rPr lang="en-US" dirty="0"/>
            </a:br>
            <a:endParaRPr lang="en-US" dirty="0"/>
          </a:p>
          <a:p>
            <a:pPr>
              <a:buFont typeface="Wingdings" pitchFamily="2" charset="2"/>
              <a:buChar char="F"/>
              <a:defRPr/>
            </a:pPr>
            <a:r>
              <a:rPr lang="en-US" dirty="0"/>
              <a:t>Next: Recursion, programming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409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6|2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5.1|6.1|17.4|34.3|3.1|5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|15.6|7.3|24.4|17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3|14.6|4.7|8.6|13.8|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4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6|7.1|13.5|15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10.7|8.1|12.9|5.1|17.8|25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14.8|16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4.4|20.7|11.4|23.6|4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6|12.2|6.2|19.9|9|7.7|11.2|6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12.4|20.8|41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|5.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4|2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|6.8|22.7|4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9|7.5|18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27.7|5.3|4.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|4.1|21.6|11.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6|16.5|18.5|8.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8|12.5|10.7|10.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2117</Words>
  <Application>Microsoft Office PowerPoint</Application>
  <PresentationFormat>On-screen Show (4:3)</PresentationFormat>
  <Paragraphs>402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LettrGoth12 BT</vt:lpstr>
      <vt:lpstr>Prestige12 BT</vt:lpstr>
      <vt:lpstr>Arial</vt:lpstr>
      <vt:lpstr>Calibri</vt:lpstr>
      <vt:lpstr>Cambria Math</vt:lpstr>
      <vt:lpstr>Candara</vt:lpstr>
      <vt:lpstr>Wingdings</vt:lpstr>
      <vt:lpstr>Office Theme</vt:lpstr>
      <vt:lpstr>SQL:  Triggers, Views, Indexes</vt:lpstr>
      <vt:lpstr>Announcements (Tue., May 25)</vt:lpstr>
      <vt:lpstr>SQL</vt:lpstr>
      <vt:lpstr>Still remember “referential integrity”? </vt:lpstr>
      <vt:lpstr>Can we generalize it?</vt:lpstr>
      <vt:lpstr>Triggers</vt:lpstr>
      <vt:lpstr>Trigger option 1 – possible events</vt:lpstr>
      <vt:lpstr>Trigger option 2 – timing</vt:lpstr>
      <vt:lpstr>Trigger option 3 – granularity</vt:lpstr>
      <vt:lpstr>Trigger option 3 – granularity</vt:lpstr>
      <vt:lpstr>Trigger option 3 – granularity</vt:lpstr>
      <vt:lpstr>Transition variables/tables</vt:lpstr>
      <vt:lpstr>Statement- vs. row-level triggers</vt:lpstr>
      <vt:lpstr>System issues</vt:lpstr>
      <vt:lpstr>SQL features covered so far</vt:lpstr>
      <vt:lpstr>Views</vt:lpstr>
      <vt:lpstr>Why use views?</vt:lpstr>
      <vt:lpstr>Modifying views</vt:lpstr>
      <vt:lpstr>A simple case</vt:lpstr>
      <vt:lpstr>An impossible case</vt:lpstr>
      <vt:lpstr>A case with too many possibilities</vt:lpstr>
      <vt:lpstr>SQL92 updateable views</vt:lpstr>
      <vt:lpstr>INSTEAD OF triggers for views</vt:lpstr>
      <vt:lpstr>INSTEAD OF triggers for views</vt:lpstr>
      <vt:lpstr>SQL features covered so far</vt:lpstr>
      <vt:lpstr>Motivating examples of using indexes</vt:lpstr>
      <vt:lpstr>Indexes</vt:lpstr>
      <vt:lpstr>Indexes</vt:lpstr>
      <vt:lpstr>SQL features covered so far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2021-07-27T02:20:22Z</dcterms:created>
  <dcterms:modified xsi:type="dcterms:W3CDTF">2021-07-27T02:20:31Z</dcterms:modified>
</cp:coreProperties>
</file>