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6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320" r:id="rId3"/>
    <p:sldId id="581" r:id="rId4"/>
    <p:sldId id="617" r:id="rId5"/>
    <p:sldId id="618" r:id="rId6"/>
    <p:sldId id="619" r:id="rId7"/>
    <p:sldId id="620" r:id="rId8"/>
    <p:sldId id="621" r:id="rId9"/>
    <p:sldId id="622" r:id="rId10"/>
    <p:sldId id="624" r:id="rId11"/>
    <p:sldId id="625" r:id="rId12"/>
    <p:sldId id="626" r:id="rId13"/>
    <p:sldId id="628" r:id="rId14"/>
    <p:sldId id="627" r:id="rId15"/>
    <p:sldId id="629" r:id="rId16"/>
    <p:sldId id="630" r:id="rId17"/>
    <p:sldId id="311" r:id="rId18"/>
    <p:sldId id="333" r:id="rId19"/>
    <p:sldId id="331" r:id="rId20"/>
    <p:sldId id="332" r:id="rId21"/>
    <p:sldId id="631" r:id="rId22"/>
    <p:sldId id="328" r:id="rId23"/>
    <p:sldId id="293" r:id="rId24"/>
    <p:sldId id="297" r:id="rId25"/>
    <p:sldId id="299" r:id="rId26"/>
    <p:sldId id="309" r:id="rId27"/>
    <p:sldId id="300" r:id="rId28"/>
    <p:sldId id="312" r:id="rId29"/>
    <p:sldId id="632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83810" autoAdjust="0"/>
  </p:normalViewPr>
  <p:slideViewPr>
    <p:cSldViewPr snapToGrid="0" snapToObjects="1">
      <p:cViewPr varScale="1">
        <p:scale>
          <a:sx n="104" d="100"/>
          <a:sy n="104" d="100"/>
        </p:scale>
        <p:origin x="192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5BFF4-16CE-FF42-8F98-AF276FA50BA1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E036-A4CB-E845-BE6C-EA1CA9E24F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4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2054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8571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1464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not a big fan of repeatable read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0136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3149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3373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6989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23059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7669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6161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5445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6794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6931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989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2474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883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1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5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3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30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7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6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3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63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70884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15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77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11/18/21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36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11/18/21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00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11/18/21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124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11/18/21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11/18/21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5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11/18/21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48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42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6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6A743-70A3-BB43-8075-433ED5A57AC5}" type="datetimeFigureOut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CB8E4-41A5-2D47-BA37-EFABE5CAB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11/18/21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7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3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80.png"/><Relationship Id="rId4" Type="http://schemas.openxmlformats.org/officeDocument/2006/relationships/image" Target="../media/image5.png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4.png"/><Relationship Id="rId5" Type="http://schemas.openxmlformats.org/officeDocument/2006/relationships/image" Target="../media/image12.png"/><Relationship Id="rId10" Type="http://schemas.openxmlformats.org/officeDocument/2006/relationships/image" Target="../media/image80.png"/><Relationship Id="rId4" Type="http://schemas.openxmlformats.org/officeDocument/2006/relationships/image" Target="../media/image10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18.png"/><Relationship Id="rId9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21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26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39.png"/><Relationship Id="rId7" Type="http://schemas.openxmlformats.org/officeDocument/2006/relationships/image" Target="../media/image37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360.png"/><Relationship Id="rId10" Type="http://schemas.openxmlformats.org/officeDocument/2006/relationships/image" Target="../media/image40.png"/><Relationship Id="rId9" Type="http://schemas.openxmlformats.org/officeDocument/2006/relationships/image" Target="../media/image3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41.png"/><Relationship Id="rId7" Type="http://schemas.openxmlformats.org/officeDocument/2006/relationships/image" Target="../media/image14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130.png"/><Relationship Id="rId10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4943" y="4068781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713303"/>
            <a:ext cx="9144001" cy="169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CS 348 Lecture 18</a:t>
            </a:r>
          </a:p>
          <a:p>
            <a:pPr algn="ctr">
              <a:lnSpc>
                <a:spcPct val="150000"/>
              </a:lnSpc>
            </a:pPr>
            <a:r>
              <a:rPr lang="en-US" sz="3700" kern="0" dirty="0">
                <a:latin typeface="Arial" panose="020B0604020202020204" pitchFamily="34" charset="0"/>
                <a:cs typeface="Arial" panose="020B0604020202020204" pitchFamily="34" charset="0"/>
              </a:rPr>
              <a:t>Transactions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277" y="2551191"/>
            <a:ext cx="7716204" cy="14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Semih </a:t>
            </a:r>
            <a:r>
              <a:rPr lang="en-US" sz="3000" kern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Salihoğlu</a:t>
            </a:r>
            <a:endParaRPr lang="en-US" sz="30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 defTabSz="914400">
              <a:lnSpc>
                <a:spcPct val="150000"/>
              </a:lnSpc>
              <a:spcAft>
                <a:spcPts val="300"/>
              </a:spcAft>
            </a:pP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 18</a:t>
            </a:r>
            <a:r>
              <a:rPr lang="en-US" sz="3000" kern="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C13EC-677E-384F-B278-2939878C589F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CA9E7-4B07-304C-A86C-AE26580E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679" y="4395915"/>
            <a:ext cx="6800643" cy="92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1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24499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Serializability: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Execution Histories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Conflict Equivalence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Checking For Serializability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2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F82D8A-2C56-8C42-8CAE-A1A9CD66B632}"/>
              </a:ext>
            </a:extLst>
          </p:cNvPr>
          <p:cNvSpPr/>
          <p:nvPr/>
        </p:nvSpPr>
        <p:spPr>
          <a:xfrm>
            <a:off x="36096" y="842662"/>
            <a:ext cx="8603348" cy="2102373"/>
          </a:xfrm>
          <a:prstGeom prst="roundRect">
            <a:avLst/>
          </a:prstGeom>
          <a:noFill/>
          <a:ln w="349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D5421-0B4E-CF40-B2D7-B8AB5D044D9E}"/>
              </a:ext>
            </a:extLst>
          </p:cNvPr>
          <p:cNvSpPr txBox="1"/>
          <p:nvPr/>
        </p:nvSpPr>
        <p:spPr>
          <a:xfrm>
            <a:off x="5967184" y="912111"/>
            <a:ext cx="245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System’s Perspective</a:t>
            </a:r>
          </a:p>
          <a:p>
            <a:pPr algn="ctr"/>
            <a:r>
              <a:rPr lang="en-US" dirty="0"/>
              <a:t>(and more next lecture)</a:t>
            </a:r>
          </a:p>
        </p:txBody>
      </p:sp>
    </p:spTree>
    <p:extLst>
      <p:ext uri="{BB962C8B-B14F-4D97-AF65-F5344CB8AC3E}">
        <p14:creationId xmlns:p14="http://schemas.microsoft.com/office/powerpoint/2010/main" val="52710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Serializability: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Execution Histories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 Equivalence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For Serializability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3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0" y="1336468"/>
            <a:ext cx="9144000" cy="4092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Concurrency is achieved by interleaving operations across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trxs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Q: Does an interleaving correspond to a serializable execution?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Execution history model and conflict equivalences is a formal method to answer this question.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A8A3F-E7EB-1549-B007-B1D08AB93BBC}"/>
              </a:ext>
            </a:extLst>
          </p:cNvPr>
          <p:cNvSpPr txBox="1"/>
          <p:nvPr/>
        </p:nvSpPr>
        <p:spPr>
          <a:xfrm>
            <a:off x="0" y="65769"/>
            <a:ext cx="9059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Goals of Execution History Model &amp; </a:t>
            </a:r>
          </a:p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Conflict Equivalences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76F143-58CB-0245-8A4E-B85D098C62A6}"/>
              </a:ext>
            </a:extLst>
          </p:cNvPr>
          <p:cNvCxnSpPr/>
          <p:nvPr/>
        </p:nvCxnSpPr>
        <p:spPr>
          <a:xfrm>
            <a:off x="0" y="1324338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C12850E-2A98-8A4D-8AAF-1AC3C55D9A41}"/>
              </a:ext>
            </a:extLst>
          </p:cNvPr>
          <p:cNvGrpSpPr/>
          <p:nvPr/>
        </p:nvGrpSpPr>
        <p:grpSpPr>
          <a:xfrm>
            <a:off x="3088145" y="2058331"/>
            <a:ext cx="2967711" cy="1936159"/>
            <a:chOff x="2562713" y="1492841"/>
            <a:chExt cx="2967711" cy="193615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7B43021-37D0-2C46-8CE4-43E51021FDEF}"/>
                </a:ext>
              </a:extLst>
            </p:cNvPr>
            <p:cNvGrpSpPr/>
            <p:nvPr/>
          </p:nvGrpSpPr>
          <p:grpSpPr>
            <a:xfrm>
              <a:off x="2562713" y="1847021"/>
              <a:ext cx="2967711" cy="1581979"/>
              <a:chOff x="-263121" y="3335184"/>
              <a:chExt cx="2967711" cy="158197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1439338-9DBA-6D4C-8918-D108E6536954}"/>
                  </a:ext>
                </a:extLst>
              </p:cNvPr>
              <p:cNvGrpSpPr/>
              <p:nvPr/>
            </p:nvGrpSpPr>
            <p:grpSpPr>
              <a:xfrm>
                <a:off x="-263121" y="3429001"/>
                <a:ext cx="742137" cy="1488162"/>
                <a:chOff x="1786431" y="1899628"/>
                <a:chExt cx="456472" cy="1957211"/>
              </a:xfrm>
            </p:grpSpPr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AB687152-F4E0-CD4D-B84A-31A2654C48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77" y="1899628"/>
                  <a:ext cx="0" cy="195721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D96057D-B492-2D46-8F11-37E8FBFFCA6B}"/>
                    </a:ext>
                  </a:extLst>
                </p:cNvPr>
                <p:cNvSpPr txBox="1"/>
                <p:nvPr/>
              </p:nvSpPr>
              <p:spPr>
                <a:xfrm rot="16200000">
                  <a:off x="1583257" y="2623527"/>
                  <a:ext cx="862819" cy="4564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time</a:t>
                  </a:r>
                </a:p>
              </p:txBody>
            </p:sp>
          </p:grp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AC3F275-A978-C64F-8361-F04E72DB6607}"/>
                  </a:ext>
                </a:extLst>
              </p:cNvPr>
              <p:cNvSpPr/>
              <p:nvPr/>
            </p:nvSpPr>
            <p:spPr>
              <a:xfrm>
                <a:off x="308756" y="3335184"/>
                <a:ext cx="12234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r:(…,$20) 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794ED41-0249-714A-BA2A-B2C5CA4EA9AE}"/>
                  </a:ext>
                </a:extLst>
              </p:cNvPr>
              <p:cNvSpPr/>
              <p:nvPr/>
            </p:nvSpPr>
            <p:spPr>
              <a:xfrm>
                <a:off x="1391410" y="3672411"/>
                <a:ext cx="12875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r:(…, $20) </a:t>
                </a:r>
                <a:endParaRPr 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2FBA14A-218B-4C41-831B-67AC16B64950}"/>
                  </a:ext>
                </a:extLst>
              </p:cNvPr>
              <p:cNvSpPr/>
              <p:nvPr/>
            </p:nvSpPr>
            <p:spPr>
              <a:xfrm>
                <a:off x="308756" y="4052068"/>
                <a:ext cx="12490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w:(…,$25)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307DE7-2879-F148-B038-6D9A0DE68768}"/>
                  </a:ext>
                </a:extLst>
              </p:cNvPr>
              <p:cNvSpPr/>
              <p:nvPr/>
            </p:nvSpPr>
            <p:spPr>
              <a:xfrm>
                <a:off x="1391410" y="4421400"/>
                <a:ext cx="13131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w:(…,$30) </a:t>
                </a:r>
              </a:p>
            </p:txBody>
          </p:sp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BFD0B6F-6A86-D64F-A293-027648B42F62}"/>
                </a:ext>
              </a:extLst>
            </p:cNvPr>
            <p:cNvSpPr/>
            <p:nvPr/>
          </p:nvSpPr>
          <p:spPr>
            <a:xfrm>
              <a:off x="3096271" y="1492841"/>
              <a:ext cx="112097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Trx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B619CA1-5537-F449-AB61-8C43B6100CE5}"/>
                </a:ext>
              </a:extLst>
            </p:cNvPr>
            <p:cNvSpPr/>
            <p:nvPr/>
          </p:nvSpPr>
          <p:spPr>
            <a:xfrm>
              <a:off x="4205361" y="1492841"/>
              <a:ext cx="112097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dirty="0" err="1">
                  <a:latin typeface="Arial" panose="020B0604020202020204" pitchFamily="34" charset="0"/>
                  <a:cs typeface="Arial" panose="020B0604020202020204" pitchFamily="34" charset="0"/>
                </a:rPr>
                <a:t>Trx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 2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79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Representing Single Transactions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822673"/>
                <a:ext cx="9144000" cy="56157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Database is a set of </a:t>
                </a:r>
                <a:r>
                  <a:rPr lang="en-CA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data items 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(often will denote as x, y, z…) 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Trx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CA" sz="2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total order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read/write &amp; commit/abort operations on items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 indicates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reads item x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 indicates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writes item x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 indicates commit (a could indicate abort but won’t be needed)</a:t>
                </a:r>
              </a:p>
              <a:p>
                <a:pPr marL="1657350" lvl="3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Suppose: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does the following in this </a:t>
                </a:r>
                <a:r>
                  <a:rPr lang="en-CA" sz="2200" i="1" dirty="0">
                    <a:solidFill>
                      <a:srgbClr val="99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chronological order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2114550" lvl="4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Read(x), Read(y), x </a:t>
                </a:r>
                <a14:m>
                  <m:oMath xmlns:m="http://schemas.openxmlformats.org/officeDocument/2006/math">
                    <m:r>
                      <a:rPr lang="en-CA" sz="2200" i="1"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x + y, Write(x), commit</a:t>
                </a:r>
              </a:p>
              <a:p>
                <a:pPr marL="2114550" lvl="4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={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 &lt;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(y) &lt;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 &lt; c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 or simply as:</a:t>
                </a:r>
              </a:p>
              <a:p>
                <a:pPr marL="2114550" lvl="4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={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(x),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(y),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(x), c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 or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(x),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(y),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(x), c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total order is simply the chronological order of operations of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CA" sz="2200" baseline="-25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822673"/>
                <a:ext cx="9144000" cy="5615704"/>
              </a:xfrm>
              <a:prstGeom prst="rect">
                <a:avLst/>
              </a:prstGeom>
              <a:blipFill>
                <a:blip r:embed="rId3"/>
                <a:stretch>
                  <a:fillRect l="-693" r="-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56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Execution Histories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822673"/>
                <a:ext cx="9144000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An </a:t>
                </a:r>
                <a:r>
                  <a:rPr lang="en-US" sz="2200" dirty="0">
                    <a:solidFill>
                      <a:srgbClr val="99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execution history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over a set of transactions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200" i="1" dirty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CA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an interleaving of the operations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200" i="1" dirty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CA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CA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in which the operation total order imposed by 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each transaction is preserved.</a:t>
                </a:r>
              </a:p>
              <a:p>
                <a:pPr marL="285750" indent="-285750">
                  <a:buFont typeface="Wingdings" pitchFamily="2" charset="2"/>
                  <a:buChar char="Ø"/>
                </a:pP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 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CA" sz="2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</a:p>
              <a:p>
                <a:pPr marL="742950" lvl="1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sz="22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822673"/>
                <a:ext cx="9144000" cy="3139321"/>
              </a:xfrm>
              <a:prstGeom prst="rect">
                <a:avLst/>
              </a:prstGeom>
              <a:blipFill>
                <a:blip r:embed="rId3"/>
                <a:stretch>
                  <a:fillRect l="-693" t="-1210" b="-2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242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Examples for Valid Execution History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822673"/>
                <a:ext cx="9144000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 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822673"/>
                <a:ext cx="9144000" cy="769441"/>
              </a:xfrm>
              <a:prstGeom prst="rect">
                <a:avLst/>
              </a:prstGeom>
              <a:blipFill>
                <a:blip r:embed="rId3"/>
                <a:stretch>
                  <a:fillRect l="-693" t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2384FB0-7790-F246-8346-86391AC5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4872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3E1ED8-A33D-C548-BF33-C0A02A04B2AF}"/>
              </a:ext>
            </a:extLst>
          </p:cNvPr>
          <p:cNvGrpSpPr>
            <a:grpSpLocks/>
          </p:cNvGrpSpPr>
          <p:nvPr/>
        </p:nvGrpSpPr>
        <p:grpSpPr bwMode="auto">
          <a:xfrm>
            <a:off x="674334" y="1537724"/>
            <a:ext cx="1935163" cy="4332288"/>
            <a:chOff x="240" y="1207"/>
            <a:chExt cx="1219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5A55513-383F-CA46-8708-ED6E85F896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" y="1207"/>
                  <a:ext cx="1203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5A55513-383F-CA46-8708-ED6E85F896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6" y="1207"/>
                  <a:ext cx="1203" cy="2230"/>
                </a:xfrm>
                <a:prstGeom prst="rect">
                  <a:avLst/>
                </a:prstGeom>
                <a:blipFill>
                  <a:blip r:embed="rId4"/>
                  <a:stretch>
                    <a:fillRect l="-6623" r="-5960" b="-3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6">
              <a:extLst>
                <a:ext uri="{FF2B5EF4-FFF2-40B4-BE49-F238E27FC236}">
                  <a16:creationId xmlns:a16="http://schemas.microsoft.com/office/drawing/2014/main" id="{CFA75A5D-461D-B546-BD43-F8E850892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A629254F-1772-ED4E-9AAA-9F34D5AE6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649288-5278-FD4B-9748-673DAC1560E8}"/>
                  </a:ext>
                </a:extLst>
              </p:cNvPr>
              <p:cNvSpPr/>
              <p:nvPr/>
            </p:nvSpPr>
            <p:spPr>
              <a:xfrm>
                <a:off x="988778" y="5251361"/>
                <a:ext cx="7658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649288-5278-FD4B-9748-673DAC156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78" y="5251361"/>
                <a:ext cx="7658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CC7DD896-C74D-7649-B366-C600AB43E793}"/>
              </a:ext>
            </a:extLst>
          </p:cNvPr>
          <p:cNvGrpSpPr>
            <a:grpSpLocks/>
          </p:cNvGrpSpPr>
          <p:nvPr/>
        </p:nvGrpSpPr>
        <p:grpSpPr bwMode="auto">
          <a:xfrm>
            <a:off x="2775011" y="1477473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AF4CE8C-F5A4-114F-9CF0-75B9AC794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c2</a:t>
                  </a: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AF4CE8C-F5A4-114F-9CF0-75B9AC7940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6"/>
                  <a:stretch>
                    <a:fillRect l="-6211" b="-3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Line 6">
              <a:extLst>
                <a:ext uri="{FF2B5EF4-FFF2-40B4-BE49-F238E27FC236}">
                  <a16:creationId xmlns:a16="http://schemas.microsoft.com/office/drawing/2014/main" id="{58C9A11F-C350-4C45-A691-5F932B9CA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31" name="Line 7">
              <a:extLst>
                <a:ext uri="{FF2B5EF4-FFF2-40B4-BE49-F238E27FC236}">
                  <a16:creationId xmlns:a16="http://schemas.microsoft.com/office/drawing/2014/main" id="{F0F6EA08-2909-DF4F-85E0-ED6628D77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AD39F7-7BC5-4D4F-9FFA-638FFEE31486}"/>
              </a:ext>
            </a:extLst>
          </p:cNvPr>
          <p:cNvGrpSpPr>
            <a:grpSpLocks/>
          </p:cNvGrpSpPr>
          <p:nvPr/>
        </p:nvGrpSpPr>
        <p:grpSpPr bwMode="auto">
          <a:xfrm>
            <a:off x="4666929" y="1477473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11C1C091-D35C-9F43-88DB-D6EA23DC6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104C959-5C34-4BFD-8CC3-83BB3D4DFE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10"/>
                  <a:stretch>
                    <a:fillRect l="-6306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Line 6">
              <a:extLst>
                <a:ext uri="{FF2B5EF4-FFF2-40B4-BE49-F238E27FC236}">
                  <a16:creationId xmlns:a16="http://schemas.microsoft.com/office/drawing/2014/main" id="{00F248B3-D6F1-FE44-9BC4-0107E8C00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227DDD37-9A68-9146-8CE5-E95272508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DB0AF3-5D26-654C-A66F-0B9FF4A77341}"/>
              </a:ext>
            </a:extLst>
          </p:cNvPr>
          <p:cNvGrpSpPr>
            <a:grpSpLocks/>
          </p:cNvGrpSpPr>
          <p:nvPr/>
        </p:nvGrpSpPr>
        <p:grpSpPr bwMode="auto">
          <a:xfrm>
            <a:off x="6808310" y="1450856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D7330D5-8488-224B-A2AB-07F5140A5A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endPara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c2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D7330D5-8488-224B-A2AB-07F5140A5A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11"/>
                  <a:stretch>
                    <a:fillRect l="-6173" b="-3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Line 6">
              <a:extLst>
                <a:ext uri="{FF2B5EF4-FFF2-40B4-BE49-F238E27FC236}">
                  <a16:creationId xmlns:a16="http://schemas.microsoft.com/office/drawing/2014/main" id="{8B1DE819-414E-DF42-B3ED-3CFF9244A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8AECCAC2-D034-844C-875D-90129D297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F2822C0-1E7C-5D46-B190-8FD50842845E}"/>
              </a:ext>
            </a:extLst>
          </p:cNvPr>
          <p:cNvCxnSpPr>
            <a:cxnSpLocks/>
          </p:cNvCxnSpPr>
          <p:nvPr/>
        </p:nvCxnSpPr>
        <p:spPr>
          <a:xfrm>
            <a:off x="457201" y="1618761"/>
            <a:ext cx="0" cy="4251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50F17B2-57FB-574A-AAD4-B289723C555A}"/>
              </a:ext>
            </a:extLst>
          </p:cNvPr>
          <p:cNvSpPr txBox="1"/>
          <p:nvPr/>
        </p:nvSpPr>
        <p:spPr>
          <a:xfrm rot="16200000">
            <a:off x="-274463" y="3484501"/>
            <a:ext cx="10462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ED6F477-0201-E94D-9742-8A29A4DF7386}"/>
                  </a:ext>
                </a:extLst>
              </p:cNvPr>
              <p:cNvSpPr/>
              <p:nvPr/>
            </p:nvSpPr>
            <p:spPr>
              <a:xfrm>
                <a:off x="2997324" y="5251361"/>
                <a:ext cx="91141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ED6F477-0201-E94D-9742-8A29A4DF7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324" y="5251361"/>
                <a:ext cx="911414" cy="523220"/>
              </a:xfrm>
              <a:prstGeom prst="rect">
                <a:avLst/>
              </a:prstGeom>
              <a:blipFill>
                <a:blip r:embed="rId12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64BB6BA-A384-4B4C-A2F5-21CF416456DC}"/>
                  </a:ext>
                </a:extLst>
              </p:cNvPr>
              <p:cNvSpPr/>
              <p:nvPr/>
            </p:nvSpPr>
            <p:spPr>
              <a:xfrm>
                <a:off x="5084530" y="5251361"/>
                <a:ext cx="742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64BB6BA-A384-4B4C-A2F5-21CF416456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30" y="5251361"/>
                <a:ext cx="74283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6463B02-3A8B-0F4B-ACC5-D6905D752858}"/>
                  </a:ext>
                </a:extLst>
              </p:cNvPr>
              <p:cNvSpPr/>
              <p:nvPr/>
            </p:nvSpPr>
            <p:spPr>
              <a:xfrm>
                <a:off x="7202078" y="5251361"/>
                <a:ext cx="742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6463B02-3A8B-0F4B-ACC5-D6905D752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078" y="5251361"/>
                <a:ext cx="742836" cy="523220"/>
              </a:xfrm>
              <a:prstGeom prst="rect">
                <a:avLst/>
              </a:prstGeom>
              <a:blipFill>
                <a:blip r:embed="rId14"/>
                <a:stretch>
                  <a:fillRect l="-10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55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Examples for Invalid Execution History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822673"/>
                <a:ext cx="9144000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 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822673"/>
                <a:ext cx="9144000" cy="769441"/>
              </a:xfrm>
              <a:prstGeom prst="rect">
                <a:avLst/>
              </a:prstGeom>
              <a:blipFill>
                <a:blip r:embed="rId3"/>
                <a:stretch>
                  <a:fillRect l="-693" t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2384FB0-7790-F246-8346-86391AC5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56763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267EB67-18D4-4F41-8CF1-D352D41A1BCB}"/>
              </a:ext>
            </a:extLst>
          </p:cNvPr>
          <p:cNvGrpSpPr>
            <a:grpSpLocks/>
          </p:cNvGrpSpPr>
          <p:nvPr/>
        </p:nvGrpSpPr>
        <p:grpSpPr bwMode="auto">
          <a:xfrm>
            <a:off x="690413" y="1790384"/>
            <a:ext cx="1892300" cy="4332288"/>
            <a:chOff x="240" y="1207"/>
            <a:chExt cx="1192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652CC592-38C1-5D4D-968D-DA85E6FCA2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w1(x)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24D38C5A-1200-431D-A405-2CC4F30347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blipFill>
                  <a:blip r:embed="rId6"/>
                  <a:stretch>
                    <a:fillRect l="-7047" r="-6376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9663DFB0-1550-754F-8B19-69D30CFAF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43" name="Line 7">
              <a:extLst>
                <a:ext uri="{FF2B5EF4-FFF2-40B4-BE49-F238E27FC236}">
                  <a16:creationId xmlns:a16="http://schemas.microsoft.com/office/drawing/2014/main" id="{E3D1FE2D-F9BF-3841-AFF1-2F1FCDF71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08CCA5D-EEDE-954F-8BED-177DFD9448FF}"/>
              </a:ext>
            </a:extLst>
          </p:cNvPr>
          <p:cNvGrpSpPr>
            <a:grpSpLocks/>
          </p:cNvGrpSpPr>
          <p:nvPr/>
        </p:nvGrpSpPr>
        <p:grpSpPr bwMode="auto">
          <a:xfrm>
            <a:off x="3096915" y="1790384"/>
            <a:ext cx="1892300" cy="4332288"/>
            <a:chOff x="240" y="1207"/>
            <a:chExt cx="1192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BFCD66F-346A-B649-921A-50783FF0E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87AA0ED6-DC5F-46A4-B48D-3529628721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blipFill>
                  <a:blip r:embed="rId7"/>
                  <a:stretch>
                    <a:fillRect l="-7071" r="-6734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Line 6">
              <a:extLst>
                <a:ext uri="{FF2B5EF4-FFF2-40B4-BE49-F238E27FC236}">
                  <a16:creationId xmlns:a16="http://schemas.microsoft.com/office/drawing/2014/main" id="{EAFB3B50-91C7-0A47-9802-D56FACC5B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48" name="Line 7">
              <a:extLst>
                <a:ext uri="{FF2B5EF4-FFF2-40B4-BE49-F238E27FC236}">
                  <a16:creationId xmlns:a16="http://schemas.microsoft.com/office/drawing/2014/main" id="{834D9A2D-DAC2-DA4D-9232-B518F0097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42673164-586B-BE48-A25A-ACBFF56941C6}"/>
              </a:ext>
            </a:extLst>
          </p:cNvPr>
          <p:cNvSpPr/>
          <p:nvPr/>
        </p:nvSpPr>
        <p:spPr>
          <a:xfrm>
            <a:off x="690413" y="2422949"/>
            <a:ext cx="1005480" cy="187841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99C20B0-DB1C-A14B-B62F-1E1F6DAD2A09}"/>
              </a:ext>
            </a:extLst>
          </p:cNvPr>
          <p:cNvSpPr/>
          <p:nvPr/>
        </p:nvSpPr>
        <p:spPr>
          <a:xfrm>
            <a:off x="4048426" y="2822845"/>
            <a:ext cx="1005480" cy="187841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EC002C-194A-7C41-A61C-D7FD111AD968}"/>
              </a:ext>
            </a:extLst>
          </p:cNvPr>
          <p:cNvSpPr txBox="1"/>
          <p:nvPr/>
        </p:nvSpPr>
        <p:spPr>
          <a:xfrm flipH="1">
            <a:off x="5427002" y="3321507"/>
            <a:ext cx="26882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Incorrect orders</a:t>
            </a:r>
          </a:p>
        </p:txBody>
      </p:sp>
    </p:spTree>
    <p:extLst>
      <p:ext uri="{BB962C8B-B14F-4D97-AF65-F5344CB8AC3E}">
        <p14:creationId xmlns:p14="http://schemas.microsoft.com/office/powerpoint/2010/main" val="94303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Serial Execution Histories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674389"/>
                <a:ext cx="9144000" cy="10452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 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Serial history: no interleaving of ops from different transactions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674389"/>
                <a:ext cx="9144000" cy="1045223"/>
              </a:xfrm>
              <a:prstGeom prst="rect">
                <a:avLst/>
              </a:prstGeom>
              <a:blipFill>
                <a:blip r:embed="rId3"/>
                <a:stretch>
                  <a:fillRect l="-693" b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2384FB0-7790-F246-8346-86391AC5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4872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3E1ED8-A33D-C548-BF33-C0A02A04B2AF}"/>
              </a:ext>
            </a:extLst>
          </p:cNvPr>
          <p:cNvGrpSpPr>
            <a:grpSpLocks/>
          </p:cNvGrpSpPr>
          <p:nvPr/>
        </p:nvGrpSpPr>
        <p:grpSpPr bwMode="auto">
          <a:xfrm>
            <a:off x="674334" y="2106138"/>
            <a:ext cx="1935163" cy="4332288"/>
            <a:chOff x="240" y="1207"/>
            <a:chExt cx="1219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5A55513-383F-CA46-8708-ED6E85F896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" y="1207"/>
                  <a:ext cx="1203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5A55513-383F-CA46-8708-ED6E85F896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6" y="1207"/>
                  <a:ext cx="1203" cy="2230"/>
                </a:xfrm>
                <a:prstGeom prst="rect">
                  <a:avLst/>
                </a:prstGeom>
                <a:blipFill>
                  <a:blip r:embed="rId4"/>
                  <a:stretch>
                    <a:fillRect l="-6623" r="-5960" b="-3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6">
              <a:extLst>
                <a:ext uri="{FF2B5EF4-FFF2-40B4-BE49-F238E27FC236}">
                  <a16:creationId xmlns:a16="http://schemas.microsoft.com/office/drawing/2014/main" id="{CFA75A5D-461D-B546-BD43-F8E850892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A629254F-1772-ED4E-9AAA-9F34D5AE6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649288-5278-FD4B-9748-673DAC1560E8}"/>
                  </a:ext>
                </a:extLst>
              </p:cNvPr>
              <p:cNvSpPr/>
              <p:nvPr/>
            </p:nvSpPr>
            <p:spPr>
              <a:xfrm>
                <a:off x="988778" y="5808366"/>
                <a:ext cx="69092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  <m:r>
                      <a:rPr kumimoji="0" lang="en-CA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            </m:t>
                    </m:r>
                    <m:sSub>
                      <m:sSubPr>
                        <m:ctrlP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  </m:t>
                        </m:r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CA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                </m:t>
                    </m:r>
                    <m:sSub>
                      <m:sSubPr>
                        <m:ctrlP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rPr>
                  <a:t>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649288-5278-FD4B-9748-673DAC1560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78" y="5808366"/>
                <a:ext cx="6909218" cy="523220"/>
              </a:xfrm>
              <a:prstGeom prst="rect">
                <a:avLst/>
              </a:prstGeom>
              <a:blipFill>
                <a:blip r:embed="rId5"/>
                <a:stretch>
                  <a:fillRect l="-36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CC7DD896-C74D-7649-B366-C600AB43E793}"/>
              </a:ext>
            </a:extLst>
          </p:cNvPr>
          <p:cNvGrpSpPr>
            <a:grpSpLocks/>
          </p:cNvGrpSpPr>
          <p:nvPr/>
        </p:nvGrpSpPr>
        <p:grpSpPr bwMode="auto">
          <a:xfrm>
            <a:off x="2775011" y="2045887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AF4CE8C-F5A4-114F-9CF0-75B9AC794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c2</a:t>
                  </a: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AF4CE8C-F5A4-114F-9CF0-75B9AC7940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6"/>
                  <a:stretch>
                    <a:fillRect l="-6211" b="-358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Line 6">
              <a:extLst>
                <a:ext uri="{FF2B5EF4-FFF2-40B4-BE49-F238E27FC236}">
                  <a16:creationId xmlns:a16="http://schemas.microsoft.com/office/drawing/2014/main" id="{58C9A11F-C350-4C45-A691-5F932B9CA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31" name="Line 7">
              <a:extLst>
                <a:ext uri="{FF2B5EF4-FFF2-40B4-BE49-F238E27FC236}">
                  <a16:creationId xmlns:a16="http://schemas.microsoft.com/office/drawing/2014/main" id="{F0F6EA08-2909-DF4F-85E0-ED6628D77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AD39F7-7BC5-4D4F-9FFA-638FFEE31486}"/>
              </a:ext>
            </a:extLst>
          </p:cNvPr>
          <p:cNvGrpSpPr>
            <a:grpSpLocks/>
          </p:cNvGrpSpPr>
          <p:nvPr/>
        </p:nvGrpSpPr>
        <p:grpSpPr bwMode="auto">
          <a:xfrm>
            <a:off x="4666929" y="2045887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11C1C091-D35C-9F43-88DB-D6EA23DC6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C104C959-5C34-4BFD-8CC3-83BB3D4DFE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10"/>
                  <a:stretch>
                    <a:fillRect l="-6306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Line 6">
              <a:extLst>
                <a:ext uri="{FF2B5EF4-FFF2-40B4-BE49-F238E27FC236}">
                  <a16:creationId xmlns:a16="http://schemas.microsoft.com/office/drawing/2014/main" id="{00F248B3-D6F1-FE44-9BC4-0107E8C00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35" name="Line 7">
              <a:extLst>
                <a:ext uri="{FF2B5EF4-FFF2-40B4-BE49-F238E27FC236}">
                  <a16:creationId xmlns:a16="http://schemas.microsoft.com/office/drawing/2014/main" id="{227DDD37-9A68-9146-8CE5-E95272508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DB0AF3-5D26-654C-A66F-0B9FF4A77341}"/>
              </a:ext>
            </a:extLst>
          </p:cNvPr>
          <p:cNvGrpSpPr>
            <a:grpSpLocks/>
          </p:cNvGrpSpPr>
          <p:nvPr/>
        </p:nvGrpSpPr>
        <p:grpSpPr bwMode="auto">
          <a:xfrm>
            <a:off x="6808310" y="2019270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D7330D5-8488-224B-A2AB-07F5140A5A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endPara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c2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D7330D5-8488-224B-A2AB-07F5140A5A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11"/>
                  <a:stretch>
                    <a:fillRect l="-6173" b="-3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Line 6">
              <a:extLst>
                <a:ext uri="{FF2B5EF4-FFF2-40B4-BE49-F238E27FC236}">
                  <a16:creationId xmlns:a16="http://schemas.microsoft.com/office/drawing/2014/main" id="{8B1DE819-414E-DF42-B3ED-3CFF9244A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8AECCAC2-D034-844C-875D-90129D297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6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pic>
        <p:nvPicPr>
          <p:cNvPr id="43" name="Picture 2" descr="Image result for tick symbol">
            <a:extLst>
              <a:ext uri="{FF2B5EF4-FFF2-40B4-BE49-F238E27FC236}">
                <a16:creationId xmlns:a16="http://schemas.microsoft.com/office/drawing/2014/main" id="{7A3132AE-E47A-164D-8839-68EAA217C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022" y="5852450"/>
            <a:ext cx="886705" cy="970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Image result for tick symbol">
            <a:extLst>
              <a:ext uri="{FF2B5EF4-FFF2-40B4-BE49-F238E27FC236}">
                <a16:creationId xmlns:a16="http://schemas.microsoft.com/office/drawing/2014/main" id="{7C804D5D-FAC7-214E-9371-58F4C0F0A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390" y="5808366"/>
            <a:ext cx="886705" cy="970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7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Equivalent Histories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674389"/>
                <a:ext cx="9144000" cy="1140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/>
                  <a:t> is “equivalent”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CA" sz="2400" dirty="0"/>
                  <a:t> if values read by each </a:t>
                </a:r>
                <a:r>
                  <a:rPr lang="en-CA" sz="2400" dirty="0" err="1"/>
                  <a:t>T</a:t>
                </a:r>
                <a:r>
                  <a:rPr lang="en-CA" sz="2400" baseline="-25000" dirty="0" err="1"/>
                  <a:t>i</a:t>
                </a:r>
                <a:r>
                  <a:rPr lang="en-CA" sz="24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/>
                  <a:t>is same, and the order or write operations on each item is the same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674389"/>
                <a:ext cx="9144000" cy="1140697"/>
              </a:xfrm>
              <a:prstGeom prst="rect">
                <a:avLst/>
              </a:prstGeom>
              <a:blipFill>
                <a:blip r:embed="rId3"/>
                <a:stretch>
                  <a:fillRect l="-832" r="-1110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2384FB0-7790-F246-8346-86391AC5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4872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81C7F1C-A6FA-3C4A-AC9B-C61011E59CD1}"/>
              </a:ext>
            </a:extLst>
          </p:cNvPr>
          <p:cNvGrpSpPr>
            <a:grpSpLocks/>
          </p:cNvGrpSpPr>
          <p:nvPr/>
        </p:nvGrpSpPr>
        <p:grpSpPr bwMode="auto">
          <a:xfrm>
            <a:off x="690413" y="1833159"/>
            <a:ext cx="1892300" cy="4332288"/>
            <a:chOff x="240" y="1207"/>
            <a:chExt cx="1192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A9C9CB5-E9DA-A045-9D91-C841712E5C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05C9F475-4FF6-45E8-B00E-5443304465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blipFill>
                  <a:blip r:embed="rId7"/>
                  <a:stretch>
                    <a:fillRect l="-7047" r="-6376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6">
              <a:extLst>
                <a:ext uri="{FF2B5EF4-FFF2-40B4-BE49-F238E27FC236}">
                  <a16:creationId xmlns:a16="http://schemas.microsoft.com/office/drawing/2014/main" id="{1C2EF9BB-44A5-C246-96CB-1ABD2C4C2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45" name="Line 7">
              <a:extLst>
                <a:ext uri="{FF2B5EF4-FFF2-40B4-BE49-F238E27FC236}">
                  <a16:creationId xmlns:a16="http://schemas.microsoft.com/office/drawing/2014/main" id="{78BC33CF-FC0B-3D47-90DE-88D0EF515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35C08E1-3B2C-E94F-B7BE-3BD1B64D17B0}"/>
                  </a:ext>
                </a:extLst>
              </p:cNvPr>
              <p:cNvSpPr/>
              <p:nvPr/>
            </p:nvSpPr>
            <p:spPr>
              <a:xfrm>
                <a:off x="864979" y="5535387"/>
                <a:ext cx="71333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</m:sSub>
                      <m:r>
                        <a:rPr kumimoji="0" lang="en-CA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              </m:t>
                      </m:r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</m:t>
                          </m:r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</m:t>
                          </m:r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35C08E1-3B2C-E94F-B7BE-3BD1B64D17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79" y="5535387"/>
                <a:ext cx="7133320" cy="523220"/>
              </a:xfrm>
              <a:prstGeom prst="rect">
                <a:avLst/>
              </a:prstGeom>
              <a:blipFill>
                <a:blip r:embed="rId8"/>
                <a:stretch>
                  <a:fillRect l="-534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EA6A84E-FA80-0647-B97D-52268C60D251}"/>
              </a:ext>
            </a:extLst>
          </p:cNvPr>
          <p:cNvGrpSpPr>
            <a:grpSpLocks/>
          </p:cNvGrpSpPr>
          <p:nvPr/>
        </p:nvGrpSpPr>
        <p:grpSpPr bwMode="auto">
          <a:xfrm>
            <a:off x="3032094" y="1772908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7A1797BA-A1F9-AC46-BE19-E87A36C6F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C80EDEDB-26E9-408C-8CA7-332C10CB1C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9"/>
                  <a:stretch>
                    <a:fillRect l="-6306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Line 6">
              <a:extLst>
                <a:ext uri="{FF2B5EF4-FFF2-40B4-BE49-F238E27FC236}">
                  <a16:creationId xmlns:a16="http://schemas.microsoft.com/office/drawing/2014/main" id="{D5904A17-7B94-C44B-B23C-160AC90D82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50" name="Line 7">
              <a:extLst>
                <a:ext uri="{FF2B5EF4-FFF2-40B4-BE49-F238E27FC236}">
                  <a16:creationId xmlns:a16="http://schemas.microsoft.com/office/drawing/2014/main" id="{4E03D65E-D1C2-7649-B878-C3A825D3DF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A68885A-1326-2B40-A702-79A09B8AB850}"/>
                  </a:ext>
                </a:extLst>
              </p:cNvPr>
              <p:cNvSpPr txBox="1"/>
              <p:nvPr/>
            </p:nvSpPr>
            <p:spPr>
              <a:xfrm>
                <a:off x="5029199" y="2628419"/>
                <a:ext cx="3982963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sees all the updates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0" lang="en-CA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marR="0" lvl="1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itchFamily="2" charset="2"/>
                  <a:buChar char="Ø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reads x written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0" lang="en-CA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marR="0" lvl="1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itchFamily="2" charset="2"/>
                  <a:buChar char="Ø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reads y written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kumimoji="0" lang="en-CA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A68885A-1326-2B40-A702-79A09B8AB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9" y="2628419"/>
                <a:ext cx="3982963" cy="1107996"/>
              </a:xfrm>
              <a:prstGeom prst="rect">
                <a:avLst/>
              </a:prstGeom>
              <a:blipFill>
                <a:blip r:embed="rId10"/>
                <a:stretch>
                  <a:fillRect l="-318" t="-2247" b="-8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 Box 19">
            <a:extLst>
              <a:ext uri="{FF2B5EF4-FFF2-40B4-BE49-F238E27FC236}">
                <a16:creationId xmlns:a16="http://schemas.microsoft.com/office/drawing/2014/main" id="{EBB7804A-8CF1-A64C-A578-D91B9591A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37" y="2426501"/>
            <a:ext cx="1128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4</a:t>
            </a:r>
          </a:p>
        </p:txBody>
      </p:sp>
      <p:sp>
        <p:nvSpPr>
          <p:cNvPr id="53" name="Text Box 19">
            <a:extLst>
              <a:ext uri="{FF2B5EF4-FFF2-40B4-BE49-F238E27FC236}">
                <a16:creationId xmlns:a16="http://schemas.microsoft.com/office/drawing/2014/main" id="{AFDA2E1A-AB51-6A43-952E-DB1D8A759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819" y="2430045"/>
            <a:ext cx="1128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4</a:t>
            </a:r>
          </a:p>
        </p:txBody>
      </p:sp>
      <p:sp>
        <p:nvSpPr>
          <p:cNvPr id="54" name="Text Box 19">
            <a:extLst>
              <a:ext uri="{FF2B5EF4-FFF2-40B4-BE49-F238E27FC236}">
                <a16:creationId xmlns:a16="http://schemas.microsoft.com/office/drawing/2014/main" id="{86D60697-E38A-0949-AC83-B4D92A352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414" y="2885304"/>
            <a:ext cx="1116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5</a:t>
            </a:r>
          </a:p>
        </p:txBody>
      </p:sp>
      <p:sp>
        <p:nvSpPr>
          <p:cNvPr id="55" name="Text Box 19">
            <a:extLst>
              <a:ext uri="{FF2B5EF4-FFF2-40B4-BE49-F238E27FC236}">
                <a16:creationId xmlns:a16="http://schemas.microsoft.com/office/drawing/2014/main" id="{0A6FFC0F-1064-AF4C-8750-9B153270E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837" y="3320531"/>
            <a:ext cx="1116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5</a:t>
            </a:r>
          </a:p>
        </p:txBody>
      </p:sp>
      <p:sp>
        <p:nvSpPr>
          <p:cNvPr id="56" name="Text Box 19">
            <a:extLst>
              <a:ext uri="{FF2B5EF4-FFF2-40B4-BE49-F238E27FC236}">
                <a16:creationId xmlns:a16="http://schemas.microsoft.com/office/drawing/2014/main" id="{1B5C21E0-A29A-A94F-9CF1-E0F398FDE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5391" y="3926012"/>
            <a:ext cx="1080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4</a:t>
            </a:r>
          </a:p>
        </p:txBody>
      </p:sp>
      <p:sp>
        <p:nvSpPr>
          <p:cNvPr id="57" name="Text Box 19">
            <a:extLst>
              <a:ext uri="{FF2B5EF4-FFF2-40B4-BE49-F238E27FC236}">
                <a16:creationId xmlns:a16="http://schemas.microsoft.com/office/drawing/2014/main" id="{45C387DA-3E6E-9049-B3D2-21955B8D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590" y="4406178"/>
            <a:ext cx="10679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5</a:t>
            </a:r>
          </a:p>
        </p:txBody>
      </p:sp>
      <p:sp>
        <p:nvSpPr>
          <p:cNvPr id="58" name="Text Box 19">
            <a:extLst>
              <a:ext uri="{FF2B5EF4-FFF2-40B4-BE49-F238E27FC236}">
                <a16:creationId xmlns:a16="http://schemas.microsoft.com/office/drawing/2014/main" id="{D357E19A-BAA8-FF4C-947E-B4C65161A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253" y="3493592"/>
            <a:ext cx="1080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4</a:t>
            </a:r>
          </a:p>
        </p:txBody>
      </p:sp>
      <p:sp>
        <p:nvSpPr>
          <p:cNvPr id="60" name="Text Box 19">
            <a:extLst>
              <a:ext uri="{FF2B5EF4-FFF2-40B4-BE49-F238E27FC236}">
                <a16:creationId xmlns:a16="http://schemas.microsoft.com/office/drawing/2014/main" id="{B5FC4442-0A4F-074C-9E13-F49318723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453" y="4391968"/>
            <a:ext cx="10679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6975604-E685-9F4D-8496-E584B07E293E}"/>
              </a:ext>
            </a:extLst>
          </p:cNvPr>
          <p:cNvSpPr/>
          <p:nvPr/>
        </p:nvSpPr>
        <p:spPr>
          <a:xfrm>
            <a:off x="5157883" y="5414495"/>
            <a:ext cx="36947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x=3, y=1 (before T1 and T2)</a:t>
            </a:r>
          </a:p>
        </p:txBody>
      </p:sp>
    </p:spTree>
    <p:extLst>
      <p:ext uri="{BB962C8B-B14F-4D97-AF65-F5344CB8AC3E}">
        <p14:creationId xmlns:p14="http://schemas.microsoft.com/office/powerpoint/2010/main" val="295802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6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Example Non-equivalent Histories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674389"/>
                <a:ext cx="9144000" cy="1140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/>
                  <a:t> is “equivalent”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CA" sz="2400" dirty="0"/>
                  <a:t> if values read by each </a:t>
                </a:r>
                <a:r>
                  <a:rPr lang="en-CA" sz="2400" dirty="0" err="1"/>
                  <a:t>T</a:t>
                </a:r>
                <a:r>
                  <a:rPr lang="en-CA" sz="2400" baseline="-25000" dirty="0" err="1"/>
                  <a:t>i</a:t>
                </a:r>
                <a:r>
                  <a:rPr lang="en-CA" sz="24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/>
                  <a:t>is same, and the order or write operations on each item is the same  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674389"/>
                <a:ext cx="9144000" cy="1140697"/>
              </a:xfrm>
              <a:prstGeom prst="rect">
                <a:avLst/>
              </a:prstGeom>
              <a:blipFill>
                <a:blip r:embed="rId3"/>
                <a:stretch>
                  <a:fillRect l="-832" r="-1803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2384FB0-7790-F246-8346-86391AC5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504872"/>
            <a:ext cx="20574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AB2A034-8E29-E34C-965F-0DFA7E29E1E9}"/>
              </a:ext>
            </a:extLst>
          </p:cNvPr>
          <p:cNvGrpSpPr>
            <a:grpSpLocks/>
          </p:cNvGrpSpPr>
          <p:nvPr/>
        </p:nvGrpSpPr>
        <p:grpSpPr bwMode="auto">
          <a:xfrm>
            <a:off x="722308" y="1815056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0A0057C5-8DBC-4D43-B9E0-1A5B624ED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29781BC-D870-4C89-A1AF-FEBC3F5BD6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7"/>
                  <a:stretch>
                    <a:fillRect l="-6306" b="-41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Line 6">
              <a:extLst>
                <a:ext uri="{FF2B5EF4-FFF2-40B4-BE49-F238E27FC236}">
                  <a16:creationId xmlns:a16="http://schemas.microsoft.com/office/drawing/2014/main" id="{F0FCA753-EEF8-9341-B158-B64F3B7E6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28" name="Line 7">
              <a:extLst>
                <a:ext uri="{FF2B5EF4-FFF2-40B4-BE49-F238E27FC236}">
                  <a16:creationId xmlns:a16="http://schemas.microsoft.com/office/drawing/2014/main" id="{DAD0B4B8-EBC9-A04D-A453-99314F1E0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80F74E-B2DC-CB4F-A0DD-B4E926291C5F}"/>
              </a:ext>
            </a:extLst>
          </p:cNvPr>
          <p:cNvGrpSpPr>
            <a:grpSpLocks/>
          </p:cNvGrpSpPr>
          <p:nvPr/>
        </p:nvGrpSpPr>
        <p:grpSpPr bwMode="auto">
          <a:xfrm>
            <a:off x="3276896" y="1815056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A5974DA2-FE65-1F4B-A59A-2CB05799AB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FF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EFFA4F8-AA64-4FD7-8852-89C77451B5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8"/>
                  <a:stretch>
                    <a:fillRect l="-6006" b="-41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E36D2901-405E-F743-9BB0-13A5877AE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32" name="Line 7">
              <a:extLst>
                <a:ext uri="{FF2B5EF4-FFF2-40B4-BE49-F238E27FC236}">
                  <a16:creationId xmlns:a16="http://schemas.microsoft.com/office/drawing/2014/main" id="{C7AD5D59-6185-3547-B864-656EEE6BC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sp>
        <p:nvSpPr>
          <p:cNvPr id="33" name="Text Box 19">
            <a:extLst>
              <a:ext uri="{FF2B5EF4-FFF2-40B4-BE49-F238E27FC236}">
                <a16:creationId xmlns:a16="http://schemas.microsoft.com/office/drawing/2014/main" id="{BFD8DB1C-C635-7344-AA37-D7C8B9E99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014" y="2456811"/>
            <a:ext cx="1128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4</a:t>
            </a:r>
          </a:p>
        </p:txBody>
      </p:sp>
      <p:sp>
        <p:nvSpPr>
          <p:cNvPr id="34" name="Text Box 19">
            <a:extLst>
              <a:ext uri="{FF2B5EF4-FFF2-40B4-BE49-F238E27FC236}">
                <a16:creationId xmlns:a16="http://schemas.microsoft.com/office/drawing/2014/main" id="{7945F41E-B9A3-FA4D-8AAF-8FD730006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09" y="2912070"/>
            <a:ext cx="1116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5</a:t>
            </a:r>
          </a:p>
        </p:txBody>
      </p:sp>
      <p:sp>
        <p:nvSpPr>
          <p:cNvPr id="35" name="Text Box 19">
            <a:extLst>
              <a:ext uri="{FF2B5EF4-FFF2-40B4-BE49-F238E27FC236}">
                <a16:creationId xmlns:a16="http://schemas.microsoft.com/office/drawing/2014/main" id="{FD156A45-1375-B349-99D4-77BCC0A91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3691" y="3584179"/>
            <a:ext cx="10246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1</a:t>
            </a:r>
          </a:p>
        </p:txBody>
      </p:sp>
      <p:sp>
        <p:nvSpPr>
          <p:cNvPr id="36" name="Text Box 19">
            <a:extLst>
              <a:ext uri="{FF2B5EF4-FFF2-40B4-BE49-F238E27FC236}">
                <a16:creationId xmlns:a16="http://schemas.microsoft.com/office/drawing/2014/main" id="{5846D010-C5BA-0E47-A34C-5BDD74055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201" y="4696520"/>
            <a:ext cx="10679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5</a:t>
            </a:r>
          </a:p>
        </p:txBody>
      </p:sp>
      <p:sp>
        <p:nvSpPr>
          <p:cNvPr id="37" name="Text Box 19">
            <a:extLst>
              <a:ext uri="{FF2B5EF4-FFF2-40B4-BE49-F238E27FC236}">
                <a16:creationId xmlns:a16="http://schemas.microsoft.com/office/drawing/2014/main" id="{3C72FB1E-5929-D843-B686-6EE32042E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720" y="2461359"/>
            <a:ext cx="11289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4</a:t>
            </a:r>
          </a:p>
        </p:txBody>
      </p:sp>
      <p:sp>
        <p:nvSpPr>
          <p:cNvPr id="38" name="Text Box 19">
            <a:extLst>
              <a:ext uri="{FF2B5EF4-FFF2-40B4-BE49-F238E27FC236}">
                <a16:creationId xmlns:a16="http://schemas.microsoft.com/office/drawing/2014/main" id="{08E10790-2FFF-A444-B9F0-78CF57845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152" y="3716922"/>
            <a:ext cx="1116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Write 5</a:t>
            </a:r>
          </a:p>
        </p:txBody>
      </p:sp>
      <p:sp>
        <p:nvSpPr>
          <p:cNvPr id="39" name="Text Box 19">
            <a:extLst>
              <a:ext uri="{FF2B5EF4-FFF2-40B4-BE49-F238E27FC236}">
                <a16:creationId xmlns:a16="http://schemas.microsoft.com/office/drawing/2014/main" id="{C78E0512-B081-3C47-B781-28E43958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377" y="3691630"/>
            <a:ext cx="1080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4</a:t>
            </a:r>
          </a:p>
        </p:txBody>
      </p:sp>
      <p:sp>
        <p:nvSpPr>
          <p:cNvPr id="43" name="Text Box 19">
            <a:extLst>
              <a:ext uri="{FF2B5EF4-FFF2-40B4-BE49-F238E27FC236}">
                <a16:creationId xmlns:a16="http://schemas.microsoft.com/office/drawing/2014/main" id="{8FE3569D-7B09-8540-8DFD-6A4CDD39E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3691" y="3109673"/>
            <a:ext cx="10807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kumimoji="1" sz="2400">
                <a:solidFill>
                  <a:schemeClr val="tx1"/>
                </a:solidFill>
                <a:latin typeface="AmeriGarmnd BT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Read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F988627-5823-F14B-9913-B2C36CE69868}"/>
                  </a:ext>
                </a:extLst>
              </p:cNvPr>
              <p:cNvSpPr txBox="1"/>
              <p:nvPr/>
            </p:nvSpPr>
            <p:spPr>
              <a:xfrm>
                <a:off x="6074436" y="2408087"/>
                <a:ext cx="287185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sz="22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reads different 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kumimoji="0" lang="en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than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CA" sz="22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en-CA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F988627-5823-F14B-9913-B2C36CE69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436" y="2408087"/>
                <a:ext cx="2871856" cy="769441"/>
              </a:xfrm>
              <a:prstGeom prst="rect">
                <a:avLst/>
              </a:prstGeom>
              <a:blipFill>
                <a:blip r:embed="rId9"/>
                <a:stretch>
                  <a:fillRect l="-441" t="-4839" r="-3524"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585F3B4-0857-7C41-B4A1-2C7609B46344}"/>
                  </a:ext>
                </a:extLst>
              </p:cNvPr>
              <p:cNvSpPr/>
              <p:nvPr/>
            </p:nvSpPr>
            <p:spPr>
              <a:xfrm>
                <a:off x="-16079" y="5853008"/>
                <a:ext cx="637089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CA" sz="2800" dirty="0">
                    <a:solidFill>
                      <a:srgbClr val="FF0000"/>
                    </a:solidFill>
                    <a:latin typeface="Candara" panose="020E0502030303020204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     </m:t>
                        </m:r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𝑏</m:t>
                        </m:r>
                      </m:sub>
                    </m:sSub>
                  </m:oMath>
                </a14:m>
                <a:r>
                  <a: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CA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                   </m:t>
                    </m:r>
                    <m:r>
                      <a:rPr kumimoji="0" lang="en-US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 </m:t>
                    </m:r>
                    <m:sSub>
                      <m:sSubPr>
                        <m:ctrlP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585F3B4-0857-7C41-B4A1-2C7609B463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5853008"/>
                <a:ext cx="6370896" cy="523220"/>
              </a:xfrm>
              <a:prstGeom prst="rect">
                <a:avLst/>
              </a:prstGeom>
              <a:blipFill>
                <a:blip r:embed="rId10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4AF74D59-8798-424E-9DFC-B368A2F9B638}"/>
              </a:ext>
            </a:extLst>
          </p:cNvPr>
          <p:cNvSpPr/>
          <p:nvPr/>
        </p:nvSpPr>
        <p:spPr>
          <a:xfrm>
            <a:off x="5157883" y="5439209"/>
            <a:ext cx="36947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x=3, y=1 (before T1 and T2)</a:t>
            </a:r>
          </a:p>
        </p:txBody>
      </p:sp>
    </p:spTree>
    <p:extLst>
      <p:ext uri="{BB962C8B-B14F-4D97-AF65-F5344CB8AC3E}">
        <p14:creationId xmlns:p14="http://schemas.microsoft.com/office/powerpoint/2010/main" val="91034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38" grpId="0" autoUpdateAnimBg="0"/>
      <p:bldP spid="39" grpId="0" autoUpdateAnimBg="0"/>
      <p:bldP spid="4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Serializability: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Histories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Conflict Equivalence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Checking For Serializability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4509-1FB2-2540-A246-CEF93BA686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88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Conflict Equivalence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29346E00-6320-1143-8CDB-8B57E22F8616}"/>
              </a:ext>
            </a:extLst>
          </p:cNvPr>
          <p:cNvSpPr/>
          <p:nvPr/>
        </p:nvSpPr>
        <p:spPr>
          <a:xfrm>
            <a:off x="-16079" y="822673"/>
            <a:ext cx="9144000" cy="4600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CA" sz="22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: Two operations </a:t>
            </a:r>
            <a:r>
              <a:rPr lang="en-CA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</a:t>
            </a: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 if: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they belong to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different transactions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they operate on the 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object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and at least one of the operations is a 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</a:p>
          <a:p>
            <a:pPr lvl="1">
              <a:lnSpc>
                <a:spcPct val="150000"/>
              </a:lnSpc>
            </a:pP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2 types of conflicts: (1) Read-Write and (2) Write-Write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Dfn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: Two histories are (conflict) equivalent if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they are over the same set of transactions, and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ordering of each pair of conflicting operations is the same in each </a:t>
            </a:r>
            <a:r>
              <a:rPr lang="en-CA" sz="2200" dirty="0"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354450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822673"/>
                <a:ext cx="9144000" cy="40922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Consider: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sz="2200" i="1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check if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they are over the same set of transactions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CA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={ </m:t>
                    </m:r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check if all the conflicting pairs have the same order</a:t>
                </a:r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822673"/>
                <a:ext cx="9144000" cy="4092211"/>
              </a:xfrm>
              <a:prstGeom prst="rect">
                <a:avLst/>
              </a:prstGeom>
              <a:blipFill>
                <a:blip r:embed="rId3"/>
                <a:stretch>
                  <a:fillRect l="-693" b="-2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CDE48EA-29C7-6D41-A733-89DE48D6B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5607268"/>
                  </p:ext>
                </p:extLst>
              </p:nvPr>
            </p:nvGraphicFramePr>
            <p:xfrm>
              <a:off x="2349694" y="4974782"/>
              <a:ext cx="4444612" cy="1280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6086">
                      <a:extLst>
                        <a:ext uri="{9D8B030D-6E8A-4147-A177-3AD203B41FA5}">
                          <a16:colId xmlns:a16="http://schemas.microsoft.com/office/drawing/2014/main" val="2146304726"/>
                        </a:ext>
                      </a:extLst>
                    </a:gridCol>
                    <a:gridCol w="919263">
                      <a:extLst>
                        <a:ext uri="{9D8B030D-6E8A-4147-A177-3AD203B41FA5}">
                          <a16:colId xmlns:a16="http://schemas.microsoft.com/office/drawing/2014/main" val="1693206072"/>
                        </a:ext>
                      </a:extLst>
                    </a:gridCol>
                    <a:gridCol w="919263">
                      <a:extLst>
                        <a:ext uri="{9D8B030D-6E8A-4147-A177-3AD203B41FA5}">
                          <a16:colId xmlns:a16="http://schemas.microsoft.com/office/drawing/2014/main" val="4250577586"/>
                        </a:ext>
                      </a:extLst>
                    </a:gridCol>
                  </a:tblGrid>
                  <a:tr h="3106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Conflicting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CA" sz="2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2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CA" sz="2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668121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CA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220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160929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22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CA" sz="2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220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22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22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1246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CDE48EA-29C7-6D41-A733-89DE48D6B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5607268"/>
                  </p:ext>
                </p:extLst>
              </p:nvPr>
            </p:nvGraphicFramePr>
            <p:xfrm>
              <a:off x="2349694" y="4974782"/>
              <a:ext cx="4444612" cy="1280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06086">
                      <a:extLst>
                        <a:ext uri="{9D8B030D-6E8A-4147-A177-3AD203B41FA5}">
                          <a16:colId xmlns:a16="http://schemas.microsoft.com/office/drawing/2014/main" val="2146304726"/>
                        </a:ext>
                      </a:extLst>
                    </a:gridCol>
                    <a:gridCol w="919263">
                      <a:extLst>
                        <a:ext uri="{9D8B030D-6E8A-4147-A177-3AD203B41FA5}">
                          <a16:colId xmlns:a16="http://schemas.microsoft.com/office/drawing/2014/main" val="1693206072"/>
                        </a:ext>
                      </a:extLst>
                    </a:gridCol>
                    <a:gridCol w="919263">
                      <a:extLst>
                        <a:ext uri="{9D8B030D-6E8A-4147-A177-3AD203B41FA5}">
                          <a16:colId xmlns:a16="http://schemas.microsoft.com/office/drawing/2014/main" val="4250577586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Conflicting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2192" t="-8824" r="-102740" b="-2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7500" t="-8824" r="-4167" b="-2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766812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8" t="-108824" r="-72195" b="-1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16092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8" t="-208824" r="-72195" b="-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1246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534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0"/>
            <a:ext cx="91279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Motivation &amp; Intuition For Conflict Equivalence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/>
              <p:nvPr/>
            </p:nvSpPr>
            <p:spPr>
              <a:xfrm>
                <a:off x="-16079" y="699103"/>
                <a:ext cx="9144000" cy="6123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If two histories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conflict equivalent then, we can make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exactly the same as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by iteratively swapping two consecutive non-conflicting operations in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and/or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Proof Sketch: Move all ops on item x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beginning by swapping in both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(x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ops “move past” ops on other items).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End with the order imposed by the conflicts on x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CA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If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&amp;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conflict eq. this prefix ops on x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will be the same order. 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 repeat for x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x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etc. and we will arrive at the same histories.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Therefore: Every read by each </a:t>
                </a:r>
                <a:r>
                  <a:rPr lang="en-CA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trx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the same value in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&amp;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Therefore: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&amp; H</a:t>
                </a:r>
                <a:r>
                  <a:rPr lang="en-CA" sz="2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CA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lead to the same output database state.</a:t>
                </a:r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9346E00-6320-1143-8CDB-8B57E22F8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079" y="699103"/>
                <a:ext cx="9144000" cy="6123536"/>
              </a:xfrm>
              <a:prstGeom prst="rect">
                <a:avLst/>
              </a:prstGeom>
              <a:blipFill>
                <a:blip r:embed="rId3"/>
                <a:stretch>
                  <a:fillRect l="-693" r="-1387" b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BFF1154-6CA0-EC41-B94D-8253E05A9334}"/>
              </a:ext>
            </a:extLst>
          </p:cNvPr>
          <p:cNvSpPr/>
          <p:nvPr/>
        </p:nvSpPr>
        <p:spPr>
          <a:xfrm>
            <a:off x="2273643" y="2347785"/>
            <a:ext cx="1309816" cy="432486"/>
          </a:xfrm>
          <a:prstGeom prst="roundRect">
            <a:avLst/>
          </a:prstGeom>
          <a:noFill/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9D04DA-4A31-AD4B-8117-B289B302B302}"/>
                  </a:ext>
                </a:extLst>
              </p:cNvPr>
              <p:cNvSpPr/>
              <p:nvPr/>
            </p:nvSpPr>
            <p:spPr>
              <a:xfrm>
                <a:off x="4694015" y="2347786"/>
                <a:ext cx="4433906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latin typeface="Arial" panose="020B0604020202020204" pitchFamily="34" charset="0"/>
                  </a:rPr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CA" sz="2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sSub>
                          <m:sSubPr>
                            <m:ctrlP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sz="2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sz="2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 sz="220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9D04DA-4A31-AD4B-8117-B289B302B3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015" y="2347786"/>
                <a:ext cx="4433906" cy="430887"/>
              </a:xfrm>
              <a:prstGeom prst="rect">
                <a:avLst/>
              </a:prstGeom>
              <a:blipFill>
                <a:blip r:embed="rId4"/>
                <a:stretch>
                  <a:fillRect l="-1714"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316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32B7FB-19B7-474C-B56E-70C2905334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</a:t>
                </a:r>
                <a:endParaRPr lang="en-CA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check if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they are over the same set of transactions</a:t>
                </a:r>
              </a:p>
              <a:p>
                <a:pPr marL="0" indent="0" algn="ctr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check if all the conflicting pairs have the same order</a:t>
                </a:r>
              </a:p>
              <a:p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32B7FB-19B7-474C-B56E-70C2905334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5" t="-2404" r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17693-7054-4CD1-AA7A-64053370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244A6-9E40-9F42-85D1-1290633EC12B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379CDC-B564-6143-AEA1-82349E9A41C3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18973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32B7FB-19B7-474C-B56E-70C2905334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</a:t>
                </a:r>
                <a:endParaRPr lang="en-CA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check if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they are over the same set of transactions</a:t>
                </a:r>
              </a:p>
              <a:p>
                <a:pPr marL="0" indent="0" algn="ctr">
                  <a:lnSpc>
                    <a:spcPct val="170000"/>
                  </a:lnSpc>
                  <a:buNone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},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},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},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0" indent="0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check if all the conflicting pairs have the same order</a:t>
                </a:r>
              </a:p>
              <a:p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32B7FB-19B7-474C-B56E-70C2905334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5" t="-2404" r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17693-7054-4CD1-AA7A-64053370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7BBC2-F449-B44C-86FD-7E8A48A61DA1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28F24B-AF09-3B4B-93D8-2BEA5D2E9774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306494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FA2F-2A9F-4CB9-BF01-A7BEA6FC7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CA" b="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CA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Conflicting pairs: </a:t>
                </a:r>
              </a:p>
              <a:p>
                <a:pPr lvl="1"/>
                <a:r>
                  <a:rPr lang="en-CA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Related to x: no conflicting pairs, as all are reads</a:t>
                </a:r>
              </a:p>
              <a:p>
                <a:pPr lvl="1"/>
                <a:r>
                  <a:rPr lang="en-CA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Related to y: w4[y], r1[y], w3[y]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600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CA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sz="260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600" i="1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sz="2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CA" sz="2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60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600" i="1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sz="26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</a:t>
                </a:r>
              </a:p>
              <a:p>
                <a:pPr lvl="1"/>
                <a:r>
                  <a:rPr lang="en-CA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Related to z: w4[z], r2[z], w2[z], r3[z], r1[z]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60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6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6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sz="26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6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not, as they are from the same transactions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600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6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CA" sz="2600" b="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CA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sz="2600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60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6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sz="26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FA2F-2A9F-4CB9-BF01-A7BEA6FC7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5" t="-962" r="-1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CEA3-63FF-41E8-9D3F-962CDB0C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32F02-E648-4744-AACB-9609BC35FE06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Identify All Conflicting Pairs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FABCAE-C610-AB43-8ED3-68274178923B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6826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32B7FB-19B7-474C-B56E-70C2905334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</a:t>
                </a:r>
                <a:endParaRPr lang="en-CA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Step 1: check if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they are over the same set of transactions</a:t>
                </a:r>
              </a:p>
              <a:p>
                <a:pPr marL="0" indent="0" algn="ctr">
                  <a:buNone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}, 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},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},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0" indent="0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Step 2: check if all the conflicting pairs have the same order</a:t>
                </a:r>
              </a:p>
              <a:p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32B7FB-19B7-474C-B56E-70C2905334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5" t="-2404" r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17693-7054-4CD1-AA7A-64053370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352E5BC-C950-494E-A657-039ED6EFAA5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24296" y="4506950"/>
              <a:ext cx="4191442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57640">
                      <a:extLst>
                        <a:ext uri="{9D8B030D-6E8A-4147-A177-3AD203B41FA5}">
                          <a16:colId xmlns:a16="http://schemas.microsoft.com/office/drawing/2014/main" val="2146304726"/>
                        </a:ext>
                      </a:extLst>
                    </a:gridCol>
                    <a:gridCol w="866901">
                      <a:extLst>
                        <a:ext uri="{9D8B030D-6E8A-4147-A177-3AD203B41FA5}">
                          <a16:colId xmlns:a16="http://schemas.microsoft.com/office/drawing/2014/main" val="1693206072"/>
                        </a:ext>
                      </a:extLst>
                    </a:gridCol>
                    <a:gridCol w="866901">
                      <a:extLst>
                        <a:ext uri="{9D8B030D-6E8A-4147-A177-3AD203B41FA5}">
                          <a16:colId xmlns:a16="http://schemas.microsoft.com/office/drawing/2014/main" val="4250577586"/>
                        </a:ext>
                      </a:extLst>
                    </a:gridCol>
                  </a:tblGrid>
                  <a:tr h="3106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Conflicting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668121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CA" sz="1600" b="0" i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160929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CA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CA" sz="1600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CA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600" i="1" dirty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CA" sz="16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1600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a14:m>
                          <a:r>
                            <a:rPr lang="en-CA" sz="160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124694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8589701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  <m:r>
                                  <a:rPr lang="en-CA" sz="1600" b="0" i="0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6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&gt;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778876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91279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B352E5BC-C950-494E-A657-039ED6EFAA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1821310"/>
                  </p:ext>
                </p:extLst>
              </p:nvPr>
            </p:nvGraphicFramePr>
            <p:xfrm>
              <a:off x="2124296" y="4506950"/>
              <a:ext cx="4191442" cy="201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57640">
                      <a:extLst>
                        <a:ext uri="{9D8B030D-6E8A-4147-A177-3AD203B41FA5}">
                          <a16:colId xmlns:a16="http://schemas.microsoft.com/office/drawing/2014/main" val="2146304726"/>
                        </a:ext>
                      </a:extLst>
                    </a:gridCol>
                    <a:gridCol w="866901">
                      <a:extLst>
                        <a:ext uri="{9D8B030D-6E8A-4147-A177-3AD203B41FA5}">
                          <a16:colId xmlns:a16="http://schemas.microsoft.com/office/drawing/2014/main" val="1693206072"/>
                        </a:ext>
                      </a:extLst>
                    </a:gridCol>
                    <a:gridCol w="866901">
                      <a:extLst>
                        <a:ext uri="{9D8B030D-6E8A-4147-A177-3AD203B41FA5}">
                          <a16:colId xmlns:a16="http://schemas.microsoft.com/office/drawing/2014/main" val="4250577586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Conflicting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85211" t="-5455" r="-103521" b="-5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82517" t="-5455" r="-2797" b="-52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766812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48" t="-105455" r="-71535" b="-4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16092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48" t="-201786" r="-71535" b="-316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12469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858970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48" t="-407273" r="-71535" b="-1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&gt;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677887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91279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38AA38D-53DA-624C-969E-EBBF398FD71E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FF3D39-BC6D-FE44-BD16-BBF91AFA8644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08849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16079" y="64300"/>
            <a:ext cx="862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Outline For Today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0" y="758856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3452" y="773927"/>
            <a:ext cx="9060548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Serializability: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Histories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 Equivalence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Checking For Serializability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ACB8E4-41A5-2D47-BA37-EFABE5CABF0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87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ACF49B-0248-43C2-9C8E-C7DAEEA52F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3001" y="762089"/>
                <a:ext cx="8954908" cy="5264622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history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said to be (conflict) </a:t>
                </a:r>
                <a:r>
                  <a:rPr lang="en-US" sz="2400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serializable</a:t>
                </a:r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there exists some serial history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CA" sz="24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is conflict equivalent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endParaRPr lang="en-CA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CA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ACF49B-0248-43C2-9C8E-C7DAEEA52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001" y="762089"/>
                <a:ext cx="8954908" cy="5264622"/>
              </a:xfrm>
              <a:blipFill>
                <a:blip r:embed="rId2"/>
                <a:stretch>
                  <a:fillRect l="-850" t="-1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B1544-FB2C-426B-BD03-27D12C60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8A7675-3FFB-4C49-8E8D-6D69AE66B90B}"/>
              </a:ext>
            </a:extLst>
          </p:cNvPr>
          <p:cNvGrpSpPr>
            <a:grpSpLocks/>
          </p:cNvGrpSpPr>
          <p:nvPr/>
        </p:nvGrpSpPr>
        <p:grpSpPr bwMode="auto">
          <a:xfrm>
            <a:off x="6197601" y="1792601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5AEAC81-A0D8-4886-B7BC-CA87EE0BBB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5AEAC81-A0D8-4886-B7BC-CA87EE0BBB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6"/>
                  <a:stretch>
                    <a:fillRect l="-6306" b="-4138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6">
              <a:extLst>
                <a:ext uri="{FF2B5EF4-FFF2-40B4-BE49-F238E27FC236}">
                  <a16:creationId xmlns:a16="http://schemas.microsoft.com/office/drawing/2014/main" id="{E9AF92BB-F18F-4635-9C80-5767C8400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68C64DA6-D98C-48DC-944E-4984A4641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8438D7-83FC-433F-A235-56C88EAFD033}"/>
                  </a:ext>
                </a:extLst>
              </p:cNvPr>
              <p:cNvSpPr/>
              <p:nvPr/>
            </p:nvSpPr>
            <p:spPr>
              <a:xfrm>
                <a:off x="278983" y="6240330"/>
                <a:ext cx="500970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2400" b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In Example 1 we showed:</a:t>
                </a:r>
                <a:r>
                  <a:rPr kumimoji="0" lang="en-CA" sz="2400" b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CA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kumimoji="0" lang="en-CA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0" lang="en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CA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kumimoji="0" lang="en-CA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A8438D7-83FC-433F-A235-56C88EAFD0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3" y="6240330"/>
                <a:ext cx="5009707" cy="461665"/>
              </a:xfrm>
              <a:prstGeom prst="rect">
                <a:avLst/>
              </a:prstGeom>
              <a:blipFill>
                <a:blip r:embed="rId7"/>
                <a:stretch>
                  <a:fillRect l="-2025" t="-10811" b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Image result for question mark symbol">
            <a:extLst>
              <a:ext uri="{FF2B5EF4-FFF2-40B4-BE49-F238E27FC236}">
                <a16:creationId xmlns:a16="http://schemas.microsoft.com/office/drawing/2014/main" id="{2337884A-B706-4808-A775-BF0391E14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652" y="4899998"/>
            <a:ext cx="1003948" cy="100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DD6410D-A196-874E-86C4-776DC180B0CC}"/>
              </a:ext>
            </a:extLst>
          </p:cNvPr>
          <p:cNvGrpSpPr>
            <a:grpSpLocks/>
          </p:cNvGrpSpPr>
          <p:nvPr/>
        </p:nvGrpSpPr>
        <p:grpSpPr bwMode="auto">
          <a:xfrm>
            <a:off x="674334" y="1760143"/>
            <a:ext cx="1935163" cy="4332288"/>
            <a:chOff x="240" y="1207"/>
            <a:chExt cx="1219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6C4C36C-E050-F24C-8AFB-778E52C430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6" y="1207"/>
                  <a:ext cx="1203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6C4C36C-E050-F24C-8AFB-778E52C430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6" y="1207"/>
                  <a:ext cx="1203" cy="2230"/>
                </a:xfrm>
                <a:prstGeom prst="rect">
                  <a:avLst/>
                </a:prstGeom>
                <a:blipFill>
                  <a:blip r:embed="rId9"/>
                  <a:stretch>
                    <a:fillRect l="-6623" r="-5960" b="-3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6">
              <a:extLst>
                <a:ext uri="{FF2B5EF4-FFF2-40B4-BE49-F238E27FC236}">
                  <a16:creationId xmlns:a16="http://schemas.microsoft.com/office/drawing/2014/main" id="{5784F904-0145-1A46-816E-9935E134D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A7E9E02E-D7EE-B342-9CDB-14FC372F0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EFDA611-B31B-1A46-83FA-A881E1981FF9}"/>
                  </a:ext>
                </a:extLst>
              </p:cNvPr>
              <p:cNvSpPr/>
              <p:nvPr/>
            </p:nvSpPr>
            <p:spPr>
              <a:xfrm>
                <a:off x="988778" y="5462371"/>
                <a:ext cx="294067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</m:sSub>
                      <m:r>
                        <a:rPr kumimoji="0" lang="en-CA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              </m:t>
                      </m:r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     </m:t>
                          </m:r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EFDA611-B31B-1A46-83FA-A881E1981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78" y="5462371"/>
                <a:ext cx="2940670" cy="523220"/>
              </a:xfrm>
              <a:prstGeom prst="rect">
                <a:avLst/>
              </a:prstGeom>
              <a:blipFill>
                <a:blip r:embed="rId1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E69844D3-4BFE-D542-A490-E16F9FC4E8C2}"/>
              </a:ext>
            </a:extLst>
          </p:cNvPr>
          <p:cNvGrpSpPr>
            <a:grpSpLocks/>
          </p:cNvGrpSpPr>
          <p:nvPr/>
        </p:nvGrpSpPr>
        <p:grpSpPr bwMode="auto">
          <a:xfrm>
            <a:off x="2775011" y="1699892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1A30A5E-7D48-B843-B0A8-831735E0BE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w1(y)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c2</a:t>
                  </a:r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61A30A5E-7D48-B843-B0A8-831735E0BE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11"/>
                  <a:stretch>
                    <a:fillRect l="-6211" b="-3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6">
              <a:extLst>
                <a:ext uri="{FF2B5EF4-FFF2-40B4-BE49-F238E27FC236}">
                  <a16:creationId xmlns:a16="http://schemas.microsoft.com/office/drawing/2014/main" id="{2504F2DC-F4ED-0D4B-957D-73966D27C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23" name="Line 7">
              <a:extLst>
                <a:ext uri="{FF2B5EF4-FFF2-40B4-BE49-F238E27FC236}">
                  <a16:creationId xmlns:a16="http://schemas.microsoft.com/office/drawing/2014/main" id="{AC0053E9-ED7C-9348-BE9F-2B48410FE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ABAB40-3135-A145-8332-8EE4E0046746}"/>
                  </a:ext>
                </a:extLst>
              </p:cNvPr>
              <p:cNvSpPr/>
              <p:nvPr/>
            </p:nvSpPr>
            <p:spPr>
              <a:xfrm>
                <a:off x="6330352" y="5522621"/>
                <a:ext cx="7382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CA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CA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ABAB40-3135-A145-8332-8EE4E00467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352" y="5522621"/>
                <a:ext cx="738215" cy="523220"/>
              </a:xfrm>
              <a:prstGeom prst="rect">
                <a:avLst/>
              </a:prstGeom>
              <a:blipFill>
                <a:blip r:embed="rId12"/>
                <a:stretch>
                  <a:fillRect l="-6780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581250C-F904-4847-8E8B-BF4144C55571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7B7310-D52C-FD48-ACE8-224701AAA489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712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FD74-78F4-441A-B010-BF541095E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336" y="962574"/>
                <a:ext cx="8173014" cy="5264622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have an equivalent </a:t>
                </a:r>
                <a:r>
                  <a:rPr lang="en-US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serial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execution?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Only 2 serial execution to check: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followed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CA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CA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accent5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reads different value as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CA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i="1" dirty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 dirty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followed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CA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CA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CA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i="1">
                                    <a:solidFill>
                                      <a:schemeClr val="accent5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sSub>
                          <m:sSubPr>
                            <m:ctrlPr>
                              <a:rPr lang="en-CA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CA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chemeClr val="accent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reads different value as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>
                  <a:solidFill>
                    <a:schemeClr val="accent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b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Do we need to check all the serial executions?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13FD74-78F4-441A-B010-BF541095E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336" y="962574"/>
                <a:ext cx="8173014" cy="5264622"/>
              </a:xfrm>
              <a:blipFill>
                <a:blip r:embed="rId3"/>
                <a:stretch>
                  <a:fillRect l="-1240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FF85E-AA42-44D0-A279-B0948DC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EEE4C0E-2F19-4788-8375-E80C6DC646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6914197"/>
                  </p:ext>
                </p:extLst>
              </p:nvPr>
            </p:nvGraphicFramePr>
            <p:xfrm>
              <a:off x="1812408" y="3991404"/>
              <a:ext cx="4191442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6449">
                      <a:extLst>
                        <a:ext uri="{9D8B030D-6E8A-4147-A177-3AD203B41FA5}">
                          <a16:colId xmlns:a16="http://schemas.microsoft.com/office/drawing/2014/main" val="2146304726"/>
                        </a:ext>
                      </a:extLst>
                    </a:gridCol>
                    <a:gridCol w="718331">
                      <a:extLst>
                        <a:ext uri="{9D8B030D-6E8A-4147-A177-3AD203B41FA5}">
                          <a16:colId xmlns:a16="http://schemas.microsoft.com/office/drawing/2014/main" val="1693206072"/>
                        </a:ext>
                      </a:extLst>
                    </a:gridCol>
                    <a:gridCol w="718331">
                      <a:extLst>
                        <a:ext uri="{9D8B030D-6E8A-4147-A177-3AD203B41FA5}">
                          <a16:colId xmlns:a16="http://schemas.microsoft.com/office/drawing/2014/main" val="4250577586"/>
                        </a:ext>
                      </a:extLst>
                    </a:gridCol>
                    <a:gridCol w="718331">
                      <a:extLst>
                        <a:ext uri="{9D8B030D-6E8A-4147-A177-3AD203B41FA5}">
                          <a16:colId xmlns:a16="http://schemas.microsoft.com/office/drawing/2014/main" val="3683016804"/>
                        </a:ext>
                      </a:extLst>
                    </a:gridCol>
                  </a:tblGrid>
                  <a:tr h="31060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Conflicting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CA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7668121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CA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160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&gt;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160929"/>
                      </a:ext>
                    </a:extLst>
                  </a:tr>
                  <a:tr h="3106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6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CA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160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6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&gt;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1246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8EEE4C0E-2F19-4788-8375-E80C6DC646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6914197"/>
                  </p:ext>
                </p:extLst>
              </p:nvPr>
            </p:nvGraphicFramePr>
            <p:xfrm>
              <a:off x="1812408" y="3991404"/>
              <a:ext cx="4191442" cy="1005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6449">
                      <a:extLst>
                        <a:ext uri="{9D8B030D-6E8A-4147-A177-3AD203B41FA5}">
                          <a16:colId xmlns:a16="http://schemas.microsoft.com/office/drawing/2014/main" val="2146304726"/>
                        </a:ext>
                      </a:extLst>
                    </a:gridCol>
                    <a:gridCol w="718331">
                      <a:extLst>
                        <a:ext uri="{9D8B030D-6E8A-4147-A177-3AD203B41FA5}">
                          <a16:colId xmlns:a16="http://schemas.microsoft.com/office/drawing/2014/main" val="1693206072"/>
                        </a:ext>
                      </a:extLst>
                    </a:gridCol>
                    <a:gridCol w="718331">
                      <a:extLst>
                        <a:ext uri="{9D8B030D-6E8A-4147-A177-3AD203B41FA5}">
                          <a16:colId xmlns:a16="http://schemas.microsoft.com/office/drawing/2014/main" val="4250577586"/>
                        </a:ext>
                      </a:extLst>
                    </a:gridCol>
                    <a:gridCol w="718331">
                      <a:extLst>
                        <a:ext uri="{9D8B030D-6E8A-4147-A177-3AD203B41FA5}">
                          <a16:colId xmlns:a16="http://schemas.microsoft.com/office/drawing/2014/main" val="3683016804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Conflicting pairs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82456" t="-7407" r="-203509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9286" t="-7407" r="-107143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80702" t="-7407" r="-5263" b="-2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766812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11538" r="-107453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&gt;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416092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203704" r="-10745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>
                              <a:solidFill>
                                <a:srgbClr val="FF0000"/>
                              </a:solidFill>
                            </a:rPr>
                            <a:t>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sz="1600" dirty="0"/>
                            <a:t>&gt;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71246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73C41A6-9973-454F-AF06-1743A9E2C094}"/>
              </a:ext>
            </a:extLst>
          </p:cNvPr>
          <p:cNvSpPr/>
          <p:nvPr/>
        </p:nvSpPr>
        <p:spPr>
          <a:xfrm>
            <a:off x="4032504" y="4708656"/>
            <a:ext cx="1069848" cy="40312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FBD549-506B-4149-B460-E167C69957AC}"/>
              </a:ext>
            </a:extLst>
          </p:cNvPr>
          <p:cNvSpPr/>
          <p:nvPr/>
        </p:nvSpPr>
        <p:spPr>
          <a:xfrm>
            <a:off x="4706112" y="4292763"/>
            <a:ext cx="1069848" cy="40312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9516A4-02C9-6540-98B0-B20EBB5044D4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C46C32-ABED-424E-BAE2-8AE5101B2B48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7302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7FBDF-DDFF-4B4C-BBA5-DEEE16A8C3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96689"/>
                <a:ext cx="9127921" cy="5264622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More practical test for serializability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Serialization graph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for history </a:t>
                </a:r>
                <a14:m>
                  <m:oMath xmlns:m="http://schemas.openxmlformats.org/officeDocument/2006/math">
                    <m:r>
                      <a:rPr lang="en-CA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committed transaction in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CA" b="1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conflict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>
                  <a:buFont typeface="Wingdings" pitchFamily="2" charset="2"/>
                  <a:buChar char="Ø"/>
                </a:pP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Theorem: A history is </a:t>
                </a:r>
                <a:r>
                  <a:rPr lang="en-US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serializable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iff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its serialization graph is acyclic.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7FBDF-DDFF-4B4C-BBA5-DEEE16A8C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96689"/>
                <a:ext cx="9127921" cy="5264622"/>
              </a:xfrm>
              <a:blipFill>
                <a:blip r:embed="rId2"/>
                <a:stretch>
                  <a:fillRect l="-1252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49296-A487-4AD2-ABF5-FD325E63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C71E2-4EF8-394E-BF70-4AB178419473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Serialization Graph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05E647-F71D-BA4B-BCD4-EFA9EA52F760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79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5BF2B-9F30-447B-94B9-6FD494F393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CA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1" indent="0">
                  <a:buNone/>
                </a:pP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lvl="1" indent="0">
                  <a:buNone/>
                </a:pPr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5BF2B-9F30-447B-94B9-6FD494F39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0" t="-1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3129A-7171-4144-8BFB-E1D988CD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3C4854C-10EE-4F8F-AC6C-04C9CC14C6D4}"/>
                  </a:ext>
                </a:extLst>
              </p:cNvPr>
              <p:cNvSpPr/>
              <p:nvPr/>
            </p:nvSpPr>
            <p:spPr>
              <a:xfrm>
                <a:off x="3899652" y="4297839"/>
                <a:ext cx="439479" cy="46783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3C4854C-10EE-4F8F-AC6C-04C9CC14C6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652" y="4297839"/>
                <a:ext cx="439479" cy="46783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A265126-0412-4608-B2B3-037BC862C085}"/>
                  </a:ext>
                </a:extLst>
              </p:cNvPr>
              <p:cNvSpPr/>
              <p:nvPr/>
            </p:nvSpPr>
            <p:spPr>
              <a:xfrm>
                <a:off x="5556236" y="4297839"/>
                <a:ext cx="439479" cy="46783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A265126-0412-4608-B2B3-037BC862C0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236" y="4297839"/>
                <a:ext cx="439479" cy="46783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0F5FFF-94C4-41DE-B737-9736FE052FA2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339131" y="4531756"/>
            <a:ext cx="121710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A566-86A8-4D79-BDB2-70BE3BC2B475}"/>
              </a:ext>
            </a:extLst>
          </p:cNvPr>
          <p:cNvGrpSpPr>
            <a:grpSpLocks/>
          </p:cNvGrpSpPr>
          <p:nvPr/>
        </p:nvGrpSpPr>
        <p:grpSpPr bwMode="auto">
          <a:xfrm>
            <a:off x="690413" y="2376855"/>
            <a:ext cx="1892300" cy="4332288"/>
            <a:chOff x="240" y="1207"/>
            <a:chExt cx="1192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6FC7B0E-B993-4CA3-85DB-A05D919FB8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6FC7B0E-B993-4CA3-85DB-A05D919FB8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144" cy="2230"/>
                </a:xfrm>
                <a:prstGeom prst="rect">
                  <a:avLst/>
                </a:prstGeom>
                <a:blipFill>
                  <a:blip r:embed="rId8"/>
                  <a:stretch>
                    <a:fillRect l="-7047" r="-6376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DBE7837D-4E44-4DB0-9363-394E03AEC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19" name="Line 7">
              <a:extLst>
                <a:ext uri="{FF2B5EF4-FFF2-40B4-BE49-F238E27FC236}">
                  <a16:creationId xmlns:a16="http://schemas.microsoft.com/office/drawing/2014/main" id="{19FA94B0-2959-4699-853B-1730D05E6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A03276-E0EE-449F-A574-6E54122F1842}"/>
                  </a:ext>
                </a:extLst>
              </p:cNvPr>
              <p:cNvSpPr/>
              <p:nvPr/>
            </p:nvSpPr>
            <p:spPr>
              <a:xfrm>
                <a:off x="1089081" y="6079083"/>
                <a:ext cx="69092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CA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A03276-E0EE-449F-A574-6E54122F18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81" y="6079083"/>
                <a:ext cx="690921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94D88C1-F171-4CF9-8939-1EE21DF60C38}"/>
                  </a:ext>
                </a:extLst>
              </p:cNvPr>
              <p:cNvSpPr/>
              <p:nvPr/>
            </p:nvSpPr>
            <p:spPr>
              <a:xfrm>
                <a:off x="2578826" y="2277182"/>
                <a:ext cx="622283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conflict,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kumimoji="0" lang="en-CA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conflict,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kumimoji="0" lang="en-CA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Serialization graph: no cycles </a:t>
                </a:r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serializable</a:t>
                </a:r>
                <a:endParaRPr kumimoji="0" lang="en-CA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94D88C1-F171-4CF9-8939-1EE21DF60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826" y="2277182"/>
                <a:ext cx="6222837" cy="1323439"/>
              </a:xfrm>
              <a:prstGeom prst="rect">
                <a:avLst/>
              </a:prstGeom>
              <a:blipFill>
                <a:blip r:embed="rId10"/>
                <a:stretch>
                  <a:fillRect t="-2857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Line 35">
            <a:extLst>
              <a:ext uri="{FF2B5EF4-FFF2-40B4-BE49-F238E27FC236}">
                <a16:creationId xmlns:a16="http://schemas.microsoft.com/office/drawing/2014/main" id="{645ECEDB-E43A-4D6E-89AB-CA5DDE95B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6713" y="3577857"/>
            <a:ext cx="3810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2" name="Line 35">
            <a:extLst>
              <a:ext uri="{FF2B5EF4-FFF2-40B4-BE49-F238E27FC236}">
                <a16:creationId xmlns:a16="http://schemas.microsoft.com/office/drawing/2014/main" id="{B48CA3B4-E34F-4290-B45D-CF54B259B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6713" y="4435397"/>
            <a:ext cx="3810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9F77B-90B0-7240-84A4-04A274AC0916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9F4CB7-38C2-6240-9FD5-0F0E315CB58F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5331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5BF2B-9F30-447B-94B9-6FD494F393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CA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95BF2B-9F30-447B-94B9-6FD494F393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0"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3129A-7171-4144-8BFB-E1D988CD2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D863802-CFD9-4FA5-AB93-9930276444F0}"/>
                  </a:ext>
                </a:extLst>
              </p:cNvPr>
              <p:cNvSpPr/>
              <p:nvPr/>
            </p:nvSpPr>
            <p:spPr>
              <a:xfrm>
                <a:off x="3086583" y="5886893"/>
                <a:ext cx="439479" cy="46783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D863802-CFD9-4FA5-AB93-9930276444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583" y="5886893"/>
                <a:ext cx="439479" cy="46783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E660FA3-6ACA-4E21-AA06-CA08C4F7F042}"/>
                  </a:ext>
                </a:extLst>
              </p:cNvPr>
              <p:cNvSpPr/>
              <p:nvPr/>
            </p:nvSpPr>
            <p:spPr>
              <a:xfrm>
                <a:off x="4743167" y="5886893"/>
                <a:ext cx="439479" cy="467833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6E660FA3-6ACA-4E21-AA06-CA08C4F7F0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167" y="5886893"/>
                <a:ext cx="439479" cy="46783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018A8E-4593-4805-AD36-E9869FD935AB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3526062" y="6120810"/>
            <a:ext cx="121710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2C4649E5-5EA3-43E6-898D-EDC3ADF93A48}"/>
              </a:ext>
            </a:extLst>
          </p:cNvPr>
          <p:cNvCxnSpPr>
            <a:stCxn id="12" idx="0"/>
            <a:endCxn id="11" idx="0"/>
          </p:cNvCxnSpPr>
          <p:nvPr/>
        </p:nvCxnSpPr>
        <p:spPr>
          <a:xfrm rot="16200000" flipV="1">
            <a:off x="4134615" y="5058601"/>
            <a:ext cx="12700" cy="1656584"/>
          </a:xfrm>
          <a:prstGeom prst="curvedConnector3">
            <a:avLst>
              <a:gd name="adj1" fmla="val 180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9015471-BA0F-4EAA-9753-AAC56123BAF4}"/>
              </a:ext>
            </a:extLst>
          </p:cNvPr>
          <p:cNvSpPr/>
          <p:nvPr/>
        </p:nvSpPr>
        <p:spPr>
          <a:xfrm>
            <a:off x="5510140" y="5795481"/>
            <a:ext cx="2377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 serializable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3ED8787-C02C-4618-BAD2-B87514AB1159}"/>
                  </a:ext>
                </a:extLst>
              </p:cNvPr>
              <p:cNvSpPr/>
              <p:nvPr/>
            </p:nvSpPr>
            <p:spPr>
              <a:xfrm>
                <a:off x="418214" y="5703399"/>
                <a:ext cx="17526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ndara" panose="020E0502030303020204"/>
                    <a:ea typeface="+mn-ea"/>
                    <a:cs typeface="+mn-cs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CA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endParaRPr kumimoji="0" lang="en-CA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3ED8787-C02C-4618-BAD2-B87514AB11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14" y="5703399"/>
                <a:ext cx="17526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7291CF5-AD1C-460D-83AF-6146B6B7B8F9}"/>
              </a:ext>
            </a:extLst>
          </p:cNvPr>
          <p:cNvGrpSpPr>
            <a:grpSpLocks/>
          </p:cNvGrpSpPr>
          <p:nvPr/>
        </p:nvGrpSpPr>
        <p:grpSpPr bwMode="auto">
          <a:xfrm>
            <a:off x="1080052" y="2103951"/>
            <a:ext cx="2108200" cy="4332288"/>
            <a:chOff x="240" y="1207"/>
            <a:chExt cx="1328" cy="27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DF28E0C-78EA-4CF2-9766-E97492DD00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0" lang="en-US" sz="2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a14:m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  <a:b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</a:b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FF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x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r2(</a:t>
                  </a:r>
                  <a:r>
                    <a:rPr kumimoji="0" lang="en-US" sz="2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FF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w1(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highlight>
                        <a:srgbClr val="00FF00"/>
                      </a:highlight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y</a:t>
                  </a: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)	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c1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ndara" panose="020E0502030303020204"/>
                      <a:ea typeface="+mn-ea"/>
                      <a:cs typeface="+mn-cs"/>
                    </a:rPr>
                    <a:t>	c2</a:t>
                  </a: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DF28E0C-78EA-4CF2-9766-E97492DD00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" y="1207"/>
                  <a:ext cx="1280" cy="2230"/>
                </a:xfrm>
                <a:prstGeom prst="rect">
                  <a:avLst/>
                </a:prstGeom>
                <a:blipFill>
                  <a:blip r:embed="rId9"/>
                  <a:stretch>
                    <a:fillRect l="-6306" b="-3959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Line 6">
              <a:extLst>
                <a:ext uri="{FF2B5EF4-FFF2-40B4-BE49-F238E27FC236}">
                  <a16:creationId xmlns:a16="http://schemas.microsoft.com/office/drawing/2014/main" id="{ECCF162D-95A5-4DB2-AE79-D492298B8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1632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9FB7E465-E026-47EE-8CD0-581DD68EC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296"/>
              <a:ext cx="0" cy="26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endParaRPr>
            </a:p>
          </p:txBody>
        </p:sp>
      </p:grpSp>
      <p:sp>
        <p:nvSpPr>
          <p:cNvPr id="22" name="Line 35">
            <a:extLst>
              <a:ext uri="{FF2B5EF4-FFF2-40B4-BE49-F238E27FC236}">
                <a16:creationId xmlns:a16="http://schemas.microsoft.com/office/drawing/2014/main" id="{6015D058-C0DF-46AE-87AA-B0CBBBEFEA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7193" y="3302576"/>
            <a:ext cx="326918" cy="24632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C23C41D-B62D-4CAD-8EE4-4D55EF6F8AFD}"/>
                  </a:ext>
                </a:extLst>
              </p:cNvPr>
              <p:cNvSpPr/>
              <p:nvPr/>
            </p:nvSpPr>
            <p:spPr>
              <a:xfrm>
                <a:off x="3204129" y="2742297"/>
                <a:ext cx="570174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conflict,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conflict,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4472C4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0" lang="en-CA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en-CA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CA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kumimoji="0" lang="en-CA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C23C41D-B62D-4CAD-8EE4-4D55EF6F8A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129" y="2742297"/>
                <a:ext cx="5701743" cy="707886"/>
              </a:xfrm>
              <a:prstGeom prst="rect">
                <a:avLst/>
              </a:prstGeom>
              <a:blipFill>
                <a:blip r:embed="rId10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Line 35">
            <a:extLst>
              <a:ext uri="{FF2B5EF4-FFF2-40B4-BE49-F238E27FC236}">
                <a16:creationId xmlns:a16="http://schemas.microsoft.com/office/drawing/2014/main" id="{0B9E11D2-6DB4-45E1-8D13-C02B73D24A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7193" y="4212225"/>
            <a:ext cx="271621" cy="38925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1D4ACA-5809-4240-8859-BF60682A6D8D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CEC48D-BC0E-5B4B-85FF-0CC13FC07B89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8713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FA2F-2A9F-4CB9-BF01-A7BEA6FC7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CA" b="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CA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Conflicting pairs: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Related to x: no conflicting pairs, as all are reads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Related to y: w4[y], r1[y], w3[y]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T4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T1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CA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i="1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T4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T3                                    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i="1" dirty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 T1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T3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Related to z: w4[z], r2[z], w2[z], r3[z], r1[z]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T4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T2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T4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T2 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CA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T4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T3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T4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T1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are not, as they are from the same transactions</a:t>
                </a: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b="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T2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T3</a:t>
                </a:r>
                <a:endParaRPr lang="en-CA" b="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CA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T2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T1</a:t>
                </a:r>
              </a:p>
              <a:p>
                <a:endParaRPr lang="en-CA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FA2F-2A9F-4CB9-BF01-A7BEA6FC7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30" t="-1683" r="-4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CEA3-63FF-41E8-9D3F-962CDB0C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E57DC7E-E2C1-4F03-A328-0E23F89365D3}"/>
                  </a:ext>
                </a:extLst>
              </p:cNvPr>
              <p:cNvSpPr/>
              <p:nvPr/>
            </p:nvSpPr>
            <p:spPr>
              <a:xfrm>
                <a:off x="6419287" y="3352801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E57DC7E-E2C1-4F03-A328-0E23F8936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287" y="3352801"/>
                <a:ext cx="439479" cy="46783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9E1D90-FA08-438E-B0C5-7651958C765B}"/>
                  </a:ext>
                </a:extLst>
              </p:cNvPr>
              <p:cNvSpPr/>
              <p:nvPr/>
            </p:nvSpPr>
            <p:spPr>
              <a:xfrm>
                <a:off x="8075871" y="3352801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9E1D90-FA08-438E-B0C5-7651958C7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871" y="3352801"/>
                <a:ext cx="439479" cy="46783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41BF71D-9043-496F-AB6C-7A12257BB252}"/>
                  </a:ext>
                </a:extLst>
              </p:cNvPr>
              <p:cNvSpPr/>
              <p:nvPr/>
            </p:nvSpPr>
            <p:spPr>
              <a:xfrm>
                <a:off x="6419287" y="4511750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41BF71D-9043-496F-AB6C-7A12257BB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287" y="4511750"/>
                <a:ext cx="439479" cy="46783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CC62DB-F411-4232-A5F3-BF0C018BFF3F}"/>
                  </a:ext>
                </a:extLst>
              </p:cNvPr>
              <p:cNvSpPr/>
              <p:nvPr/>
            </p:nvSpPr>
            <p:spPr>
              <a:xfrm>
                <a:off x="8075871" y="4511750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CC62DB-F411-4232-A5F3-BF0C018BFF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871" y="4511750"/>
                <a:ext cx="439479" cy="46783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A9BB03-B4C9-4356-B668-7CFC54EBE0D3}"/>
              </a:ext>
            </a:extLst>
          </p:cNvPr>
          <p:cNvCxnSpPr>
            <a:stCxn id="15" idx="4"/>
            <a:endCxn id="17" idx="0"/>
          </p:cNvCxnSpPr>
          <p:nvPr/>
        </p:nvCxnSpPr>
        <p:spPr>
          <a:xfrm>
            <a:off x="6639027" y="3820634"/>
            <a:ext cx="0" cy="69111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D22997-A5E1-46A3-83FD-CF45E52DCD8A}"/>
              </a:ext>
            </a:extLst>
          </p:cNvPr>
          <p:cNvCxnSpPr>
            <a:cxnSpLocks/>
            <a:stCxn id="20" idx="2"/>
            <a:endCxn id="15" idx="5"/>
          </p:cNvCxnSpPr>
          <p:nvPr/>
        </p:nvCxnSpPr>
        <p:spPr>
          <a:xfrm flipH="1" flipV="1">
            <a:off x="6794406" y="3752121"/>
            <a:ext cx="1281465" cy="9935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5D1608-F1DA-4331-B902-0E812E75CBCD}"/>
              </a:ext>
            </a:extLst>
          </p:cNvPr>
          <p:cNvCxnSpPr>
            <a:cxnSpLocks/>
            <a:stCxn id="20" idx="2"/>
            <a:endCxn id="17" idx="6"/>
          </p:cNvCxnSpPr>
          <p:nvPr/>
        </p:nvCxnSpPr>
        <p:spPr>
          <a:xfrm flipH="1">
            <a:off x="6858766" y="4745667"/>
            <a:ext cx="121710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D43F82-953F-42BE-96D5-3496EF5E3682}"/>
              </a:ext>
            </a:extLst>
          </p:cNvPr>
          <p:cNvCxnSpPr>
            <a:stCxn id="20" idx="0"/>
            <a:endCxn id="16" idx="4"/>
          </p:cNvCxnSpPr>
          <p:nvPr/>
        </p:nvCxnSpPr>
        <p:spPr>
          <a:xfrm flipV="1">
            <a:off x="8295611" y="3820634"/>
            <a:ext cx="0" cy="691116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3180B23-2E7D-480E-BD6D-5D7DB7C33430}"/>
              </a:ext>
            </a:extLst>
          </p:cNvPr>
          <p:cNvCxnSpPr>
            <a:cxnSpLocks/>
            <a:stCxn id="16" idx="2"/>
            <a:endCxn id="17" idx="6"/>
          </p:cNvCxnSpPr>
          <p:nvPr/>
        </p:nvCxnSpPr>
        <p:spPr>
          <a:xfrm flipH="1">
            <a:off x="6858766" y="3586718"/>
            <a:ext cx="1217105" cy="1158949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450887-0734-4D2D-9AD3-F004D7274E20}"/>
              </a:ext>
            </a:extLst>
          </p:cNvPr>
          <p:cNvCxnSpPr>
            <a:cxnSpLocks/>
            <a:stCxn id="16" idx="2"/>
            <a:endCxn id="15" idx="6"/>
          </p:cNvCxnSpPr>
          <p:nvPr/>
        </p:nvCxnSpPr>
        <p:spPr>
          <a:xfrm flipH="1">
            <a:off x="6858766" y="3586718"/>
            <a:ext cx="1217105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E47BE2-0778-5549-AEA3-7D77010EE73D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3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55D7C42-C944-2E48-BCE7-65EFF1CE709D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9326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FA2F-2A9F-4CB9-BF01-A7BEA6FC7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4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CA" sz="2400" b="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CA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No cycles in this serialization graph </a:t>
                </a:r>
              </a:p>
              <a:p>
                <a:pPr lvl="1"/>
                <a:r>
                  <a:rPr lang="en-CA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Topological sort: T4 -&gt; T2 -&gt; T1-&gt;T3</a:t>
                </a:r>
              </a:p>
              <a:p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history above is (conflict) equivalent to </a:t>
                </a:r>
                <a:b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sz="2400" i="1"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4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b>
                      <m:sSubPr>
                        <m:ctrlPr>
                          <a:rPr lang="en-CA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CA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CA" sz="2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br>
                  <a:rPr lang="en-CA" sz="24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en-CA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/>
                <a:r>
                  <a:rPr lang="en-CA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Note: we ignore the commits at the end for simplicity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FA2F-2A9F-4CB9-BF01-A7BEA6FC7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0" t="-1202" r="-3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CEA3-63FF-41E8-9D3F-962CDB0C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E57DC7E-E2C1-4F03-A328-0E23F89365D3}"/>
                  </a:ext>
                </a:extLst>
              </p:cNvPr>
              <p:cNvSpPr/>
              <p:nvPr/>
            </p:nvSpPr>
            <p:spPr>
              <a:xfrm>
                <a:off x="5968468" y="2353340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E57DC7E-E2C1-4F03-A328-0E23F89365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468" y="2353340"/>
                <a:ext cx="439479" cy="46783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9E1D90-FA08-438E-B0C5-7651958C765B}"/>
                  </a:ext>
                </a:extLst>
              </p:cNvPr>
              <p:cNvSpPr/>
              <p:nvPr/>
            </p:nvSpPr>
            <p:spPr>
              <a:xfrm>
                <a:off x="7625052" y="2353340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9E1D90-FA08-438E-B0C5-7651958C7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052" y="2353340"/>
                <a:ext cx="439479" cy="46783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41BF71D-9043-496F-AB6C-7A12257BB252}"/>
                  </a:ext>
                </a:extLst>
              </p:cNvPr>
              <p:cNvSpPr/>
              <p:nvPr/>
            </p:nvSpPr>
            <p:spPr>
              <a:xfrm>
                <a:off x="5968468" y="3512289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41BF71D-9043-496F-AB6C-7A12257BB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468" y="3512289"/>
                <a:ext cx="439479" cy="46783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CC62DB-F411-4232-A5F3-BF0C018BFF3F}"/>
                  </a:ext>
                </a:extLst>
              </p:cNvPr>
              <p:cNvSpPr/>
              <p:nvPr/>
            </p:nvSpPr>
            <p:spPr>
              <a:xfrm>
                <a:off x="7625052" y="3512289"/>
                <a:ext cx="439479" cy="46783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CA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en-C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ndara" panose="020E0502030303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3CC62DB-F411-4232-A5F3-BF0C018BFF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052" y="3512289"/>
                <a:ext cx="439479" cy="46783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5A9BB03-B4C9-4356-B668-7CFC54EBE0D3}"/>
              </a:ext>
            </a:extLst>
          </p:cNvPr>
          <p:cNvCxnSpPr>
            <a:stCxn id="15" idx="4"/>
            <a:endCxn id="17" idx="0"/>
          </p:cNvCxnSpPr>
          <p:nvPr/>
        </p:nvCxnSpPr>
        <p:spPr>
          <a:xfrm>
            <a:off x="6188208" y="2821173"/>
            <a:ext cx="0" cy="69111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DD22997-A5E1-46A3-83FD-CF45E52DCD8A}"/>
              </a:ext>
            </a:extLst>
          </p:cNvPr>
          <p:cNvCxnSpPr>
            <a:cxnSpLocks/>
            <a:stCxn id="20" idx="2"/>
            <a:endCxn id="15" idx="5"/>
          </p:cNvCxnSpPr>
          <p:nvPr/>
        </p:nvCxnSpPr>
        <p:spPr>
          <a:xfrm flipH="1" flipV="1">
            <a:off x="6343587" y="2752660"/>
            <a:ext cx="1281465" cy="99354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5D1608-F1DA-4331-B902-0E812E75CBCD}"/>
              </a:ext>
            </a:extLst>
          </p:cNvPr>
          <p:cNvCxnSpPr>
            <a:cxnSpLocks/>
            <a:stCxn id="20" idx="2"/>
            <a:endCxn id="17" idx="6"/>
          </p:cNvCxnSpPr>
          <p:nvPr/>
        </p:nvCxnSpPr>
        <p:spPr>
          <a:xfrm flipH="1">
            <a:off x="6407947" y="3746206"/>
            <a:ext cx="1217105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DD43F82-953F-42BE-96D5-3496EF5E3682}"/>
              </a:ext>
            </a:extLst>
          </p:cNvPr>
          <p:cNvCxnSpPr>
            <a:stCxn id="20" idx="0"/>
            <a:endCxn id="16" idx="4"/>
          </p:cNvCxnSpPr>
          <p:nvPr/>
        </p:nvCxnSpPr>
        <p:spPr>
          <a:xfrm flipV="1">
            <a:off x="7844792" y="2821173"/>
            <a:ext cx="0" cy="691116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3180B23-2E7D-480E-BD6D-5D7DB7C33430}"/>
              </a:ext>
            </a:extLst>
          </p:cNvPr>
          <p:cNvCxnSpPr>
            <a:cxnSpLocks/>
            <a:stCxn id="16" idx="2"/>
            <a:endCxn id="17" idx="6"/>
          </p:cNvCxnSpPr>
          <p:nvPr/>
        </p:nvCxnSpPr>
        <p:spPr>
          <a:xfrm flipH="1">
            <a:off x="6407947" y="2587257"/>
            <a:ext cx="1217105" cy="1158949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450887-0734-4D2D-9AD3-F004D7274E20}"/>
              </a:ext>
            </a:extLst>
          </p:cNvPr>
          <p:cNvCxnSpPr>
            <a:cxnSpLocks/>
            <a:stCxn id="16" idx="2"/>
            <a:endCxn id="15" idx="6"/>
          </p:cNvCxnSpPr>
          <p:nvPr/>
        </p:nvCxnSpPr>
        <p:spPr>
          <a:xfrm flipH="1">
            <a:off x="6407947" y="2587257"/>
            <a:ext cx="1217105" cy="0"/>
          </a:xfrm>
          <a:prstGeom prst="straightConnector1">
            <a:avLst/>
          </a:prstGeom>
          <a:ln w="127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7F6E157-06B1-1547-8035-02DBBD23E7BE}"/>
              </a:ext>
            </a:extLst>
          </p:cNvPr>
          <p:cNvSpPr txBox="1"/>
          <p:nvPr/>
        </p:nvSpPr>
        <p:spPr>
          <a:xfrm>
            <a:off x="0" y="0"/>
            <a:ext cx="9127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latin typeface="Arial" panose="020B0604020202020204" pitchFamily="34" charset="0"/>
                <a:cs typeface="Arial" panose="020B0604020202020204" pitchFamily="34" charset="0"/>
              </a:rPr>
              <a:t>Example 3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4F4FF1-E29F-8142-BA9B-3BC4B676C4C7}"/>
              </a:ext>
            </a:extLst>
          </p:cNvPr>
          <p:cNvCxnSpPr/>
          <p:nvPr/>
        </p:nvCxnSpPr>
        <p:spPr>
          <a:xfrm>
            <a:off x="0" y="688335"/>
            <a:ext cx="9144000" cy="0"/>
          </a:xfrm>
          <a:prstGeom prst="line">
            <a:avLst/>
          </a:prstGeom>
          <a:ln w="571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60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4CEA3-63FF-41E8-9D3F-962CDB0C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C99FA5-7995-46A9-A97E-16E38AD589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232BDD-128C-7C44-B5EC-7F9D6596C394}"/>
              </a:ext>
            </a:extLst>
          </p:cNvPr>
          <p:cNvSpPr txBox="1"/>
          <p:nvPr/>
        </p:nvSpPr>
        <p:spPr>
          <a:xfrm>
            <a:off x="83452" y="2586077"/>
            <a:ext cx="9060548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Next Lecture: 2 Phase-Locking Protocol That Guarantees Conflict Serializability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(And Logging-based Recovery)</a:t>
            </a:r>
          </a:p>
        </p:txBody>
      </p:sp>
    </p:spTree>
    <p:extLst>
      <p:ext uri="{BB962C8B-B14F-4D97-AF65-F5344CB8AC3E}">
        <p14:creationId xmlns:p14="http://schemas.microsoft.com/office/powerpoint/2010/main" val="38497966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7|1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4|4.4|5.8|10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3|1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7|1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48819</TotalTime>
  <Words>2776</Words>
  <Application>Microsoft Macintosh PowerPoint</Application>
  <PresentationFormat>On-screen Show (4:3)</PresentationFormat>
  <Paragraphs>404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Candara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Semih Salihoglu</dc:creator>
  <cp:lastModifiedBy>Semih Salihoglu</cp:lastModifiedBy>
  <cp:revision>2627</cp:revision>
  <cp:lastPrinted>2021-11-09T03:16:21Z</cp:lastPrinted>
  <dcterms:created xsi:type="dcterms:W3CDTF">2016-04-06T14:30:24Z</dcterms:created>
  <dcterms:modified xsi:type="dcterms:W3CDTF">2021-11-18T15:33:28Z</dcterms:modified>
</cp:coreProperties>
</file>