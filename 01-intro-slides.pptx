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8"/>
  </p:notesMasterIdLst>
  <p:sldIdLst>
    <p:sldId id="320" r:id="rId2"/>
    <p:sldId id="284" r:id="rId3"/>
    <p:sldId id="373" r:id="rId4"/>
    <p:sldId id="324" r:id="rId5"/>
    <p:sldId id="326" r:id="rId6"/>
    <p:sldId id="325" r:id="rId7"/>
    <p:sldId id="329" r:id="rId8"/>
    <p:sldId id="331" r:id="rId9"/>
    <p:sldId id="330" r:id="rId10"/>
    <p:sldId id="347" r:id="rId11"/>
    <p:sldId id="332" r:id="rId12"/>
    <p:sldId id="333" r:id="rId13"/>
    <p:sldId id="338" r:id="rId14"/>
    <p:sldId id="349" r:id="rId15"/>
    <p:sldId id="350" r:id="rId16"/>
    <p:sldId id="336" r:id="rId17"/>
    <p:sldId id="351" r:id="rId18"/>
    <p:sldId id="358" r:id="rId19"/>
    <p:sldId id="356" r:id="rId20"/>
    <p:sldId id="359" r:id="rId21"/>
    <p:sldId id="376" r:id="rId22"/>
    <p:sldId id="357" r:id="rId23"/>
    <p:sldId id="377" r:id="rId24"/>
    <p:sldId id="337" r:id="rId25"/>
    <p:sldId id="360" r:id="rId26"/>
    <p:sldId id="340" r:id="rId27"/>
    <p:sldId id="313" r:id="rId28"/>
    <p:sldId id="314" r:id="rId29"/>
    <p:sldId id="315" r:id="rId30"/>
    <p:sldId id="354" r:id="rId31"/>
    <p:sldId id="361" r:id="rId32"/>
    <p:sldId id="362" r:id="rId33"/>
    <p:sldId id="355" r:id="rId34"/>
    <p:sldId id="348" r:id="rId35"/>
    <p:sldId id="364" r:id="rId36"/>
    <p:sldId id="366" r:id="rId37"/>
    <p:sldId id="367" r:id="rId38"/>
    <p:sldId id="368" r:id="rId39"/>
    <p:sldId id="370" r:id="rId40"/>
    <p:sldId id="371" r:id="rId41"/>
    <p:sldId id="365" r:id="rId42"/>
    <p:sldId id="375" r:id="rId43"/>
    <p:sldId id="378" r:id="rId44"/>
    <p:sldId id="374" r:id="rId45"/>
    <p:sldId id="341" r:id="rId46"/>
    <p:sldId id="258" r:id="rId47"/>
    <p:sldId id="260" r:id="rId48"/>
    <p:sldId id="345" r:id="rId49"/>
    <p:sldId id="321" r:id="rId50"/>
    <p:sldId id="363" r:id="rId51"/>
    <p:sldId id="328" r:id="rId52"/>
    <p:sldId id="323" r:id="rId53"/>
    <p:sldId id="322" r:id="rId54"/>
    <p:sldId id="319" r:id="rId55"/>
    <p:sldId id="316" r:id="rId56"/>
    <p:sldId id="317"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0000"/>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248"/>
    <p:restoredTop sz="87687" autoAdjust="0"/>
  </p:normalViewPr>
  <p:slideViewPr>
    <p:cSldViewPr snapToGrid="0" snapToObjects="1">
      <p:cViewPr varScale="1">
        <p:scale>
          <a:sx n="111" d="100"/>
          <a:sy n="111" d="100"/>
        </p:scale>
        <p:origin x="1992" y="20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BE5BFF4-16CE-FF42-8F98-AF276FA50BA1}" type="datetimeFigureOut">
              <a:rPr lang="en-US" smtClean="0"/>
              <a:t>1/4/22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2B3E036-A4CB-E845-BE6C-EA1CA9E24F79}" type="slidenum">
              <a:rPr lang="en-US" smtClean="0"/>
              <a:t>‹#›</a:t>
            </a:fld>
            <a:endParaRPr lang="en-US"/>
          </a:p>
        </p:txBody>
      </p:sp>
    </p:spTree>
    <p:extLst>
      <p:ext uri="{BB962C8B-B14F-4D97-AF65-F5344CB8AC3E}">
        <p14:creationId xmlns:p14="http://schemas.microsoft.com/office/powerpoint/2010/main" val="2195004768"/>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3820545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1321734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1640867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5879122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0064331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920774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766038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7833588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9262359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2080762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7375984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3031555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40793751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7653582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8280384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7564810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40536799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75017808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8879891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674624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82905237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57374771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5755799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394078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6605003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58110887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835306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8504772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335564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4899563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8967966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6503338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6553353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823483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99428844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87464080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05012935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415038544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3350077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80156697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61191057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01006409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01053025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84125985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54981307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86930507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75198023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23531692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73690518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81704593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578703846"/>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3889107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24631416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173690518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80046681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Tree>
    <p:extLst>
      <p:ext uri="{BB962C8B-B14F-4D97-AF65-F5344CB8AC3E}">
        <p14:creationId xmlns:p14="http://schemas.microsoft.com/office/powerpoint/2010/main" val="380046681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6A6A743-70A3-BB43-8075-433ED5A57AC5}" type="datetimeFigureOut">
              <a:rPr lang="en-US" smtClean="0"/>
              <a:t>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ACB8E4-41A5-2D47-BA37-EFABE5CABF00}" type="slidenum">
              <a:rPr lang="en-US" smtClean="0"/>
              <a:t>‹#›</a:t>
            </a:fld>
            <a:endParaRPr lang="en-US"/>
          </a:p>
        </p:txBody>
      </p:sp>
    </p:spTree>
    <p:extLst>
      <p:ext uri="{BB962C8B-B14F-4D97-AF65-F5344CB8AC3E}">
        <p14:creationId xmlns:p14="http://schemas.microsoft.com/office/powerpoint/2010/main" val="17970189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A6A743-70A3-BB43-8075-433ED5A57AC5}" type="datetimeFigureOut">
              <a:rPr lang="en-US" smtClean="0"/>
              <a:t>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ACB8E4-41A5-2D47-BA37-EFABE5CABF00}" type="slidenum">
              <a:rPr lang="en-US" smtClean="0"/>
              <a:t>‹#›</a:t>
            </a:fld>
            <a:endParaRPr lang="en-US"/>
          </a:p>
        </p:txBody>
      </p:sp>
    </p:spTree>
    <p:extLst>
      <p:ext uri="{BB962C8B-B14F-4D97-AF65-F5344CB8AC3E}">
        <p14:creationId xmlns:p14="http://schemas.microsoft.com/office/powerpoint/2010/main" val="17035436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6A6A743-70A3-BB43-8075-433ED5A57AC5}" type="datetimeFigureOut">
              <a:rPr lang="en-US" smtClean="0"/>
              <a:t>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ACB8E4-41A5-2D47-BA37-EFABE5CABF00}" type="slidenum">
              <a:rPr lang="en-US" smtClean="0"/>
              <a:t>‹#›</a:t>
            </a:fld>
            <a:endParaRPr lang="en-US"/>
          </a:p>
        </p:txBody>
      </p:sp>
    </p:spTree>
    <p:extLst>
      <p:ext uri="{BB962C8B-B14F-4D97-AF65-F5344CB8AC3E}">
        <p14:creationId xmlns:p14="http://schemas.microsoft.com/office/powerpoint/2010/main" val="3089650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6A6A743-70A3-BB43-8075-433ED5A57AC5}" type="datetimeFigureOut">
              <a:rPr lang="en-US" smtClean="0"/>
              <a:t>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ACB8E4-41A5-2D47-BA37-EFABE5CABF00}" type="slidenum">
              <a:rPr lang="en-US" smtClean="0"/>
              <a:t>‹#›</a:t>
            </a:fld>
            <a:endParaRPr lang="en-US"/>
          </a:p>
        </p:txBody>
      </p:sp>
    </p:spTree>
    <p:extLst>
      <p:ext uri="{BB962C8B-B14F-4D97-AF65-F5344CB8AC3E}">
        <p14:creationId xmlns:p14="http://schemas.microsoft.com/office/powerpoint/2010/main" val="1248839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6A6A743-70A3-BB43-8075-433ED5A57AC5}" type="datetimeFigureOut">
              <a:rPr lang="en-US" smtClean="0"/>
              <a:t>1/4/22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ACB8E4-41A5-2D47-BA37-EFABE5CABF00}" type="slidenum">
              <a:rPr lang="en-US" smtClean="0"/>
              <a:t>‹#›</a:t>
            </a:fld>
            <a:endParaRPr lang="en-US"/>
          </a:p>
        </p:txBody>
      </p:sp>
    </p:spTree>
    <p:extLst>
      <p:ext uri="{BB962C8B-B14F-4D97-AF65-F5344CB8AC3E}">
        <p14:creationId xmlns:p14="http://schemas.microsoft.com/office/powerpoint/2010/main" val="15935306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6A6A743-70A3-BB43-8075-433ED5A57AC5}" type="datetimeFigureOut">
              <a:rPr lang="en-US" smtClean="0"/>
              <a:t>1/4/22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ACB8E4-41A5-2D47-BA37-EFABE5CABF00}" type="slidenum">
              <a:rPr lang="en-US" smtClean="0"/>
              <a:t>‹#›</a:t>
            </a:fld>
            <a:endParaRPr lang="en-US"/>
          </a:p>
        </p:txBody>
      </p:sp>
    </p:spTree>
    <p:extLst>
      <p:ext uri="{BB962C8B-B14F-4D97-AF65-F5344CB8AC3E}">
        <p14:creationId xmlns:p14="http://schemas.microsoft.com/office/powerpoint/2010/main" val="8072055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A6A743-70A3-BB43-8075-433ED5A57AC5}" type="datetimeFigureOut">
              <a:rPr lang="en-US" smtClean="0"/>
              <a:t>1/4/22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ACB8E4-41A5-2D47-BA37-EFABE5CABF00}" type="slidenum">
              <a:rPr lang="en-US" smtClean="0"/>
              <a:t>‹#›</a:t>
            </a:fld>
            <a:endParaRPr lang="en-US"/>
          </a:p>
        </p:txBody>
      </p:sp>
    </p:spTree>
    <p:extLst>
      <p:ext uri="{BB962C8B-B14F-4D97-AF65-F5344CB8AC3E}">
        <p14:creationId xmlns:p14="http://schemas.microsoft.com/office/powerpoint/2010/main" val="27661722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A6A743-70A3-BB43-8075-433ED5A57AC5}" type="datetimeFigureOut">
              <a:rPr lang="en-US" smtClean="0"/>
              <a:t>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ACB8E4-41A5-2D47-BA37-EFABE5CABF00}" type="slidenum">
              <a:rPr lang="en-US" smtClean="0"/>
              <a:t>‹#›</a:t>
            </a:fld>
            <a:endParaRPr lang="en-US"/>
          </a:p>
        </p:txBody>
      </p:sp>
    </p:spTree>
    <p:extLst>
      <p:ext uri="{BB962C8B-B14F-4D97-AF65-F5344CB8AC3E}">
        <p14:creationId xmlns:p14="http://schemas.microsoft.com/office/powerpoint/2010/main" val="4086167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6A6A743-70A3-BB43-8075-433ED5A57AC5}" type="datetimeFigureOut">
              <a:rPr lang="en-US" smtClean="0"/>
              <a:t>1/4/22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ACB8E4-41A5-2D47-BA37-EFABE5CABF00}" type="slidenum">
              <a:rPr lang="en-US" smtClean="0"/>
              <a:t>‹#›</a:t>
            </a:fld>
            <a:endParaRPr lang="en-US"/>
          </a:p>
        </p:txBody>
      </p:sp>
    </p:spTree>
    <p:extLst>
      <p:ext uri="{BB962C8B-B14F-4D97-AF65-F5344CB8AC3E}">
        <p14:creationId xmlns:p14="http://schemas.microsoft.com/office/powerpoint/2010/main" val="31004544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A6A743-70A3-BB43-8075-433ED5A57AC5}" type="datetimeFigureOut">
              <a:rPr lang="en-US" smtClean="0"/>
              <a:t>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ACB8E4-41A5-2D47-BA37-EFABE5CABF00}" type="slidenum">
              <a:rPr lang="en-US" smtClean="0"/>
              <a:t>‹#›</a:t>
            </a:fld>
            <a:endParaRPr lang="en-US"/>
          </a:p>
        </p:txBody>
      </p:sp>
    </p:spTree>
    <p:extLst>
      <p:ext uri="{BB962C8B-B14F-4D97-AF65-F5344CB8AC3E}">
        <p14:creationId xmlns:p14="http://schemas.microsoft.com/office/powerpoint/2010/main" val="3695767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6A6A743-70A3-BB43-8075-433ED5A57AC5}" type="datetimeFigureOut">
              <a:rPr lang="en-US" smtClean="0"/>
              <a:t>1/4/22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ACB8E4-41A5-2D47-BA37-EFABE5CABF00}" type="slidenum">
              <a:rPr lang="en-US" smtClean="0"/>
              <a:t>‹#›</a:t>
            </a:fld>
            <a:endParaRPr lang="en-US"/>
          </a:p>
        </p:txBody>
      </p:sp>
    </p:spTree>
    <p:extLst>
      <p:ext uri="{BB962C8B-B14F-4D97-AF65-F5344CB8AC3E}">
        <p14:creationId xmlns:p14="http://schemas.microsoft.com/office/powerpoint/2010/main" val="939573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6A6A743-70A3-BB43-8075-433ED5A57AC5}" type="datetimeFigureOut">
              <a:rPr lang="en-US" smtClean="0"/>
              <a:t>1/4/22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ACB8E4-41A5-2D47-BA37-EFABE5CABF00}" type="slidenum">
              <a:rPr lang="en-US" smtClean="0"/>
              <a:t>‹#›</a:t>
            </a:fld>
            <a:endParaRPr lang="en-US"/>
          </a:p>
        </p:txBody>
      </p:sp>
    </p:spTree>
    <p:extLst>
      <p:ext uri="{BB962C8B-B14F-4D97-AF65-F5344CB8AC3E}">
        <p14:creationId xmlns:p14="http://schemas.microsoft.com/office/powerpoint/2010/main" val="3604522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7.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18" Type="http://schemas.openxmlformats.org/officeDocument/2006/relationships/image" Target="../media/image20.sv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17" Type="http://schemas.openxmlformats.org/officeDocument/2006/relationships/image" Target="../media/image19.png"/><Relationship Id="rId2" Type="http://schemas.openxmlformats.org/officeDocument/2006/relationships/notesSlide" Target="../notesSlides/notesSlide7.xml"/><Relationship Id="rId16" Type="http://schemas.openxmlformats.org/officeDocument/2006/relationships/image" Target="../media/image18.svg"/><Relationship Id="rId20" Type="http://schemas.openxmlformats.org/officeDocument/2006/relationships/image" Target="../media/image22.svg"/><Relationship Id="rId1" Type="http://schemas.openxmlformats.org/officeDocument/2006/relationships/slideLayout" Target="../slideLayouts/slideLayout1.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19" Type="http://schemas.openxmlformats.org/officeDocument/2006/relationships/image" Target="../media/image21.pn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4.sv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24.svg"/><Relationship Id="rId4" Type="http://schemas.openxmlformats.org/officeDocument/2006/relationships/image" Target="../media/image6.svg"/><Relationship Id="rId9" Type="http://schemas.openxmlformats.org/officeDocument/2006/relationships/image" Target="../media/image23.png"/></Relationships>
</file>

<file path=ppt/slides/_rels/slide15.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8.svg"/><Relationship Id="rId5" Type="http://schemas.openxmlformats.org/officeDocument/2006/relationships/image" Target="../media/image7.png"/><Relationship Id="rId10" Type="http://schemas.openxmlformats.org/officeDocument/2006/relationships/image" Target="../media/image24.svg"/><Relationship Id="rId4" Type="http://schemas.openxmlformats.org/officeDocument/2006/relationships/image" Target="../media/image6.svg"/><Relationship Id="rId9" Type="http://schemas.openxmlformats.org/officeDocument/2006/relationships/image" Target="../media/image23.png"/></Relationships>
</file>

<file path=ppt/slides/_rels/slide16.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26.svg"/><Relationship Id="rId4" Type="http://schemas.openxmlformats.org/officeDocument/2006/relationships/image" Target="../media/image14.svg"/><Relationship Id="rId9" Type="http://schemas.openxmlformats.org/officeDocument/2006/relationships/image" Target="../media/image25.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3.png"/><Relationship Id="rId7"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30.svg"/><Relationship Id="rId4" Type="http://schemas.openxmlformats.org/officeDocument/2006/relationships/image" Target="../media/image14.svg"/><Relationship Id="rId9" Type="http://schemas.openxmlformats.org/officeDocument/2006/relationships/image" Target="../media/image29.png"/></Relationships>
</file>

<file path=ppt/slides/_rels/slide1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13.png"/><Relationship Id="rId7"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30.svg"/><Relationship Id="rId4" Type="http://schemas.openxmlformats.org/officeDocument/2006/relationships/image" Target="../media/image14.svg"/><Relationship Id="rId9" Type="http://schemas.openxmlformats.org/officeDocument/2006/relationships/image" Target="../media/image29.png"/></Relationships>
</file>

<file path=ppt/slides/_rels/slide20.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7.png"/><Relationship Id="rId7" Type="http://schemas.openxmlformats.org/officeDocument/2006/relationships/image" Target="../media/image11.png"/><Relationship Id="rId12" Type="http://schemas.openxmlformats.org/officeDocument/2006/relationships/image" Target="../media/image32.sv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4.svg"/><Relationship Id="rId11" Type="http://schemas.openxmlformats.org/officeDocument/2006/relationships/image" Target="../media/image31.png"/><Relationship Id="rId5" Type="http://schemas.openxmlformats.org/officeDocument/2006/relationships/image" Target="../media/image13.png"/><Relationship Id="rId10" Type="http://schemas.openxmlformats.org/officeDocument/2006/relationships/image" Target="../media/image30.svg"/><Relationship Id="rId4" Type="http://schemas.openxmlformats.org/officeDocument/2006/relationships/image" Target="../media/image28.svg"/><Relationship Id="rId9" Type="http://schemas.openxmlformats.org/officeDocument/2006/relationships/image" Target="../media/image29.png"/></Relationships>
</file>

<file path=ppt/slides/_rels/slide21.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7.png"/><Relationship Id="rId7" Type="http://schemas.openxmlformats.org/officeDocument/2006/relationships/image" Target="../media/image11.png"/><Relationship Id="rId12" Type="http://schemas.openxmlformats.org/officeDocument/2006/relationships/image" Target="../media/image32.sv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14.svg"/><Relationship Id="rId11" Type="http://schemas.openxmlformats.org/officeDocument/2006/relationships/image" Target="../media/image31.png"/><Relationship Id="rId5" Type="http://schemas.openxmlformats.org/officeDocument/2006/relationships/image" Target="../media/image13.png"/><Relationship Id="rId10" Type="http://schemas.openxmlformats.org/officeDocument/2006/relationships/image" Target="../media/image30.svg"/><Relationship Id="rId4" Type="http://schemas.openxmlformats.org/officeDocument/2006/relationships/image" Target="../media/image28.svg"/><Relationship Id="rId9" Type="http://schemas.openxmlformats.org/officeDocument/2006/relationships/image" Target="../media/image29.png"/></Relationships>
</file>

<file path=ppt/slides/_rels/slide22.xml.rels><?xml version="1.0" encoding="UTF-8" standalone="yes"?>
<Relationships xmlns="http://schemas.openxmlformats.org/package/2006/relationships"><Relationship Id="rId8" Type="http://schemas.openxmlformats.org/officeDocument/2006/relationships/image" Target="../media/image12.svg"/><Relationship Id="rId3" Type="http://schemas.openxmlformats.org/officeDocument/2006/relationships/image" Target="../media/image27.png"/><Relationship Id="rId7"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4.svg"/><Relationship Id="rId5" Type="http://schemas.openxmlformats.org/officeDocument/2006/relationships/image" Target="../media/image13.png"/><Relationship Id="rId10" Type="http://schemas.openxmlformats.org/officeDocument/2006/relationships/image" Target="../media/image30.svg"/><Relationship Id="rId4" Type="http://schemas.openxmlformats.org/officeDocument/2006/relationships/image" Target="../media/image28.svg"/><Relationship Id="rId9" Type="http://schemas.openxmlformats.org/officeDocument/2006/relationships/image" Target="../media/image29.png"/></Relationships>
</file>

<file path=ppt/slides/_rels/slide23.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13.png"/><Relationship Id="rId7" Type="http://schemas.openxmlformats.org/officeDocument/2006/relationships/image" Target="../media/image33.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4.svg"/></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4.svg"/></Relationships>
</file>

<file path=ppt/slides/_rels/slide25.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13.png"/><Relationship Id="rId7" Type="http://schemas.openxmlformats.org/officeDocument/2006/relationships/image" Target="../media/image33.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14.svg"/></Relationships>
</file>

<file path=ppt/slides/_rels/slide2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jpe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static.googleusercontent.com/media/research.google.com/en/archive/mapreduce-osdi04.pdf" TargetMode="External"/><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38.png"/></Relationships>
</file>

<file path=ppt/slides/_rels/slide3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24.svg"/></Relationships>
</file>

<file path=ppt/slides/_rels/slide33.xml.rels><?xml version="1.0" encoding="UTF-8" standalone="yes"?>
<Relationships xmlns="http://schemas.openxmlformats.org/package/2006/relationships"><Relationship Id="rId3" Type="http://schemas.openxmlformats.org/officeDocument/2006/relationships/hyperlink" Target="https://arrow.apache.org/" TargetMode="External"/><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39.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10" Type="http://schemas.openxmlformats.org/officeDocument/2006/relationships/image" Target="../media/image26.svg"/><Relationship Id="rId4" Type="http://schemas.openxmlformats.org/officeDocument/2006/relationships/image" Target="../media/image14.svg"/><Relationship Id="rId9" Type="http://schemas.openxmlformats.org/officeDocument/2006/relationships/image" Target="../media/image25.png"/></Relationships>
</file>

<file path=ppt/slides/_rels/slide4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3.png"/><Relationship Id="rId7" Type="http://schemas.openxmlformats.org/officeDocument/2006/relationships/image" Target="../media/image5.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4.svg"/></Relationships>
</file>

<file path=ppt/slides/_rels/slide42.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image" Target="../media/image42.png"/><Relationship Id="rId7" Type="http://schemas.openxmlformats.org/officeDocument/2006/relationships/image" Target="../media/image6.svg"/><Relationship Id="rId2" Type="http://schemas.openxmlformats.org/officeDocument/2006/relationships/notesSlide" Target="../notesSlides/notesSlide4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4.svg"/><Relationship Id="rId4" Type="http://schemas.openxmlformats.org/officeDocument/2006/relationships/image" Target="../media/image13.png"/><Relationship Id="rId9" Type="http://schemas.openxmlformats.org/officeDocument/2006/relationships/image" Target="../media/image34.sv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18" Type="http://schemas.openxmlformats.org/officeDocument/2006/relationships/image" Target="../media/image20.svg"/><Relationship Id="rId3" Type="http://schemas.openxmlformats.org/officeDocument/2006/relationships/image" Target="../media/image5.png"/><Relationship Id="rId21" Type="http://schemas.openxmlformats.org/officeDocument/2006/relationships/image" Target="../media/image23.png"/><Relationship Id="rId7" Type="http://schemas.openxmlformats.org/officeDocument/2006/relationships/image" Target="../media/image9.png"/><Relationship Id="rId12" Type="http://schemas.openxmlformats.org/officeDocument/2006/relationships/image" Target="../media/image14.svg"/><Relationship Id="rId17" Type="http://schemas.openxmlformats.org/officeDocument/2006/relationships/image" Target="../media/image19.png"/><Relationship Id="rId2" Type="http://schemas.openxmlformats.org/officeDocument/2006/relationships/notesSlide" Target="../notesSlides/notesSlide45.xml"/><Relationship Id="rId16" Type="http://schemas.openxmlformats.org/officeDocument/2006/relationships/image" Target="../media/image18.svg"/><Relationship Id="rId20" Type="http://schemas.openxmlformats.org/officeDocument/2006/relationships/image" Target="../media/image22.svg"/><Relationship Id="rId1" Type="http://schemas.openxmlformats.org/officeDocument/2006/relationships/slideLayout" Target="../slideLayouts/slideLayout1.xml"/><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19" Type="http://schemas.openxmlformats.org/officeDocument/2006/relationships/image" Target="../media/image21.pn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 Id="rId22" Type="http://schemas.openxmlformats.org/officeDocument/2006/relationships/image" Target="../media/image24.sv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43.png"/><Relationship Id="rId7" Type="http://schemas.openxmlformats.org/officeDocument/2006/relationships/image" Target="../media/image47.tiff"/><Relationship Id="rId12" Type="http://schemas.openxmlformats.org/officeDocument/2006/relationships/image" Target="../media/image52.png"/><Relationship Id="rId17" Type="http://schemas.openxmlformats.org/officeDocument/2006/relationships/image" Target="../media/image57.tiff"/><Relationship Id="rId2" Type="http://schemas.openxmlformats.org/officeDocument/2006/relationships/notesSlide" Target="../notesSlides/notesSlide48.xml"/><Relationship Id="rId16" Type="http://schemas.openxmlformats.org/officeDocument/2006/relationships/image" Target="../media/image56.png"/><Relationship Id="rId1" Type="http://schemas.openxmlformats.org/officeDocument/2006/relationships/slideLayout" Target="../slideLayouts/slideLayout1.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tiff"/><Relationship Id="rId15" Type="http://schemas.openxmlformats.org/officeDocument/2006/relationships/image" Target="../media/image55.tiff"/><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s>
</file>

<file path=ppt/slides/_rels/slide49.xml.rels><?xml version="1.0" encoding="UTF-8" standalone="yes"?>
<Relationships xmlns="http://schemas.openxmlformats.org/package/2006/relationships"><Relationship Id="rId3" Type="http://schemas.openxmlformats.org/officeDocument/2006/relationships/hyperlink" Target="https://www.youtube.com/watch?v=KG-mqHoXOXY" TargetMode="External"/><Relationship Id="rId2" Type="http://schemas.openxmlformats.org/officeDocument/2006/relationships/notesSlide" Target="../notesSlides/notesSlide49.xml"/><Relationship Id="rId1" Type="http://schemas.openxmlformats.org/officeDocument/2006/relationships/slideLayout" Target="../slideLayouts/slideLayout1.xml"/><Relationship Id="rId6" Type="http://schemas.openxmlformats.org/officeDocument/2006/relationships/hyperlink" Target="https://www.youtube.com/watch?v=lGyMiW6PnKI" TargetMode="External"/><Relationship Id="rId5" Type="http://schemas.openxmlformats.org/officeDocument/2006/relationships/hyperlink" Target="https://www.youtube.com/watch?v=8gHxKQrxV8o" TargetMode="External"/><Relationship Id="rId4" Type="http://schemas.openxmlformats.org/officeDocument/2006/relationships/hyperlink" Target="https://www.youtube.com/watch?v=iDVsNqFEkB0&amp;t=2023s" TargetMode="External"/></Relationships>
</file>

<file path=ppt/slides/_rels/slide50.xml.rels><?xml version="1.0" encoding="UTF-8" standalone="yes"?>
<Relationships xmlns="http://schemas.openxmlformats.org/package/2006/relationships"><Relationship Id="rId3" Type="http://schemas.openxmlformats.org/officeDocument/2006/relationships/hyperlink" Target="https://en.wikipedia.org/wiki/RAID" TargetMode="External"/><Relationship Id="rId7" Type="http://schemas.openxmlformats.org/officeDocument/2006/relationships/image" Target="../media/image63.tiff"/><Relationship Id="rId2" Type="http://schemas.openxmlformats.org/officeDocument/2006/relationships/notesSlide" Target="../notesSlides/notesSlide50.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61.tiff"/><Relationship Id="rId4" Type="http://schemas.openxmlformats.org/officeDocument/2006/relationships/image" Target="../media/image60.tiff"/></Relationships>
</file>

<file path=ppt/slides/_rels/slide51.xml.rels><?xml version="1.0" encoding="UTF-8" standalone="yes"?>
<Relationships xmlns="http://schemas.openxmlformats.org/package/2006/relationships"><Relationship Id="rId3" Type="http://schemas.openxmlformats.org/officeDocument/2006/relationships/hyperlink" Target="https://cs.uwaterloo.ca/~xihe/" TargetMode="External"/><Relationship Id="rId2" Type="http://schemas.openxmlformats.org/officeDocument/2006/relationships/notesSlide" Target="../notesSlides/notesSlide51.xml"/><Relationship Id="rId1" Type="http://schemas.openxmlformats.org/officeDocument/2006/relationships/slideLayout" Target="../slideLayouts/slideLayout1.xml"/><Relationship Id="rId4" Type="http://schemas.openxmlformats.org/officeDocument/2006/relationships/image" Target="../media/image64.jpeg"/></Relationships>
</file>

<file path=ppt/slides/_rels/slide52.xml.rels><?xml version="1.0" encoding="UTF-8" standalone="yes"?>
<Relationships xmlns="http://schemas.openxmlformats.org/package/2006/relationships"><Relationship Id="rId3" Type="http://schemas.openxmlformats.org/officeDocument/2006/relationships/hyperlink" Target="https://learn.uwaterloo.ca/d2l/home/761209" TargetMode="External"/><Relationship Id="rId2" Type="http://schemas.openxmlformats.org/officeDocument/2006/relationships/notesSlide" Target="../notesSlides/notesSlide52.xml"/><Relationship Id="rId1" Type="http://schemas.openxmlformats.org/officeDocument/2006/relationships/slideLayout" Target="../slideLayouts/slideLayout1.xml"/><Relationship Id="rId4" Type="http://schemas.openxmlformats.org/officeDocument/2006/relationships/hyperlink" Target="https://piazza.com/class/kxhps7c94rj9r" TargetMode="External"/></Relationships>
</file>

<file path=ppt/slides/_rels/slide53.xml.rels><?xml version="1.0" encoding="UTF-8" standalone="yes"?>
<Relationships xmlns="http://schemas.openxmlformats.org/package/2006/relationships"><Relationship Id="rId3" Type="http://schemas.openxmlformats.org/officeDocument/2006/relationships/hyperlink" Target="https://www.db-book.com/db7/" TargetMode="External"/><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66.jpeg"/><Relationship Id="rId5" Type="http://schemas.openxmlformats.org/officeDocument/2006/relationships/image" Target="../media/image65.png"/><Relationship Id="rId4" Type="http://schemas.openxmlformats.org/officeDocument/2006/relationships/hyperlink" Target="https://www.oreilly.com/library/view/designing-data-intensive-applications/9781491903063/" TargetMode="External"/></Relationships>
</file>

<file path=ppt/slides/_rels/slide54.xml.rels><?xml version="1.0" encoding="UTF-8" standalone="yes"?>
<Relationships xmlns="http://schemas.openxmlformats.org/package/2006/relationships"><Relationship Id="rId3" Type="http://schemas.openxmlformats.org/officeDocument/2006/relationships/hyperlink" Target="http://pages.cs.wisc.edu/~dbbook/" TargetMode="External"/><Relationship Id="rId2" Type="http://schemas.openxmlformats.org/officeDocument/2006/relationships/notesSlide" Target="../notesSlides/notesSlide54.xml"/><Relationship Id="rId1" Type="http://schemas.openxmlformats.org/officeDocument/2006/relationships/slideLayout" Target="../slideLayouts/slideLayout1.xml"/><Relationship Id="rId6" Type="http://schemas.openxmlformats.org/officeDocument/2006/relationships/image" Target="../media/image68.jpg"/><Relationship Id="rId5" Type="http://schemas.openxmlformats.org/officeDocument/2006/relationships/hyperlink" Target="http://infolab.stanford.edu/~ullman/dscb.html" TargetMode="External"/><Relationship Id="rId4" Type="http://schemas.openxmlformats.org/officeDocument/2006/relationships/image" Target="../media/image67.jpe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Straight Connector 3"/>
          <p:cNvCxnSpPr/>
          <p:nvPr/>
        </p:nvCxnSpPr>
        <p:spPr>
          <a:xfrm>
            <a:off x="4943" y="3831712"/>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0" y="-14565"/>
            <a:ext cx="9144001" cy="1717843"/>
          </a:xfrm>
          <a:prstGeom prst="rect">
            <a:avLst/>
          </a:prstGeom>
          <a:noFill/>
        </p:spPr>
        <p:txBody>
          <a:bodyPr wrap="square" rtlCol="0">
            <a:spAutoFit/>
          </a:bodyPr>
          <a:lstStyle/>
          <a:p>
            <a:pPr algn="ctr">
              <a:lnSpc>
                <a:spcPct val="150000"/>
              </a:lnSpc>
            </a:pPr>
            <a:r>
              <a:rPr lang="en-US" sz="3700" kern="0" dirty="0">
                <a:latin typeface="Arial" panose="020B0604020202020204" pitchFamily="34" charset="0"/>
                <a:cs typeface="Arial" panose="020B0604020202020204" pitchFamily="34" charset="0"/>
              </a:rPr>
              <a:t>CS 348 Lecture 1</a:t>
            </a:r>
          </a:p>
          <a:p>
            <a:pPr algn="ctr">
              <a:lnSpc>
                <a:spcPct val="150000"/>
              </a:lnSpc>
            </a:pPr>
            <a:r>
              <a:rPr lang="en-US" sz="3700" kern="0" dirty="0">
                <a:latin typeface="Arial" panose="020B0604020202020204" pitchFamily="34" charset="0"/>
                <a:cs typeface="Arial" panose="020B0604020202020204" pitchFamily="34" charset="0"/>
              </a:rPr>
              <a:t>Course Overview &amp; Organization</a:t>
            </a:r>
          </a:p>
        </p:txBody>
      </p:sp>
      <p:sp>
        <p:nvSpPr>
          <p:cNvPr id="5" name="TextBox 4"/>
          <p:cNvSpPr txBox="1"/>
          <p:nvPr/>
        </p:nvSpPr>
        <p:spPr>
          <a:xfrm>
            <a:off x="713898" y="1720917"/>
            <a:ext cx="7716204" cy="1448795"/>
          </a:xfrm>
          <a:prstGeom prst="rect">
            <a:avLst/>
          </a:prstGeom>
          <a:noFill/>
        </p:spPr>
        <p:txBody>
          <a:bodyPr wrap="square" rtlCol="0">
            <a:spAutoFit/>
          </a:bodyPr>
          <a:lstStyle/>
          <a:p>
            <a:pPr lvl="1" algn="ctr" defTabSz="914400">
              <a:lnSpc>
                <a:spcPct val="150000"/>
              </a:lnSpc>
              <a:spcAft>
                <a:spcPts val="300"/>
              </a:spcAft>
            </a:pPr>
            <a:r>
              <a:rPr lang="en-US" sz="3000" kern="0" dirty="0">
                <a:solidFill>
                  <a:srgbClr val="000000"/>
                </a:solidFill>
                <a:latin typeface="Arial" panose="020B0604020202020204" pitchFamily="34" charset="0"/>
                <a:cs typeface="Arial" panose="020B0604020202020204" pitchFamily="34" charset="0"/>
              </a:rPr>
              <a:t>Semih </a:t>
            </a:r>
            <a:r>
              <a:rPr lang="en-US" sz="3000" kern="0" dirty="0" err="1">
                <a:solidFill>
                  <a:srgbClr val="000000"/>
                </a:solidFill>
                <a:latin typeface="Arial" panose="020B0604020202020204" pitchFamily="34" charset="0"/>
                <a:cs typeface="Arial" panose="020B0604020202020204" pitchFamily="34" charset="0"/>
              </a:rPr>
              <a:t>Salihoğlu</a:t>
            </a:r>
            <a:endParaRPr lang="en-US" sz="3000" kern="0" dirty="0">
              <a:solidFill>
                <a:srgbClr val="000000"/>
              </a:solidFill>
              <a:latin typeface="Arial" panose="020B0604020202020204" pitchFamily="34" charset="0"/>
              <a:cs typeface="Arial" panose="020B0604020202020204" pitchFamily="34" charset="0"/>
            </a:endParaRPr>
          </a:p>
          <a:p>
            <a:pPr lvl="1" algn="ctr" defTabSz="914400">
              <a:lnSpc>
                <a:spcPct val="150000"/>
              </a:lnSpc>
              <a:spcAft>
                <a:spcPts val="300"/>
              </a:spcAft>
            </a:pPr>
            <a:r>
              <a:rPr lang="en-US" sz="3000" kern="0" dirty="0">
                <a:solidFill>
                  <a:srgbClr val="000000"/>
                </a:solidFill>
                <a:latin typeface="Arial" panose="020B0604020202020204" pitchFamily="34" charset="0"/>
                <a:cs typeface="Arial" panose="020B0604020202020204" pitchFamily="34" charset="0"/>
              </a:rPr>
              <a:t>Jan 6</a:t>
            </a:r>
            <a:r>
              <a:rPr lang="en-US" sz="3000" kern="0" baseline="30000" dirty="0">
                <a:solidFill>
                  <a:srgbClr val="000000"/>
                </a:solidFill>
                <a:latin typeface="Arial" panose="020B0604020202020204" pitchFamily="34" charset="0"/>
                <a:cs typeface="Arial" panose="020B0604020202020204" pitchFamily="34" charset="0"/>
              </a:rPr>
              <a:t>th</a:t>
            </a:r>
            <a:r>
              <a:rPr lang="en-US" sz="3000" kern="0" dirty="0">
                <a:solidFill>
                  <a:srgbClr val="000000"/>
                </a:solidFill>
                <a:latin typeface="Arial" panose="020B0604020202020204" pitchFamily="34" charset="0"/>
                <a:cs typeface="Arial" panose="020B0604020202020204" pitchFamily="34" charset="0"/>
              </a:rPr>
              <a:t>, 2022</a:t>
            </a:r>
          </a:p>
        </p:txBody>
      </p:sp>
      <p:sp>
        <p:nvSpPr>
          <p:cNvPr id="6" name="Slide Number Placeholder 5"/>
          <p:cNvSpPr>
            <a:spLocks noGrp="1"/>
          </p:cNvSpPr>
          <p:nvPr>
            <p:ph type="sldNum" sz="quarter" idx="12"/>
          </p:nvPr>
        </p:nvSpPr>
        <p:spPr/>
        <p:txBody>
          <a:bodyPr/>
          <a:lstStyle/>
          <a:p>
            <a:fld id="{65CC13EC-677E-384F-B278-2939878C589F}" type="slidenum">
              <a:rPr lang="en-US" smtClean="0"/>
              <a:t>1</a:t>
            </a:fld>
            <a:endParaRPr lang="en-US"/>
          </a:p>
        </p:txBody>
      </p:sp>
      <p:pic>
        <p:nvPicPr>
          <p:cNvPr id="10" name="Picture 9">
            <a:extLst>
              <a:ext uri="{FF2B5EF4-FFF2-40B4-BE49-F238E27FC236}">
                <a16:creationId xmlns:a16="http://schemas.microsoft.com/office/drawing/2014/main" id="{73ACA9E7-4B07-304C-A86C-AE26580E187E}"/>
              </a:ext>
            </a:extLst>
          </p:cNvPr>
          <p:cNvPicPr>
            <a:picLocks noChangeAspect="1"/>
          </p:cNvPicPr>
          <p:nvPr/>
        </p:nvPicPr>
        <p:blipFill>
          <a:blip r:embed="rId3"/>
          <a:stretch>
            <a:fillRect/>
          </a:stretch>
        </p:blipFill>
        <p:spPr>
          <a:xfrm>
            <a:off x="1171679" y="4192713"/>
            <a:ext cx="6800643" cy="925344"/>
          </a:xfrm>
          <a:prstGeom prst="rect">
            <a:avLst/>
          </a:prstGeom>
        </p:spPr>
      </p:pic>
    </p:spTree>
    <p:extLst>
      <p:ext uri="{BB962C8B-B14F-4D97-AF65-F5344CB8AC3E}">
        <p14:creationId xmlns:p14="http://schemas.microsoft.com/office/powerpoint/2010/main" val="2359617584"/>
      </p:ext>
    </p:extLst>
  </p:cSld>
  <p:clrMapOvr>
    <a:masterClrMapping/>
  </p:clrMapOvr>
  <mc:AlternateContent xmlns:mc="http://schemas.openxmlformats.org/markup-compatibility/2006" xmlns:p14="http://schemas.microsoft.com/office/powerpoint/2010/main">
    <mc:Choice Requires="p14">
      <p:transition spd="slow" p14:dur="2000" advClick="0"/>
    </mc:Choice>
    <mc:Fallback xmlns="">
      <p:transition xmlns:p14="http://schemas.microsoft.com/office/powerpoint/2010/main" spd="slow"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p:cNvSpPr txBox="1"/>
          <p:nvPr/>
        </p:nvSpPr>
        <p:spPr>
          <a:xfrm>
            <a:off x="16079" y="64300"/>
            <a:ext cx="8629577"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Outline For Today</a:t>
            </a:r>
          </a:p>
        </p:txBody>
      </p:sp>
      <p:cxnSp>
        <p:nvCxnSpPr>
          <p:cNvPr id="64" name="Straight Connector 63"/>
          <p:cNvCxnSpPr/>
          <p:nvPr/>
        </p:nvCxnSpPr>
        <p:spPr>
          <a:xfrm>
            <a:off x="0" y="758856"/>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3452" y="773927"/>
            <a:ext cx="9060548" cy="2793842"/>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Overview of DBMSs: 3 Major Contributions of the Field</a:t>
            </a:r>
          </a:p>
          <a:p>
            <a:pPr marL="914400" lvl="1" indent="-457200">
              <a:lnSpc>
                <a:spcPct val="150000"/>
              </a:lnSpc>
              <a:buFont typeface="+mj-lt"/>
              <a:buAutoNum type="arabicPeriod"/>
            </a:pPr>
            <a:r>
              <a:rPr lang="en-US" sz="2400" dirty="0">
                <a:latin typeface="Arial" panose="020B0604020202020204" pitchFamily="34" charset="0"/>
                <a:cs typeface="Arial" panose="020B0604020202020204" pitchFamily="34" charset="0"/>
              </a:rPr>
              <a:t>Set of DBMS Features for Applications</a:t>
            </a:r>
          </a:p>
          <a:p>
            <a:pPr marL="914400" lvl="1" indent="-457200">
              <a:lnSpc>
                <a:spcPct val="150000"/>
              </a:lnSpc>
              <a:buFont typeface="+mj-lt"/>
              <a:buAutoNum type="arabicPeriod"/>
            </a:pPr>
            <a:r>
              <a:rPr lang="en-US" sz="2400" dirty="0">
                <a:latin typeface="Arial" panose="020B0604020202020204" pitchFamily="34" charset="0"/>
                <a:cs typeface="Arial" panose="020B0604020202020204" pitchFamily="34" charset="0"/>
              </a:rPr>
              <a:t>Physical Data Independence/High-level Query Languages</a:t>
            </a:r>
          </a:p>
          <a:p>
            <a:pPr marL="914400" lvl="1" indent="-457200">
              <a:lnSpc>
                <a:spcPct val="150000"/>
              </a:lnSpc>
              <a:buFont typeface="+mj-lt"/>
              <a:buAutoNum type="arabicPeriod"/>
            </a:pPr>
            <a:r>
              <a:rPr lang="en-US" sz="2400" dirty="0">
                <a:latin typeface="Arial" panose="020B0604020202020204" pitchFamily="34" charset="0"/>
                <a:cs typeface="Arial" panose="020B0604020202020204" pitchFamily="34" charset="0"/>
              </a:rPr>
              <a:t>Transactions</a:t>
            </a:r>
          </a:p>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Course Diagram &amp; Administrative Information</a:t>
            </a:r>
          </a:p>
        </p:txBody>
      </p:sp>
      <p:sp>
        <p:nvSpPr>
          <p:cNvPr id="2" name="Slide Number Placeholder 1"/>
          <p:cNvSpPr>
            <a:spLocks noGrp="1"/>
          </p:cNvSpPr>
          <p:nvPr>
            <p:ph type="sldNum" sz="quarter" idx="12"/>
          </p:nvPr>
        </p:nvSpPr>
        <p:spPr/>
        <p:txBody>
          <a:bodyPr/>
          <a:lstStyle/>
          <a:p>
            <a:fld id="{AFAD4509-1FB2-2540-A246-CEF93BA68631}" type="slidenum">
              <a:rPr lang="en-US" smtClean="0"/>
              <a:t>2</a:t>
            </a:fld>
            <a:endParaRPr lang="en-US"/>
          </a:p>
        </p:txBody>
      </p:sp>
    </p:spTree>
    <p:extLst>
      <p:ext uri="{BB962C8B-B14F-4D97-AF65-F5344CB8AC3E}">
        <p14:creationId xmlns:p14="http://schemas.microsoft.com/office/powerpoint/2010/main" val="366158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p:cNvSpPr txBox="1"/>
          <p:nvPr/>
        </p:nvSpPr>
        <p:spPr>
          <a:xfrm>
            <a:off x="16079" y="64300"/>
            <a:ext cx="8629577"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Outline For Today</a:t>
            </a:r>
          </a:p>
        </p:txBody>
      </p:sp>
      <p:cxnSp>
        <p:nvCxnSpPr>
          <p:cNvPr id="64" name="Straight Connector 63"/>
          <p:cNvCxnSpPr/>
          <p:nvPr/>
        </p:nvCxnSpPr>
        <p:spPr>
          <a:xfrm>
            <a:off x="0" y="758856"/>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3452" y="773927"/>
            <a:ext cx="9060548" cy="2793842"/>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Overview of DBMSs: 3 Major Contributions of the Field</a:t>
            </a:r>
          </a:p>
          <a:p>
            <a:pPr marL="914400" lvl="1" indent="-457200">
              <a:lnSpc>
                <a:spcPct val="150000"/>
              </a:lnSpc>
              <a:buFont typeface="+mj-lt"/>
              <a:buAutoNum type="arabicPeriod"/>
            </a:pPr>
            <a:r>
              <a:rPr lang="en-US" sz="2400" dirty="0">
                <a:latin typeface="Arial" panose="020B0604020202020204" pitchFamily="34" charset="0"/>
                <a:cs typeface="Arial" panose="020B0604020202020204" pitchFamily="34" charset="0"/>
              </a:rPr>
              <a:t>Set of DBMS Features for Applications</a:t>
            </a:r>
          </a:p>
          <a:p>
            <a:pPr marL="914400" lvl="1" indent="-457200">
              <a:lnSpc>
                <a:spcPct val="150000"/>
              </a:lnSpc>
              <a:buFont typeface="+mj-lt"/>
              <a:buAutoNum type="arabicPeriod"/>
            </a:pPr>
            <a:r>
              <a:rPr lang="en-US" sz="2400" dirty="0">
                <a:latin typeface="Arial" panose="020B0604020202020204" pitchFamily="34" charset="0"/>
                <a:cs typeface="Arial" panose="020B0604020202020204" pitchFamily="34" charset="0"/>
              </a:rPr>
              <a:t>Physical Data Independence/High-level Query Languages</a:t>
            </a:r>
          </a:p>
          <a:p>
            <a:pPr marL="914400" lvl="1" indent="-457200">
              <a:lnSpc>
                <a:spcPct val="150000"/>
              </a:lnSpc>
              <a:buFont typeface="+mj-lt"/>
              <a:buAutoNum type="arabicPeriod"/>
            </a:pPr>
            <a:r>
              <a:rPr lang="en-US" sz="2400" dirty="0">
                <a:latin typeface="Arial" panose="020B0604020202020204" pitchFamily="34" charset="0"/>
                <a:cs typeface="Arial" panose="020B0604020202020204" pitchFamily="34" charset="0"/>
              </a:rPr>
              <a:t>Transactions</a:t>
            </a:r>
          </a:p>
          <a:p>
            <a:pPr marL="457200" indent="-457200">
              <a:lnSpc>
                <a:spcPct val="150000"/>
              </a:lnSpc>
              <a:buFont typeface="+mj-lt"/>
              <a:buAutoNum type="arabicPeriod"/>
            </a:pPr>
            <a:r>
              <a:rPr lang="en-US" sz="2400" dirty="0">
                <a:solidFill>
                  <a:schemeClr val="bg1">
                    <a:lumMod val="65000"/>
                  </a:schemeClr>
                </a:solidFill>
                <a:latin typeface="Arial" panose="020B0604020202020204" pitchFamily="34" charset="0"/>
                <a:cs typeface="Arial" panose="020B0604020202020204" pitchFamily="34" charset="0"/>
              </a:rPr>
              <a:t>Course Diagram &amp; Administrative Information</a:t>
            </a:r>
          </a:p>
        </p:txBody>
      </p:sp>
      <p:sp>
        <p:nvSpPr>
          <p:cNvPr id="2" name="Slide Number Placeholder 1"/>
          <p:cNvSpPr>
            <a:spLocks noGrp="1"/>
          </p:cNvSpPr>
          <p:nvPr>
            <p:ph type="sldNum" sz="quarter" idx="12"/>
          </p:nvPr>
        </p:nvSpPr>
        <p:spPr/>
        <p:txBody>
          <a:bodyPr/>
          <a:lstStyle/>
          <a:p>
            <a:fld id="{AFAD4509-1FB2-2540-A246-CEF93BA68631}" type="slidenum">
              <a:rPr lang="en-US" smtClean="0"/>
              <a:t>3</a:t>
            </a:fld>
            <a:endParaRPr lang="en-US"/>
          </a:p>
        </p:txBody>
      </p:sp>
    </p:spTree>
    <p:extLst>
      <p:ext uri="{BB962C8B-B14F-4D97-AF65-F5344CB8AC3E}">
        <p14:creationId xmlns:p14="http://schemas.microsoft.com/office/powerpoint/2010/main" val="24301684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p:cNvSpPr txBox="1"/>
          <p:nvPr/>
        </p:nvSpPr>
        <p:spPr>
          <a:xfrm>
            <a:off x="16079" y="64300"/>
            <a:ext cx="9127921" cy="553998"/>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What is a Database Management System (DBMS)?</a:t>
            </a:r>
          </a:p>
        </p:txBody>
      </p:sp>
      <p:cxnSp>
        <p:nvCxnSpPr>
          <p:cNvPr id="64" name="Straight Connector 63"/>
          <p:cNvCxnSpPr/>
          <p:nvPr/>
        </p:nvCxnSpPr>
        <p:spPr>
          <a:xfrm>
            <a:off x="0" y="758856"/>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2" name="Slide Number Placeholder 1"/>
          <p:cNvSpPr>
            <a:spLocks noGrp="1"/>
          </p:cNvSpPr>
          <p:nvPr>
            <p:ph type="sldNum" sz="quarter" idx="12"/>
          </p:nvPr>
        </p:nvSpPr>
        <p:spPr/>
        <p:txBody>
          <a:bodyPr/>
          <a:lstStyle/>
          <a:p>
            <a:fld id="{AFAD4509-1FB2-2540-A246-CEF93BA68631}" type="slidenum">
              <a:rPr lang="en-US" smtClean="0"/>
              <a:t>4</a:t>
            </a:fld>
            <a:endParaRPr lang="en-US"/>
          </a:p>
        </p:txBody>
      </p:sp>
      <p:grpSp>
        <p:nvGrpSpPr>
          <p:cNvPr id="6" name="Group 5">
            <a:extLst>
              <a:ext uri="{FF2B5EF4-FFF2-40B4-BE49-F238E27FC236}">
                <a16:creationId xmlns:a16="http://schemas.microsoft.com/office/drawing/2014/main" id="{A6369745-119F-5F43-B4F3-24ED749948E7}"/>
              </a:ext>
            </a:extLst>
          </p:cNvPr>
          <p:cNvGrpSpPr>
            <a:grpSpLocks/>
          </p:cNvGrpSpPr>
          <p:nvPr/>
        </p:nvGrpSpPr>
        <p:grpSpPr bwMode="auto">
          <a:xfrm>
            <a:off x="2905433" y="2790838"/>
            <a:ext cx="2819400" cy="990600"/>
            <a:chOff x="2016" y="1584"/>
            <a:chExt cx="1776" cy="624"/>
          </a:xfrm>
        </p:grpSpPr>
        <p:sp>
          <p:nvSpPr>
            <p:cNvPr id="7" name="AutoShape 5">
              <a:extLst>
                <a:ext uri="{FF2B5EF4-FFF2-40B4-BE49-F238E27FC236}">
                  <a16:creationId xmlns:a16="http://schemas.microsoft.com/office/drawing/2014/main" id="{0700E069-5D55-6445-931F-855B17FC7413}"/>
                </a:ext>
              </a:extLst>
            </p:cNvPr>
            <p:cNvSpPr>
              <a:spLocks noChangeArrowheads="1"/>
            </p:cNvSpPr>
            <p:nvPr/>
          </p:nvSpPr>
          <p:spPr bwMode="auto">
            <a:xfrm>
              <a:off x="2016" y="1584"/>
              <a:ext cx="1776" cy="624"/>
            </a:xfrm>
            <a:prstGeom prst="cube">
              <a:avLst>
                <a:gd name="adj" fmla="val 21667"/>
              </a:avLst>
            </a:prstGeom>
            <a:noFill/>
            <a:ln w="381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8" name="Text Box 6">
              <a:extLst>
                <a:ext uri="{FF2B5EF4-FFF2-40B4-BE49-F238E27FC236}">
                  <a16:creationId xmlns:a16="http://schemas.microsoft.com/office/drawing/2014/main" id="{028C538D-A490-4F49-80B8-02A1168BBA81}"/>
                </a:ext>
              </a:extLst>
            </p:cNvPr>
            <p:cNvSpPr txBox="1">
              <a:spLocks noChangeArrowheads="1"/>
            </p:cNvSpPr>
            <p:nvPr/>
          </p:nvSpPr>
          <p:spPr bwMode="auto">
            <a:xfrm>
              <a:off x="2544" y="1827"/>
              <a:ext cx="618" cy="288"/>
            </a:xfrm>
            <a:prstGeom prst="rect">
              <a:avLst/>
            </a:prstGeom>
            <a:noFill/>
            <a:ln w="38100">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kumimoji="1" sz="2400">
                  <a:solidFill>
                    <a:schemeClr val="tx1"/>
                  </a:solidFill>
                  <a:latin typeface="AmeriGarmnd BT" pitchFamily="18" charset="0"/>
                </a:defRPr>
              </a:lvl1pPr>
              <a:lvl2pPr marL="742950" indent="-285750">
                <a:defRPr kumimoji="1" sz="2400">
                  <a:solidFill>
                    <a:schemeClr val="tx1"/>
                  </a:solidFill>
                  <a:latin typeface="AmeriGarmnd BT" pitchFamily="18" charset="0"/>
                </a:defRPr>
              </a:lvl2pPr>
              <a:lvl3pPr marL="1143000" indent="-228600">
                <a:defRPr kumimoji="1" sz="2400">
                  <a:solidFill>
                    <a:schemeClr val="tx1"/>
                  </a:solidFill>
                  <a:latin typeface="AmeriGarmnd BT" pitchFamily="18" charset="0"/>
                </a:defRPr>
              </a:lvl3pPr>
              <a:lvl4pPr marL="1600200" indent="-228600">
                <a:defRPr kumimoji="1" sz="2400">
                  <a:solidFill>
                    <a:schemeClr val="tx1"/>
                  </a:solidFill>
                  <a:latin typeface="AmeriGarmnd BT" pitchFamily="18" charset="0"/>
                </a:defRPr>
              </a:lvl4pPr>
              <a:lvl5pPr marL="2057400" indent="-228600">
                <a:defRPr kumimoji="1" sz="2400">
                  <a:solidFill>
                    <a:schemeClr val="tx1"/>
                  </a:solidFill>
                  <a:latin typeface="AmeriGarmnd BT" pitchFamily="18" charset="0"/>
                </a:defRPr>
              </a:lvl5pPr>
              <a:lvl6pPr marL="25146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6pPr>
              <a:lvl7pPr marL="29718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7pPr>
              <a:lvl8pPr marL="34290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8pPr>
              <a:lvl9pPr marL="38862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9pPr>
            </a:lstStyle>
            <a:p>
              <a:pPr>
                <a:spcBef>
                  <a:spcPct val="0"/>
                </a:spcBef>
                <a:buFontTx/>
                <a:buNone/>
              </a:pPr>
              <a:r>
                <a:rPr kumimoji="0" lang="en-US">
                  <a:latin typeface="+mn-lt"/>
                </a:rPr>
                <a:t>DBMS</a:t>
              </a:r>
            </a:p>
          </p:txBody>
        </p:sp>
      </p:grpSp>
      <p:sp>
        <p:nvSpPr>
          <p:cNvPr id="9" name="Rectangle 11">
            <a:extLst>
              <a:ext uri="{FF2B5EF4-FFF2-40B4-BE49-F238E27FC236}">
                <a16:creationId xmlns:a16="http://schemas.microsoft.com/office/drawing/2014/main" id="{6AC8DAC6-3715-CD4F-8100-D66F54B1A45B}"/>
              </a:ext>
            </a:extLst>
          </p:cNvPr>
          <p:cNvSpPr>
            <a:spLocks noChangeArrowheads="1"/>
          </p:cNvSpPr>
          <p:nvPr/>
        </p:nvSpPr>
        <p:spPr bwMode="auto">
          <a:xfrm>
            <a:off x="2905433" y="1800238"/>
            <a:ext cx="2819400" cy="533400"/>
          </a:xfrm>
          <a:prstGeom prst="rect">
            <a:avLst/>
          </a:prstGeom>
          <a:noFill/>
          <a:ln w="381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 name="Text Box 12">
            <a:extLst>
              <a:ext uri="{FF2B5EF4-FFF2-40B4-BE49-F238E27FC236}">
                <a16:creationId xmlns:a16="http://schemas.microsoft.com/office/drawing/2014/main" id="{5565B75B-1A9D-984F-AAE9-6109BFA9E878}"/>
              </a:ext>
            </a:extLst>
          </p:cNvPr>
          <p:cNvSpPr txBox="1">
            <a:spLocks noChangeArrowheads="1"/>
          </p:cNvSpPr>
          <p:nvPr/>
        </p:nvSpPr>
        <p:spPr bwMode="auto">
          <a:xfrm>
            <a:off x="3438833" y="1805001"/>
            <a:ext cx="17892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AmeriGarmnd BT" pitchFamily="18" charset="0"/>
              </a:defRPr>
            </a:lvl1pPr>
            <a:lvl2pPr marL="742950" indent="-285750">
              <a:defRPr kumimoji="1" sz="2400">
                <a:solidFill>
                  <a:schemeClr val="tx1"/>
                </a:solidFill>
                <a:latin typeface="AmeriGarmnd BT" pitchFamily="18" charset="0"/>
              </a:defRPr>
            </a:lvl2pPr>
            <a:lvl3pPr marL="1143000" indent="-228600">
              <a:defRPr kumimoji="1" sz="2400">
                <a:solidFill>
                  <a:schemeClr val="tx1"/>
                </a:solidFill>
                <a:latin typeface="AmeriGarmnd BT" pitchFamily="18" charset="0"/>
              </a:defRPr>
            </a:lvl3pPr>
            <a:lvl4pPr marL="1600200" indent="-228600">
              <a:defRPr kumimoji="1" sz="2400">
                <a:solidFill>
                  <a:schemeClr val="tx1"/>
                </a:solidFill>
                <a:latin typeface="AmeriGarmnd BT" pitchFamily="18" charset="0"/>
              </a:defRPr>
            </a:lvl4pPr>
            <a:lvl5pPr marL="2057400" indent="-228600">
              <a:defRPr kumimoji="1" sz="2400">
                <a:solidFill>
                  <a:schemeClr val="tx1"/>
                </a:solidFill>
                <a:latin typeface="AmeriGarmnd BT" pitchFamily="18" charset="0"/>
              </a:defRPr>
            </a:lvl5pPr>
            <a:lvl6pPr marL="25146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6pPr>
            <a:lvl7pPr marL="29718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7pPr>
            <a:lvl8pPr marL="34290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8pPr>
            <a:lvl9pPr marL="38862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9pPr>
          </a:lstStyle>
          <a:p>
            <a:pPr>
              <a:spcBef>
                <a:spcPct val="0"/>
              </a:spcBef>
              <a:buFontTx/>
              <a:buNone/>
            </a:pPr>
            <a:r>
              <a:rPr kumimoji="0" lang="en-US" dirty="0">
                <a:latin typeface="+mn-lt"/>
              </a:rPr>
              <a:t>Applications</a:t>
            </a:r>
          </a:p>
        </p:txBody>
      </p:sp>
      <p:sp>
        <p:nvSpPr>
          <p:cNvPr id="11" name="Line 13">
            <a:extLst>
              <a:ext uri="{FF2B5EF4-FFF2-40B4-BE49-F238E27FC236}">
                <a16:creationId xmlns:a16="http://schemas.microsoft.com/office/drawing/2014/main" id="{644458F9-55DD-6C4A-907E-24B9F8021467}"/>
              </a:ext>
            </a:extLst>
          </p:cNvPr>
          <p:cNvSpPr>
            <a:spLocks noChangeShapeType="1"/>
          </p:cNvSpPr>
          <p:nvPr/>
        </p:nvSpPr>
        <p:spPr bwMode="auto">
          <a:xfrm>
            <a:off x="4429433" y="2333638"/>
            <a:ext cx="0" cy="533400"/>
          </a:xfrm>
          <a:prstGeom prst="line">
            <a:avLst/>
          </a:prstGeom>
          <a:noFill/>
          <a:ln w="38100">
            <a:solidFill>
              <a:schemeClr val="tx1"/>
            </a:solidFill>
            <a:round/>
            <a:headEnd type="stealth" w="sm" len="med"/>
            <a:tailEnd type="none" w="sm" len="med"/>
          </a:ln>
          <a:extLst>
            <a:ext uri="{909E8E84-426E-40DD-AFC4-6F175D3DCCD1}">
              <a14:hiddenFill xmlns:a14="http://schemas.microsoft.com/office/drawing/2010/main">
                <a:noFill/>
              </a14:hiddenFill>
            </a:ext>
          </a:extLst>
        </p:spPr>
        <p:txBody>
          <a:bodyPr wrap="none" anchor="ctr"/>
          <a:lstStyle/>
          <a:p>
            <a:endParaRPr lang="en-US"/>
          </a:p>
        </p:txBody>
      </p:sp>
      <p:sp>
        <p:nvSpPr>
          <p:cNvPr id="12" name="AutoShape 15">
            <a:extLst>
              <a:ext uri="{FF2B5EF4-FFF2-40B4-BE49-F238E27FC236}">
                <a16:creationId xmlns:a16="http://schemas.microsoft.com/office/drawing/2014/main" id="{E51650A4-D233-8247-AD24-8E5EC77C1AA8}"/>
              </a:ext>
            </a:extLst>
          </p:cNvPr>
          <p:cNvSpPr>
            <a:spLocks noChangeArrowheads="1"/>
          </p:cNvSpPr>
          <p:nvPr/>
        </p:nvSpPr>
        <p:spPr bwMode="auto">
          <a:xfrm>
            <a:off x="2905433" y="4010038"/>
            <a:ext cx="2819400" cy="457200"/>
          </a:xfrm>
          <a:prstGeom prst="cube">
            <a:avLst>
              <a:gd name="adj" fmla="val 37153"/>
            </a:avLst>
          </a:prstGeom>
          <a:noFill/>
          <a:ln w="38100">
            <a:solidFill>
              <a:schemeClr val="tx1"/>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3" name="Text Box 16">
            <a:extLst>
              <a:ext uri="{FF2B5EF4-FFF2-40B4-BE49-F238E27FC236}">
                <a16:creationId xmlns:a16="http://schemas.microsoft.com/office/drawing/2014/main" id="{6E356A56-91B6-4542-8DB5-3F5D8B90C548}"/>
              </a:ext>
            </a:extLst>
          </p:cNvPr>
          <p:cNvSpPr txBox="1">
            <a:spLocks noChangeArrowheads="1"/>
          </p:cNvSpPr>
          <p:nvPr/>
        </p:nvSpPr>
        <p:spPr bwMode="auto">
          <a:xfrm>
            <a:off x="3972233" y="4091001"/>
            <a:ext cx="55496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type="none" w="sm" len="sm"/>
                <a:tailEnd type="none" w="sm" len="sm"/>
              </a14:hiddenLine>
            </a:ext>
          </a:extLst>
        </p:spPr>
        <p:txBody>
          <a:bodyPr wrap="none">
            <a:spAutoFit/>
          </a:bodyPr>
          <a:lstStyle>
            <a:lvl1pPr>
              <a:defRPr kumimoji="1" sz="2400">
                <a:solidFill>
                  <a:schemeClr val="tx1"/>
                </a:solidFill>
                <a:latin typeface="AmeriGarmnd BT" pitchFamily="18" charset="0"/>
              </a:defRPr>
            </a:lvl1pPr>
            <a:lvl2pPr marL="742950" indent="-285750">
              <a:defRPr kumimoji="1" sz="2400">
                <a:solidFill>
                  <a:schemeClr val="tx1"/>
                </a:solidFill>
                <a:latin typeface="AmeriGarmnd BT" pitchFamily="18" charset="0"/>
              </a:defRPr>
            </a:lvl2pPr>
            <a:lvl3pPr marL="1143000" indent="-228600">
              <a:defRPr kumimoji="1" sz="2400">
                <a:solidFill>
                  <a:schemeClr val="tx1"/>
                </a:solidFill>
                <a:latin typeface="AmeriGarmnd BT" pitchFamily="18" charset="0"/>
              </a:defRPr>
            </a:lvl3pPr>
            <a:lvl4pPr marL="1600200" indent="-228600">
              <a:defRPr kumimoji="1" sz="2400">
                <a:solidFill>
                  <a:schemeClr val="tx1"/>
                </a:solidFill>
                <a:latin typeface="AmeriGarmnd BT" pitchFamily="18" charset="0"/>
              </a:defRPr>
            </a:lvl4pPr>
            <a:lvl5pPr marL="2057400" indent="-228600">
              <a:defRPr kumimoji="1" sz="2400">
                <a:solidFill>
                  <a:schemeClr val="tx1"/>
                </a:solidFill>
                <a:latin typeface="AmeriGarmnd BT" pitchFamily="18" charset="0"/>
              </a:defRPr>
            </a:lvl5pPr>
            <a:lvl6pPr marL="25146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6pPr>
            <a:lvl7pPr marL="29718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7pPr>
            <a:lvl8pPr marL="34290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8pPr>
            <a:lvl9pPr marL="38862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9pPr>
          </a:lstStyle>
          <a:p>
            <a:pPr>
              <a:spcBef>
                <a:spcPct val="0"/>
              </a:spcBef>
              <a:buFontTx/>
              <a:buNone/>
            </a:pPr>
            <a:r>
              <a:rPr kumimoji="0" lang="en-US">
                <a:latin typeface="+mn-lt"/>
              </a:rPr>
              <a:t>OS</a:t>
            </a:r>
          </a:p>
        </p:txBody>
      </p:sp>
      <p:sp>
        <p:nvSpPr>
          <p:cNvPr id="14" name="Line 17">
            <a:extLst>
              <a:ext uri="{FF2B5EF4-FFF2-40B4-BE49-F238E27FC236}">
                <a16:creationId xmlns:a16="http://schemas.microsoft.com/office/drawing/2014/main" id="{4969744C-256F-7140-A1CF-4778A5323CA1}"/>
              </a:ext>
            </a:extLst>
          </p:cNvPr>
          <p:cNvSpPr>
            <a:spLocks noChangeShapeType="1"/>
          </p:cNvSpPr>
          <p:nvPr/>
        </p:nvSpPr>
        <p:spPr bwMode="auto">
          <a:xfrm>
            <a:off x="4277033" y="3781438"/>
            <a:ext cx="0" cy="304800"/>
          </a:xfrm>
          <a:prstGeom prst="line">
            <a:avLst/>
          </a:prstGeom>
          <a:noFill/>
          <a:ln w="38100">
            <a:solidFill>
              <a:schemeClr val="tx1"/>
            </a:solidFill>
            <a:round/>
            <a:headEnd type="stealth" w="sm" len="med"/>
            <a:tailEnd type="stealth" w="sm" len="med"/>
          </a:ln>
          <a:extLst>
            <a:ext uri="{909E8E84-426E-40DD-AFC4-6F175D3DCCD1}">
              <a14:hiddenFill xmlns:a14="http://schemas.microsoft.com/office/drawing/2010/main">
                <a:noFill/>
              </a14:hiddenFill>
            </a:ext>
          </a:extLst>
        </p:spPr>
        <p:txBody>
          <a:bodyPr wrap="none" anchor="ctr"/>
          <a:lstStyle/>
          <a:p>
            <a:endParaRPr lang="en-US"/>
          </a:p>
        </p:txBody>
      </p:sp>
      <p:sp>
        <p:nvSpPr>
          <p:cNvPr id="15" name="Line 18">
            <a:extLst>
              <a:ext uri="{FF2B5EF4-FFF2-40B4-BE49-F238E27FC236}">
                <a16:creationId xmlns:a16="http://schemas.microsoft.com/office/drawing/2014/main" id="{63D055D9-9C1B-8947-924C-9E7B76B0A0C9}"/>
              </a:ext>
            </a:extLst>
          </p:cNvPr>
          <p:cNvSpPr>
            <a:spLocks noChangeShapeType="1"/>
          </p:cNvSpPr>
          <p:nvPr/>
        </p:nvSpPr>
        <p:spPr bwMode="auto">
          <a:xfrm>
            <a:off x="4277033" y="4467238"/>
            <a:ext cx="0" cy="304800"/>
          </a:xfrm>
          <a:prstGeom prst="line">
            <a:avLst/>
          </a:prstGeom>
          <a:noFill/>
          <a:ln w="38100">
            <a:solidFill>
              <a:schemeClr val="tx1"/>
            </a:solidFill>
            <a:round/>
            <a:headEnd type="stealth" w="sm" len="med"/>
            <a:tailEnd type="stealth" w="sm" len="med"/>
          </a:ln>
          <a:extLst>
            <a:ext uri="{909E8E84-426E-40DD-AFC4-6F175D3DCCD1}">
              <a14:hiddenFill xmlns:a14="http://schemas.microsoft.com/office/drawing/2010/main">
                <a:noFill/>
              </a14:hiddenFill>
            </a:ext>
          </a:extLst>
        </p:spPr>
        <p:txBody>
          <a:bodyPr wrap="none" anchor="ctr"/>
          <a:lstStyle/>
          <a:p>
            <a:endParaRPr lang="en-US"/>
          </a:p>
        </p:txBody>
      </p:sp>
      <p:sp>
        <p:nvSpPr>
          <p:cNvPr id="17" name="Text Box 20">
            <a:extLst>
              <a:ext uri="{FF2B5EF4-FFF2-40B4-BE49-F238E27FC236}">
                <a16:creationId xmlns:a16="http://schemas.microsoft.com/office/drawing/2014/main" id="{14F13AB1-8A1C-3B48-82A6-8984A82CD531}"/>
              </a:ext>
            </a:extLst>
          </p:cNvPr>
          <p:cNvSpPr txBox="1">
            <a:spLocks noChangeArrowheads="1"/>
          </p:cNvSpPr>
          <p:nvPr/>
        </p:nvSpPr>
        <p:spPr bwMode="auto">
          <a:xfrm>
            <a:off x="1228177" y="2333637"/>
            <a:ext cx="294503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AmeriGarmnd BT" pitchFamily="18" charset="0"/>
              </a:defRPr>
            </a:lvl1pPr>
            <a:lvl2pPr marL="742950" indent="-285750">
              <a:defRPr kumimoji="1" sz="2400">
                <a:solidFill>
                  <a:schemeClr val="tx1"/>
                </a:solidFill>
                <a:latin typeface="AmeriGarmnd BT" pitchFamily="18" charset="0"/>
              </a:defRPr>
            </a:lvl2pPr>
            <a:lvl3pPr marL="1143000" indent="-228600">
              <a:defRPr kumimoji="1" sz="2400">
                <a:solidFill>
                  <a:schemeClr val="tx1"/>
                </a:solidFill>
                <a:latin typeface="AmeriGarmnd BT" pitchFamily="18" charset="0"/>
              </a:defRPr>
            </a:lvl3pPr>
            <a:lvl4pPr marL="1600200" indent="-228600">
              <a:defRPr kumimoji="1" sz="2400">
                <a:solidFill>
                  <a:schemeClr val="tx1"/>
                </a:solidFill>
                <a:latin typeface="AmeriGarmnd BT" pitchFamily="18" charset="0"/>
              </a:defRPr>
            </a:lvl4pPr>
            <a:lvl5pPr marL="2057400" indent="-228600">
              <a:defRPr kumimoji="1" sz="2400">
                <a:solidFill>
                  <a:schemeClr val="tx1"/>
                </a:solidFill>
                <a:latin typeface="AmeriGarmnd BT" pitchFamily="18" charset="0"/>
              </a:defRPr>
            </a:lvl5pPr>
            <a:lvl6pPr marL="25146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6pPr>
            <a:lvl7pPr marL="29718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7pPr>
            <a:lvl8pPr marL="34290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8pPr>
            <a:lvl9pPr marL="38862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9pPr>
          </a:lstStyle>
          <a:p>
            <a:pPr>
              <a:buFont typeface="Wingdings" pitchFamily="2" charset="2"/>
              <a:buNone/>
            </a:pPr>
            <a:r>
              <a:rPr lang="en-US" i="1" dirty="0">
                <a:latin typeface="+mn-lt"/>
              </a:rPr>
              <a:t>Queries/modifications</a:t>
            </a:r>
          </a:p>
        </p:txBody>
      </p:sp>
      <p:sp>
        <p:nvSpPr>
          <p:cNvPr id="18" name="Text Box 21">
            <a:extLst>
              <a:ext uri="{FF2B5EF4-FFF2-40B4-BE49-F238E27FC236}">
                <a16:creationId xmlns:a16="http://schemas.microsoft.com/office/drawing/2014/main" id="{74A3492E-828A-444C-ADD6-BB5659B12C9C}"/>
              </a:ext>
            </a:extLst>
          </p:cNvPr>
          <p:cNvSpPr txBox="1">
            <a:spLocks noChangeArrowheads="1"/>
          </p:cNvSpPr>
          <p:nvPr/>
        </p:nvSpPr>
        <p:spPr bwMode="auto">
          <a:xfrm>
            <a:off x="4429433" y="2333638"/>
            <a:ext cx="259237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AmeriGarmnd BT" pitchFamily="18" charset="0"/>
              </a:defRPr>
            </a:lvl1pPr>
            <a:lvl2pPr marL="742950" indent="-285750">
              <a:defRPr kumimoji="1" sz="2400">
                <a:solidFill>
                  <a:schemeClr val="tx1"/>
                </a:solidFill>
                <a:latin typeface="AmeriGarmnd BT" pitchFamily="18" charset="0"/>
              </a:defRPr>
            </a:lvl2pPr>
            <a:lvl3pPr marL="1143000" indent="-228600">
              <a:defRPr kumimoji="1" sz="2400">
                <a:solidFill>
                  <a:schemeClr val="tx1"/>
                </a:solidFill>
                <a:latin typeface="AmeriGarmnd BT" pitchFamily="18" charset="0"/>
              </a:defRPr>
            </a:lvl3pPr>
            <a:lvl4pPr marL="1600200" indent="-228600">
              <a:defRPr kumimoji="1" sz="2400">
                <a:solidFill>
                  <a:schemeClr val="tx1"/>
                </a:solidFill>
                <a:latin typeface="AmeriGarmnd BT" pitchFamily="18" charset="0"/>
              </a:defRPr>
            </a:lvl4pPr>
            <a:lvl5pPr marL="2057400" indent="-228600">
              <a:defRPr kumimoji="1" sz="2400">
                <a:solidFill>
                  <a:schemeClr val="tx1"/>
                </a:solidFill>
                <a:latin typeface="AmeriGarmnd BT" pitchFamily="18" charset="0"/>
              </a:defRPr>
            </a:lvl5pPr>
            <a:lvl6pPr marL="25146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6pPr>
            <a:lvl7pPr marL="29718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7pPr>
            <a:lvl8pPr marL="34290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8pPr>
            <a:lvl9pPr marL="38862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9pPr>
          </a:lstStyle>
          <a:p>
            <a:pPr>
              <a:buFont typeface="Wingdings" pitchFamily="2" charset="2"/>
              <a:buNone/>
            </a:pPr>
            <a:r>
              <a:rPr lang="en-US" i="1" dirty="0">
                <a:latin typeface="+mn-lt"/>
              </a:rPr>
              <a:t>Answers/responses</a:t>
            </a:r>
          </a:p>
        </p:txBody>
      </p:sp>
      <p:sp>
        <p:nvSpPr>
          <p:cNvPr id="19" name="Line 22">
            <a:extLst>
              <a:ext uri="{FF2B5EF4-FFF2-40B4-BE49-F238E27FC236}">
                <a16:creationId xmlns:a16="http://schemas.microsoft.com/office/drawing/2014/main" id="{0EFF0FC8-89CE-144A-8866-A03102F49439}"/>
              </a:ext>
            </a:extLst>
          </p:cNvPr>
          <p:cNvSpPr>
            <a:spLocks noChangeShapeType="1"/>
          </p:cNvSpPr>
          <p:nvPr/>
        </p:nvSpPr>
        <p:spPr bwMode="auto">
          <a:xfrm>
            <a:off x="4124633" y="2333638"/>
            <a:ext cx="0" cy="533400"/>
          </a:xfrm>
          <a:prstGeom prst="line">
            <a:avLst/>
          </a:prstGeom>
          <a:noFill/>
          <a:ln w="38100">
            <a:solidFill>
              <a:schemeClr val="tx1"/>
            </a:solidFill>
            <a:round/>
            <a:headEnd type="none" w="sm" len="med"/>
            <a:tailEnd type="stealth" w="sm" len="med"/>
          </a:ln>
          <a:extLst>
            <a:ext uri="{909E8E84-426E-40DD-AFC4-6F175D3DCCD1}">
              <a14:hiddenFill xmlns:a14="http://schemas.microsoft.com/office/drawing/2010/main">
                <a:noFill/>
              </a14:hiddenFill>
            </a:ext>
          </a:extLst>
        </p:spPr>
        <p:txBody>
          <a:bodyPr wrap="none" anchor="ctr"/>
          <a:lstStyle/>
          <a:p>
            <a:endParaRPr lang="en-US"/>
          </a:p>
        </p:txBody>
      </p:sp>
      <p:sp>
        <p:nvSpPr>
          <p:cNvPr id="20" name="Text Box 24">
            <a:extLst>
              <a:ext uri="{FF2B5EF4-FFF2-40B4-BE49-F238E27FC236}">
                <a16:creationId xmlns:a16="http://schemas.microsoft.com/office/drawing/2014/main" id="{478E5B44-B268-474E-8BD4-BCDE97D5CEBD}"/>
              </a:ext>
            </a:extLst>
          </p:cNvPr>
          <p:cNvSpPr txBox="1">
            <a:spLocks noChangeArrowheads="1"/>
          </p:cNvSpPr>
          <p:nvPr/>
        </p:nvSpPr>
        <p:spPr bwMode="auto">
          <a:xfrm>
            <a:off x="4340533" y="3687776"/>
            <a:ext cx="232050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AmeriGarmnd BT" pitchFamily="18" charset="0"/>
              </a:defRPr>
            </a:lvl1pPr>
            <a:lvl2pPr marL="742950" indent="-285750">
              <a:defRPr kumimoji="1" sz="2400">
                <a:solidFill>
                  <a:schemeClr val="tx1"/>
                </a:solidFill>
                <a:latin typeface="AmeriGarmnd BT" pitchFamily="18" charset="0"/>
              </a:defRPr>
            </a:lvl2pPr>
            <a:lvl3pPr marL="1143000" indent="-228600">
              <a:defRPr kumimoji="1" sz="2400">
                <a:solidFill>
                  <a:schemeClr val="tx1"/>
                </a:solidFill>
                <a:latin typeface="AmeriGarmnd BT" pitchFamily="18" charset="0"/>
              </a:defRPr>
            </a:lvl3pPr>
            <a:lvl4pPr marL="1600200" indent="-228600">
              <a:defRPr kumimoji="1" sz="2400">
                <a:solidFill>
                  <a:schemeClr val="tx1"/>
                </a:solidFill>
                <a:latin typeface="AmeriGarmnd BT" pitchFamily="18" charset="0"/>
              </a:defRPr>
            </a:lvl4pPr>
            <a:lvl5pPr marL="2057400" indent="-228600">
              <a:defRPr kumimoji="1" sz="2400">
                <a:solidFill>
                  <a:schemeClr val="tx1"/>
                </a:solidFill>
                <a:latin typeface="AmeriGarmnd BT" pitchFamily="18" charset="0"/>
              </a:defRPr>
            </a:lvl5pPr>
            <a:lvl6pPr marL="25146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6pPr>
            <a:lvl7pPr marL="29718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7pPr>
            <a:lvl8pPr marL="34290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8pPr>
            <a:lvl9pPr marL="38862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9pPr>
          </a:lstStyle>
          <a:p>
            <a:pPr>
              <a:buFont typeface="Wingdings" pitchFamily="2" charset="2"/>
              <a:buNone/>
            </a:pPr>
            <a:r>
              <a:rPr lang="en-US" sz="2000" i="1">
                <a:latin typeface="+mn-lt"/>
              </a:rPr>
              <a:t>File system interface</a:t>
            </a:r>
          </a:p>
        </p:txBody>
      </p:sp>
      <p:sp>
        <p:nvSpPr>
          <p:cNvPr id="21" name="Text Box 25">
            <a:extLst>
              <a:ext uri="{FF2B5EF4-FFF2-40B4-BE49-F238E27FC236}">
                <a16:creationId xmlns:a16="http://schemas.microsoft.com/office/drawing/2014/main" id="{68D3FCAF-4F9C-7949-8007-6E4E8AFBF68A}"/>
              </a:ext>
            </a:extLst>
          </p:cNvPr>
          <p:cNvSpPr txBox="1">
            <a:spLocks noChangeArrowheads="1"/>
          </p:cNvSpPr>
          <p:nvPr/>
        </p:nvSpPr>
        <p:spPr bwMode="auto">
          <a:xfrm>
            <a:off x="4340533" y="4387863"/>
            <a:ext cx="2788584"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kumimoji="1" sz="2400">
                <a:solidFill>
                  <a:schemeClr val="tx1"/>
                </a:solidFill>
                <a:latin typeface="AmeriGarmnd BT" pitchFamily="18" charset="0"/>
              </a:defRPr>
            </a:lvl1pPr>
            <a:lvl2pPr marL="742950" indent="-285750">
              <a:defRPr kumimoji="1" sz="2400">
                <a:solidFill>
                  <a:schemeClr val="tx1"/>
                </a:solidFill>
                <a:latin typeface="AmeriGarmnd BT" pitchFamily="18" charset="0"/>
              </a:defRPr>
            </a:lvl2pPr>
            <a:lvl3pPr marL="1143000" indent="-228600">
              <a:defRPr kumimoji="1" sz="2400">
                <a:solidFill>
                  <a:schemeClr val="tx1"/>
                </a:solidFill>
                <a:latin typeface="AmeriGarmnd BT" pitchFamily="18" charset="0"/>
              </a:defRPr>
            </a:lvl3pPr>
            <a:lvl4pPr marL="1600200" indent="-228600">
              <a:defRPr kumimoji="1" sz="2400">
                <a:solidFill>
                  <a:schemeClr val="tx1"/>
                </a:solidFill>
                <a:latin typeface="AmeriGarmnd BT" pitchFamily="18" charset="0"/>
              </a:defRPr>
            </a:lvl4pPr>
            <a:lvl5pPr marL="2057400" indent="-228600">
              <a:defRPr kumimoji="1" sz="2400">
                <a:solidFill>
                  <a:schemeClr val="tx1"/>
                </a:solidFill>
                <a:latin typeface="AmeriGarmnd BT" pitchFamily="18" charset="0"/>
              </a:defRPr>
            </a:lvl5pPr>
            <a:lvl6pPr marL="25146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6pPr>
            <a:lvl7pPr marL="29718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7pPr>
            <a:lvl8pPr marL="34290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8pPr>
            <a:lvl9pPr marL="38862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9pPr>
          </a:lstStyle>
          <a:p>
            <a:pPr>
              <a:buFont typeface="Wingdings" pitchFamily="2" charset="2"/>
              <a:buNone/>
            </a:pPr>
            <a:r>
              <a:rPr lang="en-US" sz="2000" i="1">
                <a:latin typeface="+mn-lt"/>
              </a:rPr>
              <a:t>Storage system interface</a:t>
            </a:r>
          </a:p>
        </p:txBody>
      </p:sp>
      <p:grpSp>
        <p:nvGrpSpPr>
          <p:cNvPr id="22" name="Group 21">
            <a:extLst>
              <a:ext uri="{FF2B5EF4-FFF2-40B4-BE49-F238E27FC236}">
                <a16:creationId xmlns:a16="http://schemas.microsoft.com/office/drawing/2014/main" id="{6B1B5642-7F37-8B42-8824-0EC7E4650FF7}"/>
              </a:ext>
            </a:extLst>
          </p:cNvPr>
          <p:cNvGrpSpPr>
            <a:grpSpLocks/>
          </p:cNvGrpSpPr>
          <p:nvPr/>
        </p:nvGrpSpPr>
        <p:grpSpPr bwMode="auto">
          <a:xfrm>
            <a:off x="2905433" y="4695842"/>
            <a:ext cx="2819400" cy="619126"/>
            <a:chOff x="2016" y="2784"/>
            <a:chExt cx="1776" cy="390"/>
          </a:xfrm>
        </p:grpSpPr>
        <p:sp>
          <p:nvSpPr>
            <p:cNvPr id="23" name="AutoShape 8">
              <a:extLst>
                <a:ext uri="{FF2B5EF4-FFF2-40B4-BE49-F238E27FC236}">
                  <a16:creationId xmlns:a16="http://schemas.microsoft.com/office/drawing/2014/main" id="{B89995EA-FFFD-2D4A-95B6-2FADEE1D1555}"/>
                </a:ext>
              </a:extLst>
            </p:cNvPr>
            <p:cNvSpPr>
              <a:spLocks noChangeArrowheads="1"/>
            </p:cNvSpPr>
            <p:nvPr/>
          </p:nvSpPr>
          <p:spPr bwMode="auto">
            <a:xfrm>
              <a:off x="2016" y="2784"/>
              <a:ext cx="1776" cy="384"/>
            </a:xfrm>
            <a:prstGeom prst="can">
              <a:avLst>
                <a:gd name="adj" fmla="val 38542"/>
              </a:avLst>
            </a:prstGeom>
            <a:noFill/>
            <a:ln w="38100">
              <a:solidFill>
                <a:schemeClr val="tx1"/>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24" name="Text Box 9">
              <a:extLst>
                <a:ext uri="{FF2B5EF4-FFF2-40B4-BE49-F238E27FC236}">
                  <a16:creationId xmlns:a16="http://schemas.microsoft.com/office/drawing/2014/main" id="{9EB6A687-3DC0-BB4C-8908-576D09BAFCE4}"/>
                </a:ext>
              </a:extLst>
            </p:cNvPr>
            <p:cNvSpPr txBox="1">
              <a:spLocks noChangeArrowheads="1"/>
            </p:cNvSpPr>
            <p:nvPr/>
          </p:nvSpPr>
          <p:spPr bwMode="auto">
            <a:xfrm>
              <a:off x="2592" y="2883"/>
              <a:ext cx="677" cy="291"/>
            </a:xfrm>
            <a:prstGeom prst="rect">
              <a:avLst/>
            </a:prstGeom>
            <a:noFill/>
            <a:ln w="38100">
              <a:no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wrap="none">
              <a:spAutoFit/>
            </a:bodyPr>
            <a:lstStyle>
              <a:lvl1pPr>
                <a:defRPr kumimoji="1" sz="2400">
                  <a:solidFill>
                    <a:schemeClr val="tx1"/>
                  </a:solidFill>
                  <a:latin typeface="AmeriGarmnd BT" pitchFamily="18" charset="0"/>
                </a:defRPr>
              </a:lvl1pPr>
              <a:lvl2pPr marL="742950" indent="-285750">
                <a:defRPr kumimoji="1" sz="2400">
                  <a:solidFill>
                    <a:schemeClr val="tx1"/>
                  </a:solidFill>
                  <a:latin typeface="AmeriGarmnd BT" pitchFamily="18" charset="0"/>
                </a:defRPr>
              </a:lvl2pPr>
              <a:lvl3pPr marL="1143000" indent="-228600">
                <a:defRPr kumimoji="1" sz="2400">
                  <a:solidFill>
                    <a:schemeClr val="tx1"/>
                  </a:solidFill>
                  <a:latin typeface="AmeriGarmnd BT" pitchFamily="18" charset="0"/>
                </a:defRPr>
              </a:lvl3pPr>
              <a:lvl4pPr marL="1600200" indent="-228600">
                <a:defRPr kumimoji="1" sz="2400">
                  <a:solidFill>
                    <a:schemeClr val="tx1"/>
                  </a:solidFill>
                  <a:latin typeface="AmeriGarmnd BT" pitchFamily="18" charset="0"/>
                </a:defRPr>
              </a:lvl4pPr>
              <a:lvl5pPr marL="2057400" indent="-228600">
                <a:defRPr kumimoji="1" sz="2400">
                  <a:solidFill>
                    <a:schemeClr val="tx1"/>
                  </a:solidFill>
                  <a:latin typeface="AmeriGarmnd BT" pitchFamily="18" charset="0"/>
                </a:defRPr>
              </a:lvl5pPr>
              <a:lvl6pPr marL="25146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6pPr>
              <a:lvl7pPr marL="29718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7pPr>
              <a:lvl8pPr marL="34290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8pPr>
              <a:lvl9pPr marL="3886200" indent="-228600" eaLnBrk="0" fontAlgn="base" hangingPunct="0">
                <a:spcBef>
                  <a:spcPct val="20000"/>
                </a:spcBef>
                <a:spcAft>
                  <a:spcPct val="0"/>
                </a:spcAft>
                <a:buFont typeface="Wingdings" pitchFamily="2" charset="2"/>
                <a:buChar char="•"/>
                <a:defRPr kumimoji="1" sz="2400">
                  <a:solidFill>
                    <a:schemeClr val="tx1"/>
                  </a:solidFill>
                  <a:latin typeface="AmeriGarmnd BT" pitchFamily="18" charset="0"/>
                </a:defRPr>
              </a:lvl9pPr>
            </a:lstStyle>
            <a:p>
              <a:pPr>
                <a:spcBef>
                  <a:spcPct val="0"/>
                </a:spcBef>
                <a:buFontTx/>
                <a:buNone/>
              </a:pPr>
              <a:r>
                <a:rPr kumimoji="0" lang="en-US">
                  <a:latin typeface="+mn-lt"/>
                </a:rPr>
                <a:t>Disk(s)</a:t>
              </a:r>
            </a:p>
          </p:txBody>
        </p:sp>
      </p:grpSp>
    </p:spTree>
    <p:extLst>
      <p:ext uri="{BB962C8B-B14F-4D97-AF65-F5344CB8AC3E}">
        <p14:creationId xmlns:p14="http://schemas.microsoft.com/office/powerpoint/2010/main" val="29197857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p:cNvSpPr txBox="1"/>
          <p:nvPr/>
        </p:nvSpPr>
        <p:spPr>
          <a:xfrm>
            <a:off x="16079" y="64300"/>
            <a:ext cx="9127921" cy="553998"/>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Main Set of DBMS Features</a:t>
            </a:r>
          </a:p>
        </p:txBody>
      </p:sp>
      <p:cxnSp>
        <p:nvCxnSpPr>
          <p:cNvPr id="64" name="Straight Connector 63"/>
          <p:cNvCxnSpPr/>
          <p:nvPr/>
        </p:nvCxnSpPr>
        <p:spPr>
          <a:xfrm>
            <a:off x="0" y="758856"/>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3452" y="773927"/>
            <a:ext cx="9060548" cy="577850"/>
          </a:xfrm>
          <a:prstGeom prst="rect">
            <a:avLst/>
          </a:prstGeom>
          <a:noFill/>
        </p:spPr>
        <p:txBody>
          <a:bodyPr wrap="square" rtlCol="0">
            <a:spAutoFit/>
          </a:bodyPr>
          <a:lstStyle/>
          <a:p>
            <a:pPr marL="457200" indent="-457200">
              <a:lnSpc>
                <a:spcPct val="150000"/>
              </a:lnSpc>
              <a:buFont typeface="+mj-lt"/>
              <a:buAutoNum type="arabicPeriod"/>
            </a:pPr>
            <a:endParaRPr lang="en-US" sz="2400" dirty="0">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fld id="{AFAD4509-1FB2-2540-A246-CEF93BA68631}" type="slidenum">
              <a:rPr lang="en-US" smtClean="0"/>
              <a:t>5</a:t>
            </a:fld>
            <a:endParaRPr lang="en-US"/>
          </a:p>
        </p:txBody>
      </p:sp>
      <p:sp>
        <p:nvSpPr>
          <p:cNvPr id="6" name="TextBox 5">
            <a:extLst>
              <a:ext uri="{FF2B5EF4-FFF2-40B4-BE49-F238E27FC236}">
                <a16:creationId xmlns:a16="http://schemas.microsoft.com/office/drawing/2014/main" id="{34BA50CD-BDAD-D147-846B-4409781D6CA6}"/>
              </a:ext>
            </a:extLst>
          </p:cNvPr>
          <p:cNvSpPr txBox="1"/>
          <p:nvPr/>
        </p:nvSpPr>
        <p:spPr>
          <a:xfrm>
            <a:off x="41726" y="791003"/>
            <a:ext cx="9060548" cy="5009833"/>
          </a:xfrm>
          <a:prstGeom prst="rect">
            <a:avLst/>
          </a:prstGeom>
          <a:noFill/>
        </p:spPr>
        <p:txBody>
          <a:bodyPr wrap="square" rtlCol="0">
            <a:spAutoFit/>
          </a:bodyPr>
          <a:lstStyle/>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High-level Data Model and Query Language</a:t>
            </a:r>
          </a:p>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Efficient access and processing of data</a:t>
            </a:r>
          </a:p>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Scalability:</a:t>
            </a:r>
          </a:p>
          <a:p>
            <a:pPr marL="800100" lvl="1"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Handling of Large Data, i.e., Out-of-memory Data </a:t>
            </a:r>
          </a:p>
          <a:p>
            <a:pPr marL="800100" lvl="1"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10-100Ks of concurrent data access/sec</a:t>
            </a:r>
          </a:p>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Safe access and processing of data:</a:t>
            </a:r>
          </a:p>
          <a:p>
            <a:pPr marL="800100" lvl="1"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Maintenance of the integrity of the data upon updates</a:t>
            </a:r>
          </a:p>
          <a:p>
            <a:pPr marL="800100" lvl="1"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Multi-User access to data (Concurrency)</a:t>
            </a:r>
          </a:p>
          <a:p>
            <a:pPr marL="800100" lvl="1"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Fault tolerant storage of data</a:t>
            </a:r>
          </a:p>
        </p:txBody>
      </p:sp>
    </p:spTree>
    <p:extLst>
      <p:ext uri="{BB962C8B-B14F-4D97-AF65-F5344CB8AC3E}">
        <p14:creationId xmlns:p14="http://schemas.microsoft.com/office/powerpoint/2010/main" val="2674307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p:cNvSpPr txBox="1"/>
          <p:nvPr/>
        </p:nvSpPr>
        <p:spPr>
          <a:xfrm>
            <a:off x="16079" y="64300"/>
            <a:ext cx="9127921" cy="553998"/>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Main Contributions of the Field?</a:t>
            </a:r>
          </a:p>
        </p:txBody>
      </p:sp>
      <p:cxnSp>
        <p:nvCxnSpPr>
          <p:cNvPr id="64" name="Straight Connector 63"/>
          <p:cNvCxnSpPr/>
          <p:nvPr/>
        </p:nvCxnSpPr>
        <p:spPr>
          <a:xfrm>
            <a:off x="0" y="758856"/>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3452" y="773927"/>
            <a:ext cx="9060548" cy="577850"/>
          </a:xfrm>
          <a:prstGeom prst="rect">
            <a:avLst/>
          </a:prstGeom>
          <a:noFill/>
        </p:spPr>
        <p:txBody>
          <a:bodyPr wrap="square" rtlCol="0">
            <a:spAutoFit/>
          </a:bodyPr>
          <a:lstStyle/>
          <a:p>
            <a:pPr marL="457200" indent="-457200">
              <a:lnSpc>
                <a:spcPct val="150000"/>
              </a:lnSpc>
              <a:buFont typeface="+mj-lt"/>
              <a:buAutoNum type="arabicPeriod"/>
            </a:pPr>
            <a:endParaRPr lang="en-US" sz="2400" dirty="0">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fld id="{AFAD4509-1FB2-2540-A246-CEF93BA68631}" type="slidenum">
              <a:rPr lang="en-US" smtClean="0"/>
              <a:t>6</a:t>
            </a:fld>
            <a:endParaRPr lang="en-US"/>
          </a:p>
        </p:txBody>
      </p:sp>
      <p:sp>
        <p:nvSpPr>
          <p:cNvPr id="6" name="TextBox 5">
            <a:extLst>
              <a:ext uri="{FF2B5EF4-FFF2-40B4-BE49-F238E27FC236}">
                <a16:creationId xmlns:a16="http://schemas.microsoft.com/office/drawing/2014/main" id="{BA704361-C42B-2C40-939F-BAA6F217E098}"/>
              </a:ext>
            </a:extLst>
          </p:cNvPr>
          <p:cNvSpPr txBox="1"/>
          <p:nvPr/>
        </p:nvSpPr>
        <p:spPr>
          <a:xfrm>
            <a:off x="0" y="792411"/>
            <a:ext cx="9102274" cy="4230710"/>
          </a:xfrm>
          <a:prstGeom prst="rect">
            <a:avLst/>
          </a:prstGeom>
          <a:noFill/>
        </p:spPr>
        <p:txBody>
          <a:bodyPr wrap="square" rtlCol="0">
            <a:spAutoFit/>
          </a:bodyPr>
          <a:lstStyle/>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The System (Charles Bachmann)</a:t>
            </a:r>
          </a:p>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High-level/Declarative Programming (Ted Codd)</a:t>
            </a:r>
          </a:p>
          <a:p>
            <a:pPr marL="800100" lvl="1" indent="-3429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Ingredients: Relational Data Model &amp; Algebra: A model based on set theory (so a formal mathematical theory)</a:t>
            </a:r>
          </a:p>
          <a:p>
            <a:pPr marL="800100" lvl="1" indent="-3429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Provides ability to generate automatic efficient algorithms for many data processing tasks</a:t>
            </a:r>
            <a:endParaRPr lang="en-US" sz="2400" dirty="0">
              <a:latin typeface="Arial" panose="020B0604020202020204" pitchFamily="34" charset="0"/>
              <a:cs typeface="Arial" panose="020B0604020202020204" pitchFamily="34" charset="0"/>
            </a:endParaRPr>
          </a:p>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Transactions (Jim Gray)</a:t>
            </a:r>
          </a:p>
          <a:p>
            <a:pPr marL="800100" lvl="1" indent="-3429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Principles of concurrent data-manipulating app. development</a:t>
            </a:r>
          </a:p>
        </p:txBody>
      </p:sp>
      <p:pic>
        <p:nvPicPr>
          <p:cNvPr id="7" name="Picture 2" descr="Charles W Bachman">
            <a:extLst>
              <a:ext uri="{FF2B5EF4-FFF2-40B4-BE49-F238E27FC236}">
                <a16:creationId xmlns:a16="http://schemas.microsoft.com/office/drawing/2014/main" id="{97FD9564-83D4-3546-96E5-242DFA3AC65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621" y="5181676"/>
            <a:ext cx="1242771" cy="117467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07A84010-E096-6441-9804-AC459959B0A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0476" y="5109671"/>
            <a:ext cx="1082718" cy="153746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A person with a beard and glasses&#10;&#10;Description automatically generated with low confidence">
            <a:extLst>
              <a:ext uri="{FF2B5EF4-FFF2-40B4-BE49-F238E27FC236}">
                <a16:creationId xmlns:a16="http://schemas.microsoft.com/office/drawing/2014/main" id="{33F897F4-7309-3C4A-8F51-599EB596278E}"/>
              </a:ext>
            </a:extLst>
          </p:cNvPr>
          <p:cNvPicPr>
            <a:picLocks noChangeAspect="1"/>
          </p:cNvPicPr>
          <p:nvPr/>
        </p:nvPicPr>
        <p:blipFill>
          <a:blip r:embed="rId5"/>
          <a:stretch>
            <a:fillRect/>
          </a:stretch>
        </p:blipFill>
        <p:spPr>
          <a:xfrm>
            <a:off x="6335252" y="5004722"/>
            <a:ext cx="1016000" cy="1701800"/>
          </a:xfrm>
          <a:prstGeom prst="rect">
            <a:avLst/>
          </a:prstGeom>
        </p:spPr>
      </p:pic>
    </p:spTree>
    <p:extLst>
      <p:ext uri="{BB962C8B-B14F-4D97-AF65-F5344CB8AC3E}">
        <p14:creationId xmlns:p14="http://schemas.microsoft.com/office/powerpoint/2010/main" val="24492975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4" end="4"/>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p:cNvSpPr txBox="1"/>
          <p:nvPr/>
        </p:nvSpPr>
        <p:spPr>
          <a:xfrm>
            <a:off x="16079" y="64300"/>
            <a:ext cx="9127921" cy="553998"/>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Why App Developers Need a DBMS?</a:t>
            </a:r>
          </a:p>
        </p:txBody>
      </p:sp>
      <p:cxnSp>
        <p:nvCxnSpPr>
          <p:cNvPr id="64" name="Straight Connector 63"/>
          <p:cNvCxnSpPr/>
          <p:nvPr/>
        </p:nvCxnSpPr>
        <p:spPr>
          <a:xfrm>
            <a:off x="0" y="758856"/>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3452" y="773927"/>
            <a:ext cx="9060548" cy="577850"/>
          </a:xfrm>
          <a:prstGeom prst="rect">
            <a:avLst/>
          </a:prstGeom>
          <a:noFill/>
        </p:spPr>
        <p:txBody>
          <a:bodyPr wrap="square" rtlCol="0">
            <a:spAutoFit/>
          </a:bodyPr>
          <a:lstStyle/>
          <a:p>
            <a:pPr marL="457200" indent="-457200">
              <a:lnSpc>
                <a:spcPct val="150000"/>
              </a:lnSpc>
              <a:buFont typeface="+mj-lt"/>
              <a:buAutoNum type="arabicPeriod"/>
            </a:pPr>
            <a:endParaRPr lang="en-US" sz="2400" dirty="0">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a:xfrm>
            <a:off x="6982268" y="5952982"/>
            <a:ext cx="2133600" cy="365125"/>
          </a:xfrm>
        </p:spPr>
        <p:txBody>
          <a:bodyPr/>
          <a:lstStyle/>
          <a:p>
            <a:fld id="{AFAD4509-1FB2-2540-A246-CEF93BA68631}" type="slidenum">
              <a:rPr lang="en-US" smtClean="0"/>
              <a:t>7</a:t>
            </a:fld>
            <a:endParaRPr lang="en-US"/>
          </a:p>
        </p:txBody>
      </p:sp>
      <p:sp>
        <p:nvSpPr>
          <p:cNvPr id="10" name="TextBox 9">
            <a:extLst>
              <a:ext uri="{FF2B5EF4-FFF2-40B4-BE49-F238E27FC236}">
                <a16:creationId xmlns:a16="http://schemas.microsoft.com/office/drawing/2014/main" id="{5220920B-040E-4645-8145-2E4C063C4A4F}"/>
              </a:ext>
            </a:extLst>
          </p:cNvPr>
          <p:cNvSpPr txBox="1"/>
          <p:nvPr/>
        </p:nvSpPr>
        <p:spPr>
          <a:xfrm>
            <a:off x="0" y="792411"/>
            <a:ext cx="9144000" cy="1131848"/>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Application: Order &amp; Inventory Management in E-commerce</a:t>
            </a:r>
          </a:p>
          <a:p>
            <a:pPr marL="914400" lvl="1"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E.g.: Amazon or Alibaba</a:t>
            </a:r>
          </a:p>
        </p:txBody>
      </p:sp>
      <p:pic>
        <p:nvPicPr>
          <p:cNvPr id="16" name="Graphic 15" descr="Server outline">
            <a:extLst>
              <a:ext uri="{FF2B5EF4-FFF2-40B4-BE49-F238E27FC236}">
                <a16:creationId xmlns:a16="http://schemas.microsoft.com/office/drawing/2014/main" id="{4D4E4DBA-BA96-AA4E-9B68-CA66B53B005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205893" y="3632488"/>
            <a:ext cx="777240" cy="777240"/>
          </a:xfrm>
          <a:prstGeom prst="rect">
            <a:avLst/>
          </a:prstGeom>
        </p:spPr>
      </p:pic>
      <p:pic>
        <p:nvPicPr>
          <p:cNvPr id="19" name="Graphic 18" descr="Server outline">
            <a:extLst>
              <a:ext uri="{FF2B5EF4-FFF2-40B4-BE49-F238E27FC236}">
                <a16:creationId xmlns:a16="http://schemas.microsoft.com/office/drawing/2014/main" id="{11CDA1BE-B461-4D4D-B3DE-8B9A70BC2B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41762" y="3660350"/>
            <a:ext cx="777240" cy="777240"/>
          </a:xfrm>
          <a:prstGeom prst="rect">
            <a:avLst/>
          </a:prstGeom>
        </p:spPr>
      </p:pic>
      <p:pic>
        <p:nvPicPr>
          <p:cNvPr id="31" name="Graphic 30" descr="Server outline">
            <a:extLst>
              <a:ext uri="{FF2B5EF4-FFF2-40B4-BE49-F238E27FC236}">
                <a16:creationId xmlns:a16="http://schemas.microsoft.com/office/drawing/2014/main" id="{3DAB3D00-F85B-D64D-8EC6-B006F032826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124999" y="3632488"/>
            <a:ext cx="777240" cy="777240"/>
          </a:xfrm>
          <a:prstGeom prst="rect">
            <a:avLst/>
          </a:prstGeom>
        </p:spPr>
      </p:pic>
      <p:cxnSp>
        <p:nvCxnSpPr>
          <p:cNvPr id="45" name="Straight Arrow Connector 44">
            <a:extLst>
              <a:ext uri="{FF2B5EF4-FFF2-40B4-BE49-F238E27FC236}">
                <a16:creationId xmlns:a16="http://schemas.microsoft.com/office/drawing/2014/main" id="{E9C5A079-912F-2146-9755-1AC82BD70B4C}"/>
              </a:ext>
            </a:extLst>
          </p:cNvPr>
          <p:cNvCxnSpPr>
            <a:cxnSpLocks/>
            <a:stCxn id="16" idx="2"/>
            <a:endCxn id="13" idx="1"/>
          </p:cNvCxnSpPr>
          <p:nvPr/>
        </p:nvCxnSpPr>
        <p:spPr>
          <a:xfrm>
            <a:off x="2594513" y="4409728"/>
            <a:ext cx="2134394" cy="41325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4" name="Straight Arrow Connector 53">
            <a:extLst>
              <a:ext uri="{FF2B5EF4-FFF2-40B4-BE49-F238E27FC236}">
                <a16:creationId xmlns:a16="http://schemas.microsoft.com/office/drawing/2014/main" id="{685EF95C-9D36-1A48-9310-DD284AEA299E}"/>
              </a:ext>
            </a:extLst>
          </p:cNvPr>
          <p:cNvCxnSpPr>
            <a:cxnSpLocks/>
            <a:stCxn id="19" idx="2"/>
            <a:endCxn id="13" idx="1"/>
          </p:cNvCxnSpPr>
          <p:nvPr/>
        </p:nvCxnSpPr>
        <p:spPr>
          <a:xfrm>
            <a:off x="3630382" y="4437590"/>
            <a:ext cx="1098525" cy="385395"/>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57" name="Straight Arrow Connector 56">
            <a:extLst>
              <a:ext uri="{FF2B5EF4-FFF2-40B4-BE49-F238E27FC236}">
                <a16:creationId xmlns:a16="http://schemas.microsoft.com/office/drawing/2014/main" id="{0939A27E-1555-6248-B249-692779C08BAC}"/>
              </a:ext>
            </a:extLst>
          </p:cNvPr>
          <p:cNvCxnSpPr>
            <a:cxnSpLocks/>
            <a:stCxn id="31" idx="2"/>
            <a:endCxn id="13" idx="1"/>
          </p:cNvCxnSpPr>
          <p:nvPr/>
        </p:nvCxnSpPr>
        <p:spPr>
          <a:xfrm flipH="1">
            <a:off x="4728907" y="4409728"/>
            <a:ext cx="784712" cy="41325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81" name="Group 80">
            <a:extLst>
              <a:ext uri="{FF2B5EF4-FFF2-40B4-BE49-F238E27FC236}">
                <a16:creationId xmlns:a16="http://schemas.microsoft.com/office/drawing/2014/main" id="{AA6E4DCB-0667-404B-881B-9142596308D0}"/>
              </a:ext>
            </a:extLst>
          </p:cNvPr>
          <p:cNvGrpSpPr/>
          <p:nvPr/>
        </p:nvGrpSpPr>
        <p:grpSpPr>
          <a:xfrm>
            <a:off x="1331907" y="1848747"/>
            <a:ext cx="2703368" cy="1506730"/>
            <a:chOff x="520754" y="1848747"/>
            <a:chExt cx="2703368" cy="1506730"/>
          </a:xfrm>
        </p:grpSpPr>
        <p:grpSp>
          <p:nvGrpSpPr>
            <p:cNvPr id="77" name="Group 76">
              <a:extLst>
                <a:ext uri="{FF2B5EF4-FFF2-40B4-BE49-F238E27FC236}">
                  <a16:creationId xmlns:a16="http://schemas.microsoft.com/office/drawing/2014/main" id="{A1C24D6F-417D-6940-8480-D4FED059AB62}"/>
                </a:ext>
              </a:extLst>
            </p:cNvPr>
            <p:cNvGrpSpPr/>
            <p:nvPr/>
          </p:nvGrpSpPr>
          <p:grpSpPr>
            <a:xfrm>
              <a:off x="520754" y="2623957"/>
              <a:ext cx="2703368" cy="731520"/>
              <a:chOff x="933708" y="2623957"/>
              <a:chExt cx="2703368" cy="731520"/>
            </a:xfrm>
          </p:grpSpPr>
          <p:pic>
            <p:nvPicPr>
              <p:cNvPr id="4" name="Graphic 3" descr="Smart Phone with solid fill">
                <a:extLst>
                  <a:ext uri="{FF2B5EF4-FFF2-40B4-BE49-F238E27FC236}">
                    <a16:creationId xmlns:a16="http://schemas.microsoft.com/office/drawing/2014/main" id="{215F9B6D-7B78-064D-B469-6A19830218C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27030" y="2623957"/>
                <a:ext cx="731520" cy="731520"/>
              </a:xfrm>
              <a:prstGeom prst="rect">
                <a:avLst/>
              </a:prstGeom>
            </p:spPr>
          </p:pic>
          <p:pic>
            <p:nvPicPr>
              <p:cNvPr id="12" name="Graphic 11" descr="Browser window with solid fill">
                <a:extLst>
                  <a:ext uri="{FF2B5EF4-FFF2-40B4-BE49-F238E27FC236}">
                    <a16:creationId xmlns:a16="http://schemas.microsoft.com/office/drawing/2014/main" id="{E82ABC20-D0D5-FF4F-AF0B-0101F1CF942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05556" y="2623957"/>
                <a:ext cx="731520" cy="731520"/>
              </a:xfrm>
              <a:prstGeom prst="rect">
                <a:avLst/>
              </a:prstGeom>
            </p:spPr>
          </p:pic>
          <p:pic>
            <p:nvPicPr>
              <p:cNvPr id="22" name="Graphic 21" descr="Male profile with solid fill">
                <a:extLst>
                  <a:ext uri="{FF2B5EF4-FFF2-40B4-BE49-F238E27FC236}">
                    <a16:creationId xmlns:a16="http://schemas.microsoft.com/office/drawing/2014/main" id="{516BCC28-4E92-7646-B3D5-B9AEC62F8B1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3708" y="2623957"/>
                <a:ext cx="731520" cy="731520"/>
              </a:xfrm>
              <a:prstGeom prst="rect">
                <a:avLst/>
              </a:prstGeom>
            </p:spPr>
          </p:pic>
          <p:pic>
            <p:nvPicPr>
              <p:cNvPr id="43" name="Graphic 42" descr="Female Profile with solid fill">
                <a:extLst>
                  <a:ext uri="{FF2B5EF4-FFF2-40B4-BE49-F238E27FC236}">
                    <a16:creationId xmlns:a16="http://schemas.microsoft.com/office/drawing/2014/main" id="{7E0514BB-034B-6E4B-A440-B90EC0FDDC4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174036" y="2623957"/>
                <a:ext cx="731520" cy="731520"/>
              </a:xfrm>
              <a:prstGeom prst="rect">
                <a:avLst/>
              </a:prstGeom>
            </p:spPr>
          </p:pic>
        </p:grpSp>
        <p:sp>
          <p:nvSpPr>
            <p:cNvPr id="70" name="Rectangle 69">
              <a:extLst>
                <a:ext uri="{FF2B5EF4-FFF2-40B4-BE49-F238E27FC236}">
                  <a16:creationId xmlns:a16="http://schemas.microsoft.com/office/drawing/2014/main" id="{7C77A655-6A12-B242-AA52-130DAF466D94}"/>
                </a:ext>
              </a:extLst>
            </p:cNvPr>
            <p:cNvSpPr/>
            <p:nvPr/>
          </p:nvSpPr>
          <p:spPr>
            <a:xfrm>
              <a:off x="1042809" y="1848747"/>
              <a:ext cx="1704158"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Customers &amp;</a:t>
              </a:r>
            </a:p>
            <a:p>
              <a:r>
                <a:rPr lang="en-US" dirty="0">
                  <a:latin typeface="Arial" panose="020B0604020202020204" pitchFamily="34" charset="0"/>
                  <a:cs typeface="Arial" panose="020B0604020202020204" pitchFamily="34" charset="0"/>
                </a:rPr>
                <a:t>End Devices</a:t>
              </a:r>
            </a:p>
          </p:txBody>
        </p:sp>
      </p:grpSp>
      <p:grpSp>
        <p:nvGrpSpPr>
          <p:cNvPr id="80" name="Group 79">
            <a:extLst>
              <a:ext uri="{FF2B5EF4-FFF2-40B4-BE49-F238E27FC236}">
                <a16:creationId xmlns:a16="http://schemas.microsoft.com/office/drawing/2014/main" id="{4BC7D8EB-AED6-CC4F-8C1B-4008E5B8D971}"/>
              </a:ext>
            </a:extLst>
          </p:cNvPr>
          <p:cNvGrpSpPr/>
          <p:nvPr/>
        </p:nvGrpSpPr>
        <p:grpSpPr>
          <a:xfrm>
            <a:off x="4131075" y="1863495"/>
            <a:ext cx="2316278" cy="1491982"/>
            <a:chOff x="3398723" y="1863495"/>
            <a:chExt cx="2316278" cy="1491982"/>
          </a:xfrm>
        </p:grpSpPr>
        <p:pic>
          <p:nvPicPr>
            <p:cNvPr id="38" name="Graphic 37" descr="Delivery with solid fill">
              <a:extLst>
                <a:ext uri="{FF2B5EF4-FFF2-40B4-BE49-F238E27FC236}">
                  <a16:creationId xmlns:a16="http://schemas.microsoft.com/office/drawing/2014/main" id="{EA855CFE-18A7-F748-801C-3EDC1BFF3350}"/>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348276" y="2623957"/>
              <a:ext cx="731520" cy="731520"/>
            </a:xfrm>
            <a:prstGeom prst="rect">
              <a:avLst/>
            </a:prstGeom>
          </p:spPr>
        </p:pic>
        <p:sp>
          <p:nvSpPr>
            <p:cNvPr id="72" name="Rectangle 71">
              <a:extLst>
                <a:ext uri="{FF2B5EF4-FFF2-40B4-BE49-F238E27FC236}">
                  <a16:creationId xmlns:a16="http://schemas.microsoft.com/office/drawing/2014/main" id="{073F40D1-0557-2849-9B5C-96B849CF9AED}"/>
                </a:ext>
              </a:extLst>
            </p:cNvPr>
            <p:cNvSpPr/>
            <p:nvPr/>
          </p:nvSpPr>
          <p:spPr>
            <a:xfrm>
              <a:off x="3398723" y="1863495"/>
              <a:ext cx="2316278" cy="646331"/>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Product</a:t>
              </a:r>
            </a:p>
            <a:p>
              <a:pPr algn="ctr"/>
              <a:r>
                <a:rPr lang="en-US" dirty="0">
                  <a:latin typeface="Arial" panose="020B0604020202020204" pitchFamily="34" charset="0"/>
                  <a:cs typeface="Arial" panose="020B0604020202020204" pitchFamily="34" charset="0"/>
                </a:rPr>
                <a:t>Shipments &amp; Arrivals</a:t>
              </a:r>
            </a:p>
          </p:txBody>
        </p:sp>
      </p:grpSp>
      <p:grpSp>
        <p:nvGrpSpPr>
          <p:cNvPr id="79" name="Group 78">
            <a:extLst>
              <a:ext uri="{FF2B5EF4-FFF2-40B4-BE49-F238E27FC236}">
                <a16:creationId xmlns:a16="http://schemas.microsoft.com/office/drawing/2014/main" id="{C64FAAE1-22F3-A74E-84F1-FFE47D5BBBEE}"/>
              </a:ext>
            </a:extLst>
          </p:cNvPr>
          <p:cNvGrpSpPr/>
          <p:nvPr/>
        </p:nvGrpSpPr>
        <p:grpSpPr>
          <a:xfrm>
            <a:off x="6631648" y="1848747"/>
            <a:ext cx="2236057" cy="1506730"/>
            <a:chOff x="6203951" y="1848747"/>
            <a:chExt cx="2236057" cy="1506730"/>
          </a:xfrm>
        </p:grpSpPr>
        <p:grpSp>
          <p:nvGrpSpPr>
            <p:cNvPr id="78" name="Group 77">
              <a:extLst>
                <a:ext uri="{FF2B5EF4-FFF2-40B4-BE49-F238E27FC236}">
                  <a16:creationId xmlns:a16="http://schemas.microsoft.com/office/drawing/2014/main" id="{081B79C3-D3A7-3342-83D6-BCA824B5B24F}"/>
                </a:ext>
              </a:extLst>
            </p:cNvPr>
            <p:cNvGrpSpPr/>
            <p:nvPr/>
          </p:nvGrpSpPr>
          <p:grpSpPr>
            <a:xfrm>
              <a:off x="6203951" y="2623957"/>
              <a:ext cx="2236057" cy="731520"/>
              <a:chOff x="6115463" y="2623957"/>
              <a:chExt cx="2236057" cy="731520"/>
            </a:xfrm>
          </p:grpSpPr>
          <p:pic>
            <p:nvPicPr>
              <p:cNvPr id="29" name="Graphic 28" descr="Scatterplot with solid fill">
                <a:extLst>
                  <a:ext uri="{FF2B5EF4-FFF2-40B4-BE49-F238E27FC236}">
                    <a16:creationId xmlns:a16="http://schemas.microsoft.com/office/drawing/2014/main" id="{66F8B0AF-109A-AF4C-8572-70DED319CF8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867731" y="2623957"/>
                <a:ext cx="731520" cy="731520"/>
              </a:xfrm>
              <a:prstGeom prst="rect">
                <a:avLst/>
              </a:prstGeom>
            </p:spPr>
          </p:pic>
          <p:pic>
            <p:nvPicPr>
              <p:cNvPr id="34" name="Graphic 33" descr="Gauge outline">
                <a:extLst>
                  <a:ext uri="{FF2B5EF4-FFF2-40B4-BE49-F238E27FC236}">
                    <a16:creationId xmlns:a16="http://schemas.microsoft.com/office/drawing/2014/main" id="{A43E6F9D-0A27-4B43-B74E-3BB169FBF9A1}"/>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620000" y="2623957"/>
                <a:ext cx="731520" cy="731520"/>
              </a:xfrm>
              <a:prstGeom prst="rect">
                <a:avLst/>
              </a:prstGeom>
            </p:spPr>
          </p:pic>
          <p:pic>
            <p:nvPicPr>
              <p:cNvPr id="40" name="Graphic 39" descr="Office worker female outline">
                <a:extLst>
                  <a:ext uri="{FF2B5EF4-FFF2-40B4-BE49-F238E27FC236}">
                    <a16:creationId xmlns:a16="http://schemas.microsoft.com/office/drawing/2014/main" id="{E3615978-00CA-7B45-90A4-AFA81F6EED3E}"/>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115463" y="2623957"/>
                <a:ext cx="731520" cy="731520"/>
              </a:xfrm>
              <a:prstGeom prst="rect">
                <a:avLst/>
              </a:prstGeom>
            </p:spPr>
          </p:pic>
        </p:grpSp>
        <p:sp>
          <p:nvSpPr>
            <p:cNvPr id="73" name="Rectangle 72">
              <a:extLst>
                <a:ext uri="{FF2B5EF4-FFF2-40B4-BE49-F238E27FC236}">
                  <a16:creationId xmlns:a16="http://schemas.microsoft.com/office/drawing/2014/main" id="{2DCDBC73-9378-A448-96B6-F0CCF73CCBEB}"/>
                </a:ext>
              </a:extLst>
            </p:cNvPr>
            <p:cNvSpPr/>
            <p:nvPr/>
          </p:nvSpPr>
          <p:spPr>
            <a:xfrm>
              <a:off x="6278270" y="1848747"/>
              <a:ext cx="1803844" cy="646331"/>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Managers &amp; Analytics Apps</a:t>
              </a:r>
            </a:p>
          </p:txBody>
        </p:sp>
      </p:grpSp>
      <p:pic>
        <p:nvPicPr>
          <p:cNvPr id="74" name="Graphic 73" descr="Server outline">
            <a:extLst>
              <a:ext uri="{FF2B5EF4-FFF2-40B4-BE49-F238E27FC236}">
                <a16:creationId xmlns:a16="http://schemas.microsoft.com/office/drawing/2014/main" id="{5E85B0F8-5E7E-9949-B418-19685B59928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50081" y="3632488"/>
            <a:ext cx="777240" cy="777240"/>
          </a:xfrm>
          <a:prstGeom prst="rect">
            <a:avLst/>
          </a:prstGeom>
        </p:spPr>
      </p:pic>
      <p:sp>
        <p:nvSpPr>
          <p:cNvPr id="82" name="Rectangle 81">
            <a:extLst>
              <a:ext uri="{FF2B5EF4-FFF2-40B4-BE49-F238E27FC236}">
                <a16:creationId xmlns:a16="http://schemas.microsoft.com/office/drawing/2014/main" id="{00DBA2CD-FDA1-334D-9675-D5ED0A996E8E}"/>
              </a:ext>
            </a:extLst>
          </p:cNvPr>
          <p:cNvSpPr/>
          <p:nvPr/>
        </p:nvSpPr>
        <p:spPr>
          <a:xfrm>
            <a:off x="203753" y="3660350"/>
            <a:ext cx="1704158" cy="646331"/>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App Software/</a:t>
            </a:r>
          </a:p>
          <a:p>
            <a:pPr algn="ctr"/>
            <a:r>
              <a:rPr lang="en-US" dirty="0">
                <a:latin typeface="Arial" panose="020B0604020202020204" pitchFamily="34" charset="0"/>
                <a:cs typeface="Arial" panose="020B0604020202020204" pitchFamily="34" charset="0"/>
              </a:rPr>
              <a:t>Servers</a:t>
            </a:r>
          </a:p>
        </p:txBody>
      </p:sp>
      <p:sp>
        <p:nvSpPr>
          <p:cNvPr id="83" name="Rectangle 82">
            <a:extLst>
              <a:ext uri="{FF2B5EF4-FFF2-40B4-BE49-F238E27FC236}">
                <a16:creationId xmlns:a16="http://schemas.microsoft.com/office/drawing/2014/main" id="{6C50EEF1-FAE1-D446-950E-3EF945458364}"/>
              </a:ext>
            </a:extLst>
          </p:cNvPr>
          <p:cNvSpPr/>
          <p:nvPr/>
        </p:nvSpPr>
        <p:spPr>
          <a:xfrm>
            <a:off x="203753" y="4851561"/>
            <a:ext cx="2421212" cy="646331"/>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Storage Software Server &amp; Device</a:t>
            </a:r>
          </a:p>
        </p:txBody>
      </p:sp>
      <p:sp>
        <p:nvSpPr>
          <p:cNvPr id="44" name="Rectangle 43">
            <a:extLst>
              <a:ext uri="{FF2B5EF4-FFF2-40B4-BE49-F238E27FC236}">
                <a16:creationId xmlns:a16="http://schemas.microsoft.com/office/drawing/2014/main" id="{3829A7A4-7640-1045-AA84-3216DB9D5BE9}"/>
              </a:ext>
            </a:extLst>
          </p:cNvPr>
          <p:cNvSpPr/>
          <p:nvPr/>
        </p:nvSpPr>
        <p:spPr>
          <a:xfrm>
            <a:off x="16079" y="6042772"/>
            <a:ext cx="9012264" cy="646331"/>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Let’s simplify the design: assume a single server will accept requests from app software to keep track of and serve your records: orders, new products, etc. </a:t>
            </a:r>
          </a:p>
        </p:txBody>
      </p:sp>
      <p:cxnSp>
        <p:nvCxnSpPr>
          <p:cNvPr id="47" name="Straight Arrow Connector 46">
            <a:extLst>
              <a:ext uri="{FF2B5EF4-FFF2-40B4-BE49-F238E27FC236}">
                <a16:creationId xmlns:a16="http://schemas.microsoft.com/office/drawing/2014/main" id="{314B6E6E-F3C0-8E46-B4F4-F5273E94589C}"/>
              </a:ext>
            </a:extLst>
          </p:cNvPr>
          <p:cNvCxnSpPr>
            <a:cxnSpLocks/>
            <a:stCxn id="74" idx="2"/>
            <a:endCxn id="13" idx="1"/>
          </p:cNvCxnSpPr>
          <p:nvPr/>
        </p:nvCxnSpPr>
        <p:spPr>
          <a:xfrm flipH="1">
            <a:off x="4728907" y="4409728"/>
            <a:ext cx="2709794" cy="413257"/>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2" name="Rectangle 51">
            <a:extLst>
              <a:ext uri="{FF2B5EF4-FFF2-40B4-BE49-F238E27FC236}">
                <a16:creationId xmlns:a16="http://schemas.microsoft.com/office/drawing/2014/main" id="{939859A6-3D2A-1D4A-A5B7-89B57C72A742}"/>
              </a:ext>
            </a:extLst>
          </p:cNvPr>
          <p:cNvSpPr/>
          <p:nvPr/>
        </p:nvSpPr>
        <p:spPr>
          <a:xfrm>
            <a:off x="5697709" y="4752955"/>
            <a:ext cx="3481983" cy="871970"/>
          </a:xfrm>
          <a:prstGeom prst="rect">
            <a:avLst/>
          </a:prstGeom>
        </p:spPr>
        <p:txBody>
          <a:bodyPr wrap="square">
            <a:spAutoFit/>
          </a:bodyPr>
          <a:lstStyle/>
          <a:p>
            <a:pPr algn="ctr">
              <a:lnSpc>
                <a:spcPct val="150000"/>
              </a:lnSpc>
            </a:pPr>
            <a:r>
              <a:rPr lang="en-US" u="sng" dirty="0">
                <a:latin typeface="Arial" panose="020B0604020202020204" pitchFamily="34" charset="0"/>
                <a:cs typeface="Arial" panose="020B0604020202020204" pitchFamily="34" charset="0"/>
              </a:rPr>
              <a:t>Service Requirement</a:t>
            </a:r>
          </a:p>
          <a:p>
            <a:pPr marL="285750" indent="-285750" algn="ctr">
              <a:lnSpc>
                <a:spcPct val="150000"/>
              </a:lnSpc>
              <a:buFont typeface="Wingdings" pitchFamily="2" charset="2"/>
              <a:buChar char="Ø"/>
            </a:pPr>
            <a:r>
              <a:rPr lang="en-US" dirty="0">
                <a:latin typeface="Arial" panose="020B0604020202020204" pitchFamily="34" charset="0"/>
                <a:cs typeface="Arial" panose="020B0604020202020204" pitchFamily="34" charset="0"/>
              </a:rPr>
              <a:t>Thousands of requests/sec</a:t>
            </a:r>
          </a:p>
        </p:txBody>
      </p:sp>
      <p:sp>
        <p:nvSpPr>
          <p:cNvPr id="13" name="Can 12">
            <a:extLst>
              <a:ext uri="{FF2B5EF4-FFF2-40B4-BE49-F238E27FC236}">
                <a16:creationId xmlns:a16="http://schemas.microsoft.com/office/drawing/2014/main" id="{59B5402B-5DFA-3744-873A-621111C23590}"/>
              </a:ext>
            </a:extLst>
          </p:cNvPr>
          <p:cNvSpPr/>
          <p:nvPr/>
        </p:nvSpPr>
        <p:spPr>
          <a:xfrm>
            <a:off x="3719406" y="4822985"/>
            <a:ext cx="2019002" cy="999504"/>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1" name="Straight Arrow Connector 60">
            <a:extLst>
              <a:ext uri="{FF2B5EF4-FFF2-40B4-BE49-F238E27FC236}">
                <a16:creationId xmlns:a16="http://schemas.microsoft.com/office/drawing/2014/main" id="{2826D630-DEE4-134C-9A7E-ECA989B0B250}"/>
              </a:ext>
            </a:extLst>
          </p:cNvPr>
          <p:cNvCxnSpPr>
            <a:cxnSpLocks/>
          </p:cNvCxnSpPr>
          <p:nvPr/>
        </p:nvCxnSpPr>
        <p:spPr>
          <a:xfrm>
            <a:off x="5513619" y="3383339"/>
            <a:ext cx="0" cy="2770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BCAA34EB-572C-164E-A3C3-F70C233581C8}"/>
              </a:ext>
            </a:extLst>
          </p:cNvPr>
          <p:cNvCxnSpPr>
            <a:cxnSpLocks/>
          </p:cNvCxnSpPr>
          <p:nvPr/>
        </p:nvCxnSpPr>
        <p:spPr>
          <a:xfrm>
            <a:off x="7441339" y="3383339"/>
            <a:ext cx="0" cy="2770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7" name="Straight Arrow Connector 66">
            <a:extLst>
              <a:ext uri="{FF2B5EF4-FFF2-40B4-BE49-F238E27FC236}">
                <a16:creationId xmlns:a16="http://schemas.microsoft.com/office/drawing/2014/main" id="{8DD154A4-CBAE-CA4C-BA46-2DC6980D2CE0}"/>
              </a:ext>
            </a:extLst>
          </p:cNvPr>
          <p:cNvCxnSpPr>
            <a:cxnSpLocks/>
          </p:cNvCxnSpPr>
          <p:nvPr/>
        </p:nvCxnSpPr>
        <p:spPr>
          <a:xfrm>
            <a:off x="3630382" y="3383339"/>
            <a:ext cx="0" cy="2770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68" name="Straight Arrow Connector 67">
            <a:extLst>
              <a:ext uri="{FF2B5EF4-FFF2-40B4-BE49-F238E27FC236}">
                <a16:creationId xmlns:a16="http://schemas.microsoft.com/office/drawing/2014/main" id="{C6FC520A-5B35-7141-80EC-5185873D2D34}"/>
              </a:ext>
            </a:extLst>
          </p:cNvPr>
          <p:cNvCxnSpPr>
            <a:cxnSpLocks/>
          </p:cNvCxnSpPr>
          <p:nvPr/>
        </p:nvCxnSpPr>
        <p:spPr>
          <a:xfrm>
            <a:off x="2594513" y="3383339"/>
            <a:ext cx="0" cy="2770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4304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8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44"/>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4"/>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7"/>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 grpId="0"/>
      <p:bldP spid="83" grpId="0"/>
      <p:bldP spid="44" grpId="0"/>
      <p:bldP spid="52" grpId="0"/>
      <p:bldP spid="1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Bad Idea: Write Storage Software in Java/C++ </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13" name="Group 12">
            <a:extLst>
              <a:ext uri="{FF2B5EF4-FFF2-40B4-BE49-F238E27FC236}">
                <a16:creationId xmlns:a16="http://schemas.microsoft.com/office/drawing/2014/main" id="{BD236F31-3D14-8B43-B834-038C0F77087A}"/>
              </a:ext>
            </a:extLst>
          </p:cNvPr>
          <p:cNvGrpSpPr/>
          <p:nvPr/>
        </p:nvGrpSpPr>
        <p:grpSpPr>
          <a:xfrm>
            <a:off x="2349910" y="2253013"/>
            <a:ext cx="1283110" cy="1266708"/>
            <a:chOff x="1194620" y="2162292"/>
            <a:chExt cx="1283110" cy="1266708"/>
          </a:xfrm>
        </p:grpSpPr>
        <p:pic>
          <p:nvPicPr>
            <p:cNvPr id="3" name="Graphic 2" descr="Document outline">
              <a:extLst>
                <a:ext uri="{FF2B5EF4-FFF2-40B4-BE49-F238E27FC236}">
                  <a16:creationId xmlns:a16="http://schemas.microsoft.com/office/drawing/2014/main" id="{158DAB7F-232D-5644-BC2A-A3DBFA91BF6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56852" y="2162292"/>
              <a:ext cx="914400" cy="914400"/>
            </a:xfrm>
            <a:prstGeom prst="rect">
              <a:avLst/>
            </a:prstGeom>
          </p:spPr>
        </p:pic>
        <p:sp>
          <p:nvSpPr>
            <p:cNvPr id="8" name="TextBox 7">
              <a:extLst>
                <a:ext uri="{FF2B5EF4-FFF2-40B4-BE49-F238E27FC236}">
                  <a16:creationId xmlns:a16="http://schemas.microsoft.com/office/drawing/2014/main" id="{68CADD71-4E11-DA43-BAE2-23F086ACBD6A}"/>
                </a:ext>
              </a:extLst>
            </p:cNvPr>
            <p:cNvSpPr txBox="1"/>
            <p:nvPr/>
          </p:nvSpPr>
          <p:spPr>
            <a:xfrm>
              <a:off x="1194620" y="3059668"/>
              <a:ext cx="1283110" cy="369332"/>
            </a:xfrm>
            <a:prstGeom prst="rect">
              <a:avLst/>
            </a:prstGeom>
            <a:noFill/>
          </p:spPr>
          <p:txBody>
            <a:bodyPr wrap="square" rtlCol="0">
              <a:spAutoFit/>
            </a:bodyPr>
            <a:lstStyle/>
            <a:p>
              <a:r>
                <a:rPr lang="en-US" dirty="0" err="1"/>
                <a:t>Orders.txt</a:t>
              </a:r>
              <a:endParaRPr lang="en-US" dirty="0"/>
            </a:p>
          </p:txBody>
        </p:sp>
      </p:grpSp>
      <p:sp>
        <p:nvSpPr>
          <p:cNvPr id="9" name="TextBox 8">
            <a:extLst>
              <a:ext uri="{FF2B5EF4-FFF2-40B4-BE49-F238E27FC236}">
                <a16:creationId xmlns:a16="http://schemas.microsoft.com/office/drawing/2014/main" id="{896B37E4-5198-4B43-A88C-2B0461949672}"/>
              </a:ext>
            </a:extLst>
          </p:cNvPr>
          <p:cNvSpPr txBox="1"/>
          <p:nvPr/>
        </p:nvSpPr>
        <p:spPr>
          <a:xfrm>
            <a:off x="0" y="693555"/>
            <a:ext cx="9144000" cy="1131848"/>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Possible Approach: Directly use the file system of the OS. </a:t>
            </a:r>
          </a:p>
          <a:p>
            <a:pPr marL="914400" lvl="1" indent="-457200">
              <a:lnSpc>
                <a:spcPct val="150000"/>
              </a:lnSpc>
              <a:buFont typeface="Wingdings" pitchFamily="2" charset="2"/>
              <a:buChar char="Ø"/>
            </a:pPr>
            <a:r>
              <a:rPr lang="en-US" sz="2400" dirty="0" err="1">
                <a:latin typeface="Arial" panose="020B0604020202020204" pitchFamily="34" charset="0"/>
                <a:cs typeface="Arial" panose="020B0604020202020204" pitchFamily="34" charset="0"/>
              </a:rPr>
              <a:t>E.g</a:t>
            </a:r>
            <a:r>
              <a:rPr lang="en-US" sz="2400" dirty="0">
                <a:latin typeface="Arial" panose="020B0604020202020204" pitchFamily="34" charset="0"/>
                <a:cs typeface="Arial" panose="020B0604020202020204" pitchFamily="34" charset="0"/>
              </a:rPr>
              <a:t>: one or more files for orders, customers, products etc.</a:t>
            </a:r>
          </a:p>
        </p:txBody>
      </p:sp>
      <p:sp>
        <p:nvSpPr>
          <p:cNvPr id="12" name="Can 11">
            <a:extLst>
              <a:ext uri="{FF2B5EF4-FFF2-40B4-BE49-F238E27FC236}">
                <a16:creationId xmlns:a16="http://schemas.microsoft.com/office/drawing/2014/main" id="{3F045A58-F08C-2F4A-AA17-47DFB8111362}"/>
              </a:ext>
            </a:extLst>
          </p:cNvPr>
          <p:cNvSpPr/>
          <p:nvPr/>
        </p:nvSpPr>
        <p:spPr>
          <a:xfrm>
            <a:off x="2041603" y="1896819"/>
            <a:ext cx="4657678" cy="1664659"/>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C425930C-234C-5044-A105-99740DB46E68}"/>
              </a:ext>
            </a:extLst>
          </p:cNvPr>
          <p:cNvGrpSpPr/>
          <p:nvPr/>
        </p:nvGrpSpPr>
        <p:grpSpPr>
          <a:xfrm>
            <a:off x="3452000" y="2309518"/>
            <a:ext cx="1614245" cy="1543707"/>
            <a:chOff x="1194620" y="2162292"/>
            <a:chExt cx="1283110" cy="1543707"/>
          </a:xfrm>
        </p:grpSpPr>
        <p:pic>
          <p:nvPicPr>
            <p:cNvPr id="15" name="Graphic 14" descr="Document outline">
              <a:extLst>
                <a:ext uri="{FF2B5EF4-FFF2-40B4-BE49-F238E27FC236}">
                  <a16:creationId xmlns:a16="http://schemas.microsoft.com/office/drawing/2014/main" id="{15AE27BA-99C3-B24F-A910-ABFB0AD3407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56852" y="2162292"/>
              <a:ext cx="914400" cy="914400"/>
            </a:xfrm>
            <a:prstGeom prst="rect">
              <a:avLst/>
            </a:prstGeom>
          </p:spPr>
        </p:pic>
        <p:sp>
          <p:nvSpPr>
            <p:cNvPr id="16" name="TextBox 15">
              <a:extLst>
                <a:ext uri="{FF2B5EF4-FFF2-40B4-BE49-F238E27FC236}">
                  <a16:creationId xmlns:a16="http://schemas.microsoft.com/office/drawing/2014/main" id="{4D02E2AD-1F58-DA42-BF2E-8158D9181076}"/>
                </a:ext>
              </a:extLst>
            </p:cNvPr>
            <p:cNvSpPr txBox="1"/>
            <p:nvPr/>
          </p:nvSpPr>
          <p:spPr>
            <a:xfrm>
              <a:off x="1194620" y="3059668"/>
              <a:ext cx="1283110" cy="646331"/>
            </a:xfrm>
            <a:prstGeom prst="rect">
              <a:avLst/>
            </a:prstGeom>
            <a:noFill/>
          </p:spPr>
          <p:txBody>
            <a:bodyPr wrap="square" rtlCol="0">
              <a:spAutoFit/>
            </a:bodyPr>
            <a:lstStyle/>
            <a:p>
              <a:r>
                <a:rPr lang="en-US" dirty="0" err="1"/>
                <a:t>Customers.txt</a:t>
              </a:r>
              <a:endParaRPr lang="en-US" dirty="0"/>
            </a:p>
          </p:txBody>
        </p:sp>
      </p:grpSp>
      <p:grpSp>
        <p:nvGrpSpPr>
          <p:cNvPr id="17" name="Group 16">
            <a:extLst>
              <a:ext uri="{FF2B5EF4-FFF2-40B4-BE49-F238E27FC236}">
                <a16:creationId xmlns:a16="http://schemas.microsoft.com/office/drawing/2014/main" id="{9CB4ADE9-9F4F-B34E-B4E4-CBD79386AC5C}"/>
              </a:ext>
            </a:extLst>
          </p:cNvPr>
          <p:cNvGrpSpPr/>
          <p:nvPr/>
        </p:nvGrpSpPr>
        <p:grpSpPr>
          <a:xfrm>
            <a:off x="4885225" y="2309518"/>
            <a:ext cx="1614245" cy="1543707"/>
            <a:chOff x="1194620" y="2162292"/>
            <a:chExt cx="1283110" cy="1543707"/>
          </a:xfrm>
        </p:grpSpPr>
        <p:pic>
          <p:nvPicPr>
            <p:cNvPr id="18" name="Graphic 17" descr="Document outline">
              <a:extLst>
                <a:ext uri="{FF2B5EF4-FFF2-40B4-BE49-F238E27FC236}">
                  <a16:creationId xmlns:a16="http://schemas.microsoft.com/office/drawing/2014/main" id="{15CB6918-84BA-F046-8469-50FC510FD20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56852" y="2162292"/>
              <a:ext cx="914400" cy="914400"/>
            </a:xfrm>
            <a:prstGeom prst="rect">
              <a:avLst/>
            </a:prstGeom>
          </p:spPr>
        </p:pic>
        <p:sp>
          <p:nvSpPr>
            <p:cNvPr id="19" name="TextBox 18">
              <a:extLst>
                <a:ext uri="{FF2B5EF4-FFF2-40B4-BE49-F238E27FC236}">
                  <a16:creationId xmlns:a16="http://schemas.microsoft.com/office/drawing/2014/main" id="{D8207DA7-BCCB-7444-A68B-5BEEEEABDC21}"/>
                </a:ext>
              </a:extLst>
            </p:cNvPr>
            <p:cNvSpPr txBox="1"/>
            <p:nvPr/>
          </p:nvSpPr>
          <p:spPr>
            <a:xfrm>
              <a:off x="1194620" y="3059668"/>
              <a:ext cx="1283110" cy="646331"/>
            </a:xfrm>
            <a:prstGeom prst="rect">
              <a:avLst/>
            </a:prstGeom>
            <a:noFill/>
          </p:spPr>
          <p:txBody>
            <a:bodyPr wrap="square" rtlCol="0">
              <a:spAutoFit/>
            </a:bodyPr>
            <a:lstStyle/>
            <a:p>
              <a:r>
                <a:rPr lang="en-US" dirty="0" err="1"/>
                <a:t>Products.txt</a:t>
              </a:r>
              <a:endParaRPr lang="en-US" dirty="0"/>
            </a:p>
          </p:txBody>
        </p:sp>
      </p:grpSp>
      <p:sp>
        <p:nvSpPr>
          <p:cNvPr id="20" name="TextBox 19">
            <a:extLst>
              <a:ext uri="{FF2B5EF4-FFF2-40B4-BE49-F238E27FC236}">
                <a16:creationId xmlns:a16="http://schemas.microsoft.com/office/drawing/2014/main" id="{20CED76C-9DFD-FB4F-B200-85A42F091D47}"/>
              </a:ext>
            </a:extLst>
          </p:cNvPr>
          <p:cNvSpPr txBox="1"/>
          <p:nvPr/>
        </p:nvSpPr>
        <p:spPr>
          <a:xfrm>
            <a:off x="0" y="3539098"/>
            <a:ext cx="9144000" cy="2614883"/>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solidFill>
                  <a:srgbClr val="990000"/>
                </a:solidFill>
                <a:latin typeface="Arial" panose="020B0604020202020204" pitchFamily="34" charset="0"/>
                <a:cs typeface="Arial" panose="020B0604020202020204" pitchFamily="34" charset="0"/>
              </a:rPr>
              <a:t>Problem: Physical Record Design?</a:t>
            </a:r>
          </a:p>
          <a:p>
            <a:pPr marL="914400" lvl="1" indent="-4572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Suppose you record: name, birthdate for each customer</a:t>
            </a:r>
          </a:p>
          <a:p>
            <a:pPr marL="914400" lvl="1" indent="-4572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How many bytes for each fact?</a:t>
            </a:r>
          </a:p>
          <a:p>
            <a:pPr marL="1371600" lvl="2" indent="-4572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E.g.: Encoding of string names? Fixed or variable length?</a:t>
            </a:r>
          </a:p>
          <a:p>
            <a:pPr marL="914400" lvl="1" indent="-4572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Many sub-problems: E.g.: How to quickly find a record? </a:t>
            </a:r>
          </a:p>
        </p:txBody>
      </p:sp>
    </p:spTree>
    <p:extLst>
      <p:ext uri="{BB962C8B-B14F-4D97-AF65-F5344CB8AC3E}">
        <p14:creationId xmlns:p14="http://schemas.microsoft.com/office/powerpoint/2010/main" val="29168633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0">
                                            <p:txEl>
                                              <p:pRg st="1" end="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xEl>
                                              <p:pRg st="2" end="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
                                            <p:txEl>
                                              <p:pRg st="3" end="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PR1: Example Physical Record Designs (1)</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1" name="Table 21">
            <a:extLst>
              <a:ext uri="{FF2B5EF4-FFF2-40B4-BE49-F238E27FC236}">
                <a16:creationId xmlns:a16="http://schemas.microsoft.com/office/drawing/2014/main" id="{CCE8BC47-6A09-D74A-980F-64CC33CD98EB}"/>
              </a:ext>
            </a:extLst>
          </p:cNvPr>
          <p:cNvGraphicFramePr>
            <a:graphicFrameLocks noGrp="1"/>
          </p:cNvGraphicFramePr>
          <p:nvPr>
            <p:extLst>
              <p:ext uri="{D42A27DB-BD31-4B8C-83A1-F6EECF244321}">
                <p14:modId xmlns:p14="http://schemas.microsoft.com/office/powerpoint/2010/main" val="2714304274"/>
              </p:ext>
            </p:extLst>
          </p:nvPr>
        </p:nvGraphicFramePr>
        <p:xfrm>
          <a:off x="683338" y="1316424"/>
          <a:ext cx="6284252" cy="370840"/>
        </p:xfrm>
        <a:graphic>
          <a:graphicData uri="http://schemas.openxmlformats.org/drawingml/2006/table">
            <a:tbl>
              <a:tblPr firstRow="1" bandRow="1">
                <a:tableStyleId>{2D5ABB26-0587-4C30-8999-92F81FD0307C}</a:tableStyleId>
              </a:tblPr>
              <a:tblGrid>
                <a:gridCol w="2147755">
                  <a:extLst>
                    <a:ext uri="{9D8B030D-6E8A-4147-A177-3AD203B41FA5}">
                      <a16:colId xmlns:a16="http://schemas.microsoft.com/office/drawing/2014/main" val="1219927245"/>
                    </a:ext>
                  </a:extLst>
                </a:gridCol>
                <a:gridCol w="1704510">
                  <a:extLst>
                    <a:ext uri="{9D8B030D-6E8A-4147-A177-3AD203B41FA5}">
                      <a16:colId xmlns:a16="http://schemas.microsoft.com/office/drawing/2014/main" val="1727528194"/>
                    </a:ext>
                  </a:extLst>
                </a:gridCol>
                <a:gridCol w="2431987">
                  <a:extLst>
                    <a:ext uri="{9D8B030D-6E8A-4147-A177-3AD203B41FA5}">
                      <a16:colId xmlns:a16="http://schemas.microsoft.com/office/drawing/2014/main" val="3729982082"/>
                    </a:ext>
                  </a:extLst>
                </a:gridCol>
              </a:tblGrid>
              <a:tr h="370840">
                <a:tc>
                  <a:txBody>
                    <a:bodyPr/>
                    <a:lstStyle/>
                    <a:p>
                      <a:r>
                        <a:rPr lang="en-US" dirty="0"/>
                        <a:t>name-</a:t>
                      </a:r>
                      <a:r>
                        <a:rPr lang="en-US" dirty="0" err="1"/>
                        <a:t>len</a:t>
                      </a:r>
                      <a:r>
                        <a:rPr lang="en-US" dirty="0"/>
                        <a:t> (bytes)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name payload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birthdate (fixed 4 bytes)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sp>
        <p:nvSpPr>
          <p:cNvPr id="22" name="TextBox 21">
            <a:extLst>
              <a:ext uri="{FF2B5EF4-FFF2-40B4-BE49-F238E27FC236}">
                <a16:creationId xmlns:a16="http://schemas.microsoft.com/office/drawing/2014/main" id="{D876356D-14EA-8A4A-A8BF-B85473ED3370}"/>
              </a:ext>
            </a:extLst>
          </p:cNvPr>
          <p:cNvSpPr txBox="1"/>
          <p:nvPr/>
        </p:nvSpPr>
        <p:spPr>
          <a:xfrm>
            <a:off x="0" y="703923"/>
            <a:ext cx="9144000" cy="577850"/>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Variable-length design</a:t>
            </a:r>
          </a:p>
        </p:txBody>
      </p:sp>
      <p:graphicFrame>
        <p:nvGraphicFramePr>
          <p:cNvPr id="23" name="Table 21">
            <a:extLst>
              <a:ext uri="{FF2B5EF4-FFF2-40B4-BE49-F238E27FC236}">
                <a16:creationId xmlns:a16="http://schemas.microsoft.com/office/drawing/2014/main" id="{234BA3DB-2E07-0D43-BB5C-F914F7E8C0E7}"/>
              </a:ext>
            </a:extLst>
          </p:cNvPr>
          <p:cNvGraphicFramePr>
            <a:graphicFrameLocks noGrp="1"/>
          </p:cNvGraphicFramePr>
          <p:nvPr>
            <p:extLst>
              <p:ext uri="{D42A27DB-BD31-4B8C-83A1-F6EECF244321}">
                <p14:modId xmlns:p14="http://schemas.microsoft.com/office/powerpoint/2010/main" val="1752343606"/>
              </p:ext>
            </p:extLst>
          </p:nvPr>
        </p:nvGraphicFramePr>
        <p:xfrm>
          <a:off x="771827" y="1896527"/>
          <a:ext cx="3170081" cy="370840"/>
        </p:xfrm>
        <a:graphic>
          <a:graphicData uri="http://schemas.openxmlformats.org/drawingml/2006/table">
            <a:tbl>
              <a:tblPr firstRow="1" bandRow="1">
                <a:tableStyleId>{2D5ABB26-0587-4C30-8999-92F81FD0307C}</a:tableStyleId>
              </a:tblPr>
              <a:tblGrid>
                <a:gridCol w="467043">
                  <a:extLst>
                    <a:ext uri="{9D8B030D-6E8A-4147-A177-3AD203B41FA5}">
                      <a16:colId xmlns:a16="http://schemas.microsoft.com/office/drawing/2014/main" val="1219927245"/>
                    </a:ext>
                  </a:extLst>
                </a:gridCol>
                <a:gridCol w="1271905">
                  <a:extLst>
                    <a:ext uri="{9D8B030D-6E8A-4147-A177-3AD203B41FA5}">
                      <a16:colId xmlns:a16="http://schemas.microsoft.com/office/drawing/2014/main" val="1727528194"/>
                    </a:ext>
                  </a:extLst>
                </a:gridCol>
                <a:gridCol w="1431133">
                  <a:extLst>
                    <a:ext uri="{9D8B030D-6E8A-4147-A177-3AD203B41FA5}">
                      <a16:colId xmlns:a16="http://schemas.microsoft.com/office/drawing/2014/main" val="3729982082"/>
                    </a:ext>
                  </a:extLst>
                </a:gridCol>
              </a:tblGrid>
              <a:tr h="370840">
                <a:tc>
                  <a:txBody>
                    <a:bodyPr/>
                    <a:lstStyle/>
                    <a:p>
                      <a:r>
                        <a:rPr lang="en-US"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Alice Smith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2001/09/08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24" name="Table 21">
            <a:extLst>
              <a:ext uri="{FF2B5EF4-FFF2-40B4-BE49-F238E27FC236}">
                <a16:creationId xmlns:a16="http://schemas.microsoft.com/office/drawing/2014/main" id="{FE900446-E347-5A4B-82FA-4D2B201C4AAF}"/>
              </a:ext>
            </a:extLst>
          </p:cNvPr>
          <p:cNvGraphicFramePr>
            <a:graphicFrameLocks noGrp="1"/>
          </p:cNvGraphicFramePr>
          <p:nvPr>
            <p:extLst>
              <p:ext uri="{D42A27DB-BD31-4B8C-83A1-F6EECF244321}">
                <p14:modId xmlns:p14="http://schemas.microsoft.com/office/powerpoint/2010/main" val="4153002842"/>
              </p:ext>
            </p:extLst>
          </p:nvPr>
        </p:nvGraphicFramePr>
        <p:xfrm>
          <a:off x="771827" y="2320706"/>
          <a:ext cx="2500156" cy="370840"/>
        </p:xfrm>
        <a:graphic>
          <a:graphicData uri="http://schemas.openxmlformats.org/drawingml/2006/table">
            <a:tbl>
              <a:tblPr firstRow="1" bandRow="1">
                <a:tableStyleId>{2D5ABB26-0587-4C30-8999-92F81FD0307C}</a:tableStyleId>
              </a:tblPr>
              <a:tblGrid>
                <a:gridCol w="351155">
                  <a:extLst>
                    <a:ext uri="{9D8B030D-6E8A-4147-A177-3AD203B41FA5}">
                      <a16:colId xmlns:a16="http://schemas.microsoft.com/office/drawing/2014/main" val="1219927245"/>
                    </a:ext>
                  </a:extLst>
                </a:gridCol>
                <a:gridCol w="717868">
                  <a:extLst>
                    <a:ext uri="{9D8B030D-6E8A-4147-A177-3AD203B41FA5}">
                      <a16:colId xmlns:a16="http://schemas.microsoft.com/office/drawing/2014/main" val="1727528194"/>
                    </a:ext>
                  </a:extLst>
                </a:gridCol>
                <a:gridCol w="1431133">
                  <a:extLst>
                    <a:ext uri="{9D8B030D-6E8A-4147-A177-3AD203B41FA5}">
                      <a16:colId xmlns:a16="http://schemas.microsoft.com/office/drawing/2014/main" val="3729982082"/>
                    </a:ext>
                  </a:extLst>
                </a:gridCol>
              </a:tblGrid>
              <a:tr h="370840">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Ali Jo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1992/02/25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25" name="Table 21">
            <a:extLst>
              <a:ext uri="{FF2B5EF4-FFF2-40B4-BE49-F238E27FC236}">
                <a16:creationId xmlns:a16="http://schemas.microsoft.com/office/drawing/2014/main" id="{BBC9BD1F-9B71-1A4D-A987-44B0E9E4B1E4}"/>
              </a:ext>
            </a:extLst>
          </p:cNvPr>
          <p:cNvGraphicFramePr>
            <a:graphicFrameLocks noGrp="1"/>
          </p:cNvGraphicFramePr>
          <p:nvPr>
            <p:extLst>
              <p:ext uri="{D42A27DB-BD31-4B8C-83A1-F6EECF244321}">
                <p14:modId xmlns:p14="http://schemas.microsoft.com/office/powerpoint/2010/main" val="2853419583"/>
              </p:ext>
            </p:extLst>
          </p:nvPr>
        </p:nvGraphicFramePr>
        <p:xfrm>
          <a:off x="3989233" y="1897788"/>
          <a:ext cx="4348387" cy="370840"/>
        </p:xfrm>
        <a:graphic>
          <a:graphicData uri="http://schemas.openxmlformats.org/drawingml/2006/table">
            <a:tbl>
              <a:tblPr firstRow="1" bandRow="1">
                <a:tableStyleId>{2D5ABB26-0587-4C30-8999-92F81FD0307C}</a:tableStyleId>
              </a:tblPr>
              <a:tblGrid>
                <a:gridCol w="582930">
                  <a:extLst>
                    <a:ext uri="{9D8B030D-6E8A-4147-A177-3AD203B41FA5}">
                      <a16:colId xmlns:a16="http://schemas.microsoft.com/office/drawing/2014/main" val="1219927245"/>
                    </a:ext>
                  </a:extLst>
                </a:gridCol>
                <a:gridCol w="2334324">
                  <a:extLst>
                    <a:ext uri="{9D8B030D-6E8A-4147-A177-3AD203B41FA5}">
                      <a16:colId xmlns:a16="http://schemas.microsoft.com/office/drawing/2014/main" val="1727528194"/>
                    </a:ext>
                  </a:extLst>
                </a:gridCol>
                <a:gridCol w="1431133">
                  <a:extLst>
                    <a:ext uri="{9D8B030D-6E8A-4147-A177-3AD203B41FA5}">
                      <a16:colId xmlns:a16="http://schemas.microsoft.com/office/drawing/2014/main" val="3729982082"/>
                    </a:ext>
                  </a:extLst>
                </a:gridCol>
              </a:tblGrid>
              <a:tr h="370840">
                <a:tc>
                  <a:txBody>
                    <a:bodyPr/>
                    <a:lstStyle/>
                    <a:p>
                      <a:r>
                        <a:rPr lang="en-US" dirty="0"/>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Alexander Desdemona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2002/05/20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26" name="Table 21">
            <a:extLst>
              <a:ext uri="{FF2B5EF4-FFF2-40B4-BE49-F238E27FC236}">
                <a16:creationId xmlns:a16="http://schemas.microsoft.com/office/drawing/2014/main" id="{77494EF8-8AA3-CB4F-A3AD-985F452B8162}"/>
              </a:ext>
            </a:extLst>
          </p:cNvPr>
          <p:cNvGraphicFramePr>
            <a:graphicFrameLocks noGrp="1"/>
          </p:cNvGraphicFramePr>
          <p:nvPr>
            <p:extLst>
              <p:ext uri="{D42A27DB-BD31-4B8C-83A1-F6EECF244321}">
                <p14:modId xmlns:p14="http://schemas.microsoft.com/office/powerpoint/2010/main" val="327887742"/>
              </p:ext>
            </p:extLst>
          </p:nvPr>
        </p:nvGraphicFramePr>
        <p:xfrm>
          <a:off x="3316226" y="2325747"/>
          <a:ext cx="5022072" cy="365760"/>
        </p:xfrm>
        <a:graphic>
          <a:graphicData uri="http://schemas.openxmlformats.org/drawingml/2006/table">
            <a:tbl>
              <a:tblPr firstRow="1" bandRow="1">
                <a:tableStyleId>{2D5ABB26-0587-4C30-8999-92F81FD0307C}</a:tableStyleId>
              </a:tblPr>
              <a:tblGrid>
                <a:gridCol w="715628">
                  <a:extLst>
                    <a:ext uri="{9D8B030D-6E8A-4147-A177-3AD203B41FA5}">
                      <a16:colId xmlns:a16="http://schemas.microsoft.com/office/drawing/2014/main" val="1219927245"/>
                    </a:ext>
                  </a:extLst>
                </a:gridCol>
                <a:gridCol w="2966276">
                  <a:extLst>
                    <a:ext uri="{9D8B030D-6E8A-4147-A177-3AD203B41FA5}">
                      <a16:colId xmlns:a16="http://schemas.microsoft.com/office/drawing/2014/main" val="1727528194"/>
                    </a:ext>
                  </a:extLst>
                </a:gridCol>
                <a:gridCol w="1340168">
                  <a:extLst>
                    <a:ext uri="{9D8B030D-6E8A-4147-A177-3AD203B41FA5}">
                      <a16:colId xmlns:a16="http://schemas.microsoft.com/office/drawing/2014/main" val="3729982082"/>
                    </a:ext>
                  </a:extLst>
                </a:gridCol>
              </a:tblGrid>
              <a:tr h="0">
                <a:tc>
                  <a:txBody>
                    <a:bodyPr/>
                    <a:lstStyle/>
                    <a:p>
                      <a:r>
                        <a:rPr lang="en-US" dirty="0"/>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Montgomery </a:t>
                      </a:r>
                      <a:r>
                        <a:rPr lang="en-US" dirty="0" err="1"/>
                        <a:t>Cambridgeshire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1992/02/25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27" name="Table 21">
            <a:extLst>
              <a:ext uri="{FF2B5EF4-FFF2-40B4-BE49-F238E27FC236}">
                <a16:creationId xmlns:a16="http://schemas.microsoft.com/office/drawing/2014/main" id="{8D018552-D12C-9249-8DAD-BCAAAABA93B1}"/>
              </a:ext>
            </a:extLst>
          </p:cNvPr>
          <p:cNvGraphicFramePr>
            <a:graphicFrameLocks noGrp="1"/>
          </p:cNvGraphicFramePr>
          <p:nvPr>
            <p:extLst>
              <p:ext uri="{D42A27DB-BD31-4B8C-83A1-F6EECF244321}">
                <p14:modId xmlns:p14="http://schemas.microsoft.com/office/powerpoint/2010/main" val="1147715597"/>
              </p:ext>
            </p:extLst>
          </p:nvPr>
        </p:nvGraphicFramePr>
        <p:xfrm>
          <a:off x="771825" y="2752057"/>
          <a:ext cx="3033253" cy="370840"/>
        </p:xfrm>
        <a:graphic>
          <a:graphicData uri="http://schemas.openxmlformats.org/drawingml/2006/table">
            <a:tbl>
              <a:tblPr firstRow="1" bandRow="1">
                <a:tableStyleId>{2D5ABB26-0587-4C30-8999-92F81FD0307C}</a:tableStyleId>
              </a:tblPr>
              <a:tblGrid>
                <a:gridCol w="614518">
                  <a:extLst>
                    <a:ext uri="{9D8B030D-6E8A-4147-A177-3AD203B41FA5}">
                      <a16:colId xmlns:a16="http://schemas.microsoft.com/office/drawing/2014/main" val="1219927245"/>
                    </a:ext>
                  </a:extLst>
                </a:gridCol>
                <a:gridCol w="682448">
                  <a:extLst>
                    <a:ext uri="{9D8B030D-6E8A-4147-A177-3AD203B41FA5}">
                      <a16:colId xmlns:a16="http://schemas.microsoft.com/office/drawing/2014/main" val="1727528194"/>
                    </a:ext>
                  </a:extLst>
                </a:gridCol>
                <a:gridCol w="1736287">
                  <a:extLst>
                    <a:ext uri="{9D8B030D-6E8A-4147-A177-3AD203B41FA5}">
                      <a16:colId xmlns:a16="http://schemas.microsoft.com/office/drawing/2014/main" val="3729982082"/>
                    </a:ext>
                  </a:extLst>
                </a:gridCol>
              </a:tblGrid>
              <a:tr h="370840">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28" name="Table 21">
            <a:extLst>
              <a:ext uri="{FF2B5EF4-FFF2-40B4-BE49-F238E27FC236}">
                <a16:creationId xmlns:a16="http://schemas.microsoft.com/office/drawing/2014/main" id="{17F19C15-B46F-7E40-85D0-81BD16B26A88}"/>
              </a:ext>
            </a:extLst>
          </p:cNvPr>
          <p:cNvGraphicFramePr>
            <a:graphicFrameLocks noGrp="1"/>
          </p:cNvGraphicFramePr>
          <p:nvPr>
            <p:extLst>
              <p:ext uri="{D42A27DB-BD31-4B8C-83A1-F6EECF244321}">
                <p14:modId xmlns:p14="http://schemas.microsoft.com/office/powerpoint/2010/main" val="3810754972"/>
              </p:ext>
            </p:extLst>
          </p:nvPr>
        </p:nvGraphicFramePr>
        <p:xfrm>
          <a:off x="3913952" y="2752057"/>
          <a:ext cx="1689396" cy="370840"/>
        </p:xfrm>
        <a:graphic>
          <a:graphicData uri="http://schemas.openxmlformats.org/drawingml/2006/table">
            <a:tbl>
              <a:tblPr firstRow="1" bandRow="1">
                <a:tableStyleId>{2D5ABB26-0587-4C30-8999-92F81FD0307C}</a:tableStyleId>
              </a:tblPr>
              <a:tblGrid>
                <a:gridCol w="614518">
                  <a:extLst>
                    <a:ext uri="{9D8B030D-6E8A-4147-A177-3AD203B41FA5}">
                      <a16:colId xmlns:a16="http://schemas.microsoft.com/office/drawing/2014/main" val="1219927245"/>
                    </a:ext>
                  </a:extLst>
                </a:gridCol>
                <a:gridCol w="682448">
                  <a:extLst>
                    <a:ext uri="{9D8B030D-6E8A-4147-A177-3AD203B41FA5}">
                      <a16:colId xmlns:a16="http://schemas.microsoft.com/office/drawing/2014/main" val="1727528194"/>
                    </a:ext>
                  </a:extLst>
                </a:gridCol>
                <a:gridCol w="392430">
                  <a:extLst>
                    <a:ext uri="{9D8B030D-6E8A-4147-A177-3AD203B41FA5}">
                      <a16:colId xmlns:a16="http://schemas.microsoft.com/office/drawing/2014/main" val="3729982082"/>
                    </a:ext>
                  </a:extLst>
                </a:gridCol>
              </a:tblGrid>
              <a:tr h="370840">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29" name="Table 21">
            <a:extLst>
              <a:ext uri="{FF2B5EF4-FFF2-40B4-BE49-F238E27FC236}">
                <a16:creationId xmlns:a16="http://schemas.microsoft.com/office/drawing/2014/main" id="{7434A3DF-E02A-B941-B5AA-F4979C77619F}"/>
              </a:ext>
            </a:extLst>
          </p:cNvPr>
          <p:cNvGraphicFramePr>
            <a:graphicFrameLocks noGrp="1"/>
          </p:cNvGraphicFramePr>
          <p:nvPr>
            <p:extLst>
              <p:ext uri="{D42A27DB-BD31-4B8C-83A1-F6EECF244321}">
                <p14:modId xmlns:p14="http://schemas.microsoft.com/office/powerpoint/2010/main" val="1795842984"/>
              </p:ext>
            </p:extLst>
          </p:nvPr>
        </p:nvGraphicFramePr>
        <p:xfrm>
          <a:off x="5712222" y="2760225"/>
          <a:ext cx="2626076" cy="370840"/>
        </p:xfrm>
        <a:graphic>
          <a:graphicData uri="http://schemas.openxmlformats.org/drawingml/2006/table">
            <a:tbl>
              <a:tblPr firstRow="1" bandRow="1">
                <a:tableStyleId>{2D5ABB26-0587-4C30-8999-92F81FD0307C}</a:tableStyleId>
              </a:tblPr>
              <a:tblGrid>
                <a:gridCol w="955235">
                  <a:extLst>
                    <a:ext uri="{9D8B030D-6E8A-4147-A177-3AD203B41FA5}">
                      <a16:colId xmlns:a16="http://schemas.microsoft.com/office/drawing/2014/main" val="1219927245"/>
                    </a:ext>
                  </a:extLst>
                </a:gridCol>
                <a:gridCol w="1060829">
                  <a:extLst>
                    <a:ext uri="{9D8B030D-6E8A-4147-A177-3AD203B41FA5}">
                      <a16:colId xmlns:a16="http://schemas.microsoft.com/office/drawing/2014/main" val="1727528194"/>
                    </a:ext>
                  </a:extLst>
                </a:gridCol>
                <a:gridCol w="610012">
                  <a:extLst>
                    <a:ext uri="{9D8B030D-6E8A-4147-A177-3AD203B41FA5}">
                      <a16:colId xmlns:a16="http://schemas.microsoft.com/office/drawing/2014/main" val="3729982082"/>
                    </a:ext>
                  </a:extLst>
                </a:gridCol>
              </a:tblGrid>
              <a:tr h="370840">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sp>
        <p:nvSpPr>
          <p:cNvPr id="30" name="TextBox 29">
            <a:extLst>
              <a:ext uri="{FF2B5EF4-FFF2-40B4-BE49-F238E27FC236}">
                <a16:creationId xmlns:a16="http://schemas.microsoft.com/office/drawing/2014/main" id="{7BC910FC-899D-DD48-9F3B-6F1460923CDC}"/>
              </a:ext>
            </a:extLst>
          </p:cNvPr>
          <p:cNvSpPr txBox="1"/>
          <p:nvPr/>
        </p:nvSpPr>
        <p:spPr>
          <a:xfrm>
            <a:off x="3480622" y="3282499"/>
            <a:ext cx="1827498"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Customers.txt</a:t>
            </a:r>
            <a:endParaRPr lang="en-US" sz="2000" dirty="0">
              <a:latin typeface="Arial" panose="020B0604020202020204" pitchFamily="34" charset="0"/>
              <a:cs typeface="Arial" panose="020B0604020202020204" pitchFamily="34" charset="0"/>
            </a:endParaRPr>
          </a:p>
        </p:txBody>
      </p:sp>
      <p:sp>
        <p:nvSpPr>
          <p:cNvPr id="31" name="Rectangle 30">
            <a:extLst>
              <a:ext uri="{FF2B5EF4-FFF2-40B4-BE49-F238E27FC236}">
                <a16:creationId xmlns:a16="http://schemas.microsoft.com/office/drawing/2014/main" id="{244295FC-7C9A-F74B-86A4-19B3A0CEE919}"/>
              </a:ext>
            </a:extLst>
          </p:cNvPr>
          <p:cNvSpPr/>
          <p:nvPr/>
        </p:nvSpPr>
        <p:spPr>
          <a:xfrm>
            <a:off x="693167" y="1818123"/>
            <a:ext cx="7703445" cy="1463397"/>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9D55ADC2-5B44-BC4F-8D9C-C88D05D4A1D9}"/>
              </a:ext>
            </a:extLst>
          </p:cNvPr>
          <p:cNvSpPr txBox="1"/>
          <p:nvPr/>
        </p:nvSpPr>
        <p:spPr>
          <a:xfrm>
            <a:off x="65763" y="3514196"/>
            <a:ext cx="8827514" cy="577850"/>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Fixed-length design</a:t>
            </a:r>
          </a:p>
        </p:txBody>
      </p:sp>
      <p:graphicFrame>
        <p:nvGraphicFramePr>
          <p:cNvPr id="34" name="Table 21">
            <a:extLst>
              <a:ext uri="{FF2B5EF4-FFF2-40B4-BE49-F238E27FC236}">
                <a16:creationId xmlns:a16="http://schemas.microsoft.com/office/drawing/2014/main" id="{436EBED4-C9B9-5D4B-A181-F208FC12B38F}"/>
              </a:ext>
            </a:extLst>
          </p:cNvPr>
          <p:cNvGraphicFramePr>
            <a:graphicFrameLocks noGrp="1"/>
          </p:cNvGraphicFramePr>
          <p:nvPr>
            <p:extLst>
              <p:ext uri="{D42A27DB-BD31-4B8C-83A1-F6EECF244321}">
                <p14:modId xmlns:p14="http://schemas.microsoft.com/office/powerpoint/2010/main" val="1458169135"/>
              </p:ext>
            </p:extLst>
          </p:nvPr>
        </p:nvGraphicFramePr>
        <p:xfrm>
          <a:off x="784427" y="4651100"/>
          <a:ext cx="4393884" cy="370840"/>
        </p:xfrm>
        <a:graphic>
          <a:graphicData uri="http://schemas.openxmlformats.org/drawingml/2006/table">
            <a:tbl>
              <a:tblPr firstRow="1" bandRow="1">
                <a:tableStyleId>{2D5ABB26-0587-4C30-8999-92F81FD0307C}</a:tableStyleId>
              </a:tblPr>
              <a:tblGrid>
                <a:gridCol w="581343">
                  <a:extLst>
                    <a:ext uri="{9D8B030D-6E8A-4147-A177-3AD203B41FA5}">
                      <a16:colId xmlns:a16="http://schemas.microsoft.com/office/drawing/2014/main" val="1219927245"/>
                    </a:ext>
                  </a:extLst>
                </a:gridCol>
                <a:gridCol w="467043">
                  <a:extLst>
                    <a:ext uri="{9D8B030D-6E8A-4147-A177-3AD203B41FA5}">
                      <a16:colId xmlns:a16="http://schemas.microsoft.com/office/drawing/2014/main" val="1207821245"/>
                    </a:ext>
                  </a:extLst>
                </a:gridCol>
                <a:gridCol w="2005330">
                  <a:extLst>
                    <a:ext uri="{9D8B030D-6E8A-4147-A177-3AD203B41FA5}">
                      <a16:colId xmlns:a16="http://schemas.microsoft.com/office/drawing/2014/main" val="1727528194"/>
                    </a:ext>
                  </a:extLst>
                </a:gridCol>
                <a:gridCol w="1340168">
                  <a:extLst>
                    <a:ext uri="{9D8B030D-6E8A-4147-A177-3AD203B41FA5}">
                      <a16:colId xmlns:a16="http://schemas.microsoft.com/office/drawing/2014/main" val="3729982082"/>
                    </a:ext>
                  </a:extLst>
                </a:gridCol>
              </a:tblGrid>
              <a:tr h="370840">
                <a:tc>
                  <a:txBody>
                    <a:bodyPr/>
                    <a:lstStyle/>
                    <a:p>
                      <a:r>
                        <a:rPr lang="en-US" dirty="0"/>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Alice Smith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2001/09/08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sp>
        <p:nvSpPr>
          <p:cNvPr id="41" name="Rectangle 40">
            <a:extLst>
              <a:ext uri="{FF2B5EF4-FFF2-40B4-BE49-F238E27FC236}">
                <a16:creationId xmlns:a16="http://schemas.microsoft.com/office/drawing/2014/main" id="{2C4E0424-92A8-B84C-B70E-2C88F64BABA3}"/>
              </a:ext>
            </a:extLst>
          </p:cNvPr>
          <p:cNvSpPr/>
          <p:nvPr/>
        </p:nvSpPr>
        <p:spPr>
          <a:xfrm>
            <a:off x="735263" y="4602192"/>
            <a:ext cx="4544660" cy="1722277"/>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43" name="Table 21">
            <a:extLst>
              <a:ext uri="{FF2B5EF4-FFF2-40B4-BE49-F238E27FC236}">
                <a16:creationId xmlns:a16="http://schemas.microsoft.com/office/drawing/2014/main" id="{20B2AFD1-0A5B-8846-92FA-43978EE9C948}"/>
              </a:ext>
            </a:extLst>
          </p:cNvPr>
          <p:cNvGraphicFramePr>
            <a:graphicFrameLocks noGrp="1"/>
          </p:cNvGraphicFramePr>
          <p:nvPr>
            <p:extLst>
              <p:ext uri="{D42A27DB-BD31-4B8C-83A1-F6EECF244321}">
                <p14:modId xmlns:p14="http://schemas.microsoft.com/office/powerpoint/2010/main" val="3533290994"/>
              </p:ext>
            </p:extLst>
          </p:nvPr>
        </p:nvGraphicFramePr>
        <p:xfrm>
          <a:off x="735263" y="4122457"/>
          <a:ext cx="5601018" cy="365760"/>
        </p:xfrm>
        <a:graphic>
          <a:graphicData uri="http://schemas.openxmlformats.org/drawingml/2006/table">
            <a:tbl>
              <a:tblPr firstRow="1" bandRow="1">
                <a:tableStyleId>{2D5ABB26-0587-4C30-8999-92F81FD0307C}</a:tableStyleId>
              </a:tblPr>
              <a:tblGrid>
                <a:gridCol w="1466215">
                  <a:extLst>
                    <a:ext uri="{9D8B030D-6E8A-4147-A177-3AD203B41FA5}">
                      <a16:colId xmlns:a16="http://schemas.microsoft.com/office/drawing/2014/main" val="1219927245"/>
                    </a:ext>
                  </a:extLst>
                </a:gridCol>
                <a:gridCol w="522605">
                  <a:extLst>
                    <a:ext uri="{9D8B030D-6E8A-4147-A177-3AD203B41FA5}">
                      <a16:colId xmlns:a16="http://schemas.microsoft.com/office/drawing/2014/main" val="1727528194"/>
                    </a:ext>
                  </a:extLst>
                </a:gridCol>
                <a:gridCol w="1650429">
                  <a:extLst>
                    <a:ext uri="{9D8B030D-6E8A-4147-A177-3AD203B41FA5}">
                      <a16:colId xmlns:a16="http://schemas.microsoft.com/office/drawing/2014/main" val="2160998875"/>
                    </a:ext>
                  </a:extLst>
                </a:gridCol>
                <a:gridCol w="1961769">
                  <a:extLst>
                    <a:ext uri="{9D8B030D-6E8A-4147-A177-3AD203B41FA5}">
                      <a16:colId xmlns:a16="http://schemas.microsoft.com/office/drawing/2014/main" val="3729982082"/>
                    </a:ext>
                  </a:extLst>
                </a:gridCol>
              </a:tblGrid>
              <a:tr h="0">
                <a:tc>
                  <a:txBody>
                    <a:bodyPr/>
                    <a:lstStyle/>
                    <a:p>
                      <a:r>
                        <a:rPr lang="en-US" dirty="0"/>
                        <a:t>Overflow  </a:t>
                      </a:r>
                      <a:r>
                        <a:rPr lang="en-US" dirty="0" err="1"/>
                        <a:t>ptr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t>len</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name (16 byte)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birthdate (4 bytes)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sp>
        <p:nvSpPr>
          <p:cNvPr id="46" name="TextBox 45">
            <a:extLst>
              <a:ext uri="{FF2B5EF4-FFF2-40B4-BE49-F238E27FC236}">
                <a16:creationId xmlns:a16="http://schemas.microsoft.com/office/drawing/2014/main" id="{5869545B-C643-8B48-9CD3-A08435408BE0}"/>
              </a:ext>
            </a:extLst>
          </p:cNvPr>
          <p:cNvSpPr txBox="1"/>
          <p:nvPr/>
        </p:nvSpPr>
        <p:spPr>
          <a:xfrm>
            <a:off x="1660364" y="6348937"/>
            <a:ext cx="2221933" cy="400110"/>
          </a:xfrm>
          <a:prstGeom prst="rect">
            <a:avLst/>
          </a:prstGeom>
          <a:noFill/>
        </p:spPr>
        <p:txBody>
          <a:bodyPr wrap="square" rtlCol="0">
            <a:spAutoFit/>
          </a:bodyPr>
          <a:lstStyle/>
          <a:p>
            <a:pPr algn="ctr"/>
            <a:r>
              <a:rPr lang="en-US" sz="2000" dirty="0" err="1">
                <a:latin typeface="Arial" panose="020B0604020202020204" pitchFamily="34" charset="0"/>
                <a:cs typeface="Arial" panose="020B0604020202020204" pitchFamily="34" charset="0"/>
              </a:rPr>
              <a:t>Customers.txt</a:t>
            </a:r>
            <a:endParaRPr lang="en-US" sz="2000" dirty="0">
              <a:latin typeface="Arial" panose="020B0604020202020204" pitchFamily="34" charset="0"/>
              <a:cs typeface="Arial" panose="020B0604020202020204" pitchFamily="34" charset="0"/>
            </a:endParaRPr>
          </a:p>
        </p:txBody>
      </p:sp>
      <p:sp>
        <p:nvSpPr>
          <p:cNvPr id="47" name="TextBox 46">
            <a:extLst>
              <a:ext uri="{FF2B5EF4-FFF2-40B4-BE49-F238E27FC236}">
                <a16:creationId xmlns:a16="http://schemas.microsoft.com/office/drawing/2014/main" id="{4012B8B0-3ADE-6744-99D1-2C81FA3A596D}"/>
              </a:ext>
            </a:extLst>
          </p:cNvPr>
          <p:cNvSpPr txBox="1"/>
          <p:nvPr/>
        </p:nvSpPr>
        <p:spPr>
          <a:xfrm>
            <a:off x="5394624" y="6305139"/>
            <a:ext cx="2799573" cy="400110"/>
          </a:xfrm>
          <a:prstGeom prst="rect">
            <a:avLst/>
          </a:prstGeom>
          <a:noFill/>
        </p:spPr>
        <p:txBody>
          <a:bodyPr wrap="square" rtlCol="0">
            <a:spAutoFit/>
          </a:bodyPr>
          <a:lstStyle/>
          <a:p>
            <a:r>
              <a:rPr lang="en-US" sz="2000" dirty="0">
                <a:latin typeface="Arial" panose="020B0604020202020204" pitchFamily="34" charset="0"/>
                <a:cs typeface="Arial" panose="020B0604020202020204" pitchFamily="34" charset="0"/>
              </a:rPr>
              <a:t>Customer-</a:t>
            </a:r>
            <a:r>
              <a:rPr lang="en-US" sz="2000" dirty="0" err="1">
                <a:latin typeface="Arial" panose="020B0604020202020204" pitchFamily="34" charset="0"/>
                <a:cs typeface="Arial" panose="020B0604020202020204" pitchFamily="34" charset="0"/>
              </a:rPr>
              <a:t>overflow.txt</a:t>
            </a:r>
            <a:endParaRPr lang="en-US" sz="2000" dirty="0">
              <a:latin typeface="Arial" panose="020B0604020202020204" pitchFamily="34" charset="0"/>
              <a:cs typeface="Arial" panose="020B0604020202020204" pitchFamily="34" charset="0"/>
            </a:endParaRPr>
          </a:p>
        </p:txBody>
      </p:sp>
      <p:graphicFrame>
        <p:nvGraphicFramePr>
          <p:cNvPr id="48" name="Table 21">
            <a:extLst>
              <a:ext uri="{FF2B5EF4-FFF2-40B4-BE49-F238E27FC236}">
                <a16:creationId xmlns:a16="http://schemas.microsoft.com/office/drawing/2014/main" id="{C32D92EF-2076-6D48-BE8F-ADC860E69B22}"/>
              </a:ext>
            </a:extLst>
          </p:cNvPr>
          <p:cNvGraphicFramePr>
            <a:graphicFrameLocks noGrp="1"/>
          </p:cNvGraphicFramePr>
          <p:nvPr>
            <p:extLst>
              <p:ext uri="{D42A27DB-BD31-4B8C-83A1-F6EECF244321}">
                <p14:modId xmlns:p14="http://schemas.microsoft.com/office/powerpoint/2010/main" val="2009930763"/>
              </p:ext>
            </p:extLst>
          </p:nvPr>
        </p:nvGraphicFramePr>
        <p:xfrm>
          <a:off x="789346" y="5054217"/>
          <a:ext cx="4372040" cy="370840"/>
        </p:xfrm>
        <a:graphic>
          <a:graphicData uri="http://schemas.openxmlformats.org/drawingml/2006/table">
            <a:tbl>
              <a:tblPr firstRow="1" bandRow="1">
                <a:tableStyleId>{2D5ABB26-0587-4C30-8999-92F81FD0307C}</a:tableStyleId>
              </a:tblPr>
              <a:tblGrid>
                <a:gridCol w="581343">
                  <a:extLst>
                    <a:ext uri="{9D8B030D-6E8A-4147-A177-3AD203B41FA5}">
                      <a16:colId xmlns:a16="http://schemas.microsoft.com/office/drawing/2014/main" val="1219927245"/>
                    </a:ext>
                  </a:extLst>
                </a:gridCol>
                <a:gridCol w="467043">
                  <a:extLst>
                    <a:ext uri="{9D8B030D-6E8A-4147-A177-3AD203B41FA5}">
                      <a16:colId xmlns:a16="http://schemas.microsoft.com/office/drawing/2014/main" val="1207821245"/>
                    </a:ext>
                  </a:extLst>
                </a:gridCol>
                <a:gridCol w="1983486">
                  <a:extLst>
                    <a:ext uri="{9D8B030D-6E8A-4147-A177-3AD203B41FA5}">
                      <a16:colId xmlns:a16="http://schemas.microsoft.com/office/drawing/2014/main" val="1727528194"/>
                    </a:ext>
                  </a:extLst>
                </a:gridCol>
                <a:gridCol w="1340168">
                  <a:extLst>
                    <a:ext uri="{9D8B030D-6E8A-4147-A177-3AD203B41FA5}">
                      <a16:colId xmlns:a16="http://schemas.microsoft.com/office/drawing/2014/main" val="3729982082"/>
                    </a:ext>
                  </a:extLst>
                </a:gridCol>
              </a:tblGrid>
              <a:tr h="370840">
                <a:tc>
                  <a:txBody>
                    <a:bodyPr/>
                    <a:lstStyle/>
                    <a:p>
                      <a:r>
                        <a:rPr lang="en-US"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Alexander </a:t>
                      </a:r>
                      <a:r>
                        <a:rPr lang="en-US" dirty="0" err="1"/>
                        <a:t>Desdem</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2002/05/20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sp>
        <p:nvSpPr>
          <p:cNvPr id="51" name="Freeform 50">
            <a:extLst>
              <a:ext uri="{FF2B5EF4-FFF2-40B4-BE49-F238E27FC236}">
                <a16:creationId xmlns:a16="http://schemas.microsoft.com/office/drawing/2014/main" id="{E7D283B0-693E-A743-8D4C-D9CC14ACEB18}"/>
              </a:ext>
            </a:extLst>
          </p:cNvPr>
          <p:cNvSpPr/>
          <p:nvPr/>
        </p:nvSpPr>
        <p:spPr>
          <a:xfrm>
            <a:off x="1188534" y="4016451"/>
            <a:ext cx="4372040" cy="1233629"/>
          </a:xfrm>
          <a:custGeom>
            <a:avLst/>
            <a:gdLst>
              <a:gd name="connsiteX0" fmla="*/ 0 w 4129549"/>
              <a:gd name="connsiteY0" fmla="*/ 1233629 h 1233629"/>
              <a:gd name="connsiteX1" fmla="*/ 2580968 w 4129549"/>
              <a:gd name="connsiteY1" fmla="*/ 9513 h 1233629"/>
              <a:gd name="connsiteX2" fmla="*/ 4129549 w 4129549"/>
              <a:gd name="connsiteY2" fmla="*/ 673190 h 1233629"/>
            </a:gdLst>
            <a:ahLst/>
            <a:cxnLst>
              <a:cxn ang="0">
                <a:pos x="connsiteX0" y="connsiteY0"/>
              </a:cxn>
              <a:cxn ang="0">
                <a:pos x="connsiteX1" y="connsiteY1"/>
              </a:cxn>
              <a:cxn ang="0">
                <a:pos x="connsiteX2" y="connsiteY2"/>
              </a:cxn>
            </a:cxnLst>
            <a:rect l="l" t="t" r="r" b="b"/>
            <a:pathLst>
              <a:path w="4129549" h="1233629">
                <a:moveTo>
                  <a:pt x="0" y="1233629"/>
                </a:moveTo>
                <a:cubicBezTo>
                  <a:pt x="946355" y="668274"/>
                  <a:pt x="1892710" y="102920"/>
                  <a:pt x="2580968" y="9513"/>
                </a:cubicBezTo>
                <a:cubicBezTo>
                  <a:pt x="3269226" y="-83894"/>
                  <a:pt x="3844414" y="537997"/>
                  <a:pt x="4129549" y="673190"/>
                </a:cubicBezTo>
              </a:path>
            </a:pathLst>
          </a:custGeom>
          <a:noFill/>
          <a:ln w="22225">
            <a:solidFill>
              <a:schemeClr val="tx1"/>
            </a:solidFill>
            <a:headEnd type="none"/>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52" name="Table 21">
            <a:extLst>
              <a:ext uri="{FF2B5EF4-FFF2-40B4-BE49-F238E27FC236}">
                <a16:creationId xmlns:a16="http://schemas.microsoft.com/office/drawing/2014/main" id="{DD8E5255-E6A3-584D-B3C7-64D77557E14C}"/>
              </a:ext>
            </a:extLst>
          </p:cNvPr>
          <p:cNvGraphicFramePr>
            <a:graphicFrameLocks noGrp="1"/>
          </p:cNvGraphicFramePr>
          <p:nvPr>
            <p:extLst>
              <p:ext uri="{D42A27DB-BD31-4B8C-83A1-F6EECF244321}">
                <p14:modId xmlns:p14="http://schemas.microsoft.com/office/powerpoint/2010/main" val="545497439"/>
              </p:ext>
            </p:extLst>
          </p:nvPr>
        </p:nvGraphicFramePr>
        <p:xfrm>
          <a:off x="784427" y="5486242"/>
          <a:ext cx="4372040" cy="370840"/>
        </p:xfrm>
        <a:graphic>
          <a:graphicData uri="http://schemas.openxmlformats.org/drawingml/2006/table">
            <a:tbl>
              <a:tblPr firstRow="1" bandRow="1">
                <a:tableStyleId>{2D5ABB26-0587-4C30-8999-92F81FD0307C}</a:tableStyleId>
              </a:tblPr>
              <a:tblGrid>
                <a:gridCol w="581343">
                  <a:extLst>
                    <a:ext uri="{9D8B030D-6E8A-4147-A177-3AD203B41FA5}">
                      <a16:colId xmlns:a16="http://schemas.microsoft.com/office/drawing/2014/main" val="1219927245"/>
                    </a:ext>
                  </a:extLst>
                </a:gridCol>
                <a:gridCol w="467043">
                  <a:extLst>
                    <a:ext uri="{9D8B030D-6E8A-4147-A177-3AD203B41FA5}">
                      <a16:colId xmlns:a16="http://schemas.microsoft.com/office/drawing/2014/main" val="1207821245"/>
                    </a:ext>
                  </a:extLst>
                </a:gridCol>
                <a:gridCol w="1983486">
                  <a:extLst>
                    <a:ext uri="{9D8B030D-6E8A-4147-A177-3AD203B41FA5}">
                      <a16:colId xmlns:a16="http://schemas.microsoft.com/office/drawing/2014/main" val="1727528194"/>
                    </a:ext>
                  </a:extLst>
                </a:gridCol>
                <a:gridCol w="1340168">
                  <a:extLst>
                    <a:ext uri="{9D8B030D-6E8A-4147-A177-3AD203B41FA5}">
                      <a16:colId xmlns:a16="http://schemas.microsoft.com/office/drawing/2014/main" val="3729982082"/>
                    </a:ext>
                  </a:extLst>
                </a:gridCol>
              </a:tblGrid>
              <a:tr h="370840">
                <a:tc>
                  <a:txBody>
                    <a:bodyPr/>
                    <a:lstStyle/>
                    <a:p>
                      <a:r>
                        <a:rPr lang="en-US" dirty="0"/>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Ali Jo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1992/02/25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53" name="Table 21">
            <a:extLst>
              <a:ext uri="{FF2B5EF4-FFF2-40B4-BE49-F238E27FC236}">
                <a16:creationId xmlns:a16="http://schemas.microsoft.com/office/drawing/2014/main" id="{CB1DC182-B029-4441-BFAB-E5E1F5828A10}"/>
              </a:ext>
            </a:extLst>
          </p:cNvPr>
          <p:cNvGraphicFramePr>
            <a:graphicFrameLocks noGrp="1"/>
          </p:cNvGraphicFramePr>
          <p:nvPr>
            <p:extLst>
              <p:ext uri="{D42A27DB-BD31-4B8C-83A1-F6EECF244321}">
                <p14:modId xmlns:p14="http://schemas.microsoft.com/office/powerpoint/2010/main" val="1897842794"/>
              </p:ext>
            </p:extLst>
          </p:nvPr>
        </p:nvGraphicFramePr>
        <p:xfrm>
          <a:off x="784427" y="5903599"/>
          <a:ext cx="4372040" cy="370840"/>
        </p:xfrm>
        <a:graphic>
          <a:graphicData uri="http://schemas.openxmlformats.org/drawingml/2006/table">
            <a:tbl>
              <a:tblPr firstRow="1" bandRow="1">
                <a:tableStyleId>{2D5ABB26-0587-4C30-8999-92F81FD0307C}</a:tableStyleId>
              </a:tblPr>
              <a:tblGrid>
                <a:gridCol w="581343">
                  <a:extLst>
                    <a:ext uri="{9D8B030D-6E8A-4147-A177-3AD203B41FA5}">
                      <a16:colId xmlns:a16="http://schemas.microsoft.com/office/drawing/2014/main" val="1219927245"/>
                    </a:ext>
                  </a:extLst>
                </a:gridCol>
                <a:gridCol w="467043">
                  <a:extLst>
                    <a:ext uri="{9D8B030D-6E8A-4147-A177-3AD203B41FA5}">
                      <a16:colId xmlns:a16="http://schemas.microsoft.com/office/drawing/2014/main" val="1207821245"/>
                    </a:ext>
                  </a:extLst>
                </a:gridCol>
                <a:gridCol w="1983486">
                  <a:extLst>
                    <a:ext uri="{9D8B030D-6E8A-4147-A177-3AD203B41FA5}">
                      <a16:colId xmlns:a16="http://schemas.microsoft.com/office/drawing/2014/main" val="1727528194"/>
                    </a:ext>
                  </a:extLst>
                </a:gridCol>
                <a:gridCol w="1340168">
                  <a:extLst>
                    <a:ext uri="{9D8B030D-6E8A-4147-A177-3AD203B41FA5}">
                      <a16:colId xmlns:a16="http://schemas.microsoft.com/office/drawing/2014/main" val="3729982082"/>
                    </a:ext>
                  </a:extLst>
                </a:gridCol>
              </a:tblGrid>
              <a:tr h="370840">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sp>
        <p:nvSpPr>
          <p:cNvPr id="54" name="Rectangle 53">
            <a:extLst>
              <a:ext uri="{FF2B5EF4-FFF2-40B4-BE49-F238E27FC236}">
                <a16:creationId xmlns:a16="http://schemas.microsoft.com/office/drawing/2014/main" id="{A1824B1D-6B81-6543-998D-0379C975AA10}"/>
              </a:ext>
            </a:extLst>
          </p:cNvPr>
          <p:cNvSpPr/>
          <p:nvPr/>
        </p:nvSpPr>
        <p:spPr>
          <a:xfrm>
            <a:off x="5329087" y="4597417"/>
            <a:ext cx="2865110" cy="1722277"/>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55" name="Table 21">
            <a:extLst>
              <a:ext uri="{FF2B5EF4-FFF2-40B4-BE49-F238E27FC236}">
                <a16:creationId xmlns:a16="http://schemas.microsoft.com/office/drawing/2014/main" id="{4256FA4F-7AD4-A449-B62C-BD961F3EFB08}"/>
              </a:ext>
            </a:extLst>
          </p:cNvPr>
          <p:cNvGraphicFramePr>
            <a:graphicFrameLocks noGrp="1"/>
          </p:cNvGraphicFramePr>
          <p:nvPr>
            <p:extLst>
              <p:ext uri="{D42A27DB-BD31-4B8C-83A1-F6EECF244321}">
                <p14:modId xmlns:p14="http://schemas.microsoft.com/office/powerpoint/2010/main" val="2138089126"/>
              </p:ext>
            </p:extLst>
          </p:nvPr>
        </p:nvGraphicFramePr>
        <p:xfrm>
          <a:off x="5394625" y="4651100"/>
          <a:ext cx="2672741" cy="370840"/>
        </p:xfrm>
        <a:graphic>
          <a:graphicData uri="http://schemas.openxmlformats.org/drawingml/2006/table">
            <a:tbl>
              <a:tblPr firstRow="1" bandRow="1">
                <a:tableStyleId>{2D5ABB26-0587-4C30-8999-92F81FD0307C}</a:tableStyleId>
              </a:tblPr>
              <a:tblGrid>
                <a:gridCol w="581343">
                  <a:extLst>
                    <a:ext uri="{9D8B030D-6E8A-4147-A177-3AD203B41FA5}">
                      <a16:colId xmlns:a16="http://schemas.microsoft.com/office/drawing/2014/main" val="1219927245"/>
                    </a:ext>
                  </a:extLst>
                </a:gridCol>
                <a:gridCol w="1081278">
                  <a:extLst>
                    <a:ext uri="{9D8B030D-6E8A-4147-A177-3AD203B41FA5}">
                      <a16:colId xmlns:a16="http://schemas.microsoft.com/office/drawing/2014/main" val="1207821245"/>
                    </a:ext>
                  </a:extLst>
                </a:gridCol>
                <a:gridCol w="1010120">
                  <a:extLst>
                    <a:ext uri="{9D8B030D-6E8A-4147-A177-3AD203B41FA5}">
                      <a16:colId xmlns:a16="http://schemas.microsoft.com/office/drawing/2014/main" val="1727528194"/>
                    </a:ext>
                  </a:extLst>
                </a:gridCol>
              </a:tblGrid>
              <a:tr h="370840">
                <a:tc>
                  <a:txBody>
                    <a:bodyPr/>
                    <a:lstStyle/>
                    <a:p>
                      <a:r>
                        <a:rPr lang="en-US" dirty="0" err="1"/>
                        <a:t>ona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t>idgeshire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56" name="Table 21">
            <a:extLst>
              <a:ext uri="{FF2B5EF4-FFF2-40B4-BE49-F238E27FC236}">
                <a16:creationId xmlns:a16="http://schemas.microsoft.com/office/drawing/2014/main" id="{816F9293-45D0-2A4E-9950-55E957448CA5}"/>
              </a:ext>
            </a:extLst>
          </p:cNvPr>
          <p:cNvGraphicFramePr>
            <a:graphicFrameLocks noGrp="1"/>
          </p:cNvGraphicFramePr>
          <p:nvPr>
            <p:extLst>
              <p:ext uri="{D42A27DB-BD31-4B8C-83A1-F6EECF244321}">
                <p14:modId xmlns:p14="http://schemas.microsoft.com/office/powerpoint/2010/main" val="616455290"/>
              </p:ext>
            </p:extLst>
          </p:nvPr>
        </p:nvGraphicFramePr>
        <p:xfrm>
          <a:off x="5394624" y="5095884"/>
          <a:ext cx="2672741" cy="370840"/>
        </p:xfrm>
        <a:graphic>
          <a:graphicData uri="http://schemas.openxmlformats.org/drawingml/2006/table">
            <a:tbl>
              <a:tblPr firstRow="1" bandRow="1">
                <a:tableStyleId>{2D5ABB26-0587-4C30-8999-92F81FD0307C}</a:tableStyleId>
              </a:tblPr>
              <a:tblGrid>
                <a:gridCol w="1153660">
                  <a:extLst>
                    <a:ext uri="{9D8B030D-6E8A-4147-A177-3AD203B41FA5}">
                      <a16:colId xmlns:a16="http://schemas.microsoft.com/office/drawing/2014/main" val="1219927245"/>
                    </a:ext>
                  </a:extLst>
                </a:gridCol>
                <a:gridCol w="737419">
                  <a:extLst>
                    <a:ext uri="{9D8B030D-6E8A-4147-A177-3AD203B41FA5}">
                      <a16:colId xmlns:a16="http://schemas.microsoft.com/office/drawing/2014/main" val="1207821245"/>
                    </a:ext>
                  </a:extLst>
                </a:gridCol>
                <a:gridCol w="781662">
                  <a:extLst>
                    <a:ext uri="{9D8B030D-6E8A-4147-A177-3AD203B41FA5}">
                      <a16:colId xmlns:a16="http://schemas.microsoft.com/office/drawing/2014/main" val="1727528194"/>
                    </a:ext>
                  </a:extLst>
                </a:gridCol>
              </a:tblGrid>
              <a:tr h="370840">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spTree>
    <p:extLst>
      <p:ext uri="{BB962C8B-B14F-4D97-AF65-F5344CB8AC3E}">
        <p14:creationId xmlns:p14="http://schemas.microsoft.com/office/powerpoint/2010/main" val="2133091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9"/>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1"/>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4"/>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6"/>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48"/>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2"/>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5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4"/>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5"/>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56"/>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0" grpId="0"/>
      <p:bldP spid="31" grpId="0" animBg="1"/>
      <p:bldP spid="32" grpId="0"/>
      <p:bldP spid="41" grpId="0" animBg="1"/>
      <p:bldP spid="46" grpId="0"/>
      <p:bldP spid="47" grpId="0"/>
      <p:bldP spid="51" grpId="0" animBg="1"/>
      <p:bldP spid="5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PR1: Example Physical Record Designs (2)</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1" name="Table 21">
            <a:extLst>
              <a:ext uri="{FF2B5EF4-FFF2-40B4-BE49-F238E27FC236}">
                <a16:creationId xmlns:a16="http://schemas.microsoft.com/office/drawing/2014/main" id="{CCE8BC47-6A09-D74A-980F-64CC33CD98EB}"/>
              </a:ext>
            </a:extLst>
          </p:cNvPr>
          <p:cNvGraphicFramePr>
            <a:graphicFrameLocks noGrp="1"/>
          </p:cNvGraphicFramePr>
          <p:nvPr>
            <p:extLst>
              <p:ext uri="{D42A27DB-BD31-4B8C-83A1-F6EECF244321}">
                <p14:modId xmlns:p14="http://schemas.microsoft.com/office/powerpoint/2010/main" val="2550280257"/>
              </p:ext>
            </p:extLst>
          </p:nvPr>
        </p:nvGraphicFramePr>
        <p:xfrm>
          <a:off x="594852" y="1479245"/>
          <a:ext cx="7845300" cy="370840"/>
        </p:xfrm>
        <a:graphic>
          <a:graphicData uri="http://schemas.openxmlformats.org/drawingml/2006/table">
            <a:tbl>
              <a:tblPr firstRow="1" bandRow="1">
                <a:tableStyleId>{2D5ABB26-0587-4C30-8999-92F81FD0307C}</a:tableStyleId>
              </a:tblPr>
              <a:tblGrid>
                <a:gridCol w="1920304">
                  <a:extLst>
                    <a:ext uri="{9D8B030D-6E8A-4147-A177-3AD203B41FA5}">
                      <a16:colId xmlns:a16="http://schemas.microsoft.com/office/drawing/2014/main" val="1219927245"/>
                    </a:ext>
                  </a:extLst>
                </a:gridCol>
                <a:gridCol w="1547051">
                  <a:extLst>
                    <a:ext uri="{9D8B030D-6E8A-4147-A177-3AD203B41FA5}">
                      <a16:colId xmlns:a16="http://schemas.microsoft.com/office/drawing/2014/main" val="1727528194"/>
                    </a:ext>
                  </a:extLst>
                </a:gridCol>
                <a:gridCol w="2431987">
                  <a:extLst>
                    <a:ext uri="{9D8B030D-6E8A-4147-A177-3AD203B41FA5}">
                      <a16:colId xmlns:a16="http://schemas.microsoft.com/office/drawing/2014/main" val="3729982082"/>
                    </a:ext>
                  </a:extLst>
                </a:gridCol>
                <a:gridCol w="969709">
                  <a:extLst>
                    <a:ext uri="{9D8B030D-6E8A-4147-A177-3AD203B41FA5}">
                      <a16:colId xmlns:a16="http://schemas.microsoft.com/office/drawing/2014/main" val="2412355341"/>
                    </a:ext>
                  </a:extLst>
                </a:gridCol>
                <a:gridCol w="976249">
                  <a:extLst>
                    <a:ext uri="{9D8B030D-6E8A-4147-A177-3AD203B41FA5}">
                      <a16:colId xmlns:a16="http://schemas.microsoft.com/office/drawing/2014/main" val="654265835"/>
                    </a:ext>
                  </a:extLst>
                </a:gridCol>
              </a:tblGrid>
              <a:tr h="370840">
                <a:tc>
                  <a:txBody>
                    <a:bodyPr/>
                    <a:lstStyle/>
                    <a:p>
                      <a:r>
                        <a:rPr lang="en-US" dirty="0"/>
                        <a:t>name-</a:t>
                      </a:r>
                      <a:r>
                        <a:rPr lang="en-US" dirty="0" err="1"/>
                        <a:t>leng</a:t>
                      </a:r>
                      <a:r>
                        <a:rPr lang="en-US" dirty="0"/>
                        <a:t> (bytes)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name payload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birthdate (fixes 4 bytes)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t>prev</a:t>
                      </a:r>
                      <a:r>
                        <a:rPr lang="en-US" dirty="0"/>
                        <a:t> </a:t>
                      </a:r>
                      <a:r>
                        <a:rPr lang="en-US" dirty="0" err="1"/>
                        <a:t>ptr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next </a:t>
                      </a:r>
                      <a:r>
                        <a:rPr lang="en-US" dirty="0" err="1"/>
                        <a:t>ptr</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sp>
        <p:nvSpPr>
          <p:cNvPr id="22" name="TextBox 21">
            <a:extLst>
              <a:ext uri="{FF2B5EF4-FFF2-40B4-BE49-F238E27FC236}">
                <a16:creationId xmlns:a16="http://schemas.microsoft.com/office/drawing/2014/main" id="{D876356D-14EA-8A4A-A8BF-B85473ED3370}"/>
              </a:ext>
            </a:extLst>
          </p:cNvPr>
          <p:cNvSpPr txBox="1"/>
          <p:nvPr/>
        </p:nvSpPr>
        <p:spPr>
          <a:xfrm>
            <a:off x="0" y="792411"/>
            <a:ext cx="9144000" cy="577850"/>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Chained Design: Maybe to keep in sorted alphabetical order</a:t>
            </a:r>
          </a:p>
        </p:txBody>
      </p:sp>
      <p:graphicFrame>
        <p:nvGraphicFramePr>
          <p:cNvPr id="23" name="Table 21">
            <a:extLst>
              <a:ext uri="{FF2B5EF4-FFF2-40B4-BE49-F238E27FC236}">
                <a16:creationId xmlns:a16="http://schemas.microsoft.com/office/drawing/2014/main" id="{234BA3DB-2E07-0D43-BB5C-F914F7E8C0E7}"/>
              </a:ext>
            </a:extLst>
          </p:cNvPr>
          <p:cNvGraphicFramePr>
            <a:graphicFrameLocks noGrp="1"/>
          </p:cNvGraphicFramePr>
          <p:nvPr>
            <p:extLst>
              <p:ext uri="{D42A27DB-BD31-4B8C-83A1-F6EECF244321}">
                <p14:modId xmlns:p14="http://schemas.microsoft.com/office/powerpoint/2010/main" val="547354321"/>
              </p:ext>
            </p:extLst>
          </p:nvPr>
        </p:nvGraphicFramePr>
        <p:xfrm>
          <a:off x="429227" y="2249416"/>
          <a:ext cx="3738123" cy="370840"/>
        </p:xfrm>
        <a:graphic>
          <a:graphicData uri="http://schemas.openxmlformats.org/drawingml/2006/table">
            <a:tbl>
              <a:tblPr firstRow="1" bandRow="1">
                <a:tableStyleId>{2D5ABB26-0587-4C30-8999-92F81FD0307C}</a:tableStyleId>
              </a:tblPr>
              <a:tblGrid>
                <a:gridCol w="419082">
                  <a:extLst>
                    <a:ext uri="{9D8B030D-6E8A-4147-A177-3AD203B41FA5}">
                      <a16:colId xmlns:a16="http://schemas.microsoft.com/office/drawing/2014/main" val="1389260019"/>
                    </a:ext>
                  </a:extLst>
                </a:gridCol>
                <a:gridCol w="419082">
                  <a:extLst>
                    <a:ext uri="{9D8B030D-6E8A-4147-A177-3AD203B41FA5}">
                      <a16:colId xmlns:a16="http://schemas.microsoft.com/office/drawing/2014/main" val="1219927245"/>
                    </a:ext>
                  </a:extLst>
                </a:gridCol>
                <a:gridCol w="740093">
                  <a:extLst>
                    <a:ext uri="{9D8B030D-6E8A-4147-A177-3AD203B41FA5}">
                      <a16:colId xmlns:a16="http://schemas.microsoft.com/office/drawing/2014/main" val="1727528194"/>
                    </a:ext>
                  </a:extLst>
                </a:gridCol>
                <a:gridCol w="1340168">
                  <a:extLst>
                    <a:ext uri="{9D8B030D-6E8A-4147-A177-3AD203B41FA5}">
                      <a16:colId xmlns:a16="http://schemas.microsoft.com/office/drawing/2014/main" val="3729982082"/>
                    </a:ext>
                  </a:extLst>
                </a:gridCol>
                <a:gridCol w="430530">
                  <a:extLst>
                    <a:ext uri="{9D8B030D-6E8A-4147-A177-3AD203B41FA5}">
                      <a16:colId xmlns:a16="http://schemas.microsoft.com/office/drawing/2014/main" val="1205362970"/>
                    </a:ext>
                  </a:extLst>
                </a:gridCol>
                <a:gridCol w="389168">
                  <a:extLst>
                    <a:ext uri="{9D8B030D-6E8A-4147-A177-3AD203B41FA5}">
                      <a16:colId xmlns:a16="http://schemas.microsoft.com/office/drawing/2014/main" val="2911028991"/>
                    </a:ext>
                  </a:extLst>
                </a:gridCol>
              </a:tblGrid>
              <a:tr h="370840">
                <a:tc>
                  <a:txBody>
                    <a:bodyPr/>
                    <a:lstStyle/>
                    <a:p>
                      <a:r>
                        <a:rPr lang="en-US" dirty="0"/>
                        <a:t>r0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r>
                        <a:rPr lang="en-US" dirty="0"/>
                        <a:t>11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Alice.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2001/09/08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24" name="Table 21">
            <a:extLst>
              <a:ext uri="{FF2B5EF4-FFF2-40B4-BE49-F238E27FC236}">
                <a16:creationId xmlns:a16="http://schemas.microsoft.com/office/drawing/2014/main" id="{FE900446-E347-5A4B-82FA-4D2B201C4AAF}"/>
              </a:ext>
            </a:extLst>
          </p:cNvPr>
          <p:cNvGraphicFramePr>
            <a:graphicFrameLocks noGrp="1"/>
          </p:cNvGraphicFramePr>
          <p:nvPr>
            <p:extLst>
              <p:ext uri="{D42A27DB-BD31-4B8C-83A1-F6EECF244321}">
                <p14:modId xmlns:p14="http://schemas.microsoft.com/office/powerpoint/2010/main" val="581690749"/>
              </p:ext>
            </p:extLst>
          </p:nvPr>
        </p:nvGraphicFramePr>
        <p:xfrm>
          <a:off x="424195" y="2781161"/>
          <a:ext cx="3753315" cy="370840"/>
        </p:xfrm>
        <a:graphic>
          <a:graphicData uri="http://schemas.openxmlformats.org/drawingml/2006/table">
            <a:tbl>
              <a:tblPr firstRow="1" bandRow="1">
                <a:tableStyleId>{2D5ABB26-0587-4C30-8999-92F81FD0307C}</a:tableStyleId>
              </a:tblPr>
              <a:tblGrid>
                <a:gridCol w="430530">
                  <a:extLst>
                    <a:ext uri="{9D8B030D-6E8A-4147-A177-3AD203B41FA5}">
                      <a16:colId xmlns:a16="http://schemas.microsoft.com/office/drawing/2014/main" val="2365818790"/>
                    </a:ext>
                  </a:extLst>
                </a:gridCol>
                <a:gridCol w="321042">
                  <a:extLst>
                    <a:ext uri="{9D8B030D-6E8A-4147-A177-3AD203B41FA5}">
                      <a16:colId xmlns:a16="http://schemas.microsoft.com/office/drawing/2014/main" val="1219927245"/>
                    </a:ext>
                  </a:extLst>
                </a:gridCol>
                <a:gridCol w="800515">
                  <a:extLst>
                    <a:ext uri="{9D8B030D-6E8A-4147-A177-3AD203B41FA5}">
                      <a16:colId xmlns:a16="http://schemas.microsoft.com/office/drawing/2014/main" val="1727528194"/>
                    </a:ext>
                  </a:extLst>
                </a:gridCol>
                <a:gridCol w="1340168">
                  <a:extLst>
                    <a:ext uri="{9D8B030D-6E8A-4147-A177-3AD203B41FA5}">
                      <a16:colId xmlns:a16="http://schemas.microsoft.com/office/drawing/2014/main" val="3729982082"/>
                    </a:ext>
                  </a:extLst>
                </a:gridCol>
                <a:gridCol w="430530">
                  <a:extLst>
                    <a:ext uri="{9D8B030D-6E8A-4147-A177-3AD203B41FA5}">
                      <a16:colId xmlns:a16="http://schemas.microsoft.com/office/drawing/2014/main" val="2065828493"/>
                    </a:ext>
                  </a:extLst>
                </a:gridCol>
                <a:gridCol w="430530">
                  <a:extLst>
                    <a:ext uri="{9D8B030D-6E8A-4147-A177-3AD203B41FA5}">
                      <a16:colId xmlns:a16="http://schemas.microsoft.com/office/drawing/2014/main" val="1005210985"/>
                    </a:ext>
                  </a:extLst>
                </a:gridCol>
              </a:tblGrid>
              <a:tr h="370840">
                <a:tc>
                  <a:txBody>
                    <a:bodyPr/>
                    <a:lstStyle/>
                    <a:p>
                      <a:r>
                        <a:rPr lang="en-US" dirty="0"/>
                        <a:t>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r>
                        <a:rPr lang="en-US"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Ali Jo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1992/02/25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26" name="Table 21">
            <a:extLst>
              <a:ext uri="{FF2B5EF4-FFF2-40B4-BE49-F238E27FC236}">
                <a16:creationId xmlns:a16="http://schemas.microsoft.com/office/drawing/2014/main" id="{77494EF8-8AA3-CB4F-A3AD-985F452B8162}"/>
              </a:ext>
            </a:extLst>
          </p:cNvPr>
          <p:cNvGraphicFramePr>
            <a:graphicFrameLocks noGrp="1"/>
          </p:cNvGraphicFramePr>
          <p:nvPr>
            <p:extLst>
              <p:ext uri="{D42A27DB-BD31-4B8C-83A1-F6EECF244321}">
                <p14:modId xmlns:p14="http://schemas.microsoft.com/office/powerpoint/2010/main" val="2994433202"/>
              </p:ext>
            </p:extLst>
          </p:nvPr>
        </p:nvGraphicFramePr>
        <p:xfrm>
          <a:off x="4333688" y="2774388"/>
          <a:ext cx="4353111" cy="365760"/>
        </p:xfrm>
        <a:graphic>
          <a:graphicData uri="http://schemas.openxmlformats.org/drawingml/2006/table">
            <a:tbl>
              <a:tblPr firstRow="1" bandRow="1">
                <a:tableStyleId>{2D5ABB26-0587-4C30-8999-92F81FD0307C}</a:tableStyleId>
              </a:tblPr>
              <a:tblGrid>
                <a:gridCol w="380146">
                  <a:extLst>
                    <a:ext uri="{9D8B030D-6E8A-4147-A177-3AD203B41FA5}">
                      <a16:colId xmlns:a16="http://schemas.microsoft.com/office/drawing/2014/main" val="2522316968"/>
                    </a:ext>
                  </a:extLst>
                </a:gridCol>
                <a:gridCol w="467043">
                  <a:extLst>
                    <a:ext uri="{9D8B030D-6E8A-4147-A177-3AD203B41FA5}">
                      <a16:colId xmlns:a16="http://schemas.microsoft.com/office/drawing/2014/main" val="1219927245"/>
                    </a:ext>
                  </a:extLst>
                </a:gridCol>
                <a:gridCol w="1212660">
                  <a:extLst>
                    <a:ext uri="{9D8B030D-6E8A-4147-A177-3AD203B41FA5}">
                      <a16:colId xmlns:a16="http://schemas.microsoft.com/office/drawing/2014/main" val="1727528194"/>
                    </a:ext>
                  </a:extLst>
                </a:gridCol>
                <a:gridCol w="1340168">
                  <a:extLst>
                    <a:ext uri="{9D8B030D-6E8A-4147-A177-3AD203B41FA5}">
                      <a16:colId xmlns:a16="http://schemas.microsoft.com/office/drawing/2014/main" val="3729982082"/>
                    </a:ext>
                  </a:extLst>
                </a:gridCol>
                <a:gridCol w="540139">
                  <a:extLst>
                    <a:ext uri="{9D8B030D-6E8A-4147-A177-3AD203B41FA5}">
                      <a16:colId xmlns:a16="http://schemas.microsoft.com/office/drawing/2014/main" val="1462917710"/>
                    </a:ext>
                  </a:extLst>
                </a:gridCol>
                <a:gridCol w="412955">
                  <a:extLst>
                    <a:ext uri="{9D8B030D-6E8A-4147-A177-3AD203B41FA5}">
                      <a16:colId xmlns:a16="http://schemas.microsoft.com/office/drawing/2014/main" val="339956789"/>
                    </a:ext>
                  </a:extLst>
                </a:gridCol>
              </a:tblGrid>
              <a:tr h="339021">
                <a:tc>
                  <a:txBody>
                    <a:bodyPr/>
                    <a:lstStyle/>
                    <a:p>
                      <a:r>
                        <a:rPr lang="en-US" dirty="0"/>
                        <a:t>r3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r>
                        <a:rPr lang="en-US" dirty="0"/>
                        <a:t>26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t>Montgom</a:t>
                      </a: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1992/02/25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sp>
        <p:nvSpPr>
          <p:cNvPr id="30" name="TextBox 29">
            <a:extLst>
              <a:ext uri="{FF2B5EF4-FFF2-40B4-BE49-F238E27FC236}">
                <a16:creationId xmlns:a16="http://schemas.microsoft.com/office/drawing/2014/main" id="{7BC910FC-899D-DD48-9F3B-6F1460923CDC}"/>
              </a:ext>
            </a:extLst>
          </p:cNvPr>
          <p:cNvSpPr txBox="1"/>
          <p:nvPr/>
        </p:nvSpPr>
        <p:spPr>
          <a:xfrm>
            <a:off x="3702741" y="4240057"/>
            <a:ext cx="2043150"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Customers.txt</a:t>
            </a:r>
            <a:endParaRPr lang="en-US" sz="2000" dirty="0">
              <a:latin typeface="Arial" panose="020B0604020202020204" pitchFamily="34" charset="0"/>
              <a:cs typeface="Arial" panose="020B0604020202020204" pitchFamily="34" charset="0"/>
            </a:endParaRPr>
          </a:p>
        </p:txBody>
      </p:sp>
      <p:sp>
        <p:nvSpPr>
          <p:cNvPr id="32" name="TextBox 31">
            <a:extLst>
              <a:ext uri="{FF2B5EF4-FFF2-40B4-BE49-F238E27FC236}">
                <a16:creationId xmlns:a16="http://schemas.microsoft.com/office/drawing/2014/main" id="{9D55ADC2-5B44-BC4F-8D9C-C88D05D4A1D9}"/>
              </a:ext>
            </a:extLst>
          </p:cNvPr>
          <p:cNvSpPr txBox="1"/>
          <p:nvPr/>
        </p:nvSpPr>
        <p:spPr>
          <a:xfrm>
            <a:off x="-35320" y="4583349"/>
            <a:ext cx="9144000" cy="1131848"/>
          </a:xfrm>
          <a:prstGeom prst="rect">
            <a:avLst/>
          </a:prstGeom>
          <a:noFill/>
        </p:spPr>
        <p:txBody>
          <a:bodyPr wrap="square" rtlCol="0">
            <a:spAutoFit/>
          </a:bodyPr>
          <a:lstStyle/>
          <a:p>
            <a:pPr>
              <a:lnSpc>
                <a:spcPct val="150000"/>
              </a:lnSpc>
            </a:pPr>
            <a:r>
              <a:rPr lang="en-US" sz="2400" dirty="0">
                <a:solidFill>
                  <a:srgbClr val="C00000"/>
                </a:solidFill>
                <a:latin typeface="Arial" panose="020B0604020202020204" pitchFamily="34" charset="0"/>
                <a:cs typeface="Arial" panose="020B0604020202020204" pitchFamily="34" charset="0"/>
              </a:rPr>
              <a:t>Takeaway 1: Many designs options &amp; difficult for app developers!</a:t>
            </a:r>
          </a:p>
          <a:p>
            <a:pPr>
              <a:lnSpc>
                <a:spcPct val="150000"/>
              </a:lnSpc>
            </a:pPr>
            <a:r>
              <a:rPr lang="en-US" sz="2400" dirty="0">
                <a:solidFill>
                  <a:srgbClr val="C00000"/>
                </a:solidFill>
                <a:latin typeface="Arial" panose="020B0604020202020204" pitchFamily="34" charset="0"/>
                <a:cs typeface="Arial" panose="020B0604020202020204" pitchFamily="34" charset="0"/>
              </a:rPr>
              <a:t>Takeaway 2: Bytes not the right data abstraction to program apps.</a:t>
            </a:r>
          </a:p>
        </p:txBody>
      </p:sp>
      <p:graphicFrame>
        <p:nvGraphicFramePr>
          <p:cNvPr id="35" name="Table 21">
            <a:extLst>
              <a:ext uri="{FF2B5EF4-FFF2-40B4-BE49-F238E27FC236}">
                <a16:creationId xmlns:a16="http://schemas.microsoft.com/office/drawing/2014/main" id="{B2403849-0B4D-0F46-B677-AE0760F37108}"/>
              </a:ext>
            </a:extLst>
          </p:cNvPr>
          <p:cNvGraphicFramePr>
            <a:graphicFrameLocks noGrp="1"/>
          </p:cNvGraphicFramePr>
          <p:nvPr>
            <p:extLst>
              <p:ext uri="{D42A27DB-BD31-4B8C-83A1-F6EECF244321}">
                <p14:modId xmlns:p14="http://schemas.microsoft.com/office/powerpoint/2010/main" val="170567782"/>
              </p:ext>
            </p:extLst>
          </p:nvPr>
        </p:nvGraphicFramePr>
        <p:xfrm>
          <a:off x="4333688" y="2247104"/>
          <a:ext cx="4362522" cy="370840"/>
        </p:xfrm>
        <a:graphic>
          <a:graphicData uri="http://schemas.openxmlformats.org/drawingml/2006/table">
            <a:tbl>
              <a:tblPr firstRow="1" bandRow="1">
                <a:tableStyleId>{2D5ABB26-0587-4C30-8999-92F81FD0307C}</a:tableStyleId>
              </a:tblPr>
              <a:tblGrid>
                <a:gridCol w="422639">
                  <a:extLst>
                    <a:ext uri="{9D8B030D-6E8A-4147-A177-3AD203B41FA5}">
                      <a16:colId xmlns:a16="http://schemas.microsoft.com/office/drawing/2014/main" val="1740350980"/>
                    </a:ext>
                  </a:extLst>
                </a:gridCol>
                <a:gridCol w="422639">
                  <a:extLst>
                    <a:ext uri="{9D8B030D-6E8A-4147-A177-3AD203B41FA5}">
                      <a16:colId xmlns:a16="http://schemas.microsoft.com/office/drawing/2014/main" val="1219927245"/>
                    </a:ext>
                  </a:extLst>
                </a:gridCol>
                <a:gridCol w="1203262">
                  <a:extLst>
                    <a:ext uri="{9D8B030D-6E8A-4147-A177-3AD203B41FA5}">
                      <a16:colId xmlns:a16="http://schemas.microsoft.com/office/drawing/2014/main" val="1727528194"/>
                    </a:ext>
                  </a:extLst>
                </a:gridCol>
                <a:gridCol w="1340168">
                  <a:extLst>
                    <a:ext uri="{9D8B030D-6E8A-4147-A177-3AD203B41FA5}">
                      <a16:colId xmlns:a16="http://schemas.microsoft.com/office/drawing/2014/main" val="3729982082"/>
                    </a:ext>
                  </a:extLst>
                </a:gridCol>
                <a:gridCol w="581343">
                  <a:extLst>
                    <a:ext uri="{9D8B030D-6E8A-4147-A177-3AD203B41FA5}">
                      <a16:colId xmlns:a16="http://schemas.microsoft.com/office/drawing/2014/main" val="2133145364"/>
                    </a:ext>
                  </a:extLst>
                </a:gridCol>
                <a:gridCol w="392471">
                  <a:extLst>
                    <a:ext uri="{9D8B030D-6E8A-4147-A177-3AD203B41FA5}">
                      <a16:colId xmlns:a16="http://schemas.microsoft.com/office/drawing/2014/main" val="2404945459"/>
                    </a:ext>
                  </a:extLst>
                </a:gridCol>
              </a:tblGrid>
              <a:tr h="370840">
                <a:tc>
                  <a:txBody>
                    <a:bodyPr/>
                    <a:lstStyle/>
                    <a:p>
                      <a:r>
                        <a:rPr lang="en-US" dirty="0"/>
                        <a:t>r1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r>
                        <a:rPr lang="en-US" dirty="0"/>
                        <a:t>19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Alexander.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2002/05/20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null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r2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39" name="Table 21">
            <a:extLst>
              <a:ext uri="{FF2B5EF4-FFF2-40B4-BE49-F238E27FC236}">
                <a16:creationId xmlns:a16="http://schemas.microsoft.com/office/drawing/2014/main" id="{DCA51835-23C2-8A4B-A9D1-64803D3A124E}"/>
              </a:ext>
            </a:extLst>
          </p:cNvPr>
          <p:cNvGraphicFramePr>
            <a:graphicFrameLocks noGrp="1"/>
          </p:cNvGraphicFramePr>
          <p:nvPr>
            <p:extLst>
              <p:ext uri="{D42A27DB-BD31-4B8C-83A1-F6EECF244321}">
                <p14:modId xmlns:p14="http://schemas.microsoft.com/office/powerpoint/2010/main" val="1328314219"/>
              </p:ext>
            </p:extLst>
          </p:nvPr>
        </p:nvGraphicFramePr>
        <p:xfrm>
          <a:off x="409447" y="3332574"/>
          <a:ext cx="3753315" cy="370840"/>
        </p:xfrm>
        <a:graphic>
          <a:graphicData uri="http://schemas.openxmlformats.org/drawingml/2006/table">
            <a:tbl>
              <a:tblPr firstRow="1" bandRow="1">
                <a:tableStyleId>{2D5ABB26-0587-4C30-8999-92F81FD0307C}</a:tableStyleId>
              </a:tblPr>
              <a:tblGrid>
                <a:gridCol w="430530">
                  <a:extLst>
                    <a:ext uri="{9D8B030D-6E8A-4147-A177-3AD203B41FA5}">
                      <a16:colId xmlns:a16="http://schemas.microsoft.com/office/drawing/2014/main" val="2365818790"/>
                    </a:ext>
                  </a:extLst>
                </a:gridCol>
                <a:gridCol w="321042">
                  <a:extLst>
                    <a:ext uri="{9D8B030D-6E8A-4147-A177-3AD203B41FA5}">
                      <a16:colId xmlns:a16="http://schemas.microsoft.com/office/drawing/2014/main" val="1219927245"/>
                    </a:ext>
                  </a:extLst>
                </a:gridCol>
                <a:gridCol w="800515">
                  <a:extLst>
                    <a:ext uri="{9D8B030D-6E8A-4147-A177-3AD203B41FA5}">
                      <a16:colId xmlns:a16="http://schemas.microsoft.com/office/drawing/2014/main" val="1727528194"/>
                    </a:ext>
                  </a:extLst>
                </a:gridCol>
                <a:gridCol w="1340168">
                  <a:extLst>
                    <a:ext uri="{9D8B030D-6E8A-4147-A177-3AD203B41FA5}">
                      <a16:colId xmlns:a16="http://schemas.microsoft.com/office/drawing/2014/main" val="3729982082"/>
                    </a:ext>
                  </a:extLst>
                </a:gridCol>
                <a:gridCol w="430530">
                  <a:extLst>
                    <a:ext uri="{9D8B030D-6E8A-4147-A177-3AD203B41FA5}">
                      <a16:colId xmlns:a16="http://schemas.microsoft.com/office/drawing/2014/main" val="2065828493"/>
                    </a:ext>
                  </a:extLst>
                </a:gridCol>
                <a:gridCol w="430530">
                  <a:extLst>
                    <a:ext uri="{9D8B030D-6E8A-4147-A177-3AD203B41FA5}">
                      <a16:colId xmlns:a16="http://schemas.microsoft.com/office/drawing/2014/main" val="1005210985"/>
                    </a:ext>
                  </a:extLst>
                </a:gridCol>
              </a:tblGrid>
              <a:tr h="370840">
                <a:tc>
                  <a:txBody>
                    <a:bodyPr/>
                    <a:lstStyle/>
                    <a:p>
                      <a:r>
                        <a:rPr lang="en-US" dirty="0"/>
                        <a:t>r4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graphicFrame>
        <p:nvGraphicFramePr>
          <p:cNvPr id="40" name="Table 21">
            <a:extLst>
              <a:ext uri="{FF2B5EF4-FFF2-40B4-BE49-F238E27FC236}">
                <a16:creationId xmlns:a16="http://schemas.microsoft.com/office/drawing/2014/main" id="{F5535E62-D139-F04C-8294-CA4BDABA6B2E}"/>
              </a:ext>
            </a:extLst>
          </p:cNvPr>
          <p:cNvGraphicFramePr>
            <a:graphicFrameLocks noGrp="1"/>
          </p:cNvGraphicFramePr>
          <p:nvPr>
            <p:extLst>
              <p:ext uri="{D42A27DB-BD31-4B8C-83A1-F6EECF244321}">
                <p14:modId xmlns:p14="http://schemas.microsoft.com/office/powerpoint/2010/main" val="1596911818"/>
              </p:ext>
            </p:extLst>
          </p:nvPr>
        </p:nvGraphicFramePr>
        <p:xfrm>
          <a:off x="4333688" y="3322987"/>
          <a:ext cx="4353112" cy="370840"/>
        </p:xfrm>
        <a:graphic>
          <a:graphicData uri="http://schemas.openxmlformats.org/drawingml/2006/table">
            <a:tbl>
              <a:tblPr firstRow="1" bandRow="1">
                <a:tableStyleId>{2D5ABB26-0587-4C30-8999-92F81FD0307C}</a:tableStyleId>
              </a:tblPr>
              <a:tblGrid>
                <a:gridCol w="511376">
                  <a:extLst>
                    <a:ext uri="{9D8B030D-6E8A-4147-A177-3AD203B41FA5}">
                      <a16:colId xmlns:a16="http://schemas.microsoft.com/office/drawing/2014/main" val="2365818790"/>
                    </a:ext>
                  </a:extLst>
                </a:gridCol>
                <a:gridCol w="381328">
                  <a:extLst>
                    <a:ext uri="{9D8B030D-6E8A-4147-A177-3AD203B41FA5}">
                      <a16:colId xmlns:a16="http://schemas.microsoft.com/office/drawing/2014/main" val="1219927245"/>
                    </a:ext>
                  </a:extLst>
                </a:gridCol>
                <a:gridCol w="1171461">
                  <a:extLst>
                    <a:ext uri="{9D8B030D-6E8A-4147-A177-3AD203B41FA5}">
                      <a16:colId xmlns:a16="http://schemas.microsoft.com/office/drawing/2014/main" val="1727528194"/>
                    </a:ext>
                  </a:extLst>
                </a:gridCol>
                <a:gridCol w="1286055">
                  <a:extLst>
                    <a:ext uri="{9D8B030D-6E8A-4147-A177-3AD203B41FA5}">
                      <a16:colId xmlns:a16="http://schemas.microsoft.com/office/drawing/2014/main" val="3729982082"/>
                    </a:ext>
                  </a:extLst>
                </a:gridCol>
                <a:gridCol w="596525">
                  <a:extLst>
                    <a:ext uri="{9D8B030D-6E8A-4147-A177-3AD203B41FA5}">
                      <a16:colId xmlns:a16="http://schemas.microsoft.com/office/drawing/2014/main" val="2065828493"/>
                    </a:ext>
                  </a:extLst>
                </a:gridCol>
                <a:gridCol w="406367">
                  <a:extLst>
                    <a:ext uri="{9D8B030D-6E8A-4147-A177-3AD203B41FA5}">
                      <a16:colId xmlns:a16="http://schemas.microsoft.com/office/drawing/2014/main" val="1005210985"/>
                    </a:ext>
                  </a:extLst>
                </a:gridCol>
              </a:tblGrid>
              <a:tr h="370840">
                <a:tc>
                  <a:txBody>
                    <a:bodyPr/>
                    <a:lstStyle/>
                    <a:p>
                      <a:r>
                        <a:rPr lang="en-US" dirty="0"/>
                        <a:t>r5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65000"/>
                      </a:schemeClr>
                    </a:solidFill>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bl>
          </a:graphicData>
        </a:graphic>
      </p:graphicFrame>
      <p:sp>
        <p:nvSpPr>
          <p:cNvPr id="44" name="Rectangle 43">
            <a:extLst>
              <a:ext uri="{FF2B5EF4-FFF2-40B4-BE49-F238E27FC236}">
                <a16:creationId xmlns:a16="http://schemas.microsoft.com/office/drawing/2014/main" id="{8F1451B4-91B5-5B40-88AB-864C83A8E949}"/>
              </a:ext>
            </a:extLst>
          </p:cNvPr>
          <p:cNvSpPr/>
          <p:nvPr/>
        </p:nvSpPr>
        <p:spPr>
          <a:xfrm>
            <a:off x="260974" y="2065692"/>
            <a:ext cx="8601574" cy="2085080"/>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Freeform 2">
            <a:extLst>
              <a:ext uri="{FF2B5EF4-FFF2-40B4-BE49-F238E27FC236}">
                <a16:creationId xmlns:a16="http://schemas.microsoft.com/office/drawing/2014/main" id="{FADAEB9A-7AC1-6341-BF28-F709C01333B8}"/>
              </a:ext>
            </a:extLst>
          </p:cNvPr>
          <p:cNvSpPr/>
          <p:nvPr/>
        </p:nvSpPr>
        <p:spPr>
          <a:xfrm>
            <a:off x="619433" y="2501272"/>
            <a:ext cx="7791223" cy="1447475"/>
          </a:xfrm>
          <a:custGeom>
            <a:avLst/>
            <a:gdLst>
              <a:gd name="connsiteX0" fmla="*/ 7934632 w 7934632"/>
              <a:gd name="connsiteY0" fmla="*/ 0 h 1647997"/>
              <a:gd name="connsiteX1" fmla="*/ 3819832 w 7934632"/>
              <a:gd name="connsiteY1" fmla="*/ 1637071 h 1647997"/>
              <a:gd name="connsiteX2" fmla="*/ 0 w 7934632"/>
              <a:gd name="connsiteY2" fmla="*/ 707922 h 1647997"/>
            </a:gdLst>
            <a:ahLst/>
            <a:cxnLst>
              <a:cxn ang="0">
                <a:pos x="connsiteX0" y="connsiteY0"/>
              </a:cxn>
              <a:cxn ang="0">
                <a:pos x="connsiteX1" y="connsiteY1"/>
              </a:cxn>
              <a:cxn ang="0">
                <a:pos x="connsiteX2" y="connsiteY2"/>
              </a:cxn>
            </a:cxnLst>
            <a:rect l="l" t="t" r="r" b="b"/>
            <a:pathLst>
              <a:path w="7934632" h="1647997">
                <a:moveTo>
                  <a:pt x="7934632" y="0"/>
                </a:moveTo>
                <a:cubicBezTo>
                  <a:pt x="6538451" y="759542"/>
                  <a:pt x="5142271" y="1519084"/>
                  <a:pt x="3819832" y="1637071"/>
                </a:cubicBezTo>
                <a:cubicBezTo>
                  <a:pt x="2497393" y="1755058"/>
                  <a:pt x="781664" y="882445"/>
                  <a:pt x="0" y="707922"/>
                </a:cubicBezTo>
              </a:path>
            </a:pathLst>
          </a:custGeom>
          <a:noFill/>
          <a:ln w="22225">
            <a:solidFill>
              <a:schemeClr val="tx1"/>
            </a:solidFill>
            <a:tailEnd type="triangle"/>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dirty="0"/>
              <a:t>`</a:t>
            </a:r>
          </a:p>
        </p:txBody>
      </p:sp>
    </p:spTree>
    <p:extLst>
      <p:ext uri="{BB962C8B-B14F-4D97-AF65-F5344CB8AC3E}">
        <p14:creationId xmlns:p14="http://schemas.microsoft.com/office/powerpoint/2010/main" val="3851551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3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0" grpId="0"/>
      <p:bldP spid="32" grpId="0"/>
      <p:bldP spid="44" grpId="0" animBg="1"/>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PR2: Efficient Query/Analytics Algorithms</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01A30E2-8CE0-0947-A473-551511F82A58}"/>
              </a:ext>
            </a:extLst>
          </p:cNvPr>
          <p:cNvSpPr txBox="1"/>
          <p:nvPr/>
        </p:nvSpPr>
        <p:spPr>
          <a:xfrm>
            <a:off x="8924" y="645961"/>
            <a:ext cx="9143999" cy="2173415"/>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 Managers Ask: Who are top paying customers? </a:t>
            </a:r>
          </a:p>
          <a:p>
            <a:pPr marL="914400" lvl="1" indent="-457200">
              <a:lnSpc>
                <a:spcPct val="150000"/>
              </a:lnSpc>
              <a:buFont typeface="Wingdings" pitchFamily="2" charset="2"/>
              <a:buChar char="Ø"/>
            </a:pPr>
            <a:r>
              <a:rPr lang="en-US" sz="2300" dirty="0">
                <a:latin typeface="Arial" panose="020B0604020202020204" pitchFamily="34" charset="0"/>
                <a:cs typeface="Arial" panose="020B0604020202020204" pitchFamily="34" charset="0"/>
              </a:rPr>
              <a:t>Task: Compute total sales by customer</a:t>
            </a:r>
          </a:p>
          <a:p>
            <a:pPr marL="914400" lvl="1" indent="-457200">
              <a:lnSpc>
                <a:spcPct val="150000"/>
              </a:lnSpc>
              <a:buFont typeface="Wingdings" pitchFamily="2" charset="2"/>
              <a:buChar char="Ø"/>
            </a:pPr>
            <a:r>
              <a:rPr lang="en-US" sz="2300" dirty="0">
                <a:latin typeface="Arial" panose="020B0604020202020204" pitchFamily="34" charset="0"/>
                <a:cs typeface="Arial" panose="020B0604020202020204" pitchFamily="34" charset="0"/>
              </a:rPr>
              <a:t>Assume in record layout every field is fixed length</a:t>
            </a:r>
          </a:p>
          <a:p>
            <a:pPr marL="914400" lvl="1" indent="-457200">
              <a:lnSpc>
                <a:spcPct val="150000"/>
              </a:lnSpc>
              <a:buFont typeface="Wingdings" pitchFamily="2" charset="2"/>
              <a:buChar char="Ø"/>
            </a:pPr>
            <a:r>
              <a:rPr lang="en-US" sz="2300" dirty="0">
                <a:solidFill>
                  <a:srgbClr val="C00000"/>
                </a:solidFill>
                <a:latin typeface="Arial" panose="020B0604020202020204" pitchFamily="34" charset="0"/>
                <a:cs typeface="Arial" panose="020B0604020202020204" pitchFamily="34" charset="0"/>
              </a:rPr>
              <a:t>Problem: App developer needs to implement an algorithm. </a:t>
            </a:r>
          </a:p>
        </p:txBody>
      </p:sp>
      <p:sp>
        <p:nvSpPr>
          <p:cNvPr id="7" name="TextBox 6">
            <a:extLst>
              <a:ext uri="{FF2B5EF4-FFF2-40B4-BE49-F238E27FC236}">
                <a16:creationId xmlns:a16="http://schemas.microsoft.com/office/drawing/2014/main" id="{3E21C64D-62B6-0F4D-9524-0FF13B637653}"/>
              </a:ext>
            </a:extLst>
          </p:cNvPr>
          <p:cNvSpPr txBox="1"/>
          <p:nvPr/>
        </p:nvSpPr>
        <p:spPr>
          <a:xfrm>
            <a:off x="6401446" y="5445102"/>
            <a:ext cx="1827498" cy="400110"/>
          </a:xfrm>
          <a:prstGeom prst="rect">
            <a:avLst/>
          </a:prstGeom>
          <a:noFill/>
        </p:spPr>
        <p:txBody>
          <a:bodyPr wrap="square" rtlCol="0">
            <a:spAutoFit/>
          </a:bodyPr>
          <a:lstStyle/>
          <a:p>
            <a:r>
              <a:rPr lang="en-US" sz="2000" dirty="0" err="1">
                <a:latin typeface="Arial" panose="020B0604020202020204" pitchFamily="34" charset="0"/>
                <a:cs typeface="Arial" panose="020B0604020202020204" pitchFamily="34" charset="0"/>
              </a:rPr>
              <a:t>Orders.txt</a:t>
            </a:r>
            <a:endParaRPr lang="en-US" sz="20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A1FFBAF-93C0-D646-B602-AFDC7C1022EF}"/>
              </a:ext>
            </a:extLst>
          </p:cNvPr>
          <p:cNvSpPr/>
          <p:nvPr/>
        </p:nvSpPr>
        <p:spPr>
          <a:xfrm>
            <a:off x="5501140" y="2884075"/>
            <a:ext cx="3362639" cy="2444161"/>
          </a:xfrm>
          <a:prstGeom prst="rect">
            <a:avLst/>
          </a:prstGeom>
          <a:noFill/>
          <a:ln w="222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aphicFrame>
        <p:nvGraphicFramePr>
          <p:cNvPr id="9" name="Table 21">
            <a:extLst>
              <a:ext uri="{FF2B5EF4-FFF2-40B4-BE49-F238E27FC236}">
                <a16:creationId xmlns:a16="http://schemas.microsoft.com/office/drawing/2014/main" id="{74716AD4-2BAB-704E-992E-633690DCAAB1}"/>
              </a:ext>
            </a:extLst>
          </p:cNvPr>
          <p:cNvGraphicFramePr>
            <a:graphicFrameLocks noGrp="1"/>
          </p:cNvGraphicFramePr>
          <p:nvPr>
            <p:extLst>
              <p:ext uri="{D42A27DB-BD31-4B8C-83A1-F6EECF244321}">
                <p14:modId xmlns:p14="http://schemas.microsoft.com/office/powerpoint/2010/main" val="2311231193"/>
              </p:ext>
            </p:extLst>
          </p:nvPr>
        </p:nvGraphicFramePr>
        <p:xfrm>
          <a:off x="5579800" y="2991975"/>
          <a:ext cx="3226309" cy="2225040"/>
        </p:xfrm>
        <a:graphic>
          <a:graphicData uri="http://schemas.openxmlformats.org/drawingml/2006/table">
            <a:tbl>
              <a:tblPr firstRow="1" bandRow="1">
                <a:tableStyleId>{2D5ABB26-0587-4C30-8999-92F81FD0307C}</a:tableStyleId>
              </a:tblPr>
              <a:tblGrid>
                <a:gridCol w="501968">
                  <a:extLst>
                    <a:ext uri="{9D8B030D-6E8A-4147-A177-3AD203B41FA5}">
                      <a16:colId xmlns:a16="http://schemas.microsoft.com/office/drawing/2014/main" val="1219927245"/>
                    </a:ext>
                  </a:extLst>
                </a:gridCol>
                <a:gridCol w="963930">
                  <a:extLst>
                    <a:ext uri="{9D8B030D-6E8A-4147-A177-3AD203B41FA5}">
                      <a16:colId xmlns:a16="http://schemas.microsoft.com/office/drawing/2014/main" val="1727528194"/>
                    </a:ext>
                  </a:extLst>
                </a:gridCol>
                <a:gridCol w="1061593">
                  <a:extLst>
                    <a:ext uri="{9D8B030D-6E8A-4147-A177-3AD203B41FA5}">
                      <a16:colId xmlns:a16="http://schemas.microsoft.com/office/drawing/2014/main" val="3729982082"/>
                    </a:ext>
                  </a:extLst>
                </a:gridCol>
                <a:gridCol w="698818">
                  <a:extLst>
                    <a:ext uri="{9D8B030D-6E8A-4147-A177-3AD203B41FA5}">
                      <a16:colId xmlns:a16="http://schemas.microsoft.com/office/drawing/2014/main" val="2650960286"/>
                    </a:ext>
                  </a:extLst>
                </a:gridCol>
              </a:tblGrid>
              <a:tr h="370840">
                <a:tc>
                  <a:txBody>
                    <a:bodyPr/>
                    <a:lstStyle/>
                    <a:p>
                      <a:r>
                        <a:rPr lang="en-US" dirty="0"/>
                        <a:t>O1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Cust1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88821865"/>
                  </a:ext>
                </a:extLst>
              </a:tr>
              <a:tr h="370840">
                <a:tc>
                  <a:txBody>
                    <a:bodyPr/>
                    <a:lstStyle/>
                    <a:p>
                      <a:r>
                        <a:rPr lang="en-US" dirty="0"/>
                        <a:t>O2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Cust2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t>WatchA</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74042374"/>
                  </a:ext>
                </a:extLst>
              </a:tr>
              <a:tr h="370840">
                <a:tc>
                  <a:txBody>
                    <a:bodyPr/>
                    <a:lstStyle/>
                    <a:p>
                      <a:r>
                        <a:rPr lang="en-US" dirty="0"/>
                        <a:t>O3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Cust1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err="1"/>
                        <a:t>DiapersB</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$30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370840">
                <a:tc>
                  <a:txBody>
                    <a:bodyPr/>
                    <a:lstStyle/>
                    <a:p>
                      <a:r>
                        <a:rPr lang="en-US" dirty="0"/>
                        <a:t>O4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Cust3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MasksA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23387166"/>
                  </a:ext>
                </a:extLst>
              </a:tr>
              <a:tr h="370840">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79464386"/>
                  </a:ext>
                </a:extLst>
              </a:tr>
              <a:tr h="370840">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063016266"/>
                  </a:ext>
                </a:extLst>
              </a:tr>
            </a:tbl>
          </a:graphicData>
        </a:graphic>
      </p:graphicFrame>
      <p:sp>
        <p:nvSpPr>
          <p:cNvPr id="2" name="TextBox 1">
            <a:extLst>
              <a:ext uri="{FF2B5EF4-FFF2-40B4-BE49-F238E27FC236}">
                <a16:creationId xmlns:a16="http://schemas.microsoft.com/office/drawing/2014/main" id="{E92FF766-6A45-2D45-82D1-2FD22E24A663}"/>
              </a:ext>
            </a:extLst>
          </p:cNvPr>
          <p:cNvSpPr txBox="1"/>
          <p:nvPr/>
        </p:nvSpPr>
        <p:spPr>
          <a:xfrm>
            <a:off x="270379" y="2790207"/>
            <a:ext cx="5230761" cy="2446824"/>
          </a:xfrm>
          <a:prstGeom prst="rect">
            <a:avLst/>
          </a:prstGeom>
          <a:noFill/>
        </p:spPr>
        <p:txBody>
          <a:bodyPr wrap="square" rtlCol="0">
            <a:spAutoFit/>
          </a:bodyPr>
          <a:lstStyle/>
          <a:p>
            <a:r>
              <a:rPr lang="en-US" sz="1700" dirty="0">
                <a:latin typeface="Consolas" panose="020B0609020204030204" pitchFamily="49" charset="0"/>
                <a:cs typeface="Consolas" panose="020B0609020204030204" pitchFamily="49" charset="0"/>
              </a:rPr>
              <a:t>Possible Algorithm 1:</a:t>
            </a:r>
          </a:p>
          <a:p>
            <a:r>
              <a:rPr lang="en-US" sz="1700" dirty="0">
                <a:latin typeface="Consolas" panose="020B0609020204030204" pitchFamily="49" charset="0"/>
                <a:cs typeface="Consolas" panose="020B0609020204030204" pitchFamily="49" charset="0"/>
              </a:rPr>
              <a:t>file = open(“</a:t>
            </a:r>
            <a:r>
              <a:rPr lang="en-US" sz="1700" dirty="0" err="1">
                <a:latin typeface="Consolas" panose="020B0609020204030204" pitchFamily="49" charset="0"/>
                <a:cs typeface="Consolas" panose="020B0609020204030204" pitchFamily="49" charset="0"/>
              </a:rPr>
              <a:t>Orders.txt</a:t>
            </a:r>
            <a:r>
              <a:rPr lang="en-US" sz="1700" dirty="0">
                <a:latin typeface="Consolas" panose="020B0609020204030204" pitchFamily="49" charset="0"/>
                <a:cs typeface="Consolas" panose="020B0609020204030204" pitchFamily="49" charset="0"/>
              </a:rPr>
              <a:t>”)</a:t>
            </a:r>
          </a:p>
          <a:p>
            <a:r>
              <a:rPr lang="en-US" sz="1700" dirty="0" err="1">
                <a:latin typeface="Consolas" panose="020B0609020204030204" pitchFamily="49" charset="0"/>
                <a:cs typeface="Consolas" panose="020B0609020204030204" pitchFamily="49" charset="0"/>
              </a:rPr>
              <a:t>HashTable</a:t>
            </a: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ht</a:t>
            </a:r>
            <a:r>
              <a:rPr lang="en-US" sz="1700" dirty="0">
                <a:latin typeface="Consolas" panose="020B0609020204030204" pitchFamily="49" charset="0"/>
                <a:cs typeface="Consolas" panose="020B0609020204030204" pitchFamily="49" charset="0"/>
              </a:rPr>
              <a:t>;</a:t>
            </a:r>
          </a:p>
          <a:p>
            <a:r>
              <a:rPr lang="en-US" sz="1700" dirty="0">
                <a:latin typeface="Consolas" panose="020B0609020204030204" pitchFamily="49" charset="0"/>
                <a:cs typeface="Consolas" panose="020B0609020204030204" pitchFamily="49" charset="0"/>
              </a:rPr>
              <a:t>for each line in file:</a:t>
            </a:r>
          </a:p>
          <a:p>
            <a:r>
              <a:rPr lang="en-US" sz="1700" dirty="0">
                <a:latin typeface="Consolas" panose="020B0609020204030204" pitchFamily="49" charset="0"/>
                <a:cs typeface="Consolas" panose="020B0609020204030204" pitchFamily="49" charset="0"/>
              </a:rPr>
              <a:t>// some code to parse </a:t>
            </a:r>
            <a:r>
              <a:rPr lang="en-US" sz="1700" dirty="0" err="1">
                <a:latin typeface="Consolas" panose="020B0609020204030204" pitchFamily="49" charset="0"/>
                <a:cs typeface="Consolas" panose="020B0609020204030204" pitchFamily="49" charset="0"/>
              </a:rPr>
              <a:t>custID</a:t>
            </a:r>
            <a:r>
              <a:rPr lang="en-US" sz="1700" dirty="0">
                <a:latin typeface="Consolas" panose="020B0609020204030204" pitchFamily="49" charset="0"/>
                <a:cs typeface="Consolas" panose="020B0609020204030204" pitchFamily="49" charset="0"/>
              </a:rPr>
              <a:t> and price</a:t>
            </a:r>
          </a:p>
          <a:p>
            <a:r>
              <a:rPr lang="en-US" sz="1700" dirty="0">
                <a:latin typeface="Consolas" panose="020B0609020204030204" pitchFamily="49" charset="0"/>
                <a:cs typeface="Consolas" panose="020B0609020204030204" pitchFamily="49" charset="0"/>
              </a:rPr>
              <a:t> if (</a:t>
            </a:r>
            <a:r>
              <a:rPr lang="en-US" sz="1700" dirty="0" err="1">
                <a:latin typeface="Consolas" panose="020B0609020204030204" pitchFamily="49" charset="0"/>
                <a:cs typeface="Consolas" panose="020B0609020204030204" pitchFamily="49" charset="0"/>
              </a:rPr>
              <a:t>ht.contains</a:t>
            </a:r>
            <a:r>
              <a:rPr lang="en-US" sz="1700" dirty="0">
                <a:latin typeface="Consolas" panose="020B0609020204030204" pitchFamily="49" charset="0"/>
                <a:cs typeface="Consolas" panose="020B0609020204030204" pitchFamily="49" charset="0"/>
              </a:rPr>
              <a:t>(</a:t>
            </a:r>
            <a:r>
              <a:rPr lang="en-US" sz="1700" dirty="0" err="1">
                <a:latin typeface="Consolas" panose="020B0609020204030204" pitchFamily="49" charset="0"/>
                <a:cs typeface="Consolas" panose="020B0609020204030204" pitchFamily="49" charset="0"/>
              </a:rPr>
              <a:t>custID</a:t>
            </a:r>
            <a:r>
              <a:rPr lang="en-US" sz="1700" dirty="0">
                <a:latin typeface="Consolas" panose="020B0609020204030204" pitchFamily="49" charset="0"/>
                <a:cs typeface="Consolas" panose="020B0609020204030204" pitchFamily="49" charset="0"/>
              </a:rPr>
              <a:t>))</a:t>
            </a:r>
          </a:p>
          <a:p>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ht.put</a:t>
            </a:r>
            <a:r>
              <a:rPr lang="en-US" sz="1700" dirty="0">
                <a:latin typeface="Consolas" panose="020B0609020204030204" pitchFamily="49" charset="0"/>
                <a:cs typeface="Consolas" panose="020B0609020204030204" pitchFamily="49" charset="0"/>
              </a:rPr>
              <a:t>(</a:t>
            </a:r>
            <a:r>
              <a:rPr lang="en-US" sz="1700" dirty="0" err="1">
                <a:latin typeface="Consolas" panose="020B0609020204030204" pitchFamily="49" charset="0"/>
                <a:cs typeface="Consolas" panose="020B0609020204030204" pitchFamily="49" charset="0"/>
              </a:rPr>
              <a:t>custID</a:t>
            </a:r>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ht.get</a:t>
            </a:r>
            <a:r>
              <a:rPr lang="en-US" sz="1700" dirty="0">
                <a:latin typeface="Consolas" panose="020B0609020204030204" pitchFamily="49" charset="0"/>
                <a:cs typeface="Consolas" panose="020B0609020204030204" pitchFamily="49" charset="0"/>
              </a:rPr>
              <a:t>(</a:t>
            </a:r>
            <a:r>
              <a:rPr lang="en-US" sz="1700" dirty="0" err="1">
                <a:latin typeface="Consolas" panose="020B0609020204030204" pitchFamily="49" charset="0"/>
                <a:cs typeface="Consolas" panose="020B0609020204030204" pitchFamily="49" charset="0"/>
              </a:rPr>
              <a:t>custID</a:t>
            </a:r>
            <a:r>
              <a:rPr lang="en-US" sz="1700" dirty="0">
                <a:latin typeface="Consolas" panose="020B0609020204030204" pitchFamily="49" charset="0"/>
                <a:cs typeface="Consolas" panose="020B0609020204030204" pitchFamily="49" charset="0"/>
              </a:rPr>
              <a:t>) + price)</a:t>
            </a:r>
          </a:p>
          <a:p>
            <a:r>
              <a:rPr lang="en-US" sz="1700" dirty="0">
                <a:latin typeface="Consolas" panose="020B0609020204030204" pitchFamily="49" charset="0"/>
                <a:cs typeface="Consolas" panose="020B0609020204030204" pitchFamily="49" charset="0"/>
              </a:rPr>
              <a:t> else: </a:t>
            </a:r>
            <a:r>
              <a:rPr lang="en-US" sz="1700" dirty="0" err="1">
                <a:latin typeface="Consolas" panose="020B0609020204030204" pitchFamily="49" charset="0"/>
                <a:cs typeface="Consolas" panose="020B0609020204030204" pitchFamily="49" charset="0"/>
              </a:rPr>
              <a:t>ht.put</a:t>
            </a:r>
            <a:r>
              <a:rPr lang="en-US" sz="1700" dirty="0">
                <a:latin typeface="Consolas" panose="020B0609020204030204" pitchFamily="49" charset="0"/>
                <a:cs typeface="Consolas" panose="020B0609020204030204" pitchFamily="49" charset="0"/>
              </a:rPr>
              <a:t>(</a:t>
            </a:r>
            <a:r>
              <a:rPr lang="en-US" sz="1700" dirty="0" err="1">
                <a:latin typeface="Consolas" panose="020B0609020204030204" pitchFamily="49" charset="0"/>
                <a:cs typeface="Consolas" panose="020B0609020204030204" pitchFamily="49" charset="0"/>
              </a:rPr>
              <a:t>custID</a:t>
            </a:r>
            <a:r>
              <a:rPr lang="en-US" sz="1700" dirty="0">
                <a:latin typeface="Consolas" panose="020B0609020204030204" pitchFamily="49" charset="0"/>
                <a:cs typeface="Consolas" panose="020B0609020204030204" pitchFamily="49" charset="0"/>
              </a:rPr>
              <a:t>, price);	</a:t>
            </a:r>
          </a:p>
          <a:p>
            <a:r>
              <a:rPr lang="en-US" sz="1700" dirty="0" err="1">
                <a:latin typeface="Consolas" panose="020B0609020204030204" pitchFamily="49" charset="0"/>
                <a:cs typeface="Consolas" panose="020B0609020204030204" pitchFamily="49" charset="0"/>
              </a:rPr>
              <a:t>file.close</a:t>
            </a:r>
            <a:r>
              <a:rPr lang="en-US" sz="1700" dirty="0">
                <a:latin typeface="Consolas" panose="020B0609020204030204" pitchFamily="49" charset="0"/>
                <a:cs typeface="Consolas" panose="020B0609020204030204" pitchFamily="49" charset="0"/>
              </a:rPr>
              <a:t>();</a:t>
            </a:r>
          </a:p>
        </p:txBody>
      </p:sp>
      <p:sp>
        <p:nvSpPr>
          <p:cNvPr id="11" name="TextBox 10">
            <a:extLst>
              <a:ext uri="{FF2B5EF4-FFF2-40B4-BE49-F238E27FC236}">
                <a16:creationId xmlns:a16="http://schemas.microsoft.com/office/drawing/2014/main" id="{55A2CE50-E079-7B4D-9E0E-3DC458F0807B}"/>
              </a:ext>
            </a:extLst>
          </p:cNvPr>
          <p:cNvSpPr txBox="1"/>
          <p:nvPr/>
        </p:nvSpPr>
        <p:spPr>
          <a:xfrm>
            <a:off x="270379" y="5328236"/>
            <a:ext cx="5230761" cy="1661993"/>
          </a:xfrm>
          <a:prstGeom prst="rect">
            <a:avLst/>
          </a:prstGeom>
          <a:noFill/>
        </p:spPr>
        <p:txBody>
          <a:bodyPr wrap="square" rtlCol="0">
            <a:spAutoFit/>
          </a:bodyPr>
          <a:lstStyle/>
          <a:p>
            <a:r>
              <a:rPr lang="en-US" sz="1700" dirty="0">
                <a:latin typeface="Consolas" panose="020B0609020204030204" pitchFamily="49" charset="0"/>
                <a:cs typeface="Consolas" panose="020B0609020204030204" pitchFamily="49" charset="0"/>
              </a:rPr>
              <a:t>Possible High-level Algorithm 2:</a:t>
            </a:r>
          </a:p>
          <a:p>
            <a:r>
              <a:rPr lang="en-US" sz="1700" dirty="0">
                <a:latin typeface="Consolas" panose="020B0609020204030204" pitchFamily="49" charset="0"/>
                <a:cs typeface="Consolas" panose="020B0609020204030204" pitchFamily="49" charset="0"/>
              </a:rPr>
              <a:t>sort </a:t>
            </a:r>
            <a:r>
              <a:rPr lang="en-US" sz="1700" dirty="0" err="1">
                <a:latin typeface="Consolas" panose="020B0609020204030204" pitchFamily="49" charset="0"/>
                <a:cs typeface="Consolas" panose="020B0609020204030204" pitchFamily="49" charset="0"/>
              </a:rPr>
              <a:t>Orders.txt</a:t>
            </a:r>
            <a:r>
              <a:rPr lang="en-US" sz="1700" dirty="0">
                <a:latin typeface="Consolas" panose="020B0609020204030204" pitchFamily="49" charset="0"/>
                <a:cs typeface="Consolas" panose="020B0609020204030204" pitchFamily="49" charset="0"/>
              </a:rPr>
              <a:t> on </a:t>
            </a:r>
            <a:r>
              <a:rPr lang="en-US" sz="1700" dirty="0" err="1">
                <a:latin typeface="Consolas" panose="020B0609020204030204" pitchFamily="49" charset="0"/>
                <a:cs typeface="Consolas" panose="020B0609020204030204" pitchFamily="49" charset="0"/>
              </a:rPr>
              <a:t>CustID</a:t>
            </a:r>
            <a:endParaRPr lang="en-US" sz="1700" dirty="0">
              <a:latin typeface="Consolas" panose="020B0609020204030204" pitchFamily="49" charset="0"/>
              <a:cs typeface="Consolas" panose="020B0609020204030204" pitchFamily="49" charset="0"/>
            </a:endParaRPr>
          </a:p>
          <a:p>
            <a:r>
              <a:rPr lang="en-US" sz="1700" dirty="0">
                <a:latin typeface="Consolas" panose="020B0609020204030204" pitchFamily="49" charset="0"/>
                <a:cs typeface="Consolas" panose="020B0609020204030204" pitchFamily="49" charset="0"/>
              </a:rPr>
              <a:t>orders of </a:t>
            </a:r>
            <a:r>
              <a:rPr lang="en-US" sz="1700" dirty="0" err="1">
                <a:latin typeface="Consolas" panose="020B0609020204030204" pitchFamily="49" charset="0"/>
                <a:cs typeface="Consolas" panose="020B0609020204030204" pitchFamily="49" charset="0"/>
              </a:rPr>
              <a:t>Cust_i</a:t>
            </a:r>
            <a:r>
              <a:rPr lang="en-US" sz="1700" dirty="0">
                <a:latin typeface="Consolas" panose="020B0609020204030204" pitchFamily="49" charset="0"/>
                <a:cs typeface="Consolas" panose="020B0609020204030204" pitchFamily="49" charset="0"/>
              </a:rPr>
              <a:t> are now consecutive</a:t>
            </a:r>
          </a:p>
          <a:p>
            <a:r>
              <a:rPr lang="en-US" sz="1700" dirty="0">
                <a:latin typeface="Consolas" panose="020B0609020204030204" pitchFamily="49" charset="0"/>
                <a:cs typeface="Consolas" panose="020B0609020204030204" pitchFamily="49" charset="0"/>
              </a:rPr>
              <a:t>read sorted records sequentially</a:t>
            </a:r>
          </a:p>
          <a:p>
            <a:r>
              <a:rPr lang="en-US" sz="1700" dirty="0">
                <a:latin typeface="Consolas" panose="020B0609020204030204" pitchFamily="49" charset="0"/>
                <a:cs typeface="Consolas" panose="020B0609020204030204" pitchFamily="49" charset="0"/>
              </a:rPr>
              <a:t>and sum prices for each </a:t>
            </a:r>
            <a:r>
              <a:rPr lang="en-US" sz="1700" dirty="0" err="1">
                <a:latin typeface="Consolas" panose="020B0609020204030204" pitchFamily="49" charset="0"/>
                <a:cs typeface="Consolas" panose="020B0609020204030204" pitchFamily="49" charset="0"/>
              </a:rPr>
              <a:t>C_i</a:t>
            </a:r>
            <a:endParaRPr lang="en-US" sz="1700" dirty="0">
              <a:latin typeface="Consolas" panose="020B0609020204030204" pitchFamily="49" charset="0"/>
              <a:cs typeface="Consolas" panose="020B0609020204030204" pitchFamily="49" charset="0"/>
            </a:endParaRPr>
          </a:p>
          <a:p>
            <a:endParaRPr lang="en-US" sz="1700" dirty="0">
              <a:latin typeface="Consolas" panose="020B0609020204030204" pitchFamily="49" charset="0"/>
              <a:cs typeface="Consolas" panose="020B0609020204030204" pitchFamily="49" charset="0"/>
            </a:endParaRPr>
          </a:p>
        </p:txBody>
      </p:sp>
      <p:sp>
        <p:nvSpPr>
          <p:cNvPr id="12" name="TextBox 11">
            <a:extLst>
              <a:ext uri="{FF2B5EF4-FFF2-40B4-BE49-F238E27FC236}">
                <a16:creationId xmlns:a16="http://schemas.microsoft.com/office/drawing/2014/main" id="{955D8441-12C8-E944-9BAA-5958274F1704}"/>
              </a:ext>
            </a:extLst>
          </p:cNvPr>
          <p:cNvSpPr txBox="1"/>
          <p:nvPr/>
        </p:nvSpPr>
        <p:spPr>
          <a:xfrm>
            <a:off x="4766508" y="5806651"/>
            <a:ext cx="4477949" cy="707886"/>
          </a:xfrm>
          <a:prstGeom prst="rect">
            <a:avLst/>
          </a:prstGeom>
          <a:noFill/>
        </p:spPr>
        <p:txBody>
          <a:bodyPr wrap="square" rtlCol="0">
            <a:spAutoFit/>
          </a:bodyPr>
          <a:lstStyle/>
          <a:p>
            <a:r>
              <a:rPr lang="en-US" sz="2000" i="1" dirty="0">
                <a:latin typeface="Arial" panose="020B0604020202020204" pitchFamily="34" charset="0"/>
                <a:cs typeface="Arial" panose="020B0604020202020204" pitchFamily="34" charset="0"/>
              </a:rPr>
              <a:t>Which sorting algorithm to use? </a:t>
            </a:r>
          </a:p>
          <a:p>
            <a:r>
              <a:rPr lang="en-US" sz="2000" i="1" dirty="0">
                <a:latin typeface="Arial" panose="020B0604020202020204" pitchFamily="34" charset="0"/>
                <a:cs typeface="Arial" panose="020B0604020202020204" pitchFamily="34" charset="0"/>
              </a:rPr>
              <a:t>Should one parallelize sorting? How?</a:t>
            </a:r>
          </a:p>
        </p:txBody>
      </p:sp>
      <p:cxnSp>
        <p:nvCxnSpPr>
          <p:cNvPr id="13" name="Straight Arrow Connector 12">
            <a:extLst>
              <a:ext uri="{FF2B5EF4-FFF2-40B4-BE49-F238E27FC236}">
                <a16:creationId xmlns:a16="http://schemas.microsoft.com/office/drawing/2014/main" id="{FFCFF740-3C58-E043-A8F4-D22E00E06464}"/>
              </a:ext>
            </a:extLst>
          </p:cNvPr>
          <p:cNvCxnSpPr/>
          <p:nvPr/>
        </p:nvCxnSpPr>
        <p:spPr>
          <a:xfrm>
            <a:off x="4218042" y="6337572"/>
            <a:ext cx="607458" cy="0"/>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646797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 grpId="0"/>
      <p:bldP spid="11" grpId="0"/>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19156649-278F-C046-A196-A82C2CFC6ABF}"/>
              </a:ext>
            </a:extLst>
          </p:cNvPr>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PR2: Efficient Query/Analytics Algorithms</a:t>
            </a:r>
          </a:p>
        </p:txBody>
      </p:sp>
      <p:sp>
        <p:nvSpPr>
          <p:cNvPr id="10" name="TextBox 9">
            <a:extLst>
              <a:ext uri="{FF2B5EF4-FFF2-40B4-BE49-F238E27FC236}">
                <a16:creationId xmlns:a16="http://schemas.microsoft.com/office/drawing/2014/main" id="{BA1AAE6C-E45F-ED47-BF61-7C6075434887}"/>
              </a:ext>
            </a:extLst>
          </p:cNvPr>
          <p:cNvSpPr txBox="1"/>
          <p:nvPr/>
        </p:nvSpPr>
        <p:spPr>
          <a:xfrm>
            <a:off x="8924" y="645961"/>
            <a:ext cx="9143999" cy="4297074"/>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That is only for 1 question. There will be many questions:</a:t>
            </a:r>
          </a:p>
          <a:p>
            <a:pPr marL="914400" lvl="1" indent="-457200">
              <a:lnSpc>
                <a:spcPct val="150000"/>
              </a:lnSpc>
              <a:buFont typeface="Wingdings" pitchFamily="2" charset="2"/>
              <a:buChar char="Ø"/>
            </a:pPr>
            <a:r>
              <a:rPr lang="en-US" sz="2300" dirty="0">
                <a:latin typeface="Arial" panose="020B0604020202020204" pitchFamily="34" charset="0"/>
                <a:cs typeface="Arial" panose="020B0604020202020204" pitchFamily="34" charset="0"/>
              </a:rPr>
              <a:t>List of Orders that bought a product that cost &gt; $500</a:t>
            </a:r>
          </a:p>
          <a:p>
            <a:pPr marL="914400" lvl="1" indent="-457200">
              <a:lnSpc>
                <a:spcPct val="150000"/>
              </a:lnSpc>
              <a:buFont typeface="Wingdings" pitchFamily="2" charset="2"/>
              <a:buChar char="Ø"/>
            </a:pPr>
            <a:r>
              <a:rPr lang="en-US" sz="2300" dirty="0">
                <a:latin typeface="Arial" panose="020B0604020202020204" pitchFamily="34" charset="0"/>
                <a:cs typeface="Arial" panose="020B0604020202020204" pitchFamily="34" charset="0"/>
              </a:rPr>
              <a:t>Last Order from Cust4?</a:t>
            </a:r>
          </a:p>
          <a:p>
            <a:pPr marL="914400" lvl="1" indent="-457200">
              <a:lnSpc>
                <a:spcPct val="150000"/>
              </a:lnSpc>
              <a:buFont typeface="Wingdings" pitchFamily="2" charset="2"/>
              <a:buChar char="Ø"/>
            </a:pPr>
            <a:r>
              <a:rPr lang="en-US" sz="2300" dirty="0">
                <a:latin typeface="Arial" panose="020B0604020202020204" pitchFamily="34" charset="0"/>
                <a:cs typeface="Arial" panose="020B0604020202020204" pitchFamily="34" charset="0"/>
              </a:rPr>
              <a:t>Who are closest co-purchasers of Cust4? (i.e., who bought the same item as Cust4, ordered by the #co-purchases.)</a:t>
            </a:r>
          </a:p>
          <a:p>
            <a:pPr marL="914400" lvl="1" indent="-457200">
              <a:lnSpc>
                <a:spcPct val="150000"/>
              </a:lnSpc>
              <a:buFont typeface="Wingdings" pitchFamily="2" charset="2"/>
              <a:buChar char="Ø"/>
            </a:pPr>
            <a:r>
              <a:rPr lang="en-US" sz="2300" dirty="0">
                <a:latin typeface="Arial" panose="020B0604020202020204" pitchFamily="34" charset="0"/>
                <a:cs typeface="Arial" panose="020B0604020202020204" pitchFamily="34" charset="0"/>
              </a:rPr>
              <a:t>Many many more (thousands) important business questions:</a:t>
            </a:r>
          </a:p>
          <a:p>
            <a:pPr marL="1371600" lvl="2" indent="-457200">
              <a:lnSpc>
                <a:spcPct val="150000"/>
              </a:lnSpc>
              <a:buFont typeface="Wingdings" pitchFamily="2" charset="2"/>
              <a:buChar char="Ø"/>
            </a:pPr>
            <a:r>
              <a:rPr lang="en-US" sz="2300" dirty="0">
                <a:latin typeface="Arial" panose="020B0604020202020204" pitchFamily="34" charset="0"/>
                <a:cs typeface="Arial" panose="020B0604020202020204" pitchFamily="34" charset="0"/>
              </a:rPr>
              <a:t>For each question numerous possible algorithms and implementations. </a:t>
            </a:r>
          </a:p>
        </p:txBody>
      </p:sp>
      <p:sp>
        <p:nvSpPr>
          <p:cNvPr id="11" name="TextBox 10">
            <a:extLst>
              <a:ext uri="{FF2B5EF4-FFF2-40B4-BE49-F238E27FC236}">
                <a16:creationId xmlns:a16="http://schemas.microsoft.com/office/drawing/2014/main" id="{98F4F990-278C-9F4A-B11B-A3735E6D8705}"/>
              </a:ext>
            </a:extLst>
          </p:cNvPr>
          <p:cNvSpPr txBox="1"/>
          <p:nvPr/>
        </p:nvSpPr>
        <p:spPr>
          <a:xfrm>
            <a:off x="8924" y="5087424"/>
            <a:ext cx="9144000" cy="1131848"/>
          </a:xfrm>
          <a:prstGeom prst="rect">
            <a:avLst/>
          </a:prstGeom>
          <a:noFill/>
        </p:spPr>
        <p:txBody>
          <a:bodyPr wrap="square" rtlCol="0">
            <a:spAutoFit/>
          </a:bodyPr>
          <a:lstStyle/>
          <a:p>
            <a:pPr>
              <a:lnSpc>
                <a:spcPct val="150000"/>
              </a:lnSpc>
            </a:pPr>
            <a:r>
              <a:rPr lang="en-US" sz="2400" dirty="0">
                <a:solidFill>
                  <a:srgbClr val="C00000"/>
                </a:solidFill>
                <a:latin typeface="Arial" panose="020B0604020202020204" pitchFamily="34" charset="0"/>
                <a:cs typeface="Arial" panose="020B0604020202020204" pitchFamily="34" charset="0"/>
              </a:rPr>
              <a:t>Takeaway 1: Many </a:t>
            </a:r>
            <a:r>
              <a:rPr lang="en-US" sz="2400" dirty="0" err="1">
                <a:solidFill>
                  <a:srgbClr val="C00000"/>
                </a:solidFill>
                <a:latin typeface="Arial" panose="020B0604020202020204" pitchFamily="34" charset="0"/>
                <a:cs typeface="Arial" panose="020B0604020202020204" pitchFamily="34" charset="0"/>
              </a:rPr>
              <a:t>algs</a:t>
            </a:r>
            <a:r>
              <a:rPr lang="en-US" sz="2400" dirty="0">
                <a:solidFill>
                  <a:srgbClr val="C00000"/>
                </a:solidFill>
                <a:latin typeface="Arial" panose="020B0604020202020204" pitchFamily="34" charset="0"/>
                <a:cs typeface="Arial" panose="020B0604020202020204" pitchFamily="34" charset="0"/>
              </a:rPr>
              <a:t> &amp; implementations. Difficult to choose. Takeaway 2: Writing an algorithm for each task won’t scale!</a:t>
            </a:r>
          </a:p>
        </p:txBody>
      </p:sp>
    </p:spTree>
    <p:extLst>
      <p:ext uri="{BB962C8B-B14F-4D97-AF65-F5344CB8AC3E}">
        <p14:creationId xmlns:p14="http://schemas.microsoft.com/office/powerpoint/2010/main" val="1836058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PR3: Scalability</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01A30E2-8CE0-0947-A473-551511F82A58}"/>
              </a:ext>
            </a:extLst>
          </p:cNvPr>
          <p:cNvSpPr txBox="1"/>
          <p:nvPr/>
        </p:nvSpPr>
        <p:spPr>
          <a:xfrm>
            <a:off x="8924" y="730767"/>
            <a:ext cx="9143999" cy="4455835"/>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Large-scale Data: Data &gt; Memory</a:t>
            </a:r>
          </a:p>
          <a:p>
            <a:pPr marL="914400" lvl="1"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E.g. </a:t>
            </a:r>
            <a:r>
              <a:rPr lang="en-US" sz="2400" dirty="0" err="1">
                <a:latin typeface="Arial" panose="020B0604020202020204" pitchFamily="34" charset="0"/>
                <a:cs typeface="Arial" panose="020B0604020202020204" pitchFamily="34" charset="0"/>
              </a:rPr>
              <a:t>Orders.txt</a:t>
            </a:r>
            <a:r>
              <a:rPr lang="en-US" sz="2400" dirty="0">
                <a:latin typeface="Arial" panose="020B0604020202020204" pitchFamily="34" charset="0"/>
                <a:cs typeface="Arial" panose="020B0604020202020204" pitchFamily="34" charset="0"/>
              </a:rPr>
              <a:t> grows to terabytes &amp; does not fit in memory.</a:t>
            </a:r>
          </a:p>
          <a:p>
            <a:pPr marL="914400" lvl="1"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Often the case for data-intensive applications</a:t>
            </a:r>
          </a:p>
          <a:p>
            <a:pPr marL="914400" lvl="1"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Need ``External’’ algorithms, i.e., uses disk to scale</a:t>
            </a:r>
          </a:p>
          <a:p>
            <a:pPr marL="914400" lvl="1"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Hard to write such algorithms. Challenge: </a:t>
            </a:r>
          </a:p>
          <a:p>
            <a:pPr marL="1371600" lvl="2" indent="-457200">
              <a:lnSpc>
                <a:spcPct val="150000"/>
              </a:lnSpc>
              <a:buFont typeface="Wingdings" pitchFamily="2" charset="2"/>
              <a:buChar char="Ø"/>
            </a:pPr>
            <a:r>
              <a:rPr lang="en-US" sz="2400" i="1" dirty="0">
                <a:latin typeface="Arial" panose="020B0604020202020204" pitchFamily="34" charset="0"/>
                <a:cs typeface="Arial" panose="020B0604020202020204" pitchFamily="34" charset="0"/>
              </a:rPr>
              <a:t>Try implementing a good external sorting algorithm?</a:t>
            </a:r>
          </a:p>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Scale to: 10K~100Ks of requests/sec</a:t>
            </a:r>
          </a:p>
          <a:p>
            <a:pPr marL="914400" lvl="1"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Hard to write code that efficiently supports such workloads.</a:t>
            </a:r>
          </a:p>
        </p:txBody>
      </p:sp>
      <p:sp>
        <p:nvSpPr>
          <p:cNvPr id="7" name="TextBox 6">
            <a:extLst>
              <a:ext uri="{FF2B5EF4-FFF2-40B4-BE49-F238E27FC236}">
                <a16:creationId xmlns:a16="http://schemas.microsoft.com/office/drawing/2014/main" id="{D44C680E-5E4D-394F-A051-B5E6D27D56EB}"/>
              </a:ext>
            </a:extLst>
          </p:cNvPr>
          <p:cNvSpPr txBox="1"/>
          <p:nvPr/>
        </p:nvSpPr>
        <p:spPr>
          <a:xfrm>
            <a:off x="8923" y="5027385"/>
            <a:ext cx="9144000" cy="1131848"/>
          </a:xfrm>
          <a:prstGeom prst="rect">
            <a:avLst/>
          </a:prstGeom>
          <a:noFill/>
        </p:spPr>
        <p:txBody>
          <a:bodyPr wrap="square" rtlCol="0">
            <a:spAutoFit/>
          </a:bodyPr>
          <a:lstStyle/>
          <a:p>
            <a:pPr algn="ctr">
              <a:lnSpc>
                <a:spcPct val="150000"/>
              </a:lnSpc>
            </a:pPr>
            <a:r>
              <a:rPr lang="en-US" sz="2400" dirty="0">
                <a:solidFill>
                  <a:srgbClr val="C00000"/>
                </a:solidFill>
                <a:latin typeface="Arial" panose="020B0604020202020204" pitchFamily="34" charset="0"/>
                <a:cs typeface="Arial" panose="020B0604020202020204" pitchFamily="34" charset="0"/>
              </a:rPr>
              <a:t>Takeaway: Hard and have nothing to do w/ the app logic! </a:t>
            </a:r>
          </a:p>
          <a:p>
            <a:pPr algn="ctr">
              <a:lnSpc>
                <a:spcPct val="150000"/>
              </a:lnSpc>
            </a:pPr>
            <a:r>
              <a:rPr lang="en-US" sz="2400" i="1" dirty="0">
                <a:solidFill>
                  <a:srgbClr val="C00000"/>
                </a:solidFill>
                <a:latin typeface="Arial" panose="020B0604020202020204" pitchFamily="34" charset="0"/>
                <a:cs typeface="Arial" panose="020B0604020202020204" pitchFamily="34" charset="0"/>
              </a:rPr>
              <a:t>App developers should focus on the app!</a:t>
            </a:r>
          </a:p>
        </p:txBody>
      </p:sp>
    </p:spTree>
    <p:extLst>
      <p:ext uri="{BB962C8B-B14F-4D97-AF65-F5344CB8AC3E}">
        <p14:creationId xmlns:p14="http://schemas.microsoft.com/office/powerpoint/2010/main" val="2947597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PR4: Integrity/Consistency of The Data (1)</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01A30E2-8CE0-0947-A473-551511F82A58}"/>
              </a:ext>
            </a:extLst>
          </p:cNvPr>
          <p:cNvSpPr txBox="1"/>
          <p:nvPr/>
        </p:nvSpPr>
        <p:spPr>
          <a:xfrm>
            <a:off x="0" y="725173"/>
            <a:ext cx="9143999" cy="3722879"/>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Many ways data can be corrupted:</a:t>
            </a:r>
          </a:p>
          <a:p>
            <a:pPr marL="914400" lvl="1"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Often: Wrong application logic or bugs in application</a:t>
            </a:r>
          </a:p>
          <a:p>
            <a:pPr marL="457200" indent="-457200">
              <a:lnSpc>
                <a:spcPct val="150000"/>
              </a:lnSpc>
              <a:buFont typeface="Wingdings" pitchFamily="2" charset="2"/>
              <a:buChar char="Ø"/>
            </a:pPr>
            <a:r>
              <a:rPr lang="en-US" sz="2400" dirty="0" err="1">
                <a:latin typeface="Arial" panose="020B0604020202020204" pitchFamily="34" charset="0"/>
                <a:cs typeface="Arial" panose="020B0604020202020204" pitchFamily="34" charset="0"/>
              </a:rPr>
              <a:t>E.g</a:t>
            </a:r>
            <a:r>
              <a:rPr lang="en-US" sz="2400" dirty="0">
                <a:latin typeface="Arial" panose="020B0604020202020204" pitchFamily="34" charset="0"/>
                <a:cs typeface="Arial" panose="020B0604020202020204" pitchFamily="34" charset="0"/>
              </a:rPr>
              <a:t>: Checkout App’s “Checkout As Guest”</a:t>
            </a:r>
          </a:p>
          <a:p>
            <a:pPr lvl="1" indent="-274320">
              <a:lnSpc>
                <a:spcPct val="150000"/>
              </a:lnSpc>
              <a:buFont typeface="Wingdings" pitchFamily="2" charset="2"/>
              <a:buChar char="Ø"/>
            </a:pPr>
            <a:r>
              <a:rPr lang="en-US" sz="2200" dirty="0">
                <a:latin typeface="Arial" panose="020B0604020202020204" pitchFamily="34" charset="0"/>
                <a:cs typeface="Arial" panose="020B0604020202020204" pitchFamily="34" charset="0"/>
              </a:rPr>
              <a:t>Writes the Order record</a:t>
            </a:r>
          </a:p>
          <a:p>
            <a:pPr lvl="1" indent="-274320">
              <a:lnSpc>
                <a:spcPct val="150000"/>
              </a:lnSpc>
              <a:buFont typeface="Wingdings" pitchFamily="2" charset="2"/>
              <a:buChar char="Ø"/>
            </a:pPr>
            <a:r>
              <a:rPr lang="en-US" sz="2200" dirty="0">
                <a:latin typeface="Arial" panose="020B0604020202020204" pitchFamily="34" charset="0"/>
                <a:cs typeface="Arial" panose="020B0604020202020204" pitchFamily="34" charset="0"/>
              </a:rPr>
              <a:t>And the Customer record</a:t>
            </a:r>
          </a:p>
          <a:p>
            <a:pPr lvl="1" indent="-274320">
              <a:lnSpc>
                <a:spcPct val="150000"/>
              </a:lnSpc>
              <a:buFont typeface="Wingdings" pitchFamily="2" charset="2"/>
              <a:buChar char="Ø"/>
            </a:pPr>
            <a:r>
              <a:rPr lang="en-US" sz="2200" dirty="0">
                <a:latin typeface="Arial" panose="020B0604020202020204" pitchFamily="34" charset="0"/>
                <a:cs typeface="Arial" panose="020B0604020202020204" pitchFamily="34" charset="0"/>
              </a:rPr>
              <a:t>Assume Bob shops again</a:t>
            </a:r>
          </a:p>
          <a:p>
            <a:pPr lvl="1" indent="-274320">
              <a:lnSpc>
                <a:spcPct val="150000"/>
              </a:lnSpc>
              <a:buFont typeface="Wingdings" pitchFamily="2" charset="2"/>
              <a:buChar char="Ø"/>
            </a:pPr>
            <a:r>
              <a:rPr lang="en-US" sz="2200" dirty="0">
                <a:latin typeface="Arial" panose="020B0604020202020204" pitchFamily="34" charset="0"/>
                <a:cs typeface="Arial" panose="020B0604020202020204" pitchFamily="34" charset="0"/>
              </a:rPr>
              <a:t>(Bob, 1999/05/07) is duplicated!</a:t>
            </a:r>
          </a:p>
        </p:txBody>
      </p:sp>
      <p:pic>
        <p:nvPicPr>
          <p:cNvPr id="8" name="Graphic 7" descr="Server outline">
            <a:extLst>
              <a:ext uri="{FF2B5EF4-FFF2-40B4-BE49-F238E27FC236}">
                <a16:creationId xmlns:a16="http://schemas.microsoft.com/office/drawing/2014/main" id="{E83C735B-0445-124A-A043-E4AA2DA3C4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36880" y="2832732"/>
            <a:ext cx="1073510" cy="777240"/>
          </a:xfrm>
          <a:prstGeom prst="rect">
            <a:avLst/>
          </a:prstGeom>
        </p:spPr>
      </p:pic>
      <p:cxnSp>
        <p:nvCxnSpPr>
          <p:cNvPr id="10" name="Straight Arrow Connector 9">
            <a:extLst>
              <a:ext uri="{FF2B5EF4-FFF2-40B4-BE49-F238E27FC236}">
                <a16:creationId xmlns:a16="http://schemas.microsoft.com/office/drawing/2014/main" id="{FF966947-A0C2-9B44-998D-DF678F50647E}"/>
              </a:ext>
            </a:extLst>
          </p:cNvPr>
          <p:cNvCxnSpPr>
            <a:cxnSpLocks/>
            <a:stCxn id="8" idx="2"/>
            <a:endCxn id="22" idx="0"/>
          </p:cNvCxnSpPr>
          <p:nvPr/>
        </p:nvCxnSpPr>
        <p:spPr>
          <a:xfrm flipH="1">
            <a:off x="5803343" y="3609972"/>
            <a:ext cx="1270292" cy="1103873"/>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A0CBBD3A-531E-0443-9CD4-9572B0936C35}"/>
              </a:ext>
            </a:extLst>
          </p:cNvPr>
          <p:cNvGrpSpPr/>
          <p:nvPr/>
        </p:nvGrpSpPr>
        <p:grpSpPr>
          <a:xfrm>
            <a:off x="6577274" y="1788722"/>
            <a:ext cx="1224842" cy="731520"/>
            <a:chOff x="1626882" y="2623957"/>
            <a:chExt cx="1224842" cy="731520"/>
          </a:xfrm>
        </p:grpSpPr>
        <p:pic>
          <p:nvPicPr>
            <p:cNvPr id="14" name="Graphic 13" descr="Smart Phone with solid fill">
              <a:extLst>
                <a:ext uri="{FF2B5EF4-FFF2-40B4-BE49-F238E27FC236}">
                  <a16:creationId xmlns:a16="http://schemas.microsoft.com/office/drawing/2014/main" id="{43410E75-B4E4-8744-8DCF-94AB01AC45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20204" y="2623957"/>
              <a:ext cx="731520" cy="731520"/>
            </a:xfrm>
            <a:prstGeom prst="rect">
              <a:avLst/>
            </a:prstGeom>
          </p:spPr>
        </p:pic>
        <p:pic>
          <p:nvPicPr>
            <p:cNvPr id="16" name="Graphic 15" descr="Male profile with solid fill">
              <a:extLst>
                <a:ext uri="{FF2B5EF4-FFF2-40B4-BE49-F238E27FC236}">
                  <a16:creationId xmlns:a16="http://schemas.microsoft.com/office/drawing/2014/main" id="{FD16E991-A8A3-C642-93AD-383C8247F8D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26882" y="2623957"/>
              <a:ext cx="731520" cy="731520"/>
            </a:xfrm>
            <a:prstGeom prst="rect">
              <a:avLst/>
            </a:prstGeom>
          </p:spPr>
        </p:pic>
      </p:grpSp>
      <p:cxnSp>
        <p:nvCxnSpPr>
          <p:cNvPr id="20" name="Straight Arrow Connector 19">
            <a:extLst>
              <a:ext uri="{FF2B5EF4-FFF2-40B4-BE49-F238E27FC236}">
                <a16:creationId xmlns:a16="http://schemas.microsoft.com/office/drawing/2014/main" id="{6CF1BA53-0503-0343-9659-1DB67530284B}"/>
              </a:ext>
            </a:extLst>
          </p:cNvPr>
          <p:cNvCxnSpPr>
            <a:cxnSpLocks/>
          </p:cNvCxnSpPr>
          <p:nvPr/>
        </p:nvCxnSpPr>
        <p:spPr>
          <a:xfrm>
            <a:off x="7131974" y="2505494"/>
            <a:ext cx="0" cy="2770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31" name="Group 30">
            <a:extLst>
              <a:ext uri="{FF2B5EF4-FFF2-40B4-BE49-F238E27FC236}">
                <a16:creationId xmlns:a16="http://schemas.microsoft.com/office/drawing/2014/main" id="{51D3D602-88EE-1646-BC8F-0203626B8CFA}"/>
              </a:ext>
            </a:extLst>
          </p:cNvPr>
          <p:cNvGrpSpPr/>
          <p:nvPr/>
        </p:nvGrpSpPr>
        <p:grpSpPr>
          <a:xfrm>
            <a:off x="5183910" y="4357651"/>
            <a:ext cx="4149561" cy="1956406"/>
            <a:chOff x="2349909" y="1896819"/>
            <a:chExt cx="4149561" cy="1956406"/>
          </a:xfrm>
        </p:grpSpPr>
        <p:grpSp>
          <p:nvGrpSpPr>
            <p:cNvPr id="21" name="Group 20">
              <a:extLst>
                <a:ext uri="{FF2B5EF4-FFF2-40B4-BE49-F238E27FC236}">
                  <a16:creationId xmlns:a16="http://schemas.microsoft.com/office/drawing/2014/main" id="{55711B4B-DBD6-2C41-AFDD-A84F49C3725F}"/>
                </a:ext>
              </a:extLst>
            </p:cNvPr>
            <p:cNvGrpSpPr/>
            <p:nvPr/>
          </p:nvGrpSpPr>
          <p:grpSpPr>
            <a:xfrm>
              <a:off x="2349910" y="2253013"/>
              <a:ext cx="1283110" cy="1266708"/>
              <a:chOff x="1194620" y="2162292"/>
              <a:chExt cx="1283110" cy="1266708"/>
            </a:xfrm>
          </p:grpSpPr>
          <p:pic>
            <p:nvPicPr>
              <p:cNvPr id="22" name="Graphic 21" descr="Document outline">
                <a:extLst>
                  <a:ext uri="{FF2B5EF4-FFF2-40B4-BE49-F238E27FC236}">
                    <a16:creationId xmlns:a16="http://schemas.microsoft.com/office/drawing/2014/main" id="{0404A628-0BF2-7740-84FE-A6C9A2B3B43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56852" y="2162292"/>
                <a:ext cx="914400" cy="914400"/>
              </a:xfrm>
              <a:prstGeom prst="rect">
                <a:avLst/>
              </a:prstGeom>
            </p:spPr>
          </p:pic>
          <p:sp>
            <p:nvSpPr>
              <p:cNvPr id="23" name="TextBox 22">
                <a:extLst>
                  <a:ext uri="{FF2B5EF4-FFF2-40B4-BE49-F238E27FC236}">
                    <a16:creationId xmlns:a16="http://schemas.microsoft.com/office/drawing/2014/main" id="{35556AF7-330F-E64C-9737-8CCD5A163F0E}"/>
                  </a:ext>
                </a:extLst>
              </p:cNvPr>
              <p:cNvSpPr txBox="1"/>
              <p:nvPr/>
            </p:nvSpPr>
            <p:spPr>
              <a:xfrm>
                <a:off x="1194620" y="3059668"/>
                <a:ext cx="1283110" cy="369332"/>
              </a:xfrm>
              <a:prstGeom prst="rect">
                <a:avLst/>
              </a:prstGeom>
              <a:noFill/>
            </p:spPr>
            <p:txBody>
              <a:bodyPr wrap="square" rtlCol="0">
                <a:spAutoFit/>
              </a:bodyPr>
              <a:lstStyle/>
              <a:p>
                <a:r>
                  <a:rPr lang="en-US" dirty="0" err="1"/>
                  <a:t>Orders.txt</a:t>
                </a:r>
                <a:endParaRPr lang="en-US" dirty="0"/>
              </a:p>
            </p:txBody>
          </p:sp>
        </p:grpSp>
        <p:sp>
          <p:nvSpPr>
            <p:cNvPr id="24" name="Can 23">
              <a:extLst>
                <a:ext uri="{FF2B5EF4-FFF2-40B4-BE49-F238E27FC236}">
                  <a16:creationId xmlns:a16="http://schemas.microsoft.com/office/drawing/2014/main" id="{B355FD24-41DA-9347-A236-5E1638A08DEE}"/>
                </a:ext>
              </a:extLst>
            </p:cNvPr>
            <p:cNvSpPr/>
            <p:nvPr/>
          </p:nvSpPr>
          <p:spPr>
            <a:xfrm>
              <a:off x="2349909" y="1896819"/>
              <a:ext cx="3889797" cy="1775176"/>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3F127DB2-EFBE-6445-BA3D-FB445AA2F7F7}"/>
                </a:ext>
              </a:extLst>
            </p:cNvPr>
            <p:cNvGrpSpPr/>
            <p:nvPr/>
          </p:nvGrpSpPr>
          <p:grpSpPr>
            <a:xfrm>
              <a:off x="3452000" y="2309518"/>
              <a:ext cx="1614245" cy="1543707"/>
              <a:chOff x="1194620" y="2162292"/>
              <a:chExt cx="1283110" cy="1543707"/>
            </a:xfrm>
          </p:grpSpPr>
          <p:pic>
            <p:nvPicPr>
              <p:cNvPr id="26" name="Graphic 25" descr="Document outline">
                <a:extLst>
                  <a:ext uri="{FF2B5EF4-FFF2-40B4-BE49-F238E27FC236}">
                    <a16:creationId xmlns:a16="http://schemas.microsoft.com/office/drawing/2014/main" id="{73DF05AE-188E-A948-91EA-A4D734BB181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56852" y="2162292"/>
                <a:ext cx="914400" cy="914400"/>
              </a:xfrm>
              <a:prstGeom prst="rect">
                <a:avLst/>
              </a:prstGeom>
            </p:spPr>
          </p:pic>
          <p:sp>
            <p:nvSpPr>
              <p:cNvPr id="27" name="TextBox 26">
                <a:extLst>
                  <a:ext uri="{FF2B5EF4-FFF2-40B4-BE49-F238E27FC236}">
                    <a16:creationId xmlns:a16="http://schemas.microsoft.com/office/drawing/2014/main" id="{0C0BC855-6752-7A4F-8715-FFF53BBDC357}"/>
                  </a:ext>
                </a:extLst>
              </p:cNvPr>
              <p:cNvSpPr txBox="1"/>
              <p:nvPr/>
            </p:nvSpPr>
            <p:spPr>
              <a:xfrm>
                <a:off x="1194620" y="3059668"/>
                <a:ext cx="1283110" cy="646331"/>
              </a:xfrm>
              <a:prstGeom prst="rect">
                <a:avLst/>
              </a:prstGeom>
              <a:noFill/>
            </p:spPr>
            <p:txBody>
              <a:bodyPr wrap="square" rtlCol="0">
                <a:spAutoFit/>
              </a:bodyPr>
              <a:lstStyle/>
              <a:p>
                <a:r>
                  <a:rPr lang="en-US" dirty="0" err="1"/>
                  <a:t>Customers.txt</a:t>
                </a:r>
                <a:endParaRPr lang="en-US" dirty="0"/>
              </a:p>
            </p:txBody>
          </p:sp>
        </p:grpSp>
        <p:grpSp>
          <p:nvGrpSpPr>
            <p:cNvPr id="28" name="Group 27">
              <a:extLst>
                <a:ext uri="{FF2B5EF4-FFF2-40B4-BE49-F238E27FC236}">
                  <a16:creationId xmlns:a16="http://schemas.microsoft.com/office/drawing/2014/main" id="{C8A4997E-B08D-1348-8A16-E163F142E2EF}"/>
                </a:ext>
              </a:extLst>
            </p:cNvPr>
            <p:cNvGrpSpPr/>
            <p:nvPr/>
          </p:nvGrpSpPr>
          <p:grpSpPr>
            <a:xfrm>
              <a:off x="4885225" y="2309518"/>
              <a:ext cx="1614245" cy="1543707"/>
              <a:chOff x="1194620" y="2162292"/>
              <a:chExt cx="1283110" cy="1543707"/>
            </a:xfrm>
          </p:grpSpPr>
          <p:pic>
            <p:nvPicPr>
              <p:cNvPr id="29" name="Graphic 28" descr="Document outline">
                <a:extLst>
                  <a:ext uri="{FF2B5EF4-FFF2-40B4-BE49-F238E27FC236}">
                    <a16:creationId xmlns:a16="http://schemas.microsoft.com/office/drawing/2014/main" id="{33B31B65-63DE-CB47-A154-58BA9E5EE71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56852" y="2162292"/>
                <a:ext cx="914400" cy="914400"/>
              </a:xfrm>
              <a:prstGeom prst="rect">
                <a:avLst/>
              </a:prstGeom>
            </p:spPr>
          </p:pic>
          <p:sp>
            <p:nvSpPr>
              <p:cNvPr id="30" name="TextBox 29">
                <a:extLst>
                  <a:ext uri="{FF2B5EF4-FFF2-40B4-BE49-F238E27FC236}">
                    <a16:creationId xmlns:a16="http://schemas.microsoft.com/office/drawing/2014/main" id="{973CD73C-4789-084B-ABDB-58AE69286369}"/>
                  </a:ext>
                </a:extLst>
              </p:cNvPr>
              <p:cNvSpPr txBox="1"/>
              <p:nvPr/>
            </p:nvSpPr>
            <p:spPr>
              <a:xfrm>
                <a:off x="1194620" y="3059668"/>
                <a:ext cx="1283110" cy="646331"/>
              </a:xfrm>
              <a:prstGeom prst="rect">
                <a:avLst/>
              </a:prstGeom>
              <a:noFill/>
            </p:spPr>
            <p:txBody>
              <a:bodyPr wrap="square" rtlCol="0">
                <a:spAutoFit/>
              </a:bodyPr>
              <a:lstStyle/>
              <a:p>
                <a:r>
                  <a:rPr lang="en-US" dirty="0" err="1"/>
                  <a:t>Products.txt</a:t>
                </a:r>
                <a:endParaRPr lang="en-US" dirty="0"/>
              </a:p>
            </p:txBody>
          </p:sp>
        </p:grpSp>
      </p:grpSp>
      <p:cxnSp>
        <p:nvCxnSpPr>
          <p:cNvPr id="38" name="Straight Arrow Connector 37">
            <a:extLst>
              <a:ext uri="{FF2B5EF4-FFF2-40B4-BE49-F238E27FC236}">
                <a16:creationId xmlns:a16="http://schemas.microsoft.com/office/drawing/2014/main" id="{E1D3A91B-AF99-1249-80D8-28122272327A}"/>
              </a:ext>
            </a:extLst>
          </p:cNvPr>
          <p:cNvCxnSpPr>
            <a:cxnSpLocks/>
            <a:stCxn id="8" idx="2"/>
            <a:endCxn id="26" idx="0"/>
          </p:cNvCxnSpPr>
          <p:nvPr/>
        </p:nvCxnSpPr>
        <p:spPr>
          <a:xfrm flipH="1">
            <a:off x="7065292" y="3609972"/>
            <a:ext cx="8343" cy="116037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64" name="Table 21">
            <a:extLst>
              <a:ext uri="{FF2B5EF4-FFF2-40B4-BE49-F238E27FC236}">
                <a16:creationId xmlns:a16="http://schemas.microsoft.com/office/drawing/2014/main" id="{26A28131-45A5-164C-8B7E-003DEE4B60BD}"/>
              </a:ext>
            </a:extLst>
          </p:cNvPr>
          <p:cNvGraphicFramePr>
            <a:graphicFrameLocks noGrp="1"/>
          </p:cNvGraphicFramePr>
          <p:nvPr>
            <p:extLst>
              <p:ext uri="{D42A27DB-BD31-4B8C-83A1-F6EECF244321}">
                <p14:modId xmlns:p14="http://schemas.microsoft.com/office/powerpoint/2010/main" val="3533357721"/>
              </p:ext>
            </p:extLst>
          </p:nvPr>
        </p:nvGraphicFramePr>
        <p:xfrm>
          <a:off x="4331115" y="3557515"/>
          <a:ext cx="2511109" cy="365760"/>
        </p:xfrm>
        <a:graphic>
          <a:graphicData uri="http://schemas.openxmlformats.org/drawingml/2006/table">
            <a:tbl>
              <a:tblPr firstRow="1" bandRow="1">
                <a:tableStyleId>{2D5ABB26-0587-4C30-8999-92F81FD0307C}</a:tableStyleId>
              </a:tblPr>
              <a:tblGrid>
                <a:gridCol w="501968">
                  <a:extLst>
                    <a:ext uri="{9D8B030D-6E8A-4147-A177-3AD203B41FA5}">
                      <a16:colId xmlns:a16="http://schemas.microsoft.com/office/drawing/2014/main" val="1219927245"/>
                    </a:ext>
                  </a:extLst>
                </a:gridCol>
                <a:gridCol w="600393">
                  <a:extLst>
                    <a:ext uri="{9D8B030D-6E8A-4147-A177-3AD203B41FA5}">
                      <a16:colId xmlns:a16="http://schemas.microsoft.com/office/drawing/2014/main" val="1727528194"/>
                    </a:ext>
                  </a:extLst>
                </a:gridCol>
                <a:gridCol w="825818">
                  <a:extLst>
                    <a:ext uri="{9D8B030D-6E8A-4147-A177-3AD203B41FA5}">
                      <a16:colId xmlns:a16="http://schemas.microsoft.com/office/drawing/2014/main" val="3729982082"/>
                    </a:ext>
                  </a:extLst>
                </a:gridCol>
                <a:gridCol w="582930">
                  <a:extLst>
                    <a:ext uri="{9D8B030D-6E8A-4147-A177-3AD203B41FA5}">
                      <a16:colId xmlns:a16="http://schemas.microsoft.com/office/drawing/2014/main" val="2650960286"/>
                    </a:ext>
                  </a:extLst>
                </a:gridCol>
              </a:tblGrid>
              <a:tr h="0">
                <a:tc>
                  <a:txBody>
                    <a:bodyPr/>
                    <a:lstStyle/>
                    <a:p>
                      <a:r>
                        <a:rPr lang="en-US" dirty="0"/>
                        <a:t>O7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Bob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BookC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bl>
          </a:graphicData>
        </a:graphic>
      </p:graphicFrame>
      <p:sp>
        <p:nvSpPr>
          <p:cNvPr id="65" name="TextBox 64">
            <a:extLst>
              <a:ext uri="{FF2B5EF4-FFF2-40B4-BE49-F238E27FC236}">
                <a16:creationId xmlns:a16="http://schemas.microsoft.com/office/drawing/2014/main" id="{B6CC8248-B0BC-014B-93F6-4C466495E308}"/>
              </a:ext>
            </a:extLst>
          </p:cNvPr>
          <p:cNvSpPr txBox="1"/>
          <p:nvPr/>
        </p:nvSpPr>
        <p:spPr>
          <a:xfrm>
            <a:off x="79813" y="5073587"/>
            <a:ext cx="5292156" cy="1685846"/>
          </a:xfrm>
          <a:prstGeom prst="rect">
            <a:avLst/>
          </a:prstGeom>
          <a:noFill/>
        </p:spPr>
        <p:txBody>
          <a:bodyPr wrap="square" rtlCol="0">
            <a:spAutoFit/>
          </a:bodyPr>
          <a:lstStyle/>
          <a:p>
            <a:pPr>
              <a:lnSpc>
                <a:spcPct val="150000"/>
              </a:lnSpc>
            </a:pPr>
            <a:r>
              <a:rPr lang="en-US" sz="2400" dirty="0">
                <a:solidFill>
                  <a:srgbClr val="C00000"/>
                </a:solidFill>
                <a:latin typeface="Arial" panose="020B0604020202020204" pitchFamily="34" charset="0"/>
                <a:cs typeface="Arial" panose="020B0604020202020204" pitchFamily="34" charset="0"/>
              </a:rPr>
              <a:t>Likely an inconsistency.</a:t>
            </a:r>
          </a:p>
          <a:p>
            <a:pPr>
              <a:lnSpc>
                <a:spcPct val="150000"/>
              </a:lnSpc>
            </a:pPr>
            <a:r>
              <a:rPr lang="en-US" sz="2400" dirty="0">
                <a:solidFill>
                  <a:srgbClr val="C00000"/>
                </a:solidFill>
                <a:latin typeface="Arial" panose="020B0604020202020204" pitchFamily="34" charset="0"/>
                <a:cs typeface="Arial" panose="020B0604020202020204" pitchFamily="34" charset="0"/>
              </a:rPr>
              <a:t>We’d want to enforce the invariant:</a:t>
            </a:r>
          </a:p>
          <a:p>
            <a:pPr>
              <a:lnSpc>
                <a:spcPct val="150000"/>
              </a:lnSpc>
            </a:pPr>
            <a:r>
              <a:rPr lang="en-US" sz="2400" i="1" dirty="0">
                <a:solidFill>
                  <a:srgbClr val="C00000"/>
                </a:solidFill>
                <a:latin typeface="Arial" panose="020B0604020202020204" pitchFamily="34" charset="0"/>
                <a:cs typeface="Arial" panose="020B0604020202020204" pitchFamily="34" charset="0"/>
              </a:rPr>
              <a:t>No duplicate </a:t>
            </a:r>
            <a:r>
              <a:rPr lang="en-US" sz="2400" i="1" dirty="0" err="1">
                <a:solidFill>
                  <a:srgbClr val="C00000"/>
                </a:solidFill>
                <a:latin typeface="Arial" panose="020B0604020202020204" pitchFamily="34" charset="0"/>
                <a:cs typeface="Arial" panose="020B0604020202020204" pitchFamily="34" charset="0"/>
              </a:rPr>
              <a:t>cust</a:t>
            </a:r>
            <a:r>
              <a:rPr lang="en-US" sz="2400" i="1" dirty="0">
                <a:solidFill>
                  <a:srgbClr val="C00000"/>
                </a:solidFill>
                <a:latin typeface="Arial" panose="020B0604020202020204" pitchFamily="34" charset="0"/>
                <a:cs typeface="Arial" panose="020B0604020202020204" pitchFamily="34" charset="0"/>
              </a:rPr>
              <a:t> records!</a:t>
            </a:r>
          </a:p>
        </p:txBody>
      </p:sp>
      <p:graphicFrame>
        <p:nvGraphicFramePr>
          <p:cNvPr id="33" name="Table 21">
            <a:extLst>
              <a:ext uri="{FF2B5EF4-FFF2-40B4-BE49-F238E27FC236}">
                <a16:creationId xmlns:a16="http://schemas.microsoft.com/office/drawing/2014/main" id="{8D90F417-0754-0440-B1D0-BFB58B499E04}"/>
              </a:ext>
            </a:extLst>
          </p:cNvPr>
          <p:cNvGraphicFramePr>
            <a:graphicFrameLocks noGrp="1"/>
          </p:cNvGraphicFramePr>
          <p:nvPr>
            <p:extLst>
              <p:ext uri="{D42A27DB-BD31-4B8C-83A1-F6EECF244321}">
                <p14:modId xmlns:p14="http://schemas.microsoft.com/office/powerpoint/2010/main" val="4026121012"/>
              </p:ext>
            </p:extLst>
          </p:nvPr>
        </p:nvGraphicFramePr>
        <p:xfrm>
          <a:off x="7174196" y="3552413"/>
          <a:ext cx="1940561" cy="365760"/>
        </p:xfrm>
        <a:graphic>
          <a:graphicData uri="http://schemas.openxmlformats.org/drawingml/2006/table">
            <a:tbl>
              <a:tblPr firstRow="1" bandRow="1">
                <a:tableStyleId>{2D5ABB26-0587-4C30-8999-92F81FD0307C}</a:tableStyleId>
              </a:tblPr>
              <a:tblGrid>
                <a:gridCol w="600393">
                  <a:extLst>
                    <a:ext uri="{9D8B030D-6E8A-4147-A177-3AD203B41FA5}">
                      <a16:colId xmlns:a16="http://schemas.microsoft.com/office/drawing/2014/main" val="1727528194"/>
                    </a:ext>
                  </a:extLst>
                </a:gridCol>
                <a:gridCol w="1340168">
                  <a:extLst>
                    <a:ext uri="{9D8B030D-6E8A-4147-A177-3AD203B41FA5}">
                      <a16:colId xmlns:a16="http://schemas.microsoft.com/office/drawing/2014/main" val="3729982082"/>
                    </a:ext>
                  </a:extLst>
                </a:gridCol>
              </a:tblGrid>
              <a:tr h="0">
                <a:tc>
                  <a:txBody>
                    <a:bodyPr/>
                    <a:lstStyle/>
                    <a:p>
                      <a:r>
                        <a:rPr lang="en-US" dirty="0"/>
                        <a:t>Bob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1999/05/07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bl>
          </a:graphicData>
        </a:graphic>
      </p:graphicFrame>
      <p:graphicFrame>
        <p:nvGraphicFramePr>
          <p:cNvPr id="34" name="Table 21">
            <a:extLst>
              <a:ext uri="{FF2B5EF4-FFF2-40B4-BE49-F238E27FC236}">
                <a16:creationId xmlns:a16="http://schemas.microsoft.com/office/drawing/2014/main" id="{DDB85B02-0918-2846-98C2-FD1B9CDC8AD4}"/>
              </a:ext>
            </a:extLst>
          </p:cNvPr>
          <p:cNvGraphicFramePr>
            <a:graphicFrameLocks noGrp="1"/>
          </p:cNvGraphicFramePr>
          <p:nvPr>
            <p:extLst>
              <p:ext uri="{D42A27DB-BD31-4B8C-83A1-F6EECF244321}">
                <p14:modId xmlns:p14="http://schemas.microsoft.com/office/powerpoint/2010/main" val="2068118248"/>
              </p:ext>
            </p:extLst>
          </p:nvPr>
        </p:nvGraphicFramePr>
        <p:xfrm>
          <a:off x="4331115" y="3123085"/>
          <a:ext cx="2511109" cy="365760"/>
        </p:xfrm>
        <a:graphic>
          <a:graphicData uri="http://schemas.openxmlformats.org/drawingml/2006/table">
            <a:tbl>
              <a:tblPr firstRow="1" bandRow="1">
                <a:tableStyleId>{2D5ABB26-0587-4C30-8999-92F81FD0307C}</a:tableStyleId>
              </a:tblPr>
              <a:tblGrid>
                <a:gridCol w="501968">
                  <a:extLst>
                    <a:ext uri="{9D8B030D-6E8A-4147-A177-3AD203B41FA5}">
                      <a16:colId xmlns:a16="http://schemas.microsoft.com/office/drawing/2014/main" val="1219927245"/>
                    </a:ext>
                  </a:extLst>
                </a:gridCol>
                <a:gridCol w="600393">
                  <a:extLst>
                    <a:ext uri="{9D8B030D-6E8A-4147-A177-3AD203B41FA5}">
                      <a16:colId xmlns:a16="http://schemas.microsoft.com/office/drawing/2014/main" val="1727528194"/>
                    </a:ext>
                  </a:extLst>
                </a:gridCol>
                <a:gridCol w="825818">
                  <a:extLst>
                    <a:ext uri="{9D8B030D-6E8A-4147-A177-3AD203B41FA5}">
                      <a16:colId xmlns:a16="http://schemas.microsoft.com/office/drawing/2014/main" val="3729982082"/>
                    </a:ext>
                  </a:extLst>
                </a:gridCol>
                <a:gridCol w="582930">
                  <a:extLst>
                    <a:ext uri="{9D8B030D-6E8A-4147-A177-3AD203B41FA5}">
                      <a16:colId xmlns:a16="http://schemas.microsoft.com/office/drawing/2014/main" val="2650960286"/>
                    </a:ext>
                  </a:extLst>
                </a:gridCol>
              </a:tblGrid>
              <a:tr h="0">
                <a:tc>
                  <a:txBody>
                    <a:bodyPr/>
                    <a:lstStyle/>
                    <a:p>
                      <a:r>
                        <a:rPr lang="en-US" dirty="0"/>
                        <a:t>O8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Bob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TVA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$90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bl>
          </a:graphicData>
        </a:graphic>
      </p:graphicFrame>
    </p:spTree>
    <p:extLst>
      <p:ext uri="{BB962C8B-B14F-4D97-AF65-F5344CB8AC3E}">
        <p14:creationId xmlns:p14="http://schemas.microsoft.com/office/powerpoint/2010/main" val="9224357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4" end="4"/>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4"/>
                                        </p:tgtEl>
                                        <p:attrNameLst>
                                          <p:attrName>style.visibility</p:attrName>
                                        </p:attrNameLst>
                                      </p:cBhvr>
                                      <p:to>
                                        <p:strVal val="visible"/>
                                      </p:to>
                                    </p:set>
                                  </p:childTnLst>
                                </p:cTn>
                              </p:par>
                              <p:par>
                                <p:cTn id="37" presetID="0" presetClass="path" presetSubtype="0" accel="50000" decel="50000" fill="hold" nodeType="withEffect">
                                  <p:stCondLst>
                                    <p:cond delay="0"/>
                                  </p:stCondLst>
                                  <p:childTnLst>
                                    <p:animMotion origin="layout" path="M 0.05798 0.04028 L 0.00278 0.13241 " pathEditMode="relative" rAng="0" ptsTypes="AA">
                                      <p:cBhvr>
                                        <p:cTn id="38" dur="2000" fill="hold"/>
                                        <p:tgtEl>
                                          <p:spTgt spid="64"/>
                                        </p:tgtEl>
                                        <p:attrNameLst>
                                          <p:attrName>ppt_x</p:attrName>
                                          <p:attrName>ppt_y</p:attrName>
                                        </p:attrNameLst>
                                      </p:cBhvr>
                                      <p:rCtr x="-2760" y="4606"/>
                                    </p:animMotion>
                                  </p:childTnLst>
                                </p:cTn>
                              </p:par>
                              <p:par>
                                <p:cTn id="39" presetID="1" presetClass="entr" presetSubtype="0" fill="hold" nodeType="withEffect">
                                  <p:stCondLst>
                                    <p:cond delay="0"/>
                                  </p:stCondLst>
                                  <p:childTnLst>
                                    <p:set>
                                      <p:cBhvr>
                                        <p:cTn id="40" dur="1" fill="hold">
                                          <p:stCondLst>
                                            <p:cond delay="0"/>
                                          </p:stCondLst>
                                        </p:cTn>
                                        <p:tgtEl>
                                          <p:spTgt spid="33"/>
                                        </p:tgtEl>
                                        <p:attrNameLst>
                                          <p:attrName>style.visibility</p:attrName>
                                        </p:attrNameLst>
                                      </p:cBhvr>
                                      <p:to>
                                        <p:strVal val="visible"/>
                                      </p:to>
                                    </p:set>
                                  </p:childTnLst>
                                </p:cTn>
                              </p:par>
                              <p:par>
                                <p:cTn id="41" presetID="0" presetClass="path" presetSubtype="0" accel="50000" decel="50000" fill="hold" nodeType="withEffect">
                                  <p:stCondLst>
                                    <p:cond delay="0"/>
                                  </p:stCondLst>
                                  <p:childTnLst>
                                    <p:animMotion origin="layout" path="M -0.07152 0.04375 L -0.06701 0.14583 " pathEditMode="relative" ptsTypes="AA">
                                      <p:cBhvr>
                                        <p:cTn id="42" dur="2000" fill="hold"/>
                                        <p:tgtEl>
                                          <p:spTgt spid="33"/>
                                        </p:tgtEl>
                                        <p:attrNameLst>
                                          <p:attrName>ppt_x</p:attrName>
                                          <p:attrName>ppt_y</p:attrName>
                                        </p:attrNameLst>
                                      </p:cBhvr>
                                    </p:animMotion>
                                  </p:childTnLst>
                                </p:cTn>
                              </p:par>
                            </p:childTnLst>
                          </p:cTn>
                        </p:par>
                      </p:childTnLst>
                    </p:cTn>
                  </p:par>
                  <p:par>
                    <p:cTn id="43" fill="hold">
                      <p:stCondLst>
                        <p:cond delay="indefinite"/>
                      </p:stCondLst>
                      <p:childTnLst>
                        <p:par>
                          <p:cTn id="44" fill="hold">
                            <p:stCondLst>
                              <p:cond delay="0"/>
                            </p:stCondLst>
                            <p:childTnLst>
                              <p:par>
                                <p:cTn id="45" presetID="1" presetClass="exit" presetSubtype="0" fill="hold" nodeType="clickEffect">
                                  <p:stCondLst>
                                    <p:cond delay="0"/>
                                  </p:stCondLst>
                                  <p:childTnLst>
                                    <p:set>
                                      <p:cBhvr>
                                        <p:cTn id="46" dur="1" fill="hold">
                                          <p:stCondLst>
                                            <p:cond delay="0"/>
                                          </p:stCondLst>
                                        </p:cTn>
                                        <p:tgtEl>
                                          <p:spTgt spid="64"/>
                                        </p:tgtEl>
                                        <p:attrNameLst>
                                          <p:attrName>style.visibility</p:attrName>
                                        </p:attrNameLst>
                                      </p:cBhvr>
                                      <p:to>
                                        <p:strVal val="hidden"/>
                                      </p:to>
                                    </p:set>
                                  </p:childTnLst>
                                </p:cTn>
                              </p:par>
                              <p:par>
                                <p:cTn id="47" presetID="1" presetClass="exit" presetSubtype="0" fill="hold" nodeType="withEffect">
                                  <p:stCondLst>
                                    <p:cond delay="0"/>
                                  </p:stCondLst>
                                  <p:childTnLst>
                                    <p:set>
                                      <p:cBhvr>
                                        <p:cTn id="48" dur="1" fill="hold">
                                          <p:stCondLst>
                                            <p:cond delay="0"/>
                                          </p:stCondLst>
                                        </p:cTn>
                                        <p:tgtEl>
                                          <p:spTgt spid="33"/>
                                        </p:tgtEl>
                                        <p:attrNameLst>
                                          <p:attrName>style.visibility</p:attrName>
                                        </p:attrNameLst>
                                      </p:cBhvr>
                                      <p:to>
                                        <p:strVal val="hidden"/>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33"/>
                                        </p:tgtEl>
                                        <p:attrNameLst>
                                          <p:attrName>style.visibility</p:attrName>
                                        </p:attrNameLst>
                                      </p:cBhvr>
                                      <p:to>
                                        <p:strVal val="visible"/>
                                      </p:to>
                                    </p:set>
                                  </p:childTnLst>
                                </p:cTn>
                              </p:par>
                              <p:par>
                                <p:cTn id="59" presetID="0" presetClass="path" presetSubtype="0" accel="50000" decel="50000" fill="hold" nodeType="withEffect">
                                  <p:stCondLst>
                                    <p:cond delay="0"/>
                                  </p:stCondLst>
                                  <p:childTnLst>
                                    <p:animMotion origin="layout" path="M 0.046 0.09514 L -0.02205 0.18982 " pathEditMode="relative" rAng="0" ptsTypes="AA">
                                      <p:cBhvr>
                                        <p:cTn id="60" dur="2000" fill="hold"/>
                                        <p:tgtEl>
                                          <p:spTgt spid="34"/>
                                        </p:tgtEl>
                                        <p:attrNameLst>
                                          <p:attrName>ppt_x</p:attrName>
                                          <p:attrName>ppt_y</p:attrName>
                                        </p:attrNameLst>
                                      </p:cBhvr>
                                      <p:rCtr x="-3403" y="4722"/>
                                    </p:animMotion>
                                  </p:childTnLst>
                                </p:cTn>
                              </p:par>
                              <p:par>
                                <p:cTn id="61" presetID="0" presetClass="path" presetSubtype="0" accel="50000" decel="50000" fill="hold" nodeType="withEffect">
                                  <p:stCondLst>
                                    <p:cond delay="0"/>
                                  </p:stCondLst>
                                  <p:childTnLst>
                                    <p:animMotion origin="layout" path="M -0.05035 0.03541 L -0.04635 0.16111 " pathEditMode="relative" ptsTypes="AA">
                                      <p:cBhvr>
                                        <p:cTn id="62" dur="2000" fill="hold"/>
                                        <p:tgtEl>
                                          <p:spTgt spid="33"/>
                                        </p:tgtEl>
                                        <p:attrNameLst>
                                          <p:attrName>ppt_x</p:attrName>
                                          <p:attrName>ppt_y</p:attrName>
                                        </p:attrNameLst>
                                      </p:cBhvr>
                                    </p:animMotion>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PR4: Integrity/Consistency of The Data (2)</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01A30E2-8CE0-0947-A473-551511F82A58}"/>
              </a:ext>
            </a:extLst>
          </p:cNvPr>
          <p:cNvSpPr txBox="1"/>
          <p:nvPr/>
        </p:nvSpPr>
        <p:spPr>
          <a:xfrm>
            <a:off x="0" y="725173"/>
            <a:ext cx="9143999" cy="2107052"/>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err="1">
                <a:latin typeface="Arial" panose="020B0604020202020204" pitchFamily="34" charset="0"/>
                <a:cs typeface="Arial" panose="020B0604020202020204" pitchFamily="34" charset="0"/>
              </a:rPr>
              <a:t>E.g</a:t>
            </a:r>
            <a:r>
              <a:rPr lang="en-US" sz="2400" dirty="0">
                <a:latin typeface="Arial" panose="020B0604020202020204" pitchFamily="34" charset="0"/>
                <a:cs typeface="Arial" panose="020B0604020202020204" pitchFamily="34" charset="0"/>
              </a:rPr>
              <a:t>: Checkout App’s “Checkout As Guest”</a:t>
            </a:r>
          </a:p>
          <a:p>
            <a:pPr lvl="1" indent="-274320">
              <a:lnSpc>
                <a:spcPct val="150000"/>
              </a:lnSpc>
              <a:buFont typeface="Wingdings" pitchFamily="2" charset="2"/>
              <a:buChar char="Ø"/>
            </a:pPr>
            <a:r>
              <a:rPr lang="en-US" sz="2200" dirty="0">
                <a:latin typeface="Arial" panose="020B0604020202020204" pitchFamily="34" charset="0"/>
                <a:cs typeface="Arial" panose="020B0604020202020204" pitchFamily="34" charset="0"/>
              </a:rPr>
              <a:t>Writes the Order record</a:t>
            </a:r>
          </a:p>
          <a:p>
            <a:pPr lvl="1" indent="-274320">
              <a:lnSpc>
                <a:spcPct val="150000"/>
              </a:lnSpc>
              <a:buFont typeface="Wingdings" pitchFamily="2" charset="2"/>
              <a:buChar char="Ø"/>
            </a:pPr>
            <a:r>
              <a:rPr lang="en-US" sz="2200" dirty="0">
                <a:latin typeface="Arial" panose="020B0604020202020204" pitchFamily="34" charset="0"/>
                <a:cs typeface="Arial" panose="020B0604020202020204" pitchFamily="34" charset="0"/>
              </a:rPr>
              <a:t>But not the Customer record</a:t>
            </a:r>
          </a:p>
          <a:p>
            <a:pPr lvl="1" indent="-274320">
              <a:lnSpc>
                <a:spcPct val="150000"/>
              </a:lnSpc>
              <a:buFont typeface="Wingdings" pitchFamily="2" charset="2"/>
              <a:buChar char="Ø"/>
            </a:pPr>
            <a:r>
              <a:rPr lang="en-US" sz="2200" dirty="0">
                <a:latin typeface="Arial" panose="020B0604020202020204" pitchFamily="34" charset="0"/>
                <a:cs typeface="Arial" panose="020B0604020202020204" pitchFamily="34" charset="0"/>
              </a:rPr>
              <a:t>(Bob, 1999/05/07) is not in </a:t>
            </a:r>
            <a:r>
              <a:rPr lang="en-US" sz="2200" dirty="0" err="1">
                <a:latin typeface="Arial" panose="020B0604020202020204" pitchFamily="34" charset="0"/>
                <a:cs typeface="Arial" panose="020B0604020202020204" pitchFamily="34" charset="0"/>
              </a:rPr>
              <a:t>Customers.txt</a:t>
            </a:r>
            <a:r>
              <a:rPr lang="en-US" sz="2200" dirty="0">
                <a:latin typeface="Arial" panose="020B0604020202020204" pitchFamily="34" charset="0"/>
                <a:cs typeface="Arial" panose="020B0604020202020204" pitchFamily="34" charset="0"/>
              </a:rPr>
              <a:t>.</a:t>
            </a:r>
          </a:p>
        </p:txBody>
      </p:sp>
      <p:pic>
        <p:nvPicPr>
          <p:cNvPr id="8" name="Graphic 7" descr="Server outline">
            <a:extLst>
              <a:ext uri="{FF2B5EF4-FFF2-40B4-BE49-F238E27FC236}">
                <a16:creationId xmlns:a16="http://schemas.microsoft.com/office/drawing/2014/main" id="{E83C735B-0445-124A-A043-E4AA2DA3C44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536880" y="2832732"/>
            <a:ext cx="1073510" cy="777240"/>
          </a:xfrm>
          <a:prstGeom prst="rect">
            <a:avLst/>
          </a:prstGeom>
        </p:spPr>
      </p:pic>
      <p:cxnSp>
        <p:nvCxnSpPr>
          <p:cNvPr id="10" name="Straight Arrow Connector 9">
            <a:extLst>
              <a:ext uri="{FF2B5EF4-FFF2-40B4-BE49-F238E27FC236}">
                <a16:creationId xmlns:a16="http://schemas.microsoft.com/office/drawing/2014/main" id="{FF966947-A0C2-9B44-998D-DF678F50647E}"/>
              </a:ext>
            </a:extLst>
          </p:cNvPr>
          <p:cNvCxnSpPr>
            <a:cxnSpLocks/>
            <a:stCxn id="8" idx="2"/>
            <a:endCxn id="22" idx="0"/>
          </p:cNvCxnSpPr>
          <p:nvPr/>
        </p:nvCxnSpPr>
        <p:spPr>
          <a:xfrm flipH="1">
            <a:off x="5803343" y="3609972"/>
            <a:ext cx="1270292" cy="1103873"/>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2" name="Group 11">
            <a:extLst>
              <a:ext uri="{FF2B5EF4-FFF2-40B4-BE49-F238E27FC236}">
                <a16:creationId xmlns:a16="http://schemas.microsoft.com/office/drawing/2014/main" id="{A0CBBD3A-531E-0443-9CD4-9572B0936C35}"/>
              </a:ext>
            </a:extLst>
          </p:cNvPr>
          <p:cNvGrpSpPr/>
          <p:nvPr/>
        </p:nvGrpSpPr>
        <p:grpSpPr>
          <a:xfrm>
            <a:off x="6577274" y="1788722"/>
            <a:ext cx="1224842" cy="731520"/>
            <a:chOff x="1626882" y="2623957"/>
            <a:chExt cx="1224842" cy="731520"/>
          </a:xfrm>
        </p:grpSpPr>
        <p:pic>
          <p:nvPicPr>
            <p:cNvPr id="14" name="Graphic 13" descr="Smart Phone with solid fill">
              <a:extLst>
                <a:ext uri="{FF2B5EF4-FFF2-40B4-BE49-F238E27FC236}">
                  <a16:creationId xmlns:a16="http://schemas.microsoft.com/office/drawing/2014/main" id="{43410E75-B4E4-8744-8DCF-94AB01AC453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120204" y="2623957"/>
              <a:ext cx="731520" cy="731520"/>
            </a:xfrm>
            <a:prstGeom prst="rect">
              <a:avLst/>
            </a:prstGeom>
          </p:spPr>
        </p:pic>
        <p:pic>
          <p:nvPicPr>
            <p:cNvPr id="16" name="Graphic 15" descr="Male profile with solid fill">
              <a:extLst>
                <a:ext uri="{FF2B5EF4-FFF2-40B4-BE49-F238E27FC236}">
                  <a16:creationId xmlns:a16="http://schemas.microsoft.com/office/drawing/2014/main" id="{FD16E991-A8A3-C642-93AD-383C8247F8D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26882" y="2623957"/>
              <a:ext cx="731520" cy="731520"/>
            </a:xfrm>
            <a:prstGeom prst="rect">
              <a:avLst/>
            </a:prstGeom>
          </p:spPr>
        </p:pic>
      </p:grpSp>
      <p:cxnSp>
        <p:nvCxnSpPr>
          <p:cNvPr id="20" name="Straight Arrow Connector 19">
            <a:extLst>
              <a:ext uri="{FF2B5EF4-FFF2-40B4-BE49-F238E27FC236}">
                <a16:creationId xmlns:a16="http://schemas.microsoft.com/office/drawing/2014/main" id="{6CF1BA53-0503-0343-9659-1DB67530284B}"/>
              </a:ext>
            </a:extLst>
          </p:cNvPr>
          <p:cNvCxnSpPr>
            <a:cxnSpLocks/>
          </p:cNvCxnSpPr>
          <p:nvPr/>
        </p:nvCxnSpPr>
        <p:spPr>
          <a:xfrm>
            <a:off x="7131974" y="2505494"/>
            <a:ext cx="0" cy="2770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31" name="Group 30">
            <a:extLst>
              <a:ext uri="{FF2B5EF4-FFF2-40B4-BE49-F238E27FC236}">
                <a16:creationId xmlns:a16="http://schemas.microsoft.com/office/drawing/2014/main" id="{51D3D602-88EE-1646-BC8F-0203626B8CFA}"/>
              </a:ext>
            </a:extLst>
          </p:cNvPr>
          <p:cNvGrpSpPr/>
          <p:nvPr/>
        </p:nvGrpSpPr>
        <p:grpSpPr>
          <a:xfrm>
            <a:off x="5183910" y="4357651"/>
            <a:ext cx="4149561" cy="1956406"/>
            <a:chOff x="2349909" y="1896819"/>
            <a:chExt cx="4149561" cy="1956406"/>
          </a:xfrm>
        </p:grpSpPr>
        <p:grpSp>
          <p:nvGrpSpPr>
            <p:cNvPr id="21" name="Group 20">
              <a:extLst>
                <a:ext uri="{FF2B5EF4-FFF2-40B4-BE49-F238E27FC236}">
                  <a16:creationId xmlns:a16="http://schemas.microsoft.com/office/drawing/2014/main" id="{55711B4B-DBD6-2C41-AFDD-A84F49C3725F}"/>
                </a:ext>
              </a:extLst>
            </p:cNvPr>
            <p:cNvGrpSpPr/>
            <p:nvPr/>
          </p:nvGrpSpPr>
          <p:grpSpPr>
            <a:xfrm>
              <a:off x="2349910" y="2253013"/>
              <a:ext cx="1283110" cy="1266708"/>
              <a:chOff x="1194620" y="2162292"/>
              <a:chExt cx="1283110" cy="1266708"/>
            </a:xfrm>
          </p:grpSpPr>
          <p:pic>
            <p:nvPicPr>
              <p:cNvPr id="22" name="Graphic 21" descr="Document outline">
                <a:extLst>
                  <a:ext uri="{FF2B5EF4-FFF2-40B4-BE49-F238E27FC236}">
                    <a16:creationId xmlns:a16="http://schemas.microsoft.com/office/drawing/2014/main" id="{0404A628-0BF2-7740-84FE-A6C9A2B3B43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56852" y="2162292"/>
                <a:ext cx="914400" cy="914400"/>
              </a:xfrm>
              <a:prstGeom prst="rect">
                <a:avLst/>
              </a:prstGeom>
            </p:spPr>
          </p:pic>
          <p:sp>
            <p:nvSpPr>
              <p:cNvPr id="23" name="TextBox 22">
                <a:extLst>
                  <a:ext uri="{FF2B5EF4-FFF2-40B4-BE49-F238E27FC236}">
                    <a16:creationId xmlns:a16="http://schemas.microsoft.com/office/drawing/2014/main" id="{35556AF7-330F-E64C-9737-8CCD5A163F0E}"/>
                  </a:ext>
                </a:extLst>
              </p:cNvPr>
              <p:cNvSpPr txBox="1"/>
              <p:nvPr/>
            </p:nvSpPr>
            <p:spPr>
              <a:xfrm>
                <a:off x="1194620" y="3059668"/>
                <a:ext cx="1283110" cy="369332"/>
              </a:xfrm>
              <a:prstGeom prst="rect">
                <a:avLst/>
              </a:prstGeom>
              <a:noFill/>
            </p:spPr>
            <p:txBody>
              <a:bodyPr wrap="square" rtlCol="0">
                <a:spAutoFit/>
              </a:bodyPr>
              <a:lstStyle/>
              <a:p>
                <a:r>
                  <a:rPr lang="en-US" dirty="0" err="1"/>
                  <a:t>Orders.txt</a:t>
                </a:r>
                <a:endParaRPr lang="en-US" dirty="0"/>
              </a:p>
            </p:txBody>
          </p:sp>
        </p:grpSp>
        <p:sp>
          <p:nvSpPr>
            <p:cNvPr id="24" name="Can 23">
              <a:extLst>
                <a:ext uri="{FF2B5EF4-FFF2-40B4-BE49-F238E27FC236}">
                  <a16:creationId xmlns:a16="http://schemas.microsoft.com/office/drawing/2014/main" id="{B355FD24-41DA-9347-A236-5E1638A08DEE}"/>
                </a:ext>
              </a:extLst>
            </p:cNvPr>
            <p:cNvSpPr/>
            <p:nvPr/>
          </p:nvSpPr>
          <p:spPr>
            <a:xfrm>
              <a:off x="2349909" y="1896819"/>
              <a:ext cx="3889797" cy="1775176"/>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5" name="Group 24">
              <a:extLst>
                <a:ext uri="{FF2B5EF4-FFF2-40B4-BE49-F238E27FC236}">
                  <a16:creationId xmlns:a16="http://schemas.microsoft.com/office/drawing/2014/main" id="{3F127DB2-EFBE-6445-BA3D-FB445AA2F7F7}"/>
                </a:ext>
              </a:extLst>
            </p:cNvPr>
            <p:cNvGrpSpPr/>
            <p:nvPr/>
          </p:nvGrpSpPr>
          <p:grpSpPr>
            <a:xfrm>
              <a:off x="3452000" y="2309518"/>
              <a:ext cx="1614245" cy="1543707"/>
              <a:chOff x="1194620" y="2162292"/>
              <a:chExt cx="1283110" cy="1543707"/>
            </a:xfrm>
          </p:grpSpPr>
          <p:pic>
            <p:nvPicPr>
              <p:cNvPr id="26" name="Graphic 25" descr="Document outline">
                <a:extLst>
                  <a:ext uri="{FF2B5EF4-FFF2-40B4-BE49-F238E27FC236}">
                    <a16:creationId xmlns:a16="http://schemas.microsoft.com/office/drawing/2014/main" id="{73DF05AE-188E-A948-91EA-A4D734BB181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56852" y="2162292"/>
                <a:ext cx="914400" cy="914400"/>
              </a:xfrm>
              <a:prstGeom prst="rect">
                <a:avLst/>
              </a:prstGeom>
            </p:spPr>
          </p:pic>
          <p:sp>
            <p:nvSpPr>
              <p:cNvPr id="27" name="TextBox 26">
                <a:extLst>
                  <a:ext uri="{FF2B5EF4-FFF2-40B4-BE49-F238E27FC236}">
                    <a16:creationId xmlns:a16="http://schemas.microsoft.com/office/drawing/2014/main" id="{0C0BC855-6752-7A4F-8715-FFF53BBDC357}"/>
                  </a:ext>
                </a:extLst>
              </p:cNvPr>
              <p:cNvSpPr txBox="1"/>
              <p:nvPr/>
            </p:nvSpPr>
            <p:spPr>
              <a:xfrm>
                <a:off x="1194620" y="3059668"/>
                <a:ext cx="1283110" cy="646331"/>
              </a:xfrm>
              <a:prstGeom prst="rect">
                <a:avLst/>
              </a:prstGeom>
              <a:noFill/>
            </p:spPr>
            <p:txBody>
              <a:bodyPr wrap="square" rtlCol="0">
                <a:spAutoFit/>
              </a:bodyPr>
              <a:lstStyle/>
              <a:p>
                <a:r>
                  <a:rPr lang="en-US" dirty="0" err="1"/>
                  <a:t>Customers.txt</a:t>
                </a:r>
                <a:endParaRPr lang="en-US" dirty="0"/>
              </a:p>
            </p:txBody>
          </p:sp>
        </p:grpSp>
        <p:grpSp>
          <p:nvGrpSpPr>
            <p:cNvPr id="28" name="Group 27">
              <a:extLst>
                <a:ext uri="{FF2B5EF4-FFF2-40B4-BE49-F238E27FC236}">
                  <a16:creationId xmlns:a16="http://schemas.microsoft.com/office/drawing/2014/main" id="{C8A4997E-B08D-1348-8A16-E163F142E2EF}"/>
                </a:ext>
              </a:extLst>
            </p:cNvPr>
            <p:cNvGrpSpPr/>
            <p:nvPr/>
          </p:nvGrpSpPr>
          <p:grpSpPr>
            <a:xfrm>
              <a:off x="4885225" y="2309518"/>
              <a:ext cx="1614245" cy="1543707"/>
              <a:chOff x="1194620" y="2162292"/>
              <a:chExt cx="1283110" cy="1543707"/>
            </a:xfrm>
          </p:grpSpPr>
          <p:pic>
            <p:nvPicPr>
              <p:cNvPr id="29" name="Graphic 28" descr="Document outline">
                <a:extLst>
                  <a:ext uri="{FF2B5EF4-FFF2-40B4-BE49-F238E27FC236}">
                    <a16:creationId xmlns:a16="http://schemas.microsoft.com/office/drawing/2014/main" id="{33B31B65-63DE-CB47-A154-58BA9E5EE719}"/>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56852" y="2162292"/>
                <a:ext cx="914400" cy="914400"/>
              </a:xfrm>
              <a:prstGeom prst="rect">
                <a:avLst/>
              </a:prstGeom>
            </p:spPr>
          </p:pic>
          <p:sp>
            <p:nvSpPr>
              <p:cNvPr id="30" name="TextBox 29">
                <a:extLst>
                  <a:ext uri="{FF2B5EF4-FFF2-40B4-BE49-F238E27FC236}">
                    <a16:creationId xmlns:a16="http://schemas.microsoft.com/office/drawing/2014/main" id="{973CD73C-4789-084B-ABDB-58AE69286369}"/>
                  </a:ext>
                </a:extLst>
              </p:cNvPr>
              <p:cNvSpPr txBox="1"/>
              <p:nvPr/>
            </p:nvSpPr>
            <p:spPr>
              <a:xfrm>
                <a:off x="1194620" y="3059668"/>
                <a:ext cx="1283110" cy="646331"/>
              </a:xfrm>
              <a:prstGeom prst="rect">
                <a:avLst/>
              </a:prstGeom>
              <a:noFill/>
            </p:spPr>
            <p:txBody>
              <a:bodyPr wrap="square" rtlCol="0">
                <a:spAutoFit/>
              </a:bodyPr>
              <a:lstStyle/>
              <a:p>
                <a:r>
                  <a:rPr lang="en-US" dirty="0" err="1"/>
                  <a:t>Products.txt</a:t>
                </a:r>
                <a:endParaRPr lang="en-US" dirty="0"/>
              </a:p>
            </p:txBody>
          </p:sp>
        </p:grpSp>
      </p:grpSp>
      <p:cxnSp>
        <p:nvCxnSpPr>
          <p:cNvPr id="38" name="Straight Arrow Connector 37">
            <a:extLst>
              <a:ext uri="{FF2B5EF4-FFF2-40B4-BE49-F238E27FC236}">
                <a16:creationId xmlns:a16="http://schemas.microsoft.com/office/drawing/2014/main" id="{E1D3A91B-AF99-1249-80D8-28122272327A}"/>
              </a:ext>
            </a:extLst>
          </p:cNvPr>
          <p:cNvCxnSpPr>
            <a:cxnSpLocks/>
            <a:stCxn id="8" idx="2"/>
            <a:endCxn id="26" idx="0"/>
          </p:cNvCxnSpPr>
          <p:nvPr/>
        </p:nvCxnSpPr>
        <p:spPr>
          <a:xfrm flipH="1">
            <a:off x="7065292" y="3609972"/>
            <a:ext cx="8343" cy="1160378"/>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aphicFrame>
        <p:nvGraphicFramePr>
          <p:cNvPr id="64" name="Table 21">
            <a:extLst>
              <a:ext uri="{FF2B5EF4-FFF2-40B4-BE49-F238E27FC236}">
                <a16:creationId xmlns:a16="http://schemas.microsoft.com/office/drawing/2014/main" id="{26A28131-45A5-164C-8B7E-003DEE4B60BD}"/>
              </a:ext>
            </a:extLst>
          </p:cNvPr>
          <p:cNvGraphicFramePr>
            <a:graphicFrameLocks noGrp="1"/>
          </p:cNvGraphicFramePr>
          <p:nvPr>
            <p:extLst>
              <p:ext uri="{D42A27DB-BD31-4B8C-83A1-F6EECF244321}">
                <p14:modId xmlns:p14="http://schemas.microsoft.com/office/powerpoint/2010/main" val="423890446"/>
              </p:ext>
            </p:extLst>
          </p:nvPr>
        </p:nvGraphicFramePr>
        <p:xfrm>
          <a:off x="5319100" y="3573773"/>
          <a:ext cx="2511109" cy="365760"/>
        </p:xfrm>
        <a:graphic>
          <a:graphicData uri="http://schemas.openxmlformats.org/drawingml/2006/table">
            <a:tbl>
              <a:tblPr firstRow="1" bandRow="1">
                <a:tableStyleId>{2D5ABB26-0587-4C30-8999-92F81FD0307C}</a:tableStyleId>
              </a:tblPr>
              <a:tblGrid>
                <a:gridCol w="501968">
                  <a:extLst>
                    <a:ext uri="{9D8B030D-6E8A-4147-A177-3AD203B41FA5}">
                      <a16:colId xmlns:a16="http://schemas.microsoft.com/office/drawing/2014/main" val="1219927245"/>
                    </a:ext>
                  </a:extLst>
                </a:gridCol>
                <a:gridCol w="600393">
                  <a:extLst>
                    <a:ext uri="{9D8B030D-6E8A-4147-A177-3AD203B41FA5}">
                      <a16:colId xmlns:a16="http://schemas.microsoft.com/office/drawing/2014/main" val="1727528194"/>
                    </a:ext>
                  </a:extLst>
                </a:gridCol>
                <a:gridCol w="825818">
                  <a:extLst>
                    <a:ext uri="{9D8B030D-6E8A-4147-A177-3AD203B41FA5}">
                      <a16:colId xmlns:a16="http://schemas.microsoft.com/office/drawing/2014/main" val="3729982082"/>
                    </a:ext>
                  </a:extLst>
                </a:gridCol>
                <a:gridCol w="582930">
                  <a:extLst>
                    <a:ext uri="{9D8B030D-6E8A-4147-A177-3AD203B41FA5}">
                      <a16:colId xmlns:a16="http://schemas.microsoft.com/office/drawing/2014/main" val="2650960286"/>
                    </a:ext>
                  </a:extLst>
                </a:gridCol>
              </a:tblGrid>
              <a:tr h="0">
                <a:tc>
                  <a:txBody>
                    <a:bodyPr/>
                    <a:lstStyle/>
                    <a:p>
                      <a:r>
                        <a:rPr lang="en-US" dirty="0"/>
                        <a:t>O7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Bob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BookC</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$17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bl>
          </a:graphicData>
        </a:graphic>
      </p:graphicFrame>
      <p:sp>
        <p:nvSpPr>
          <p:cNvPr id="35" name="TextBox 34">
            <a:extLst>
              <a:ext uri="{FF2B5EF4-FFF2-40B4-BE49-F238E27FC236}">
                <a16:creationId xmlns:a16="http://schemas.microsoft.com/office/drawing/2014/main" id="{D27D5D5C-EE83-D449-8679-1E9E3686AF7F}"/>
              </a:ext>
            </a:extLst>
          </p:cNvPr>
          <p:cNvSpPr txBox="1"/>
          <p:nvPr/>
        </p:nvSpPr>
        <p:spPr>
          <a:xfrm>
            <a:off x="6783841" y="3717694"/>
            <a:ext cx="579588" cy="707886"/>
          </a:xfrm>
          <a:prstGeom prst="rect">
            <a:avLst/>
          </a:prstGeom>
          <a:noFill/>
        </p:spPr>
        <p:txBody>
          <a:bodyPr wrap="square" rtlCol="0">
            <a:spAutoFit/>
          </a:bodyPr>
          <a:lstStyle/>
          <a:p>
            <a:pPr algn="ctr"/>
            <a:r>
              <a:rPr lang="en-US" sz="4000" dirty="0">
                <a:solidFill>
                  <a:srgbClr val="C00000"/>
                </a:solidFill>
              </a:rPr>
              <a:t>X</a:t>
            </a:r>
          </a:p>
        </p:txBody>
      </p:sp>
      <p:sp>
        <p:nvSpPr>
          <p:cNvPr id="36" name="TextBox 35">
            <a:extLst>
              <a:ext uri="{FF2B5EF4-FFF2-40B4-BE49-F238E27FC236}">
                <a16:creationId xmlns:a16="http://schemas.microsoft.com/office/drawing/2014/main" id="{51DF1D40-CD7A-7043-AF51-27C28EC54D6A}"/>
              </a:ext>
            </a:extLst>
          </p:cNvPr>
          <p:cNvSpPr txBox="1"/>
          <p:nvPr/>
        </p:nvSpPr>
        <p:spPr>
          <a:xfrm>
            <a:off x="135437" y="4294707"/>
            <a:ext cx="5292156" cy="1685846"/>
          </a:xfrm>
          <a:prstGeom prst="rect">
            <a:avLst/>
          </a:prstGeom>
          <a:noFill/>
        </p:spPr>
        <p:txBody>
          <a:bodyPr wrap="square" rtlCol="0">
            <a:spAutoFit/>
          </a:bodyPr>
          <a:lstStyle/>
          <a:p>
            <a:pPr>
              <a:lnSpc>
                <a:spcPct val="150000"/>
              </a:lnSpc>
            </a:pPr>
            <a:r>
              <a:rPr lang="en-US" sz="2400" dirty="0">
                <a:solidFill>
                  <a:srgbClr val="C00000"/>
                </a:solidFill>
                <a:latin typeface="Arial" panose="020B0604020202020204" pitchFamily="34" charset="0"/>
                <a:cs typeface="Arial" panose="020B0604020202020204" pitchFamily="34" charset="0"/>
              </a:rPr>
              <a:t>Likely an inconsistency.</a:t>
            </a:r>
          </a:p>
          <a:p>
            <a:pPr>
              <a:lnSpc>
                <a:spcPct val="150000"/>
              </a:lnSpc>
            </a:pPr>
            <a:r>
              <a:rPr lang="en-US" sz="2400" dirty="0">
                <a:solidFill>
                  <a:srgbClr val="C00000"/>
                </a:solidFill>
                <a:latin typeface="Arial" panose="020B0604020202020204" pitchFamily="34" charset="0"/>
                <a:cs typeface="Arial" panose="020B0604020202020204" pitchFamily="34" charset="0"/>
              </a:rPr>
              <a:t>We’d want to enforce the invariant:</a:t>
            </a:r>
          </a:p>
          <a:p>
            <a:pPr>
              <a:lnSpc>
                <a:spcPct val="150000"/>
              </a:lnSpc>
            </a:pPr>
            <a:r>
              <a:rPr lang="en-US" sz="2400" i="1" dirty="0">
                <a:solidFill>
                  <a:srgbClr val="C00000"/>
                </a:solidFill>
                <a:latin typeface="Arial" panose="020B0604020202020204" pitchFamily="34" charset="0"/>
                <a:cs typeface="Arial" panose="020B0604020202020204" pitchFamily="34" charset="0"/>
              </a:rPr>
              <a:t>Every order’s </a:t>
            </a:r>
            <a:r>
              <a:rPr lang="en-US" sz="2400" i="1" dirty="0" err="1">
                <a:solidFill>
                  <a:srgbClr val="C00000"/>
                </a:solidFill>
                <a:latin typeface="Arial" panose="020B0604020202020204" pitchFamily="34" charset="0"/>
                <a:cs typeface="Arial" panose="020B0604020202020204" pitchFamily="34" charset="0"/>
              </a:rPr>
              <a:t>cust</a:t>
            </a:r>
            <a:r>
              <a:rPr lang="en-US" sz="2400" i="1" dirty="0">
                <a:solidFill>
                  <a:srgbClr val="C00000"/>
                </a:solidFill>
                <a:latin typeface="Arial" panose="020B0604020202020204" pitchFamily="34" charset="0"/>
                <a:cs typeface="Arial" panose="020B0604020202020204" pitchFamily="34" charset="0"/>
              </a:rPr>
              <a:t> record exists!</a:t>
            </a:r>
            <a:r>
              <a:rPr lang="en-US" sz="2400" dirty="0">
                <a:solidFill>
                  <a:srgbClr val="C00000"/>
                </a:solidFill>
                <a:latin typeface="Arial" panose="020B0604020202020204" pitchFamily="34" charset="0"/>
                <a:cs typeface="Arial" panose="020B0604020202020204" pitchFamily="34" charset="0"/>
              </a:rPr>
              <a:t> </a:t>
            </a:r>
            <a:endParaRPr lang="en-US" sz="2400" i="1" dirty="0">
              <a:solidFill>
                <a:srgbClr val="C00000"/>
              </a:solidFill>
              <a:latin typeface="Arial" panose="020B0604020202020204" pitchFamily="34" charset="0"/>
              <a:cs typeface="Arial" panose="020B0604020202020204" pitchFamily="34" charset="0"/>
            </a:endParaRPr>
          </a:p>
        </p:txBody>
      </p:sp>
      <p:sp>
        <p:nvSpPr>
          <p:cNvPr id="37" name="TextBox 36">
            <a:extLst>
              <a:ext uri="{FF2B5EF4-FFF2-40B4-BE49-F238E27FC236}">
                <a16:creationId xmlns:a16="http://schemas.microsoft.com/office/drawing/2014/main" id="{1D28BCC0-E5D4-B646-8CA3-C94D1B41F49B}"/>
              </a:ext>
            </a:extLst>
          </p:cNvPr>
          <p:cNvSpPr txBox="1"/>
          <p:nvPr/>
        </p:nvSpPr>
        <p:spPr>
          <a:xfrm>
            <a:off x="8924" y="6314057"/>
            <a:ext cx="9143999" cy="461665"/>
          </a:xfrm>
          <a:prstGeom prst="rect">
            <a:avLst/>
          </a:prstGeom>
          <a:noFill/>
        </p:spPr>
        <p:txBody>
          <a:bodyPr wrap="square" rtlCol="0">
            <a:spAutoFit/>
          </a:bodyPr>
          <a:lstStyle/>
          <a:p>
            <a:pPr marL="457200" indent="-457200">
              <a:buFont typeface="Wingdings" pitchFamily="2" charset="2"/>
              <a:buChar char="Ø"/>
            </a:pPr>
            <a:r>
              <a:rPr lang="en-US" sz="2400" dirty="0">
                <a:latin typeface="Arial" panose="020B0604020202020204" pitchFamily="34" charset="0"/>
                <a:cs typeface="Arial" panose="020B0604020202020204" pitchFamily="34" charset="0"/>
              </a:rPr>
              <a:t>Another example momentarily in concurrency</a:t>
            </a:r>
          </a:p>
        </p:txBody>
      </p:sp>
    </p:spTree>
    <p:extLst>
      <p:ext uri="{BB962C8B-B14F-4D97-AF65-F5344CB8AC3E}">
        <p14:creationId xmlns:p14="http://schemas.microsoft.com/office/powerpoint/2010/main" val="41498237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par>
                                <p:cTn id="7" presetID="0" presetClass="path" presetSubtype="0" accel="50000" decel="50000" fill="hold" nodeType="withEffect">
                                  <p:stCondLst>
                                    <p:cond delay="0"/>
                                  </p:stCondLst>
                                  <p:childTnLst>
                                    <p:animMotion origin="layout" path="M -0.0217 0.02685 L -0.10277 0.11898 " pathEditMode="relative" ptsTypes="AA">
                                      <p:cBhvr>
                                        <p:cTn id="8" dur="2000" fill="hold"/>
                                        <p:tgtEl>
                                          <p:spTgt spid="64"/>
                                        </p:tgtEl>
                                        <p:attrNameLst>
                                          <p:attrName>ppt_x</p:attrName>
                                          <p:attrName>ppt_y</p:attrName>
                                        </p:attrNameLst>
                                      </p:cBhvr>
                                    </p:animMotion>
                                  </p:childTnLst>
                                </p:cTn>
                              </p:par>
                              <p:par>
                                <p:cTn id="9" presetID="1" presetClass="entr" presetSubtype="0" fill="hold" grpId="0" nodeType="withEffect">
                                  <p:stCondLst>
                                    <p:cond delay="0"/>
                                  </p:stCondLst>
                                  <p:childTnLst>
                                    <p:set>
                                      <p:cBhvr>
                                        <p:cTn id="10" dur="1" fill="hold">
                                          <p:stCondLst>
                                            <p:cond delay="0"/>
                                          </p:stCondLst>
                                        </p:cTn>
                                        <p:tgtEl>
                                          <p:spTgt spid="3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6"/>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P spid="36" grpId="0"/>
      <p:bldP spid="3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PR5: Concurrency: Multiple Conflicting Requests</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17" name="Graphic 16" descr="Female Profile with solid fill">
            <a:extLst>
              <a:ext uri="{FF2B5EF4-FFF2-40B4-BE49-F238E27FC236}">
                <a16:creationId xmlns:a16="http://schemas.microsoft.com/office/drawing/2014/main" id="{F3DEF9FD-2D3D-1446-8AAE-EB92A008BDA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20408" y="2751206"/>
            <a:ext cx="731520" cy="731520"/>
          </a:xfrm>
          <a:prstGeom prst="rect">
            <a:avLst/>
          </a:prstGeom>
        </p:spPr>
      </p:pic>
      <p:sp>
        <p:nvSpPr>
          <p:cNvPr id="30" name="TextBox 29">
            <a:extLst>
              <a:ext uri="{FF2B5EF4-FFF2-40B4-BE49-F238E27FC236}">
                <a16:creationId xmlns:a16="http://schemas.microsoft.com/office/drawing/2014/main" id="{7C43B651-F0C2-384B-B4A7-0CD94E8D041F}"/>
              </a:ext>
            </a:extLst>
          </p:cNvPr>
          <p:cNvSpPr txBox="1"/>
          <p:nvPr/>
        </p:nvSpPr>
        <p:spPr>
          <a:xfrm>
            <a:off x="0" y="682309"/>
            <a:ext cx="9143999" cy="2239844"/>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Alice &amp; Bob concurrently order </a:t>
            </a:r>
            <a:r>
              <a:rPr lang="en-US" sz="2400" dirty="0" err="1">
                <a:latin typeface="Arial" panose="020B0604020202020204" pitchFamily="34" charset="0"/>
                <a:cs typeface="Arial" panose="020B0604020202020204" pitchFamily="34" charset="0"/>
              </a:rPr>
              <a:t>BookA</a:t>
            </a:r>
            <a:r>
              <a:rPr lang="en-US" sz="2400" dirty="0">
                <a:latin typeface="Arial" panose="020B0604020202020204" pitchFamily="34" charset="0"/>
                <a:cs typeface="Arial" panose="020B0604020202020204" pitchFamily="34" charset="0"/>
              </a:rPr>
              <a:t>: suppose 1 left in stock.</a:t>
            </a:r>
          </a:p>
          <a:p>
            <a:pPr marL="457200" indent="-457200">
              <a:lnSpc>
                <a:spcPct val="150000"/>
              </a:lnSpc>
              <a:buFont typeface="Wingdings" pitchFamily="2" charset="2"/>
              <a:buChar char="Ø"/>
            </a:pPr>
            <a:endParaRPr lang="en-US" sz="2400" dirty="0">
              <a:latin typeface="Arial" panose="020B0604020202020204" pitchFamily="34" charset="0"/>
              <a:cs typeface="Arial" panose="020B0604020202020204" pitchFamily="34" charset="0"/>
            </a:endParaRPr>
          </a:p>
          <a:p>
            <a:pPr marL="457200" indent="-457200">
              <a:lnSpc>
                <a:spcPct val="150000"/>
              </a:lnSpc>
              <a:buFont typeface="Wingdings" pitchFamily="2" charset="2"/>
              <a:buChar char="Ø"/>
            </a:pPr>
            <a:endParaRPr lang="en-US" sz="2400" dirty="0">
              <a:latin typeface="Arial" panose="020B0604020202020204" pitchFamily="34" charset="0"/>
              <a:cs typeface="Arial" panose="020B0604020202020204" pitchFamily="34" charset="0"/>
            </a:endParaRPr>
          </a:p>
          <a:p>
            <a:pPr marL="457200" indent="-457200">
              <a:lnSpc>
                <a:spcPct val="150000"/>
              </a:lnSpc>
              <a:buFont typeface="Wingdings" pitchFamily="2" charset="2"/>
              <a:buChar char="Ø"/>
            </a:pPr>
            <a:endParaRPr lang="en-US" sz="2400" dirty="0">
              <a:latin typeface="Arial" panose="020B0604020202020204" pitchFamily="34" charset="0"/>
              <a:cs typeface="Arial" panose="020B0604020202020204" pitchFamily="34" charset="0"/>
            </a:endParaRPr>
          </a:p>
        </p:txBody>
      </p:sp>
      <p:graphicFrame>
        <p:nvGraphicFramePr>
          <p:cNvPr id="31" name="Table 21">
            <a:extLst>
              <a:ext uri="{FF2B5EF4-FFF2-40B4-BE49-F238E27FC236}">
                <a16:creationId xmlns:a16="http://schemas.microsoft.com/office/drawing/2014/main" id="{4CCB46F1-17E6-504E-809D-D42F1B1F77F2}"/>
              </a:ext>
            </a:extLst>
          </p:cNvPr>
          <p:cNvGraphicFramePr>
            <a:graphicFrameLocks noGrp="1"/>
          </p:cNvGraphicFramePr>
          <p:nvPr>
            <p:extLst>
              <p:ext uri="{D42A27DB-BD31-4B8C-83A1-F6EECF244321}">
                <p14:modId xmlns:p14="http://schemas.microsoft.com/office/powerpoint/2010/main" val="2853357735"/>
              </p:ext>
            </p:extLst>
          </p:nvPr>
        </p:nvGraphicFramePr>
        <p:xfrm>
          <a:off x="496950" y="1337240"/>
          <a:ext cx="2326767" cy="1402080"/>
        </p:xfrm>
        <a:graphic>
          <a:graphicData uri="http://schemas.openxmlformats.org/drawingml/2006/table">
            <a:tbl>
              <a:tblPr firstRow="1" bandRow="1">
                <a:tableStyleId>{2D5ABB26-0587-4C30-8999-92F81FD0307C}</a:tableStyleId>
              </a:tblPr>
              <a:tblGrid>
                <a:gridCol w="951693">
                  <a:extLst>
                    <a:ext uri="{9D8B030D-6E8A-4147-A177-3AD203B41FA5}">
                      <a16:colId xmlns:a16="http://schemas.microsoft.com/office/drawing/2014/main" val="1727528194"/>
                    </a:ext>
                  </a:extLst>
                </a:gridCol>
                <a:gridCol w="1375074">
                  <a:extLst>
                    <a:ext uri="{9D8B030D-6E8A-4147-A177-3AD203B41FA5}">
                      <a16:colId xmlns:a16="http://schemas.microsoft.com/office/drawing/2014/main" val="3729982082"/>
                    </a:ext>
                  </a:extLst>
                </a:gridCol>
              </a:tblGrid>
              <a:tr h="0">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0">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0">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0">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sp>
        <p:nvSpPr>
          <p:cNvPr id="42" name="TextBox 41">
            <a:extLst>
              <a:ext uri="{FF2B5EF4-FFF2-40B4-BE49-F238E27FC236}">
                <a16:creationId xmlns:a16="http://schemas.microsoft.com/office/drawing/2014/main" id="{04FDDBBD-8EFD-C548-87AE-5FEC946E443E}"/>
              </a:ext>
            </a:extLst>
          </p:cNvPr>
          <p:cNvSpPr txBox="1"/>
          <p:nvPr/>
        </p:nvSpPr>
        <p:spPr>
          <a:xfrm>
            <a:off x="3462236" y="1261791"/>
            <a:ext cx="5230761" cy="1400383"/>
          </a:xfrm>
          <a:prstGeom prst="rect">
            <a:avLst/>
          </a:prstGeom>
          <a:noFill/>
        </p:spPr>
        <p:txBody>
          <a:bodyPr wrap="square" rtlCol="0">
            <a:spAutoFit/>
          </a:bodyPr>
          <a:lstStyle/>
          <a:p>
            <a:r>
              <a:rPr lang="en-US" sz="1700" dirty="0" err="1">
                <a:latin typeface="Consolas" panose="020B0609020204030204" pitchFamily="49" charset="0"/>
                <a:cs typeface="Consolas" panose="020B0609020204030204" pitchFamily="49" charset="0"/>
              </a:rPr>
              <a:t>Buy_Product_Subroutine</a:t>
            </a:r>
            <a:r>
              <a:rPr lang="en-US" sz="1700" dirty="0">
                <a:latin typeface="Consolas" panose="020B0609020204030204" pitchFamily="49" charset="0"/>
                <a:cs typeface="Consolas" panose="020B0609020204030204" pitchFamily="49" charset="0"/>
              </a:rPr>
              <a:t>(string </a:t>
            </a:r>
            <a:r>
              <a:rPr lang="en-US" sz="1700" dirty="0" err="1">
                <a:latin typeface="Consolas" panose="020B0609020204030204" pitchFamily="49" charset="0"/>
                <a:cs typeface="Consolas" panose="020B0609020204030204" pitchFamily="49" charset="0"/>
              </a:rPr>
              <a:t>prodName</a:t>
            </a:r>
            <a:r>
              <a:rPr lang="en-US" sz="1700" dirty="0">
                <a:latin typeface="Consolas" panose="020B0609020204030204" pitchFamily="49" charset="0"/>
                <a:cs typeface="Consolas" panose="020B0609020204030204" pitchFamily="49" charset="0"/>
              </a:rPr>
              <a:t>):</a:t>
            </a:r>
          </a:p>
          <a:p>
            <a:r>
              <a:rPr lang="en-US" sz="1700" dirty="0">
                <a:latin typeface="Consolas" panose="020B0609020204030204" pitchFamily="49" charset="0"/>
                <a:cs typeface="Consolas" panose="020B0609020204030204" pitchFamily="49" charset="0"/>
              </a:rPr>
              <a:t>(prod, </a:t>
            </a:r>
            <a:r>
              <a:rPr lang="en-US" sz="1700" dirty="0" err="1">
                <a:latin typeface="Consolas" panose="020B0609020204030204" pitchFamily="49" charset="0"/>
                <a:cs typeface="Consolas" panose="020B0609020204030204" pitchFamily="49" charset="0"/>
              </a:rPr>
              <a:t>numInStock</a:t>
            </a:r>
            <a:r>
              <a:rPr lang="en-US" sz="1700" dirty="0">
                <a:latin typeface="Consolas" panose="020B0609020204030204" pitchFamily="49" charset="0"/>
                <a:cs typeface="Consolas" panose="020B0609020204030204" pitchFamily="49" charset="0"/>
              </a:rPr>
              <a:t>) = </a:t>
            </a:r>
            <a:r>
              <a:rPr lang="en-US" sz="1700" dirty="0" err="1">
                <a:latin typeface="Consolas" panose="020B0609020204030204" pitchFamily="49" charset="0"/>
                <a:cs typeface="Consolas" panose="020B0609020204030204" pitchFamily="49" charset="0"/>
              </a:rPr>
              <a:t>readProduct</a:t>
            </a:r>
            <a:r>
              <a:rPr lang="en-US" sz="1700" dirty="0">
                <a:latin typeface="Consolas" panose="020B0609020204030204" pitchFamily="49" charset="0"/>
                <a:cs typeface="Consolas" panose="020B0609020204030204" pitchFamily="49" charset="0"/>
              </a:rPr>
              <a:t>(</a:t>
            </a:r>
            <a:r>
              <a:rPr lang="en-US" sz="1700" dirty="0" err="1">
                <a:latin typeface="Consolas" panose="020B0609020204030204" pitchFamily="49" charset="0"/>
                <a:cs typeface="Consolas" panose="020B0609020204030204" pitchFamily="49" charset="0"/>
              </a:rPr>
              <a:t>prodName</a:t>
            </a:r>
            <a:r>
              <a:rPr lang="en-US" sz="1700" dirty="0">
                <a:latin typeface="Consolas" panose="020B0609020204030204" pitchFamily="49" charset="0"/>
                <a:cs typeface="Consolas" panose="020B0609020204030204" pitchFamily="49" charset="0"/>
              </a:rPr>
              <a:t>)</a:t>
            </a:r>
          </a:p>
          <a:p>
            <a:r>
              <a:rPr lang="en-US" sz="1700" dirty="0">
                <a:latin typeface="Consolas" panose="020B0609020204030204" pitchFamily="49" charset="0"/>
                <a:cs typeface="Consolas" panose="020B0609020204030204" pitchFamily="49" charset="0"/>
              </a:rPr>
              <a:t>if (</a:t>
            </a:r>
            <a:r>
              <a:rPr lang="en-US" sz="1700" dirty="0" err="1">
                <a:latin typeface="Consolas" panose="020B0609020204030204" pitchFamily="49" charset="0"/>
                <a:cs typeface="Consolas" panose="020B0609020204030204" pitchFamily="49" charset="0"/>
              </a:rPr>
              <a:t>numInStock</a:t>
            </a:r>
            <a:r>
              <a:rPr lang="en-US" sz="1700" dirty="0">
                <a:latin typeface="Consolas" panose="020B0609020204030204" pitchFamily="49" charset="0"/>
                <a:cs typeface="Consolas" panose="020B0609020204030204" pitchFamily="49" charset="0"/>
              </a:rPr>
              <a:t> &gt; 0):</a:t>
            </a:r>
          </a:p>
          <a:p>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writeProduct</a:t>
            </a:r>
            <a:r>
              <a:rPr lang="en-US" sz="1700" dirty="0">
                <a:latin typeface="Consolas" panose="020B0609020204030204" pitchFamily="49" charset="0"/>
                <a:cs typeface="Consolas" panose="020B0609020204030204" pitchFamily="49" charset="0"/>
              </a:rPr>
              <a:t>((prod, </a:t>
            </a:r>
            <a:r>
              <a:rPr lang="en-US" sz="1700" dirty="0" err="1">
                <a:latin typeface="Consolas" panose="020B0609020204030204" pitchFamily="49" charset="0"/>
                <a:cs typeface="Consolas" panose="020B0609020204030204" pitchFamily="49" charset="0"/>
              </a:rPr>
              <a:t>numInStock</a:t>
            </a:r>
            <a:r>
              <a:rPr lang="en-US" sz="1700" dirty="0">
                <a:latin typeface="Consolas" panose="020B0609020204030204" pitchFamily="49" charset="0"/>
                <a:cs typeface="Consolas" panose="020B0609020204030204" pitchFamily="49" charset="0"/>
              </a:rPr>
              <a:t> - 1)</a:t>
            </a:r>
          </a:p>
          <a:p>
            <a:r>
              <a:rPr lang="en-US" sz="1700" dirty="0">
                <a:latin typeface="Consolas" panose="020B0609020204030204" pitchFamily="49" charset="0"/>
                <a:cs typeface="Consolas" panose="020B0609020204030204" pitchFamily="49" charset="0"/>
              </a:rPr>
              <a:t>else throw(“Cannot buy product!”);</a:t>
            </a:r>
          </a:p>
        </p:txBody>
      </p:sp>
      <p:cxnSp>
        <p:nvCxnSpPr>
          <p:cNvPr id="45" name="Straight Arrow Connector 44">
            <a:extLst>
              <a:ext uri="{FF2B5EF4-FFF2-40B4-BE49-F238E27FC236}">
                <a16:creationId xmlns:a16="http://schemas.microsoft.com/office/drawing/2014/main" id="{7BCECE1B-51C7-AF4C-A5A3-27486C55F6B4}"/>
              </a:ext>
            </a:extLst>
          </p:cNvPr>
          <p:cNvCxnSpPr>
            <a:cxnSpLocks/>
          </p:cNvCxnSpPr>
          <p:nvPr/>
        </p:nvCxnSpPr>
        <p:spPr>
          <a:xfrm>
            <a:off x="333363" y="4246353"/>
            <a:ext cx="1" cy="204774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108E51C9-AB12-F147-B4E0-CC797171FDEE}"/>
              </a:ext>
            </a:extLst>
          </p:cNvPr>
          <p:cNvSpPr txBox="1"/>
          <p:nvPr/>
        </p:nvSpPr>
        <p:spPr>
          <a:xfrm>
            <a:off x="333363" y="4225709"/>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 1)</a:t>
            </a:r>
          </a:p>
        </p:txBody>
      </p:sp>
      <p:pic>
        <p:nvPicPr>
          <p:cNvPr id="53" name="Graphic 52" descr="Male profile with solid fill">
            <a:extLst>
              <a:ext uri="{FF2B5EF4-FFF2-40B4-BE49-F238E27FC236}">
                <a16:creationId xmlns:a16="http://schemas.microsoft.com/office/drawing/2014/main" id="{BAA376F0-5555-9547-9618-3383225D744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6920" y="2727392"/>
            <a:ext cx="731520" cy="731520"/>
          </a:xfrm>
          <a:prstGeom prst="rect">
            <a:avLst/>
          </a:prstGeom>
        </p:spPr>
      </p:pic>
      <p:sp>
        <p:nvSpPr>
          <p:cNvPr id="54" name="TextBox 53">
            <a:extLst>
              <a:ext uri="{FF2B5EF4-FFF2-40B4-BE49-F238E27FC236}">
                <a16:creationId xmlns:a16="http://schemas.microsoft.com/office/drawing/2014/main" id="{BC37669F-EBB3-F546-A702-E3E74CD3F2D4}"/>
              </a:ext>
            </a:extLst>
          </p:cNvPr>
          <p:cNvSpPr txBox="1"/>
          <p:nvPr/>
        </p:nvSpPr>
        <p:spPr>
          <a:xfrm rot="16200000">
            <a:off x="-326282" y="4969200"/>
            <a:ext cx="862819" cy="456472"/>
          </a:xfrm>
          <a:prstGeom prst="rect">
            <a:avLst/>
          </a:prstGeom>
          <a:noFill/>
        </p:spPr>
        <p:txBody>
          <a:bodyPr wrap="square" rtlCol="0">
            <a:spAutoFit/>
          </a:bodyPr>
          <a:lstStyle/>
          <a:p>
            <a:pPr algn="ctr">
              <a:lnSpc>
                <a:spcPct val="150000"/>
              </a:lnSpc>
            </a:pPr>
            <a:r>
              <a:rPr lang="en-US" dirty="0">
                <a:latin typeface="Arial" panose="020B0604020202020204" pitchFamily="34" charset="0"/>
                <a:cs typeface="Arial" panose="020B0604020202020204" pitchFamily="34" charset="0"/>
              </a:rPr>
              <a:t>time</a:t>
            </a:r>
          </a:p>
        </p:txBody>
      </p:sp>
      <p:sp>
        <p:nvSpPr>
          <p:cNvPr id="55" name="TextBox 54">
            <a:extLst>
              <a:ext uri="{FF2B5EF4-FFF2-40B4-BE49-F238E27FC236}">
                <a16:creationId xmlns:a16="http://schemas.microsoft.com/office/drawing/2014/main" id="{559A5130-441B-1448-B1AF-A15DDA026A45}"/>
              </a:ext>
            </a:extLst>
          </p:cNvPr>
          <p:cNvSpPr txBox="1"/>
          <p:nvPr/>
        </p:nvSpPr>
        <p:spPr>
          <a:xfrm>
            <a:off x="1798387" y="4944240"/>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 0)</a:t>
            </a:r>
          </a:p>
        </p:txBody>
      </p:sp>
      <p:pic>
        <p:nvPicPr>
          <p:cNvPr id="56" name="Graphic 55" descr="Female Profile with solid fill">
            <a:extLst>
              <a:ext uri="{FF2B5EF4-FFF2-40B4-BE49-F238E27FC236}">
                <a16:creationId xmlns:a16="http://schemas.microsoft.com/office/drawing/2014/main" id="{A1FDF363-F8E0-AE40-A82E-AAC0DC57CBB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43436" y="2772296"/>
            <a:ext cx="731520" cy="731520"/>
          </a:xfrm>
          <a:prstGeom prst="rect">
            <a:avLst/>
          </a:prstGeom>
        </p:spPr>
      </p:pic>
      <p:pic>
        <p:nvPicPr>
          <p:cNvPr id="57" name="Graphic 56" descr="Male profile with solid fill">
            <a:extLst>
              <a:ext uri="{FF2B5EF4-FFF2-40B4-BE49-F238E27FC236}">
                <a16:creationId xmlns:a16="http://schemas.microsoft.com/office/drawing/2014/main" id="{C77AEF75-EF60-7840-92FB-5AA89893D44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2085" y="2794769"/>
            <a:ext cx="731520" cy="731520"/>
          </a:xfrm>
          <a:prstGeom prst="rect">
            <a:avLst/>
          </a:prstGeom>
        </p:spPr>
      </p:pic>
      <p:pic>
        <p:nvPicPr>
          <p:cNvPr id="58" name="Graphic 57" descr="Female Profile with solid fill">
            <a:extLst>
              <a:ext uri="{FF2B5EF4-FFF2-40B4-BE49-F238E27FC236}">
                <a16:creationId xmlns:a16="http://schemas.microsoft.com/office/drawing/2014/main" id="{825AE006-9E54-4D47-AD15-92C52D0BE8F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6815" y="2786566"/>
            <a:ext cx="731520" cy="731520"/>
          </a:xfrm>
          <a:prstGeom prst="rect">
            <a:avLst/>
          </a:prstGeom>
        </p:spPr>
      </p:pic>
      <p:pic>
        <p:nvPicPr>
          <p:cNvPr id="59" name="Graphic 58" descr="Male profile with solid fill">
            <a:extLst>
              <a:ext uri="{FF2B5EF4-FFF2-40B4-BE49-F238E27FC236}">
                <a16:creationId xmlns:a16="http://schemas.microsoft.com/office/drawing/2014/main" id="{1AA61713-3554-F049-81BE-B30DADDE4EE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2977" y="2772296"/>
            <a:ext cx="731520" cy="731520"/>
          </a:xfrm>
          <a:prstGeom prst="rect">
            <a:avLst/>
          </a:prstGeom>
        </p:spPr>
      </p:pic>
      <p:sp>
        <p:nvSpPr>
          <p:cNvPr id="60" name="TextBox 59">
            <a:extLst>
              <a:ext uri="{FF2B5EF4-FFF2-40B4-BE49-F238E27FC236}">
                <a16:creationId xmlns:a16="http://schemas.microsoft.com/office/drawing/2014/main" id="{A223A634-0F97-3241-87C1-933EE5615BCA}"/>
              </a:ext>
            </a:extLst>
          </p:cNvPr>
          <p:cNvSpPr txBox="1"/>
          <p:nvPr/>
        </p:nvSpPr>
        <p:spPr>
          <a:xfrm>
            <a:off x="333363" y="4648057"/>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 (A, 0)</a:t>
            </a:r>
          </a:p>
        </p:txBody>
      </p:sp>
      <p:sp>
        <p:nvSpPr>
          <p:cNvPr id="61" name="TextBox 60">
            <a:extLst>
              <a:ext uri="{FF2B5EF4-FFF2-40B4-BE49-F238E27FC236}">
                <a16:creationId xmlns:a16="http://schemas.microsoft.com/office/drawing/2014/main" id="{1FD2C262-4B54-5F40-8964-5E34F691673E}"/>
              </a:ext>
            </a:extLst>
          </p:cNvPr>
          <p:cNvSpPr txBox="1"/>
          <p:nvPr/>
        </p:nvSpPr>
        <p:spPr>
          <a:xfrm>
            <a:off x="4396442" y="4333522"/>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(A,1)</a:t>
            </a:r>
          </a:p>
        </p:txBody>
      </p:sp>
      <p:sp>
        <p:nvSpPr>
          <p:cNvPr id="62" name="TextBox 61">
            <a:extLst>
              <a:ext uri="{FF2B5EF4-FFF2-40B4-BE49-F238E27FC236}">
                <a16:creationId xmlns:a16="http://schemas.microsoft.com/office/drawing/2014/main" id="{46D8EC20-142E-B946-B478-85DADCBF0C44}"/>
              </a:ext>
            </a:extLst>
          </p:cNvPr>
          <p:cNvSpPr txBox="1"/>
          <p:nvPr/>
        </p:nvSpPr>
        <p:spPr>
          <a:xfrm>
            <a:off x="4396442" y="4765327"/>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w:(A,0)</a:t>
            </a:r>
          </a:p>
        </p:txBody>
      </p:sp>
      <p:sp>
        <p:nvSpPr>
          <p:cNvPr id="63" name="TextBox 62">
            <a:extLst>
              <a:ext uri="{FF2B5EF4-FFF2-40B4-BE49-F238E27FC236}">
                <a16:creationId xmlns:a16="http://schemas.microsoft.com/office/drawing/2014/main" id="{5E92CEF7-3A53-604F-8924-A7E5529FB4C6}"/>
              </a:ext>
            </a:extLst>
          </p:cNvPr>
          <p:cNvSpPr txBox="1"/>
          <p:nvPr/>
        </p:nvSpPr>
        <p:spPr>
          <a:xfrm>
            <a:off x="3241757" y="5041991"/>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r:(A,0)</a:t>
            </a:r>
          </a:p>
        </p:txBody>
      </p:sp>
      <p:cxnSp>
        <p:nvCxnSpPr>
          <p:cNvPr id="64" name="Straight Arrow Connector 63">
            <a:extLst>
              <a:ext uri="{FF2B5EF4-FFF2-40B4-BE49-F238E27FC236}">
                <a16:creationId xmlns:a16="http://schemas.microsoft.com/office/drawing/2014/main" id="{AFC1DFFF-F0D4-A342-8C5B-59A6631A94A5}"/>
              </a:ext>
            </a:extLst>
          </p:cNvPr>
          <p:cNvCxnSpPr>
            <a:cxnSpLocks/>
          </p:cNvCxnSpPr>
          <p:nvPr/>
        </p:nvCxnSpPr>
        <p:spPr>
          <a:xfrm>
            <a:off x="3235780" y="3970289"/>
            <a:ext cx="0" cy="2573381"/>
          </a:xfrm>
          <a:prstGeom prst="straightConnector1">
            <a:avLst/>
          </a:prstGeom>
          <a:ln>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66" name="Straight Arrow Connector 65">
            <a:extLst>
              <a:ext uri="{FF2B5EF4-FFF2-40B4-BE49-F238E27FC236}">
                <a16:creationId xmlns:a16="http://schemas.microsoft.com/office/drawing/2014/main" id="{BB0C080D-780E-4E42-B872-2914BB4EFE94}"/>
              </a:ext>
            </a:extLst>
          </p:cNvPr>
          <p:cNvCxnSpPr>
            <a:cxnSpLocks/>
          </p:cNvCxnSpPr>
          <p:nvPr/>
        </p:nvCxnSpPr>
        <p:spPr>
          <a:xfrm>
            <a:off x="6122521" y="3970288"/>
            <a:ext cx="0" cy="2573381"/>
          </a:xfrm>
          <a:prstGeom prst="straightConnector1">
            <a:avLst/>
          </a:prstGeom>
          <a:ln>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sp>
        <p:nvSpPr>
          <p:cNvPr id="67" name="TextBox 66">
            <a:extLst>
              <a:ext uri="{FF2B5EF4-FFF2-40B4-BE49-F238E27FC236}">
                <a16:creationId xmlns:a16="http://schemas.microsoft.com/office/drawing/2014/main" id="{C42C2AC9-7922-DA4F-9C19-1A6E8FF72311}"/>
              </a:ext>
            </a:extLst>
          </p:cNvPr>
          <p:cNvSpPr txBox="1"/>
          <p:nvPr/>
        </p:nvSpPr>
        <p:spPr>
          <a:xfrm>
            <a:off x="7495033" y="4101540"/>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(A,1)</a:t>
            </a:r>
          </a:p>
        </p:txBody>
      </p:sp>
      <p:sp>
        <p:nvSpPr>
          <p:cNvPr id="68" name="TextBox 67">
            <a:extLst>
              <a:ext uri="{FF2B5EF4-FFF2-40B4-BE49-F238E27FC236}">
                <a16:creationId xmlns:a16="http://schemas.microsoft.com/office/drawing/2014/main" id="{94CB7EAD-8D66-5A46-8EB9-5518BA1A946C}"/>
              </a:ext>
            </a:extLst>
          </p:cNvPr>
          <p:cNvSpPr txBox="1"/>
          <p:nvPr/>
        </p:nvSpPr>
        <p:spPr>
          <a:xfrm>
            <a:off x="6177722" y="4121484"/>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(A,1)</a:t>
            </a:r>
          </a:p>
        </p:txBody>
      </p:sp>
      <p:sp>
        <p:nvSpPr>
          <p:cNvPr id="70" name="TextBox 69">
            <a:extLst>
              <a:ext uri="{FF2B5EF4-FFF2-40B4-BE49-F238E27FC236}">
                <a16:creationId xmlns:a16="http://schemas.microsoft.com/office/drawing/2014/main" id="{32E65792-3565-2B47-98F7-947CA57ADCED}"/>
              </a:ext>
            </a:extLst>
          </p:cNvPr>
          <p:cNvSpPr txBox="1"/>
          <p:nvPr/>
        </p:nvSpPr>
        <p:spPr>
          <a:xfrm>
            <a:off x="7495033" y="4558012"/>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w:(A,0)</a:t>
            </a:r>
          </a:p>
        </p:txBody>
      </p:sp>
      <p:sp>
        <p:nvSpPr>
          <p:cNvPr id="71" name="TextBox 70">
            <a:extLst>
              <a:ext uri="{FF2B5EF4-FFF2-40B4-BE49-F238E27FC236}">
                <a16:creationId xmlns:a16="http://schemas.microsoft.com/office/drawing/2014/main" id="{3CFFA2C0-D0C3-0149-9734-9BFEA507A30E}"/>
              </a:ext>
            </a:extLst>
          </p:cNvPr>
          <p:cNvSpPr txBox="1"/>
          <p:nvPr/>
        </p:nvSpPr>
        <p:spPr>
          <a:xfrm>
            <a:off x="6224003" y="4960287"/>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w:(A,0)</a:t>
            </a:r>
          </a:p>
        </p:txBody>
      </p:sp>
      <p:pic>
        <p:nvPicPr>
          <p:cNvPr id="73" name="Graphic 72" descr="Server outline">
            <a:extLst>
              <a:ext uri="{FF2B5EF4-FFF2-40B4-BE49-F238E27FC236}">
                <a16:creationId xmlns:a16="http://schemas.microsoft.com/office/drawing/2014/main" id="{9B3AFC3B-A4BE-7A48-987E-8D0CA918EED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14537" y="3648705"/>
            <a:ext cx="793194" cy="574286"/>
          </a:xfrm>
          <a:prstGeom prst="rect">
            <a:avLst/>
          </a:prstGeom>
        </p:spPr>
      </p:pic>
      <p:pic>
        <p:nvPicPr>
          <p:cNvPr id="74" name="Graphic 73" descr="Server outline">
            <a:extLst>
              <a:ext uri="{FF2B5EF4-FFF2-40B4-BE49-F238E27FC236}">
                <a16:creationId xmlns:a16="http://schemas.microsoft.com/office/drawing/2014/main" id="{0957781D-9FFE-FB46-B5D7-09109934BD2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2317" y="3648705"/>
            <a:ext cx="793194" cy="574286"/>
          </a:xfrm>
          <a:prstGeom prst="rect">
            <a:avLst/>
          </a:prstGeom>
        </p:spPr>
      </p:pic>
      <p:pic>
        <p:nvPicPr>
          <p:cNvPr id="75" name="Graphic 74" descr="Server outline">
            <a:extLst>
              <a:ext uri="{FF2B5EF4-FFF2-40B4-BE49-F238E27FC236}">
                <a16:creationId xmlns:a16="http://schemas.microsoft.com/office/drawing/2014/main" id="{4A956176-1303-5647-B756-154F66B0B2F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73078" y="3683010"/>
            <a:ext cx="793194" cy="574286"/>
          </a:xfrm>
          <a:prstGeom prst="rect">
            <a:avLst/>
          </a:prstGeom>
        </p:spPr>
      </p:pic>
      <p:pic>
        <p:nvPicPr>
          <p:cNvPr id="76" name="Graphic 75" descr="Server outline">
            <a:extLst>
              <a:ext uri="{FF2B5EF4-FFF2-40B4-BE49-F238E27FC236}">
                <a16:creationId xmlns:a16="http://schemas.microsoft.com/office/drawing/2014/main" id="{14227451-FD6F-2340-B70F-6B18CAF8319F}"/>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48425" y="3664858"/>
            <a:ext cx="793194" cy="574286"/>
          </a:xfrm>
          <a:prstGeom prst="rect">
            <a:avLst/>
          </a:prstGeom>
        </p:spPr>
      </p:pic>
      <p:pic>
        <p:nvPicPr>
          <p:cNvPr id="77" name="Graphic 76" descr="Server outline">
            <a:extLst>
              <a:ext uri="{FF2B5EF4-FFF2-40B4-BE49-F238E27FC236}">
                <a16:creationId xmlns:a16="http://schemas.microsoft.com/office/drawing/2014/main" id="{5B13532A-189D-5742-B990-5C0BD2D0618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65736" y="3663086"/>
            <a:ext cx="793194" cy="574286"/>
          </a:xfrm>
          <a:prstGeom prst="rect">
            <a:avLst/>
          </a:prstGeom>
        </p:spPr>
      </p:pic>
      <p:pic>
        <p:nvPicPr>
          <p:cNvPr id="78" name="Graphic 77" descr="Server outline">
            <a:extLst>
              <a:ext uri="{FF2B5EF4-FFF2-40B4-BE49-F238E27FC236}">
                <a16:creationId xmlns:a16="http://schemas.microsoft.com/office/drawing/2014/main" id="{81694C0D-467F-1B4C-BA91-15C9C22ABA3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15978" y="3616164"/>
            <a:ext cx="793194" cy="574286"/>
          </a:xfrm>
          <a:prstGeom prst="rect">
            <a:avLst/>
          </a:prstGeom>
        </p:spPr>
      </p:pic>
      <p:pic>
        <p:nvPicPr>
          <p:cNvPr id="3" name="Graphic 2" descr="Open book outline">
            <a:extLst>
              <a:ext uri="{FF2B5EF4-FFF2-40B4-BE49-F238E27FC236}">
                <a16:creationId xmlns:a16="http://schemas.microsoft.com/office/drawing/2014/main" id="{2956C956-4FEE-1848-B2BF-DEB39FB4E5A2}"/>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5480" y="5394486"/>
            <a:ext cx="914400" cy="914400"/>
          </a:xfrm>
          <a:prstGeom prst="rect">
            <a:avLst/>
          </a:prstGeom>
        </p:spPr>
      </p:pic>
      <p:sp>
        <p:nvSpPr>
          <p:cNvPr id="35" name="TextBox 34">
            <a:extLst>
              <a:ext uri="{FF2B5EF4-FFF2-40B4-BE49-F238E27FC236}">
                <a16:creationId xmlns:a16="http://schemas.microsoft.com/office/drawing/2014/main" id="{E5B5DA40-765D-7445-958F-FC9CD0619C28}"/>
              </a:ext>
            </a:extLst>
          </p:cNvPr>
          <p:cNvSpPr txBox="1"/>
          <p:nvPr/>
        </p:nvSpPr>
        <p:spPr>
          <a:xfrm>
            <a:off x="1581647" y="5584811"/>
            <a:ext cx="1466872" cy="461665"/>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No Book</a:t>
            </a:r>
          </a:p>
        </p:txBody>
      </p:sp>
      <p:sp>
        <p:nvSpPr>
          <p:cNvPr id="6" name="Rectangle 5">
            <a:extLst>
              <a:ext uri="{FF2B5EF4-FFF2-40B4-BE49-F238E27FC236}">
                <a16:creationId xmlns:a16="http://schemas.microsoft.com/office/drawing/2014/main" id="{894DAE9D-FFB9-DD4C-AFB9-DD5E7F3B4879}"/>
              </a:ext>
            </a:extLst>
          </p:cNvPr>
          <p:cNvSpPr/>
          <p:nvPr/>
        </p:nvSpPr>
        <p:spPr>
          <a:xfrm>
            <a:off x="7093189" y="5874412"/>
            <a:ext cx="697627" cy="1015663"/>
          </a:xfrm>
          <a:prstGeom prst="rect">
            <a:avLst/>
          </a:prstGeom>
        </p:spPr>
        <p:txBody>
          <a:bodyPr wrap="none">
            <a:spAutoFit/>
          </a:bodyPr>
          <a:lstStyle/>
          <a:p>
            <a:pPr algn="ctr"/>
            <a:r>
              <a:rPr lang="en-US" sz="6000" dirty="0">
                <a:solidFill>
                  <a:srgbClr val="C00000"/>
                </a:solidFill>
                <a:latin typeface="Arial" panose="020B0604020202020204" pitchFamily="34" charset="0"/>
                <a:cs typeface="Arial" panose="020B0604020202020204" pitchFamily="34" charset="0"/>
              </a:rPr>
              <a:t>X</a:t>
            </a:r>
          </a:p>
        </p:txBody>
      </p:sp>
      <p:pic>
        <p:nvPicPr>
          <p:cNvPr id="37" name="Graphic 36" descr="Open book outline">
            <a:extLst>
              <a:ext uri="{FF2B5EF4-FFF2-40B4-BE49-F238E27FC236}">
                <a16:creationId xmlns:a16="http://schemas.microsoft.com/office/drawing/2014/main" id="{AC79CC42-ECEC-C34B-9481-17998CEC59D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54481" y="5415730"/>
            <a:ext cx="914400" cy="914400"/>
          </a:xfrm>
          <a:prstGeom prst="rect">
            <a:avLst/>
          </a:prstGeom>
        </p:spPr>
      </p:pic>
      <p:sp>
        <p:nvSpPr>
          <p:cNvPr id="38" name="TextBox 37">
            <a:extLst>
              <a:ext uri="{FF2B5EF4-FFF2-40B4-BE49-F238E27FC236}">
                <a16:creationId xmlns:a16="http://schemas.microsoft.com/office/drawing/2014/main" id="{20F3503C-750F-5C41-AEAD-47313ED36F5D}"/>
              </a:ext>
            </a:extLst>
          </p:cNvPr>
          <p:cNvSpPr txBox="1"/>
          <p:nvPr/>
        </p:nvSpPr>
        <p:spPr>
          <a:xfrm>
            <a:off x="3187609" y="5585297"/>
            <a:ext cx="1466872" cy="461665"/>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No Book</a:t>
            </a:r>
          </a:p>
        </p:txBody>
      </p:sp>
      <p:pic>
        <p:nvPicPr>
          <p:cNvPr id="39" name="Graphic 38" descr="Open book outline">
            <a:extLst>
              <a:ext uri="{FF2B5EF4-FFF2-40B4-BE49-F238E27FC236}">
                <a16:creationId xmlns:a16="http://schemas.microsoft.com/office/drawing/2014/main" id="{69E80C82-258A-1143-9C74-694B4408CB1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77722" y="5395529"/>
            <a:ext cx="914400" cy="914400"/>
          </a:xfrm>
          <a:prstGeom prst="rect">
            <a:avLst/>
          </a:prstGeom>
        </p:spPr>
      </p:pic>
      <p:pic>
        <p:nvPicPr>
          <p:cNvPr id="40" name="Graphic 39" descr="Open book outline">
            <a:extLst>
              <a:ext uri="{FF2B5EF4-FFF2-40B4-BE49-F238E27FC236}">
                <a16:creationId xmlns:a16="http://schemas.microsoft.com/office/drawing/2014/main" id="{CFCEEA24-AC5B-DC43-B407-BAE4FD255C04}"/>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94772" y="5415730"/>
            <a:ext cx="914400" cy="914400"/>
          </a:xfrm>
          <a:prstGeom prst="rect">
            <a:avLst/>
          </a:prstGeom>
        </p:spPr>
      </p:pic>
      <p:sp>
        <p:nvSpPr>
          <p:cNvPr id="7" name="Rectangle 6">
            <a:extLst>
              <a:ext uri="{FF2B5EF4-FFF2-40B4-BE49-F238E27FC236}">
                <a16:creationId xmlns:a16="http://schemas.microsoft.com/office/drawing/2014/main" id="{211C5394-200A-574A-8541-4E5A8F71D9EC}"/>
              </a:ext>
            </a:extLst>
          </p:cNvPr>
          <p:cNvSpPr/>
          <p:nvPr/>
        </p:nvSpPr>
        <p:spPr>
          <a:xfrm>
            <a:off x="1152080" y="5874412"/>
            <a:ext cx="761747" cy="1015663"/>
          </a:xfrm>
          <a:prstGeom prst="rect">
            <a:avLst/>
          </a:prstGeom>
        </p:spPr>
        <p:txBody>
          <a:bodyPr wrap="none">
            <a:spAutoFit/>
          </a:bodyPr>
          <a:lstStyle/>
          <a:p>
            <a:r>
              <a:rPr lang="en-US" sz="6000" dirty="0">
                <a:solidFill>
                  <a:srgbClr val="00B050"/>
                </a:solidFill>
                <a:latin typeface="Arial" panose="020B0604020202020204" pitchFamily="34" charset="0"/>
                <a:cs typeface="Arial" panose="020B0604020202020204" pitchFamily="34" charset="0"/>
              </a:rPr>
              <a:t>✓</a:t>
            </a:r>
            <a:endParaRPr lang="en-US" sz="6000" dirty="0">
              <a:latin typeface="Arial" panose="020B0604020202020204" pitchFamily="34" charset="0"/>
              <a:cs typeface="Arial" panose="020B0604020202020204" pitchFamily="34" charset="0"/>
            </a:endParaRPr>
          </a:p>
        </p:txBody>
      </p:sp>
      <p:sp>
        <p:nvSpPr>
          <p:cNvPr id="43" name="Rectangle 42">
            <a:extLst>
              <a:ext uri="{FF2B5EF4-FFF2-40B4-BE49-F238E27FC236}">
                <a16:creationId xmlns:a16="http://schemas.microsoft.com/office/drawing/2014/main" id="{154BCBE8-2C6E-8640-9201-2D54BCAEE2E6}"/>
              </a:ext>
            </a:extLst>
          </p:cNvPr>
          <p:cNvSpPr/>
          <p:nvPr/>
        </p:nvSpPr>
        <p:spPr>
          <a:xfrm>
            <a:off x="3948590" y="5874412"/>
            <a:ext cx="761747" cy="1015663"/>
          </a:xfrm>
          <a:prstGeom prst="rect">
            <a:avLst/>
          </a:prstGeom>
        </p:spPr>
        <p:txBody>
          <a:bodyPr wrap="none">
            <a:spAutoFit/>
          </a:bodyPr>
          <a:lstStyle/>
          <a:p>
            <a:r>
              <a:rPr lang="en-US" sz="6000" dirty="0">
                <a:solidFill>
                  <a:srgbClr val="00B050"/>
                </a:solidFill>
                <a:latin typeface="Arial" panose="020B0604020202020204" pitchFamily="34" charset="0"/>
                <a:cs typeface="Arial" panose="020B0604020202020204" pitchFamily="34" charset="0"/>
              </a:rPr>
              <a:t>✓</a:t>
            </a:r>
            <a:endParaRPr lang="en-US" sz="6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684885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5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6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5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childTnLst>
                                </p:cTn>
                              </p:par>
                              <p:par>
                                <p:cTn id="37" presetID="1" presetClass="entr" presetSubtype="0" fill="hold" grpId="1" nodeType="withEffect">
                                  <p:stCondLst>
                                    <p:cond delay="0"/>
                                  </p:stCondLst>
                                  <p:childTnLst>
                                    <p:set>
                                      <p:cBhvr>
                                        <p:cTn id="38" dur="1" fill="hold">
                                          <p:stCondLst>
                                            <p:cond delay="0"/>
                                          </p:stCondLst>
                                        </p:cTn>
                                        <p:tgtEl>
                                          <p:spTgt spid="3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5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56"/>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76"/>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64"/>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61"/>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6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63"/>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37"/>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43"/>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38"/>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7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59"/>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58"/>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78"/>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6"/>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68"/>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67"/>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70"/>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0" nodeType="clickEffect">
                                  <p:stCondLst>
                                    <p:cond delay="0"/>
                                  </p:stCondLst>
                                  <p:childTnLst>
                                    <p:set>
                                      <p:cBhvr>
                                        <p:cTn id="98" dur="1" fill="hold">
                                          <p:stCondLst>
                                            <p:cond delay="0"/>
                                          </p:stCondLst>
                                        </p:cTn>
                                        <p:tgtEl>
                                          <p:spTgt spid="71"/>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39"/>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40"/>
                                        </p:tgtEl>
                                        <p:attrNameLst>
                                          <p:attrName>style.visibility</p:attrName>
                                        </p:attrNameLst>
                                      </p:cBhvr>
                                      <p:to>
                                        <p:strVal val="visible"/>
                                      </p:to>
                                    </p:set>
                                  </p:childTnLst>
                                </p:cTn>
                              </p:par>
                              <p:par>
                                <p:cTn id="105" presetID="1" presetClass="entr" presetSubtype="0" fill="hold" grpId="0" nodeType="withEffect">
                                  <p:stCondLst>
                                    <p:cond delay="0"/>
                                  </p:stCondLst>
                                  <p:childTnLst>
                                    <p:set>
                                      <p:cBhvr>
                                        <p:cTn id="10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52" grpId="0"/>
      <p:bldP spid="54" grpId="0"/>
      <p:bldP spid="55" grpId="0"/>
      <p:bldP spid="60" grpId="0"/>
      <p:bldP spid="61" grpId="0"/>
      <p:bldP spid="62" grpId="0"/>
      <p:bldP spid="63" grpId="0"/>
      <p:bldP spid="67" grpId="0"/>
      <p:bldP spid="68" grpId="0"/>
      <p:bldP spid="70" grpId="0"/>
      <p:bldP spid="71" grpId="0"/>
      <p:bldP spid="35" grpId="1"/>
      <p:bldP spid="6" grpId="0"/>
      <p:bldP spid="38" grpId="0"/>
      <p:bldP spid="7" grpId="0"/>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Concurrency Questions</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01A30E2-8CE0-0947-A473-551511F82A58}"/>
              </a:ext>
            </a:extLst>
          </p:cNvPr>
          <p:cNvSpPr txBox="1"/>
          <p:nvPr/>
        </p:nvSpPr>
        <p:spPr>
          <a:xfrm>
            <a:off x="8924" y="878247"/>
            <a:ext cx="9143999" cy="4966488"/>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What is a correct/incorrect state upon concurrent updates?</a:t>
            </a:r>
          </a:p>
          <a:p>
            <a:pPr marL="914400" lvl="1" indent="-457200">
              <a:lnSpc>
                <a:spcPct val="150000"/>
              </a:lnSpc>
              <a:buFont typeface="Wingdings" pitchFamily="2" charset="2"/>
              <a:buChar char="Ø"/>
            </a:pPr>
            <a:r>
              <a:rPr lang="en-US" sz="2300" dirty="0">
                <a:latin typeface="Arial" panose="020B0604020202020204" pitchFamily="34" charset="0"/>
                <a:cs typeface="Arial" panose="020B0604020202020204" pitchFamily="34" charset="0"/>
              </a:rPr>
              <a:t>Theoretical formalism to explain these states: S</a:t>
            </a:r>
            <a:r>
              <a:rPr lang="en-US" sz="2200" dirty="0">
                <a:latin typeface="Arial" panose="020B0604020202020204" pitchFamily="34" charset="0"/>
                <a:cs typeface="Arial" panose="020B0604020202020204" pitchFamily="34" charset="0"/>
              </a:rPr>
              <a:t>erializability</a:t>
            </a:r>
          </a:p>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What protocols/algorithms can ensure a correct state?</a:t>
            </a:r>
          </a:p>
          <a:p>
            <a:pPr marL="914400" lvl="1"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Locking-based protocols</a:t>
            </a:r>
          </a:p>
          <a:p>
            <a:pPr marL="1371600" lvl="2"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Pessimistic: set of lock acquisitions to prevent bad state</a:t>
            </a:r>
          </a:p>
          <a:p>
            <a:pPr marL="914400" lvl="1"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Optimistic protocols</a:t>
            </a:r>
          </a:p>
          <a:p>
            <a:pPr marL="1371600" lvl="2"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Detect bad state and recover from it</a:t>
            </a:r>
          </a:p>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Set of guarantees that a DBMS should satisfy</a:t>
            </a:r>
          </a:p>
          <a:p>
            <a:pPr marL="914400" lvl="1" indent="-457200">
              <a:lnSpc>
                <a:spcPct val="150000"/>
              </a:lnSpc>
              <a:buFont typeface="Wingdings" pitchFamily="2" charset="2"/>
              <a:buChar char="Ø"/>
            </a:pPr>
            <a:r>
              <a:rPr lang="en-US" sz="2300" dirty="0">
                <a:latin typeface="Arial" panose="020B0604020202020204" pitchFamily="34" charset="0"/>
                <a:cs typeface="Arial" panose="020B0604020202020204" pitchFamily="34" charset="0"/>
              </a:rPr>
              <a:t>ACID guarantees: atomicity, consistency, isolation, durability</a:t>
            </a:r>
          </a:p>
        </p:txBody>
      </p:sp>
      <p:sp>
        <p:nvSpPr>
          <p:cNvPr id="2" name="Rounded Rectangle 1">
            <a:extLst>
              <a:ext uri="{FF2B5EF4-FFF2-40B4-BE49-F238E27FC236}">
                <a16:creationId xmlns:a16="http://schemas.microsoft.com/office/drawing/2014/main" id="{5146C96B-917A-A943-ADA0-BF49B518D61C}"/>
              </a:ext>
            </a:extLst>
          </p:cNvPr>
          <p:cNvSpPr/>
          <p:nvPr/>
        </p:nvSpPr>
        <p:spPr>
          <a:xfrm>
            <a:off x="414340" y="2643189"/>
            <a:ext cx="8643937" cy="1100138"/>
          </a:xfrm>
          <a:prstGeom prst="roundRect">
            <a:avLst/>
          </a:prstGeom>
          <a:noFill/>
          <a:ln w="349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994743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Concurrency Avoidance Ex: Global DB Lock</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Female Profile with solid fill">
            <a:extLst>
              <a:ext uri="{FF2B5EF4-FFF2-40B4-BE49-F238E27FC236}">
                <a16:creationId xmlns:a16="http://schemas.microsoft.com/office/drawing/2014/main" id="{957BEC7B-94F0-4442-B9CA-ED95D27E35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20770" y="1490797"/>
            <a:ext cx="731520" cy="731520"/>
          </a:xfrm>
          <a:prstGeom prst="rect">
            <a:avLst/>
          </a:prstGeom>
        </p:spPr>
      </p:pic>
      <p:cxnSp>
        <p:nvCxnSpPr>
          <p:cNvPr id="8" name="Straight Arrow Connector 7">
            <a:extLst>
              <a:ext uri="{FF2B5EF4-FFF2-40B4-BE49-F238E27FC236}">
                <a16:creationId xmlns:a16="http://schemas.microsoft.com/office/drawing/2014/main" id="{0516B5FD-CD57-A043-8349-E3A404CFA15B}"/>
              </a:ext>
            </a:extLst>
          </p:cNvPr>
          <p:cNvCxnSpPr>
            <a:cxnSpLocks/>
          </p:cNvCxnSpPr>
          <p:nvPr/>
        </p:nvCxnSpPr>
        <p:spPr>
          <a:xfrm>
            <a:off x="2732148" y="2249543"/>
            <a:ext cx="1" cy="204774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9" name="Graphic 8" descr="Male profile with solid fill">
            <a:extLst>
              <a:ext uri="{FF2B5EF4-FFF2-40B4-BE49-F238E27FC236}">
                <a16:creationId xmlns:a16="http://schemas.microsoft.com/office/drawing/2014/main" id="{3C9F66AE-BB1E-A340-83EE-31CAF6CB24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71849" y="1490797"/>
            <a:ext cx="731520" cy="731520"/>
          </a:xfrm>
          <a:prstGeom prst="rect">
            <a:avLst/>
          </a:prstGeom>
        </p:spPr>
      </p:pic>
      <p:sp>
        <p:nvSpPr>
          <p:cNvPr id="10" name="TextBox 9">
            <a:extLst>
              <a:ext uri="{FF2B5EF4-FFF2-40B4-BE49-F238E27FC236}">
                <a16:creationId xmlns:a16="http://schemas.microsoft.com/office/drawing/2014/main" id="{A3D005EB-2D14-8948-98F9-B526DD653111}"/>
              </a:ext>
            </a:extLst>
          </p:cNvPr>
          <p:cNvSpPr txBox="1"/>
          <p:nvPr/>
        </p:nvSpPr>
        <p:spPr>
          <a:xfrm rot="16200000">
            <a:off x="2072503" y="2972390"/>
            <a:ext cx="862819" cy="456472"/>
          </a:xfrm>
          <a:prstGeom prst="rect">
            <a:avLst/>
          </a:prstGeom>
          <a:noFill/>
        </p:spPr>
        <p:txBody>
          <a:bodyPr wrap="square" rtlCol="0">
            <a:spAutoFit/>
          </a:bodyPr>
          <a:lstStyle/>
          <a:p>
            <a:pPr algn="ctr">
              <a:lnSpc>
                <a:spcPct val="150000"/>
              </a:lnSpc>
            </a:pPr>
            <a:r>
              <a:rPr lang="en-US" dirty="0">
                <a:latin typeface="Arial" panose="020B0604020202020204" pitchFamily="34" charset="0"/>
                <a:cs typeface="Arial" panose="020B0604020202020204" pitchFamily="34" charset="0"/>
              </a:rPr>
              <a:t>time</a:t>
            </a:r>
          </a:p>
        </p:txBody>
      </p:sp>
      <p:sp>
        <p:nvSpPr>
          <p:cNvPr id="13" name="TextBox 12">
            <a:extLst>
              <a:ext uri="{FF2B5EF4-FFF2-40B4-BE49-F238E27FC236}">
                <a16:creationId xmlns:a16="http://schemas.microsoft.com/office/drawing/2014/main" id="{4A90D9A2-B80E-624F-8F36-D8EAEBCEB003}"/>
              </a:ext>
            </a:extLst>
          </p:cNvPr>
          <p:cNvSpPr txBox="1"/>
          <p:nvPr/>
        </p:nvSpPr>
        <p:spPr>
          <a:xfrm>
            <a:off x="4610368" y="1190317"/>
            <a:ext cx="1152324" cy="369332"/>
          </a:xfrm>
          <a:prstGeom prst="rect">
            <a:avLst/>
          </a:prstGeom>
          <a:noFill/>
        </p:spPr>
        <p:txBody>
          <a:bodyPr wrap="square" rtlCol="0">
            <a:spAutoFit/>
          </a:bodyPr>
          <a:lstStyle/>
          <a:p>
            <a:pPr algn="ctr"/>
            <a:r>
              <a:rPr lang="en-US" dirty="0"/>
              <a:t>Alice</a:t>
            </a:r>
          </a:p>
        </p:txBody>
      </p:sp>
      <p:sp>
        <p:nvSpPr>
          <p:cNvPr id="14" name="TextBox 13">
            <a:extLst>
              <a:ext uri="{FF2B5EF4-FFF2-40B4-BE49-F238E27FC236}">
                <a16:creationId xmlns:a16="http://schemas.microsoft.com/office/drawing/2014/main" id="{7377D10C-7CF4-DF4A-A49D-D95C17211B3C}"/>
              </a:ext>
            </a:extLst>
          </p:cNvPr>
          <p:cNvSpPr txBox="1"/>
          <p:nvPr/>
        </p:nvSpPr>
        <p:spPr>
          <a:xfrm>
            <a:off x="3061447" y="1180228"/>
            <a:ext cx="1152324" cy="369332"/>
          </a:xfrm>
          <a:prstGeom prst="rect">
            <a:avLst/>
          </a:prstGeom>
          <a:noFill/>
        </p:spPr>
        <p:txBody>
          <a:bodyPr wrap="square" rtlCol="0">
            <a:spAutoFit/>
          </a:bodyPr>
          <a:lstStyle/>
          <a:p>
            <a:pPr algn="ctr"/>
            <a:r>
              <a:rPr lang="en-US" dirty="0"/>
              <a:t>Bob</a:t>
            </a:r>
          </a:p>
        </p:txBody>
      </p:sp>
      <p:pic>
        <p:nvPicPr>
          <p:cNvPr id="34" name="Graphic 33" descr="Unlock outline">
            <a:extLst>
              <a:ext uri="{FF2B5EF4-FFF2-40B4-BE49-F238E27FC236}">
                <a16:creationId xmlns:a16="http://schemas.microsoft.com/office/drawing/2014/main" id="{F6B10956-64F5-0841-AAE6-0367F2768A8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89069" y="5166199"/>
            <a:ext cx="914400" cy="914400"/>
          </a:xfrm>
          <a:prstGeom prst="rect">
            <a:avLst/>
          </a:prstGeom>
        </p:spPr>
      </p:pic>
      <p:sp>
        <p:nvSpPr>
          <p:cNvPr id="30" name="TextBox 29">
            <a:extLst>
              <a:ext uri="{FF2B5EF4-FFF2-40B4-BE49-F238E27FC236}">
                <a16:creationId xmlns:a16="http://schemas.microsoft.com/office/drawing/2014/main" id="{52A4AF45-6919-F640-961B-C89DBF8D7A52}"/>
              </a:ext>
            </a:extLst>
          </p:cNvPr>
          <p:cNvSpPr txBox="1"/>
          <p:nvPr/>
        </p:nvSpPr>
        <p:spPr>
          <a:xfrm>
            <a:off x="8918" y="6245008"/>
            <a:ext cx="9144000" cy="557653"/>
          </a:xfrm>
          <a:prstGeom prst="rect">
            <a:avLst/>
          </a:prstGeom>
          <a:noFill/>
        </p:spPr>
        <p:txBody>
          <a:bodyPr wrap="square" rtlCol="0">
            <a:spAutoFit/>
          </a:bodyPr>
          <a:lstStyle/>
          <a:p>
            <a:pPr algn="ctr">
              <a:lnSpc>
                <a:spcPct val="150000"/>
              </a:lnSpc>
            </a:pPr>
            <a:r>
              <a:rPr lang="en-US" sz="2300" i="1" dirty="0">
                <a:latin typeface="Arial" panose="020B0604020202020204" pitchFamily="34" charset="0"/>
                <a:cs typeface="Arial" panose="020B0604020202020204" pitchFamily="34" charset="0"/>
              </a:rPr>
              <a:t>Safe but inefficient. Why?</a:t>
            </a:r>
          </a:p>
        </p:txBody>
      </p:sp>
      <p:graphicFrame>
        <p:nvGraphicFramePr>
          <p:cNvPr id="33" name="Table 21">
            <a:extLst>
              <a:ext uri="{FF2B5EF4-FFF2-40B4-BE49-F238E27FC236}">
                <a16:creationId xmlns:a16="http://schemas.microsoft.com/office/drawing/2014/main" id="{974616B6-95DC-6A47-96F2-E110A1EDA1E7}"/>
              </a:ext>
            </a:extLst>
          </p:cNvPr>
          <p:cNvGraphicFramePr>
            <a:graphicFrameLocks noGrp="1"/>
          </p:cNvGraphicFramePr>
          <p:nvPr/>
        </p:nvGraphicFramePr>
        <p:xfrm>
          <a:off x="3494063" y="4785717"/>
          <a:ext cx="2217548" cy="1402080"/>
        </p:xfrm>
        <a:graphic>
          <a:graphicData uri="http://schemas.openxmlformats.org/drawingml/2006/table">
            <a:tbl>
              <a:tblPr firstRow="1" bandRow="1">
                <a:tableStyleId>{2D5ABB26-0587-4C30-8999-92F81FD0307C}</a:tableStyleId>
              </a:tblPr>
              <a:tblGrid>
                <a:gridCol w="919163">
                  <a:extLst>
                    <a:ext uri="{9D8B030D-6E8A-4147-A177-3AD203B41FA5}">
                      <a16:colId xmlns:a16="http://schemas.microsoft.com/office/drawing/2014/main" val="1727528194"/>
                    </a:ext>
                  </a:extLst>
                </a:gridCol>
                <a:gridCol w="1298385">
                  <a:extLst>
                    <a:ext uri="{9D8B030D-6E8A-4147-A177-3AD203B41FA5}">
                      <a16:colId xmlns:a16="http://schemas.microsoft.com/office/drawing/2014/main" val="3729982082"/>
                    </a:ext>
                  </a:extLst>
                </a:gridCol>
              </a:tblGrid>
              <a:tr h="228600">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228600">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228600">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228600">
                <a:tc>
                  <a:txBody>
                    <a:bodyPr/>
                    <a:lstStyle/>
                    <a:p>
                      <a:pPr algn="ctr"/>
                      <a:r>
                        <a:rPr lang="en-US" sz="1700" dirty="0" err="1"/>
                        <a:t>BookB</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sp>
        <p:nvSpPr>
          <p:cNvPr id="38" name="Can 37">
            <a:extLst>
              <a:ext uri="{FF2B5EF4-FFF2-40B4-BE49-F238E27FC236}">
                <a16:creationId xmlns:a16="http://schemas.microsoft.com/office/drawing/2014/main" id="{60F35D77-C924-4241-8172-A41F671755EE}"/>
              </a:ext>
            </a:extLst>
          </p:cNvPr>
          <p:cNvSpPr/>
          <p:nvPr/>
        </p:nvSpPr>
        <p:spPr>
          <a:xfrm>
            <a:off x="2745809" y="4540177"/>
            <a:ext cx="3652382" cy="1761984"/>
          </a:xfrm>
          <a:prstGeom prst="can">
            <a:avLst>
              <a:gd name="adj" fmla="val 9274"/>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1" name="Graphic 40" descr="Lock with solid fill">
            <a:extLst>
              <a:ext uri="{FF2B5EF4-FFF2-40B4-BE49-F238E27FC236}">
                <a16:creationId xmlns:a16="http://schemas.microsoft.com/office/drawing/2014/main" id="{5610A4C0-2F25-E244-8A55-BAC6B33F455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89069" y="5166523"/>
            <a:ext cx="914400" cy="914400"/>
          </a:xfrm>
          <a:prstGeom prst="rect">
            <a:avLst/>
          </a:prstGeom>
        </p:spPr>
      </p:pic>
      <p:graphicFrame>
        <p:nvGraphicFramePr>
          <p:cNvPr id="43" name="Table 37">
            <a:extLst>
              <a:ext uri="{FF2B5EF4-FFF2-40B4-BE49-F238E27FC236}">
                <a16:creationId xmlns:a16="http://schemas.microsoft.com/office/drawing/2014/main" id="{E254E626-ABE3-F14D-9B87-69C7760B791A}"/>
              </a:ext>
            </a:extLst>
          </p:cNvPr>
          <p:cNvGraphicFramePr>
            <a:graphicFrameLocks noGrp="1"/>
          </p:cNvGraphicFramePr>
          <p:nvPr>
            <p:extLst>
              <p:ext uri="{D42A27DB-BD31-4B8C-83A1-F6EECF244321}">
                <p14:modId xmlns:p14="http://schemas.microsoft.com/office/powerpoint/2010/main" val="3375356368"/>
              </p:ext>
            </p:extLst>
          </p:nvPr>
        </p:nvGraphicFramePr>
        <p:xfrm>
          <a:off x="2843222" y="2241779"/>
          <a:ext cx="3464456" cy="1854200"/>
        </p:xfrm>
        <a:graphic>
          <a:graphicData uri="http://schemas.openxmlformats.org/drawingml/2006/table">
            <a:tbl>
              <a:tblPr firstRow="1" bandRow="1">
                <a:tableStyleId>{5940675A-B579-460E-94D1-54222C63F5DA}</a:tableStyleId>
              </a:tblPr>
              <a:tblGrid>
                <a:gridCol w="1732228">
                  <a:extLst>
                    <a:ext uri="{9D8B030D-6E8A-4147-A177-3AD203B41FA5}">
                      <a16:colId xmlns:a16="http://schemas.microsoft.com/office/drawing/2014/main" val="2353120873"/>
                    </a:ext>
                  </a:extLst>
                </a:gridCol>
                <a:gridCol w="1732228">
                  <a:extLst>
                    <a:ext uri="{9D8B030D-6E8A-4147-A177-3AD203B41FA5}">
                      <a16:colId xmlns:a16="http://schemas.microsoft.com/office/drawing/2014/main" val="2128812741"/>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035677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494564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763361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359036"/>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1648007"/>
                  </a:ext>
                </a:extLst>
              </a:tr>
            </a:tbl>
          </a:graphicData>
        </a:graphic>
      </p:graphicFrame>
      <p:sp>
        <p:nvSpPr>
          <p:cNvPr id="45" name="Rectangle 44">
            <a:extLst>
              <a:ext uri="{FF2B5EF4-FFF2-40B4-BE49-F238E27FC236}">
                <a16:creationId xmlns:a16="http://schemas.microsoft.com/office/drawing/2014/main" id="{122AE346-CC1C-BB46-9726-08B4A6EEED27}"/>
              </a:ext>
            </a:extLst>
          </p:cNvPr>
          <p:cNvSpPr/>
          <p:nvPr/>
        </p:nvSpPr>
        <p:spPr>
          <a:xfrm>
            <a:off x="4608678" y="2279118"/>
            <a:ext cx="1217000"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DB </a:t>
            </a:r>
            <a:r>
              <a:rPr lang="en-US" dirty="0">
                <a:solidFill>
                  <a:srgbClr val="00B050"/>
                </a:solidFill>
              </a:rPr>
              <a:t>✓</a:t>
            </a:r>
          </a:p>
        </p:txBody>
      </p:sp>
      <p:pic>
        <p:nvPicPr>
          <p:cNvPr id="50" name="Graphic 49" descr="Unlock outline">
            <a:extLst>
              <a:ext uri="{FF2B5EF4-FFF2-40B4-BE49-F238E27FC236}">
                <a16:creationId xmlns:a16="http://schemas.microsoft.com/office/drawing/2014/main" id="{226405F2-BC1A-5D46-9760-CC5BDC3F245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89069" y="5180811"/>
            <a:ext cx="914400" cy="914400"/>
          </a:xfrm>
          <a:prstGeom prst="rect">
            <a:avLst/>
          </a:prstGeom>
        </p:spPr>
      </p:pic>
      <p:pic>
        <p:nvPicPr>
          <p:cNvPr id="51" name="Graphic 50" descr="Lock with solid fill">
            <a:extLst>
              <a:ext uri="{FF2B5EF4-FFF2-40B4-BE49-F238E27FC236}">
                <a16:creationId xmlns:a16="http://schemas.microsoft.com/office/drawing/2014/main" id="{E7784FFF-D3ED-AD42-8311-4FF2A551FFB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07288" y="5163566"/>
            <a:ext cx="914400" cy="914400"/>
          </a:xfrm>
          <a:prstGeom prst="rect">
            <a:avLst/>
          </a:prstGeom>
        </p:spPr>
      </p:pic>
      <p:sp>
        <p:nvSpPr>
          <p:cNvPr id="17" name="Rectangle 16">
            <a:extLst>
              <a:ext uri="{FF2B5EF4-FFF2-40B4-BE49-F238E27FC236}">
                <a16:creationId xmlns:a16="http://schemas.microsoft.com/office/drawing/2014/main" id="{202BD46B-8AF6-A94B-B5E2-F9F654B56DEA}"/>
              </a:ext>
            </a:extLst>
          </p:cNvPr>
          <p:cNvSpPr/>
          <p:nvPr/>
        </p:nvSpPr>
        <p:spPr>
          <a:xfrm>
            <a:off x="2880703" y="2295675"/>
            <a:ext cx="1654620"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DB </a:t>
            </a:r>
            <a:r>
              <a:rPr lang="en-US" dirty="0">
                <a:solidFill>
                  <a:srgbClr val="C00000"/>
                </a:solidFill>
              </a:rPr>
              <a:t>X Wait</a:t>
            </a:r>
            <a:endParaRPr lang="en-US"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2B535E12-F6DF-6246-8B40-8B2E9D6255D3}"/>
              </a:ext>
            </a:extLst>
          </p:cNvPr>
          <p:cNvSpPr/>
          <p:nvPr/>
        </p:nvSpPr>
        <p:spPr>
          <a:xfrm>
            <a:off x="4631153" y="2633145"/>
            <a:ext cx="88998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 (A, 1)</a:t>
            </a:r>
          </a:p>
        </p:txBody>
      </p:sp>
      <p:sp>
        <p:nvSpPr>
          <p:cNvPr id="20" name="Rectangle 19">
            <a:extLst>
              <a:ext uri="{FF2B5EF4-FFF2-40B4-BE49-F238E27FC236}">
                <a16:creationId xmlns:a16="http://schemas.microsoft.com/office/drawing/2014/main" id="{5EE89740-D9C7-4542-9AEB-D44920B4042D}"/>
              </a:ext>
            </a:extLst>
          </p:cNvPr>
          <p:cNvSpPr/>
          <p:nvPr/>
        </p:nvSpPr>
        <p:spPr>
          <a:xfrm>
            <a:off x="4610368" y="3025367"/>
            <a:ext cx="979755"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w (A, 0)</a:t>
            </a:r>
          </a:p>
        </p:txBody>
      </p:sp>
      <p:sp>
        <p:nvSpPr>
          <p:cNvPr id="25" name="Rectangle 24">
            <a:extLst>
              <a:ext uri="{FF2B5EF4-FFF2-40B4-BE49-F238E27FC236}">
                <a16:creationId xmlns:a16="http://schemas.microsoft.com/office/drawing/2014/main" id="{07224A5E-D736-0F45-885F-E701CD86C665}"/>
              </a:ext>
            </a:extLst>
          </p:cNvPr>
          <p:cNvSpPr/>
          <p:nvPr/>
        </p:nvSpPr>
        <p:spPr>
          <a:xfrm>
            <a:off x="4610368" y="3353841"/>
            <a:ext cx="1415772"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release lock</a:t>
            </a:r>
          </a:p>
        </p:txBody>
      </p:sp>
      <p:sp>
        <p:nvSpPr>
          <p:cNvPr id="52" name="Rectangle 51">
            <a:extLst>
              <a:ext uri="{FF2B5EF4-FFF2-40B4-BE49-F238E27FC236}">
                <a16:creationId xmlns:a16="http://schemas.microsoft.com/office/drawing/2014/main" id="{43E39885-D56C-DD42-A325-61B0E1C5634A}"/>
              </a:ext>
            </a:extLst>
          </p:cNvPr>
          <p:cNvSpPr/>
          <p:nvPr/>
        </p:nvSpPr>
        <p:spPr>
          <a:xfrm>
            <a:off x="2885563" y="3756399"/>
            <a:ext cx="1217000"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DB </a:t>
            </a:r>
            <a:r>
              <a:rPr lang="en-US" dirty="0">
                <a:solidFill>
                  <a:srgbClr val="00B050"/>
                </a:solidFill>
              </a:rPr>
              <a:t>✓</a:t>
            </a:r>
          </a:p>
        </p:txBody>
      </p:sp>
      <p:sp>
        <p:nvSpPr>
          <p:cNvPr id="26" name="TextBox 25">
            <a:extLst>
              <a:ext uri="{FF2B5EF4-FFF2-40B4-BE49-F238E27FC236}">
                <a16:creationId xmlns:a16="http://schemas.microsoft.com/office/drawing/2014/main" id="{B29EF834-5090-2A48-ABE5-B17592215279}"/>
              </a:ext>
            </a:extLst>
          </p:cNvPr>
          <p:cNvSpPr txBox="1"/>
          <p:nvPr/>
        </p:nvSpPr>
        <p:spPr>
          <a:xfrm>
            <a:off x="3603" y="728652"/>
            <a:ext cx="5822072" cy="461665"/>
          </a:xfrm>
          <a:prstGeom prst="rect">
            <a:avLst/>
          </a:prstGeom>
          <a:noFill/>
        </p:spPr>
        <p:txBody>
          <a:bodyPr wrap="square" rtlCol="0">
            <a:spAutoFit/>
          </a:bodyPr>
          <a:lstStyle/>
          <a:p>
            <a:pPr marL="342900" indent="-342900">
              <a:buFont typeface="Wingdings" pitchFamily="2" charset="2"/>
              <a:buChar char="Ø"/>
            </a:pPr>
            <a:r>
              <a:rPr lang="en-US" sz="2400" dirty="0">
                <a:latin typeface="Arial" panose="020B0604020202020204" pitchFamily="34" charset="0"/>
                <a:cs typeface="Arial" panose="020B0604020202020204" pitchFamily="34" charset="0"/>
              </a:rPr>
              <a:t>Alice and Bob order BookA</a:t>
            </a:r>
          </a:p>
        </p:txBody>
      </p:sp>
    </p:spTree>
    <p:extLst>
      <p:ext uri="{BB962C8B-B14F-4D97-AF65-F5344CB8AC3E}">
        <p14:creationId xmlns:p14="http://schemas.microsoft.com/office/powerpoint/2010/main" val="117574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34"/>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41"/>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50"/>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5" grpId="0"/>
      <p:bldP spid="17" grpId="0"/>
      <p:bldP spid="19" grpId="0"/>
      <p:bldP spid="20" grpId="0"/>
      <p:bldP spid="25" grpId="0"/>
      <p:bldP spid="5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Concurrency Avoidance Ex: Global DB Lock</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7" name="Graphic 6" descr="Female Profile with solid fill">
            <a:extLst>
              <a:ext uri="{FF2B5EF4-FFF2-40B4-BE49-F238E27FC236}">
                <a16:creationId xmlns:a16="http://schemas.microsoft.com/office/drawing/2014/main" id="{957BEC7B-94F0-4442-B9CA-ED95D27E351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20770" y="1319341"/>
            <a:ext cx="731520" cy="731520"/>
          </a:xfrm>
          <a:prstGeom prst="rect">
            <a:avLst/>
          </a:prstGeom>
        </p:spPr>
      </p:pic>
      <p:cxnSp>
        <p:nvCxnSpPr>
          <p:cNvPr id="8" name="Straight Arrow Connector 7">
            <a:extLst>
              <a:ext uri="{FF2B5EF4-FFF2-40B4-BE49-F238E27FC236}">
                <a16:creationId xmlns:a16="http://schemas.microsoft.com/office/drawing/2014/main" id="{0516B5FD-CD57-A043-8349-E3A404CFA15B}"/>
              </a:ext>
            </a:extLst>
          </p:cNvPr>
          <p:cNvCxnSpPr>
            <a:cxnSpLocks/>
          </p:cNvCxnSpPr>
          <p:nvPr/>
        </p:nvCxnSpPr>
        <p:spPr>
          <a:xfrm>
            <a:off x="2732148" y="2078087"/>
            <a:ext cx="1" cy="204774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pic>
        <p:nvPicPr>
          <p:cNvPr id="9" name="Graphic 8" descr="Male profile with solid fill">
            <a:extLst>
              <a:ext uri="{FF2B5EF4-FFF2-40B4-BE49-F238E27FC236}">
                <a16:creationId xmlns:a16="http://schemas.microsoft.com/office/drawing/2014/main" id="{3C9F66AE-BB1E-A340-83EE-31CAF6CB249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71849" y="1319341"/>
            <a:ext cx="731520" cy="731520"/>
          </a:xfrm>
          <a:prstGeom prst="rect">
            <a:avLst/>
          </a:prstGeom>
        </p:spPr>
      </p:pic>
      <p:sp>
        <p:nvSpPr>
          <p:cNvPr id="10" name="TextBox 9">
            <a:extLst>
              <a:ext uri="{FF2B5EF4-FFF2-40B4-BE49-F238E27FC236}">
                <a16:creationId xmlns:a16="http://schemas.microsoft.com/office/drawing/2014/main" id="{A3D005EB-2D14-8948-98F9-B526DD653111}"/>
              </a:ext>
            </a:extLst>
          </p:cNvPr>
          <p:cNvSpPr txBox="1"/>
          <p:nvPr/>
        </p:nvSpPr>
        <p:spPr>
          <a:xfrm rot="16200000">
            <a:off x="2072503" y="2800934"/>
            <a:ext cx="862819" cy="456472"/>
          </a:xfrm>
          <a:prstGeom prst="rect">
            <a:avLst/>
          </a:prstGeom>
          <a:noFill/>
        </p:spPr>
        <p:txBody>
          <a:bodyPr wrap="square" rtlCol="0">
            <a:spAutoFit/>
          </a:bodyPr>
          <a:lstStyle/>
          <a:p>
            <a:pPr algn="ctr">
              <a:lnSpc>
                <a:spcPct val="150000"/>
              </a:lnSpc>
            </a:pPr>
            <a:r>
              <a:rPr lang="en-US" dirty="0">
                <a:latin typeface="Arial" panose="020B0604020202020204" pitchFamily="34" charset="0"/>
                <a:cs typeface="Arial" panose="020B0604020202020204" pitchFamily="34" charset="0"/>
              </a:rPr>
              <a:t>time</a:t>
            </a:r>
          </a:p>
        </p:txBody>
      </p:sp>
      <p:sp>
        <p:nvSpPr>
          <p:cNvPr id="13" name="TextBox 12">
            <a:extLst>
              <a:ext uri="{FF2B5EF4-FFF2-40B4-BE49-F238E27FC236}">
                <a16:creationId xmlns:a16="http://schemas.microsoft.com/office/drawing/2014/main" id="{4A90D9A2-B80E-624F-8F36-D8EAEBCEB003}"/>
              </a:ext>
            </a:extLst>
          </p:cNvPr>
          <p:cNvSpPr txBox="1"/>
          <p:nvPr/>
        </p:nvSpPr>
        <p:spPr>
          <a:xfrm>
            <a:off x="4610368" y="1018861"/>
            <a:ext cx="1152324" cy="369332"/>
          </a:xfrm>
          <a:prstGeom prst="rect">
            <a:avLst/>
          </a:prstGeom>
          <a:noFill/>
        </p:spPr>
        <p:txBody>
          <a:bodyPr wrap="square" rtlCol="0">
            <a:spAutoFit/>
          </a:bodyPr>
          <a:lstStyle/>
          <a:p>
            <a:pPr algn="ctr"/>
            <a:r>
              <a:rPr lang="en-US" dirty="0"/>
              <a:t>Alice</a:t>
            </a:r>
          </a:p>
        </p:txBody>
      </p:sp>
      <p:sp>
        <p:nvSpPr>
          <p:cNvPr id="14" name="TextBox 13">
            <a:extLst>
              <a:ext uri="{FF2B5EF4-FFF2-40B4-BE49-F238E27FC236}">
                <a16:creationId xmlns:a16="http://schemas.microsoft.com/office/drawing/2014/main" id="{7377D10C-7CF4-DF4A-A49D-D95C17211B3C}"/>
              </a:ext>
            </a:extLst>
          </p:cNvPr>
          <p:cNvSpPr txBox="1"/>
          <p:nvPr/>
        </p:nvSpPr>
        <p:spPr>
          <a:xfrm>
            <a:off x="3061447" y="1008772"/>
            <a:ext cx="1152324" cy="369332"/>
          </a:xfrm>
          <a:prstGeom prst="rect">
            <a:avLst/>
          </a:prstGeom>
          <a:noFill/>
        </p:spPr>
        <p:txBody>
          <a:bodyPr wrap="square" rtlCol="0">
            <a:spAutoFit/>
          </a:bodyPr>
          <a:lstStyle/>
          <a:p>
            <a:pPr algn="ctr"/>
            <a:r>
              <a:rPr lang="en-US" dirty="0"/>
              <a:t>Bob</a:t>
            </a:r>
          </a:p>
        </p:txBody>
      </p:sp>
      <p:sp>
        <p:nvSpPr>
          <p:cNvPr id="16" name="TextBox 15">
            <a:extLst>
              <a:ext uri="{FF2B5EF4-FFF2-40B4-BE49-F238E27FC236}">
                <a16:creationId xmlns:a16="http://schemas.microsoft.com/office/drawing/2014/main" id="{4CA42889-A810-A645-A372-0715AB12499A}"/>
              </a:ext>
            </a:extLst>
          </p:cNvPr>
          <p:cNvSpPr txBox="1"/>
          <p:nvPr/>
        </p:nvSpPr>
        <p:spPr>
          <a:xfrm>
            <a:off x="3603" y="728652"/>
            <a:ext cx="5822072" cy="461665"/>
          </a:xfrm>
          <a:prstGeom prst="rect">
            <a:avLst/>
          </a:prstGeom>
          <a:noFill/>
        </p:spPr>
        <p:txBody>
          <a:bodyPr wrap="square" rtlCol="0">
            <a:spAutoFit/>
          </a:bodyPr>
          <a:lstStyle/>
          <a:p>
            <a:pPr marL="342900" indent="-342900">
              <a:buFont typeface="Wingdings" pitchFamily="2" charset="2"/>
              <a:buChar char="Ø"/>
            </a:pPr>
            <a:r>
              <a:rPr lang="en-US" sz="2400" dirty="0">
                <a:latin typeface="Arial" panose="020B0604020202020204" pitchFamily="34" charset="0"/>
                <a:cs typeface="Arial" panose="020B0604020202020204" pitchFamily="34" charset="0"/>
              </a:rPr>
              <a:t>Alice orders BookA, Bob orders </a:t>
            </a:r>
            <a:r>
              <a:rPr lang="en-US" sz="2400" dirty="0" err="1">
                <a:latin typeface="Arial" panose="020B0604020202020204" pitchFamily="34" charset="0"/>
                <a:cs typeface="Arial" panose="020B0604020202020204" pitchFamily="34" charset="0"/>
              </a:rPr>
              <a:t>BookB</a:t>
            </a:r>
            <a:endParaRPr lang="en-US" sz="2400" dirty="0">
              <a:latin typeface="Arial" panose="020B0604020202020204" pitchFamily="34" charset="0"/>
              <a:cs typeface="Arial" panose="020B0604020202020204" pitchFamily="34" charset="0"/>
            </a:endParaRPr>
          </a:p>
        </p:txBody>
      </p:sp>
      <p:pic>
        <p:nvPicPr>
          <p:cNvPr id="34" name="Graphic 33" descr="Unlock outline">
            <a:extLst>
              <a:ext uri="{FF2B5EF4-FFF2-40B4-BE49-F238E27FC236}">
                <a16:creationId xmlns:a16="http://schemas.microsoft.com/office/drawing/2014/main" id="{F6B10956-64F5-0841-AAE6-0367F2768A8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89069" y="5294789"/>
            <a:ext cx="914400" cy="914400"/>
          </a:xfrm>
          <a:prstGeom prst="rect">
            <a:avLst/>
          </a:prstGeom>
        </p:spPr>
      </p:pic>
      <p:sp>
        <p:nvSpPr>
          <p:cNvPr id="30" name="TextBox 29">
            <a:extLst>
              <a:ext uri="{FF2B5EF4-FFF2-40B4-BE49-F238E27FC236}">
                <a16:creationId xmlns:a16="http://schemas.microsoft.com/office/drawing/2014/main" id="{52A4AF45-6919-F640-961B-C89DBF8D7A52}"/>
              </a:ext>
            </a:extLst>
          </p:cNvPr>
          <p:cNvSpPr txBox="1"/>
          <p:nvPr/>
        </p:nvSpPr>
        <p:spPr>
          <a:xfrm>
            <a:off x="8918" y="6245008"/>
            <a:ext cx="9144000" cy="557653"/>
          </a:xfrm>
          <a:prstGeom prst="rect">
            <a:avLst/>
          </a:prstGeom>
          <a:noFill/>
        </p:spPr>
        <p:txBody>
          <a:bodyPr wrap="square" rtlCol="0">
            <a:spAutoFit/>
          </a:bodyPr>
          <a:lstStyle/>
          <a:p>
            <a:pPr algn="ctr">
              <a:lnSpc>
                <a:spcPct val="150000"/>
              </a:lnSpc>
            </a:pPr>
            <a:r>
              <a:rPr lang="en-US" sz="2300" i="1" dirty="0">
                <a:latin typeface="Arial" panose="020B0604020202020204" pitchFamily="34" charset="0"/>
                <a:cs typeface="Arial" panose="020B0604020202020204" pitchFamily="34" charset="0"/>
              </a:rPr>
              <a:t>Bob had no conflicts; so was “unnecessarily” blocked.</a:t>
            </a:r>
          </a:p>
        </p:txBody>
      </p:sp>
      <p:graphicFrame>
        <p:nvGraphicFramePr>
          <p:cNvPr id="33" name="Table 21">
            <a:extLst>
              <a:ext uri="{FF2B5EF4-FFF2-40B4-BE49-F238E27FC236}">
                <a16:creationId xmlns:a16="http://schemas.microsoft.com/office/drawing/2014/main" id="{974616B6-95DC-6A47-96F2-E110A1EDA1E7}"/>
              </a:ext>
            </a:extLst>
          </p:cNvPr>
          <p:cNvGraphicFramePr>
            <a:graphicFrameLocks noGrp="1"/>
          </p:cNvGraphicFramePr>
          <p:nvPr>
            <p:extLst>
              <p:ext uri="{D42A27DB-BD31-4B8C-83A1-F6EECF244321}">
                <p14:modId xmlns:p14="http://schemas.microsoft.com/office/powerpoint/2010/main" val="4048173881"/>
              </p:ext>
            </p:extLst>
          </p:nvPr>
        </p:nvGraphicFramePr>
        <p:xfrm>
          <a:off x="3494063" y="4914306"/>
          <a:ext cx="2217548" cy="1402080"/>
        </p:xfrm>
        <a:graphic>
          <a:graphicData uri="http://schemas.openxmlformats.org/drawingml/2006/table">
            <a:tbl>
              <a:tblPr firstRow="1" bandRow="1">
                <a:tableStyleId>{2D5ABB26-0587-4C30-8999-92F81FD0307C}</a:tableStyleId>
              </a:tblPr>
              <a:tblGrid>
                <a:gridCol w="919163">
                  <a:extLst>
                    <a:ext uri="{9D8B030D-6E8A-4147-A177-3AD203B41FA5}">
                      <a16:colId xmlns:a16="http://schemas.microsoft.com/office/drawing/2014/main" val="1727528194"/>
                    </a:ext>
                  </a:extLst>
                </a:gridCol>
                <a:gridCol w="1298385">
                  <a:extLst>
                    <a:ext uri="{9D8B030D-6E8A-4147-A177-3AD203B41FA5}">
                      <a16:colId xmlns:a16="http://schemas.microsoft.com/office/drawing/2014/main" val="3729982082"/>
                    </a:ext>
                  </a:extLst>
                </a:gridCol>
              </a:tblGrid>
              <a:tr h="289018">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289018">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289018">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289018">
                <a:tc>
                  <a:txBody>
                    <a:bodyPr/>
                    <a:lstStyle/>
                    <a:p>
                      <a:pPr algn="ctr"/>
                      <a:r>
                        <a:rPr lang="en-US" sz="1700" dirty="0" err="1"/>
                        <a:t>BookB</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sp>
        <p:nvSpPr>
          <p:cNvPr id="38" name="Can 37">
            <a:extLst>
              <a:ext uri="{FF2B5EF4-FFF2-40B4-BE49-F238E27FC236}">
                <a16:creationId xmlns:a16="http://schemas.microsoft.com/office/drawing/2014/main" id="{60F35D77-C924-4241-8172-A41F671755EE}"/>
              </a:ext>
            </a:extLst>
          </p:cNvPr>
          <p:cNvSpPr/>
          <p:nvPr/>
        </p:nvSpPr>
        <p:spPr>
          <a:xfrm>
            <a:off x="2745809" y="4668767"/>
            <a:ext cx="3652382" cy="1761984"/>
          </a:xfrm>
          <a:prstGeom prst="can">
            <a:avLst>
              <a:gd name="adj" fmla="val 9274"/>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1" name="Graphic 40" descr="Lock with solid fill">
            <a:extLst>
              <a:ext uri="{FF2B5EF4-FFF2-40B4-BE49-F238E27FC236}">
                <a16:creationId xmlns:a16="http://schemas.microsoft.com/office/drawing/2014/main" id="{5610A4C0-2F25-E244-8A55-BAC6B33F455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889069" y="5295113"/>
            <a:ext cx="914400" cy="914400"/>
          </a:xfrm>
          <a:prstGeom prst="rect">
            <a:avLst/>
          </a:prstGeom>
        </p:spPr>
      </p:pic>
      <p:graphicFrame>
        <p:nvGraphicFramePr>
          <p:cNvPr id="43" name="Table 37">
            <a:extLst>
              <a:ext uri="{FF2B5EF4-FFF2-40B4-BE49-F238E27FC236}">
                <a16:creationId xmlns:a16="http://schemas.microsoft.com/office/drawing/2014/main" id="{E254E626-ABE3-F14D-9B87-69C7760B791A}"/>
              </a:ext>
            </a:extLst>
          </p:cNvPr>
          <p:cNvGraphicFramePr>
            <a:graphicFrameLocks noGrp="1"/>
          </p:cNvGraphicFramePr>
          <p:nvPr>
            <p:extLst>
              <p:ext uri="{D42A27DB-BD31-4B8C-83A1-F6EECF244321}">
                <p14:modId xmlns:p14="http://schemas.microsoft.com/office/powerpoint/2010/main" val="2311894194"/>
              </p:ext>
            </p:extLst>
          </p:nvPr>
        </p:nvGraphicFramePr>
        <p:xfrm>
          <a:off x="2843222" y="2070323"/>
          <a:ext cx="3464456" cy="2560320"/>
        </p:xfrm>
        <a:graphic>
          <a:graphicData uri="http://schemas.openxmlformats.org/drawingml/2006/table">
            <a:tbl>
              <a:tblPr firstRow="1" bandRow="1">
                <a:tableStyleId>{5940675A-B579-460E-94D1-54222C63F5DA}</a:tableStyleId>
              </a:tblPr>
              <a:tblGrid>
                <a:gridCol w="1732228">
                  <a:extLst>
                    <a:ext uri="{9D8B030D-6E8A-4147-A177-3AD203B41FA5}">
                      <a16:colId xmlns:a16="http://schemas.microsoft.com/office/drawing/2014/main" val="2353120873"/>
                    </a:ext>
                  </a:extLst>
                </a:gridCol>
                <a:gridCol w="1732228">
                  <a:extLst>
                    <a:ext uri="{9D8B030D-6E8A-4147-A177-3AD203B41FA5}">
                      <a16:colId xmlns:a16="http://schemas.microsoft.com/office/drawing/2014/main" val="2128812741"/>
                    </a:ext>
                  </a:extLst>
                </a:gridCol>
              </a:tblGrid>
              <a:tr h="31694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0356770"/>
                  </a:ext>
                </a:extLst>
              </a:tr>
              <a:tr h="31694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4945649"/>
                  </a:ext>
                </a:extLst>
              </a:tr>
              <a:tr h="31694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7633610"/>
                  </a:ext>
                </a:extLst>
              </a:tr>
              <a:tr h="31694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359036"/>
                  </a:ext>
                </a:extLst>
              </a:tr>
              <a:tr h="31694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991648007"/>
                  </a:ext>
                </a:extLst>
              </a:tr>
              <a:tr h="31694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99301363"/>
                  </a:ext>
                </a:extLst>
              </a:tr>
              <a:tr h="316944">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64189312"/>
                  </a:ext>
                </a:extLst>
              </a:tr>
            </a:tbl>
          </a:graphicData>
        </a:graphic>
      </p:graphicFrame>
      <p:sp>
        <p:nvSpPr>
          <p:cNvPr id="45" name="Rectangle 44">
            <a:extLst>
              <a:ext uri="{FF2B5EF4-FFF2-40B4-BE49-F238E27FC236}">
                <a16:creationId xmlns:a16="http://schemas.microsoft.com/office/drawing/2014/main" id="{122AE346-CC1C-BB46-9726-08B4A6EEED27}"/>
              </a:ext>
            </a:extLst>
          </p:cNvPr>
          <p:cNvSpPr/>
          <p:nvPr/>
        </p:nvSpPr>
        <p:spPr>
          <a:xfrm>
            <a:off x="4608678" y="2107662"/>
            <a:ext cx="1217000"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DB </a:t>
            </a:r>
            <a:r>
              <a:rPr lang="en-US" dirty="0">
                <a:solidFill>
                  <a:srgbClr val="00B050"/>
                </a:solidFill>
              </a:rPr>
              <a:t>✓</a:t>
            </a:r>
          </a:p>
        </p:txBody>
      </p:sp>
      <p:pic>
        <p:nvPicPr>
          <p:cNvPr id="50" name="Graphic 49" descr="Unlock outline">
            <a:extLst>
              <a:ext uri="{FF2B5EF4-FFF2-40B4-BE49-F238E27FC236}">
                <a16:creationId xmlns:a16="http://schemas.microsoft.com/office/drawing/2014/main" id="{226405F2-BC1A-5D46-9760-CC5BDC3F245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89069" y="5309401"/>
            <a:ext cx="914400" cy="914400"/>
          </a:xfrm>
          <a:prstGeom prst="rect">
            <a:avLst/>
          </a:prstGeom>
        </p:spPr>
      </p:pic>
      <p:pic>
        <p:nvPicPr>
          <p:cNvPr id="51" name="Graphic 50" descr="Lock with solid fill">
            <a:extLst>
              <a:ext uri="{FF2B5EF4-FFF2-40B4-BE49-F238E27FC236}">
                <a16:creationId xmlns:a16="http://schemas.microsoft.com/office/drawing/2014/main" id="{E7784FFF-D3ED-AD42-8311-4FF2A551FFB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907288" y="5292156"/>
            <a:ext cx="914400" cy="914400"/>
          </a:xfrm>
          <a:prstGeom prst="rect">
            <a:avLst/>
          </a:prstGeom>
        </p:spPr>
      </p:pic>
      <p:sp>
        <p:nvSpPr>
          <p:cNvPr id="6" name="Rectangle 5">
            <a:extLst>
              <a:ext uri="{FF2B5EF4-FFF2-40B4-BE49-F238E27FC236}">
                <a16:creationId xmlns:a16="http://schemas.microsoft.com/office/drawing/2014/main" id="{85B81B84-DBBE-C145-A73D-253EBDB1870D}"/>
              </a:ext>
            </a:extLst>
          </p:cNvPr>
          <p:cNvSpPr/>
          <p:nvPr/>
        </p:nvSpPr>
        <p:spPr>
          <a:xfrm>
            <a:off x="2840540" y="2461146"/>
            <a:ext cx="3464448" cy="1079539"/>
          </a:xfrm>
          <a:prstGeom prst="rect">
            <a:avLst/>
          </a:prstGeom>
          <a:noFill/>
          <a:ln w="349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202BD46B-8AF6-A94B-B5E2-F9F654B56DEA}"/>
              </a:ext>
            </a:extLst>
          </p:cNvPr>
          <p:cNvSpPr/>
          <p:nvPr/>
        </p:nvSpPr>
        <p:spPr>
          <a:xfrm>
            <a:off x="2820627" y="2094200"/>
            <a:ext cx="1654620"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DB </a:t>
            </a:r>
            <a:r>
              <a:rPr lang="en-US" dirty="0">
                <a:solidFill>
                  <a:srgbClr val="C00000"/>
                </a:solidFill>
              </a:rPr>
              <a:t>X Wait</a:t>
            </a:r>
            <a:endParaRPr lang="en-US"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2B535E12-F6DF-6246-8B40-8B2E9D6255D3}"/>
              </a:ext>
            </a:extLst>
          </p:cNvPr>
          <p:cNvSpPr/>
          <p:nvPr/>
        </p:nvSpPr>
        <p:spPr>
          <a:xfrm>
            <a:off x="4637032" y="2460074"/>
            <a:ext cx="88998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 (A, 1)</a:t>
            </a:r>
          </a:p>
        </p:txBody>
      </p:sp>
      <p:sp>
        <p:nvSpPr>
          <p:cNvPr id="20" name="Rectangle 19">
            <a:extLst>
              <a:ext uri="{FF2B5EF4-FFF2-40B4-BE49-F238E27FC236}">
                <a16:creationId xmlns:a16="http://schemas.microsoft.com/office/drawing/2014/main" id="{5EE89740-D9C7-4542-9AEB-D44920B4042D}"/>
              </a:ext>
            </a:extLst>
          </p:cNvPr>
          <p:cNvSpPr/>
          <p:nvPr/>
        </p:nvSpPr>
        <p:spPr>
          <a:xfrm>
            <a:off x="4580918" y="2854345"/>
            <a:ext cx="979755"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w (A, 0)</a:t>
            </a:r>
          </a:p>
        </p:txBody>
      </p:sp>
      <p:sp>
        <p:nvSpPr>
          <p:cNvPr id="25" name="Rectangle 24">
            <a:extLst>
              <a:ext uri="{FF2B5EF4-FFF2-40B4-BE49-F238E27FC236}">
                <a16:creationId xmlns:a16="http://schemas.microsoft.com/office/drawing/2014/main" id="{07224A5E-D736-0F45-885F-E701CD86C665}"/>
              </a:ext>
            </a:extLst>
          </p:cNvPr>
          <p:cNvSpPr/>
          <p:nvPr/>
        </p:nvSpPr>
        <p:spPr>
          <a:xfrm>
            <a:off x="4564269" y="3223677"/>
            <a:ext cx="1415772"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release lock</a:t>
            </a:r>
          </a:p>
        </p:txBody>
      </p:sp>
      <p:sp>
        <p:nvSpPr>
          <p:cNvPr id="52" name="Rectangle 51">
            <a:extLst>
              <a:ext uri="{FF2B5EF4-FFF2-40B4-BE49-F238E27FC236}">
                <a16:creationId xmlns:a16="http://schemas.microsoft.com/office/drawing/2014/main" id="{43E39885-D56C-DD42-A325-61B0E1C5634A}"/>
              </a:ext>
            </a:extLst>
          </p:cNvPr>
          <p:cNvSpPr/>
          <p:nvPr/>
        </p:nvSpPr>
        <p:spPr>
          <a:xfrm>
            <a:off x="2832045" y="3543379"/>
            <a:ext cx="1217000"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DB </a:t>
            </a:r>
            <a:r>
              <a:rPr lang="en-US" dirty="0">
                <a:solidFill>
                  <a:srgbClr val="00B050"/>
                </a:solidFill>
              </a:rPr>
              <a:t>✓</a:t>
            </a:r>
          </a:p>
        </p:txBody>
      </p:sp>
      <p:sp>
        <p:nvSpPr>
          <p:cNvPr id="53" name="Rectangle 52">
            <a:extLst>
              <a:ext uri="{FF2B5EF4-FFF2-40B4-BE49-F238E27FC236}">
                <a16:creationId xmlns:a16="http://schemas.microsoft.com/office/drawing/2014/main" id="{4A430E80-661D-544C-A6B2-AEABFF20262A}"/>
              </a:ext>
            </a:extLst>
          </p:cNvPr>
          <p:cNvSpPr/>
          <p:nvPr/>
        </p:nvSpPr>
        <p:spPr>
          <a:xfrm>
            <a:off x="2851114" y="3919602"/>
            <a:ext cx="88998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 (B, 7)</a:t>
            </a:r>
          </a:p>
        </p:txBody>
      </p:sp>
      <p:sp>
        <p:nvSpPr>
          <p:cNvPr id="54" name="Rectangle 53">
            <a:extLst>
              <a:ext uri="{FF2B5EF4-FFF2-40B4-BE49-F238E27FC236}">
                <a16:creationId xmlns:a16="http://schemas.microsoft.com/office/drawing/2014/main" id="{11EB278A-6AFC-F64C-8CB7-883EF9020005}"/>
              </a:ext>
            </a:extLst>
          </p:cNvPr>
          <p:cNvSpPr/>
          <p:nvPr/>
        </p:nvSpPr>
        <p:spPr>
          <a:xfrm>
            <a:off x="2914639" y="4174630"/>
            <a:ext cx="415498"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210616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34"/>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0"/>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41"/>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1"/>
                                        </p:tgtEl>
                                        <p:attrNameLst>
                                          <p:attrName>style.visibility</p:attrName>
                                        </p:attrNameLst>
                                      </p:cBhvr>
                                      <p:to>
                                        <p:strVal val="visible"/>
                                      </p:to>
                                    </p:set>
                                  </p:childTnLst>
                                </p:cTn>
                              </p:par>
                              <p:par>
                                <p:cTn id="33" presetID="1" presetClass="exit" presetSubtype="0" fill="hold" nodeType="withEffect">
                                  <p:stCondLst>
                                    <p:cond delay="0"/>
                                  </p:stCondLst>
                                  <p:childTnLst>
                                    <p:set>
                                      <p:cBhvr>
                                        <p:cTn id="34" dur="1" fill="hold">
                                          <p:stCondLst>
                                            <p:cond delay="0"/>
                                          </p:stCondLst>
                                        </p:cTn>
                                        <p:tgtEl>
                                          <p:spTgt spid="50"/>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5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5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54"/>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5" grpId="0"/>
      <p:bldP spid="6" grpId="0" animBg="1"/>
      <p:bldP spid="17" grpId="0"/>
      <p:bldP spid="19" grpId="0"/>
      <p:bldP spid="20" grpId="0"/>
      <p:bldP spid="25" grpId="0"/>
      <p:bldP spid="52" grpId="0"/>
      <p:bldP spid="53" grpId="0"/>
      <p:bldP spid="5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Concurrency Avoidance Ex: Record-level Lock</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7" name="Table 21">
            <a:extLst>
              <a:ext uri="{FF2B5EF4-FFF2-40B4-BE49-F238E27FC236}">
                <a16:creationId xmlns:a16="http://schemas.microsoft.com/office/drawing/2014/main" id="{2F900700-AFD4-5F42-83EC-4C7E2B3680B0}"/>
              </a:ext>
            </a:extLst>
          </p:cNvPr>
          <p:cNvGraphicFramePr>
            <a:graphicFrameLocks noGrp="1"/>
          </p:cNvGraphicFramePr>
          <p:nvPr>
            <p:extLst>
              <p:ext uri="{D42A27DB-BD31-4B8C-83A1-F6EECF244321}">
                <p14:modId xmlns:p14="http://schemas.microsoft.com/office/powerpoint/2010/main" val="1515388706"/>
              </p:ext>
            </p:extLst>
          </p:nvPr>
        </p:nvGraphicFramePr>
        <p:xfrm>
          <a:off x="3183710" y="4848045"/>
          <a:ext cx="2892977" cy="1402080"/>
        </p:xfrm>
        <a:graphic>
          <a:graphicData uri="http://schemas.openxmlformats.org/drawingml/2006/table">
            <a:tbl>
              <a:tblPr firstRow="1" bandRow="1">
                <a:tableStyleId>{2D5ABB26-0587-4C30-8999-92F81FD0307C}</a:tableStyleId>
              </a:tblPr>
              <a:tblGrid>
                <a:gridCol w="675429">
                  <a:extLst>
                    <a:ext uri="{9D8B030D-6E8A-4147-A177-3AD203B41FA5}">
                      <a16:colId xmlns:a16="http://schemas.microsoft.com/office/drawing/2014/main" val="3025484127"/>
                    </a:ext>
                  </a:extLst>
                </a:gridCol>
                <a:gridCol w="919163">
                  <a:extLst>
                    <a:ext uri="{9D8B030D-6E8A-4147-A177-3AD203B41FA5}">
                      <a16:colId xmlns:a16="http://schemas.microsoft.com/office/drawing/2014/main" val="1727528194"/>
                    </a:ext>
                  </a:extLst>
                </a:gridCol>
                <a:gridCol w="1298385">
                  <a:extLst>
                    <a:ext uri="{9D8B030D-6E8A-4147-A177-3AD203B41FA5}">
                      <a16:colId xmlns:a16="http://schemas.microsoft.com/office/drawing/2014/main" val="3729982082"/>
                    </a:ext>
                  </a:extLst>
                </a:gridCol>
              </a:tblGrid>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BookB</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pic>
        <p:nvPicPr>
          <p:cNvPr id="10" name="Graphic 9" descr="Unlock outline">
            <a:extLst>
              <a:ext uri="{FF2B5EF4-FFF2-40B4-BE49-F238E27FC236}">
                <a16:creationId xmlns:a16="http://schemas.microsoft.com/office/drawing/2014/main" id="{4917E357-944D-9546-A265-29ADF03D80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4022" y="5553018"/>
            <a:ext cx="356616" cy="356616"/>
          </a:xfrm>
          <a:prstGeom prst="rect">
            <a:avLst/>
          </a:prstGeom>
        </p:spPr>
      </p:pic>
      <p:pic>
        <p:nvPicPr>
          <p:cNvPr id="11" name="Graphic 10" descr="Unlock outline">
            <a:extLst>
              <a:ext uri="{FF2B5EF4-FFF2-40B4-BE49-F238E27FC236}">
                <a16:creationId xmlns:a16="http://schemas.microsoft.com/office/drawing/2014/main" id="{C2ADCB6F-A401-6148-8931-989EED3EF8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08550" y="5196402"/>
            <a:ext cx="356616" cy="356616"/>
          </a:xfrm>
          <a:prstGeom prst="rect">
            <a:avLst/>
          </a:prstGeom>
        </p:spPr>
      </p:pic>
      <p:pic>
        <p:nvPicPr>
          <p:cNvPr id="12" name="Graphic 11" descr="Unlock outline">
            <a:extLst>
              <a:ext uri="{FF2B5EF4-FFF2-40B4-BE49-F238E27FC236}">
                <a16:creationId xmlns:a16="http://schemas.microsoft.com/office/drawing/2014/main" id="{C1BD1CD8-560B-5E41-9E5B-3CF8E8522F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2774" y="5903348"/>
            <a:ext cx="356616" cy="356616"/>
          </a:xfrm>
          <a:prstGeom prst="rect">
            <a:avLst/>
          </a:prstGeom>
        </p:spPr>
      </p:pic>
      <p:sp>
        <p:nvSpPr>
          <p:cNvPr id="15" name="Can 14">
            <a:extLst>
              <a:ext uri="{FF2B5EF4-FFF2-40B4-BE49-F238E27FC236}">
                <a16:creationId xmlns:a16="http://schemas.microsoft.com/office/drawing/2014/main" id="{E0B94931-379D-C647-BFCB-0109636828E2}"/>
              </a:ext>
            </a:extLst>
          </p:cNvPr>
          <p:cNvSpPr/>
          <p:nvPr/>
        </p:nvSpPr>
        <p:spPr>
          <a:xfrm>
            <a:off x="2745809" y="4507967"/>
            <a:ext cx="3652382" cy="1808501"/>
          </a:xfrm>
          <a:prstGeom prst="can">
            <a:avLst>
              <a:gd name="adj" fmla="val 16251"/>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Graphic 20" descr="Female Profile with solid fill">
            <a:extLst>
              <a:ext uri="{FF2B5EF4-FFF2-40B4-BE49-F238E27FC236}">
                <a16:creationId xmlns:a16="http://schemas.microsoft.com/office/drawing/2014/main" id="{AF46444A-4688-3043-AF69-ED9C1D969A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34964" y="1585036"/>
            <a:ext cx="731520" cy="731520"/>
          </a:xfrm>
          <a:prstGeom prst="rect">
            <a:avLst/>
          </a:prstGeom>
        </p:spPr>
      </p:pic>
      <p:pic>
        <p:nvPicPr>
          <p:cNvPr id="22" name="Graphic 21" descr="Male profile with solid fill">
            <a:extLst>
              <a:ext uri="{FF2B5EF4-FFF2-40B4-BE49-F238E27FC236}">
                <a16:creationId xmlns:a16="http://schemas.microsoft.com/office/drawing/2014/main" id="{BDCF272D-89B2-1E40-98E7-AD03BD3220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57425" y="1542172"/>
            <a:ext cx="731520" cy="731520"/>
          </a:xfrm>
          <a:prstGeom prst="rect">
            <a:avLst/>
          </a:prstGeom>
        </p:spPr>
      </p:pic>
      <p:sp>
        <p:nvSpPr>
          <p:cNvPr id="25" name="TextBox 24">
            <a:extLst>
              <a:ext uri="{FF2B5EF4-FFF2-40B4-BE49-F238E27FC236}">
                <a16:creationId xmlns:a16="http://schemas.microsoft.com/office/drawing/2014/main" id="{DC3369E4-47EE-324A-A8B0-FB5E3505C013}"/>
              </a:ext>
            </a:extLst>
          </p:cNvPr>
          <p:cNvSpPr txBox="1"/>
          <p:nvPr/>
        </p:nvSpPr>
        <p:spPr>
          <a:xfrm>
            <a:off x="4024562" y="1255980"/>
            <a:ext cx="1152324" cy="369332"/>
          </a:xfrm>
          <a:prstGeom prst="rect">
            <a:avLst/>
          </a:prstGeom>
          <a:noFill/>
        </p:spPr>
        <p:txBody>
          <a:bodyPr wrap="square" rtlCol="0">
            <a:spAutoFit/>
          </a:bodyPr>
          <a:lstStyle/>
          <a:p>
            <a:pPr algn="ctr"/>
            <a:r>
              <a:rPr lang="en-US" dirty="0"/>
              <a:t>Alice</a:t>
            </a:r>
          </a:p>
        </p:txBody>
      </p:sp>
      <p:sp>
        <p:nvSpPr>
          <p:cNvPr id="26" name="TextBox 25">
            <a:extLst>
              <a:ext uri="{FF2B5EF4-FFF2-40B4-BE49-F238E27FC236}">
                <a16:creationId xmlns:a16="http://schemas.microsoft.com/office/drawing/2014/main" id="{648F4F6E-AAB0-EC48-B0F8-F591D3A264BC}"/>
              </a:ext>
            </a:extLst>
          </p:cNvPr>
          <p:cNvSpPr txBox="1"/>
          <p:nvPr/>
        </p:nvSpPr>
        <p:spPr>
          <a:xfrm>
            <a:off x="2147023" y="1245891"/>
            <a:ext cx="1152324" cy="369332"/>
          </a:xfrm>
          <a:prstGeom prst="rect">
            <a:avLst/>
          </a:prstGeom>
          <a:noFill/>
        </p:spPr>
        <p:txBody>
          <a:bodyPr wrap="square" rtlCol="0">
            <a:spAutoFit/>
          </a:bodyPr>
          <a:lstStyle/>
          <a:p>
            <a:pPr algn="ctr"/>
            <a:r>
              <a:rPr lang="en-US" dirty="0"/>
              <a:t>Bob</a:t>
            </a:r>
          </a:p>
        </p:txBody>
      </p:sp>
      <p:sp>
        <p:nvSpPr>
          <p:cNvPr id="27" name="TextBox 26">
            <a:extLst>
              <a:ext uri="{FF2B5EF4-FFF2-40B4-BE49-F238E27FC236}">
                <a16:creationId xmlns:a16="http://schemas.microsoft.com/office/drawing/2014/main" id="{FFFAA4C5-D304-E240-AEC5-953F1392863B}"/>
              </a:ext>
            </a:extLst>
          </p:cNvPr>
          <p:cNvSpPr txBox="1"/>
          <p:nvPr/>
        </p:nvSpPr>
        <p:spPr>
          <a:xfrm>
            <a:off x="0" y="682309"/>
            <a:ext cx="9143999" cy="577850"/>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Alice, Bob as before want BookA, Carmen orders Book B</a:t>
            </a:r>
          </a:p>
        </p:txBody>
      </p:sp>
      <p:grpSp>
        <p:nvGrpSpPr>
          <p:cNvPr id="2" name="Group 1">
            <a:extLst>
              <a:ext uri="{FF2B5EF4-FFF2-40B4-BE49-F238E27FC236}">
                <a16:creationId xmlns:a16="http://schemas.microsoft.com/office/drawing/2014/main" id="{75DCBE8A-40D0-F845-96A6-178471973873}"/>
              </a:ext>
            </a:extLst>
          </p:cNvPr>
          <p:cNvGrpSpPr/>
          <p:nvPr/>
        </p:nvGrpSpPr>
        <p:grpSpPr>
          <a:xfrm>
            <a:off x="1312149" y="2220722"/>
            <a:ext cx="456472" cy="2047749"/>
            <a:chOff x="1628505" y="2405125"/>
            <a:chExt cx="456472" cy="2047749"/>
          </a:xfrm>
        </p:grpSpPr>
        <p:cxnSp>
          <p:nvCxnSpPr>
            <p:cNvPr id="28" name="Straight Arrow Connector 27">
              <a:extLst>
                <a:ext uri="{FF2B5EF4-FFF2-40B4-BE49-F238E27FC236}">
                  <a16:creationId xmlns:a16="http://schemas.microsoft.com/office/drawing/2014/main" id="{09F7D03C-DB48-A447-8649-27B7FA21EFFA}"/>
                </a:ext>
              </a:extLst>
            </p:cNvPr>
            <p:cNvCxnSpPr>
              <a:cxnSpLocks/>
            </p:cNvCxnSpPr>
            <p:nvPr/>
          </p:nvCxnSpPr>
          <p:spPr>
            <a:xfrm>
              <a:off x="2084976" y="2405125"/>
              <a:ext cx="1" cy="204774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9F07E95A-9FFF-B748-AC1F-75DFA12B572B}"/>
                </a:ext>
              </a:extLst>
            </p:cNvPr>
            <p:cNvSpPr txBox="1"/>
            <p:nvPr/>
          </p:nvSpPr>
          <p:spPr>
            <a:xfrm rot="16200000">
              <a:off x="1425331" y="3127972"/>
              <a:ext cx="862819" cy="456472"/>
            </a:xfrm>
            <a:prstGeom prst="rect">
              <a:avLst/>
            </a:prstGeom>
            <a:noFill/>
          </p:spPr>
          <p:txBody>
            <a:bodyPr wrap="square" rtlCol="0">
              <a:spAutoFit/>
            </a:bodyPr>
            <a:lstStyle/>
            <a:p>
              <a:pPr algn="ctr">
                <a:lnSpc>
                  <a:spcPct val="150000"/>
                </a:lnSpc>
              </a:pPr>
              <a:r>
                <a:rPr lang="en-US" dirty="0">
                  <a:latin typeface="Arial" panose="020B0604020202020204" pitchFamily="34" charset="0"/>
                  <a:cs typeface="Arial" panose="020B0604020202020204" pitchFamily="34" charset="0"/>
                </a:rPr>
                <a:t>time</a:t>
              </a:r>
            </a:p>
          </p:txBody>
        </p:sp>
      </p:grpSp>
      <p:graphicFrame>
        <p:nvGraphicFramePr>
          <p:cNvPr id="3" name="Table 37">
            <a:extLst>
              <a:ext uri="{FF2B5EF4-FFF2-40B4-BE49-F238E27FC236}">
                <a16:creationId xmlns:a16="http://schemas.microsoft.com/office/drawing/2014/main" id="{5D89E1E3-1C23-B44C-B24A-C6F1CD6F0421}"/>
              </a:ext>
            </a:extLst>
          </p:cNvPr>
          <p:cNvGraphicFramePr>
            <a:graphicFrameLocks noGrp="1"/>
          </p:cNvGraphicFramePr>
          <p:nvPr>
            <p:extLst>
              <p:ext uri="{D42A27DB-BD31-4B8C-83A1-F6EECF244321}">
                <p14:modId xmlns:p14="http://schemas.microsoft.com/office/powerpoint/2010/main" val="3887969567"/>
              </p:ext>
            </p:extLst>
          </p:nvPr>
        </p:nvGraphicFramePr>
        <p:xfrm>
          <a:off x="1853542" y="2229213"/>
          <a:ext cx="5463977" cy="2225040"/>
        </p:xfrm>
        <a:graphic>
          <a:graphicData uri="http://schemas.openxmlformats.org/drawingml/2006/table">
            <a:tbl>
              <a:tblPr firstRow="1" bandRow="1">
                <a:tableStyleId>{5940675A-B579-460E-94D1-54222C63F5DA}</a:tableStyleId>
              </a:tblPr>
              <a:tblGrid>
                <a:gridCol w="1832364">
                  <a:extLst>
                    <a:ext uri="{9D8B030D-6E8A-4147-A177-3AD203B41FA5}">
                      <a16:colId xmlns:a16="http://schemas.microsoft.com/office/drawing/2014/main" val="2353120873"/>
                    </a:ext>
                  </a:extLst>
                </a:gridCol>
                <a:gridCol w="1978000">
                  <a:extLst>
                    <a:ext uri="{9D8B030D-6E8A-4147-A177-3AD203B41FA5}">
                      <a16:colId xmlns:a16="http://schemas.microsoft.com/office/drawing/2014/main" val="2128812741"/>
                    </a:ext>
                  </a:extLst>
                </a:gridCol>
                <a:gridCol w="1653613">
                  <a:extLst>
                    <a:ext uri="{9D8B030D-6E8A-4147-A177-3AD203B41FA5}">
                      <a16:colId xmlns:a16="http://schemas.microsoft.com/office/drawing/2014/main" val="2198156796"/>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035677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494564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763361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359036"/>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2311299"/>
                  </a:ext>
                </a:extLst>
              </a:tr>
              <a:tr h="370840">
                <a:tc gridSpan="3">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10646731"/>
                  </a:ext>
                </a:extLst>
              </a:tr>
            </a:tbl>
          </a:graphicData>
        </a:graphic>
      </p:graphicFrame>
      <p:pic>
        <p:nvPicPr>
          <p:cNvPr id="40" name="Graphic 39" descr="Lock with solid fill">
            <a:extLst>
              <a:ext uri="{FF2B5EF4-FFF2-40B4-BE49-F238E27FC236}">
                <a16:creationId xmlns:a16="http://schemas.microsoft.com/office/drawing/2014/main" id="{ACB6DCC6-8EA5-AD4F-9654-BC669E5F3CE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5090" y="5552997"/>
            <a:ext cx="356616" cy="356616"/>
          </a:xfrm>
          <a:prstGeom prst="rect">
            <a:avLst/>
          </a:prstGeom>
        </p:spPr>
      </p:pic>
      <p:pic>
        <p:nvPicPr>
          <p:cNvPr id="41" name="Graphic 40" descr="Lock with solid fill">
            <a:extLst>
              <a:ext uri="{FF2B5EF4-FFF2-40B4-BE49-F238E27FC236}">
                <a16:creationId xmlns:a16="http://schemas.microsoft.com/office/drawing/2014/main" id="{9B3B423B-4213-7347-95F1-BE107424B6B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5098" y="5894191"/>
            <a:ext cx="356616" cy="356616"/>
          </a:xfrm>
          <a:prstGeom prst="rect">
            <a:avLst/>
          </a:prstGeom>
        </p:spPr>
      </p:pic>
      <p:sp>
        <p:nvSpPr>
          <p:cNvPr id="42" name="Rectangle 41">
            <a:extLst>
              <a:ext uri="{FF2B5EF4-FFF2-40B4-BE49-F238E27FC236}">
                <a16:creationId xmlns:a16="http://schemas.microsoft.com/office/drawing/2014/main" id="{74C78AD6-BA8E-884F-BC86-BDA487E2978D}"/>
              </a:ext>
            </a:extLst>
          </p:cNvPr>
          <p:cNvSpPr/>
          <p:nvPr/>
        </p:nvSpPr>
        <p:spPr>
          <a:xfrm>
            <a:off x="1983421" y="2231945"/>
            <a:ext cx="1524776"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(A, 1) </a:t>
            </a:r>
            <a:r>
              <a:rPr lang="en-US" dirty="0">
                <a:solidFill>
                  <a:srgbClr val="00B050"/>
                </a:solidFill>
              </a:rPr>
              <a:t>✓</a:t>
            </a:r>
          </a:p>
        </p:txBody>
      </p:sp>
      <p:sp>
        <p:nvSpPr>
          <p:cNvPr id="43" name="Rectangle 42">
            <a:extLst>
              <a:ext uri="{FF2B5EF4-FFF2-40B4-BE49-F238E27FC236}">
                <a16:creationId xmlns:a16="http://schemas.microsoft.com/office/drawing/2014/main" id="{0165DCC9-20E3-2E41-982E-3DC7BC6CF08D}"/>
              </a:ext>
            </a:extLst>
          </p:cNvPr>
          <p:cNvSpPr/>
          <p:nvPr/>
        </p:nvSpPr>
        <p:spPr>
          <a:xfrm>
            <a:off x="3665166" y="2261909"/>
            <a:ext cx="196239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(A, 1) </a:t>
            </a:r>
            <a:r>
              <a:rPr lang="en-US" dirty="0">
                <a:solidFill>
                  <a:srgbClr val="C00000"/>
                </a:solidFill>
              </a:rPr>
              <a:t>X Wait</a:t>
            </a:r>
            <a:endParaRPr lang="en-US" dirty="0">
              <a:latin typeface="Arial" panose="020B0604020202020204" pitchFamily="34" charset="0"/>
              <a:cs typeface="Arial" panose="020B0604020202020204" pitchFamily="34" charset="0"/>
            </a:endParaRPr>
          </a:p>
        </p:txBody>
      </p:sp>
      <p:pic>
        <p:nvPicPr>
          <p:cNvPr id="8" name="Graphic 7" descr="Office worker female with solid fill">
            <a:extLst>
              <a:ext uri="{FF2B5EF4-FFF2-40B4-BE49-F238E27FC236}">
                <a16:creationId xmlns:a16="http://schemas.microsoft.com/office/drawing/2014/main" id="{317F2393-174E-9D49-916E-668C8407838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902101" y="1513594"/>
            <a:ext cx="731520" cy="731520"/>
          </a:xfrm>
          <a:prstGeom prst="rect">
            <a:avLst/>
          </a:prstGeom>
        </p:spPr>
      </p:pic>
      <p:sp>
        <p:nvSpPr>
          <p:cNvPr id="30" name="TextBox 29">
            <a:extLst>
              <a:ext uri="{FF2B5EF4-FFF2-40B4-BE49-F238E27FC236}">
                <a16:creationId xmlns:a16="http://schemas.microsoft.com/office/drawing/2014/main" id="{88C6933D-5CA6-CA4D-AFC8-5F537B51A9C1}"/>
              </a:ext>
            </a:extLst>
          </p:cNvPr>
          <p:cNvSpPr txBox="1"/>
          <p:nvPr/>
        </p:nvSpPr>
        <p:spPr>
          <a:xfrm>
            <a:off x="5679793" y="1223284"/>
            <a:ext cx="1152324" cy="369332"/>
          </a:xfrm>
          <a:prstGeom prst="rect">
            <a:avLst/>
          </a:prstGeom>
          <a:noFill/>
        </p:spPr>
        <p:txBody>
          <a:bodyPr wrap="square" rtlCol="0">
            <a:spAutoFit/>
          </a:bodyPr>
          <a:lstStyle/>
          <a:p>
            <a:pPr algn="ctr"/>
            <a:r>
              <a:rPr lang="en-US" dirty="0"/>
              <a:t>Carmen</a:t>
            </a:r>
          </a:p>
        </p:txBody>
      </p:sp>
      <p:sp>
        <p:nvSpPr>
          <p:cNvPr id="31" name="Rectangle 30">
            <a:extLst>
              <a:ext uri="{FF2B5EF4-FFF2-40B4-BE49-F238E27FC236}">
                <a16:creationId xmlns:a16="http://schemas.microsoft.com/office/drawing/2014/main" id="{6CB6D067-C36D-854B-A190-FCA9F0DBCEE7}"/>
              </a:ext>
            </a:extLst>
          </p:cNvPr>
          <p:cNvSpPr/>
          <p:nvPr/>
        </p:nvSpPr>
        <p:spPr>
          <a:xfrm>
            <a:off x="5591942" y="2246689"/>
            <a:ext cx="1524776"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(B, 7) </a:t>
            </a:r>
            <a:r>
              <a:rPr lang="en-US" dirty="0">
                <a:solidFill>
                  <a:srgbClr val="00B050"/>
                </a:solidFill>
              </a:rPr>
              <a:t>✓</a:t>
            </a:r>
          </a:p>
        </p:txBody>
      </p:sp>
      <p:sp>
        <p:nvSpPr>
          <p:cNvPr id="32" name="Rectangle 31">
            <a:extLst>
              <a:ext uri="{FF2B5EF4-FFF2-40B4-BE49-F238E27FC236}">
                <a16:creationId xmlns:a16="http://schemas.microsoft.com/office/drawing/2014/main" id="{BC48FF64-E5A3-F94F-A87A-2A525B7F1135}"/>
              </a:ext>
            </a:extLst>
          </p:cNvPr>
          <p:cNvSpPr/>
          <p:nvPr/>
        </p:nvSpPr>
        <p:spPr>
          <a:xfrm>
            <a:off x="1983421" y="2600924"/>
            <a:ext cx="88998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 (A, 1)</a:t>
            </a:r>
          </a:p>
        </p:txBody>
      </p:sp>
      <p:sp>
        <p:nvSpPr>
          <p:cNvPr id="34" name="Rectangle 33">
            <a:extLst>
              <a:ext uri="{FF2B5EF4-FFF2-40B4-BE49-F238E27FC236}">
                <a16:creationId xmlns:a16="http://schemas.microsoft.com/office/drawing/2014/main" id="{7CF90CFC-D2EC-384D-9028-77B1BD961F6B}"/>
              </a:ext>
            </a:extLst>
          </p:cNvPr>
          <p:cNvSpPr/>
          <p:nvPr/>
        </p:nvSpPr>
        <p:spPr>
          <a:xfrm>
            <a:off x="5615884" y="2582423"/>
            <a:ext cx="88998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 (B, 7)</a:t>
            </a:r>
          </a:p>
        </p:txBody>
      </p:sp>
      <p:sp>
        <p:nvSpPr>
          <p:cNvPr id="35" name="Rectangle 34">
            <a:extLst>
              <a:ext uri="{FF2B5EF4-FFF2-40B4-BE49-F238E27FC236}">
                <a16:creationId xmlns:a16="http://schemas.microsoft.com/office/drawing/2014/main" id="{89A341F7-F616-D744-9419-8D86BF71E6FF}"/>
              </a:ext>
            </a:extLst>
          </p:cNvPr>
          <p:cNvSpPr/>
          <p:nvPr/>
        </p:nvSpPr>
        <p:spPr>
          <a:xfrm>
            <a:off x="1949117" y="2999140"/>
            <a:ext cx="979755"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w (A, 0)</a:t>
            </a:r>
          </a:p>
        </p:txBody>
      </p:sp>
      <p:sp>
        <p:nvSpPr>
          <p:cNvPr id="36" name="Rectangle 35">
            <a:extLst>
              <a:ext uri="{FF2B5EF4-FFF2-40B4-BE49-F238E27FC236}">
                <a16:creationId xmlns:a16="http://schemas.microsoft.com/office/drawing/2014/main" id="{FD88F717-ABBA-EA44-A918-AE35AAC003A7}"/>
              </a:ext>
            </a:extLst>
          </p:cNvPr>
          <p:cNvSpPr/>
          <p:nvPr/>
        </p:nvSpPr>
        <p:spPr>
          <a:xfrm>
            <a:off x="5601531" y="2994927"/>
            <a:ext cx="979755"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w (B, 6)</a:t>
            </a:r>
          </a:p>
        </p:txBody>
      </p:sp>
    </p:spTree>
    <p:extLst>
      <p:ext uri="{BB962C8B-B14F-4D97-AF65-F5344CB8AC3E}">
        <p14:creationId xmlns:p14="http://schemas.microsoft.com/office/powerpoint/2010/main" val="1870551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10"/>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4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1"/>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2"/>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3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31" grpId="0"/>
      <p:bldP spid="32" grpId="0"/>
      <p:bldP spid="34" grpId="0"/>
      <p:bldP spid="35" grpId="0"/>
      <p:bldP spid="36"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Concurrency Avoidance Ex: Record-level Lock</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7" name="Table 21">
            <a:extLst>
              <a:ext uri="{FF2B5EF4-FFF2-40B4-BE49-F238E27FC236}">
                <a16:creationId xmlns:a16="http://schemas.microsoft.com/office/drawing/2014/main" id="{2F900700-AFD4-5F42-83EC-4C7E2B3680B0}"/>
              </a:ext>
            </a:extLst>
          </p:cNvPr>
          <p:cNvGraphicFramePr>
            <a:graphicFrameLocks noGrp="1"/>
          </p:cNvGraphicFramePr>
          <p:nvPr>
            <p:extLst>
              <p:ext uri="{D42A27DB-BD31-4B8C-83A1-F6EECF244321}">
                <p14:modId xmlns:p14="http://schemas.microsoft.com/office/powerpoint/2010/main" val="2068839989"/>
              </p:ext>
            </p:extLst>
          </p:nvPr>
        </p:nvGraphicFramePr>
        <p:xfrm>
          <a:off x="3183710" y="4848045"/>
          <a:ext cx="2892977" cy="1402080"/>
        </p:xfrm>
        <a:graphic>
          <a:graphicData uri="http://schemas.openxmlformats.org/drawingml/2006/table">
            <a:tbl>
              <a:tblPr firstRow="1" bandRow="1">
                <a:tableStyleId>{2D5ABB26-0587-4C30-8999-92F81FD0307C}</a:tableStyleId>
              </a:tblPr>
              <a:tblGrid>
                <a:gridCol w="675429">
                  <a:extLst>
                    <a:ext uri="{9D8B030D-6E8A-4147-A177-3AD203B41FA5}">
                      <a16:colId xmlns:a16="http://schemas.microsoft.com/office/drawing/2014/main" val="3025484127"/>
                    </a:ext>
                  </a:extLst>
                </a:gridCol>
                <a:gridCol w="919163">
                  <a:extLst>
                    <a:ext uri="{9D8B030D-6E8A-4147-A177-3AD203B41FA5}">
                      <a16:colId xmlns:a16="http://schemas.microsoft.com/office/drawing/2014/main" val="1727528194"/>
                    </a:ext>
                  </a:extLst>
                </a:gridCol>
                <a:gridCol w="1298385">
                  <a:extLst>
                    <a:ext uri="{9D8B030D-6E8A-4147-A177-3AD203B41FA5}">
                      <a16:colId xmlns:a16="http://schemas.microsoft.com/office/drawing/2014/main" val="3729982082"/>
                    </a:ext>
                  </a:extLst>
                </a:gridCol>
              </a:tblGrid>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BookB</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pic>
        <p:nvPicPr>
          <p:cNvPr id="10" name="Graphic 9" descr="Unlock outline">
            <a:extLst>
              <a:ext uri="{FF2B5EF4-FFF2-40B4-BE49-F238E27FC236}">
                <a16:creationId xmlns:a16="http://schemas.microsoft.com/office/drawing/2014/main" id="{4917E357-944D-9546-A265-29ADF03D80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3845" y="5549085"/>
            <a:ext cx="356616" cy="356616"/>
          </a:xfrm>
          <a:prstGeom prst="rect">
            <a:avLst/>
          </a:prstGeom>
        </p:spPr>
      </p:pic>
      <p:pic>
        <p:nvPicPr>
          <p:cNvPr id="11" name="Graphic 10" descr="Unlock outline">
            <a:extLst>
              <a:ext uri="{FF2B5EF4-FFF2-40B4-BE49-F238E27FC236}">
                <a16:creationId xmlns:a16="http://schemas.microsoft.com/office/drawing/2014/main" id="{C2ADCB6F-A401-6148-8931-989EED3EF8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08550" y="5196402"/>
            <a:ext cx="356616" cy="356616"/>
          </a:xfrm>
          <a:prstGeom prst="rect">
            <a:avLst/>
          </a:prstGeom>
        </p:spPr>
      </p:pic>
      <p:pic>
        <p:nvPicPr>
          <p:cNvPr id="12" name="Graphic 11" descr="Unlock outline">
            <a:extLst>
              <a:ext uri="{FF2B5EF4-FFF2-40B4-BE49-F238E27FC236}">
                <a16:creationId xmlns:a16="http://schemas.microsoft.com/office/drawing/2014/main" id="{C1BD1CD8-560B-5E41-9E5B-3CF8E8522F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2774" y="5903348"/>
            <a:ext cx="356616" cy="356616"/>
          </a:xfrm>
          <a:prstGeom prst="rect">
            <a:avLst/>
          </a:prstGeom>
        </p:spPr>
      </p:pic>
      <p:sp>
        <p:nvSpPr>
          <p:cNvPr id="15" name="Can 14">
            <a:extLst>
              <a:ext uri="{FF2B5EF4-FFF2-40B4-BE49-F238E27FC236}">
                <a16:creationId xmlns:a16="http://schemas.microsoft.com/office/drawing/2014/main" id="{E0B94931-379D-C647-BFCB-0109636828E2}"/>
              </a:ext>
            </a:extLst>
          </p:cNvPr>
          <p:cNvSpPr/>
          <p:nvPr/>
        </p:nvSpPr>
        <p:spPr>
          <a:xfrm>
            <a:off x="2745809" y="4507967"/>
            <a:ext cx="3652382" cy="1808501"/>
          </a:xfrm>
          <a:prstGeom prst="can">
            <a:avLst>
              <a:gd name="adj" fmla="val 16251"/>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Graphic 20" descr="Female Profile with solid fill">
            <a:extLst>
              <a:ext uri="{FF2B5EF4-FFF2-40B4-BE49-F238E27FC236}">
                <a16:creationId xmlns:a16="http://schemas.microsoft.com/office/drawing/2014/main" id="{AF46444A-4688-3043-AF69-ED9C1D969A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34964" y="1585036"/>
            <a:ext cx="731520" cy="731520"/>
          </a:xfrm>
          <a:prstGeom prst="rect">
            <a:avLst/>
          </a:prstGeom>
        </p:spPr>
      </p:pic>
      <p:pic>
        <p:nvPicPr>
          <p:cNvPr id="22" name="Graphic 21" descr="Male profile with solid fill">
            <a:extLst>
              <a:ext uri="{FF2B5EF4-FFF2-40B4-BE49-F238E27FC236}">
                <a16:creationId xmlns:a16="http://schemas.microsoft.com/office/drawing/2014/main" id="{BDCF272D-89B2-1E40-98E7-AD03BD3220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357425" y="1542172"/>
            <a:ext cx="731520" cy="731520"/>
          </a:xfrm>
          <a:prstGeom prst="rect">
            <a:avLst/>
          </a:prstGeom>
        </p:spPr>
      </p:pic>
      <p:sp>
        <p:nvSpPr>
          <p:cNvPr id="25" name="TextBox 24">
            <a:extLst>
              <a:ext uri="{FF2B5EF4-FFF2-40B4-BE49-F238E27FC236}">
                <a16:creationId xmlns:a16="http://schemas.microsoft.com/office/drawing/2014/main" id="{DC3369E4-47EE-324A-A8B0-FB5E3505C013}"/>
              </a:ext>
            </a:extLst>
          </p:cNvPr>
          <p:cNvSpPr txBox="1"/>
          <p:nvPr/>
        </p:nvSpPr>
        <p:spPr>
          <a:xfrm>
            <a:off x="4024562" y="1255980"/>
            <a:ext cx="1152324" cy="369332"/>
          </a:xfrm>
          <a:prstGeom prst="rect">
            <a:avLst/>
          </a:prstGeom>
          <a:noFill/>
        </p:spPr>
        <p:txBody>
          <a:bodyPr wrap="square" rtlCol="0">
            <a:spAutoFit/>
          </a:bodyPr>
          <a:lstStyle/>
          <a:p>
            <a:pPr algn="ctr"/>
            <a:r>
              <a:rPr lang="en-US" dirty="0"/>
              <a:t>Alice</a:t>
            </a:r>
          </a:p>
        </p:txBody>
      </p:sp>
      <p:sp>
        <p:nvSpPr>
          <p:cNvPr id="26" name="TextBox 25">
            <a:extLst>
              <a:ext uri="{FF2B5EF4-FFF2-40B4-BE49-F238E27FC236}">
                <a16:creationId xmlns:a16="http://schemas.microsoft.com/office/drawing/2014/main" id="{648F4F6E-AAB0-EC48-B0F8-F591D3A264BC}"/>
              </a:ext>
            </a:extLst>
          </p:cNvPr>
          <p:cNvSpPr txBox="1"/>
          <p:nvPr/>
        </p:nvSpPr>
        <p:spPr>
          <a:xfrm>
            <a:off x="2147023" y="1245891"/>
            <a:ext cx="1152324" cy="369332"/>
          </a:xfrm>
          <a:prstGeom prst="rect">
            <a:avLst/>
          </a:prstGeom>
          <a:noFill/>
        </p:spPr>
        <p:txBody>
          <a:bodyPr wrap="square" rtlCol="0">
            <a:spAutoFit/>
          </a:bodyPr>
          <a:lstStyle/>
          <a:p>
            <a:pPr algn="ctr"/>
            <a:r>
              <a:rPr lang="en-US" dirty="0"/>
              <a:t>Bob</a:t>
            </a:r>
          </a:p>
        </p:txBody>
      </p:sp>
      <p:sp>
        <p:nvSpPr>
          <p:cNvPr id="27" name="TextBox 26">
            <a:extLst>
              <a:ext uri="{FF2B5EF4-FFF2-40B4-BE49-F238E27FC236}">
                <a16:creationId xmlns:a16="http://schemas.microsoft.com/office/drawing/2014/main" id="{FFFAA4C5-D304-E240-AEC5-953F1392863B}"/>
              </a:ext>
            </a:extLst>
          </p:cNvPr>
          <p:cNvSpPr txBox="1"/>
          <p:nvPr/>
        </p:nvSpPr>
        <p:spPr>
          <a:xfrm>
            <a:off x="0" y="682309"/>
            <a:ext cx="9143999" cy="577850"/>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Alice, Bob as before want BookA, Carmen orders Book B</a:t>
            </a:r>
          </a:p>
        </p:txBody>
      </p:sp>
      <p:grpSp>
        <p:nvGrpSpPr>
          <p:cNvPr id="2" name="Group 1">
            <a:extLst>
              <a:ext uri="{FF2B5EF4-FFF2-40B4-BE49-F238E27FC236}">
                <a16:creationId xmlns:a16="http://schemas.microsoft.com/office/drawing/2014/main" id="{75DCBE8A-40D0-F845-96A6-178471973873}"/>
              </a:ext>
            </a:extLst>
          </p:cNvPr>
          <p:cNvGrpSpPr/>
          <p:nvPr/>
        </p:nvGrpSpPr>
        <p:grpSpPr>
          <a:xfrm>
            <a:off x="1312149" y="2220722"/>
            <a:ext cx="456472" cy="2047749"/>
            <a:chOff x="1628505" y="2405125"/>
            <a:chExt cx="456472" cy="2047749"/>
          </a:xfrm>
        </p:grpSpPr>
        <p:cxnSp>
          <p:nvCxnSpPr>
            <p:cNvPr id="28" name="Straight Arrow Connector 27">
              <a:extLst>
                <a:ext uri="{FF2B5EF4-FFF2-40B4-BE49-F238E27FC236}">
                  <a16:creationId xmlns:a16="http://schemas.microsoft.com/office/drawing/2014/main" id="{09F7D03C-DB48-A447-8649-27B7FA21EFFA}"/>
                </a:ext>
              </a:extLst>
            </p:cNvPr>
            <p:cNvCxnSpPr>
              <a:cxnSpLocks/>
            </p:cNvCxnSpPr>
            <p:nvPr/>
          </p:nvCxnSpPr>
          <p:spPr>
            <a:xfrm>
              <a:off x="2084976" y="2405125"/>
              <a:ext cx="1" cy="204774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9F07E95A-9FFF-B748-AC1F-75DFA12B572B}"/>
                </a:ext>
              </a:extLst>
            </p:cNvPr>
            <p:cNvSpPr txBox="1"/>
            <p:nvPr/>
          </p:nvSpPr>
          <p:spPr>
            <a:xfrm rot="16200000">
              <a:off x="1425331" y="3127972"/>
              <a:ext cx="862819" cy="456472"/>
            </a:xfrm>
            <a:prstGeom prst="rect">
              <a:avLst/>
            </a:prstGeom>
            <a:noFill/>
          </p:spPr>
          <p:txBody>
            <a:bodyPr wrap="square" rtlCol="0">
              <a:spAutoFit/>
            </a:bodyPr>
            <a:lstStyle/>
            <a:p>
              <a:pPr algn="ctr">
                <a:lnSpc>
                  <a:spcPct val="150000"/>
                </a:lnSpc>
              </a:pPr>
              <a:r>
                <a:rPr lang="en-US" dirty="0">
                  <a:latin typeface="Arial" panose="020B0604020202020204" pitchFamily="34" charset="0"/>
                  <a:cs typeface="Arial" panose="020B0604020202020204" pitchFamily="34" charset="0"/>
                </a:rPr>
                <a:t>time</a:t>
              </a:r>
            </a:p>
          </p:txBody>
        </p:sp>
      </p:grpSp>
      <p:graphicFrame>
        <p:nvGraphicFramePr>
          <p:cNvPr id="3" name="Table 37">
            <a:extLst>
              <a:ext uri="{FF2B5EF4-FFF2-40B4-BE49-F238E27FC236}">
                <a16:creationId xmlns:a16="http://schemas.microsoft.com/office/drawing/2014/main" id="{5D89E1E3-1C23-B44C-B24A-C6F1CD6F0421}"/>
              </a:ext>
            </a:extLst>
          </p:cNvPr>
          <p:cNvGraphicFramePr>
            <a:graphicFrameLocks noGrp="1"/>
          </p:cNvGraphicFramePr>
          <p:nvPr/>
        </p:nvGraphicFramePr>
        <p:xfrm>
          <a:off x="1853542" y="2229213"/>
          <a:ext cx="5463977" cy="2225040"/>
        </p:xfrm>
        <a:graphic>
          <a:graphicData uri="http://schemas.openxmlformats.org/drawingml/2006/table">
            <a:tbl>
              <a:tblPr firstRow="1" bandRow="1">
                <a:tableStyleId>{5940675A-B579-460E-94D1-54222C63F5DA}</a:tableStyleId>
              </a:tblPr>
              <a:tblGrid>
                <a:gridCol w="1832364">
                  <a:extLst>
                    <a:ext uri="{9D8B030D-6E8A-4147-A177-3AD203B41FA5}">
                      <a16:colId xmlns:a16="http://schemas.microsoft.com/office/drawing/2014/main" val="2353120873"/>
                    </a:ext>
                  </a:extLst>
                </a:gridCol>
                <a:gridCol w="1978000">
                  <a:extLst>
                    <a:ext uri="{9D8B030D-6E8A-4147-A177-3AD203B41FA5}">
                      <a16:colId xmlns:a16="http://schemas.microsoft.com/office/drawing/2014/main" val="2128812741"/>
                    </a:ext>
                  </a:extLst>
                </a:gridCol>
                <a:gridCol w="1653613">
                  <a:extLst>
                    <a:ext uri="{9D8B030D-6E8A-4147-A177-3AD203B41FA5}">
                      <a16:colId xmlns:a16="http://schemas.microsoft.com/office/drawing/2014/main" val="2198156796"/>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0356770"/>
                  </a:ext>
                </a:extLst>
              </a:tr>
              <a:tr h="370840">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0494564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76763361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2359036"/>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2311299"/>
                  </a:ext>
                </a:extLst>
              </a:tr>
              <a:tr h="370840">
                <a:tc gridSpan="3">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10646731"/>
                  </a:ext>
                </a:extLst>
              </a:tr>
            </a:tbl>
          </a:graphicData>
        </a:graphic>
      </p:graphicFrame>
      <p:sp>
        <p:nvSpPr>
          <p:cNvPr id="38" name="TextBox 37">
            <a:extLst>
              <a:ext uri="{FF2B5EF4-FFF2-40B4-BE49-F238E27FC236}">
                <a16:creationId xmlns:a16="http://schemas.microsoft.com/office/drawing/2014/main" id="{B85327D7-2C6E-BF4F-B555-548B0F9DB5E7}"/>
              </a:ext>
            </a:extLst>
          </p:cNvPr>
          <p:cNvSpPr txBox="1"/>
          <p:nvPr/>
        </p:nvSpPr>
        <p:spPr>
          <a:xfrm>
            <a:off x="488981" y="6194295"/>
            <a:ext cx="8194614" cy="577850"/>
          </a:xfrm>
          <a:prstGeom prst="rect">
            <a:avLst/>
          </a:prstGeom>
          <a:noFill/>
        </p:spPr>
        <p:txBody>
          <a:bodyPr wrap="square" rtlCol="0">
            <a:spAutoFit/>
          </a:bodyPr>
          <a:lstStyle/>
          <a:p>
            <a:pPr algn="ctr">
              <a:lnSpc>
                <a:spcPct val="150000"/>
              </a:lnSpc>
            </a:pPr>
            <a:r>
              <a:rPr lang="en-US" sz="2400" i="1" dirty="0">
                <a:latin typeface="Arial" panose="020B0604020202020204" pitchFamily="34" charset="0"/>
                <a:cs typeface="Arial" panose="020B0604020202020204" pitchFamily="34" charset="0"/>
              </a:rPr>
              <a:t>Safe and achieves parallelism. What can go wrong?</a:t>
            </a:r>
          </a:p>
        </p:txBody>
      </p:sp>
      <p:pic>
        <p:nvPicPr>
          <p:cNvPr id="40" name="Graphic 39" descr="Lock with solid fill">
            <a:extLst>
              <a:ext uri="{FF2B5EF4-FFF2-40B4-BE49-F238E27FC236}">
                <a16:creationId xmlns:a16="http://schemas.microsoft.com/office/drawing/2014/main" id="{ACB6DCC6-8EA5-AD4F-9654-BC669E5F3CE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5031" y="5548979"/>
            <a:ext cx="356616" cy="356616"/>
          </a:xfrm>
          <a:prstGeom prst="rect">
            <a:avLst/>
          </a:prstGeom>
        </p:spPr>
      </p:pic>
      <p:pic>
        <p:nvPicPr>
          <p:cNvPr id="41" name="Graphic 40" descr="Lock with solid fill">
            <a:extLst>
              <a:ext uri="{FF2B5EF4-FFF2-40B4-BE49-F238E27FC236}">
                <a16:creationId xmlns:a16="http://schemas.microsoft.com/office/drawing/2014/main" id="{9B3B423B-4213-7347-95F1-BE107424B6B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6327" y="5907359"/>
            <a:ext cx="356616" cy="356616"/>
          </a:xfrm>
          <a:prstGeom prst="rect">
            <a:avLst/>
          </a:prstGeom>
        </p:spPr>
      </p:pic>
      <p:sp>
        <p:nvSpPr>
          <p:cNvPr id="42" name="Rectangle 41">
            <a:extLst>
              <a:ext uri="{FF2B5EF4-FFF2-40B4-BE49-F238E27FC236}">
                <a16:creationId xmlns:a16="http://schemas.microsoft.com/office/drawing/2014/main" id="{74C78AD6-BA8E-884F-BC86-BDA487E2978D}"/>
              </a:ext>
            </a:extLst>
          </p:cNvPr>
          <p:cNvSpPr/>
          <p:nvPr/>
        </p:nvSpPr>
        <p:spPr>
          <a:xfrm>
            <a:off x="1983421" y="2231945"/>
            <a:ext cx="1524776"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(A, 1) </a:t>
            </a:r>
            <a:r>
              <a:rPr lang="en-US" dirty="0">
                <a:solidFill>
                  <a:srgbClr val="00B050"/>
                </a:solidFill>
              </a:rPr>
              <a:t>✓</a:t>
            </a:r>
          </a:p>
        </p:txBody>
      </p:sp>
      <p:sp>
        <p:nvSpPr>
          <p:cNvPr id="43" name="Rectangle 42">
            <a:extLst>
              <a:ext uri="{FF2B5EF4-FFF2-40B4-BE49-F238E27FC236}">
                <a16:creationId xmlns:a16="http://schemas.microsoft.com/office/drawing/2014/main" id="{0165DCC9-20E3-2E41-982E-3DC7BC6CF08D}"/>
              </a:ext>
            </a:extLst>
          </p:cNvPr>
          <p:cNvSpPr/>
          <p:nvPr/>
        </p:nvSpPr>
        <p:spPr>
          <a:xfrm>
            <a:off x="3665166" y="2261909"/>
            <a:ext cx="196239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(A, 1) </a:t>
            </a:r>
            <a:r>
              <a:rPr lang="en-US" dirty="0">
                <a:solidFill>
                  <a:srgbClr val="C00000"/>
                </a:solidFill>
              </a:rPr>
              <a:t>X Wait</a:t>
            </a:r>
            <a:endParaRPr lang="en-US" dirty="0">
              <a:latin typeface="Arial" panose="020B0604020202020204" pitchFamily="34" charset="0"/>
              <a:cs typeface="Arial" panose="020B0604020202020204" pitchFamily="34" charset="0"/>
            </a:endParaRPr>
          </a:p>
        </p:txBody>
      </p:sp>
      <p:pic>
        <p:nvPicPr>
          <p:cNvPr id="8" name="Graphic 7" descr="Office worker female with solid fill">
            <a:extLst>
              <a:ext uri="{FF2B5EF4-FFF2-40B4-BE49-F238E27FC236}">
                <a16:creationId xmlns:a16="http://schemas.microsoft.com/office/drawing/2014/main" id="{317F2393-174E-9D49-916E-668C84078387}"/>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902101" y="1513594"/>
            <a:ext cx="731520" cy="731520"/>
          </a:xfrm>
          <a:prstGeom prst="rect">
            <a:avLst/>
          </a:prstGeom>
        </p:spPr>
      </p:pic>
      <p:sp>
        <p:nvSpPr>
          <p:cNvPr id="30" name="TextBox 29">
            <a:extLst>
              <a:ext uri="{FF2B5EF4-FFF2-40B4-BE49-F238E27FC236}">
                <a16:creationId xmlns:a16="http://schemas.microsoft.com/office/drawing/2014/main" id="{88C6933D-5CA6-CA4D-AFC8-5F537B51A9C1}"/>
              </a:ext>
            </a:extLst>
          </p:cNvPr>
          <p:cNvSpPr txBox="1"/>
          <p:nvPr/>
        </p:nvSpPr>
        <p:spPr>
          <a:xfrm>
            <a:off x="5679793" y="1223284"/>
            <a:ext cx="1152324" cy="369332"/>
          </a:xfrm>
          <a:prstGeom prst="rect">
            <a:avLst/>
          </a:prstGeom>
          <a:noFill/>
        </p:spPr>
        <p:txBody>
          <a:bodyPr wrap="square" rtlCol="0">
            <a:spAutoFit/>
          </a:bodyPr>
          <a:lstStyle/>
          <a:p>
            <a:pPr algn="ctr"/>
            <a:r>
              <a:rPr lang="en-US" dirty="0"/>
              <a:t>Carmen</a:t>
            </a:r>
          </a:p>
        </p:txBody>
      </p:sp>
      <p:sp>
        <p:nvSpPr>
          <p:cNvPr id="31" name="Rectangle 30">
            <a:extLst>
              <a:ext uri="{FF2B5EF4-FFF2-40B4-BE49-F238E27FC236}">
                <a16:creationId xmlns:a16="http://schemas.microsoft.com/office/drawing/2014/main" id="{6CB6D067-C36D-854B-A190-FCA9F0DBCEE7}"/>
              </a:ext>
            </a:extLst>
          </p:cNvPr>
          <p:cNvSpPr/>
          <p:nvPr/>
        </p:nvSpPr>
        <p:spPr>
          <a:xfrm>
            <a:off x="5591942" y="2246689"/>
            <a:ext cx="1524776"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(B, 7) </a:t>
            </a:r>
            <a:r>
              <a:rPr lang="en-US" dirty="0">
                <a:solidFill>
                  <a:srgbClr val="00B050"/>
                </a:solidFill>
              </a:rPr>
              <a:t>✓</a:t>
            </a:r>
          </a:p>
        </p:txBody>
      </p:sp>
      <p:sp>
        <p:nvSpPr>
          <p:cNvPr id="32" name="Rectangle 31">
            <a:extLst>
              <a:ext uri="{FF2B5EF4-FFF2-40B4-BE49-F238E27FC236}">
                <a16:creationId xmlns:a16="http://schemas.microsoft.com/office/drawing/2014/main" id="{BC48FF64-E5A3-F94F-A87A-2A525B7F1135}"/>
              </a:ext>
            </a:extLst>
          </p:cNvPr>
          <p:cNvSpPr/>
          <p:nvPr/>
        </p:nvSpPr>
        <p:spPr>
          <a:xfrm>
            <a:off x="1983421" y="2600924"/>
            <a:ext cx="88998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 (A, 1)</a:t>
            </a:r>
          </a:p>
        </p:txBody>
      </p:sp>
      <p:sp>
        <p:nvSpPr>
          <p:cNvPr id="34" name="Rectangle 33">
            <a:extLst>
              <a:ext uri="{FF2B5EF4-FFF2-40B4-BE49-F238E27FC236}">
                <a16:creationId xmlns:a16="http://schemas.microsoft.com/office/drawing/2014/main" id="{7CF90CFC-D2EC-384D-9028-77B1BD961F6B}"/>
              </a:ext>
            </a:extLst>
          </p:cNvPr>
          <p:cNvSpPr/>
          <p:nvPr/>
        </p:nvSpPr>
        <p:spPr>
          <a:xfrm>
            <a:off x="5615884" y="2582423"/>
            <a:ext cx="88998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 (B, 7)</a:t>
            </a:r>
          </a:p>
        </p:txBody>
      </p:sp>
      <p:sp>
        <p:nvSpPr>
          <p:cNvPr id="35" name="Rectangle 34">
            <a:extLst>
              <a:ext uri="{FF2B5EF4-FFF2-40B4-BE49-F238E27FC236}">
                <a16:creationId xmlns:a16="http://schemas.microsoft.com/office/drawing/2014/main" id="{89A341F7-F616-D744-9419-8D86BF71E6FF}"/>
              </a:ext>
            </a:extLst>
          </p:cNvPr>
          <p:cNvSpPr/>
          <p:nvPr/>
        </p:nvSpPr>
        <p:spPr>
          <a:xfrm>
            <a:off x="1949117" y="2999140"/>
            <a:ext cx="979755"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w (A, 0)</a:t>
            </a:r>
          </a:p>
        </p:txBody>
      </p:sp>
      <p:sp>
        <p:nvSpPr>
          <p:cNvPr id="36" name="Rectangle 35">
            <a:extLst>
              <a:ext uri="{FF2B5EF4-FFF2-40B4-BE49-F238E27FC236}">
                <a16:creationId xmlns:a16="http://schemas.microsoft.com/office/drawing/2014/main" id="{FD88F717-ABBA-EA44-A918-AE35AAC003A7}"/>
              </a:ext>
            </a:extLst>
          </p:cNvPr>
          <p:cNvSpPr/>
          <p:nvPr/>
        </p:nvSpPr>
        <p:spPr>
          <a:xfrm>
            <a:off x="5601531" y="2994927"/>
            <a:ext cx="979755"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w (B, 6)</a:t>
            </a:r>
          </a:p>
        </p:txBody>
      </p:sp>
      <p:sp>
        <p:nvSpPr>
          <p:cNvPr id="37" name="Rectangle 36">
            <a:extLst>
              <a:ext uri="{FF2B5EF4-FFF2-40B4-BE49-F238E27FC236}">
                <a16:creationId xmlns:a16="http://schemas.microsoft.com/office/drawing/2014/main" id="{A25746DB-F863-2B41-B3D3-DC4993D718D1}"/>
              </a:ext>
            </a:extLst>
          </p:cNvPr>
          <p:cNvSpPr/>
          <p:nvPr/>
        </p:nvSpPr>
        <p:spPr>
          <a:xfrm>
            <a:off x="5593699" y="3372921"/>
            <a:ext cx="1633781"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release lock B</a:t>
            </a:r>
          </a:p>
        </p:txBody>
      </p:sp>
      <p:sp>
        <p:nvSpPr>
          <p:cNvPr id="39" name="Rectangle 38">
            <a:extLst>
              <a:ext uri="{FF2B5EF4-FFF2-40B4-BE49-F238E27FC236}">
                <a16:creationId xmlns:a16="http://schemas.microsoft.com/office/drawing/2014/main" id="{BC614E1D-A61A-714D-915D-5653E77AF910}"/>
              </a:ext>
            </a:extLst>
          </p:cNvPr>
          <p:cNvSpPr/>
          <p:nvPr/>
        </p:nvSpPr>
        <p:spPr>
          <a:xfrm>
            <a:off x="1928918" y="3339235"/>
            <a:ext cx="1621021"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release lock A</a:t>
            </a:r>
          </a:p>
        </p:txBody>
      </p:sp>
      <p:sp>
        <p:nvSpPr>
          <p:cNvPr id="47" name="Rectangle 46">
            <a:extLst>
              <a:ext uri="{FF2B5EF4-FFF2-40B4-BE49-F238E27FC236}">
                <a16:creationId xmlns:a16="http://schemas.microsoft.com/office/drawing/2014/main" id="{DB3EC913-867E-E74F-A4B6-608F547ABB6F}"/>
              </a:ext>
            </a:extLst>
          </p:cNvPr>
          <p:cNvSpPr/>
          <p:nvPr/>
        </p:nvSpPr>
        <p:spPr>
          <a:xfrm>
            <a:off x="3671706" y="3705217"/>
            <a:ext cx="1524776"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(A, 1) </a:t>
            </a:r>
            <a:r>
              <a:rPr lang="en-US" dirty="0">
                <a:solidFill>
                  <a:srgbClr val="00B050"/>
                </a:solidFill>
              </a:rPr>
              <a:t>✓</a:t>
            </a:r>
          </a:p>
        </p:txBody>
      </p:sp>
    </p:spTree>
    <p:extLst>
      <p:ext uri="{BB962C8B-B14F-4D97-AF65-F5344CB8AC3E}">
        <p14:creationId xmlns:p14="http://schemas.microsoft.com/office/powerpoint/2010/main" val="4066169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9"/>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40"/>
                                        </p:tgtEl>
                                        <p:attrNameLst>
                                          <p:attrName>style.visibility</p:attrName>
                                        </p:attrNameLst>
                                      </p:cBhvr>
                                      <p:to>
                                        <p:strVal val="hidden"/>
                                      </p:to>
                                    </p:set>
                                  </p:childTnLst>
                                </p:cTn>
                              </p:par>
                              <p:par>
                                <p:cTn id="11" presetID="1" presetClass="exit" presetSubtype="0" fill="hold" nodeType="withEffect">
                                  <p:stCondLst>
                                    <p:cond delay="0"/>
                                  </p:stCondLst>
                                  <p:childTnLst>
                                    <p:set>
                                      <p:cBhvr>
                                        <p:cTn id="12" dur="1" fill="hold">
                                          <p:stCondLst>
                                            <p:cond delay="0"/>
                                          </p:stCondLst>
                                        </p:cTn>
                                        <p:tgtEl>
                                          <p:spTgt spid="41"/>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4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37" grpId="0"/>
      <p:bldP spid="39" grpId="0"/>
      <p:bldP spid="4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Where There is Locking, There is Deadlocks! </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7" name="Table 21">
            <a:extLst>
              <a:ext uri="{FF2B5EF4-FFF2-40B4-BE49-F238E27FC236}">
                <a16:creationId xmlns:a16="http://schemas.microsoft.com/office/drawing/2014/main" id="{2F900700-AFD4-5F42-83EC-4C7E2B3680B0}"/>
              </a:ext>
            </a:extLst>
          </p:cNvPr>
          <p:cNvGraphicFramePr>
            <a:graphicFrameLocks noGrp="1"/>
          </p:cNvGraphicFramePr>
          <p:nvPr>
            <p:extLst>
              <p:ext uri="{D42A27DB-BD31-4B8C-83A1-F6EECF244321}">
                <p14:modId xmlns:p14="http://schemas.microsoft.com/office/powerpoint/2010/main" val="274691192"/>
              </p:ext>
            </p:extLst>
          </p:nvPr>
        </p:nvGraphicFramePr>
        <p:xfrm>
          <a:off x="3183710" y="4705165"/>
          <a:ext cx="2892977" cy="1402080"/>
        </p:xfrm>
        <a:graphic>
          <a:graphicData uri="http://schemas.openxmlformats.org/drawingml/2006/table">
            <a:tbl>
              <a:tblPr firstRow="1" bandRow="1">
                <a:tableStyleId>{2D5ABB26-0587-4C30-8999-92F81FD0307C}</a:tableStyleId>
              </a:tblPr>
              <a:tblGrid>
                <a:gridCol w="675429">
                  <a:extLst>
                    <a:ext uri="{9D8B030D-6E8A-4147-A177-3AD203B41FA5}">
                      <a16:colId xmlns:a16="http://schemas.microsoft.com/office/drawing/2014/main" val="3025484127"/>
                    </a:ext>
                  </a:extLst>
                </a:gridCol>
                <a:gridCol w="919163">
                  <a:extLst>
                    <a:ext uri="{9D8B030D-6E8A-4147-A177-3AD203B41FA5}">
                      <a16:colId xmlns:a16="http://schemas.microsoft.com/office/drawing/2014/main" val="1727528194"/>
                    </a:ext>
                  </a:extLst>
                </a:gridCol>
                <a:gridCol w="1298385">
                  <a:extLst>
                    <a:ext uri="{9D8B030D-6E8A-4147-A177-3AD203B41FA5}">
                      <a16:colId xmlns:a16="http://schemas.microsoft.com/office/drawing/2014/main" val="3729982082"/>
                    </a:ext>
                  </a:extLst>
                </a:gridCol>
              </a:tblGrid>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0">
                <a:tc>
                  <a:txBody>
                    <a:bodyPr/>
                    <a:lstStyle/>
                    <a:p>
                      <a:pPr algn="ct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BookB</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pic>
        <p:nvPicPr>
          <p:cNvPr id="10" name="Graphic 9" descr="Unlock outline">
            <a:extLst>
              <a:ext uri="{FF2B5EF4-FFF2-40B4-BE49-F238E27FC236}">
                <a16:creationId xmlns:a16="http://schemas.microsoft.com/office/drawing/2014/main" id="{4917E357-944D-9546-A265-29ADF03D803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4022" y="5395850"/>
            <a:ext cx="356616" cy="356616"/>
          </a:xfrm>
          <a:prstGeom prst="rect">
            <a:avLst/>
          </a:prstGeom>
        </p:spPr>
      </p:pic>
      <p:pic>
        <p:nvPicPr>
          <p:cNvPr id="11" name="Graphic 10" descr="Unlock outline">
            <a:extLst>
              <a:ext uri="{FF2B5EF4-FFF2-40B4-BE49-F238E27FC236}">
                <a16:creationId xmlns:a16="http://schemas.microsoft.com/office/drawing/2014/main" id="{C2ADCB6F-A401-6148-8931-989EED3EF8E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08550" y="5039234"/>
            <a:ext cx="356616" cy="356616"/>
          </a:xfrm>
          <a:prstGeom prst="rect">
            <a:avLst/>
          </a:prstGeom>
        </p:spPr>
      </p:pic>
      <p:pic>
        <p:nvPicPr>
          <p:cNvPr id="12" name="Graphic 11" descr="Unlock outline">
            <a:extLst>
              <a:ext uri="{FF2B5EF4-FFF2-40B4-BE49-F238E27FC236}">
                <a16:creationId xmlns:a16="http://schemas.microsoft.com/office/drawing/2014/main" id="{C1BD1CD8-560B-5E41-9E5B-3CF8E8522FB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312774" y="5746180"/>
            <a:ext cx="356616" cy="356616"/>
          </a:xfrm>
          <a:prstGeom prst="rect">
            <a:avLst/>
          </a:prstGeom>
        </p:spPr>
      </p:pic>
      <p:sp>
        <p:nvSpPr>
          <p:cNvPr id="15" name="Can 14">
            <a:extLst>
              <a:ext uri="{FF2B5EF4-FFF2-40B4-BE49-F238E27FC236}">
                <a16:creationId xmlns:a16="http://schemas.microsoft.com/office/drawing/2014/main" id="{E0B94931-379D-C647-BFCB-0109636828E2}"/>
              </a:ext>
            </a:extLst>
          </p:cNvPr>
          <p:cNvSpPr/>
          <p:nvPr/>
        </p:nvSpPr>
        <p:spPr>
          <a:xfrm>
            <a:off x="2745809" y="4268719"/>
            <a:ext cx="3652382" cy="2047749"/>
          </a:xfrm>
          <a:prstGeom prst="can">
            <a:avLst>
              <a:gd name="adj" fmla="val 16251"/>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Graphic 20" descr="Female Profile with solid fill">
            <a:extLst>
              <a:ext uri="{FF2B5EF4-FFF2-40B4-BE49-F238E27FC236}">
                <a16:creationId xmlns:a16="http://schemas.microsoft.com/office/drawing/2014/main" id="{AF46444A-4688-3043-AF69-ED9C1D969AD5}"/>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149371" y="1585036"/>
            <a:ext cx="731520" cy="731520"/>
          </a:xfrm>
          <a:prstGeom prst="rect">
            <a:avLst/>
          </a:prstGeom>
        </p:spPr>
      </p:pic>
      <p:pic>
        <p:nvPicPr>
          <p:cNvPr id="22" name="Graphic 21" descr="Male profile with solid fill">
            <a:extLst>
              <a:ext uri="{FF2B5EF4-FFF2-40B4-BE49-F238E27FC236}">
                <a16:creationId xmlns:a16="http://schemas.microsoft.com/office/drawing/2014/main" id="{BDCF272D-89B2-1E40-98E7-AD03BD3220F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271832" y="1585036"/>
            <a:ext cx="731520" cy="731520"/>
          </a:xfrm>
          <a:prstGeom prst="rect">
            <a:avLst/>
          </a:prstGeom>
        </p:spPr>
      </p:pic>
      <p:sp>
        <p:nvSpPr>
          <p:cNvPr id="25" name="TextBox 24">
            <a:extLst>
              <a:ext uri="{FF2B5EF4-FFF2-40B4-BE49-F238E27FC236}">
                <a16:creationId xmlns:a16="http://schemas.microsoft.com/office/drawing/2014/main" id="{DC3369E4-47EE-324A-A8B0-FB5E3505C013}"/>
              </a:ext>
            </a:extLst>
          </p:cNvPr>
          <p:cNvSpPr txBox="1"/>
          <p:nvPr/>
        </p:nvSpPr>
        <p:spPr>
          <a:xfrm>
            <a:off x="4938969" y="1255980"/>
            <a:ext cx="1152324" cy="369332"/>
          </a:xfrm>
          <a:prstGeom prst="rect">
            <a:avLst/>
          </a:prstGeom>
          <a:noFill/>
        </p:spPr>
        <p:txBody>
          <a:bodyPr wrap="square" rtlCol="0">
            <a:spAutoFit/>
          </a:bodyPr>
          <a:lstStyle/>
          <a:p>
            <a:pPr algn="ctr"/>
            <a:r>
              <a:rPr lang="en-US" dirty="0"/>
              <a:t>Alice</a:t>
            </a:r>
          </a:p>
        </p:txBody>
      </p:sp>
      <p:sp>
        <p:nvSpPr>
          <p:cNvPr id="26" name="TextBox 25">
            <a:extLst>
              <a:ext uri="{FF2B5EF4-FFF2-40B4-BE49-F238E27FC236}">
                <a16:creationId xmlns:a16="http://schemas.microsoft.com/office/drawing/2014/main" id="{648F4F6E-AAB0-EC48-B0F8-F591D3A264BC}"/>
              </a:ext>
            </a:extLst>
          </p:cNvPr>
          <p:cNvSpPr txBox="1"/>
          <p:nvPr/>
        </p:nvSpPr>
        <p:spPr>
          <a:xfrm>
            <a:off x="3061430" y="1245891"/>
            <a:ext cx="1152324" cy="369332"/>
          </a:xfrm>
          <a:prstGeom prst="rect">
            <a:avLst/>
          </a:prstGeom>
          <a:noFill/>
        </p:spPr>
        <p:txBody>
          <a:bodyPr wrap="square" rtlCol="0">
            <a:spAutoFit/>
          </a:bodyPr>
          <a:lstStyle/>
          <a:p>
            <a:pPr algn="ctr"/>
            <a:r>
              <a:rPr lang="en-US" dirty="0"/>
              <a:t>Bob</a:t>
            </a:r>
          </a:p>
        </p:txBody>
      </p:sp>
      <p:sp>
        <p:nvSpPr>
          <p:cNvPr id="27" name="TextBox 26">
            <a:extLst>
              <a:ext uri="{FF2B5EF4-FFF2-40B4-BE49-F238E27FC236}">
                <a16:creationId xmlns:a16="http://schemas.microsoft.com/office/drawing/2014/main" id="{FFFAA4C5-D304-E240-AEC5-953F1392863B}"/>
              </a:ext>
            </a:extLst>
          </p:cNvPr>
          <p:cNvSpPr txBox="1"/>
          <p:nvPr/>
        </p:nvSpPr>
        <p:spPr>
          <a:xfrm>
            <a:off x="0" y="682309"/>
            <a:ext cx="9143999" cy="577850"/>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Alice, Bob both order both BookA and </a:t>
            </a:r>
            <a:r>
              <a:rPr lang="en-US" sz="2400" dirty="0" err="1">
                <a:latin typeface="Arial" panose="020B0604020202020204" pitchFamily="34" charset="0"/>
                <a:cs typeface="Arial" panose="020B0604020202020204" pitchFamily="34" charset="0"/>
              </a:rPr>
              <a:t>BookB</a:t>
            </a:r>
            <a:r>
              <a:rPr lang="en-US" sz="2400" dirty="0">
                <a:latin typeface="Arial" panose="020B0604020202020204" pitchFamily="34" charset="0"/>
                <a:cs typeface="Arial" panose="020B0604020202020204" pitchFamily="34" charset="0"/>
              </a:rPr>
              <a:t> together</a:t>
            </a:r>
          </a:p>
        </p:txBody>
      </p:sp>
      <p:grpSp>
        <p:nvGrpSpPr>
          <p:cNvPr id="2" name="Group 1">
            <a:extLst>
              <a:ext uri="{FF2B5EF4-FFF2-40B4-BE49-F238E27FC236}">
                <a16:creationId xmlns:a16="http://schemas.microsoft.com/office/drawing/2014/main" id="{75DCBE8A-40D0-F845-96A6-178471973873}"/>
              </a:ext>
            </a:extLst>
          </p:cNvPr>
          <p:cNvGrpSpPr/>
          <p:nvPr/>
        </p:nvGrpSpPr>
        <p:grpSpPr>
          <a:xfrm>
            <a:off x="1726493" y="2220722"/>
            <a:ext cx="456472" cy="2047749"/>
            <a:chOff x="1628505" y="2405125"/>
            <a:chExt cx="456472" cy="2047749"/>
          </a:xfrm>
        </p:grpSpPr>
        <p:cxnSp>
          <p:nvCxnSpPr>
            <p:cNvPr id="28" name="Straight Arrow Connector 27">
              <a:extLst>
                <a:ext uri="{FF2B5EF4-FFF2-40B4-BE49-F238E27FC236}">
                  <a16:creationId xmlns:a16="http://schemas.microsoft.com/office/drawing/2014/main" id="{09F7D03C-DB48-A447-8649-27B7FA21EFFA}"/>
                </a:ext>
              </a:extLst>
            </p:cNvPr>
            <p:cNvCxnSpPr>
              <a:cxnSpLocks/>
            </p:cNvCxnSpPr>
            <p:nvPr/>
          </p:nvCxnSpPr>
          <p:spPr>
            <a:xfrm>
              <a:off x="2084976" y="2405125"/>
              <a:ext cx="1" cy="204774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29" name="TextBox 28">
              <a:extLst>
                <a:ext uri="{FF2B5EF4-FFF2-40B4-BE49-F238E27FC236}">
                  <a16:creationId xmlns:a16="http://schemas.microsoft.com/office/drawing/2014/main" id="{9F07E95A-9FFF-B748-AC1F-75DFA12B572B}"/>
                </a:ext>
              </a:extLst>
            </p:cNvPr>
            <p:cNvSpPr txBox="1"/>
            <p:nvPr/>
          </p:nvSpPr>
          <p:spPr>
            <a:xfrm rot="16200000">
              <a:off x="1425331" y="3127972"/>
              <a:ext cx="862819" cy="456472"/>
            </a:xfrm>
            <a:prstGeom prst="rect">
              <a:avLst/>
            </a:prstGeom>
            <a:noFill/>
          </p:spPr>
          <p:txBody>
            <a:bodyPr wrap="square" rtlCol="0">
              <a:spAutoFit/>
            </a:bodyPr>
            <a:lstStyle/>
            <a:p>
              <a:pPr algn="ctr">
                <a:lnSpc>
                  <a:spcPct val="150000"/>
                </a:lnSpc>
              </a:pPr>
              <a:r>
                <a:rPr lang="en-US" dirty="0">
                  <a:latin typeface="Arial" panose="020B0604020202020204" pitchFamily="34" charset="0"/>
                  <a:cs typeface="Arial" panose="020B0604020202020204" pitchFamily="34" charset="0"/>
                </a:rPr>
                <a:t>time</a:t>
              </a:r>
            </a:p>
          </p:txBody>
        </p:sp>
      </p:grpSp>
      <p:graphicFrame>
        <p:nvGraphicFramePr>
          <p:cNvPr id="3" name="Table 37">
            <a:extLst>
              <a:ext uri="{FF2B5EF4-FFF2-40B4-BE49-F238E27FC236}">
                <a16:creationId xmlns:a16="http://schemas.microsoft.com/office/drawing/2014/main" id="{5D89E1E3-1C23-B44C-B24A-C6F1CD6F0421}"/>
              </a:ext>
            </a:extLst>
          </p:cNvPr>
          <p:cNvGraphicFramePr>
            <a:graphicFrameLocks noGrp="1"/>
          </p:cNvGraphicFramePr>
          <p:nvPr>
            <p:extLst>
              <p:ext uri="{D42A27DB-BD31-4B8C-83A1-F6EECF244321}">
                <p14:modId xmlns:p14="http://schemas.microsoft.com/office/powerpoint/2010/main" val="3916779173"/>
              </p:ext>
            </p:extLst>
          </p:nvPr>
        </p:nvGraphicFramePr>
        <p:xfrm>
          <a:off x="2565082" y="2213206"/>
          <a:ext cx="4013836" cy="1854200"/>
        </p:xfrm>
        <a:graphic>
          <a:graphicData uri="http://schemas.openxmlformats.org/drawingml/2006/table">
            <a:tbl>
              <a:tblPr firstRow="1" bandRow="1">
                <a:tableStyleId>{5940675A-B579-460E-94D1-54222C63F5DA}</a:tableStyleId>
              </a:tblPr>
              <a:tblGrid>
                <a:gridCol w="2006918">
                  <a:extLst>
                    <a:ext uri="{9D8B030D-6E8A-4147-A177-3AD203B41FA5}">
                      <a16:colId xmlns:a16="http://schemas.microsoft.com/office/drawing/2014/main" val="2353120873"/>
                    </a:ext>
                  </a:extLst>
                </a:gridCol>
                <a:gridCol w="2006918">
                  <a:extLst>
                    <a:ext uri="{9D8B030D-6E8A-4147-A177-3AD203B41FA5}">
                      <a16:colId xmlns:a16="http://schemas.microsoft.com/office/drawing/2014/main" val="2128812741"/>
                    </a:ext>
                  </a:extLst>
                </a:gridCol>
              </a:tblGrid>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870356770"/>
                  </a:ext>
                </a:extLst>
              </a:tr>
              <a:tr h="370840">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solidFill>
                          <a:srgbClr val="00B050"/>
                        </a:solidFill>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604945649"/>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endParaRPr lang="en-US"/>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67633610"/>
                  </a:ext>
                </a:extLst>
              </a:tr>
              <a:tr h="370840">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dirty="0">
                        <a:latin typeface="Arial" panose="020B0604020202020204" pitchFamily="34" charset="0"/>
                        <a:cs typeface="Arial" panose="020B0604020202020204" pitchFamily="34" charset="0"/>
                      </a:endParaRP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2359036"/>
                  </a:ext>
                </a:extLst>
              </a:tr>
              <a:tr h="370840">
                <a:tc gridSpan="2">
                  <a:txBody>
                    <a:bodyPr/>
                    <a:lstStyle/>
                    <a:p>
                      <a:pPr algn="ctr"/>
                      <a:endParaRPr lang="en-US" i="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hMerge="1">
                  <a:txBody>
                    <a:bodyPr/>
                    <a:lstStyle/>
                    <a:p>
                      <a:endParaRPr lang="en-US" dirty="0"/>
                    </a:p>
                  </a:txBody>
                  <a:tcPr/>
                </a:tc>
                <a:extLst>
                  <a:ext uri="{0D108BD9-81ED-4DB2-BD59-A6C34878D82A}">
                    <a16:rowId xmlns:a16="http://schemas.microsoft.com/office/drawing/2014/main" val="2976739992"/>
                  </a:ext>
                </a:extLst>
              </a:tr>
            </a:tbl>
          </a:graphicData>
        </a:graphic>
      </p:graphicFrame>
      <p:sp>
        <p:nvSpPr>
          <p:cNvPr id="38" name="TextBox 37">
            <a:extLst>
              <a:ext uri="{FF2B5EF4-FFF2-40B4-BE49-F238E27FC236}">
                <a16:creationId xmlns:a16="http://schemas.microsoft.com/office/drawing/2014/main" id="{B85327D7-2C6E-BF4F-B555-548B0F9DB5E7}"/>
              </a:ext>
            </a:extLst>
          </p:cNvPr>
          <p:cNvSpPr txBox="1"/>
          <p:nvPr/>
        </p:nvSpPr>
        <p:spPr>
          <a:xfrm>
            <a:off x="488981" y="6194295"/>
            <a:ext cx="8194614" cy="577850"/>
          </a:xfrm>
          <a:prstGeom prst="rect">
            <a:avLst/>
          </a:prstGeom>
          <a:noFill/>
        </p:spPr>
        <p:txBody>
          <a:bodyPr wrap="square" rtlCol="0">
            <a:spAutoFit/>
          </a:bodyPr>
          <a:lstStyle/>
          <a:p>
            <a:pPr algn="ctr">
              <a:lnSpc>
                <a:spcPct val="150000"/>
              </a:lnSpc>
            </a:pPr>
            <a:r>
              <a:rPr lang="en-US" sz="2400" i="1" dirty="0">
                <a:latin typeface="Arial" panose="020B0604020202020204" pitchFamily="34" charset="0"/>
                <a:cs typeface="Arial" panose="020B0604020202020204" pitchFamily="34" charset="0"/>
              </a:rPr>
              <a:t>How can we detect &amp; avoid deadlocks? </a:t>
            </a:r>
          </a:p>
        </p:txBody>
      </p:sp>
      <p:pic>
        <p:nvPicPr>
          <p:cNvPr id="40" name="Graphic 39" descr="Lock with solid fill">
            <a:extLst>
              <a:ext uri="{FF2B5EF4-FFF2-40B4-BE49-F238E27FC236}">
                <a16:creationId xmlns:a16="http://schemas.microsoft.com/office/drawing/2014/main" id="{ACB6DCC6-8EA5-AD4F-9654-BC669E5F3CEB}"/>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5090" y="5395829"/>
            <a:ext cx="356616" cy="356616"/>
          </a:xfrm>
          <a:prstGeom prst="rect">
            <a:avLst/>
          </a:prstGeom>
        </p:spPr>
      </p:pic>
      <p:pic>
        <p:nvPicPr>
          <p:cNvPr id="41" name="Graphic 40" descr="Lock with solid fill">
            <a:extLst>
              <a:ext uri="{FF2B5EF4-FFF2-40B4-BE49-F238E27FC236}">
                <a16:creationId xmlns:a16="http://schemas.microsoft.com/office/drawing/2014/main" id="{9B3B423B-4213-7347-95F1-BE107424B6BD}"/>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315098" y="5737023"/>
            <a:ext cx="356616" cy="356616"/>
          </a:xfrm>
          <a:prstGeom prst="rect">
            <a:avLst/>
          </a:prstGeom>
        </p:spPr>
      </p:pic>
      <p:sp>
        <p:nvSpPr>
          <p:cNvPr id="42" name="Rectangle 41">
            <a:extLst>
              <a:ext uri="{FF2B5EF4-FFF2-40B4-BE49-F238E27FC236}">
                <a16:creationId xmlns:a16="http://schemas.microsoft.com/office/drawing/2014/main" id="{74C78AD6-BA8E-884F-BC86-BDA487E2978D}"/>
              </a:ext>
            </a:extLst>
          </p:cNvPr>
          <p:cNvSpPr/>
          <p:nvPr/>
        </p:nvSpPr>
        <p:spPr>
          <a:xfrm>
            <a:off x="2584156" y="2216891"/>
            <a:ext cx="1524776"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(A, 1) </a:t>
            </a:r>
            <a:r>
              <a:rPr lang="en-US" dirty="0">
                <a:solidFill>
                  <a:srgbClr val="00B050"/>
                </a:solidFill>
              </a:rPr>
              <a:t>✓</a:t>
            </a:r>
          </a:p>
        </p:txBody>
      </p:sp>
      <p:sp>
        <p:nvSpPr>
          <p:cNvPr id="43" name="Rectangle 42">
            <a:extLst>
              <a:ext uri="{FF2B5EF4-FFF2-40B4-BE49-F238E27FC236}">
                <a16:creationId xmlns:a16="http://schemas.microsoft.com/office/drawing/2014/main" id="{0165DCC9-20E3-2E41-982E-3DC7BC6CF08D}"/>
              </a:ext>
            </a:extLst>
          </p:cNvPr>
          <p:cNvSpPr/>
          <p:nvPr/>
        </p:nvSpPr>
        <p:spPr>
          <a:xfrm>
            <a:off x="4638441" y="2603847"/>
            <a:ext cx="1524776"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(B, 7) </a:t>
            </a:r>
            <a:r>
              <a:rPr lang="en-US" dirty="0">
                <a:solidFill>
                  <a:srgbClr val="00B050"/>
                </a:solidFill>
              </a:rPr>
              <a:t>✓</a:t>
            </a:r>
          </a:p>
        </p:txBody>
      </p:sp>
      <p:sp>
        <p:nvSpPr>
          <p:cNvPr id="44" name="Rectangle 43">
            <a:extLst>
              <a:ext uri="{FF2B5EF4-FFF2-40B4-BE49-F238E27FC236}">
                <a16:creationId xmlns:a16="http://schemas.microsoft.com/office/drawing/2014/main" id="{640EEE44-1DA5-4646-AB61-1962B780D01D}"/>
              </a:ext>
            </a:extLst>
          </p:cNvPr>
          <p:cNvSpPr/>
          <p:nvPr/>
        </p:nvSpPr>
        <p:spPr>
          <a:xfrm>
            <a:off x="2565082" y="2958242"/>
            <a:ext cx="196239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(B, 7) </a:t>
            </a:r>
            <a:r>
              <a:rPr lang="en-US" dirty="0">
                <a:solidFill>
                  <a:srgbClr val="C00000"/>
                </a:solidFill>
              </a:rPr>
              <a:t>X Wait</a:t>
            </a:r>
            <a:endParaRPr lang="en-US" dirty="0">
              <a:latin typeface="Arial" panose="020B0604020202020204" pitchFamily="34" charset="0"/>
              <a:cs typeface="Arial" panose="020B0604020202020204" pitchFamily="34" charset="0"/>
            </a:endParaRPr>
          </a:p>
        </p:txBody>
      </p:sp>
      <p:sp>
        <p:nvSpPr>
          <p:cNvPr id="45" name="Rectangle 44">
            <a:extLst>
              <a:ext uri="{FF2B5EF4-FFF2-40B4-BE49-F238E27FC236}">
                <a16:creationId xmlns:a16="http://schemas.microsoft.com/office/drawing/2014/main" id="{B5EAE95C-8396-A642-ACD5-963F533AF874}"/>
              </a:ext>
            </a:extLst>
          </p:cNvPr>
          <p:cNvSpPr/>
          <p:nvPr/>
        </p:nvSpPr>
        <p:spPr>
          <a:xfrm>
            <a:off x="4616523" y="3327574"/>
            <a:ext cx="196239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lock: (A, 1) </a:t>
            </a:r>
            <a:r>
              <a:rPr lang="en-US" dirty="0">
                <a:solidFill>
                  <a:srgbClr val="C00000"/>
                </a:solidFill>
              </a:rPr>
              <a:t>X Wait</a:t>
            </a:r>
            <a:endParaRPr lang="en-US" dirty="0">
              <a:latin typeface="Arial" panose="020B0604020202020204" pitchFamily="34" charset="0"/>
              <a:cs typeface="Arial" panose="020B0604020202020204" pitchFamily="34" charset="0"/>
            </a:endParaRPr>
          </a:p>
        </p:txBody>
      </p:sp>
      <p:sp>
        <p:nvSpPr>
          <p:cNvPr id="46" name="Rectangle 45">
            <a:extLst>
              <a:ext uri="{FF2B5EF4-FFF2-40B4-BE49-F238E27FC236}">
                <a16:creationId xmlns:a16="http://schemas.microsoft.com/office/drawing/2014/main" id="{05E89596-4A7C-DE42-A6DF-C9AA53DA256F}"/>
              </a:ext>
            </a:extLst>
          </p:cNvPr>
          <p:cNvSpPr/>
          <p:nvPr/>
        </p:nvSpPr>
        <p:spPr>
          <a:xfrm>
            <a:off x="3912647" y="3690606"/>
            <a:ext cx="1122422" cy="369332"/>
          </a:xfrm>
          <a:prstGeom prst="rect">
            <a:avLst/>
          </a:prstGeom>
        </p:spPr>
        <p:txBody>
          <a:bodyPr wrap="none">
            <a:spAutoFit/>
          </a:bodyPr>
          <a:lstStyle/>
          <a:p>
            <a:pPr algn="ctr"/>
            <a:r>
              <a:rPr lang="en-US" i="1" dirty="0"/>
              <a:t>Deadlock!</a:t>
            </a:r>
          </a:p>
        </p:txBody>
      </p:sp>
    </p:spTree>
    <p:extLst>
      <p:ext uri="{BB962C8B-B14F-4D97-AF65-F5344CB8AC3E}">
        <p14:creationId xmlns:p14="http://schemas.microsoft.com/office/powerpoint/2010/main" val="740288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0"/>
                                        </p:tgtEl>
                                        <p:attrNameLst>
                                          <p:attrName>style.visibility</p:attrName>
                                        </p:attrNameLst>
                                      </p:cBhvr>
                                      <p:to>
                                        <p:strVal val="visible"/>
                                      </p:to>
                                    </p:set>
                                  </p:childTnLst>
                                </p:cTn>
                              </p:par>
                              <p:par>
                                <p:cTn id="9" presetID="1" presetClass="exit" presetSubtype="0" fill="hold" nodeType="withEffect">
                                  <p:stCondLst>
                                    <p:cond delay="0"/>
                                  </p:stCondLst>
                                  <p:childTnLst>
                                    <p:set>
                                      <p:cBhvr>
                                        <p:cTn id="10" dur="1" fill="hold">
                                          <p:stCondLst>
                                            <p:cond delay="0"/>
                                          </p:stCondLst>
                                        </p:cTn>
                                        <p:tgtEl>
                                          <p:spTgt spid="10"/>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1"/>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42" grpId="0"/>
      <p:bldP spid="43" grpId="0"/>
      <p:bldP spid="44" grpId="0"/>
      <p:bldP spid="45" grpId="0"/>
      <p:bldP spid="46"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Failure &amp; Recovery</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01A30E2-8CE0-0947-A473-551511F82A58}"/>
              </a:ext>
            </a:extLst>
          </p:cNvPr>
          <p:cNvSpPr txBox="1"/>
          <p:nvPr/>
        </p:nvSpPr>
        <p:spPr>
          <a:xfrm>
            <a:off x="8924" y="763943"/>
            <a:ext cx="9143999" cy="1200329"/>
          </a:xfrm>
          <a:prstGeom prst="rect">
            <a:avLst/>
          </a:prstGeom>
          <a:noFill/>
        </p:spPr>
        <p:txBody>
          <a:bodyPr wrap="square" rtlCol="0">
            <a:spAutoFit/>
          </a:bodyPr>
          <a:lstStyle/>
          <a:p>
            <a:pPr marL="457200" indent="-457200">
              <a:buFont typeface="Wingdings" pitchFamily="2" charset="2"/>
              <a:buChar char="Ø"/>
            </a:pPr>
            <a:r>
              <a:rPr lang="en-US" sz="2400" dirty="0">
                <a:latin typeface="Arial" panose="020B0604020202020204" pitchFamily="34" charset="0"/>
                <a:cs typeface="Arial" panose="020B0604020202020204" pitchFamily="34" charset="0"/>
              </a:rPr>
              <a:t>What if your disk fails in the middle of an order?</a:t>
            </a:r>
          </a:p>
          <a:p>
            <a:pPr marL="457200" indent="-457200">
              <a:buFont typeface="Wingdings" pitchFamily="2" charset="2"/>
              <a:buChar char="Ø"/>
            </a:pPr>
            <a:r>
              <a:rPr lang="en-US" sz="2400" dirty="0">
                <a:latin typeface="Arial" panose="020B0604020202020204" pitchFamily="34" charset="0"/>
                <a:cs typeface="Arial" panose="020B0604020202020204" pitchFamily="34" charset="0"/>
              </a:rPr>
              <a:t>What if your server software fails due to a bug?</a:t>
            </a:r>
          </a:p>
          <a:p>
            <a:pPr marL="457200" indent="-457200">
              <a:buFont typeface="Wingdings" pitchFamily="2" charset="2"/>
              <a:buChar char="Ø"/>
            </a:pPr>
            <a:r>
              <a:rPr lang="en-US" sz="2400" dirty="0">
                <a:latin typeface="Arial" panose="020B0604020202020204" pitchFamily="34" charset="0"/>
                <a:cs typeface="Arial" panose="020B0604020202020204" pitchFamily="34" charset="0"/>
              </a:rPr>
              <a:t>What if there is a power outage in the machine storing files?</a:t>
            </a:r>
          </a:p>
        </p:txBody>
      </p:sp>
      <p:pic>
        <p:nvPicPr>
          <p:cNvPr id="14" name="Graphic 13" descr="Female Profile with solid fill">
            <a:extLst>
              <a:ext uri="{FF2B5EF4-FFF2-40B4-BE49-F238E27FC236}">
                <a16:creationId xmlns:a16="http://schemas.microsoft.com/office/drawing/2014/main" id="{EC17DF51-EEE8-BF4A-8FBF-7B6B06F3DF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98408" y="2278611"/>
            <a:ext cx="731520" cy="731520"/>
          </a:xfrm>
          <a:prstGeom prst="rect">
            <a:avLst/>
          </a:prstGeom>
        </p:spPr>
      </p:pic>
      <p:sp>
        <p:nvSpPr>
          <p:cNvPr id="16" name="Can 15">
            <a:extLst>
              <a:ext uri="{FF2B5EF4-FFF2-40B4-BE49-F238E27FC236}">
                <a16:creationId xmlns:a16="http://schemas.microsoft.com/office/drawing/2014/main" id="{C0533F7B-5703-B14E-BD26-A75EFB281C3B}"/>
              </a:ext>
            </a:extLst>
          </p:cNvPr>
          <p:cNvSpPr/>
          <p:nvPr/>
        </p:nvSpPr>
        <p:spPr>
          <a:xfrm>
            <a:off x="237977" y="4848124"/>
            <a:ext cx="3652382" cy="1809318"/>
          </a:xfrm>
          <a:prstGeom prst="can">
            <a:avLst>
              <a:gd name="adj" fmla="val 9274"/>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9" name="Graphic 18" descr="Server outline">
            <a:extLst>
              <a:ext uri="{FF2B5EF4-FFF2-40B4-BE49-F238E27FC236}">
                <a16:creationId xmlns:a16="http://schemas.microsoft.com/office/drawing/2014/main" id="{1BBB9F55-3EF1-B142-B1C2-2709E06C1E9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67571" y="3196562"/>
            <a:ext cx="793194" cy="574286"/>
          </a:xfrm>
          <a:prstGeom prst="rect">
            <a:avLst/>
          </a:prstGeom>
        </p:spPr>
      </p:pic>
      <p:pic>
        <p:nvPicPr>
          <p:cNvPr id="20" name="Graphic 19" descr="Lightning bolt with solid fill">
            <a:extLst>
              <a:ext uri="{FF2B5EF4-FFF2-40B4-BE49-F238E27FC236}">
                <a16:creationId xmlns:a16="http://schemas.microsoft.com/office/drawing/2014/main" id="{5393E9B5-D4EF-4C4D-B321-6228034891F5}"/>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619175" y="3040711"/>
            <a:ext cx="914400" cy="914400"/>
          </a:xfrm>
          <a:prstGeom prst="rect">
            <a:avLst/>
          </a:prstGeom>
        </p:spPr>
      </p:pic>
      <p:graphicFrame>
        <p:nvGraphicFramePr>
          <p:cNvPr id="21" name="Table 21">
            <a:extLst>
              <a:ext uri="{FF2B5EF4-FFF2-40B4-BE49-F238E27FC236}">
                <a16:creationId xmlns:a16="http://schemas.microsoft.com/office/drawing/2014/main" id="{D80D31DE-EC0A-844B-BBC3-7393BBFACF1C}"/>
              </a:ext>
            </a:extLst>
          </p:cNvPr>
          <p:cNvGraphicFramePr>
            <a:graphicFrameLocks noGrp="1"/>
          </p:cNvGraphicFramePr>
          <p:nvPr/>
        </p:nvGraphicFramePr>
        <p:xfrm>
          <a:off x="955394" y="5103939"/>
          <a:ext cx="2217548" cy="1402080"/>
        </p:xfrm>
        <a:graphic>
          <a:graphicData uri="http://schemas.openxmlformats.org/drawingml/2006/table">
            <a:tbl>
              <a:tblPr firstRow="1" bandRow="1">
                <a:tableStyleId>{2D5ABB26-0587-4C30-8999-92F81FD0307C}</a:tableStyleId>
              </a:tblPr>
              <a:tblGrid>
                <a:gridCol w="919163">
                  <a:extLst>
                    <a:ext uri="{9D8B030D-6E8A-4147-A177-3AD203B41FA5}">
                      <a16:colId xmlns:a16="http://schemas.microsoft.com/office/drawing/2014/main" val="1727528194"/>
                    </a:ext>
                  </a:extLst>
                </a:gridCol>
                <a:gridCol w="1298385">
                  <a:extLst>
                    <a:ext uri="{9D8B030D-6E8A-4147-A177-3AD203B41FA5}">
                      <a16:colId xmlns:a16="http://schemas.microsoft.com/office/drawing/2014/main" val="3729982082"/>
                    </a:ext>
                  </a:extLst>
                </a:gridCol>
              </a:tblGrid>
              <a:tr h="289018">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289018">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289018">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289018">
                <a:tc>
                  <a:txBody>
                    <a:bodyPr/>
                    <a:lstStyle/>
                    <a:p>
                      <a:pPr algn="ctr"/>
                      <a:r>
                        <a:rPr lang="en-US" sz="1700" dirty="0" err="1"/>
                        <a:t>BookB</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pic>
        <p:nvPicPr>
          <p:cNvPr id="12" name="Graphic 11" descr="Lightning bolt with solid fill">
            <a:extLst>
              <a:ext uri="{FF2B5EF4-FFF2-40B4-BE49-F238E27FC236}">
                <a16:creationId xmlns:a16="http://schemas.microsoft.com/office/drawing/2014/main" id="{B1F35540-399B-AE47-8BD3-A8E70676CB12}"/>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9486" y="5475100"/>
            <a:ext cx="914400" cy="914400"/>
          </a:xfrm>
          <a:prstGeom prst="rect">
            <a:avLst/>
          </a:prstGeom>
        </p:spPr>
      </p:pic>
    </p:spTree>
    <p:extLst>
      <p:ext uri="{BB962C8B-B14F-4D97-AF65-F5344CB8AC3E}">
        <p14:creationId xmlns:p14="http://schemas.microsoft.com/office/powerpoint/2010/main" val="2839196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Failure &amp; Recovery</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01A30E2-8CE0-0947-A473-551511F82A58}"/>
              </a:ext>
            </a:extLst>
          </p:cNvPr>
          <p:cNvSpPr txBox="1"/>
          <p:nvPr/>
        </p:nvSpPr>
        <p:spPr>
          <a:xfrm>
            <a:off x="8924" y="763943"/>
            <a:ext cx="9143999" cy="1569660"/>
          </a:xfrm>
          <a:prstGeom prst="rect">
            <a:avLst/>
          </a:prstGeom>
          <a:noFill/>
        </p:spPr>
        <p:txBody>
          <a:bodyPr wrap="square" rtlCol="0">
            <a:spAutoFit/>
          </a:bodyPr>
          <a:lstStyle/>
          <a:p>
            <a:pPr marL="457200" indent="-457200">
              <a:buFont typeface="Wingdings" pitchFamily="2" charset="2"/>
              <a:buChar char="Ø"/>
            </a:pPr>
            <a:r>
              <a:rPr lang="en-US" sz="2400" dirty="0">
                <a:latin typeface="Arial" panose="020B0604020202020204" pitchFamily="34" charset="0"/>
                <a:cs typeface="Arial" panose="020B0604020202020204" pitchFamily="34" charset="0"/>
              </a:rPr>
              <a:t>What if your disk fails in the middle of an order?</a:t>
            </a:r>
          </a:p>
          <a:p>
            <a:pPr marL="457200" indent="-457200">
              <a:buFont typeface="Wingdings" pitchFamily="2" charset="2"/>
              <a:buChar char="Ø"/>
            </a:pPr>
            <a:r>
              <a:rPr lang="en-US" sz="2400" dirty="0">
                <a:latin typeface="Arial" panose="020B0604020202020204" pitchFamily="34" charset="0"/>
                <a:cs typeface="Arial" panose="020B0604020202020204" pitchFamily="34" charset="0"/>
              </a:rPr>
              <a:t>What if your server software fails due to a bug?</a:t>
            </a:r>
          </a:p>
          <a:p>
            <a:pPr marL="457200" indent="-457200">
              <a:buFont typeface="Wingdings" pitchFamily="2" charset="2"/>
              <a:buChar char="Ø"/>
            </a:pPr>
            <a:r>
              <a:rPr lang="en-US" sz="2400" dirty="0">
                <a:latin typeface="Arial" panose="020B0604020202020204" pitchFamily="34" charset="0"/>
                <a:cs typeface="Arial" panose="020B0604020202020204" pitchFamily="34" charset="0"/>
              </a:rPr>
              <a:t>What if there is a power outage in the machine storing files?</a:t>
            </a:r>
          </a:p>
          <a:p>
            <a:pPr marL="457200" indent="-457200">
              <a:buFont typeface="Wingdings" pitchFamily="2" charset="2"/>
              <a:buChar char="Ø"/>
            </a:pPr>
            <a:r>
              <a:rPr lang="en-US" sz="2400" dirty="0">
                <a:latin typeface="Arial" panose="020B0604020202020204" pitchFamily="34" charset="0"/>
                <a:cs typeface="Arial" panose="020B0604020202020204" pitchFamily="34" charset="0"/>
              </a:rPr>
              <a:t>Suppose Alice orders both BookA and </a:t>
            </a:r>
            <a:r>
              <a:rPr lang="en-US" sz="2400" dirty="0" err="1">
                <a:latin typeface="Arial" panose="020B0604020202020204" pitchFamily="34" charset="0"/>
                <a:cs typeface="Arial" panose="020B0604020202020204" pitchFamily="34" charset="0"/>
              </a:rPr>
              <a:t>BookB</a:t>
            </a:r>
            <a:endParaRPr lang="en-US" sz="2400" dirty="0">
              <a:latin typeface="Arial" panose="020B0604020202020204" pitchFamily="34" charset="0"/>
              <a:cs typeface="Arial" panose="020B0604020202020204" pitchFamily="34" charset="0"/>
            </a:endParaRPr>
          </a:p>
        </p:txBody>
      </p:sp>
      <p:pic>
        <p:nvPicPr>
          <p:cNvPr id="14" name="Graphic 13" descr="Female Profile with solid fill">
            <a:extLst>
              <a:ext uri="{FF2B5EF4-FFF2-40B4-BE49-F238E27FC236}">
                <a16:creationId xmlns:a16="http://schemas.microsoft.com/office/drawing/2014/main" id="{EC17DF51-EEE8-BF4A-8FBF-7B6B06F3DFF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98408" y="2278611"/>
            <a:ext cx="731520" cy="731520"/>
          </a:xfrm>
          <a:prstGeom prst="rect">
            <a:avLst/>
          </a:prstGeom>
        </p:spPr>
      </p:pic>
      <p:sp>
        <p:nvSpPr>
          <p:cNvPr id="16" name="Can 15">
            <a:extLst>
              <a:ext uri="{FF2B5EF4-FFF2-40B4-BE49-F238E27FC236}">
                <a16:creationId xmlns:a16="http://schemas.microsoft.com/office/drawing/2014/main" id="{C0533F7B-5703-B14E-BD26-A75EFB281C3B}"/>
              </a:ext>
            </a:extLst>
          </p:cNvPr>
          <p:cNvSpPr/>
          <p:nvPr/>
        </p:nvSpPr>
        <p:spPr>
          <a:xfrm>
            <a:off x="237977" y="4848124"/>
            <a:ext cx="3652382" cy="1809318"/>
          </a:xfrm>
          <a:prstGeom prst="can">
            <a:avLst>
              <a:gd name="adj" fmla="val 9274"/>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3F7F7D1A-38AA-044A-9E4D-4A3A3F2D550C}"/>
              </a:ext>
            </a:extLst>
          </p:cNvPr>
          <p:cNvSpPr/>
          <p:nvPr/>
        </p:nvSpPr>
        <p:spPr>
          <a:xfrm>
            <a:off x="1507291" y="3772613"/>
            <a:ext cx="979755"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w (A, 0)</a:t>
            </a:r>
          </a:p>
        </p:txBody>
      </p:sp>
      <p:pic>
        <p:nvPicPr>
          <p:cNvPr id="19" name="Graphic 18" descr="Server outline">
            <a:extLst>
              <a:ext uri="{FF2B5EF4-FFF2-40B4-BE49-F238E27FC236}">
                <a16:creationId xmlns:a16="http://schemas.microsoft.com/office/drawing/2014/main" id="{1BBB9F55-3EF1-B142-B1C2-2709E06C1E9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67571" y="3196562"/>
            <a:ext cx="793194" cy="574286"/>
          </a:xfrm>
          <a:prstGeom prst="rect">
            <a:avLst/>
          </a:prstGeom>
        </p:spPr>
      </p:pic>
      <p:graphicFrame>
        <p:nvGraphicFramePr>
          <p:cNvPr id="21" name="Table 21">
            <a:extLst>
              <a:ext uri="{FF2B5EF4-FFF2-40B4-BE49-F238E27FC236}">
                <a16:creationId xmlns:a16="http://schemas.microsoft.com/office/drawing/2014/main" id="{D80D31DE-EC0A-844B-BBC3-7393BBFACF1C}"/>
              </a:ext>
            </a:extLst>
          </p:cNvPr>
          <p:cNvGraphicFramePr>
            <a:graphicFrameLocks noGrp="1"/>
          </p:cNvGraphicFramePr>
          <p:nvPr>
            <p:extLst>
              <p:ext uri="{D42A27DB-BD31-4B8C-83A1-F6EECF244321}">
                <p14:modId xmlns:p14="http://schemas.microsoft.com/office/powerpoint/2010/main" val="4267958352"/>
              </p:ext>
            </p:extLst>
          </p:nvPr>
        </p:nvGraphicFramePr>
        <p:xfrm>
          <a:off x="955394" y="5103939"/>
          <a:ext cx="2217548" cy="1402080"/>
        </p:xfrm>
        <a:graphic>
          <a:graphicData uri="http://schemas.openxmlformats.org/drawingml/2006/table">
            <a:tbl>
              <a:tblPr firstRow="1" bandRow="1">
                <a:tableStyleId>{2D5ABB26-0587-4C30-8999-92F81FD0307C}</a:tableStyleId>
              </a:tblPr>
              <a:tblGrid>
                <a:gridCol w="919163">
                  <a:extLst>
                    <a:ext uri="{9D8B030D-6E8A-4147-A177-3AD203B41FA5}">
                      <a16:colId xmlns:a16="http://schemas.microsoft.com/office/drawing/2014/main" val="1727528194"/>
                    </a:ext>
                  </a:extLst>
                </a:gridCol>
                <a:gridCol w="1298385">
                  <a:extLst>
                    <a:ext uri="{9D8B030D-6E8A-4147-A177-3AD203B41FA5}">
                      <a16:colId xmlns:a16="http://schemas.microsoft.com/office/drawing/2014/main" val="3729982082"/>
                    </a:ext>
                  </a:extLst>
                </a:gridCol>
              </a:tblGrid>
              <a:tr h="289018">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289018">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289018">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289018">
                <a:tc>
                  <a:txBody>
                    <a:bodyPr/>
                    <a:lstStyle/>
                    <a:p>
                      <a:pPr algn="ctr"/>
                      <a:r>
                        <a:rPr lang="en-US" sz="1700" dirty="0" err="1"/>
                        <a:t>BookB</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spTree>
    <p:extLst>
      <p:ext uri="{BB962C8B-B14F-4D97-AF65-F5344CB8AC3E}">
        <p14:creationId xmlns:p14="http://schemas.microsoft.com/office/powerpoint/2010/main" val="3946741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26755"/>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Failure &amp; Recovery</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01A30E2-8CE0-0947-A473-551511F82A58}"/>
              </a:ext>
            </a:extLst>
          </p:cNvPr>
          <p:cNvSpPr txBox="1"/>
          <p:nvPr/>
        </p:nvSpPr>
        <p:spPr>
          <a:xfrm>
            <a:off x="8924" y="763943"/>
            <a:ext cx="9143999" cy="1569660"/>
          </a:xfrm>
          <a:prstGeom prst="rect">
            <a:avLst/>
          </a:prstGeom>
          <a:noFill/>
        </p:spPr>
        <p:txBody>
          <a:bodyPr wrap="square" rtlCol="0">
            <a:spAutoFit/>
          </a:bodyPr>
          <a:lstStyle/>
          <a:p>
            <a:pPr marL="457200" indent="-457200">
              <a:buFont typeface="Wingdings" pitchFamily="2" charset="2"/>
              <a:buChar char="Ø"/>
            </a:pPr>
            <a:r>
              <a:rPr lang="en-US" sz="2400" dirty="0">
                <a:latin typeface="Arial" panose="020B0604020202020204" pitchFamily="34" charset="0"/>
                <a:cs typeface="Arial" panose="020B0604020202020204" pitchFamily="34" charset="0"/>
              </a:rPr>
              <a:t>What if your disk fails in the middle of an order?</a:t>
            </a:r>
          </a:p>
          <a:p>
            <a:pPr marL="457200" indent="-457200">
              <a:buFont typeface="Wingdings" pitchFamily="2" charset="2"/>
              <a:buChar char="Ø"/>
            </a:pPr>
            <a:r>
              <a:rPr lang="en-US" sz="2400" dirty="0">
                <a:latin typeface="Arial" panose="020B0604020202020204" pitchFamily="34" charset="0"/>
                <a:cs typeface="Arial" panose="020B0604020202020204" pitchFamily="34" charset="0"/>
              </a:rPr>
              <a:t>What if your server software fails due to a bug?</a:t>
            </a:r>
          </a:p>
          <a:p>
            <a:pPr marL="457200" indent="-457200">
              <a:buFont typeface="Wingdings" pitchFamily="2" charset="2"/>
              <a:buChar char="Ø"/>
            </a:pPr>
            <a:r>
              <a:rPr lang="en-US" sz="2400" dirty="0">
                <a:latin typeface="Arial" panose="020B0604020202020204" pitchFamily="34" charset="0"/>
                <a:cs typeface="Arial" panose="020B0604020202020204" pitchFamily="34" charset="0"/>
              </a:rPr>
              <a:t>What if there is a power outage in the machine storing files?</a:t>
            </a:r>
          </a:p>
          <a:p>
            <a:pPr marL="457200" indent="-457200">
              <a:buFont typeface="Wingdings" pitchFamily="2" charset="2"/>
              <a:buChar char="Ø"/>
            </a:pPr>
            <a:r>
              <a:rPr lang="en-US" sz="2400" dirty="0">
                <a:latin typeface="Arial" panose="020B0604020202020204" pitchFamily="34" charset="0"/>
                <a:cs typeface="Arial" panose="020B0604020202020204" pitchFamily="34" charset="0"/>
              </a:rPr>
              <a:t>Suppose Alice orders both BookA and </a:t>
            </a:r>
            <a:r>
              <a:rPr lang="en-US" sz="2400" dirty="0" err="1">
                <a:latin typeface="Arial" panose="020B0604020202020204" pitchFamily="34" charset="0"/>
                <a:cs typeface="Arial" panose="020B0604020202020204" pitchFamily="34" charset="0"/>
              </a:rPr>
              <a:t>BookB</a:t>
            </a:r>
            <a:endParaRPr lang="en-US" sz="2400" dirty="0">
              <a:latin typeface="Arial" panose="020B0604020202020204" pitchFamily="34" charset="0"/>
              <a:cs typeface="Arial" panose="020B0604020202020204" pitchFamily="34" charset="0"/>
            </a:endParaRPr>
          </a:p>
        </p:txBody>
      </p:sp>
      <p:pic>
        <p:nvPicPr>
          <p:cNvPr id="7" name="Graphic 6" descr="Female Profile with solid fill">
            <a:extLst>
              <a:ext uri="{FF2B5EF4-FFF2-40B4-BE49-F238E27FC236}">
                <a16:creationId xmlns:a16="http://schemas.microsoft.com/office/drawing/2014/main" id="{22F3ED2C-6FF9-F649-B13F-7BEBBD1DC48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698408" y="2278611"/>
            <a:ext cx="731520" cy="731520"/>
          </a:xfrm>
          <a:prstGeom prst="rect">
            <a:avLst/>
          </a:prstGeom>
        </p:spPr>
      </p:pic>
      <p:sp>
        <p:nvSpPr>
          <p:cNvPr id="15" name="Can 14">
            <a:extLst>
              <a:ext uri="{FF2B5EF4-FFF2-40B4-BE49-F238E27FC236}">
                <a16:creationId xmlns:a16="http://schemas.microsoft.com/office/drawing/2014/main" id="{54DAD28F-940A-9948-9680-A5089857E76D}"/>
              </a:ext>
            </a:extLst>
          </p:cNvPr>
          <p:cNvSpPr/>
          <p:nvPr/>
        </p:nvSpPr>
        <p:spPr>
          <a:xfrm>
            <a:off x="237977" y="4848124"/>
            <a:ext cx="3652382" cy="1809318"/>
          </a:xfrm>
          <a:prstGeom prst="can">
            <a:avLst>
              <a:gd name="adj" fmla="val 9274"/>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31" name="Graphic 30" descr="Server outline">
            <a:extLst>
              <a:ext uri="{FF2B5EF4-FFF2-40B4-BE49-F238E27FC236}">
                <a16:creationId xmlns:a16="http://schemas.microsoft.com/office/drawing/2014/main" id="{349E109E-C592-7B41-972B-22DFFB43EBC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667571" y="3196562"/>
            <a:ext cx="793194" cy="574286"/>
          </a:xfrm>
          <a:prstGeom prst="rect">
            <a:avLst/>
          </a:prstGeom>
        </p:spPr>
      </p:pic>
      <p:pic>
        <p:nvPicPr>
          <p:cNvPr id="32" name="Graphic 31" descr="Lightning bolt with solid fill">
            <a:extLst>
              <a:ext uri="{FF2B5EF4-FFF2-40B4-BE49-F238E27FC236}">
                <a16:creationId xmlns:a16="http://schemas.microsoft.com/office/drawing/2014/main" id="{F8B31F9C-8031-9C41-B702-A793E3EE541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43993" y="5416645"/>
            <a:ext cx="914400" cy="914400"/>
          </a:xfrm>
          <a:prstGeom prst="rect">
            <a:avLst/>
          </a:prstGeom>
        </p:spPr>
      </p:pic>
      <p:graphicFrame>
        <p:nvGraphicFramePr>
          <p:cNvPr id="34" name="Table 21">
            <a:extLst>
              <a:ext uri="{FF2B5EF4-FFF2-40B4-BE49-F238E27FC236}">
                <a16:creationId xmlns:a16="http://schemas.microsoft.com/office/drawing/2014/main" id="{83C00AF3-70F9-534B-9C56-14095051898A}"/>
              </a:ext>
            </a:extLst>
          </p:cNvPr>
          <p:cNvGraphicFramePr>
            <a:graphicFrameLocks noGrp="1"/>
          </p:cNvGraphicFramePr>
          <p:nvPr>
            <p:extLst>
              <p:ext uri="{D42A27DB-BD31-4B8C-83A1-F6EECF244321}">
                <p14:modId xmlns:p14="http://schemas.microsoft.com/office/powerpoint/2010/main" val="4234305058"/>
              </p:ext>
            </p:extLst>
          </p:nvPr>
        </p:nvGraphicFramePr>
        <p:xfrm>
          <a:off x="955394" y="5103939"/>
          <a:ext cx="2217548" cy="1402080"/>
        </p:xfrm>
        <a:graphic>
          <a:graphicData uri="http://schemas.openxmlformats.org/drawingml/2006/table">
            <a:tbl>
              <a:tblPr firstRow="1" bandRow="1">
                <a:tableStyleId>{2D5ABB26-0587-4C30-8999-92F81FD0307C}</a:tableStyleId>
              </a:tblPr>
              <a:tblGrid>
                <a:gridCol w="919163">
                  <a:extLst>
                    <a:ext uri="{9D8B030D-6E8A-4147-A177-3AD203B41FA5}">
                      <a16:colId xmlns:a16="http://schemas.microsoft.com/office/drawing/2014/main" val="1727528194"/>
                    </a:ext>
                  </a:extLst>
                </a:gridCol>
                <a:gridCol w="1298385">
                  <a:extLst>
                    <a:ext uri="{9D8B030D-6E8A-4147-A177-3AD203B41FA5}">
                      <a16:colId xmlns:a16="http://schemas.microsoft.com/office/drawing/2014/main" val="3729982082"/>
                    </a:ext>
                  </a:extLst>
                </a:gridCol>
              </a:tblGrid>
              <a:tr h="289018">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289018">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289018">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289018">
                <a:tc>
                  <a:txBody>
                    <a:bodyPr/>
                    <a:lstStyle/>
                    <a:p>
                      <a:pPr algn="ctr"/>
                      <a:r>
                        <a:rPr lang="en-US" sz="1700" dirty="0" err="1"/>
                        <a:t>BookB</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graphicFrame>
        <p:nvGraphicFramePr>
          <p:cNvPr id="16" name="Table 21">
            <a:extLst>
              <a:ext uri="{FF2B5EF4-FFF2-40B4-BE49-F238E27FC236}">
                <a16:creationId xmlns:a16="http://schemas.microsoft.com/office/drawing/2014/main" id="{2EC35A84-EF53-B949-80BC-19FAA6B0BDAA}"/>
              </a:ext>
            </a:extLst>
          </p:cNvPr>
          <p:cNvGraphicFramePr>
            <a:graphicFrameLocks noGrp="1"/>
          </p:cNvGraphicFramePr>
          <p:nvPr>
            <p:extLst>
              <p:ext uri="{D42A27DB-BD31-4B8C-83A1-F6EECF244321}">
                <p14:modId xmlns:p14="http://schemas.microsoft.com/office/powerpoint/2010/main" val="2010588510"/>
              </p:ext>
            </p:extLst>
          </p:nvPr>
        </p:nvGraphicFramePr>
        <p:xfrm>
          <a:off x="4077756" y="5108764"/>
          <a:ext cx="2217548" cy="1402080"/>
        </p:xfrm>
        <a:graphic>
          <a:graphicData uri="http://schemas.openxmlformats.org/drawingml/2006/table">
            <a:tbl>
              <a:tblPr firstRow="1" bandRow="1">
                <a:tableStyleId>{2D5ABB26-0587-4C30-8999-92F81FD0307C}</a:tableStyleId>
              </a:tblPr>
              <a:tblGrid>
                <a:gridCol w="919163">
                  <a:extLst>
                    <a:ext uri="{9D8B030D-6E8A-4147-A177-3AD203B41FA5}">
                      <a16:colId xmlns:a16="http://schemas.microsoft.com/office/drawing/2014/main" val="1727528194"/>
                    </a:ext>
                  </a:extLst>
                </a:gridCol>
                <a:gridCol w="1298385">
                  <a:extLst>
                    <a:ext uri="{9D8B030D-6E8A-4147-A177-3AD203B41FA5}">
                      <a16:colId xmlns:a16="http://schemas.microsoft.com/office/drawing/2014/main" val="3729982082"/>
                    </a:ext>
                  </a:extLst>
                </a:gridCol>
              </a:tblGrid>
              <a:tr h="289018">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289018">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289018">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289018">
                <a:tc>
                  <a:txBody>
                    <a:bodyPr/>
                    <a:lstStyle/>
                    <a:p>
                      <a:pPr algn="ctr"/>
                      <a:r>
                        <a:rPr lang="en-US" sz="1700" dirty="0" err="1"/>
                        <a:t>BookB</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sp>
        <p:nvSpPr>
          <p:cNvPr id="2" name="Rectangle 1">
            <a:extLst>
              <a:ext uri="{FF2B5EF4-FFF2-40B4-BE49-F238E27FC236}">
                <a16:creationId xmlns:a16="http://schemas.microsoft.com/office/drawing/2014/main" id="{29D5A2BA-2B89-7341-89D2-AC1CFBA13936}"/>
              </a:ext>
            </a:extLst>
          </p:cNvPr>
          <p:cNvSpPr/>
          <p:nvPr/>
        </p:nvSpPr>
        <p:spPr>
          <a:xfrm>
            <a:off x="4901836" y="4505396"/>
            <a:ext cx="569387" cy="707886"/>
          </a:xfrm>
          <a:prstGeom prst="rect">
            <a:avLst/>
          </a:prstGeom>
        </p:spPr>
        <p:txBody>
          <a:bodyPr wrap="none">
            <a:spAutoFit/>
          </a:bodyPr>
          <a:lstStyle/>
          <a:p>
            <a:r>
              <a:rPr lang="en-US" sz="4000" b="1" dirty="0">
                <a:solidFill>
                  <a:srgbClr val="00B050"/>
                </a:solidFill>
                <a:latin typeface="Arial" panose="020B0604020202020204" pitchFamily="34" charset="0"/>
                <a:cs typeface="Arial" panose="020B0604020202020204" pitchFamily="34" charset="0"/>
              </a:rPr>
              <a:t>✓</a:t>
            </a:r>
            <a:endParaRPr lang="en-US" sz="4000" b="1"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911E52B0-E87B-C249-923A-D01C2F82B95F}"/>
              </a:ext>
            </a:extLst>
          </p:cNvPr>
          <p:cNvSpPr/>
          <p:nvPr/>
        </p:nvSpPr>
        <p:spPr>
          <a:xfrm>
            <a:off x="3176591" y="5519902"/>
            <a:ext cx="526106" cy="707886"/>
          </a:xfrm>
          <a:prstGeom prst="rect">
            <a:avLst/>
          </a:prstGeom>
        </p:spPr>
        <p:txBody>
          <a:bodyPr wrap="none">
            <a:spAutoFit/>
          </a:bodyPr>
          <a:lstStyle/>
          <a:p>
            <a:r>
              <a:rPr lang="en-US" sz="4000" dirty="0">
                <a:solidFill>
                  <a:srgbClr val="C00000"/>
                </a:solidFill>
                <a:latin typeface="Arial" panose="020B0604020202020204" pitchFamily="34" charset="0"/>
                <a:cs typeface="Arial" panose="020B0604020202020204" pitchFamily="34" charset="0"/>
              </a:rPr>
              <a:t>X</a:t>
            </a:r>
            <a:endParaRPr lang="en-US" sz="4000" dirty="0">
              <a:latin typeface="Arial" panose="020B0604020202020204" pitchFamily="34" charset="0"/>
              <a:cs typeface="Arial" panose="020B0604020202020204" pitchFamily="34" charset="0"/>
            </a:endParaRPr>
          </a:p>
        </p:txBody>
      </p:sp>
      <p:sp>
        <p:nvSpPr>
          <p:cNvPr id="21" name="TextBox 20">
            <a:extLst>
              <a:ext uri="{FF2B5EF4-FFF2-40B4-BE49-F238E27FC236}">
                <a16:creationId xmlns:a16="http://schemas.microsoft.com/office/drawing/2014/main" id="{B60F86EA-35F6-0A47-B3DF-60527C9EA1E6}"/>
              </a:ext>
            </a:extLst>
          </p:cNvPr>
          <p:cNvSpPr txBox="1"/>
          <p:nvPr/>
        </p:nvSpPr>
        <p:spPr>
          <a:xfrm>
            <a:off x="2554046" y="2337748"/>
            <a:ext cx="6526336" cy="1154162"/>
          </a:xfrm>
          <a:prstGeom prst="rect">
            <a:avLst/>
          </a:prstGeom>
          <a:noFill/>
        </p:spPr>
        <p:txBody>
          <a:bodyPr wrap="square" rtlCol="0">
            <a:spAutoFit/>
          </a:bodyPr>
          <a:lstStyle/>
          <a:p>
            <a:r>
              <a:rPr lang="en-US" sz="2300" i="1" dirty="0">
                <a:latin typeface="Arial" panose="020B0604020202020204" pitchFamily="34" charset="0"/>
                <a:cs typeface="Arial" panose="020B0604020202020204" pitchFamily="34" charset="0"/>
              </a:rPr>
              <a:t>Before (B, 6) is written failure! </a:t>
            </a:r>
          </a:p>
          <a:p>
            <a:r>
              <a:rPr lang="en-US" sz="2300" i="1" dirty="0">
                <a:latin typeface="Arial" panose="020B0604020202020204" pitchFamily="34" charset="0"/>
                <a:cs typeface="Arial" panose="020B0604020202020204" pitchFamily="34" charset="0"/>
              </a:rPr>
              <a:t>Inconsistent data state!</a:t>
            </a:r>
          </a:p>
          <a:p>
            <a:r>
              <a:rPr lang="en-US" sz="2300" i="1" dirty="0">
                <a:solidFill>
                  <a:srgbClr val="C00000"/>
                </a:solidFill>
                <a:latin typeface="Arial" panose="020B0604020202020204" pitchFamily="34" charset="0"/>
                <a:cs typeface="Arial" panose="020B0604020202020204" pitchFamily="34" charset="0"/>
              </a:rPr>
              <a:t>PR: How to recover from inconsistent state?</a:t>
            </a:r>
          </a:p>
        </p:txBody>
      </p:sp>
      <p:sp>
        <p:nvSpPr>
          <p:cNvPr id="20" name="Rectangle 19">
            <a:extLst>
              <a:ext uri="{FF2B5EF4-FFF2-40B4-BE49-F238E27FC236}">
                <a16:creationId xmlns:a16="http://schemas.microsoft.com/office/drawing/2014/main" id="{47C4062F-1CC4-0945-88F5-C3825A9C5C53}"/>
              </a:ext>
            </a:extLst>
          </p:cNvPr>
          <p:cNvSpPr/>
          <p:nvPr/>
        </p:nvSpPr>
        <p:spPr>
          <a:xfrm>
            <a:off x="1507291" y="3772613"/>
            <a:ext cx="979755"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w (A, 0)</a:t>
            </a:r>
          </a:p>
        </p:txBody>
      </p:sp>
    </p:spTree>
    <p:extLst>
      <p:ext uri="{BB962C8B-B14F-4D97-AF65-F5344CB8AC3E}">
        <p14:creationId xmlns:p14="http://schemas.microsoft.com/office/powerpoint/2010/main" val="3499602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1">
                                            <p:txEl>
                                              <p:pRg st="1" end="1"/>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Contributions of DBMSs To Computing</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01A30E2-8CE0-0947-A473-551511F82A58}"/>
              </a:ext>
            </a:extLst>
          </p:cNvPr>
          <p:cNvSpPr txBox="1"/>
          <p:nvPr/>
        </p:nvSpPr>
        <p:spPr>
          <a:xfrm>
            <a:off x="8924" y="621068"/>
            <a:ext cx="9143999" cy="1131848"/>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DBMSs provide solutions to all of the problems we identified!</a:t>
            </a:r>
          </a:p>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Allows app developers to focus on the application logic.</a:t>
            </a:r>
          </a:p>
        </p:txBody>
      </p:sp>
      <p:graphicFrame>
        <p:nvGraphicFramePr>
          <p:cNvPr id="3" name="Table 6">
            <a:extLst>
              <a:ext uri="{FF2B5EF4-FFF2-40B4-BE49-F238E27FC236}">
                <a16:creationId xmlns:a16="http://schemas.microsoft.com/office/drawing/2014/main" id="{F7A3D0A0-4B1A-D94D-9C8B-A0FCD6DAB227}"/>
              </a:ext>
            </a:extLst>
          </p:cNvPr>
          <p:cNvGraphicFramePr>
            <a:graphicFrameLocks noGrp="1"/>
          </p:cNvGraphicFramePr>
          <p:nvPr>
            <p:extLst>
              <p:ext uri="{D42A27DB-BD31-4B8C-83A1-F6EECF244321}">
                <p14:modId xmlns:p14="http://schemas.microsoft.com/office/powerpoint/2010/main" val="300450202"/>
              </p:ext>
            </p:extLst>
          </p:nvPr>
        </p:nvGraphicFramePr>
        <p:xfrm>
          <a:off x="159454" y="1841131"/>
          <a:ext cx="8842937" cy="3581400"/>
        </p:xfrm>
        <a:graphic>
          <a:graphicData uri="http://schemas.openxmlformats.org/drawingml/2006/table">
            <a:tbl>
              <a:tblPr firstRow="1" bandRow="1">
                <a:tableStyleId>{7E9639D4-E3E2-4D34-9284-5A2195B3D0D7}</a:tableStyleId>
              </a:tblPr>
              <a:tblGrid>
                <a:gridCol w="408305">
                  <a:extLst>
                    <a:ext uri="{9D8B030D-6E8A-4147-A177-3AD203B41FA5}">
                      <a16:colId xmlns:a16="http://schemas.microsoft.com/office/drawing/2014/main" val="190955725"/>
                    </a:ext>
                  </a:extLst>
                </a:gridCol>
                <a:gridCol w="2838768">
                  <a:extLst>
                    <a:ext uri="{9D8B030D-6E8A-4147-A177-3AD203B41FA5}">
                      <a16:colId xmlns:a16="http://schemas.microsoft.com/office/drawing/2014/main" val="1332507604"/>
                    </a:ext>
                  </a:extLst>
                </a:gridCol>
                <a:gridCol w="5595864">
                  <a:extLst>
                    <a:ext uri="{9D8B030D-6E8A-4147-A177-3AD203B41FA5}">
                      <a16:colId xmlns:a16="http://schemas.microsoft.com/office/drawing/2014/main" val="1954961198"/>
                    </a:ext>
                  </a:extLst>
                </a:gridCol>
              </a:tblGrid>
              <a:tr h="370840">
                <a:tc>
                  <a:txBody>
                    <a:bodyPr/>
                    <a:lstStyle/>
                    <a:p>
                      <a:endParaRPr lang="en-US" dirty="0">
                        <a:latin typeface="Arial" panose="020B0604020202020204" pitchFamily="34" charset="0"/>
                        <a:cs typeface="Arial" panose="020B0604020202020204" pitchFamily="34" charset="0"/>
                      </a:endParaRPr>
                    </a:p>
                  </a:txBody>
                  <a:tcPr/>
                </a:tc>
                <a:tc>
                  <a:txBody>
                    <a:bodyPr/>
                    <a:lstStyle/>
                    <a:p>
                      <a:pPr algn="ctr"/>
                      <a:r>
                        <a:rPr lang="en-US" u="sng" dirty="0">
                          <a:latin typeface="Arial" panose="020B0604020202020204" pitchFamily="34" charset="0"/>
                          <a:cs typeface="Arial" panose="020B0604020202020204" pitchFamily="34" charset="0"/>
                        </a:rPr>
                        <a:t>Problems</a:t>
                      </a:r>
                    </a:p>
                  </a:txBody>
                  <a:tcPr>
                    <a:lnR w="12700" cap="flat" cmpd="sng" algn="ctr">
                      <a:solidFill>
                        <a:schemeClr val="tx1"/>
                      </a:solidFill>
                      <a:prstDash val="solid"/>
                      <a:round/>
                      <a:headEnd type="none" w="med" len="med"/>
                      <a:tailEnd type="none" w="med" len="med"/>
                    </a:lnR>
                    <a:solidFill>
                      <a:srgbClr val="C00000"/>
                    </a:solidFill>
                  </a:tcPr>
                </a:tc>
                <a:tc>
                  <a:txBody>
                    <a:bodyPr/>
                    <a:lstStyle/>
                    <a:p>
                      <a:pPr algn="ctr"/>
                      <a:r>
                        <a:rPr lang="en-US" u="sng" dirty="0">
                          <a:latin typeface="Arial" panose="020B0604020202020204" pitchFamily="34" charset="0"/>
                          <a:cs typeface="Arial" panose="020B0604020202020204" pitchFamily="34" charset="0"/>
                        </a:rPr>
                        <a:t>Solutions</a:t>
                      </a:r>
                    </a:p>
                  </a:txBody>
                  <a:tcPr>
                    <a:lnL w="12700" cap="flat" cmpd="sng" algn="ctr">
                      <a:solidFill>
                        <a:schemeClr val="tx1"/>
                      </a:solidFill>
                      <a:prstDash val="solid"/>
                      <a:round/>
                      <a:headEnd type="none" w="med" len="med"/>
                      <a:tailEnd type="none" w="med" len="med"/>
                    </a:lnL>
                    <a:solidFill>
                      <a:srgbClr val="00B050"/>
                    </a:solidFill>
                  </a:tcPr>
                </a:tc>
                <a:extLst>
                  <a:ext uri="{0D108BD9-81ED-4DB2-BD59-A6C34878D82A}">
                    <a16:rowId xmlns:a16="http://schemas.microsoft.com/office/drawing/2014/main" val="2049904313"/>
                  </a:ext>
                </a:extLst>
              </a:tr>
              <a:tr h="370840">
                <a:tc>
                  <a:txBody>
                    <a:bodyPr/>
                    <a:lstStyle/>
                    <a:p>
                      <a:r>
                        <a:rPr lang="en-US" dirty="0">
                          <a:latin typeface="Arial" panose="020B0604020202020204" pitchFamily="34" charset="0"/>
                          <a:cs typeface="Arial" panose="020B0604020202020204" pitchFamily="34" charset="0"/>
                        </a:rPr>
                        <a:t>1.</a:t>
                      </a:r>
                    </a:p>
                  </a:txBody>
                  <a:tcPr/>
                </a:tc>
                <a:tc>
                  <a:txBody>
                    <a:bodyPr/>
                    <a:lstStyle/>
                    <a:p>
                      <a:r>
                        <a:rPr lang="en-US" dirty="0">
                          <a:latin typeface="Arial" panose="020B0604020202020204" pitchFamily="34" charset="0"/>
                          <a:cs typeface="Arial" panose="020B0604020202020204" pitchFamily="34" charset="0"/>
                        </a:rPr>
                        <a:t>Physical record design and access to records </a:t>
                      </a:r>
                    </a:p>
                  </a:txBody>
                  <a:tcPr>
                    <a:lnR w="12700" cap="flat" cmpd="sng" algn="ctr">
                      <a:solidFill>
                        <a:schemeClr val="tx1"/>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Data Model (Higher-level than bits/bytes)</a:t>
                      </a:r>
                    </a:p>
                    <a:p>
                      <a:endParaRPr lang="en-US" dirty="0">
                        <a:latin typeface="Arial" panose="020B0604020202020204" pitchFamily="34" charset="0"/>
                        <a:cs typeface="Arial" panose="020B0604020202020204" pitchFamily="34" charset="0"/>
                      </a:endParaRP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699176867"/>
                  </a:ext>
                </a:extLst>
              </a:tr>
              <a:tr h="370840">
                <a:tc>
                  <a:txBody>
                    <a:bodyPr/>
                    <a:lstStyle/>
                    <a:p>
                      <a:r>
                        <a:rPr lang="en-US" dirty="0">
                          <a:latin typeface="Arial" panose="020B0604020202020204" pitchFamily="34" charset="0"/>
                          <a:cs typeface="Arial" panose="020B0604020202020204" pitchFamily="34" charset="0"/>
                        </a:rPr>
                        <a:t>2.</a:t>
                      </a:r>
                    </a:p>
                  </a:txBody>
                  <a:tcPr/>
                </a:tc>
                <a:tc>
                  <a:txBody>
                    <a:bodyPr/>
                    <a:lstStyle/>
                    <a:p>
                      <a:r>
                        <a:rPr lang="en-US" dirty="0">
                          <a:latin typeface="Arial" panose="020B0604020202020204" pitchFamily="34" charset="0"/>
                          <a:cs typeface="Arial" panose="020B0604020202020204" pitchFamily="34" charset="0"/>
                        </a:rPr>
                        <a:t>Efficiency</a:t>
                      </a:r>
                    </a:p>
                  </a:txBody>
                  <a:tcPr>
                    <a:lnR w="12700" cap="flat" cmpd="sng" algn="ctr">
                      <a:solidFill>
                        <a:schemeClr val="tx1"/>
                      </a:solidFill>
                      <a:prstDash val="solid"/>
                      <a:round/>
                      <a:headEnd type="none" w="med" len="med"/>
                      <a:tailEnd type="none" w="med" len="med"/>
                    </a:lnR>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High Level Data Query/Manipulation Language:</a:t>
                      </a:r>
                    </a:p>
                    <a:p>
                      <a:r>
                        <a:rPr lang="en-US" dirty="0">
                          <a:latin typeface="Arial" panose="020B0604020202020204" pitchFamily="34" charset="0"/>
                          <a:cs typeface="Arial" panose="020B0604020202020204" pitchFamily="34" charset="0"/>
                        </a:rPr>
                        <a:t>Automatic compilation of queries to efficient </a:t>
                      </a:r>
                      <a:r>
                        <a:rPr lang="en-US" dirty="0" err="1">
                          <a:latin typeface="Arial" panose="020B0604020202020204" pitchFamily="34" charset="0"/>
                          <a:cs typeface="Arial" panose="020B0604020202020204" pitchFamily="34" charset="0"/>
                        </a:rPr>
                        <a:t>algs</a:t>
                      </a:r>
                      <a:r>
                        <a:rPr lang="en-US" dirty="0">
                          <a:latin typeface="Arial" panose="020B0604020202020204" pitchFamily="34" charset="0"/>
                          <a:cs typeface="Arial" panose="020B0604020202020204" pitchFamily="34" charset="0"/>
                        </a:rPr>
                        <a:t>/query plans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280835332"/>
                  </a:ext>
                </a:extLst>
              </a:tr>
              <a:tr h="370840">
                <a:tc>
                  <a:txBody>
                    <a:bodyPr/>
                    <a:lstStyle/>
                    <a:p>
                      <a:r>
                        <a:rPr lang="en-US" dirty="0">
                          <a:latin typeface="Arial" panose="020B0604020202020204" pitchFamily="34" charset="0"/>
                          <a:cs typeface="Arial" panose="020B0604020202020204" pitchFamily="34" charset="0"/>
                        </a:rPr>
                        <a:t>3.</a:t>
                      </a:r>
                    </a:p>
                  </a:txBody>
                  <a:tcPr/>
                </a:tc>
                <a:tc>
                  <a:txBody>
                    <a:bodyPr/>
                    <a:lstStyle/>
                    <a:p>
                      <a:r>
                        <a:rPr lang="en-US" dirty="0">
                          <a:latin typeface="Arial" panose="020B0604020202020204" pitchFamily="34" charset="0"/>
                          <a:cs typeface="Arial" panose="020B0604020202020204" pitchFamily="34" charset="0"/>
                        </a:rPr>
                        <a:t>Scalability:</a:t>
                      </a:r>
                    </a:p>
                    <a:p>
                      <a:r>
                        <a:rPr lang="en-US" dirty="0">
                          <a:latin typeface="Arial" panose="020B0604020202020204" pitchFamily="34" charset="0"/>
                          <a:cs typeface="Arial" panose="020B0604020202020204" pitchFamily="34" charset="0"/>
                        </a:rPr>
                        <a:t>3.1: Large-scale data</a:t>
                      </a:r>
                    </a:p>
                    <a:p>
                      <a:r>
                        <a:rPr lang="en-US" dirty="0">
                          <a:latin typeface="Arial" panose="020B0604020202020204" pitchFamily="34" charset="0"/>
                          <a:cs typeface="Arial" panose="020B0604020202020204" pitchFamily="34" charset="0"/>
                        </a:rPr>
                        <a:t>3.2: Large # of requests</a:t>
                      </a:r>
                    </a:p>
                  </a:txBody>
                  <a:tcPr>
                    <a:lnR w="12700" cap="flat" cmpd="sng" algn="ctr">
                      <a:solidFill>
                        <a:schemeClr val="tx1"/>
                      </a:solidFill>
                      <a:prstDash val="solid"/>
                      <a:round/>
                      <a:headEnd type="none" w="med" len="med"/>
                      <a:tailEnd type="none" w="med" len="med"/>
                    </a:lnR>
                  </a:tcPr>
                </a:tc>
                <a:tc>
                  <a:txBody>
                    <a:bodyPr/>
                    <a:lstStyle/>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Persistent-disk-based data</a:t>
                      </a:r>
                    </a:p>
                    <a:p>
                      <a:r>
                        <a:rPr lang="en-US" dirty="0">
                          <a:latin typeface="Arial" panose="020B0604020202020204" pitchFamily="34" charset="0"/>
                          <a:cs typeface="Arial" panose="020B0604020202020204" pitchFamily="34" charset="0"/>
                        </a:rPr>
                        <a:t>Scale to 10-100K requests/seconds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2697909450"/>
                  </a:ext>
                </a:extLst>
              </a:tr>
              <a:tr h="370840">
                <a:tc>
                  <a:txBody>
                    <a:bodyPr/>
                    <a:lstStyle/>
                    <a:p>
                      <a:r>
                        <a:rPr lang="en-US" dirty="0">
                          <a:latin typeface="Arial" panose="020B0604020202020204" pitchFamily="34" charset="0"/>
                          <a:cs typeface="Arial" panose="020B0604020202020204" pitchFamily="34" charset="0"/>
                        </a:rPr>
                        <a:t>4.</a:t>
                      </a:r>
                    </a:p>
                  </a:txBody>
                  <a:tcPr/>
                </a:tc>
                <a:tc>
                  <a:txBody>
                    <a:bodyPr/>
                    <a:lstStyle/>
                    <a:p>
                      <a:r>
                        <a:rPr lang="en-US" dirty="0">
                          <a:latin typeface="Arial" panose="020B0604020202020204" pitchFamily="34" charset="0"/>
                          <a:cs typeface="Arial" panose="020B0604020202020204" pitchFamily="34" charset="0"/>
                        </a:rPr>
                        <a:t>Safe Concurrency</a:t>
                      </a:r>
                    </a:p>
                  </a:txBody>
                  <a:tcPr>
                    <a:lnR w="12700" cap="flat" cmpd="sng" algn="ctr">
                      <a:solidFill>
                        <a:schemeClr val="tx1"/>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Transactions &amp; ACID guarantees</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775770738"/>
                  </a:ext>
                </a:extLst>
              </a:tr>
              <a:tr h="370840">
                <a:tc>
                  <a:txBody>
                    <a:bodyPr/>
                    <a:lstStyle/>
                    <a:p>
                      <a:r>
                        <a:rPr lang="en-US" dirty="0">
                          <a:latin typeface="Arial" panose="020B0604020202020204" pitchFamily="34" charset="0"/>
                          <a:cs typeface="Arial" panose="020B0604020202020204" pitchFamily="34" charset="0"/>
                        </a:rPr>
                        <a:t>5.</a:t>
                      </a:r>
                    </a:p>
                  </a:txBody>
                  <a:tcPr/>
                </a:tc>
                <a:tc>
                  <a:txBody>
                    <a:bodyPr/>
                    <a:lstStyle/>
                    <a:p>
                      <a:r>
                        <a:rPr lang="en-US" dirty="0">
                          <a:latin typeface="Arial" panose="020B0604020202020204" pitchFamily="34" charset="0"/>
                          <a:cs typeface="Arial" panose="020B0604020202020204" pitchFamily="34" charset="0"/>
                        </a:rPr>
                        <a:t>Other Safety Features: </a:t>
                      </a:r>
                    </a:p>
                  </a:txBody>
                  <a:tcPr>
                    <a:lnR w="12700" cap="flat" cmpd="sng" algn="ctr">
                      <a:solidFill>
                        <a:schemeClr val="tx1"/>
                      </a:solidFill>
                      <a:prstDash val="solid"/>
                      <a:round/>
                      <a:headEnd type="none" w="med" len="med"/>
                      <a:tailEnd type="none" w="med" len="med"/>
                    </a:lnR>
                  </a:tcPr>
                </a:tc>
                <a:tc>
                  <a:txBody>
                    <a:bodyPr/>
                    <a:lstStyle/>
                    <a:p>
                      <a:r>
                        <a:rPr lang="en-US" dirty="0">
                          <a:latin typeface="Arial" panose="020B0604020202020204" pitchFamily="34" charset="0"/>
                          <a:cs typeface="Arial" panose="020B0604020202020204" pitchFamily="34" charset="0"/>
                        </a:rPr>
                        <a:t>Data Integrity and Failure Recovery</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3662505343"/>
                  </a:ext>
                </a:extLst>
              </a:tr>
            </a:tbl>
          </a:graphicData>
        </a:graphic>
      </p:graphicFrame>
      <p:pic>
        <p:nvPicPr>
          <p:cNvPr id="7" name="Picture 2" descr="Charles W Bachman">
            <a:extLst>
              <a:ext uri="{FF2B5EF4-FFF2-40B4-BE49-F238E27FC236}">
                <a16:creationId xmlns:a16="http://schemas.microsoft.com/office/drawing/2014/main" id="{3B5AF3C6-F465-DE4C-BEF2-434BF60DA3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334" y="5571896"/>
            <a:ext cx="1242771" cy="1174674"/>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9911845B-C71F-C94B-8344-9807AE29E3B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57935" y="2373618"/>
            <a:ext cx="886065" cy="12582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person with a beard and glasses&#10;&#10;Description automatically generated with low confidence">
            <a:extLst>
              <a:ext uri="{FF2B5EF4-FFF2-40B4-BE49-F238E27FC236}">
                <a16:creationId xmlns:a16="http://schemas.microsoft.com/office/drawing/2014/main" id="{383D402E-DF93-6B45-A6B7-4010A2B58CBD}"/>
              </a:ext>
            </a:extLst>
          </p:cNvPr>
          <p:cNvPicPr>
            <a:picLocks noChangeAspect="1"/>
          </p:cNvPicPr>
          <p:nvPr/>
        </p:nvPicPr>
        <p:blipFill>
          <a:blip r:embed="rId5"/>
          <a:stretch>
            <a:fillRect/>
          </a:stretch>
        </p:blipFill>
        <p:spPr>
          <a:xfrm>
            <a:off x="7883825" y="5105084"/>
            <a:ext cx="854442" cy="1431190"/>
          </a:xfrm>
          <a:prstGeom prst="rect">
            <a:avLst/>
          </a:prstGeom>
        </p:spPr>
      </p:pic>
      <p:sp>
        <p:nvSpPr>
          <p:cNvPr id="10" name="Rounded Rectangle 9">
            <a:extLst>
              <a:ext uri="{FF2B5EF4-FFF2-40B4-BE49-F238E27FC236}">
                <a16:creationId xmlns:a16="http://schemas.microsoft.com/office/drawing/2014/main" id="{D72BD4DD-671C-3448-84F2-570B4C8B8CBF}"/>
              </a:ext>
            </a:extLst>
          </p:cNvPr>
          <p:cNvSpPr/>
          <p:nvPr/>
        </p:nvSpPr>
        <p:spPr>
          <a:xfrm>
            <a:off x="3424518" y="2188938"/>
            <a:ext cx="5633759" cy="1554389"/>
          </a:xfrm>
          <a:prstGeom prst="roundRect">
            <a:avLst/>
          </a:prstGeom>
          <a:noFill/>
          <a:ln w="349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11" name="Rounded Rectangle 10">
            <a:extLst>
              <a:ext uri="{FF2B5EF4-FFF2-40B4-BE49-F238E27FC236}">
                <a16:creationId xmlns:a16="http://schemas.microsoft.com/office/drawing/2014/main" id="{35EB062E-16F1-DA46-92A6-5288FC4EC844}"/>
              </a:ext>
            </a:extLst>
          </p:cNvPr>
          <p:cNvSpPr/>
          <p:nvPr/>
        </p:nvSpPr>
        <p:spPr>
          <a:xfrm>
            <a:off x="3424518" y="4706936"/>
            <a:ext cx="5577873" cy="314740"/>
          </a:xfrm>
          <a:prstGeom prst="roundRect">
            <a:avLst/>
          </a:prstGeom>
          <a:noFill/>
          <a:ln w="349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B71A793-BD0E-6143-B846-08E01ABEAD34}"/>
              </a:ext>
            </a:extLst>
          </p:cNvPr>
          <p:cNvSpPr/>
          <p:nvPr/>
        </p:nvSpPr>
        <p:spPr>
          <a:xfrm>
            <a:off x="1513106" y="5416289"/>
            <a:ext cx="6241366" cy="1477328"/>
          </a:xfrm>
          <a:prstGeom prst="rect">
            <a:avLst/>
          </a:prstGeom>
        </p:spPr>
        <p:txBody>
          <a:bodyPr wrap="square">
            <a:spAutoFit/>
          </a:bodyPr>
          <a:lstStyle/>
          <a:p>
            <a:r>
              <a:rPr lang="en-US" dirty="0">
                <a:solidFill>
                  <a:srgbClr val="990000"/>
                </a:solidFill>
                <a:latin typeface="Arial" panose="020B0604020202020204" pitchFamily="34" charset="0"/>
                <a:cs typeface="Arial" panose="020B0604020202020204" pitchFamily="34" charset="0"/>
              </a:rPr>
              <a:t>Contribution 1: The System</a:t>
            </a:r>
          </a:p>
          <a:p>
            <a:pPr marL="285750" indent="-285750">
              <a:buFont typeface="Wingdings" pitchFamily="2" charset="2"/>
              <a:buChar char="Ø"/>
            </a:pPr>
            <a:r>
              <a:rPr lang="en-US" dirty="0">
                <a:latin typeface="Arial" panose="020B0604020202020204" pitchFamily="34" charset="0"/>
                <a:cs typeface="Arial" panose="020B0604020202020204" pitchFamily="34" charset="0"/>
              </a:rPr>
              <a:t>IDS (1960s): First DBMS</a:t>
            </a:r>
          </a:p>
          <a:p>
            <a:pPr marL="742950" lvl="1" indent="-285750">
              <a:buFont typeface="Wingdings" pitchFamily="2" charset="2"/>
              <a:buChar char="Ø"/>
            </a:pPr>
            <a:r>
              <a:rPr lang="en-US" dirty="0">
                <a:latin typeface="Arial" panose="020B0604020202020204" pitchFamily="34" charset="0"/>
                <a:cs typeface="Arial" panose="020B0604020202020204" pitchFamily="34" charset="0"/>
              </a:rPr>
              <a:t>Had a data model and a primitive “query” language	</a:t>
            </a:r>
          </a:p>
          <a:p>
            <a:pPr marL="742950" lvl="1" indent="-285750">
              <a:buFont typeface="Wingdings" pitchFamily="2" charset="2"/>
              <a:buChar char="Ø"/>
            </a:pPr>
            <a:r>
              <a:rPr lang="en-US" dirty="0">
                <a:latin typeface="Arial" panose="020B0604020202020204" pitchFamily="34" charset="0"/>
                <a:cs typeface="Arial" panose="020B0604020202020204" pitchFamily="34" charset="0"/>
              </a:rPr>
              <a:t>Had scalability for its era and integrity and recovery</a:t>
            </a:r>
          </a:p>
          <a:p>
            <a:pPr marL="742950" lvl="1" indent="-285750">
              <a:buFont typeface="Wingdings" pitchFamily="2" charset="2"/>
              <a:buChar char="Ø"/>
            </a:pPr>
            <a:r>
              <a:rPr lang="en-US" dirty="0">
                <a:latin typeface="Arial" panose="020B0604020202020204" pitchFamily="34" charset="0"/>
                <a:cs typeface="Arial" panose="020B0604020202020204" pitchFamily="34" charset="0"/>
              </a:rPr>
              <a:t>No transactions</a:t>
            </a:r>
          </a:p>
        </p:txBody>
      </p:sp>
      <p:sp>
        <p:nvSpPr>
          <p:cNvPr id="13" name="Rectangle 12">
            <a:extLst>
              <a:ext uri="{FF2B5EF4-FFF2-40B4-BE49-F238E27FC236}">
                <a16:creationId xmlns:a16="http://schemas.microsoft.com/office/drawing/2014/main" id="{4C033DFC-FC91-C647-9A8D-88AA39A3F73B}"/>
              </a:ext>
            </a:extLst>
          </p:cNvPr>
          <p:cNvSpPr/>
          <p:nvPr/>
        </p:nvSpPr>
        <p:spPr>
          <a:xfrm>
            <a:off x="7080010" y="1819606"/>
            <a:ext cx="1620957" cy="369332"/>
          </a:xfrm>
          <a:prstGeom prst="rect">
            <a:avLst/>
          </a:prstGeom>
        </p:spPr>
        <p:txBody>
          <a:bodyPr wrap="none">
            <a:spAutoFit/>
          </a:bodyPr>
          <a:lstStyle/>
          <a:p>
            <a:r>
              <a:rPr lang="en-US" dirty="0">
                <a:solidFill>
                  <a:srgbClr val="990000"/>
                </a:solidFill>
                <a:latin typeface="Arial" panose="020B0604020202020204" pitchFamily="34" charset="0"/>
                <a:cs typeface="Arial" panose="020B0604020202020204" pitchFamily="34" charset="0"/>
              </a:rPr>
              <a:t>Contribution 2</a:t>
            </a:r>
            <a:endParaRPr lang="en-US" dirty="0">
              <a:solidFill>
                <a:srgbClr val="990000"/>
              </a:solidFill>
            </a:endParaRPr>
          </a:p>
        </p:txBody>
      </p:sp>
      <p:sp>
        <p:nvSpPr>
          <p:cNvPr id="14" name="Rectangle 13">
            <a:extLst>
              <a:ext uri="{FF2B5EF4-FFF2-40B4-BE49-F238E27FC236}">
                <a16:creationId xmlns:a16="http://schemas.microsoft.com/office/drawing/2014/main" id="{F6DB4DAF-FE68-A645-A852-DE1021917E79}"/>
              </a:ext>
            </a:extLst>
          </p:cNvPr>
          <p:cNvSpPr/>
          <p:nvPr/>
        </p:nvSpPr>
        <p:spPr>
          <a:xfrm>
            <a:off x="7363589" y="4339493"/>
            <a:ext cx="1620957" cy="369332"/>
          </a:xfrm>
          <a:prstGeom prst="rect">
            <a:avLst/>
          </a:prstGeom>
        </p:spPr>
        <p:txBody>
          <a:bodyPr wrap="none">
            <a:spAutoFit/>
          </a:bodyPr>
          <a:lstStyle/>
          <a:p>
            <a:r>
              <a:rPr lang="en-US" dirty="0">
                <a:solidFill>
                  <a:srgbClr val="990000"/>
                </a:solidFill>
                <a:latin typeface="Arial" panose="020B0604020202020204" pitchFamily="34" charset="0"/>
                <a:cs typeface="Arial" panose="020B0604020202020204" pitchFamily="34" charset="0"/>
              </a:rPr>
              <a:t>Contribution 3</a:t>
            </a:r>
            <a:endParaRPr lang="en-US" dirty="0">
              <a:solidFill>
                <a:srgbClr val="990000"/>
              </a:solidFill>
            </a:endParaRPr>
          </a:p>
        </p:txBody>
      </p:sp>
    </p:spTree>
    <p:extLst>
      <p:ext uri="{BB962C8B-B14F-4D97-AF65-F5344CB8AC3E}">
        <p14:creationId xmlns:p14="http://schemas.microsoft.com/office/powerpoint/2010/main" val="4133063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p:bldP spid="13" grpId="0"/>
      <p:bldP spid="1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323975"/>
            <a:ext cx="8077200" cy="454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0" y="6488668"/>
            <a:ext cx="3865161" cy="369332"/>
          </a:xfrm>
          <a:prstGeom prst="rect">
            <a:avLst/>
          </a:prstGeom>
        </p:spPr>
        <p:txBody>
          <a:bodyPr wrap="none">
            <a:spAutoFit/>
          </a:bodyPr>
          <a:lstStyle/>
          <a:p>
            <a:r>
              <a:rPr lang="en-US" dirty="0"/>
              <a:t>From Hans-J. </a:t>
            </a:r>
            <a:r>
              <a:rPr lang="en-US" dirty="0" err="1"/>
              <a:t>Schek’s</a:t>
            </a:r>
            <a:r>
              <a:rPr lang="en-US" dirty="0"/>
              <a:t> </a:t>
            </a:r>
            <a:r>
              <a:rPr lang="en-US" i="1" dirty="0"/>
              <a:t>VLDB</a:t>
            </a:r>
            <a:r>
              <a:rPr lang="en-US" dirty="0"/>
              <a:t> 2000 slides</a:t>
            </a:r>
          </a:p>
        </p:txBody>
      </p:sp>
      <p:sp>
        <p:nvSpPr>
          <p:cNvPr id="3" name="Slide Number Placeholder 2">
            <a:extLst>
              <a:ext uri="{FF2B5EF4-FFF2-40B4-BE49-F238E27FC236}">
                <a16:creationId xmlns:a16="http://schemas.microsoft.com/office/drawing/2014/main" id="{25CD100A-D7F8-4DC0-9D97-D06A7C9BF62A}"/>
              </a:ext>
            </a:extLst>
          </p:cNvPr>
          <p:cNvSpPr>
            <a:spLocks noGrp="1"/>
          </p:cNvSpPr>
          <p:nvPr>
            <p:ph type="sldNum" sz="quarter" idx="12"/>
          </p:nvPr>
        </p:nvSpPr>
        <p:spPr/>
        <p:txBody>
          <a:bodyPr/>
          <a:lstStyle/>
          <a:p>
            <a:fld id="{44C99FA5-7995-46A9-A97E-16E38AD58950}" type="slidenum">
              <a:rPr lang="en-US" smtClean="0"/>
              <a:t>27</a:t>
            </a:fld>
            <a:endParaRPr lang="en-US"/>
          </a:p>
        </p:txBody>
      </p:sp>
      <p:cxnSp>
        <p:nvCxnSpPr>
          <p:cNvPr id="7" name="Straight Connector 6">
            <a:extLst>
              <a:ext uri="{FF2B5EF4-FFF2-40B4-BE49-F238E27FC236}">
                <a16:creationId xmlns:a16="http://schemas.microsoft.com/office/drawing/2014/main" id="{4E525E23-04D6-D248-9394-7702CBD0DE32}"/>
              </a:ext>
            </a:extLst>
          </p:cNvPr>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4A953A58-E387-C54E-9094-E90AD4BD51AF}"/>
              </a:ext>
            </a:extLst>
          </p:cNvPr>
          <p:cNvSpPr txBox="1"/>
          <p:nvPr/>
        </p:nvSpPr>
        <p:spPr>
          <a:xfrm>
            <a:off x="8924" y="1246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The Birth of DBMS (1)</a:t>
            </a:r>
          </a:p>
        </p:txBody>
      </p:sp>
    </p:spTree>
    <p:extLst>
      <p:ext uri="{BB962C8B-B14F-4D97-AF65-F5344CB8AC3E}">
        <p14:creationId xmlns:p14="http://schemas.microsoft.com/office/powerpoint/2010/main" val="2725099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1295400"/>
            <a:ext cx="7315200" cy="456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0" y="6488668"/>
            <a:ext cx="3865161" cy="369332"/>
          </a:xfrm>
          <a:prstGeom prst="rect">
            <a:avLst/>
          </a:prstGeom>
        </p:spPr>
        <p:txBody>
          <a:bodyPr wrap="none">
            <a:spAutoFit/>
          </a:bodyPr>
          <a:lstStyle/>
          <a:p>
            <a:r>
              <a:rPr lang="en-US" dirty="0"/>
              <a:t>From Hans-J. </a:t>
            </a:r>
            <a:r>
              <a:rPr lang="en-US" dirty="0" err="1"/>
              <a:t>Schek’s</a:t>
            </a:r>
            <a:r>
              <a:rPr lang="en-US" dirty="0"/>
              <a:t> </a:t>
            </a:r>
            <a:r>
              <a:rPr lang="en-US" i="1" dirty="0"/>
              <a:t>VLDB</a:t>
            </a:r>
            <a:r>
              <a:rPr lang="en-US" dirty="0"/>
              <a:t> 2000 slides</a:t>
            </a:r>
          </a:p>
        </p:txBody>
      </p:sp>
      <p:sp>
        <p:nvSpPr>
          <p:cNvPr id="3" name="Slide Number Placeholder 2">
            <a:extLst>
              <a:ext uri="{FF2B5EF4-FFF2-40B4-BE49-F238E27FC236}">
                <a16:creationId xmlns:a16="http://schemas.microsoft.com/office/drawing/2014/main" id="{C1F01663-DCA1-4C03-AA2C-D52D934BDDE8}"/>
              </a:ext>
            </a:extLst>
          </p:cNvPr>
          <p:cNvSpPr>
            <a:spLocks noGrp="1"/>
          </p:cNvSpPr>
          <p:nvPr>
            <p:ph type="sldNum" sz="quarter" idx="12"/>
          </p:nvPr>
        </p:nvSpPr>
        <p:spPr/>
        <p:txBody>
          <a:bodyPr/>
          <a:lstStyle/>
          <a:p>
            <a:fld id="{44C99FA5-7995-46A9-A97E-16E38AD58950}" type="slidenum">
              <a:rPr lang="en-US" smtClean="0"/>
              <a:t>28</a:t>
            </a:fld>
            <a:endParaRPr lang="en-US"/>
          </a:p>
        </p:txBody>
      </p:sp>
      <p:cxnSp>
        <p:nvCxnSpPr>
          <p:cNvPr id="8" name="Straight Connector 7">
            <a:extLst>
              <a:ext uri="{FF2B5EF4-FFF2-40B4-BE49-F238E27FC236}">
                <a16:creationId xmlns:a16="http://schemas.microsoft.com/office/drawing/2014/main" id="{FA0B9B70-A6DF-F84B-A548-975701798C86}"/>
              </a:ext>
            </a:extLst>
          </p:cNvPr>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5370F890-D075-1E4F-8040-F6FAADCC3DA4}"/>
              </a:ext>
            </a:extLst>
          </p:cNvPr>
          <p:cNvSpPr txBox="1"/>
          <p:nvPr/>
        </p:nvSpPr>
        <p:spPr>
          <a:xfrm>
            <a:off x="8924" y="1246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The Birth of DBMS (2)</a:t>
            </a:r>
          </a:p>
        </p:txBody>
      </p:sp>
    </p:spTree>
    <p:extLst>
      <p:ext uri="{BB962C8B-B14F-4D97-AF65-F5344CB8AC3E}">
        <p14:creationId xmlns:p14="http://schemas.microsoft.com/office/powerpoint/2010/main" val="35400065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6800" y="1371600"/>
            <a:ext cx="7010400" cy="4497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p:nvSpPr>
        <p:spPr>
          <a:xfrm>
            <a:off x="0" y="6488668"/>
            <a:ext cx="3865161" cy="369332"/>
          </a:xfrm>
          <a:prstGeom prst="rect">
            <a:avLst/>
          </a:prstGeom>
        </p:spPr>
        <p:txBody>
          <a:bodyPr wrap="none">
            <a:spAutoFit/>
          </a:bodyPr>
          <a:lstStyle/>
          <a:p>
            <a:r>
              <a:rPr lang="en-US" dirty="0"/>
              <a:t>From Hans-J. </a:t>
            </a:r>
            <a:r>
              <a:rPr lang="en-US" dirty="0" err="1"/>
              <a:t>Schek’s</a:t>
            </a:r>
            <a:r>
              <a:rPr lang="en-US" dirty="0"/>
              <a:t> </a:t>
            </a:r>
            <a:r>
              <a:rPr lang="en-US" i="1" dirty="0"/>
              <a:t>VLDB</a:t>
            </a:r>
            <a:r>
              <a:rPr lang="en-US" dirty="0"/>
              <a:t> 2000 slides</a:t>
            </a:r>
          </a:p>
        </p:txBody>
      </p:sp>
      <p:sp>
        <p:nvSpPr>
          <p:cNvPr id="3" name="Slide Number Placeholder 2">
            <a:extLst>
              <a:ext uri="{FF2B5EF4-FFF2-40B4-BE49-F238E27FC236}">
                <a16:creationId xmlns:a16="http://schemas.microsoft.com/office/drawing/2014/main" id="{AA6FA88E-742B-44C3-AB74-1D2DA9F81FFB}"/>
              </a:ext>
            </a:extLst>
          </p:cNvPr>
          <p:cNvSpPr>
            <a:spLocks noGrp="1"/>
          </p:cNvSpPr>
          <p:nvPr>
            <p:ph type="sldNum" sz="quarter" idx="12"/>
          </p:nvPr>
        </p:nvSpPr>
        <p:spPr/>
        <p:txBody>
          <a:bodyPr/>
          <a:lstStyle/>
          <a:p>
            <a:fld id="{44C99FA5-7995-46A9-A97E-16E38AD58950}" type="slidenum">
              <a:rPr lang="en-US" smtClean="0"/>
              <a:t>29</a:t>
            </a:fld>
            <a:endParaRPr lang="en-US"/>
          </a:p>
        </p:txBody>
      </p:sp>
      <p:sp>
        <p:nvSpPr>
          <p:cNvPr id="7" name="Rectangle 6">
            <a:extLst>
              <a:ext uri="{FF2B5EF4-FFF2-40B4-BE49-F238E27FC236}">
                <a16:creationId xmlns:a16="http://schemas.microsoft.com/office/drawing/2014/main" id="{E2169AA7-9DCC-1A4D-AB43-7ACEB51903A4}"/>
              </a:ext>
            </a:extLst>
          </p:cNvPr>
          <p:cNvSpPr/>
          <p:nvPr/>
        </p:nvSpPr>
        <p:spPr>
          <a:xfrm>
            <a:off x="1" y="5947995"/>
            <a:ext cx="9144000" cy="461665"/>
          </a:xfrm>
          <a:prstGeom prst="rect">
            <a:avLst/>
          </a:prstGeom>
        </p:spPr>
        <p:txBody>
          <a:bodyPr wrap="square">
            <a:spAutoFit/>
          </a:bodyPr>
          <a:lstStyle/>
          <a:p>
            <a:pPr algn="ctr"/>
            <a:r>
              <a:rPr lang="en-US" sz="2400" dirty="0">
                <a:latin typeface="Arial" panose="020B0604020202020204" pitchFamily="34" charset="0"/>
                <a:cs typeface="Arial" panose="020B0604020202020204" pitchFamily="34" charset="0"/>
              </a:rPr>
              <a:t>DBMS is an excellent example of a successful abstraction!</a:t>
            </a:r>
          </a:p>
        </p:txBody>
      </p:sp>
      <p:cxnSp>
        <p:nvCxnSpPr>
          <p:cNvPr id="9" name="Straight Connector 8">
            <a:extLst>
              <a:ext uri="{FF2B5EF4-FFF2-40B4-BE49-F238E27FC236}">
                <a16:creationId xmlns:a16="http://schemas.microsoft.com/office/drawing/2014/main" id="{6CC3ABFC-A04A-3A44-9D12-CFF6F3F8F848}"/>
              </a:ext>
            </a:extLst>
          </p:cNvPr>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A609FDAD-028E-6045-B7D7-AC6D19CBB73F}"/>
              </a:ext>
            </a:extLst>
          </p:cNvPr>
          <p:cNvSpPr txBox="1"/>
          <p:nvPr/>
        </p:nvSpPr>
        <p:spPr>
          <a:xfrm>
            <a:off x="8924" y="1246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The Birth of DBMS (3)</a:t>
            </a:r>
          </a:p>
        </p:txBody>
      </p:sp>
    </p:spTree>
    <p:extLst>
      <p:ext uri="{BB962C8B-B14F-4D97-AF65-F5344CB8AC3E}">
        <p14:creationId xmlns:p14="http://schemas.microsoft.com/office/powerpoint/2010/main" val="25756431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1077218"/>
          </a:xfrm>
          <a:prstGeom prst="rect">
            <a:avLst/>
          </a:prstGeom>
          <a:noFill/>
        </p:spPr>
        <p:txBody>
          <a:bodyPr wrap="square" rtlCol="0">
            <a:spAutoFit/>
          </a:bodyPr>
          <a:lstStyle/>
          <a:p>
            <a:pPr algn="ctr"/>
            <a:r>
              <a:rPr lang="en-US" sz="3200" dirty="0">
                <a:latin typeface="Arial" panose="020B0604020202020204" pitchFamily="34" charset="0"/>
                <a:cs typeface="Arial" panose="020B0604020202020204" pitchFamily="34" charset="0"/>
              </a:rPr>
              <a:t>A Side Note on Spotting an Opportunity For New Systems or System Components</a:t>
            </a:r>
          </a:p>
        </p:txBody>
      </p:sp>
      <p:cxnSp>
        <p:nvCxnSpPr>
          <p:cNvPr id="5" name="Straight Connector 4"/>
          <p:cNvCxnSpPr/>
          <p:nvPr/>
        </p:nvCxnSpPr>
        <p:spPr>
          <a:xfrm>
            <a:off x="8924" y="1184542"/>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1182C1A-F05B-914E-8501-054417AAEE4E}"/>
              </a:ext>
            </a:extLst>
          </p:cNvPr>
          <p:cNvSpPr txBox="1"/>
          <p:nvPr/>
        </p:nvSpPr>
        <p:spPr>
          <a:xfrm>
            <a:off x="8924" y="1184542"/>
            <a:ext cx="9143999" cy="1846659"/>
          </a:xfrm>
          <a:prstGeom prst="rect">
            <a:avLst/>
          </a:prstGeom>
          <a:noFill/>
        </p:spPr>
        <p:txBody>
          <a:bodyPr wrap="square" rtlCol="0">
            <a:spAutoFit/>
          </a:bodyPr>
          <a:lstStyle/>
          <a:p>
            <a:pPr marL="342900" indent="-342900">
              <a:buFont typeface="Wingdings" pitchFamily="2" charset="2"/>
              <a:buChar char="Ø"/>
            </a:pPr>
            <a:r>
              <a:rPr lang="en-US" sz="2400" dirty="0">
                <a:latin typeface="Arial" panose="020B0604020202020204" pitchFamily="34" charset="0"/>
                <a:cs typeface="Arial" panose="020B0604020202020204" pitchFamily="34" charset="0"/>
              </a:rPr>
              <a:t>Sometimes (but not always) you spot that a new system/system component is needed by observing functionality duplication.</a:t>
            </a:r>
          </a:p>
          <a:p>
            <a:pPr marL="342900" indent="-342900">
              <a:buFont typeface="Wingdings" pitchFamily="2" charset="2"/>
              <a:buChar char="Ø"/>
            </a:pPr>
            <a:r>
              <a:rPr lang="en-US" sz="2400" dirty="0">
                <a:latin typeface="Arial" panose="020B0604020202020204" pitchFamily="34" charset="0"/>
                <a:cs typeface="Arial" panose="020B0604020202020204" pitchFamily="34" charset="0"/>
              </a:rPr>
              <a:t>Ex 1: Map Reduce Large-Scale Dataflow System</a:t>
            </a:r>
          </a:p>
          <a:p>
            <a:pPr marL="800100" lvl="1" indent="-342900">
              <a:buFont typeface="Wingdings" pitchFamily="2" charset="2"/>
              <a:buChar char="Ø"/>
            </a:pPr>
            <a:r>
              <a:rPr lang="en-US" sz="2400" dirty="0">
                <a:latin typeface="Arial" panose="020B0604020202020204" pitchFamily="34" charset="0"/>
                <a:cs typeface="Arial" panose="020B0604020202020204" pitchFamily="34" charset="0"/>
              </a:rPr>
              <a:t>CS 451: Data-Intensive Distributed Computing</a:t>
            </a:r>
            <a:br>
              <a:rPr lang="en-US" dirty="0"/>
            </a:br>
            <a:endParaRPr lang="en-US" dirty="0"/>
          </a:p>
        </p:txBody>
      </p:sp>
      <p:sp>
        <p:nvSpPr>
          <p:cNvPr id="2" name="Rectangle 1">
            <a:extLst>
              <a:ext uri="{FF2B5EF4-FFF2-40B4-BE49-F238E27FC236}">
                <a16:creationId xmlns:a16="http://schemas.microsoft.com/office/drawing/2014/main" id="{4203EEAA-E938-D64A-8F13-EF2BCCEC13B1}"/>
              </a:ext>
            </a:extLst>
          </p:cNvPr>
          <p:cNvSpPr/>
          <p:nvPr/>
        </p:nvSpPr>
        <p:spPr>
          <a:xfrm>
            <a:off x="8923" y="2797425"/>
            <a:ext cx="7049101" cy="3970318"/>
          </a:xfrm>
          <a:prstGeom prst="rect">
            <a:avLst/>
          </a:prstGeom>
        </p:spPr>
        <p:txBody>
          <a:bodyPr wrap="square">
            <a:spAutoFit/>
          </a:bodyPr>
          <a:lstStyle/>
          <a:p>
            <a:pPr algn="just"/>
            <a:r>
              <a:rPr lang="en-US" i="1" dirty="0">
                <a:latin typeface="Arial" panose="020B0604020202020204" pitchFamily="34" charset="0"/>
                <a:cs typeface="Arial" panose="020B0604020202020204" pitchFamily="34" charset="0"/>
              </a:rPr>
              <a:t>Over the past five years, the authors and many others at Google have implemented hundreds of special-purpose computations that process large amounts of raw data, such as crawled documents, web request logs, etc., to compute various kinds of derived data, such as inverted indices, various representations of the graph structure of web documents, summaries of the number of pages crawled per host, the set of most frequent queries in a given day, etc. Most such computations are conceptually straightforward. However, the input data is usually large and the computations have to be distributed across hundreds or thousands of machines in order to finish in a reasonable amount of time. The issues of how to parallelize the computation, distribute the data, and handle failures conspire to obscure the original simple computation with large amounts of complex code to deal with these issues.</a:t>
            </a:r>
          </a:p>
        </p:txBody>
      </p:sp>
      <p:pic>
        <p:nvPicPr>
          <p:cNvPr id="9" name="Picture 8" descr="A picture containing text, newspaper, screenshot, document&#10;&#10;Description automatically generated">
            <a:hlinkClick r:id="rId3"/>
            <a:extLst>
              <a:ext uri="{FF2B5EF4-FFF2-40B4-BE49-F238E27FC236}">
                <a16:creationId xmlns:a16="http://schemas.microsoft.com/office/drawing/2014/main" id="{33FEDED3-236A-5943-BFE7-E14686831C54}"/>
              </a:ext>
            </a:extLst>
          </p:cNvPr>
          <p:cNvPicPr>
            <a:picLocks noChangeAspect="1"/>
          </p:cNvPicPr>
          <p:nvPr/>
        </p:nvPicPr>
        <p:blipFill>
          <a:blip r:embed="rId4"/>
          <a:stretch>
            <a:fillRect/>
          </a:stretch>
        </p:blipFill>
        <p:spPr>
          <a:xfrm>
            <a:off x="7162020" y="4210601"/>
            <a:ext cx="1973056" cy="2492448"/>
          </a:xfrm>
          <a:prstGeom prst="rect">
            <a:avLst/>
          </a:prstGeom>
        </p:spPr>
      </p:pic>
    </p:spTree>
    <p:extLst>
      <p:ext uri="{BB962C8B-B14F-4D97-AF65-F5344CB8AC3E}">
        <p14:creationId xmlns:p14="http://schemas.microsoft.com/office/powerpoint/2010/main" val="195653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A6FA88E-742B-44C3-AB74-1D2DA9F81FFB}"/>
              </a:ext>
            </a:extLst>
          </p:cNvPr>
          <p:cNvSpPr>
            <a:spLocks noGrp="1"/>
          </p:cNvSpPr>
          <p:nvPr>
            <p:ph type="sldNum" sz="quarter" idx="12"/>
          </p:nvPr>
        </p:nvSpPr>
        <p:spPr/>
        <p:txBody>
          <a:bodyPr/>
          <a:lstStyle/>
          <a:p>
            <a:fld id="{44C99FA5-7995-46A9-A97E-16E38AD58950}" type="slidenum">
              <a:rPr lang="en-US" smtClean="0"/>
              <a:t>31</a:t>
            </a:fld>
            <a:endParaRPr lang="en-US"/>
          </a:p>
        </p:txBody>
      </p:sp>
      <p:cxnSp>
        <p:nvCxnSpPr>
          <p:cNvPr id="9" name="Straight Connector 8">
            <a:extLst>
              <a:ext uri="{FF2B5EF4-FFF2-40B4-BE49-F238E27FC236}">
                <a16:creationId xmlns:a16="http://schemas.microsoft.com/office/drawing/2014/main" id="{7F4FF83B-7E84-E040-BF8C-E5051E522B37}"/>
              </a:ext>
            </a:extLst>
          </p:cNvPr>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0996152-5A69-F94A-99EB-9521D263A7D1}"/>
              </a:ext>
            </a:extLst>
          </p:cNvPr>
          <p:cNvSpPr txBox="1"/>
          <p:nvPr/>
        </p:nvSpPr>
        <p:spPr>
          <a:xfrm>
            <a:off x="8924" y="1246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The Birth of MapReduce (1)</a:t>
            </a:r>
          </a:p>
        </p:txBody>
      </p:sp>
      <p:sp>
        <p:nvSpPr>
          <p:cNvPr id="20" name="TextBox 19">
            <a:extLst>
              <a:ext uri="{FF2B5EF4-FFF2-40B4-BE49-F238E27FC236}">
                <a16:creationId xmlns:a16="http://schemas.microsoft.com/office/drawing/2014/main" id="{60791FE7-C277-AA4D-BEB1-A2B53C5AECC7}"/>
              </a:ext>
            </a:extLst>
          </p:cNvPr>
          <p:cNvSpPr txBox="1"/>
          <p:nvPr/>
        </p:nvSpPr>
        <p:spPr>
          <a:xfrm>
            <a:off x="5404667" y="1924933"/>
            <a:ext cx="871538" cy="371475"/>
          </a:xfrm>
          <a:prstGeom prst="rect">
            <a:avLst/>
          </a:prstGeom>
          <a:noFill/>
        </p:spPr>
        <p:txBody>
          <a:bodyPr wrap="square" rtlCol="0">
            <a:spAutoFit/>
          </a:bodyPr>
          <a:lstStyle/>
          <a:p>
            <a:pPr algn="ctr"/>
            <a:r>
              <a:rPr lang="en-US" dirty="0"/>
              <a:t>…</a:t>
            </a:r>
          </a:p>
        </p:txBody>
      </p:sp>
      <p:grpSp>
        <p:nvGrpSpPr>
          <p:cNvPr id="58" name="Group 57">
            <a:extLst>
              <a:ext uri="{FF2B5EF4-FFF2-40B4-BE49-F238E27FC236}">
                <a16:creationId xmlns:a16="http://schemas.microsoft.com/office/drawing/2014/main" id="{266BD3E0-08DB-BF4A-BAED-76D0378D3909}"/>
              </a:ext>
            </a:extLst>
          </p:cNvPr>
          <p:cNvGrpSpPr/>
          <p:nvPr/>
        </p:nvGrpSpPr>
        <p:grpSpPr>
          <a:xfrm>
            <a:off x="114185" y="1113235"/>
            <a:ext cx="2780492" cy="2049527"/>
            <a:chOff x="928687" y="1514475"/>
            <a:chExt cx="2780492" cy="2049527"/>
          </a:xfrm>
        </p:grpSpPr>
        <p:sp>
          <p:nvSpPr>
            <p:cNvPr id="11" name="Rectangle 10">
              <a:extLst>
                <a:ext uri="{FF2B5EF4-FFF2-40B4-BE49-F238E27FC236}">
                  <a16:creationId xmlns:a16="http://schemas.microsoft.com/office/drawing/2014/main" id="{279C5BA9-1A99-0F41-9B7C-0EB9BA24C23D}"/>
                </a:ext>
              </a:extLst>
            </p:cNvPr>
            <p:cNvSpPr/>
            <p:nvPr/>
          </p:nvSpPr>
          <p:spPr>
            <a:xfrm>
              <a:off x="957262" y="1514475"/>
              <a:ext cx="2602667" cy="204952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59880A8-3C89-D54F-A0B7-97BBD7449131}"/>
                </a:ext>
              </a:extLst>
            </p:cNvPr>
            <p:cNvSpPr txBox="1"/>
            <p:nvPr/>
          </p:nvSpPr>
          <p:spPr>
            <a:xfrm>
              <a:off x="928687" y="1515271"/>
              <a:ext cx="2780492" cy="646331"/>
            </a:xfrm>
            <a:prstGeom prst="rect">
              <a:avLst/>
            </a:prstGeom>
            <a:noFill/>
          </p:spPr>
          <p:txBody>
            <a:bodyPr wrap="square" rtlCol="0">
              <a:spAutoFit/>
            </a:bodyPr>
            <a:lstStyle/>
            <a:p>
              <a:pPr algn="ctr"/>
              <a:r>
                <a:rPr lang="en-US" dirty="0"/>
                <a:t>Google Inverted Index Constructor </a:t>
              </a:r>
            </a:p>
          </p:txBody>
        </p:sp>
        <p:sp>
          <p:nvSpPr>
            <p:cNvPr id="57" name="TextBox 56">
              <a:extLst>
                <a:ext uri="{FF2B5EF4-FFF2-40B4-BE49-F238E27FC236}">
                  <a16:creationId xmlns:a16="http://schemas.microsoft.com/office/drawing/2014/main" id="{85E3C8B5-A411-1C4D-9276-02200C07EC30}"/>
                </a:ext>
              </a:extLst>
            </p:cNvPr>
            <p:cNvSpPr txBox="1"/>
            <p:nvPr/>
          </p:nvSpPr>
          <p:spPr>
            <a:xfrm>
              <a:off x="957261" y="2247330"/>
              <a:ext cx="2602668" cy="1246495"/>
            </a:xfrm>
            <a:prstGeom prst="rect">
              <a:avLst/>
            </a:prstGeom>
            <a:noFill/>
          </p:spPr>
          <p:txBody>
            <a:bodyPr wrap="square" rtlCol="0">
              <a:spAutoFit/>
            </a:bodyPr>
            <a:lstStyle/>
            <a:p>
              <a:r>
                <a:rPr lang="en-US" sz="1500" dirty="0">
                  <a:solidFill>
                    <a:srgbClr val="990000"/>
                  </a:solidFill>
                  <a:latin typeface="Arial" panose="020B0604020202020204" pitchFamily="34" charset="0"/>
                  <a:cs typeface="Arial" panose="020B0604020202020204" pitchFamily="34" charset="0"/>
                </a:rPr>
                <a:t>Code for:</a:t>
              </a:r>
            </a:p>
            <a:p>
              <a:r>
                <a:rPr lang="en-US" sz="1500" dirty="0">
                  <a:solidFill>
                    <a:srgbClr val="990000"/>
                  </a:solidFill>
                  <a:latin typeface="Arial" panose="020B0604020202020204" pitchFamily="34" charset="0"/>
                  <a:cs typeface="Arial" panose="020B0604020202020204" pitchFamily="34" charset="0"/>
                </a:rPr>
                <a:t>Computation parallelization</a:t>
              </a:r>
            </a:p>
            <a:p>
              <a:r>
                <a:rPr lang="en-US" sz="1500" dirty="0">
                  <a:solidFill>
                    <a:srgbClr val="990000"/>
                  </a:solidFill>
                  <a:latin typeface="Arial" panose="020B0604020202020204" pitchFamily="34" charset="0"/>
                  <a:cs typeface="Arial" panose="020B0604020202020204" pitchFamily="34" charset="0"/>
                </a:rPr>
                <a:t>across a cluster of machines</a:t>
              </a:r>
            </a:p>
            <a:p>
              <a:r>
                <a:rPr lang="en-US" sz="1500" dirty="0">
                  <a:solidFill>
                    <a:srgbClr val="990000"/>
                  </a:solidFill>
                  <a:latin typeface="Arial" panose="020B0604020202020204" pitchFamily="34" charset="0"/>
                  <a:cs typeface="Arial" panose="020B0604020202020204" pitchFamily="34" charset="0"/>
                </a:rPr>
                <a:t>Distributing data files,</a:t>
              </a:r>
            </a:p>
            <a:p>
              <a:r>
                <a:rPr lang="en-US" sz="1500" dirty="0">
                  <a:solidFill>
                    <a:srgbClr val="990000"/>
                  </a:solidFill>
                  <a:latin typeface="Arial" panose="020B0604020202020204" pitchFamily="34" charset="0"/>
                  <a:cs typeface="Arial" panose="020B0604020202020204" pitchFamily="34" charset="0"/>
                </a:rPr>
                <a:t>Custer failure recovery </a:t>
              </a:r>
            </a:p>
          </p:txBody>
        </p:sp>
      </p:grpSp>
      <p:grpSp>
        <p:nvGrpSpPr>
          <p:cNvPr id="71" name="Group 70">
            <a:extLst>
              <a:ext uri="{FF2B5EF4-FFF2-40B4-BE49-F238E27FC236}">
                <a16:creationId xmlns:a16="http://schemas.microsoft.com/office/drawing/2014/main" id="{51F56023-28FE-8749-ACEE-15E32A6622BC}"/>
              </a:ext>
            </a:extLst>
          </p:cNvPr>
          <p:cNvGrpSpPr/>
          <p:nvPr/>
        </p:nvGrpSpPr>
        <p:grpSpPr>
          <a:xfrm>
            <a:off x="2798849" y="1103930"/>
            <a:ext cx="2780492" cy="2049527"/>
            <a:chOff x="928687" y="1514475"/>
            <a:chExt cx="2780492" cy="2049527"/>
          </a:xfrm>
        </p:grpSpPr>
        <p:sp>
          <p:nvSpPr>
            <p:cNvPr id="72" name="Rectangle 71">
              <a:extLst>
                <a:ext uri="{FF2B5EF4-FFF2-40B4-BE49-F238E27FC236}">
                  <a16:creationId xmlns:a16="http://schemas.microsoft.com/office/drawing/2014/main" id="{253223E6-B8F8-1E4E-912E-A45E0D4B8334}"/>
                </a:ext>
              </a:extLst>
            </p:cNvPr>
            <p:cNvSpPr/>
            <p:nvPr/>
          </p:nvSpPr>
          <p:spPr>
            <a:xfrm>
              <a:off x="957262" y="1514475"/>
              <a:ext cx="2602667" cy="204952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FDF95F47-7FD6-3949-9370-A2296E680BB2}"/>
                </a:ext>
              </a:extLst>
            </p:cNvPr>
            <p:cNvSpPr txBox="1"/>
            <p:nvPr/>
          </p:nvSpPr>
          <p:spPr>
            <a:xfrm>
              <a:off x="928687" y="1515271"/>
              <a:ext cx="2780492" cy="646331"/>
            </a:xfrm>
            <a:prstGeom prst="rect">
              <a:avLst/>
            </a:prstGeom>
            <a:noFill/>
          </p:spPr>
          <p:txBody>
            <a:bodyPr wrap="square" rtlCol="0">
              <a:spAutoFit/>
            </a:bodyPr>
            <a:lstStyle/>
            <a:p>
              <a:pPr algn="ctr"/>
              <a:r>
                <a:rPr lang="en-US" dirty="0"/>
                <a:t>Google PageRank Computation </a:t>
              </a:r>
            </a:p>
          </p:txBody>
        </p:sp>
        <p:sp>
          <p:nvSpPr>
            <p:cNvPr id="74" name="TextBox 73">
              <a:extLst>
                <a:ext uri="{FF2B5EF4-FFF2-40B4-BE49-F238E27FC236}">
                  <a16:creationId xmlns:a16="http://schemas.microsoft.com/office/drawing/2014/main" id="{E7F4632A-708F-A141-BA44-A6037F9760D2}"/>
                </a:ext>
              </a:extLst>
            </p:cNvPr>
            <p:cNvSpPr txBox="1"/>
            <p:nvPr/>
          </p:nvSpPr>
          <p:spPr>
            <a:xfrm>
              <a:off x="957261" y="2247330"/>
              <a:ext cx="2602668" cy="1246495"/>
            </a:xfrm>
            <a:prstGeom prst="rect">
              <a:avLst/>
            </a:prstGeom>
            <a:noFill/>
          </p:spPr>
          <p:txBody>
            <a:bodyPr wrap="square" rtlCol="0">
              <a:spAutoFit/>
            </a:bodyPr>
            <a:lstStyle/>
            <a:p>
              <a:r>
                <a:rPr lang="en-US" sz="1500" dirty="0">
                  <a:solidFill>
                    <a:srgbClr val="990000"/>
                  </a:solidFill>
                  <a:latin typeface="Arial" panose="020B0604020202020204" pitchFamily="34" charset="0"/>
                  <a:cs typeface="Arial" panose="020B0604020202020204" pitchFamily="34" charset="0"/>
                </a:rPr>
                <a:t>Code for:</a:t>
              </a:r>
            </a:p>
            <a:p>
              <a:r>
                <a:rPr lang="en-US" sz="1500" dirty="0">
                  <a:solidFill>
                    <a:srgbClr val="990000"/>
                  </a:solidFill>
                  <a:latin typeface="Arial" panose="020B0604020202020204" pitchFamily="34" charset="0"/>
                  <a:cs typeface="Arial" panose="020B0604020202020204" pitchFamily="34" charset="0"/>
                </a:rPr>
                <a:t>Computation parallelization</a:t>
              </a:r>
            </a:p>
            <a:p>
              <a:r>
                <a:rPr lang="en-US" sz="1500" dirty="0">
                  <a:solidFill>
                    <a:srgbClr val="990000"/>
                  </a:solidFill>
                  <a:latin typeface="Arial" panose="020B0604020202020204" pitchFamily="34" charset="0"/>
                  <a:cs typeface="Arial" panose="020B0604020202020204" pitchFamily="34" charset="0"/>
                </a:rPr>
                <a:t>across a cluster of machines</a:t>
              </a:r>
            </a:p>
            <a:p>
              <a:r>
                <a:rPr lang="en-US" sz="1500" dirty="0">
                  <a:solidFill>
                    <a:srgbClr val="990000"/>
                  </a:solidFill>
                  <a:latin typeface="Arial" panose="020B0604020202020204" pitchFamily="34" charset="0"/>
                  <a:cs typeface="Arial" panose="020B0604020202020204" pitchFamily="34" charset="0"/>
                </a:rPr>
                <a:t>Distributing data files,</a:t>
              </a:r>
            </a:p>
            <a:p>
              <a:r>
                <a:rPr lang="en-US" sz="1500" dirty="0">
                  <a:solidFill>
                    <a:srgbClr val="990000"/>
                  </a:solidFill>
                  <a:latin typeface="Arial" panose="020B0604020202020204" pitchFamily="34" charset="0"/>
                  <a:cs typeface="Arial" panose="020B0604020202020204" pitchFamily="34" charset="0"/>
                </a:rPr>
                <a:t>Custer failure recovery </a:t>
              </a:r>
            </a:p>
          </p:txBody>
        </p:sp>
      </p:grpSp>
      <p:grpSp>
        <p:nvGrpSpPr>
          <p:cNvPr id="75" name="Group 74">
            <a:extLst>
              <a:ext uri="{FF2B5EF4-FFF2-40B4-BE49-F238E27FC236}">
                <a16:creationId xmlns:a16="http://schemas.microsoft.com/office/drawing/2014/main" id="{50311546-DC0B-AF4E-A9A9-7C3D2ABA481D}"/>
              </a:ext>
            </a:extLst>
          </p:cNvPr>
          <p:cNvGrpSpPr/>
          <p:nvPr/>
        </p:nvGrpSpPr>
        <p:grpSpPr>
          <a:xfrm>
            <a:off x="6372431" y="1103929"/>
            <a:ext cx="2780492" cy="2049527"/>
            <a:chOff x="928687" y="1514475"/>
            <a:chExt cx="2780492" cy="2049527"/>
          </a:xfrm>
        </p:grpSpPr>
        <p:sp>
          <p:nvSpPr>
            <p:cNvPr id="76" name="Rectangle 75">
              <a:extLst>
                <a:ext uri="{FF2B5EF4-FFF2-40B4-BE49-F238E27FC236}">
                  <a16:creationId xmlns:a16="http://schemas.microsoft.com/office/drawing/2014/main" id="{180C8116-3FD4-8E46-B6AE-F15018D33F2C}"/>
                </a:ext>
              </a:extLst>
            </p:cNvPr>
            <p:cNvSpPr/>
            <p:nvPr/>
          </p:nvSpPr>
          <p:spPr>
            <a:xfrm>
              <a:off x="957262" y="1514475"/>
              <a:ext cx="2602667" cy="2049527"/>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EAF7F4B0-3418-BA4E-BC56-5C799FD5A73B}"/>
                </a:ext>
              </a:extLst>
            </p:cNvPr>
            <p:cNvSpPr txBox="1"/>
            <p:nvPr/>
          </p:nvSpPr>
          <p:spPr>
            <a:xfrm>
              <a:off x="928687" y="1515271"/>
              <a:ext cx="2780492" cy="646331"/>
            </a:xfrm>
            <a:prstGeom prst="rect">
              <a:avLst/>
            </a:prstGeom>
            <a:noFill/>
          </p:spPr>
          <p:txBody>
            <a:bodyPr wrap="square" rtlCol="0">
              <a:spAutoFit/>
            </a:bodyPr>
            <a:lstStyle/>
            <a:p>
              <a:pPr algn="ctr"/>
              <a:r>
                <a:rPr lang="en-US" dirty="0"/>
                <a:t>Google User </a:t>
              </a:r>
            </a:p>
            <a:p>
              <a:pPr algn="ctr"/>
              <a:r>
                <a:rPr lang="en-US" dirty="0"/>
                <a:t>Dashboards</a:t>
              </a:r>
            </a:p>
          </p:txBody>
        </p:sp>
        <p:sp>
          <p:nvSpPr>
            <p:cNvPr id="78" name="TextBox 77">
              <a:extLst>
                <a:ext uri="{FF2B5EF4-FFF2-40B4-BE49-F238E27FC236}">
                  <a16:creationId xmlns:a16="http://schemas.microsoft.com/office/drawing/2014/main" id="{0507D2E8-D12E-7C48-9662-8491AB90DC3A}"/>
                </a:ext>
              </a:extLst>
            </p:cNvPr>
            <p:cNvSpPr txBox="1"/>
            <p:nvPr/>
          </p:nvSpPr>
          <p:spPr>
            <a:xfrm>
              <a:off x="957261" y="2247330"/>
              <a:ext cx="2602668" cy="1246495"/>
            </a:xfrm>
            <a:prstGeom prst="rect">
              <a:avLst/>
            </a:prstGeom>
            <a:noFill/>
          </p:spPr>
          <p:txBody>
            <a:bodyPr wrap="square" rtlCol="0">
              <a:spAutoFit/>
            </a:bodyPr>
            <a:lstStyle/>
            <a:p>
              <a:r>
                <a:rPr lang="en-US" sz="1500" dirty="0">
                  <a:solidFill>
                    <a:srgbClr val="990000"/>
                  </a:solidFill>
                  <a:latin typeface="Arial" panose="020B0604020202020204" pitchFamily="34" charset="0"/>
                  <a:cs typeface="Arial" panose="020B0604020202020204" pitchFamily="34" charset="0"/>
                </a:rPr>
                <a:t>Code for:</a:t>
              </a:r>
            </a:p>
            <a:p>
              <a:r>
                <a:rPr lang="en-US" sz="1500" dirty="0">
                  <a:solidFill>
                    <a:srgbClr val="990000"/>
                  </a:solidFill>
                  <a:latin typeface="Arial" panose="020B0604020202020204" pitchFamily="34" charset="0"/>
                  <a:cs typeface="Arial" panose="020B0604020202020204" pitchFamily="34" charset="0"/>
                </a:rPr>
                <a:t>Computation parallelization</a:t>
              </a:r>
            </a:p>
            <a:p>
              <a:r>
                <a:rPr lang="en-US" sz="1500" dirty="0">
                  <a:solidFill>
                    <a:srgbClr val="990000"/>
                  </a:solidFill>
                  <a:latin typeface="Arial" panose="020B0604020202020204" pitchFamily="34" charset="0"/>
                  <a:cs typeface="Arial" panose="020B0604020202020204" pitchFamily="34" charset="0"/>
                </a:rPr>
                <a:t>across a cluster of machines</a:t>
              </a:r>
            </a:p>
            <a:p>
              <a:r>
                <a:rPr lang="en-US" sz="1500" dirty="0">
                  <a:solidFill>
                    <a:srgbClr val="990000"/>
                  </a:solidFill>
                  <a:latin typeface="Arial" panose="020B0604020202020204" pitchFamily="34" charset="0"/>
                  <a:cs typeface="Arial" panose="020B0604020202020204" pitchFamily="34" charset="0"/>
                </a:rPr>
                <a:t>Distributing data files,</a:t>
              </a:r>
            </a:p>
            <a:p>
              <a:r>
                <a:rPr lang="en-US" sz="1500" dirty="0">
                  <a:solidFill>
                    <a:srgbClr val="990000"/>
                  </a:solidFill>
                  <a:latin typeface="Arial" panose="020B0604020202020204" pitchFamily="34" charset="0"/>
                  <a:cs typeface="Arial" panose="020B0604020202020204" pitchFamily="34" charset="0"/>
                </a:rPr>
                <a:t>Custer failure recovery </a:t>
              </a:r>
            </a:p>
          </p:txBody>
        </p:sp>
      </p:grpSp>
      <p:grpSp>
        <p:nvGrpSpPr>
          <p:cNvPr id="80" name="Group 79">
            <a:extLst>
              <a:ext uri="{FF2B5EF4-FFF2-40B4-BE49-F238E27FC236}">
                <a16:creationId xmlns:a16="http://schemas.microsoft.com/office/drawing/2014/main" id="{51D55FEC-2661-F043-9DDF-4EA9D51737FA}"/>
              </a:ext>
            </a:extLst>
          </p:cNvPr>
          <p:cNvGrpSpPr/>
          <p:nvPr/>
        </p:nvGrpSpPr>
        <p:grpSpPr>
          <a:xfrm>
            <a:off x="114331" y="4838657"/>
            <a:ext cx="2591638" cy="946333"/>
            <a:chOff x="242921" y="4353446"/>
            <a:chExt cx="2591638" cy="946333"/>
          </a:xfrm>
        </p:grpSpPr>
        <p:grpSp>
          <p:nvGrpSpPr>
            <p:cNvPr id="56" name="Group 55">
              <a:extLst>
                <a:ext uri="{FF2B5EF4-FFF2-40B4-BE49-F238E27FC236}">
                  <a16:creationId xmlns:a16="http://schemas.microsoft.com/office/drawing/2014/main" id="{F9934D92-EF41-9740-9DA5-F630A1E70575}"/>
                </a:ext>
              </a:extLst>
            </p:cNvPr>
            <p:cNvGrpSpPr/>
            <p:nvPr/>
          </p:nvGrpSpPr>
          <p:grpSpPr>
            <a:xfrm>
              <a:off x="577412" y="4519798"/>
              <a:ext cx="1733361" cy="506407"/>
              <a:chOff x="1181287" y="4840292"/>
              <a:chExt cx="1733361" cy="506407"/>
            </a:xfrm>
          </p:grpSpPr>
          <p:grpSp>
            <p:nvGrpSpPr>
              <p:cNvPr id="40" name="Group 39">
                <a:extLst>
                  <a:ext uri="{FF2B5EF4-FFF2-40B4-BE49-F238E27FC236}">
                    <a16:creationId xmlns:a16="http://schemas.microsoft.com/office/drawing/2014/main" id="{5D906B37-A874-EF4C-93D6-9C65A607A078}"/>
                  </a:ext>
                </a:extLst>
              </p:cNvPr>
              <p:cNvGrpSpPr/>
              <p:nvPr/>
            </p:nvGrpSpPr>
            <p:grpSpPr>
              <a:xfrm>
                <a:off x="2102591" y="4885034"/>
                <a:ext cx="324754" cy="461665"/>
                <a:chOff x="5183912" y="4857750"/>
                <a:chExt cx="648603" cy="805233"/>
              </a:xfrm>
            </p:grpSpPr>
            <p:pic>
              <p:nvPicPr>
                <p:cNvPr id="41" name="Graphic 40" descr="Document outline">
                  <a:extLst>
                    <a:ext uri="{FF2B5EF4-FFF2-40B4-BE49-F238E27FC236}">
                      <a16:creationId xmlns:a16="http://schemas.microsoft.com/office/drawing/2014/main" id="{AD2E8142-2598-6D4C-AC39-AC766D649A5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42" name="Can 41">
                  <a:extLst>
                    <a:ext uri="{FF2B5EF4-FFF2-40B4-BE49-F238E27FC236}">
                      <a16:creationId xmlns:a16="http://schemas.microsoft.com/office/drawing/2014/main" id="{F15F5667-5227-1F47-A59B-4A9375C1538A}"/>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43" name="Graphic 42" descr="Document outline">
                  <a:extLst>
                    <a:ext uri="{FF2B5EF4-FFF2-40B4-BE49-F238E27FC236}">
                      <a16:creationId xmlns:a16="http://schemas.microsoft.com/office/drawing/2014/main" id="{BD9AA08A-001C-EC43-AB32-DA18E89384D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44" name="Graphic 43" descr="Document outline">
                  <a:extLst>
                    <a:ext uri="{FF2B5EF4-FFF2-40B4-BE49-F238E27FC236}">
                      <a16:creationId xmlns:a16="http://schemas.microsoft.com/office/drawing/2014/main" id="{2CD19E15-A2B1-E646-BA5F-040F7DF3047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grpSp>
            <p:nvGrpSpPr>
              <p:cNvPr id="45" name="Group 44">
                <a:extLst>
                  <a:ext uri="{FF2B5EF4-FFF2-40B4-BE49-F238E27FC236}">
                    <a16:creationId xmlns:a16="http://schemas.microsoft.com/office/drawing/2014/main" id="{B956BA26-72FD-994A-93C1-174E80EC08CE}"/>
                  </a:ext>
                </a:extLst>
              </p:cNvPr>
              <p:cNvGrpSpPr/>
              <p:nvPr/>
            </p:nvGrpSpPr>
            <p:grpSpPr>
              <a:xfrm>
                <a:off x="2589894" y="4885034"/>
                <a:ext cx="324754" cy="461665"/>
                <a:chOff x="5183912" y="4857750"/>
                <a:chExt cx="648603" cy="805233"/>
              </a:xfrm>
            </p:grpSpPr>
            <p:pic>
              <p:nvPicPr>
                <p:cNvPr id="46" name="Graphic 45" descr="Document outline">
                  <a:extLst>
                    <a:ext uri="{FF2B5EF4-FFF2-40B4-BE49-F238E27FC236}">
                      <a16:creationId xmlns:a16="http://schemas.microsoft.com/office/drawing/2014/main" id="{1F93A601-2456-6243-A72A-865F118C4B0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47" name="Can 46">
                  <a:extLst>
                    <a:ext uri="{FF2B5EF4-FFF2-40B4-BE49-F238E27FC236}">
                      <a16:creationId xmlns:a16="http://schemas.microsoft.com/office/drawing/2014/main" id="{980A213D-3D84-444F-A0BD-223AE09FB0A5}"/>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48" name="Graphic 47" descr="Document outline">
                  <a:extLst>
                    <a:ext uri="{FF2B5EF4-FFF2-40B4-BE49-F238E27FC236}">
                      <a16:creationId xmlns:a16="http://schemas.microsoft.com/office/drawing/2014/main" id="{887B0799-5D84-3C41-B196-23BC22508B0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49" name="Graphic 48" descr="Document outline">
                  <a:extLst>
                    <a:ext uri="{FF2B5EF4-FFF2-40B4-BE49-F238E27FC236}">
                      <a16:creationId xmlns:a16="http://schemas.microsoft.com/office/drawing/2014/main" id="{49CD63B7-E8CA-3E4C-96E8-EC6C4779525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grpSp>
            <p:nvGrpSpPr>
              <p:cNvPr id="50" name="Group 49">
                <a:extLst>
                  <a:ext uri="{FF2B5EF4-FFF2-40B4-BE49-F238E27FC236}">
                    <a16:creationId xmlns:a16="http://schemas.microsoft.com/office/drawing/2014/main" id="{A91DD88E-B8FA-7A43-84A1-618BCED84563}"/>
                  </a:ext>
                </a:extLst>
              </p:cNvPr>
              <p:cNvGrpSpPr/>
              <p:nvPr/>
            </p:nvGrpSpPr>
            <p:grpSpPr>
              <a:xfrm>
                <a:off x="1181287" y="4885034"/>
                <a:ext cx="324754" cy="461665"/>
                <a:chOff x="5183912" y="4857750"/>
                <a:chExt cx="648603" cy="805233"/>
              </a:xfrm>
            </p:grpSpPr>
            <p:pic>
              <p:nvPicPr>
                <p:cNvPr id="51" name="Graphic 50" descr="Document outline">
                  <a:extLst>
                    <a:ext uri="{FF2B5EF4-FFF2-40B4-BE49-F238E27FC236}">
                      <a16:creationId xmlns:a16="http://schemas.microsoft.com/office/drawing/2014/main" id="{D2F4CC19-C58C-F948-800A-E145FDEDA7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52" name="Can 51">
                  <a:extLst>
                    <a:ext uri="{FF2B5EF4-FFF2-40B4-BE49-F238E27FC236}">
                      <a16:creationId xmlns:a16="http://schemas.microsoft.com/office/drawing/2014/main" id="{A38369ED-4C0B-0D4C-AA07-DE0E8A79DA71}"/>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53" name="Graphic 52" descr="Document outline">
                  <a:extLst>
                    <a:ext uri="{FF2B5EF4-FFF2-40B4-BE49-F238E27FC236}">
                      <a16:creationId xmlns:a16="http://schemas.microsoft.com/office/drawing/2014/main" id="{6B0218C2-8309-9A46-8A74-7F8302333AE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54" name="Graphic 53" descr="Document outline">
                  <a:extLst>
                    <a:ext uri="{FF2B5EF4-FFF2-40B4-BE49-F238E27FC236}">
                      <a16:creationId xmlns:a16="http://schemas.microsoft.com/office/drawing/2014/main" id="{66090918-F0A2-BF43-81D2-925C4675BC8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sp>
            <p:nvSpPr>
              <p:cNvPr id="55" name="TextBox 54">
                <a:extLst>
                  <a:ext uri="{FF2B5EF4-FFF2-40B4-BE49-F238E27FC236}">
                    <a16:creationId xmlns:a16="http://schemas.microsoft.com/office/drawing/2014/main" id="{5EC1F8B6-9E3F-C34C-977E-669E7827E195}"/>
                  </a:ext>
                </a:extLst>
              </p:cNvPr>
              <p:cNvSpPr txBox="1"/>
              <p:nvPr/>
            </p:nvSpPr>
            <p:spPr>
              <a:xfrm>
                <a:off x="1325683" y="4840292"/>
                <a:ext cx="871538" cy="371475"/>
              </a:xfrm>
              <a:prstGeom prst="rect">
                <a:avLst/>
              </a:prstGeom>
              <a:noFill/>
            </p:spPr>
            <p:txBody>
              <a:bodyPr wrap="square" rtlCol="0">
                <a:spAutoFit/>
              </a:bodyPr>
              <a:lstStyle/>
              <a:p>
                <a:pPr algn="ctr"/>
                <a:r>
                  <a:rPr lang="en-US" dirty="0"/>
                  <a:t>…</a:t>
                </a:r>
              </a:p>
            </p:txBody>
          </p:sp>
        </p:grpSp>
        <p:sp>
          <p:nvSpPr>
            <p:cNvPr id="79" name="Cloud 78">
              <a:extLst>
                <a:ext uri="{FF2B5EF4-FFF2-40B4-BE49-F238E27FC236}">
                  <a16:creationId xmlns:a16="http://schemas.microsoft.com/office/drawing/2014/main" id="{4A723C2B-AC08-FE4C-97A6-3904BDBD4E2F}"/>
                </a:ext>
              </a:extLst>
            </p:cNvPr>
            <p:cNvSpPr/>
            <p:nvPr/>
          </p:nvSpPr>
          <p:spPr>
            <a:xfrm>
              <a:off x="242921" y="4353446"/>
              <a:ext cx="2591638" cy="946333"/>
            </a:xfrm>
            <a:prstGeom prst="cloud">
              <a:avLst/>
            </a:prstGeom>
            <a:noFill/>
            <a:ln w="3492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81" name="Group 80">
            <a:extLst>
              <a:ext uri="{FF2B5EF4-FFF2-40B4-BE49-F238E27FC236}">
                <a16:creationId xmlns:a16="http://schemas.microsoft.com/office/drawing/2014/main" id="{E0CD137D-A6DB-3A42-B051-66DEC3A100C1}"/>
              </a:ext>
            </a:extLst>
          </p:cNvPr>
          <p:cNvGrpSpPr/>
          <p:nvPr/>
        </p:nvGrpSpPr>
        <p:grpSpPr>
          <a:xfrm>
            <a:off x="2913324" y="4838657"/>
            <a:ext cx="2591638" cy="946333"/>
            <a:chOff x="242921" y="4353446"/>
            <a:chExt cx="2591638" cy="946333"/>
          </a:xfrm>
        </p:grpSpPr>
        <p:grpSp>
          <p:nvGrpSpPr>
            <p:cNvPr id="82" name="Group 81">
              <a:extLst>
                <a:ext uri="{FF2B5EF4-FFF2-40B4-BE49-F238E27FC236}">
                  <a16:creationId xmlns:a16="http://schemas.microsoft.com/office/drawing/2014/main" id="{76AADD58-47CF-4E4B-9582-05F002D22952}"/>
                </a:ext>
              </a:extLst>
            </p:cNvPr>
            <p:cNvGrpSpPr/>
            <p:nvPr/>
          </p:nvGrpSpPr>
          <p:grpSpPr>
            <a:xfrm>
              <a:off x="577412" y="4519798"/>
              <a:ext cx="1733361" cy="506407"/>
              <a:chOff x="1181287" y="4840292"/>
              <a:chExt cx="1733361" cy="506407"/>
            </a:xfrm>
          </p:grpSpPr>
          <p:grpSp>
            <p:nvGrpSpPr>
              <p:cNvPr id="84" name="Group 83">
                <a:extLst>
                  <a:ext uri="{FF2B5EF4-FFF2-40B4-BE49-F238E27FC236}">
                    <a16:creationId xmlns:a16="http://schemas.microsoft.com/office/drawing/2014/main" id="{28B5C294-A6D5-324A-994E-91057E8D47A8}"/>
                  </a:ext>
                </a:extLst>
              </p:cNvPr>
              <p:cNvGrpSpPr/>
              <p:nvPr/>
            </p:nvGrpSpPr>
            <p:grpSpPr>
              <a:xfrm>
                <a:off x="2102591" y="4885034"/>
                <a:ext cx="324754" cy="461665"/>
                <a:chOff x="5183912" y="4857750"/>
                <a:chExt cx="648603" cy="805233"/>
              </a:xfrm>
            </p:grpSpPr>
            <p:pic>
              <p:nvPicPr>
                <p:cNvPr id="96" name="Graphic 95" descr="Document outline">
                  <a:extLst>
                    <a:ext uri="{FF2B5EF4-FFF2-40B4-BE49-F238E27FC236}">
                      <a16:creationId xmlns:a16="http://schemas.microsoft.com/office/drawing/2014/main" id="{B0CF99AE-9C62-E541-9628-EE16B281C5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97" name="Can 96">
                  <a:extLst>
                    <a:ext uri="{FF2B5EF4-FFF2-40B4-BE49-F238E27FC236}">
                      <a16:creationId xmlns:a16="http://schemas.microsoft.com/office/drawing/2014/main" id="{A724ED98-2CF4-214D-A88B-44364682BEB1}"/>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98" name="Graphic 97" descr="Document outline">
                  <a:extLst>
                    <a:ext uri="{FF2B5EF4-FFF2-40B4-BE49-F238E27FC236}">
                      <a16:creationId xmlns:a16="http://schemas.microsoft.com/office/drawing/2014/main" id="{68F2B1CB-2359-3D47-B7C1-87D19E23D8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99" name="Graphic 98" descr="Document outline">
                  <a:extLst>
                    <a:ext uri="{FF2B5EF4-FFF2-40B4-BE49-F238E27FC236}">
                      <a16:creationId xmlns:a16="http://schemas.microsoft.com/office/drawing/2014/main" id="{4CD861CA-E1FD-1B45-AEEF-156B25D8EB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grpSp>
            <p:nvGrpSpPr>
              <p:cNvPr id="85" name="Group 84">
                <a:extLst>
                  <a:ext uri="{FF2B5EF4-FFF2-40B4-BE49-F238E27FC236}">
                    <a16:creationId xmlns:a16="http://schemas.microsoft.com/office/drawing/2014/main" id="{D17C70E1-BCF7-CD45-9ACB-26F0F739AF37}"/>
                  </a:ext>
                </a:extLst>
              </p:cNvPr>
              <p:cNvGrpSpPr/>
              <p:nvPr/>
            </p:nvGrpSpPr>
            <p:grpSpPr>
              <a:xfrm>
                <a:off x="2589894" y="4885034"/>
                <a:ext cx="324754" cy="461665"/>
                <a:chOff x="5183912" y="4857750"/>
                <a:chExt cx="648603" cy="805233"/>
              </a:xfrm>
            </p:grpSpPr>
            <p:pic>
              <p:nvPicPr>
                <p:cNvPr id="92" name="Graphic 91" descr="Document outline">
                  <a:extLst>
                    <a:ext uri="{FF2B5EF4-FFF2-40B4-BE49-F238E27FC236}">
                      <a16:creationId xmlns:a16="http://schemas.microsoft.com/office/drawing/2014/main" id="{7950471C-6B3F-BD42-BDB3-54438904CF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93" name="Can 92">
                  <a:extLst>
                    <a:ext uri="{FF2B5EF4-FFF2-40B4-BE49-F238E27FC236}">
                      <a16:creationId xmlns:a16="http://schemas.microsoft.com/office/drawing/2014/main" id="{B01104BC-97B4-FD49-9A56-9E9536EB5352}"/>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4" name="Graphic 93" descr="Document outline">
                  <a:extLst>
                    <a:ext uri="{FF2B5EF4-FFF2-40B4-BE49-F238E27FC236}">
                      <a16:creationId xmlns:a16="http://schemas.microsoft.com/office/drawing/2014/main" id="{B497B7AC-87AC-E34C-A338-1311B004AA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95" name="Graphic 94" descr="Document outline">
                  <a:extLst>
                    <a:ext uri="{FF2B5EF4-FFF2-40B4-BE49-F238E27FC236}">
                      <a16:creationId xmlns:a16="http://schemas.microsoft.com/office/drawing/2014/main" id="{A4DAB82F-AF04-6943-850B-0F288CCD19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grpSp>
            <p:nvGrpSpPr>
              <p:cNvPr id="86" name="Group 85">
                <a:extLst>
                  <a:ext uri="{FF2B5EF4-FFF2-40B4-BE49-F238E27FC236}">
                    <a16:creationId xmlns:a16="http://schemas.microsoft.com/office/drawing/2014/main" id="{4706BD7A-801B-D746-A1CE-94C226723896}"/>
                  </a:ext>
                </a:extLst>
              </p:cNvPr>
              <p:cNvGrpSpPr/>
              <p:nvPr/>
            </p:nvGrpSpPr>
            <p:grpSpPr>
              <a:xfrm>
                <a:off x="1181287" y="4885034"/>
                <a:ext cx="324754" cy="461665"/>
                <a:chOff x="5183912" y="4857750"/>
                <a:chExt cx="648603" cy="805233"/>
              </a:xfrm>
            </p:grpSpPr>
            <p:pic>
              <p:nvPicPr>
                <p:cNvPr id="88" name="Graphic 87" descr="Document outline">
                  <a:extLst>
                    <a:ext uri="{FF2B5EF4-FFF2-40B4-BE49-F238E27FC236}">
                      <a16:creationId xmlns:a16="http://schemas.microsoft.com/office/drawing/2014/main" id="{642B3DE5-EB40-EB47-BEEE-6022744E1D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89" name="Can 88">
                  <a:extLst>
                    <a:ext uri="{FF2B5EF4-FFF2-40B4-BE49-F238E27FC236}">
                      <a16:creationId xmlns:a16="http://schemas.microsoft.com/office/drawing/2014/main" id="{09879DAF-884D-104F-A081-1FDDC02D82D6}"/>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0" name="Graphic 89" descr="Document outline">
                  <a:extLst>
                    <a:ext uri="{FF2B5EF4-FFF2-40B4-BE49-F238E27FC236}">
                      <a16:creationId xmlns:a16="http://schemas.microsoft.com/office/drawing/2014/main" id="{52A9D6BE-21F0-BE4F-8515-9419487A69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91" name="Graphic 90" descr="Document outline">
                  <a:extLst>
                    <a:ext uri="{FF2B5EF4-FFF2-40B4-BE49-F238E27FC236}">
                      <a16:creationId xmlns:a16="http://schemas.microsoft.com/office/drawing/2014/main" id="{4FF89030-ACC9-7342-B49E-8496A6E667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sp>
            <p:nvSpPr>
              <p:cNvPr id="87" name="TextBox 86">
                <a:extLst>
                  <a:ext uri="{FF2B5EF4-FFF2-40B4-BE49-F238E27FC236}">
                    <a16:creationId xmlns:a16="http://schemas.microsoft.com/office/drawing/2014/main" id="{667EBFC3-7653-9049-8891-123B30EDF5A5}"/>
                  </a:ext>
                </a:extLst>
              </p:cNvPr>
              <p:cNvSpPr txBox="1"/>
              <p:nvPr/>
            </p:nvSpPr>
            <p:spPr>
              <a:xfrm>
                <a:off x="1325683" y="4840292"/>
                <a:ext cx="871538" cy="371475"/>
              </a:xfrm>
              <a:prstGeom prst="rect">
                <a:avLst/>
              </a:prstGeom>
              <a:noFill/>
            </p:spPr>
            <p:txBody>
              <a:bodyPr wrap="square" rtlCol="0">
                <a:spAutoFit/>
              </a:bodyPr>
              <a:lstStyle/>
              <a:p>
                <a:pPr algn="ctr"/>
                <a:r>
                  <a:rPr lang="en-US" dirty="0"/>
                  <a:t>…</a:t>
                </a:r>
              </a:p>
            </p:txBody>
          </p:sp>
        </p:grpSp>
        <p:sp>
          <p:nvSpPr>
            <p:cNvPr id="83" name="Cloud 82">
              <a:extLst>
                <a:ext uri="{FF2B5EF4-FFF2-40B4-BE49-F238E27FC236}">
                  <a16:creationId xmlns:a16="http://schemas.microsoft.com/office/drawing/2014/main" id="{0D2B94C8-2A81-2A4B-8564-FEFE23D60D4B}"/>
                </a:ext>
              </a:extLst>
            </p:cNvPr>
            <p:cNvSpPr/>
            <p:nvPr/>
          </p:nvSpPr>
          <p:spPr>
            <a:xfrm>
              <a:off x="242921" y="4353446"/>
              <a:ext cx="2591638" cy="946333"/>
            </a:xfrm>
            <a:prstGeom prst="cloud">
              <a:avLst/>
            </a:prstGeom>
            <a:noFill/>
            <a:ln w="3492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00" name="Group 99">
            <a:extLst>
              <a:ext uri="{FF2B5EF4-FFF2-40B4-BE49-F238E27FC236}">
                <a16:creationId xmlns:a16="http://schemas.microsoft.com/office/drawing/2014/main" id="{88E3640F-C437-C142-A5C6-6F7A52337353}"/>
              </a:ext>
            </a:extLst>
          </p:cNvPr>
          <p:cNvGrpSpPr/>
          <p:nvPr/>
        </p:nvGrpSpPr>
        <p:grpSpPr>
          <a:xfrm>
            <a:off x="6561285" y="4838657"/>
            <a:ext cx="2591638" cy="946333"/>
            <a:chOff x="242921" y="4353446"/>
            <a:chExt cx="2591638" cy="946333"/>
          </a:xfrm>
        </p:grpSpPr>
        <p:grpSp>
          <p:nvGrpSpPr>
            <p:cNvPr id="101" name="Group 100">
              <a:extLst>
                <a:ext uri="{FF2B5EF4-FFF2-40B4-BE49-F238E27FC236}">
                  <a16:creationId xmlns:a16="http://schemas.microsoft.com/office/drawing/2014/main" id="{6D61A7C4-FF61-6641-BB24-AF55D6A013B1}"/>
                </a:ext>
              </a:extLst>
            </p:cNvPr>
            <p:cNvGrpSpPr/>
            <p:nvPr/>
          </p:nvGrpSpPr>
          <p:grpSpPr>
            <a:xfrm>
              <a:off x="577412" y="4519798"/>
              <a:ext cx="1733361" cy="506407"/>
              <a:chOff x="1181287" y="4840292"/>
              <a:chExt cx="1733361" cy="506407"/>
            </a:xfrm>
          </p:grpSpPr>
          <p:grpSp>
            <p:nvGrpSpPr>
              <p:cNvPr id="103" name="Group 102">
                <a:extLst>
                  <a:ext uri="{FF2B5EF4-FFF2-40B4-BE49-F238E27FC236}">
                    <a16:creationId xmlns:a16="http://schemas.microsoft.com/office/drawing/2014/main" id="{3F00364D-D295-9842-89A0-32D919E758B3}"/>
                  </a:ext>
                </a:extLst>
              </p:cNvPr>
              <p:cNvGrpSpPr/>
              <p:nvPr/>
            </p:nvGrpSpPr>
            <p:grpSpPr>
              <a:xfrm>
                <a:off x="2102591" y="4885034"/>
                <a:ext cx="324754" cy="461665"/>
                <a:chOff x="5183912" y="4857750"/>
                <a:chExt cx="648603" cy="805233"/>
              </a:xfrm>
            </p:grpSpPr>
            <p:pic>
              <p:nvPicPr>
                <p:cNvPr id="115" name="Graphic 114" descr="Document outline">
                  <a:extLst>
                    <a:ext uri="{FF2B5EF4-FFF2-40B4-BE49-F238E27FC236}">
                      <a16:creationId xmlns:a16="http://schemas.microsoft.com/office/drawing/2014/main" id="{8A575204-EB2A-064C-B1A7-B1C704FD37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116" name="Can 115">
                  <a:extLst>
                    <a:ext uri="{FF2B5EF4-FFF2-40B4-BE49-F238E27FC236}">
                      <a16:creationId xmlns:a16="http://schemas.microsoft.com/office/drawing/2014/main" id="{178922C6-C37B-5145-A7C7-66AF4797AA87}"/>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117" name="Graphic 116" descr="Document outline">
                  <a:extLst>
                    <a:ext uri="{FF2B5EF4-FFF2-40B4-BE49-F238E27FC236}">
                      <a16:creationId xmlns:a16="http://schemas.microsoft.com/office/drawing/2014/main" id="{9024C436-DE11-6A42-9882-F5C84F5C58B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118" name="Graphic 117" descr="Document outline">
                  <a:extLst>
                    <a:ext uri="{FF2B5EF4-FFF2-40B4-BE49-F238E27FC236}">
                      <a16:creationId xmlns:a16="http://schemas.microsoft.com/office/drawing/2014/main" id="{8325E8C8-CE1C-0843-B536-E08E6471FEF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grpSp>
            <p:nvGrpSpPr>
              <p:cNvPr id="104" name="Group 103">
                <a:extLst>
                  <a:ext uri="{FF2B5EF4-FFF2-40B4-BE49-F238E27FC236}">
                    <a16:creationId xmlns:a16="http://schemas.microsoft.com/office/drawing/2014/main" id="{BAAC0DDF-19F8-A44C-95FA-3769F6A46177}"/>
                  </a:ext>
                </a:extLst>
              </p:cNvPr>
              <p:cNvGrpSpPr/>
              <p:nvPr/>
            </p:nvGrpSpPr>
            <p:grpSpPr>
              <a:xfrm>
                <a:off x="2589894" y="4885034"/>
                <a:ext cx="324754" cy="461665"/>
                <a:chOff x="5183912" y="4857750"/>
                <a:chExt cx="648603" cy="805233"/>
              </a:xfrm>
            </p:grpSpPr>
            <p:pic>
              <p:nvPicPr>
                <p:cNvPr id="111" name="Graphic 110" descr="Document outline">
                  <a:extLst>
                    <a:ext uri="{FF2B5EF4-FFF2-40B4-BE49-F238E27FC236}">
                      <a16:creationId xmlns:a16="http://schemas.microsoft.com/office/drawing/2014/main" id="{36F51DAA-7564-3E42-8038-DFBBF02E3CD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112" name="Can 111">
                  <a:extLst>
                    <a:ext uri="{FF2B5EF4-FFF2-40B4-BE49-F238E27FC236}">
                      <a16:creationId xmlns:a16="http://schemas.microsoft.com/office/drawing/2014/main" id="{A9B426C4-DD48-8244-A378-DD82A79A9BC6}"/>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3" name="Graphic 112" descr="Document outline">
                  <a:extLst>
                    <a:ext uri="{FF2B5EF4-FFF2-40B4-BE49-F238E27FC236}">
                      <a16:creationId xmlns:a16="http://schemas.microsoft.com/office/drawing/2014/main" id="{D3DFEB3B-37C6-414E-8689-F06A7F309B6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114" name="Graphic 113" descr="Document outline">
                  <a:extLst>
                    <a:ext uri="{FF2B5EF4-FFF2-40B4-BE49-F238E27FC236}">
                      <a16:creationId xmlns:a16="http://schemas.microsoft.com/office/drawing/2014/main" id="{5B88FD2D-1655-834E-A815-81E03BC5031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grpSp>
            <p:nvGrpSpPr>
              <p:cNvPr id="105" name="Group 104">
                <a:extLst>
                  <a:ext uri="{FF2B5EF4-FFF2-40B4-BE49-F238E27FC236}">
                    <a16:creationId xmlns:a16="http://schemas.microsoft.com/office/drawing/2014/main" id="{495484E3-B1D4-6645-9761-8EC3CC199687}"/>
                  </a:ext>
                </a:extLst>
              </p:cNvPr>
              <p:cNvGrpSpPr/>
              <p:nvPr/>
            </p:nvGrpSpPr>
            <p:grpSpPr>
              <a:xfrm>
                <a:off x="1181287" y="4885034"/>
                <a:ext cx="324754" cy="461665"/>
                <a:chOff x="5183912" y="4857750"/>
                <a:chExt cx="648603" cy="805233"/>
              </a:xfrm>
            </p:grpSpPr>
            <p:pic>
              <p:nvPicPr>
                <p:cNvPr id="107" name="Graphic 106" descr="Document outline">
                  <a:extLst>
                    <a:ext uri="{FF2B5EF4-FFF2-40B4-BE49-F238E27FC236}">
                      <a16:creationId xmlns:a16="http://schemas.microsoft.com/office/drawing/2014/main" id="{292D3DF3-2C63-A546-8D3C-A49D1D7F4C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108" name="Can 107">
                  <a:extLst>
                    <a:ext uri="{FF2B5EF4-FFF2-40B4-BE49-F238E27FC236}">
                      <a16:creationId xmlns:a16="http://schemas.microsoft.com/office/drawing/2014/main" id="{503C9214-4938-5441-9BA3-6689B4592F26}"/>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09" name="Graphic 108" descr="Document outline">
                  <a:extLst>
                    <a:ext uri="{FF2B5EF4-FFF2-40B4-BE49-F238E27FC236}">
                      <a16:creationId xmlns:a16="http://schemas.microsoft.com/office/drawing/2014/main" id="{D5DB7501-5774-9948-ADC2-1C5F03B3C4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110" name="Graphic 109" descr="Document outline">
                  <a:extLst>
                    <a:ext uri="{FF2B5EF4-FFF2-40B4-BE49-F238E27FC236}">
                      <a16:creationId xmlns:a16="http://schemas.microsoft.com/office/drawing/2014/main" id="{36ABD311-12AC-6146-9FDB-FC12025DBC7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sp>
            <p:nvSpPr>
              <p:cNvPr id="106" name="TextBox 105">
                <a:extLst>
                  <a:ext uri="{FF2B5EF4-FFF2-40B4-BE49-F238E27FC236}">
                    <a16:creationId xmlns:a16="http://schemas.microsoft.com/office/drawing/2014/main" id="{385C27AF-AA68-AB42-AEA7-67E722F6EF81}"/>
                  </a:ext>
                </a:extLst>
              </p:cNvPr>
              <p:cNvSpPr txBox="1"/>
              <p:nvPr/>
            </p:nvSpPr>
            <p:spPr>
              <a:xfrm>
                <a:off x="1325683" y="4840292"/>
                <a:ext cx="871538" cy="371475"/>
              </a:xfrm>
              <a:prstGeom prst="rect">
                <a:avLst/>
              </a:prstGeom>
              <a:noFill/>
            </p:spPr>
            <p:txBody>
              <a:bodyPr wrap="square" rtlCol="0">
                <a:spAutoFit/>
              </a:bodyPr>
              <a:lstStyle/>
              <a:p>
                <a:pPr algn="ctr"/>
                <a:r>
                  <a:rPr lang="en-US" dirty="0"/>
                  <a:t>…</a:t>
                </a:r>
              </a:p>
            </p:txBody>
          </p:sp>
        </p:grpSp>
        <p:sp>
          <p:nvSpPr>
            <p:cNvPr id="102" name="Cloud 101">
              <a:extLst>
                <a:ext uri="{FF2B5EF4-FFF2-40B4-BE49-F238E27FC236}">
                  <a16:creationId xmlns:a16="http://schemas.microsoft.com/office/drawing/2014/main" id="{13E68154-D835-4840-92BF-78782C94E023}"/>
                </a:ext>
              </a:extLst>
            </p:cNvPr>
            <p:cNvSpPr/>
            <p:nvPr/>
          </p:nvSpPr>
          <p:spPr>
            <a:xfrm>
              <a:off x="242921" y="4353446"/>
              <a:ext cx="2591638" cy="946333"/>
            </a:xfrm>
            <a:prstGeom prst="cloud">
              <a:avLst/>
            </a:prstGeom>
            <a:noFill/>
            <a:ln w="3492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19" name="TextBox 118">
            <a:extLst>
              <a:ext uri="{FF2B5EF4-FFF2-40B4-BE49-F238E27FC236}">
                <a16:creationId xmlns:a16="http://schemas.microsoft.com/office/drawing/2014/main" id="{C60BD2D0-6202-B249-95D1-15705AB0F4AF}"/>
              </a:ext>
            </a:extLst>
          </p:cNvPr>
          <p:cNvSpPr txBox="1"/>
          <p:nvPr/>
        </p:nvSpPr>
        <p:spPr>
          <a:xfrm>
            <a:off x="5538009" y="5005009"/>
            <a:ext cx="871538" cy="371475"/>
          </a:xfrm>
          <a:prstGeom prst="rect">
            <a:avLst/>
          </a:prstGeom>
          <a:noFill/>
        </p:spPr>
        <p:txBody>
          <a:bodyPr wrap="square" rtlCol="0">
            <a:spAutoFit/>
          </a:bodyPr>
          <a:lstStyle/>
          <a:p>
            <a:pPr algn="ctr"/>
            <a:r>
              <a:rPr lang="en-US" dirty="0"/>
              <a:t>…</a:t>
            </a:r>
          </a:p>
        </p:txBody>
      </p:sp>
      <p:cxnSp>
        <p:nvCxnSpPr>
          <p:cNvPr id="121" name="Straight Arrow Connector 120">
            <a:extLst>
              <a:ext uri="{FF2B5EF4-FFF2-40B4-BE49-F238E27FC236}">
                <a16:creationId xmlns:a16="http://schemas.microsoft.com/office/drawing/2014/main" id="{DCC1B136-9F19-8544-B4B9-75C4623377F2}"/>
              </a:ext>
            </a:extLst>
          </p:cNvPr>
          <p:cNvCxnSpPr>
            <a:cxnSpLocks/>
          </p:cNvCxnSpPr>
          <p:nvPr/>
        </p:nvCxnSpPr>
        <p:spPr>
          <a:xfrm>
            <a:off x="1431868" y="3219714"/>
            <a:ext cx="0" cy="1622290"/>
          </a:xfrm>
          <a:prstGeom prst="straightConnector1">
            <a:avLst/>
          </a:prstGeom>
          <a:ln>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38C3440A-30A2-6F46-A6F3-EF3DD37FB16B}"/>
              </a:ext>
            </a:extLst>
          </p:cNvPr>
          <p:cNvCxnSpPr>
            <a:cxnSpLocks/>
          </p:cNvCxnSpPr>
          <p:nvPr/>
        </p:nvCxnSpPr>
        <p:spPr>
          <a:xfrm>
            <a:off x="4209143" y="3219714"/>
            <a:ext cx="0" cy="1622290"/>
          </a:xfrm>
          <a:prstGeom prst="straightConnector1">
            <a:avLst/>
          </a:prstGeom>
          <a:ln>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3" name="Straight Arrow Connector 122">
            <a:extLst>
              <a:ext uri="{FF2B5EF4-FFF2-40B4-BE49-F238E27FC236}">
                <a16:creationId xmlns:a16="http://schemas.microsoft.com/office/drawing/2014/main" id="{B39389B9-6716-9348-97A8-837DD677CC24}"/>
              </a:ext>
            </a:extLst>
          </p:cNvPr>
          <p:cNvCxnSpPr>
            <a:cxnSpLocks/>
          </p:cNvCxnSpPr>
          <p:nvPr/>
        </p:nvCxnSpPr>
        <p:spPr>
          <a:xfrm>
            <a:off x="7840145" y="3216367"/>
            <a:ext cx="0" cy="1622290"/>
          </a:xfrm>
          <a:prstGeom prst="straightConnector1">
            <a:avLst/>
          </a:prstGeom>
          <a:ln>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243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0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11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AA6FA88E-742B-44C3-AB74-1D2DA9F81FFB}"/>
              </a:ext>
            </a:extLst>
          </p:cNvPr>
          <p:cNvSpPr>
            <a:spLocks noGrp="1"/>
          </p:cNvSpPr>
          <p:nvPr>
            <p:ph type="sldNum" sz="quarter" idx="12"/>
          </p:nvPr>
        </p:nvSpPr>
        <p:spPr/>
        <p:txBody>
          <a:bodyPr/>
          <a:lstStyle/>
          <a:p>
            <a:fld id="{44C99FA5-7995-46A9-A97E-16E38AD58950}" type="slidenum">
              <a:rPr lang="en-US" smtClean="0"/>
              <a:t>32</a:t>
            </a:fld>
            <a:endParaRPr lang="en-US"/>
          </a:p>
        </p:txBody>
      </p:sp>
      <p:cxnSp>
        <p:nvCxnSpPr>
          <p:cNvPr id="9" name="Straight Connector 8">
            <a:extLst>
              <a:ext uri="{FF2B5EF4-FFF2-40B4-BE49-F238E27FC236}">
                <a16:creationId xmlns:a16="http://schemas.microsoft.com/office/drawing/2014/main" id="{7F4FF83B-7E84-E040-BF8C-E5051E522B37}"/>
              </a:ext>
            </a:extLst>
          </p:cNvPr>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E0996152-5A69-F94A-99EB-9521D263A7D1}"/>
              </a:ext>
            </a:extLst>
          </p:cNvPr>
          <p:cNvSpPr txBox="1"/>
          <p:nvPr/>
        </p:nvSpPr>
        <p:spPr>
          <a:xfrm>
            <a:off x="8924" y="1246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The Birth of MapReduce (2)</a:t>
            </a:r>
          </a:p>
        </p:txBody>
      </p:sp>
      <p:sp>
        <p:nvSpPr>
          <p:cNvPr id="20" name="TextBox 19">
            <a:extLst>
              <a:ext uri="{FF2B5EF4-FFF2-40B4-BE49-F238E27FC236}">
                <a16:creationId xmlns:a16="http://schemas.microsoft.com/office/drawing/2014/main" id="{60791FE7-C277-AA4D-BEB1-A2B53C5AECC7}"/>
              </a:ext>
            </a:extLst>
          </p:cNvPr>
          <p:cNvSpPr txBox="1"/>
          <p:nvPr/>
        </p:nvSpPr>
        <p:spPr>
          <a:xfrm>
            <a:off x="5430091" y="1251699"/>
            <a:ext cx="871538" cy="371475"/>
          </a:xfrm>
          <a:prstGeom prst="rect">
            <a:avLst/>
          </a:prstGeom>
          <a:noFill/>
        </p:spPr>
        <p:txBody>
          <a:bodyPr wrap="square" rtlCol="0">
            <a:spAutoFit/>
          </a:bodyPr>
          <a:lstStyle/>
          <a:p>
            <a:pPr algn="ctr"/>
            <a:r>
              <a:rPr lang="en-US" dirty="0"/>
              <a:t>…</a:t>
            </a:r>
          </a:p>
        </p:txBody>
      </p:sp>
      <p:grpSp>
        <p:nvGrpSpPr>
          <p:cNvPr id="58" name="Group 57">
            <a:extLst>
              <a:ext uri="{FF2B5EF4-FFF2-40B4-BE49-F238E27FC236}">
                <a16:creationId xmlns:a16="http://schemas.microsoft.com/office/drawing/2014/main" id="{266BD3E0-08DB-BF4A-BAED-76D0378D3909}"/>
              </a:ext>
            </a:extLst>
          </p:cNvPr>
          <p:cNvGrpSpPr/>
          <p:nvPr/>
        </p:nvGrpSpPr>
        <p:grpSpPr>
          <a:xfrm>
            <a:off x="114185" y="1113236"/>
            <a:ext cx="2780492" cy="811698"/>
            <a:chOff x="928687" y="1514476"/>
            <a:chExt cx="2780492" cy="811698"/>
          </a:xfrm>
        </p:grpSpPr>
        <p:sp>
          <p:nvSpPr>
            <p:cNvPr id="11" name="Rectangle 10">
              <a:extLst>
                <a:ext uri="{FF2B5EF4-FFF2-40B4-BE49-F238E27FC236}">
                  <a16:creationId xmlns:a16="http://schemas.microsoft.com/office/drawing/2014/main" id="{279C5BA9-1A99-0F41-9B7C-0EB9BA24C23D}"/>
                </a:ext>
              </a:extLst>
            </p:cNvPr>
            <p:cNvSpPr/>
            <p:nvPr/>
          </p:nvSpPr>
          <p:spPr>
            <a:xfrm>
              <a:off x="957262" y="1514476"/>
              <a:ext cx="2602667" cy="811698"/>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59880A8-3C89-D54F-A0B7-97BBD7449131}"/>
                </a:ext>
              </a:extLst>
            </p:cNvPr>
            <p:cNvSpPr txBox="1"/>
            <p:nvPr/>
          </p:nvSpPr>
          <p:spPr>
            <a:xfrm>
              <a:off x="928687" y="1515271"/>
              <a:ext cx="2780492" cy="646331"/>
            </a:xfrm>
            <a:prstGeom prst="rect">
              <a:avLst/>
            </a:prstGeom>
            <a:noFill/>
          </p:spPr>
          <p:txBody>
            <a:bodyPr wrap="square" rtlCol="0">
              <a:spAutoFit/>
            </a:bodyPr>
            <a:lstStyle/>
            <a:p>
              <a:pPr algn="ctr"/>
              <a:r>
                <a:rPr lang="en-US" dirty="0"/>
                <a:t>Google Inverted Index Constructor </a:t>
              </a:r>
            </a:p>
          </p:txBody>
        </p:sp>
      </p:grpSp>
      <p:grpSp>
        <p:nvGrpSpPr>
          <p:cNvPr id="71" name="Group 70">
            <a:extLst>
              <a:ext uri="{FF2B5EF4-FFF2-40B4-BE49-F238E27FC236}">
                <a16:creationId xmlns:a16="http://schemas.microsoft.com/office/drawing/2014/main" id="{51F56023-28FE-8749-ACEE-15E32A6622BC}"/>
              </a:ext>
            </a:extLst>
          </p:cNvPr>
          <p:cNvGrpSpPr/>
          <p:nvPr/>
        </p:nvGrpSpPr>
        <p:grpSpPr>
          <a:xfrm>
            <a:off x="2798849" y="1103930"/>
            <a:ext cx="2780492" cy="821003"/>
            <a:chOff x="928687" y="1514475"/>
            <a:chExt cx="2780492" cy="821003"/>
          </a:xfrm>
        </p:grpSpPr>
        <p:sp>
          <p:nvSpPr>
            <p:cNvPr id="72" name="Rectangle 71">
              <a:extLst>
                <a:ext uri="{FF2B5EF4-FFF2-40B4-BE49-F238E27FC236}">
                  <a16:creationId xmlns:a16="http://schemas.microsoft.com/office/drawing/2014/main" id="{253223E6-B8F8-1E4E-912E-A45E0D4B8334}"/>
                </a:ext>
              </a:extLst>
            </p:cNvPr>
            <p:cNvSpPr/>
            <p:nvPr/>
          </p:nvSpPr>
          <p:spPr>
            <a:xfrm>
              <a:off x="957262" y="1514475"/>
              <a:ext cx="2602667" cy="821003"/>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FDF95F47-7FD6-3949-9370-A2296E680BB2}"/>
                </a:ext>
              </a:extLst>
            </p:cNvPr>
            <p:cNvSpPr txBox="1"/>
            <p:nvPr/>
          </p:nvSpPr>
          <p:spPr>
            <a:xfrm>
              <a:off x="928687" y="1515271"/>
              <a:ext cx="2780492" cy="646331"/>
            </a:xfrm>
            <a:prstGeom prst="rect">
              <a:avLst/>
            </a:prstGeom>
            <a:noFill/>
          </p:spPr>
          <p:txBody>
            <a:bodyPr wrap="square" rtlCol="0">
              <a:spAutoFit/>
            </a:bodyPr>
            <a:lstStyle/>
            <a:p>
              <a:pPr algn="ctr"/>
              <a:r>
                <a:rPr lang="en-US" dirty="0"/>
                <a:t>Google PageRank Computation </a:t>
              </a:r>
            </a:p>
          </p:txBody>
        </p:sp>
      </p:grpSp>
      <p:grpSp>
        <p:nvGrpSpPr>
          <p:cNvPr id="75" name="Group 74">
            <a:extLst>
              <a:ext uri="{FF2B5EF4-FFF2-40B4-BE49-F238E27FC236}">
                <a16:creationId xmlns:a16="http://schemas.microsoft.com/office/drawing/2014/main" id="{50311546-DC0B-AF4E-A9A9-7C3D2ABA481D}"/>
              </a:ext>
            </a:extLst>
          </p:cNvPr>
          <p:cNvGrpSpPr/>
          <p:nvPr/>
        </p:nvGrpSpPr>
        <p:grpSpPr>
          <a:xfrm>
            <a:off x="6372431" y="1103930"/>
            <a:ext cx="2780492" cy="821004"/>
            <a:chOff x="928687" y="1514476"/>
            <a:chExt cx="2780492" cy="821004"/>
          </a:xfrm>
        </p:grpSpPr>
        <p:sp>
          <p:nvSpPr>
            <p:cNvPr id="76" name="Rectangle 75">
              <a:extLst>
                <a:ext uri="{FF2B5EF4-FFF2-40B4-BE49-F238E27FC236}">
                  <a16:creationId xmlns:a16="http://schemas.microsoft.com/office/drawing/2014/main" id="{180C8116-3FD4-8E46-B6AE-F15018D33F2C}"/>
                </a:ext>
              </a:extLst>
            </p:cNvPr>
            <p:cNvSpPr/>
            <p:nvPr/>
          </p:nvSpPr>
          <p:spPr>
            <a:xfrm>
              <a:off x="957262" y="1514476"/>
              <a:ext cx="2602667" cy="821004"/>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7" name="TextBox 76">
              <a:extLst>
                <a:ext uri="{FF2B5EF4-FFF2-40B4-BE49-F238E27FC236}">
                  <a16:creationId xmlns:a16="http://schemas.microsoft.com/office/drawing/2014/main" id="{EAF7F4B0-3418-BA4E-BC56-5C799FD5A73B}"/>
                </a:ext>
              </a:extLst>
            </p:cNvPr>
            <p:cNvSpPr txBox="1"/>
            <p:nvPr/>
          </p:nvSpPr>
          <p:spPr>
            <a:xfrm>
              <a:off x="928687" y="1515271"/>
              <a:ext cx="2780492" cy="646331"/>
            </a:xfrm>
            <a:prstGeom prst="rect">
              <a:avLst/>
            </a:prstGeom>
            <a:noFill/>
          </p:spPr>
          <p:txBody>
            <a:bodyPr wrap="square" rtlCol="0">
              <a:spAutoFit/>
            </a:bodyPr>
            <a:lstStyle/>
            <a:p>
              <a:pPr algn="ctr"/>
              <a:r>
                <a:rPr lang="en-US" dirty="0"/>
                <a:t>Google User </a:t>
              </a:r>
            </a:p>
            <a:p>
              <a:pPr algn="ctr"/>
              <a:r>
                <a:rPr lang="en-US" dirty="0"/>
                <a:t>Dashboards</a:t>
              </a:r>
            </a:p>
          </p:txBody>
        </p:sp>
      </p:grpSp>
      <p:grpSp>
        <p:nvGrpSpPr>
          <p:cNvPr id="81" name="Group 80">
            <a:extLst>
              <a:ext uri="{FF2B5EF4-FFF2-40B4-BE49-F238E27FC236}">
                <a16:creationId xmlns:a16="http://schemas.microsoft.com/office/drawing/2014/main" id="{E0CD137D-A6DB-3A42-B051-66DEC3A100C1}"/>
              </a:ext>
            </a:extLst>
          </p:cNvPr>
          <p:cNvGrpSpPr/>
          <p:nvPr/>
        </p:nvGrpSpPr>
        <p:grpSpPr>
          <a:xfrm>
            <a:off x="2767713" y="5783037"/>
            <a:ext cx="2591638" cy="946333"/>
            <a:chOff x="242921" y="4353446"/>
            <a:chExt cx="2591638" cy="946333"/>
          </a:xfrm>
        </p:grpSpPr>
        <p:grpSp>
          <p:nvGrpSpPr>
            <p:cNvPr id="82" name="Group 81">
              <a:extLst>
                <a:ext uri="{FF2B5EF4-FFF2-40B4-BE49-F238E27FC236}">
                  <a16:creationId xmlns:a16="http://schemas.microsoft.com/office/drawing/2014/main" id="{76AADD58-47CF-4E4B-9582-05F002D22952}"/>
                </a:ext>
              </a:extLst>
            </p:cNvPr>
            <p:cNvGrpSpPr/>
            <p:nvPr/>
          </p:nvGrpSpPr>
          <p:grpSpPr>
            <a:xfrm>
              <a:off x="577412" y="4519798"/>
              <a:ext cx="1733361" cy="506407"/>
              <a:chOff x="1181287" y="4840292"/>
              <a:chExt cx="1733361" cy="506407"/>
            </a:xfrm>
          </p:grpSpPr>
          <p:grpSp>
            <p:nvGrpSpPr>
              <p:cNvPr id="84" name="Group 83">
                <a:extLst>
                  <a:ext uri="{FF2B5EF4-FFF2-40B4-BE49-F238E27FC236}">
                    <a16:creationId xmlns:a16="http://schemas.microsoft.com/office/drawing/2014/main" id="{28B5C294-A6D5-324A-994E-91057E8D47A8}"/>
                  </a:ext>
                </a:extLst>
              </p:cNvPr>
              <p:cNvGrpSpPr/>
              <p:nvPr/>
            </p:nvGrpSpPr>
            <p:grpSpPr>
              <a:xfrm>
                <a:off x="2102591" y="4885034"/>
                <a:ext cx="324754" cy="461665"/>
                <a:chOff x="5183912" y="4857750"/>
                <a:chExt cx="648603" cy="805233"/>
              </a:xfrm>
            </p:grpSpPr>
            <p:pic>
              <p:nvPicPr>
                <p:cNvPr id="96" name="Graphic 95" descr="Document outline">
                  <a:extLst>
                    <a:ext uri="{FF2B5EF4-FFF2-40B4-BE49-F238E27FC236}">
                      <a16:creationId xmlns:a16="http://schemas.microsoft.com/office/drawing/2014/main" id="{B0CF99AE-9C62-E541-9628-EE16B281C5D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97" name="Can 96">
                  <a:extLst>
                    <a:ext uri="{FF2B5EF4-FFF2-40B4-BE49-F238E27FC236}">
                      <a16:creationId xmlns:a16="http://schemas.microsoft.com/office/drawing/2014/main" id="{A724ED98-2CF4-214D-A88B-44364682BEB1}"/>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pic>
              <p:nvPicPr>
                <p:cNvPr id="98" name="Graphic 97" descr="Document outline">
                  <a:extLst>
                    <a:ext uri="{FF2B5EF4-FFF2-40B4-BE49-F238E27FC236}">
                      <a16:creationId xmlns:a16="http://schemas.microsoft.com/office/drawing/2014/main" id="{68F2B1CB-2359-3D47-B7C1-87D19E23D8C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99" name="Graphic 98" descr="Document outline">
                  <a:extLst>
                    <a:ext uri="{FF2B5EF4-FFF2-40B4-BE49-F238E27FC236}">
                      <a16:creationId xmlns:a16="http://schemas.microsoft.com/office/drawing/2014/main" id="{4CD861CA-E1FD-1B45-AEEF-156B25D8EBE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grpSp>
            <p:nvGrpSpPr>
              <p:cNvPr id="85" name="Group 84">
                <a:extLst>
                  <a:ext uri="{FF2B5EF4-FFF2-40B4-BE49-F238E27FC236}">
                    <a16:creationId xmlns:a16="http://schemas.microsoft.com/office/drawing/2014/main" id="{D17C70E1-BCF7-CD45-9ACB-26F0F739AF37}"/>
                  </a:ext>
                </a:extLst>
              </p:cNvPr>
              <p:cNvGrpSpPr/>
              <p:nvPr/>
            </p:nvGrpSpPr>
            <p:grpSpPr>
              <a:xfrm>
                <a:off x="2589894" y="4885034"/>
                <a:ext cx="324754" cy="461665"/>
                <a:chOff x="5183912" y="4857750"/>
                <a:chExt cx="648603" cy="805233"/>
              </a:xfrm>
            </p:grpSpPr>
            <p:pic>
              <p:nvPicPr>
                <p:cNvPr id="92" name="Graphic 91" descr="Document outline">
                  <a:extLst>
                    <a:ext uri="{FF2B5EF4-FFF2-40B4-BE49-F238E27FC236}">
                      <a16:creationId xmlns:a16="http://schemas.microsoft.com/office/drawing/2014/main" id="{7950471C-6B3F-BD42-BDB3-54438904CF07}"/>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93" name="Can 92">
                  <a:extLst>
                    <a:ext uri="{FF2B5EF4-FFF2-40B4-BE49-F238E27FC236}">
                      <a16:creationId xmlns:a16="http://schemas.microsoft.com/office/drawing/2014/main" id="{B01104BC-97B4-FD49-9A56-9E9536EB5352}"/>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4" name="Graphic 93" descr="Document outline">
                  <a:extLst>
                    <a:ext uri="{FF2B5EF4-FFF2-40B4-BE49-F238E27FC236}">
                      <a16:creationId xmlns:a16="http://schemas.microsoft.com/office/drawing/2014/main" id="{B497B7AC-87AC-E34C-A338-1311B004AA4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95" name="Graphic 94" descr="Document outline">
                  <a:extLst>
                    <a:ext uri="{FF2B5EF4-FFF2-40B4-BE49-F238E27FC236}">
                      <a16:creationId xmlns:a16="http://schemas.microsoft.com/office/drawing/2014/main" id="{A4DAB82F-AF04-6943-850B-0F288CCD19B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grpSp>
            <p:nvGrpSpPr>
              <p:cNvPr id="86" name="Group 85">
                <a:extLst>
                  <a:ext uri="{FF2B5EF4-FFF2-40B4-BE49-F238E27FC236}">
                    <a16:creationId xmlns:a16="http://schemas.microsoft.com/office/drawing/2014/main" id="{4706BD7A-801B-D746-A1CE-94C226723896}"/>
                  </a:ext>
                </a:extLst>
              </p:cNvPr>
              <p:cNvGrpSpPr/>
              <p:nvPr/>
            </p:nvGrpSpPr>
            <p:grpSpPr>
              <a:xfrm>
                <a:off x="1181287" y="4885034"/>
                <a:ext cx="324754" cy="461665"/>
                <a:chOff x="5183912" y="4857750"/>
                <a:chExt cx="648603" cy="805233"/>
              </a:xfrm>
            </p:grpSpPr>
            <p:pic>
              <p:nvPicPr>
                <p:cNvPr id="88" name="Graphic 87" descr="Document outline">
                  <a:extLst>
                    <a:ext uri="{FF2B5EF4-FFF2-40B4-BE49-F238E27FC236}">
                      <a16:creationId xmlns:a16="http://schemas.microsoft.com/office/drawing/2014/main" id="{642B3DE5-EB40-EB47-BEEE-6022744E1D0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316537"/>
                  <a:ext cx="311707" cy="311707"/>
                </a:xfrm>
                <a:prstGeom prst="rect">
                  <a:avLst/>
                </a:prstGeom>
              </p:spPr>
            </p:pic>
            <p:sp>
              <p:nvSpPr>
                <p:cNvPr id="89" name="Can 88">
                  <a:extLst>
                    <a:ext uri="{FF2B5EF4-FFF2-40B4-BE49-F238E27FC236}">
                      <a16:creationId xmlns:a16="http://schemas.microsoft.com/office/drawing/2014/main" id="{09879DAF-884D-104F-A081-1FDDC02D82D6}"/>
                    </a:ext>
                  </a:extLst>
                </p:cNvPr>
                <p:cNvSpPr/>
                <p:nvPr/>
              </p:nvSpPr>
              <p:spPr>
                <a:xfrm>
                  <a:off x="5183912" y="4857750"/>
                  <a:ext cx="645388" cy="805233"/>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0" name="Graphic 89" descr="Document outline">
                  <a:extLst>
                    <a:ext uri="{FF2B5EF4-FFF2-40B4-BE49-F238E27FC236}">
                      <a16:creationId xmlns:a16="http://schemas.microsoft.com/office/drawing/2014/main" id="{52A9D6BE-21F0-BE4F-8515-9419487A695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09101" y="5027242"/>
                  <a:ext cx="311707" cy="311707"/>
                </a:xfrm>
                <a:prstGeom prst="rect">
                  <a:avLst/>
                </a:prstGeom>
              </p:spPr>
            </p:pic>
            <p:pic>
              <p:nvPicPr>
                <p:cNvPr id="91" name="Graphic 90" descr="Document outline">
                  <a:extLst>
                    <a:ext uri="{FF2B5EF4-FFF2-40B4-BE49-F238E27FC236}">
                      <a16:creationId xmlns:a16="http://schemas.microsoft.com/office/drawing/2014/main" id="{4FF89030-ACC9-7342-B49E-8496A6E667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20808" y="5200964"/>
                  <a:ext cx="311707" cy="311707"/>
                </a:xfrm>
                <a:prstGeom prst="rect">
                  <a:avLst/>
                </a:prstGeom>
              </p:spPr>
            </p:pic>
          </p:grpSp>
          <p:sp>
            <p:nvSpPr>
              <p:cNvPr id="87" name="TextBox 86">
                <a:extLst>
                  <a:ext uri="{FF2B5EF4-FFF2-40B4-BE49-F238E27FC236}">
                    <a16:creationId xmlns:a16="http://schemas.microsoft.com/office/drawing/2014/main" id="{667EBFC3-7653-9049-8891-123B30EDF5A5}"/>
                  </a:ext>
                </a:extLst>
              </p:cNvPr>
              <p:cNvSpPr txBox="1"/>
              <p:nvPr/>
            </p:nvSpPr>
            <p:spPr>
              <a:xfrm>
                <a:off x="1325683" y="4840292"/>
                <a:ext cx="871538" cy="371475"/>
              </a:xfrm>
              <a:prstGeom prst="rect">
                <a:avLst/>
              </a:prstGeom>
              <a:noFill/>
            </p:spPr>
            <p:txBody>
              <a:bodyPr wrap="square" rtlCol="0">
                <a:spAutoFit/>
              </a:bodyPr>
              <a:lstStyle/>
              <a:p>
                <a:pPr algn="ctr"/>
                <a:r>
                  <a:rPr lang="en-US" dirty="0"/>
                  <a:t>…</a:t>
                </a:r>
              </a:p>
            </p:txBody>
          </p:sp>
        </p:grpSp>
        <p:sp>
          <p:nvSpPr>
            <p:cNvPr id="83" name="Cloud 82">
              <a:extLst>
                <a:ext uri="{FF2B5EF4-FFF2-40B4-BE49-F238E27FC236}">
                  <a16:creationId xmlns:a16="http://schemas.microsoft.com/office/drawing/2014/main" id="{0D2B94C8-2A81-2A4B-8564-FEFE23D60D4B}"/>
                </a:ext>
              </a:extLst>
            </p:cNvPr>
            <p:cNvSpPr/>
            <p:nvPr/>
          </p:nvSpPr>
          <p:spPr>
            <a:xfrm>
              <a:off x="242921" y="4353446"/>
              <a:ext cx="2591638" cy="946333"/>
            </a:xfrm>
            <a:prstGeom prst="cloud">
              <a:avLst/>
            </a:prstGeom>
            <a:noFill/>
            <a:ln w="34925">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cxnSp>
        <p:nvCxnSpPr>
          <p:cNvPr id="122" name="Straight Arrow Connector 121">
            <a:extLst>
              <a:ext uri="{FF2B5EF4-FFF2-40B4-BE49-F238E27FC236}">
                <a16:creationId xmlns:a16="http://schemas.microsoft.com/office/drawing/2014/main" id="{38C3440A-30A2-6F46-A6F3-EF3DD37FB16B}"/>
              </a:ext>
            </a:extLst>
          </p:cNvPr>
          <p:cNvCxnSpPr>
            <a:cxnSpLocks/>
            <a:stCxn id="11" idx="2"/>
            <a:endCxn id="125" idx="0"/>
          </p:cNvCxnSpPr>
          <p:nvPr/>
        </p:nvCxnSpPr>
        <p:spPr>
          <a:xfrm>
            <a:off x="1444094" y="1924934"/>
            <a:ext cx="2691765" cy="1189522"/>
          </a:xfrm>
          <a:prstGeom prst="straightConnector1">
            <a:avLst/>
          </a:prstGeom>
          <a:ln>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grpSp>
        <p:nvGrpSpPr>
          <p:cNvPr id="120" name="Group 119">
            <a:extLst>
              <a:ext uri="{FF2B5EF4-FFF2-40B4-BE49-F238E27FC236}">
                <a16:creationId xmlns:a16="http://schemas.microsoft.com/office/drawing/2014/main" id="{B41FE650-842D-284F-A5F2-435AEE5F8947}"/>
              </a:ext>
            </a:extLst>
          </p:cNvPr>
          <p:cNvGrpSpPr/>
          <p:nvPr/>
        </p:nvGrpSpPr>
        <p:grpSpPr>
          <a:xfrm>
            <a:off x="2745613" y="3113661"/>
            <a:ext cx="2780492" cy="1755378"/>
            <a:chOff x="928687" y="1514476"/>
            <a:chExt cx="2780492" cy="1755378"/>
          </a:xfrm>
        </p:grpSpPr>
        <p:sp>
          <p:nvSpPr>
            <p:cNvPr id="124" name="Rectangle 123">
              <a:extLst>
                <a:ext uri="{FF2B5EF4-FFF2-40B4-BE49-F238E27FC236}">
                  <a16:creationId xmlns:a16="http://schemas.microsoft.com/office/drawing/2014/main" id="{8EE0E4B1-2BD9-CC46-9169-86459FBA9C03}"/>
                </a:ext>
              </a:extLst>
            </p:cNvPr>
            <p:cNvSpPr/>
            <p:nvPr/>
          </p:nvSpPr>
          <p:spPr>
            <a:xfrm>
              <a:off x="957262" y="1514476"/>
              <a:ext cx="2602667" cy="1755378"/>
            </a:xfrm>
            <a:prstGeom prst="rect">
              <a:avLst/>
            </a:prstGeom>
            <a:noFill/>
            <a:ln>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5" name="TextBox 124">
              <a:extLst>
                <a:ext uri="{FF2B5EF4-FFF2-40B4-BE49-F238E27FC236}">
                  <a16:creationId xmlns:a16="http://schemas.microsoft.com/office/drawing/2014/main" id="{3864D8D2-856E-524A-9ACE-96F0DADD5A78}"/>
                </a:ext>
              </a:extLst>
            </p:cNvPr>
            <p:cNvSpPr txBox="1"/>
            <p:nvPr/>
          </p:nvSpPr>
          <p:spPr>
            <a:xfrm>
              <a:off x="928687" y="1515271"/>
              <a:ext cx="2780492" cy="369332"/>
            </a:xfrm>
            <a:prstGeom prst="rect">
              <a:avLst/>
            </a:prstGeom>
            <a:noFill/>
          </p:spPr>
          <p:txBody>
            <a:bodyPr wrap="square" rtlCol="0">
              <a:spAutoFit/>
            </a:bodyPr>
            <a:lstStyle/>
            <a:p>
              <a:pPr algn="ctr"/>
              <a:r>
                <a:rPr lang="en-US" dirty="0"/>
                <a:t>MapReduce System</a:t>
              </a:r>
            </a:p>
          </p:txBody>
        </p:sp>
        <p:sp>
          <p:nvSpPr>
            <p:cNvPr id="126" name="TextBox 125">
              <a:extLst>
                <a:ext uri="{FF2B5EF4-FFF2-40B4-BE49-F238E27FC236}">
                  <a16:creationId xmlns:a16="http://schemas.microsoft.com/office/drawing/2014/main" id="{49FDACC5-324F-6444-88C7-3EB680D6BF89}"/>
                </a:ext>
              </a:extLst>
            </p:cNvPr>
            <p:cNvSpPr txBox="1"/>
            <p:nvPr/>
          </p:nvSpPr>
          <p:spPr>
            <a:xfrm>
              <a:off x="942049" y="1845479"/>
              <a:ext cx="2602668" cy="1246495"/>
            </a:xfrm>
            <a:prstGeom prst="rect">
              <a:avLst/>
            </a:prstGeom>
            <a:noFill/>
          </p:spPr>
          <p:txBody>
            <a:bodyPr wrap="square" rtlCol="0">
              <a:spAutoFit/>
            </a:bodyPr>
            <a:lstStyle/>
            <a:p>
              <a:r>
                <a:rPr lang="en-US" sz="1500" dirty="0">
                  <a:solidFill>
                    <a:srgbClr val="990000"/>
                  </a:solidFill>
                  <a:latin typeface="Arial" panose="020B0604020202020204" pitchFamily="34" charset="0"/>
                  <a:cs typeface="Arial" panose="020B0604020202020204" pitchFamily="34" charset="0"/>
                </a:rPr>
                <a:t>Code for:</a:t>
              </a:r>
            </a:p>
            <a:p>
              <a:r>
                <a:rPr lang="en-US" sz="1500" dirty="0">
                  <a:solidFill>
                    <a:srgbClr val="990000"/>
                  </a:solidFill>
                  <a:latin typeface="Arial" panose="020B0604020202020204" pitchFamily="34" charset="0"/>
                  <a:cs typeface="Arial" panose="020B0604020202020204" pitchFamily="34" charset="0"/>
                </a:rPr>
                <a:t>Computation parallelization</a:t>
              </a:r>
            </a:p>
            <a:p>
              <a:r>
                <a:rPr lang="en-US" sz="1500" dirty="0">
                  <a:solidFill>
                    <a:srgbClr val="990000"/>
                  </a:solidFill>
                  <a:latin typeface="Arial" panose="020B0604020202020204" pitchFamily="34" charset="0"/>
                  <a:cs typeface="Arial" panose="020B0604020202020204" pitchFamily="34" charset="0"/>
                </a:rPr>
                <a:t>across a cluster of machines</a:t>
              </a:r>
            </a:p>
            <a:p>
              <a:r>
                <a:rPr lang="en-US" sz="1500" dirty="0">
                  <a:solidFill>
                    <a:srgbClr val="990000"/>
                  </a:solidFill>
                  <a:latin typeface="Arial" panose="020B0604020202020204" pitchFamily="34" charset="0"/>
                  <a:cs typeface="Arial" panose="020B0604020202020204" pitchFamily="34" charset="0"/>
                </a:rPr>
                <a:t>Distributing data files,</a:t>
              </a:r>
            </a:p>
            <a:p>
              <a:r>
                <a:rPr lang="en-US" sz="1500" dirty="0">
                  <a:solidFill>
                    <a:srgbClr val="990000"/>
                  </a:solidFill>
                  <a:latin typeface="Arial" panose="020B0604020202020204" pitchFamily="34" charset="0"/>
                  <a:cs typeface="Arial" panose="020B0604020202020204" pitchFamily="34" charset="0"/>
                </a:rPr>
                <a:t>Custer failure recovery </a:t>
              </a:r>
            </a:p>
          </p:txBody>
        </p:sp>
      </p:grpSp>
      <p:cxnSp>
        <p:nvCxnSpPr>
          <p:cNvPr id="127" name="Straight Arrow Connector 126">
            <a:extLst>
              <a:ext uri="{FF2B5EF4-FFF2-40B4-BE49-F238E27FC236}">
                <a16:creationId xmlns:a16="http://schemas.microsoft.com/office/drawing/2014/main" id="{85FBE486-E24E-C34E-9E8F-88E63C951B56}"/>
              </a:ext>
            </a:extLst>
          </p:cNvPr>
          <p:cNvCxnSpPr>
            <a:cxnSpLocks/>
            <a:stCxn id="72" idx="2"/>
            <a:endCxn id="125" idx="0"/>
          </p:cNvCxnSpPr>
          <p:nvPr/>
        </p:nvCxnSpPr>
        <p:spPr>
          <a:xfrm>
            <a:off x="4128758" y="1924933"/>
            <a:ext cx="7101" cy="1189523"/>
          </a:xfrm>
          <a:prstGeom prst="straightConnector1">
            <a:avLst/>
          </a:prstGeom>
          <a:ln>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8" name="Straight Arrow Connector 127">
            <a:extLst>
              <a:ext uri="{FF2B5EF4-FFF2-40B4-BE49-F238E27FC236}">
                <a16:creationId xmlns:a16="http://schemas.microsoft.com/office/drawing/2014/main" id="{ED401DBE-716D-7B40-9742-B7FABFFA2A9D}"/>
              </a:ext>
            </a:extLst>
          </p:cNvPr>
          <p:cNvCxnSpPr>
            <a:cxnSpLocks/>
            <a:stCxn id="76" idx="2"/>
            <a:endCxn id="125" idx="0"/>
          </p:cNvCxnSpPr>
          <p:nvPr/>
        </p:nvCxnSpPr>
        <p:spPr>
          <a:xfrm flipH="1">
            <a:off x="4135859" y="1924934"/>
            <a:ext cx="3566481" cy="1189522"/>
          </a:xfrm>
          <a:prstGeom prst="straightConnector1">
            <a:avLst/>
          </a:prstGeom>
          <a:ln>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cxnSp>
        <p:nvCxnSpPr>
          <p:cNvPr id="129" name="Straight Arrow Connector 128">
            <a:extLst>
              <a:ext uri="{FF2B5EF4-FFF2-40B4-BE49-F238E27FC236}">
                <a16:creationId xmlns:a16="http://schemas.microsoft.com/office/drawing/2014/main" id="{68114637-90FC-FD4E-83ED-D11A69231A69}"/>
              </a:ext>
            </a:extLst>
          </p:cNvPr>
          <p:cNvCxnSpPr>
            <a:cxnSpLocks/>
            <a:stCxn id="124" idx="2"/>
            <a:endCxn id="83" idx="3"/>
          </p:cNvCxnSpPr>
          <p:nvPr/>
        </p:nvCxnSpPr>
        <p:spPr>
          <a:xfrm flipH="1">
            <a:off x="4063532" y="4869039"/>
            <a:ext cx="11990" cy="968105"/>
          </a:xfrm>
          <a:prstGeom prst="straightConnector1">
            <a:avLst/>
          </a:prstGeom>
          <a:ln>
            <a:solidFill>
              <a:schemeClr val="tx1"/>
            </a:solidFill>
            <a:headEnd type="none"/>
            <a:tailEnd type="none"/>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52538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Another Recent Example: </a:t>
            </a:r>
            <a:r>
              <a:rPr lang="en-US" sz="3200" dirty="0">
                <a:latin typeface="Arial" panose="020B0604020202020204" pitchFamily="34" charset="0"/>
                <a:cs typeface="Arial" panose="020B0604020202020204" pitchFamily="34" charset="0"/>
                <a:hlinkClick r:id="rId3"/>
              </a:rPr>
              <a:t>Apache Arrow</a:t>
            </a:r>
            <a:endParaRPr lang="en-US" sz="3200" dirty="0">
              <a:latin typeface="Arial" panose="020B0604020202020204" pitchFamily="34" charset="0"/>
              <a:cs typeface="Arial" panose="020B0604020202020204" pitchFamily="34" charset="0"/>
            </a:endParaRPr>
          </a:p>
        </p:txBody>
      </p:sp>
      <p:cxnSp>
        <p:nvCxnSpPr>
          <p:cNvPr id="5" name="Straight Connector 4"/>
          <p:cNvCxnSpPr/>
          <p:nvPr/>
        </p:nvCxnSpPr>
        <p:spPr>
          <a:xfrm>
            <a:off x="8924" y="638782"/>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B1182C1A-F05B-914E-8501-054417AAEE4E}"/>
              </a:ext>
            </a:extLst>
          </p:cNvPr>
          <p:cNvSpPr txBox="1"/>
          <p:nvPr/>
        </p:nvSpPr>
        <p:spPr>
          <a:xfrm>
            <a:off x="-1" y="723187"/>
            <a:ext cx="9143999" cy="461665"/>
          </a:xfrm>
          <a:prstGeom prst="rect">
            <a:avLst/>
          </a:prstGeom>
          <a:noFill/>
        </p:spPr>
        <p:txBody>
          <a:bodyPr wrap="square" rtlCol="0">
            <a:spAutoFit/>
          </a:bodyPr>
          <a:lstStyle/>
          <a:p>
            <a:pPr marL="342900" indent="-342900">
              <a:buFont typeface="Wingdings" pitchFamily="2" charset="2"/>
              <a:buChar char="Ø"/>
            </a:pPr>
            <a:r>
              <a:rPr lang="en-US" sz="2400" dirty="0">
                <a:latin typeface="Arial" panose="020B0604020202020204" pitchFamily="34" charset="0"/>
                <a:cs typeface="Arial" panose="020B0604020202020204" pitchFamily="34" charset="0"/>
              </a:rPr>
              <a:t>A New Columnar Data Format and Library for Data Science</a:t>
            </a:r>
            <a:endParaRPr lang="en-US" dirty="0"/>
          </a:p>
        </p:txBody>
      </p:sp>
      <p:pic>
        <p:nvPicPr>
          <p:cNvPr id="6" name="Picture 5" descr="Diagram&#10;&#10;Description automatically generated">
            <a:extLst>
              <a:ext uri="{FF2B5EF4-FFF2-40B4-BE49-F238E27FC236}">
                <a16:creationId xmlns:a16="http://schemas.microsoft.com/office/drawing/2014/main" id="{6B7838BB-9992-4648-AFB1-1FE72B0AC62C}"/>
              </a:ext>
            </a:extLst>
          </p:cNvPr>
          <p:cNvPicPr>
            <a:picLocks noChangeAspect="1"/>
          </p:cNvPicPr>
          <p:nvPr/>
        </p:nvPicPr>
        <p:blipFill>
          <a:blip r:embed="rId4"/>
          <a:stretch>
            <a:fillRect/>
          </a:stretch>
        </p:blipFill>
        <p:spPr>
          <a:xfrm>
            <a:off x="492919" y="1546194"/>
            <a:ext cx="8158163" cy="4905391"/>
          </a:xfrm>
          <a:prstGeom prst="rect">
            <a:avLst/>
          </a:prstGeom>
        </p:spPr>
      </p:pic>
    </p:spTree>
    <p:extLst>
      <p:ext uri="{BB962C8B-B14F-4D97-AF65-F5344CB8AC3E}">
        <p14:creationId xmlns:p14="http://schemas.microsoft.com/office/powerpoint/2010/main" val="17973244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Same Application Development W/ a DBMS</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01A30E2-8CE0-0947-A473-551511F82A58}"/>
              </a:ext>
            </a:extLst>
          </p:cNvPr>
          <p:cNvSpPr txBox="1"/>
          <p:nvPr/>
        </p:nvSpPr>
        <p:spPr>
          <a:xfrm>
            <a:off x="8924" y="730767"/>
            <a:ext cx="9143999" cy="1665584"/>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We will use a Relational DBMS (RDBMS) but can use other DBMSs too </a:t>
            </a:r>
            <a:r>
              <a:rPr lang="en-US" sz="2400" i="1" dirty="0">
                <a:latin typeface="Arial" panose="020B0604020202020204" pitchFamily="34" charset="0"/>
                <a:cs typeface="Arial" panose="020B0604020202020204" pitchFamily="34" charset="0"/>
              </a:rPr>
              <a:t>(e.g., a graph database management system)</a:t>
            </a:r>
          </a:p>
          <a:p>
            <a:pPr marL="914400" lvl="1" indent="-457200">
              <a:lnSpc>
                <a:spcPct val="150000"/>
              </a:lnSpc>
              <a:buFont typeface="Wingdings" pitchFamily="2" charset="2"/>
              <a:buChar char="Ø"/>
            </a:pPr>
            <a:r>
              <a:rPr lang="en-US" sz="2300" dirty="0">
                <a:latin typeface="Arial" panose="020B0604020202020204" pitchFamily="34" charset="0"/>
                <a:cs typeface="Arial" panose="020B0604020202020204" pitchFamily="34" charset="0"/>
              </a:rPr>
              <a:t>Ex: PostgreSQL, Oracle, MySQL, SAP HANA, Snowflake…</a:t>
            </a:r>
          </a:p>
        </p:txBody>
      </p:sp>
    </p:spTree>
    <p:extLst>
      <p:ext uri="{BB962C8B-B14F-4D97-AF65-F5344CB8AC3E}">
        <p14:creationId xmlns:p14="http://schemas.microsoft.com/office/powerpoint/2010/main" val="34682364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Data Modeling With an RDBMS (1)</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Table 7">
            <a:extLst>
              <a:ext uri="{FF2B5EF4-FFF2-40B4-BE49-F238E27FC236}">
                <a16:creationId xmlns:a16="http://schemas.microsoft.com/office/drawing/2014/main" id="{ECEC43B0-0D3E-2448-8B4B-E856AF639657}"/>
              </a:ext>
            </a:extLst>
          </p:cNvPr>
          <p:cNvGraphicFramePr>
            <a:graphicFrameLocks noGrp="1"/>
          </p:cNvGraphicFramePr>
          <p:nvPr>
            <p:extLst>
              <p:ext uri="{D42A27DB-BD31-4B8C-83A1-F6EECF244321}">
                <p14:modId xmlns:p14="http://schemas.microsoft.com/office/powerpoint/2010/main" val="349205614"/>
              </p:ext>
            </p:extLst>
          </p:nvPr>
        </p:nvGraphicFramePr>
        <p:xfrm>
          <a:off x="102971" y="1841845"/>
          <a:ext cx="2626360" cy="1854200"/>
        </p:xfrm>
        <a:graphic>
          <a:graphicData uri="http://schemas.openxmlformats.org/drawingml/2006/table">
            <a:tbl>
              <a:tblPr firstRow="1" bandRow="1">
                <a:tableStyleId>{5940675A-B579-460E-94D1-54222C63F5DA}</a:tableStyleId>
              </a:tblPr>
              <a:tblGrid>
                <a:gridCol w="1370330">
                  <a:extLst>
                    <a:ext uri="{9D8B030D-6E8A-4147-A177-3AD203B41FA5}">
                      <a16:colId xmlns:a16="http://schemas.microsoft.com/office/drawing/2014/main" val="2472199741"/>
                    </a:ext>
                  </a:extLst>
                </a:gridCol>
                <a:gridCol w="1256030">
                  <a:extLst>
                    <a:ext uri="{9D8B030D-6E8A-4147-A177-3AD203B41FA5}">
                      <a16:colId xmlns:a16="http://schemas.microsoft.com/office/drawing/2014/main" val="2842918078"/>
                    </a:ext>
                  </a:extLst>
                </a:gridCol>
              </a:tblGrid>
              <a:tr h="370840">
                <a:tc gridSpan="2">
                  <a:txBody>
                    <a:bodyPr/>
                    <a:lstStyle/>
                    <a:p>
                      <a:pPr algn="ctr"/>
                      <a:r>
                        <a:rPr lang="en-US" sz="1600" dirty="0">
                          <a:latin typeface="Arial" panose="020B0604020202020204" pitchFamily="34" charset="0"/>
                          <a:cs typeface="Arial" panose="020B0604020202020204" pitchFamily="34" charset="0"/>
                        </a:rPr>
                        <a:t>Customers</a:t>
                      </a:r>
                    </a:p>
                  </a:txBody>
                  <a:tcPr/>
                </a:tc>
                <a:tc hMerge="1">
                  <a:txBody>
                    <a:bodyPr/>
                    <a:lstStyle/>
                    <a:p>
                      <a:endParaRPr lang="en-US" dirty="0"/>
                    </a:p>
                  </a:txBody>
                  <a:tcPr/>
                </a:tc>
                <a:extLst>
                  <a:ext uri="{0D108BD9-81ED-4DB2-BD59-A6C34878D82A}">
                    <a16:rowId xmlns:a16="http://schemas.microsoft.com/office/drawing/2014/main" val="159262072"/>
                  </a:ext>
                </a:extLst>
              </a:tr>
              <a:tr h="370840">
                <a:tc>
                  <a:txBody>
                    <a:bodyPr/>
                    <a:lstStyle/>
                    <a:p>
                      <a:pPr algn="ctr"/>
                      <a:r>
                        <a:rPr lang="en-US" sz="1600" u="sng" dirty="0">
                          <a:latin typeface="Arial" panose="020B0604020202020204" pitchFamily="34" charset="0"/>
                          <a:cs typeface="Arial" panose="020B0604020202020204" pitchFamily="34" charset="0"/>
                        </a:rPr>
                        <a:t>name</a:t>
                      </a:r>
                    </a:p>
                  </a:txBody>
                  <a:tcPr/>
                </a:tc>
                <a:tc>
                  <a:txBody>
                    <a:bodyPr/>
                    <a:lstStyle/>
                    <a:p>
                      <a:pPr algn="ctr"/>
                      <a:r>
                        <a:rPr lang="en-US" sz="1600" u="sng" dirty="0">
                          <a:latin typeface="Arial" panose="020B0604020202020204" pitchFamily="34" charset="0"/>
                          <a:cs typeface="Arial" panose="020B0604020202020204" pitchFamily="34" charset="0"/>
                        </a:rPr>
                        <a:t>birthday</a:t>
                      </a:r>
                    </a:p>
                  </a:txBody>
                  <a:tcPr/>
                </a:tc>
                <a:extLst>
                  <a:ext uri="{0D108BD9-81ED-4DB2-BD59-A6C34878D82A}">
                    <a16:rowId xmlns:a16="http://schemas.microsoft.com/office/drawing/2014/main" val="3365197780"/>
                  </a:ext>
                </a:extLst>
              </a:tr>
              <a:tr h="370840">
                <a:tc>
                  <a:txBody>
                    <a:bodyPr/>
                    <a:lstStyle/>
                    <a:p>
                      <a:r>
                        <a:rPr lang="en-US" sz="1600" dirty="0">
                          <a:latin typeface="Arial" panose="020B0604020202020204" pitchFamily="34" charset="0"/>
                          <a:cs typeface="Arial" panose="020B0604020202020204" pitchFamily="34" charset="0"/>
                        </a:rPr>
                        <a:t>Alice</a:t>
                      </a:r>
                    </a:p>
                  </a:txBody>
                  <a:tcPr/>
                </a:tc>
                <a:tc>
                  <a:txBody>
                    <a:bodyPr/>
                    <a:lstStyle/>
                    <a:p>
                      <a:r>
                        <a:rPr lang="en-US" sz="1600" dirty="0">
                          <a:latin typeface="Arial" panose="020B0604020202020204" pitchFamily="34" charset="0"/>
                          <a:cs typeface="Arial" panose="020B0604020202020204" pitchFamily="34" charset="0"/>
                        </a:rPr>
                        <a:t>2001/09/08</a:t>
                      </a:r>
                    </a:p>
                  </a:txBody>
                  <a:tcPr/>
                </a:tc>
                <a:extLst>
                  <a:ext uri="{0D108BD9-81ED-4DB2-BD59-A6C34878D82A}">
                    <a16:rowId xmlns:a16="http://schemas.microsoft.com/office/drawing/2014/main" val="85169070"/>
                  </a:ext>
                </a:extLst>
              </a:tr>
              <a:tr h="370840">
                <a:tc>
                  <a:txBody>
                    <a:bodyPr/>
                    <a:lstStyle/>
                    <a:p>
                      <a:r>
                        <a:rPr lang="en-US" sz="1600" dirty="0">
                          <a:latin typeface="Arial" panose="020B0604020202020204" pitchFamily="34" charset="0"/>
                          <a:cs typeface="Arial" panose="020B0604020202020204" pitchFamily="34" charset="0"/>
                        </a:rPr>
                        <a:t>Bob</a:t>
                      </a:r>
                    </a:p>
                  </a:txBody>
                  <a:tcPr/>
                </a:tc>
                <a:tc>
                  <a:txBody>
                    <a:bodyPr/>
                    <a:lstStyle/>
                    <a:p>
                      <a:r>
                        <a:rPr lang="en-US" sz="1600" dirty="0">
                          <a:latin typeface="Arial" panose="020B0604020202020204" pitchFamily="34" charset="0"/>
                          <a:cs typeface="Arial" panose="020B0604020202020204" pitchFamily="34" charset="0"/>
                        </a:rPr>
                        <a:t>2002/05/20</a:t>
                      </a:r>
                    </a:p>
                  </a:txBody>
                  <a:tcPr/>
                </a:tc>
                <a:extLst>
                  <a:ext uri="{0D108BD9-81ED-4DB2-BD59-A6C34878D82A}">
                    <a16:rowId xmlns:a16="http://schemas.microsoft.com/office/drawing/2014/main" val="3691146879"/>
                  </a:ext>
                </a:extLst>
              </a:tr>
              <a:tr h="370840">
                <a:tc>
                  <a:txBody>
                    <a:bodyPr/>
                    <a:lstStyle/>
                    <a:p>
                      <a:pPr algn="ctr"/>
                      <a:r>
                        <a:rPr lang="en-US" sz="1600" dirty="0">
                          <a:latin typeface="Arial" panose="020B0604020202020204" pitchFamily="34" charset="0"/>
                          <a:cs typeface="Arial" panose="020B0604020202020204" pitchFamily="34" charset="0"/>
                        </a:rPr>
                        <a:t>…</a:t>
                      </a:r>
                    </a:p>
                  </a:txBody>
                  <a:tcPr/>
                </a:tc>
                <a:tc>
                  <a:txBody>
                    <a:bodyPr/>
                    <a:lstStyle/>
                    <a:p>
                      <a:pPr algn="ctr"/>
                      <a:r>
                        <a:rPr lang="en-US" sz="16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9490285"/>
                  </a:ext>
                </a:extLst>
              </a:tr>
            </a:tbl>
          </a:graphicData>
        </a:graphic>
      </p:graphicFrame>
      <p:graphicFrame>
        <p:nvGraphicFramePr>
          <p:cNvPr id="6" name="Table 7">
            <a:extLst>
              <a:ext uri="{FF2B5EF4-FFF2-40B4-BE49-F238E27FC236}">
                <a16:creationId xmlns:a16="http://schemas.microsoft.com/office/drawing/2014/main" id="{A7F56DD8-6637-1B40-9ABD-F4702B219751}"/>
              </a:ext>
            </a:extLst>
          </p:cNvPr>
          <p:cNvGraphicFramePr>
            <a:graphicFrameLocks noGrp="1"/>
          </p:cNvGraphicFramePr>
          <p:nvPr>
            <p:extLst>
              <p:ext uri="{D42A27DB-BD31-4B8C-83A1-F6EECF244321}">
                <p14:modId xmlns:p14="http://schemas.microsoft.com/office/powerpoint/2010/main" val="2939472405"/>
              </p:ext>
            </p:extLst>
          </p:nvPr>
        </p:nvGraphicFramePr>
        <p:xfrm>
          <a:off x="2866233" y="1841845"/>
          <a:ext cx="3435415" cy="1854200"/>
        </p:xfrm>
        <a:graphic>
          <a:graphicData uri="http://schemas.openxmlformats.org/drawingml/2006/table">
            <a:tbl>
              <a:tblPr firstRow="1" bandRow="1">
                <a:tableStyleId>{5940675A-B579-460E-94D1-54222C63F5DA}</a:tableStyleId>
              </a:tblPr>
              <a:tblGrid>
                <a:gridCol w="555943">
                  <a:extLst>
                    <a:ext uri="{9D8B030D-6E8A-4147-A177-3AD203B41FA5}">
                      <a16:colId xmlns:a16="http://schemas.microsoft.com/office/drawing/2014/main" val="2472199741"/>
                    </a:ext>
                  </a:extLst>
                </a:gridCol>
                <a:gridCol w="1256030">
                  <a:extLst>
                    <a:ext uri="{9D8B030D-6E8A-4147-A177-3AD203B41FA5}">
                      <a16:colId xmlns:a16="http://schemas.microsoft.com/office/drawing/2014/main" val="2842918078"/>
                    </a:ext>
                  </a:extLst>
                </a:gridCol>
                <a:gridCol w="943674">
                  <a:extLst>
                    <a:ext uri="{9D8B030D-6E8A-4147-A177-3AD203B41FA5}">
                      <a16:colId xmlns:a16="http://schemas.microsoft.com/office/drawing/2014/main" val="4163044591"/>
                    </a:ext>
                  </a:extLst>
                </a:gridCol>
                <a:gridCol w="679768">
                  <a:extLst>
                    <a:ext uri="{9D8B030D-6E8A-4147-A177-3AD203B41FA5}">
                      <a16:colId xmlns:a16="http://schemas.microsoft.com/office/drawing/2014/main" val="2808143057"/>
                    </a:ext>
                  </a:extLst>
                </a:gridCol>
              </a:tblGrid>
              <a:tr h="370840">
                <a:tc gridSpan="4">
                  <a:txBody>
                    <a:bodyPr/>
                    <a:lstStyle/>
                    <a:p>
                      <a:pPr algn="ctr"/>
                      <a:r>
                        <a:rPr lang="en-US" sz="1600" dirty="0">
                          <a:latin typeface="Arial" panose="020B0604020202020204" pitchFamily="34" charset="0"/>
                          <a:cs typeface="Arial" panose="020B0604020202020204" pitchFamily="34" charset="0"/>
                        </a:rPr>
                        <a:t>Orders</a:t>
                      </a:r>
                    </a:p>
                  </a:txBody>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59262072"/>
                  </a:ext>
                </a:extLst>
              </a:tr>
              <a:tr h="370840">
                <a:tc>
                  <a:txBody>
                    <a:bodyPr/>
                    <a:lstStyle/>
                    <a:p>
                      <a:pPr algn="ctr"/>
                      <a:r>
                        <a:rPr lang="en-US" sz="1600" u="sng" dirty="0" err="1">
                          <a:latin typeface="Arial" panose="020B0604020202020204" pitchFamily="34" charset="0"/>
                          <a:cs typeface="Arial" panose="020B0604020202020204" pitchFamily="34" charset="0"/>
                        </a:rPr>
                        <a:t>oID</a:t>
                      </a:r>
                      <a:endParaRPr lang="en-US" sz="1600" u="sng" dirty="0">
                        <a:latin typeface="Arial" panose="020B0604020202020204" pitchFamily="34" charset="0"/>
                        <a:cs typeface="Arial" panose="020B0604020202020204" pitchFamily="34" charset="0"/>
                      </a:endParaRPr>
                    </a:p>
                  </a:txBody>
                  <a:tcPr/>
                </a:tc>
                <a:tc>
                  <a:txBody>
                    <a:bodyPr/>
                    <a:lstStyle/>
                    <a:p>
                      <a:pPr algn="ctr"/>
                      <a:r>
                        <a:rPr lang="en-US" sz="1600" u="sng" dirty="0" err="1">
                          <a:latin typeface="Arial" panose="020B0604020202020204" pitchFamily="34" charset="0"/>
                          <a:cs typeface="Arial" panose="020B0604020202020204" pitchFamily="34" charset="0"/>
                        </a:rPr>
                        <a:t>cust</a:t>
                      </a:r>
                      <a:endParaRPr lang="en-US" sz="1600" u="sng" dirty="0">
                        <a:latin typeface="Arial" panose="020B0604020202020204" pitchFamily="34" charset="0"/>
                        <a:cs typeface="Arial" panose="020B0604020202020204" pitchFamily="34" charset="0"/>
                      </a:endParaRPr>
                    </a:p>
                  </a:txBody>
                  <a:tcPr/>
                </a:tc>
                <a:tc>
                  <a:txBody>
                    <a:bodyPr/>
                    <a:lstStyle/>
                    <a:p>
                      <a:pPr algn="ctr"/>
                      <a:r>
                        <a:rPr lang="en-US" sz="1600" u="sng" dirty="0">
                          <a:latin typeface="Arial" panose="020B0604020202020204" pitchFamily="34" charset="0"/>
                          <a:cs typeface="Arial" panose="020B0604020202020204" pitchFamily="34" charset="0"/>
                        </a:rPr>
                        <a:t>product</a:t>
                      </a:r>
                    </a:p>
                  </a:txBody>
                  <a:tcPr/>
                </a:tc>
                <a:tc>
                  <a:txBody>
                    <a:bodyPr/>
                    <a:lstStyle/>
                    <a:p>
                      <a:pPr algn="ctr"/>
                      <a:r>
                        <a:rPr lang="en-US" sz="1600" u="sng" dirty="0">
                          <a:latin typeface="Arial" panose="020B0604020202020204" pitchFamily="34" charset="0"/>
                          <a:cs typeface="Arial" panose="020B0604020202020204" pitchFamily="34" charset="0"/>
                        </a:rPr>
                        <a:t>price</a:t>
                      </a:r>
                    </a:p>
                  </a:txBody>
                  <a:tcPr/>
                </a:tc>
                <a:extLst>
                  <a:ext uri="{0D108BD9-81ED-4DB2-BD59-A6C34878D82A}">
                    <a16:rowId xmlns:a16="http://schemas.microsoft.com/office/drawing/2014/main" val="3365197780"/>
                  </a:ext>
                </a:extLst>
              </a:tr>
              <a:tr h="370840">
                <a:tc>
                  <a:txBody>
                    <a:bodyPr/>
                    <a:lstStyle/>
                    <a:p>
                      <a:r>
                        <a:rPr lang="en-US" sz="1600" dirty="0">
                          <a:latin typeface="Arial" panose="020B0604020202020204" pitchFamily="34" charset="0"/>
                          <a:cs typeface="Arial" panose="020B0604020202020204" pitchFamily="34" charset="0"/>
                        </a:rPr>
                        <a:t>O1</a:t>
                      </a:r>
                    </a:p>
                  </a:txBody>
                  <a:tcPr/>
                </a:tc>
                <a:tc>
                  <a:txBody>
                    <a:bodyPr/>
                    <a:lstStyle/>
                    <a:p>
                      <a:r>
                        <a:rPr lang="en-US" sz="1600" dirty="0">
                          <a:latin typeface="Arial" panose="020B0604020202020204" pitchFamily="34" charset="0"/>
                          <a:cs typeface="Arial" panose="020B0604020202020204" pitchFamily="34" charset="0"/>
                        </a:rPr>
                        <a:t>2001/09/08</a:t>
                      </a:r>
                    </a:p>
                  </a:txBody>
                  <a:tcPr/>
                </a:tc>
                <a:tc>
                  <a:txBody>
                    <a:bodyPr/>
                    <a:lstStyle/>
                    <a:p>
                      <a:r>
                        <a:rPr lang="en-US" sz="1600" dirty="0" err="1">
                          <a:latin typeface="Arial" panose="020B0604020202020204" pitchFamily="34" charset="0"/>
                          <a:cs typeface="Arial" panose="020B0604020202020204" pitchFamily="34" charset="0"/>
                        </a:rPr>
                        <a:t>BookA</a:t>
                      </a:r>
                      <a:endParaRPr lang="en-US" sz="1600" dirty="0">
                        <a:latin typeface="Arial" panose="020B0604020202020204" pitchFamily="34" charset="0"/>
                        <a:cs typeface="Arial" panose="020B0604020202020204" pitchFamily="34" charset="0"/>
                      </a:endParaRPr>
                    </a:p>
                  </a:txBody>
                  <a:tcPr/>
                </a:tc>
                <a:tc>
                  <a:txBody>
                    <a:bodyPr/>
                    <a:lstStyle/>
                    <a:p>
                      <a:r>
                        <a:rPr lang="en-US" sz="1600" dirty="0">
                          <a:latin typeface="Arial" panose="020B0604020202020204" pitchFamily="34" charset="0"/>
                          <a:cs typeface="Arial" panose="020B0604020202020204" pitchFamily="34" charset="0"/>
                        </a:rPr>
                        <a:t>20</a:t>
                      </a:r>
                    </a:p>
                  </a:txBody>
                  <a:tcPr/>
                </a:tc>
                <a:extLst>
                  <a:ext uri="{0D108BD9-81ED-4DB2-BD59-A6C34878D82A}">
                    <a16:rowId xmlns:a16="http://schemas.microsoft.com/office/drawing/2014/main" val="85169070"/>
                  </a:ext>
                </a:extLst>
              </a:tr>
              <a:tr h="370840">
                <a:tc>
                  <a:txBody>
                    <a:bodyPr/>
                    <a:lstStyle/>
                    <a:p>
                      <a:r>
                        <a:rPr lang="en-US" sz="1600" dirty="0">
                          <a:latin typeface="Arial" panose="020B0604020202020204" pitchFamily="34" charset="0"/>
                          <a:cs typeface="Arial" panose="020B0604020202020204" pitchFamily="34" charset="0"/>
                        </a:rPr>
                        <a:t>O2</a:t>
                      </a:r>
                    </a:p>
                  </a:txBody>
                  <a:tcPr/>
                </a:tc>
                <a:tc>
                  <a:txBody>
                    <a:bodyPr/>
                    <a:lstStyle/>
                    <a:p>
                      <a:r>
                        <a:rPr lang="en-US" sz="1600" dirty="0">
                          <a:latin typeface="Arial" panose="020B0604020202020204" pitchFamily="34" charset="0"/>
                          <a:cs typeface="Arial" panose="020B0604020202020204" pitchFamily="34" charset="0"/>
                        </a:rPr>
                        <a:t>2002/05/20</a:t>
                      </a:r>
                    </a:p>
                  </a:txBody>
                  <a:tcPr/>
                </a:tc>
                <a:tc>
                  <a:txBody>
                    <a:bodyPr/>
                    <a:lstStyle/>
                    <a:p>
                      <a:r>
                        <a:rPr lang="en-US" sz="1600" dirty="0">
                          <a:latin typeface="Arial" panose="020B0604020202020204" pitchFamily="34" charset="0"/>
                          <a:cs typeface="Arial" panose="020B0604020202020204" pitchFamily="34" charset="0"/>
                        </a:rPr>
                        <a:t>TVB</a:t>
                      </a:r>
                    </a:p>
                  </a:txBody>
                  <a:tcPr/>
                </a:tc>
                <a:tc>
                  <a:txBody>
                    <a:bodyPr/>
                    <a:lstStyle/>
                    <a:p>
                      <a:r>
                        <a:rPr lang="en-US" sz="1600" dirty="0">
                          <a:latin typeface="Arial" panose="020B0604020202020204" pitchFamily="34" charset="0"/>
                          <a:cs typeface="Arial" panose="020B0604020202020204" pitchFamily="34" charset="0"/>
                        </a:rPr>
                        <a:t>100</a:t>
                      </a:r>
                    </a:p>
                  </a:txBody>
                  <a:tcPr/>
                </a:tc>
                <a:extLst>
                  <a:ext uri="{0D108BD9-81ED-4DB2-BD59-A6C34878D82A}">
                    <a16:rowId xmlns:a16="http://schemas.microsoft.com/office/drawing/2014/main" val="3691146879"/>
                  </a:ext>
                </a:extLst>
              </a:tr>
              <a:tr h="370840">
                <a:tc>
                  <a:txBody>
                    <a:bodyPr/>
                    <a:lstStyle/>
                    <a:p>
                      <a:pPr algn="ctr"/>
                      <a:r>
                        <a:rPr lang="en-US" sz="1600" dirty="0">
                          <a:latin typeface="Arial" panose="020B0604020202020204" pitchFamily="34" charset="0"/>
                          <a:cs typeface="Arial" panose="020B0604020202020204" pitchFamily="34" charset="0"/>
                        </a:rPr>
                        <a:t>…</a:t>
                      </a:r>
                    </a:p>
                  </a:txBody>
                  <a:tcPr/>
                </a:tc>
                <a:tc>
                  <a:txBody>
                    <a:bodyPr/>
                    <a:lstStyle/>
                    <a:p>
                      <a:pPr algn="ctr"/>
                      <a:r>
                        <a:rPr lang="en-US" sz="1600" dirty="0">
                          <a:latin typeface="Arial" panose="020B0604020202020204" pitchFamily="34" charset="0"/>
                          <a:cs typeface="Arial" panose="020B0604020202020204" pitchFamily="34" charset="0"/>
                        </a:rPr>
                        <a:t>…</a:t>
                      </a:r>
                    </a:p>
                  </a:txBody>
                  <a:tcPr/>
                </a:tc>
                <a:tc>
                  <a:txBody>
                    <a:bodyPr/>
                    <a:lstStyle/>
                    <a:p>
                      <a:pPr algn="ctr"/>
                      <a:r>
                        <a:rPr lang="en-US" sz="1600" dirty="0">
                          <a:latin typeface="Arial" panose="020B0604020202020204" pitchFamily="34" charset="0"/>
                          <a:cs typeface="Arial" panose="020B0604020202020204" pitchFamily="34" charset="0"/>
                        </a:rPr>
                        <a:t>…</a:t>
                      </a:r>
                    </a:p>
                  </a:txBody>
                  <a:tcPr/>
                </a:tc>
                <a:tc>
                  <a:txBody>
                    <a:bodyPr/>
                    <a:lstStyle/>
                    <a:p>
                      <a:pPr algn="ctr"/>
                      <a:r>
                        <a:rPr lang="en-US" sz="16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713663004"/>
                  </a:ext>
                </a:extLst>
              </a:tr>
            </a:tbl>
          </a:graphicData>
        </a:graphic>
      </p:graphicFrame>
      <p:graphicFrame>
        <p:nvGraphicFramePr>
          <p:cNvPr id="7" name="Table 7">
            <a:extLst>
              <a:ext uri="{FF2B5EF4-FFF2-40B4-BE49-F238E27FC236}">
                <a16:creationId xmlns:a16="http://schemas.microsoft.com/office/drawing/2014/main" id="{14D982AB-6FE9-A34B-ADD6-0B367DE73176}"/>
              </a:ext>
            </a:extLst>
          </p:cNvPr>
          <p:cNvGraphicFramePr>
            <a:graphicFrameLocks noGrp="1"/>
          </p:cNvGraphicFramePr>
          <p:nvPr>
            <p:extLst>
              <p:ext uri="{D42A27DB-BD31-4B8C-83A1-F6EECF244321}">
                <p14:modId xmlns:p14="http://schemas.microsoft.com/office/powerpoint/2010/main" val="2772137909"/>
              </p:ext>
            </p:extLst>
          </p:nvPr>
        </p:nvGraphicFramePr>
        <p:xfrm>
          <a:off x="6401479" y="1841845"/>
          <a:ext cx="2683510" cy="1854200"/>
        </p:xfrm>
        <a:graphic>
          <a:graphicData uri="http://schemas.openxmlformats.org/drawingml/2006/table">
            <a:tbl>
              <a:tblPr firstRow="1" bandRow="1">
                <a:tableStyleId>{5940675A-B579-460E-94D1-54222C63F5DA}</a:tableStyleId>
              </a:tblPr>
              <a:tblGrid>
                <a:gridCol w="1370330">
                  <a:extLst>
                    <a:ext uri="{9D8B030D-6E8A-4147-A177-3AD203B41FA5}">
                      <a16:colId xmlns:a16="http://schemas.microsoft.com/office/drawing/2014/main" val="2472199741"/>
                    </a:ext>
                  </a:extLst>
                </a:gridCol>
                <a:gridCol w="1313180">
                  <a:extLst>
                    <a:ext uri="{9D8B030D-6E8A-4147-A177-3AD203B41FA5}">
                      <a16:colId xmlns:a16="http://schemas.microsoft.com/office/drawing/2014/main" val="2842918078"/>
                    </a:ext>
                  </a:extLst>
                </a:gridCol>
              </a:tblGrid>
              <a:tr h="370840">
                <a:tc gridSpan="2">
                  <a:txBody>
                    <a:bodyPr/>
                    <a:lstStyle/>
                    <a:p>
                      <a:pPr algn="ctr"/>
                      <a:r>
                        <a:rPr lang="en-US" sz="1600" dirty="0">
                          <a:latin typeface="Arial" panose="020B0604020202020204" pitchFamily="34" charset="0"/>
                          <a:cs typeface="Arial" panose="020B0604020202020204" pitchFamily="34" charset="0"/>
                        </a:rPr>
                        <a:t>Products</a:t>
                      </a:r>
                    </a:p>
                  </a:txBody>
                  <a:tcPr/>
                </a:tc>
                <a:tc hMerge="1">
                  <a:txBody>
                    <a:bodyPr/>
                    <a:lstStyle/>
                    <a:p>
                      <a:endParaRPr lang="en-US" dirty="0"/>
                    </a:p>
                  </a:txBody>
                  <a:tcPr/>
                </a:tc>
                <a:extLst>
                  <a:ext uri="{0D108BD9-81ED-4DB2-BD59-A6C34878D82A}">
                    <a16:rowId xmlns:a16="http://schemas.microsoft.com/office/drawing/2014/main" val="159262072"/>
                  </a:ext>
                </a:extLst>
              </a:tr>
              <a:tr h="370840">
                <a:tc>
                  <a:txBody>
                    <a:bodyPr/>
                    <a:lstStyle/>
                    <a:p>
                      <a:pPr algn="ctr"/>
                      <a:r>
                        <a:rPr lang="en-US" sz="1600" u="sng" dirty="0">
                          <a:latin typeface="Arial" panose="020B0604020202020204" pitchFamily="34" charset="0"/>
                          <a:cs typeface="Arial" panose="020B0604020202020204" pitchFamily="34" charset="0"/>
                        </a:rPr>
                        <a:t>product</a:t>
                      </a:r>
                    </a:p>
                  </a:txBody>
                  <a:tcPr/>
                </a:tc>
                <a:tc>
                  <a:txBody>
                    <a:bodyPr/>
                    <a:lstStyle/>
                    <a:p>
                      <a:pPr algn="ctr"/>
                      <a:r>
                        <a:rPr lang="en-US" sz="1600" u="sng" dirty="0" err="1">
                          <a:latin typeface="Arial" panose="020B0604020202020204" pitchFamily="34" charset="0"/>
                          <a:cs typeface="Arial" panose="020B0604020202020204" pitchFamily="34" charset="0"/>
                        </a:rPr>
                        <a:t>numInStock</a:t>
                      </a:r>
                      <a:endParaRPr lang="en-US" sz="1600" u="sng"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3365197780"/>
                  </a:ext>
                </a:extLst>
              </a:tr>
              <a:tr h="370840">
                <a:tc>
                  <a:txBody>
                    <a:bodyPr/>
                    <a:lstStyle/>
                    <a:p>
                      <a:r>
                        <a:rPr lang="en-US" sz="1600" dirty="0" err="1">
                          <a:latin typeface="Arial" panose="020B0604020202020204" pitchFamily="34" charset="0"/>
                          <a:cs typeface="Arial" panose="020B0604020202020204" pitchFamily="34" charset="0"/>
                        </a:rPr>
                        <a:t>BookA</a:t>
                      </a:r>
                      <a:endParaRPr lang="en-US" sz="1600" dirty="0">
                        <a:latin typeface="Arial" panose="020B0604020202020204" pitchFamily="34" charset="0"/>
                        <a:cs typeface="Arial" panose="020B0604020202020204" pitchFamily="34" charset="0"/>
                      </a:endParaRPr>
                    </a:p>
                  </a:txBody>
                  <a:tcPr/>
                </a:tc>
                <a:tc>
                  <a:txBody>
                    <a:bodyPr/>
                    <a:lstStyle/>
                    <a:p>
                      <a:r>
                        <a:rPr lang="en-US" sz="1600" dirty="0">
                          <a:latin typeface="Arial" panose="020B0604020202020204" pitchFamily="34" charset="0"/>
                          <a:cs typeface="Arial" panose="020B0604020202020204" pitchFamily="34" charset="0"/>
                        </a:rPr>
                        <a:t>1</a:t>
                      </a:r>
                    </a:p>
                  </a:txBody>
                  <a:tcPr/>
                </a:tc>
                <a:extLst>
                  <a:ext uri="{0D108BD9-81ED-4DB2-BD59-A6C34878D82A}">
                    <a16:rowId xmlns:a16="http://schemas.microsoft.com/office/drawing/2014/main" val="85169070"/>
                  </a:ext>
                </a:extLst>
              </a:tr>
              <a:tr h="370840">
                <a:tc>
                  <a:txBody>
                    <a:bodyPr/>
                    <a:lstStyle/>
                    <a:p>
                      <a:r>
                        <a:rPr lang="en-US" sz="1600" dirty="0">
                          <a:latin typeface="Arial" panose="020B0604020202020204" pitchFamily="34" charset="0"/>
                          <a:cs typeface="Arial" panose="020B0604020202020204" pitchFamily="34" charset="0"/>
                        </a:rPr>
                        <a:t>TVB</a:t>
                      </a:r>
                    </a:p>
                  </a:txBody>
                  <a:tcPr/>
                </a:tc>
                <a:tc>
                  <a:txBody>
                    <a:bodyPr/>
                    <a:lstStyle/>
                    <a:p>
                      <a:r>
                        <a:rPr lang="en-US" sz="1600" dirty="0">
                          <a:latin typeface="Arial" panose="020B0604020202020204" pitchFamily="34" charset="0"/>
                          <a:cs typeface="Arial" panose="020B0604020202020204" pitchFamily="34" charset="0"/>
                        </a:rPr>
                        <a:t>78</a:t>
                      </a:r>
                    </a:p>
                  </a:txBody>
                  <a:tcPr/>
                </a:tc>
                <a:extLst>
                  <a:ext uri="{0D108BD9-81ED-4DB2-BD59-A6C34878D82A}">
                    <a16:rowId xmlns:a16="http://schemas.microsoft.com/office/drawing/2014/main" val="3691146879"/>
                  </a:ext>
                </a:extLst>
              </a:tr>
              <a:tr h="370840">
                <a:tc>
                  <a:txBody>
                    <a:bodyPr/>
                    <a:lstStyle/>
                    <a:p>
                      <a:pPr algn="ctr"/>
                      <a:r>
                        <a:rPr lang="en-US" sz="1600" dirty="0">
                          <a:latin typeface="Arial" panose="020B0604020202020204" pitchFamily="34" charset="0"/>
                          <a:cs typeface="Arial" panose="020B0604020202020204" pitchFamily="34" charset="0"/>
                        </a:rPr>
                        <a:t>…</a:t>
                      </a:r>
                    </a:p>
                  </a:txBody>
                  <a:tcPr/>
                </a:tc>
                <a:tc>
                  <a:txBody>
                    <a:bodyPr/>
                    <a:lstStyle/>
                    <a:p>
                      <a:pPr algn="ctr"/>
                      <a:r>
                        <a:rPr lang="en-US" sz="1600" dirty="0">
                          <a:latin typeface="Arial" panose="020B0604020202020204" pitchFamily="34" charset="0"/>
                          <a:cs typeface="Arial" panose="020B0604020202020204" pitchFamily="34" charset="0"/>
                        </a:rPr>
                        <a:t>…</a:t>
                      </a:r>
                    </a:p>
                  </a:txBody>
                  <a:tcPr/>
                </a:tc>
                <a:extLst>
                  <a:ext uri="{0D108BD9-81ED-4DB2-BD59-A6C34878D82A}">
                    <a16:rowId xmlns:a16="http://schemas.microsoft.com/office/drawing/2014/main" val="3909490285"/>
                  </a:ext>
                </a:extLst>
              </a:tr>
            </a:tbl>
          </a:graphicData>
        </a:graphic>
      </p:graphicFrame>
      <p:sp>
        <p:nvSpPr>
          <p:cNvPr id="8" name="TextBox 7">
            <a:extLst>
              <a:ext uri="{FF2B5EF4-FFF2-40B4-BE49-F238E27FC236}">
                <a16:creationId xmlns:a16="http://schemas.microsoft.com/office/drawing/2014/main" id="{C74A60BC-B9F9-7243-9457-669AD3A43413}"/>
              </a:ext>
            </a:extLst>
          </p:cNvPr>
          <p:cNvSpPr txBox="1"/>
          <p:nvPr/>
        </p:nvSpPr>
        <p:spPr>
          <a:xfrm>
            <a:off x="-8924" y="624625"/>
            <a:ext cx="9143999" cy="1131848"/>
          </a:xfrm>
          <a:prstGeom prst="rect">
            <a:avLst/>
          </a:prstGeom>
          <a:noFill/>
        </p:spPr>
        <p:txBody>
          <a:bodyPr wrap="square" rtlCol="0">
            <a:spAutoFit/>
          </a:bodyPr>
          <a:lstStyle/>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Relational Model: Data is modeled as a set of tables</a:t>
            </a:r>
          </a:p>
          <a:p>
            <a:pPr marL="800100" lvl="1"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Much higher-level abstraction than bits/bytes</a:t>
            </a:r>
          </a:p>
        </p:txBody>
      </p:sp>
      <p:sp>
        <p:nvSpPr>
          <p:cNvPr id="9" name="TextBox 8">
            <a:extLst>
              <a:ext uri="{FF2B5EF4-FFF2-40B4-BE49-F238E27FC236}">
                <a16:creationId xmlns:a16="http://schemas.microsoft.com/office/drawing/2014/main" id="{B2B8588F-6C48-DF45-AE4B-68716D9EF4B8}"/>
              </a:ext>
            </a:extLst>
          </p:cNvPr>
          <p:cNvSpPr txBox="1"/>
          <p:nvPr/>
        </p:nvSpPr>
        <p:spPr>
          <a:xfrm>
            <a:off x="2742522" y="3572478"/>
            <a:ext cx="4073613" cy="1415772"/>
          </a:xfrm>
          <a:prstGeom prst="rect">
            <a:avLst/>
          </a:prstGeom>
          <a:noFill/>
        </p:spPr>
        <p:txBody>
          <a:bodyPr wrap="square" rtlCol="0">
            <a:spAutoFit/>
          </a:bodyPr>
          <a:lstStyle/>
          <a:p>
            <a:endParaRPr lang="en-US" sz="1700" dirty="0">
              <a:latin typeface="Consolas" panose="020B0609020204030204" pitchFamily="49" charset="0"/>
              <a:cs typeface="Consolas" panose="020B0609020204030204" pitchFamily="49" charset="0"/>
            </a:endParaRPr>
          </a:p>
          <a:p>
            <a:r>
              <a:rPr lang="en-US" sz="1700" dirty="0">
                <a:latin typeface="Consolas" panose="020B0609020204030204" pitchFamily="49" charset="0"/>
                <a:cs typeface="Consolas" panose="020B0609020204030204" pitchFamily="49" charset="0"/>
              </a:rPr>
              <a:t>Example SQL Command in an RDBMS:</a:t>
            </a:r>
          </a:p>
          <a:p>
            <a:r>
              <a:rPr lang="en-US" sz="1700" dirty="0">
                <a:latin typeface="Consolas" panose="020B0609020204030204" pitchFamily="49" charset="0"/>
                <a:cs typeface="Consolas" panose="020B0609020204030204" pitchFamily="49" charset="0"/>
              </a:rPr>
              <a:t>CREATE TABLE Customers</a:t>
            </a:r>
          </a:p>
          <a:p>
            <a:r>
              <a:rPr lang="en-US" sz="1700" dirty="0">
                <a:latin typeface="Consolas" panose="020B0609020204030204" pitchFamily="49" charset="0"/>
                <a:cs typeface="Consolas" panose="020B0609020204030204" pitchFamily="49" charset="0"/>
              </a:rPr>
              <a:t>    name </a:t>
            </a:r>
            <a:r>
              <a:rPr lang="en-US" dirty="0"/>
              <a:t>varchar(255),</a:t>
            </a:r>
          </a:p>
          <a:p>
            <a:r>
              <a:rPr lang="en-US" sz="1700" dirty="0">
                <a:latin typeface="Consolas" panose="020B0609020204030204" pitchFamily="49" charset="0"/>
                <a:cs typeface="Consolas" panose="020B0609020204030204" pitchFamily="49" charset="0"/>
              </a:rPr>
              <a:t>	birthdate DATE;</a:t>
            </a:r>
          </a:p>
        </p:txBody>
      </p:sp>
      <p:sp>
        <p:nvSpPr>
          <p:cNvPr id="10" name="TextBox 9">
            <a:extLst>
              <a:ext uri="{FF2B5EF4-FFF2-40B4-BE49-F238E27FC236}">
                <a16:creationId xmlns:a16="http://schemas.microsoft.com/office/drawing/2014/main" id="{D09B2D55-E05F-3245-8F92-2254AE6343E1}"/>
              </a:ext>
            </a:extLst>
          </p:cNvPr>
          <p:cNvSpPr txBox="1"/>
          <p:nvPr/>
        </p:nvSpPr>
        <p:spPr>
          <a:xfrm>
            <a:off x="-59010" y="5135739"/>
            <a:ext cx="9143999" cy="1569660"/>
          </a:xfrm>
          <a:prstGeom prst="rect">
            <a:avLst/>
          </a:prstGeom>
          <a:noFill/>
        </p:spPr>
        <p:txBody>
          <a:bodyPr wrap="square" rtlCol="0">
            <a:spAutoFit/>
          </a:bodyPr>
          <a:lstStyle/>
          <a:p>
            <a:pPr marL="342900" indent="-342900">
              <a:buFont typeface="Wingdings" pitchFamily="2" charset="2"/>
              <a:buChar char="Ø"/>
            </a:pPr>
            <a:r>
              <a:rPr lang="en-US" sz="2400" dirty="0">
                <a:latin typeface="Arial" panose="020B0604020202020204" pitchFamily="34" charset="0"/>
                <a:cs typeface="Arial" panose="020B0604020202020204" pitchFamily="34" charset="0"/>
              </a:rPr>
              <a:t>The RDBMS takes care of physical record design: Fixed-length/var-length, columnar, row, chained etc. </a:t>
            </a:r>
          </a:p>
          <a:p>
            <a:pPr marL="342900" indent="-342900">
              <a:buFont typeface="Wingdings" pitchFamily="2" charset="2"/>
              <a:buChar char="Ø"/>
            </a:pPr>
            <a:r>
              <a:rPr lang="en-US" sz="2400" dirty="0">
                <a:latin typeface="Arial" panose="020B0604020202020204" pitchFamily="34" charset="0"/>
                <a:cs typeface="Arial" panose="020B0604020202020204" pitchFamily="34" charset="0"/>
              </a:rPr>
              <a:t>The physical record design is transparent to the developer, i.e. the developer does not need to know the design.</a:t>
            </a:r>
          </a:p>
        </p:txBody>
      </p:sp>
    </p:spTree>
    <p:extLst>
      <p:ext uri="{BB962C8B-B14F-4D97-AF65-F5344CB8AC3E}">
        <p14:creationId xmlns:p14="http://schemas.microsoft.com/office/powerpoint/2010/main" val="2969489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Data Modeling With an RDBMS (2)</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09B2D55-E05F-3245-8F92-2254AE6343E1}"/>
              </a:ext>
            </a:extLst>
          </p:cNvPr>
          <p:cNvSpPr txBox="1"/>
          <p:nvPr/>
        </p:nvSpPr>
        <p:spPr>
          <a:xfrm>
            <a:off x="-8924" y="698767"/>
            <a:ext cx="9143999" cy="3763338"/>
          </a:xfrm>
          <a:prstGeom prst="rect">
            <a:avLst/>
          </a:prstGeom>
          <a:noFill/>
        </p:spPr>
        <p:txBody>
          <a:bodyPr wrap="square" rtlCol="0">
            <a:spAutoFit/>
          </a:bodyPr>
          <a:lstStyle/>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Physical Data Independence: </a:t>
            </a:r>
          </a:p>
          <a:p>
            <a:pPr marL="800100" lvl="1" indent="-342900" algn="just">
              <a:lnSpc>
                <a:spcPct val="150000"/>
              </a:lnSpc>
              <a:buFont typeface="Wingdings" pitchFamily="2" charset="2"/>
              <a:buChar char="Ø"/>
            </a:pPr>
            <a:r>
              <a:rPr lang="en-US" sz="2200" dirty="0">
                <a:latin typeface="Arial" panose="020B0604020202020204" pitchFamily="34" charset="0"/>
                <a:cs typeface="Arial" panose="020B0604020202020204" pitchFamily="34" charset="0"/>
              </a:rPr>
              <a:t>Throughout the lifetime of the app, the RDBMS can change the physical layout for performance or other reasons and the applications keep working because the design is transparent.</a:t>
            </a:r>
          </a:p>
          <a:p>
            <a:pPr marL="342900" indent="-342900">
              <a:lnSpc>
                <a:spcPct val="150000"/>
              </a:lnSpc>
              <a:buFont typeface="Wingdings" pitchFamily="2" charset="2"/>
              <a:buChar char="Ø"/>
            </a:pPr>
            <a:r>
              <a:rPr lang="en-US" sz="2400" dirty="0" err="1">
                <a:latin typeface="Arial" panose="020B0604020202020204" pitchFamily="34" charset="0"/>
                <a:cs typeface="Arial" panose="020B0604020202020204" pitchFamily="34" charset="0"/>
              </a:rPr>
              <a:t>E.g</a:t>
            </a:r>
            <a:r>
              <a:rPr lang="en-US" sz="2400" dirty="0">
                <a:latin typeface="Arial" panose="020B0604020202020204" pitchFamily="34" charset="0"/>
                <a:cs typeface="Arial" panose="020B0604020202020204" pitchFamily="34" charset="0"/>
              </a:rPr>
              <a:t>: </a:t>
            </a:r>
          </a:p>
          <a:p>
            <a:pPr marL="800100" lvl="1"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A new column can be added that changes the record design</a:t>
            </a:r>
          </a:p>
          <a:p>
            <a:pPr marL="800100" lvl="1"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A compressed column can be uncompressed</a:t>
            </a:r>
          </a:p>
        </p:txBody>
      </p:sp>
      <p:sp>
        <p:nvSpPr>
          <p:cNvPr id="3" name="Rectangle 2">
            <a:extLst>
              <a:ext uri="{FF2B5EF4-FFF2-40B4-BE49-F238E27FC236}">
                <a16:creationId xmlns:a16="http://schemas.microsoft.com/office/drawing/2014/main" id="{425D5F47-FD7A-7146-817D-4362AEFEB0E1}"/>
              </a:ext>
            </a:extLst>
          </p:cNvPr>
          <p:cNvSpPr/>
          <p:nvPr/>
        </p:nvSpPr>
        <p:spPr>
          <a:xfrm>
            <a:off x="-8925" y="5563014"/>
            <a:ext cx="9143999" cy="830997"/>
          </a:xfrm>
          <a:prstGeom prst="rect">
            <a:avLst/>
          </a:prstGeom>
        </p:spPr>
        <p:txBody>
          <a:bodyPr wrap="square">
            <a:spAutoFit/>
          </a:bodyPr>
          <a:lstStyle/>
          <a:p>
            <a:pPr algn="ctr"/>
            <a:r>
              <a:rPr lang="en-US" sz="2400" dirty="0">
                <a:solidFill>
                  <a:srgbClr val="990000"/>
                </a:solidFill>
                <a:latin typeface="Arial" panose="020B0604020202020204" pitchFamily="34" charset="0"/>
                <a:cs typeface="Arial" panose="020B0604020202020204" pitchFamily="34" charset="0"/>
              </a:rPr>
              <a:t>Takeaway: A high-level data model delegates the responsibility of physical record design and access to these records to the DBMS</a:t>
            </a:r>
          </a:p>
        </p:txBody>
      </p:sp>
    </p:spTree>
    <p:extLst>
      <p:ext uri="{BB962C8B-B14F-4D97-AF65-F5344CB8AC3E}">
        <p14:creationId xmlns:p14="http://schemas.microsoft.com/office/powerpoint/2010/main" val="2356862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High-level Query Language (1)</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09B2D55-E05F-3245-8F92-2254AE6343E1}"/>
              </a:ext>
            </a:extLst>
          </p:cNvPr>
          <p:cNvSpPr txBox="1"/>
          <p:nvPr/>
        </p:nvSpPr>
        <p:spPr>
          <a:xfrm>
            <a:off x="-8924" y="698767"/>
            <a:ext cx="9143999" cy="2793842"/>
          </a:xfrm>
          <a:prstGeom prst="rect">
            <a:avLst/>
          </a:prstGeom>
          <a:noFill/>
        </p:spPr>
        <p:txBody>
          <a:bodyPr wrap="square" rtlCol="0">
            <a:spAutoFit/>
          </a:bodyPr>
          <a:lstStyle/>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Structured Query Language (SQL)</a:t>
            </a:r>
          </a:p>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SQL is so high-level that it’s called a </a:t>
            </a:r>
            <a:r>
              <a:rPr lang="en-US" sz="2400" i="1" dirty="0">
                <a:solidFill>
                  <a:srgbClr val="990000"/>
                </a:solidFill>
                <a:latin typeface="Arial" panose="020B0604020202020204" pitchFamily="34" charset="0"/>
                <a:cs typeface="Arial" panose="020B0604020202020204" pitchFamily="34" charset="0"/>
              </a:rPr>
              <a:t>declarative </a:t>
            </a:r>
            <a:r>
              <a:rPr lang="en-US" sz="2400" dirty="0">
                <a:latin typeface="Arial" panose="020B0604020202020204" pitchFamily="34" charset="0"/>
                <a:cs typeface="Arial" panose="020B0604020202020204" pitchFamily="34" charset="0"/>
              </a:rPr>
              <a:t>language: i.e., one in which you can describe the output of the computation </a:t>
            </a:r>
            <a:r>
              <a:rPr lang="en-US" sz="2400" i="1" dirty="0">
                <a:latin typeface="Arial" panose="020B0604020202020204" pitchFamily="34" charset="0"/>
                <a:cs typeface="Arial" panose="020B0604020202020204" pitchFamily="34" charset="0"/>
              </a:rPr>
              <a:t>but not how to perform the computation.</a:t>
            </a:r>
          </a:p>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Recall managers’ question: Who are top paying customers?</a:t>
            </a:r>
            <a:endParaRPr lang="en-US" sz="2400" i="1"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61B4B02-CD33-204F-8C19-50C35BA19135}"/>
              </a:ext>
            </a:extLst>
          </p:cNvPr>
          <p:cNvSpPr txBox="1"/>
          <p:nvPr/>
        </p:nvSpPr>
        <p:spPr>
          <a:xfrm>
            <a:off x="24372" y="3636998"/>
            <a:ext cx="5214893" cy="1015663"/>
          </a:xfrm>
          <a:prstGeom prst="rect">
            <a:avLst/>
          </a:prstGeom>
          <a:noFill/>
        </p:spPr>
        <p:txBody>
          <a:bodyPr wrap="square" rtlCol="0">
            <a:spAutoFit/>
          </a:bodyPr>
          <a:lstStyle/>
          <a:p>
            <a:r>
              <a:rPr lang="en-US" sz="2000" dirty="0">
                <a:latin typeface="Consolas" panose="020B0609020204030204" pitchFamily="49" charset="0"/>
                <a:cs typeface="Consolas" panose="020B0609020204030204" pitchFamily="49" charset="0"/>
              </a:rPr>
              <a:t>SELECT </a:t>
            </a:r>
            <a:r>
              <a:rPr lang="en-US" sz="2000" dirty="0" err="1">
                <a:latin typeface="Consolas" panose="020B0609020204030204" pitchFamily="49" charset="0"/>
                <a:cs typeface="Consolas" panose="020B0609020204030204" pitchFamily="49" charset="0"/>
              </a:rPr>
              <a:t>cust</a:t>
            </a:r>
            <a:r>
              <a:rPr lang="en-US" sz="2000" dirty="0">
                <a:latin typeface="Consolas" panose="020B0609020204030204" pitchFamily="49" charset="0"/>
                <a:cs typeface="Consolas" panose="020B0609020204030204" pitchFamily="49" charset="0"/>
              </a:rPr>
              <a:t>, sum(price) as </a:t>
            </a:r>
            <a:r>
              <a:rPr lang="en-US" sz="2000" dirty="0" err="1">
                <a:latin typeface="Consolas" panose="020B0609020204030204" pitchFamily="49" charset="0"/>
                <a:cs typeface="Consolas" panose="020B0609020204030204" pitchFamily="49" charset="0"/>
              </a:rPr>
              <a:t>sumPay</a:t>
            </a:r>
            <a:endParaRPr lang="en-US" sz="2000" dirty="0">
              <a:latin typeface="Consolas" panose="020B0609020204030204" pitchFamily="49" charset="0"/>
              <a:cs typeface="Consolas" panose="020B0609020204030204" pitchFamily="49" charset="0"/>
            </a:endParaRPr>
          </a:p>
          <a:p>
            <a:r>
              <a:rPr lang="en-US" sz="2000" dirty="0">
                <a:latin typeface="Consolas" panose="020B0609020204030204" pitchFamily="49" charset="0"/>
                <a:cs typeface="Consolas" panose="020B0609020204030204" pitchFamily="49" charset="0"/>
              </a:rPr>
              <a:t>FROM Orders</a:t>
            </a:r>
          </a:p>
          <a:p>
            <a:r>
              <a:rPr lang="en-US" sz="2000" dirty="0">
                <a:latin typeface="Consolas" panose="020B0609020204030204" pitchFamily="49" charset="0"/>
                <a:cs typeface="Consolas" panose="020B0609020204030204" pitchFamily="49" charset="0"/>
              </a:rPr>
              <a:t>ORDER BY </a:t>
            </a:r>
            <a:r>
              <a:rPr lang="en-US" sz="2000" dirty="0" err="1">
                <a:latin typeface="Consolas" panose="020B0609020204030204" pitchFamily="49" charset="0"/>
                <a:cs typeface="Consolas" panose="020B0609020204030204" pitchFamily="49" charset="0"/>
              </a:rPr>
              <a:t>sumPay</a:t>
            </a:r>
            <a:r>
              <a:rPr lang="en-US" sz="2000" dirty="0">
                <a:latin typeface="Consolas" panose="020B0609020204030204" pitchFamily="49" charset="0"/>
                <a:cs typeface="Consolas" panose="020B0609020204030204" pitchFamily="49" charset="0"/>
              </a:rPr>
              <a:t> DESC</a:t>
            </a:r>
          </a:p>
        </p:txBody>
      </p:sp>
      <p:sp>
        <p:nvSpPr>
          <p:cNvPr id="8" name="TextBox 7">
            <a:extLst>
              <a:ext uri="{FF2B5EF4-FFF2-40B4-BE49-F238E27FC236}">
                <a16:creationId xmlns:a16="http://schemas.microsoft.com/office/drawing/2014/main" id="{1B769BEB-6ED7-B540-8591-A82A42D001ED}"/>
              </a:ext>
            </a:extLst>
          </p:cNvPr>
          <p:cNvSpPr txBox="1"/>
          <p:nvPr/>
        </p:nvSpPr>
        <p:spPr>
          <a:xfrm>
            <a:off x="-8925" y="4652916"/>
            <a:ext cx="9143999" cy="1131848"/>
          </a:xfrm>
          <a:prstGeom prst="rect">
            <a:avLst/>
          </a:prstGeom>
          <a:noFill/>
        </p:spPr>
        <p:txBody>
          <a:bodyPr wrap="square" rtlCol="0">
            <a:spAutoFit/>
          </a:bodyPr>
          <a:lstStyle/>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No procedural description of how to group-by and aggregate: hash-based, sort-based, what sorting algorithm to use etc.</a:t>
            </a:r>
          </a:p>
        </p:txBody>
      </p:sp>
      <p:graphicFrame>
        <p:nvGraphicFramePr>
          <p:cNvPr id="9" name="Table 7">
            <a:extLst>
              <a:ext uri="{FF2B5EF4-FFF2-40B4-BE49-F238E27FC236}">
                <a16:creationId xmlns:a16="http://schemas.microsoft.com/office/drawing/2014/main" id="{74E828D2-39FA-E948-A011-E77C0F085EDF}"/>
              </a:ext>
            </a:extLst>
          </p:cNvPr>
          <p:cNvGraphicFramePr>
            <a:graphicFrameLocks noGrp="1"/>
          </p:cNvGraphicFramePr>
          <p:nvPr>
            <p:extLst>
              <p:ext uri="{D42A27DB-BD31-4B8C-83A1-F6EECF244321}">
                <p14:modId xmlns:p14="http://schemas.microsoft.com/office/powerpoint/2010/main" val="2543459646"/>
              </p:ext>
            </p:extLst>
          </p:nvPr>
        </p:nvGraphicFramePr>
        <p:xfrm>
          <a:off x="5272562" y="3701922"/>
          <a:ext cx="3435415" cy="741680"/>
        </p:xfrm>
        <a:graphic>
          <a:graphicData uri="http://schemas.openxmlformats.org/drawingml/2006/table">
            <a:tbl>
              <a:tblPr firstRow="1" bandRow="1">
                <a:tableStyleId>{5940675A-B579-460E-94D1-54222C63F5DA}</a:tableStyleId>
              </a:tblPr>
              <a:tblGrid>
                <a:gridCol w="555943">
                  <a:extLst>
                    <a:ext uri="{9D8B030D-6E8A-4147-A177-3AD203B41FA5}">
                      <a16:colId xmlns:a16="http://schemas.microsoft.com/office/drawing/2014/main" val="2472199741"/>
                    </a:ext>
                  </a:extLst>
                </a:gridCol>
                <a:gridCol w="1256030">
                  <a:extLst>
                    <a:ext uri="{9D8B030D-6E8A-4147-A177-3AD203B41FA5}">
                      <a16:colId xmlns:a16="http://schemas.microsoft.com/office/drawing/2014/main" val="2842918078"/>
                    </a:ext>
                  </a:extLst>
                </a:gridCol>
                <a:gridCol w="943674">
                  <a:extLst>
                    <a:ext uri="{9D8B030D-6E8A-4147-A177-3AD203B41FA5}">
                      <a16:colId xmlns:a16="http://schemas.microsoft.com/office/drawing/2014/main" val="4163044591"/>
                    </a:ext>
                  </a:extLst>
                </a:gridCol>
                <a:gridCol w="679768">
                  <a:extLst>
                    <a:ext uri="{9D8B030D-6E8A-4147-A177-3AD203B41FA5}">
                      <a16:colId xmlns:a16="http://schemas.microsoft.com/office/drawing/2014/main" val="2808143057"/>
                    </a:ext>
                  </a:extLst>
                </a:gridCol>
              </a:tblGrid>
              <a:tr h="370840">
                <a:tc gridSpan="4">
                  <a:txBody>
                    <a:bodyPr/>
                    <a:lstStyle/>
                    <a:p>
                      <a:pPr algn="ctr"/>
                      <a:r>
                        <a:rPr lang="en-US" sz="1600" dirty="0">
                          <a:latin typeface="Arial" panose="020B0604020202020204" pitchFamily="34" charset="0"/>
                          <a:cs typeface="Arial" panose="020B0604020202020204" pitchFamily="34" charset="0"/>
                        </a:rPr>
                        <a:t>Orders</a:t>
                      </a:r>
                    </a:p>
                  </a:txBody>
                  <a:tcPr/>
                </a:tc>
                <a:tc hMerge="1">
                  <a:txBody>
                    <a:bodyPr/>
                    <a:lstStyle/>
                    <a:p>
                      <a:endParaRPr lang="en-US" dirty="0"/>
                    </a:p>
                  </a:txBody>
                  <a:tcPr/>
                </a:tc>
                <a:tc hMerge="1">
                  <a:txBody>
                    <a:bodyPr/>
                    <a:lstStyle/>
                    <a:p>
                      <a:pPr algn="ctr"/>
                      <a:endParaRPr lang="en-US" dirty="0"/>
                    </a:p>
                  </a:txBody>
                  <a:tcPr/>
                </a:tc>
                <a:tc hMerge="1">
                  <a:txBody>
                    <a:bodyPr/>
                    <a:lstStyle/>
                    <a:p>
                      <a:pPr algn="ctr"/>
                      <a:endParaRPr lang="en-US" dirty="0"/>
                    </a:p>
                  </a:txBody>
                  <a:tcPr/>
                </a:tc>
                <a:extLst>
                  <a:ext uri="{0D108BD9-81ED-4DB2-BD59-A6C34878D82A}">
                    <a16:rowId xmlns:a16="http://schemas.microsoft.com/office/drawing/2014/main" val="159262072"/>
                  </a:ext>
                </a:extLst>
              </a:tr>
              <a:tr h="370840">
                <a:tc>
                  <a:txBody>
                    <a:bodyPr/>
                    <a:lstStyle/>
                    <a:p>
                      <a:pPr algn="ctr"/>
                      <a:r>
                        <a:rPr lang="en-US" sz="1600" u="sng" dirty="0" err="1">
                          <a:latin typeface="Arial" panose="020B0604020202020204" pitchFamily="34" charset="0"/>
                          <a:cs typeface="Arial" panose="020B0604020202020204" pitchFamily="34" charset="0"/>
                        </a:rPr>
                        <a:t>oID</a:t>
                      </a:r>
                      <a:endParaRPr lang="en-US" sz="1600" u="sng" dirty="0">
                        <a:latin typeface="Arial" panose="020B0604020202020204" pitchFamily="34" charset="0"/>
                        <a:cs typeface="Arial" panose="020B0604020202020204" pitchFamily="34" charset="0"/>
                      </a:endParaRPr>
                    </a:p>
                  </a:txBody>
                  <a:tcPr/>
                </a:tc>
                <a:tc>
                  <a:txBody>
                    <a:bodyPr/>
                    <a:lstStyle/>
                    <a:p>
                      <a:pPr algn="ctr"/>
                      <a:r>
                        <a:rPr lang="en-US" sz="1600" u="sng" dirty="0" err="1">
                          <a:latin typeface="Arial" panose="020B0604020202020204" pitchFamily="34" charset="0"/>
                          <a:cs typeface="Arial" panose="020B0604020202020204" pitchFamily="34" charset="0"/>
                        </a:rPr>
                        <a:t>cust</a:t>
                      </a:r>
                      <a:endParaRPr lang="en-US" sz="1600" u="sng" dirty="0">
                        <a:latin typeface="Arial" panose="020B0604020202020204" pitchFamily="34" charset="0"/>
                        <a:cs typeface="Arial" panose="020B0604020202020204" pitchFamily="34" charset="0"/>
                      </a:endParaRPr>
                    </a:p>
                  </a:txBody>
                  <a:tcPr/>
                </a:tc>
                <a:tc>
                  <a:txBody>
                    <a:bodyPr/>
                    <a:lstStyle/>
                    <a:p>
                      <a:pPr algn="ctr"/>
                      <a:r>
                        <a:rPr lang="en-US" sz="1600" u="sng" dirty="0">
                          <a:latin typeface="Arial" panose="020B0604020202020204" pitchFamily="34" charset="0"/>
                          <a:cs typeface="Arial" panose="020B0604020202020204" pitchFamily="34" charset="0"/>
                        </a:rPr>
                        <a:t>product</a:t>
                      </a:r>
                    </a:p>
                  </a:txBody>
                  <a:tcPr/>
                </a:tc>
                <a:tc>
                  <a:txBody>
                    <a:bodyPr/>
                    <a:lstStyle/>
                    <a:p>
                      <a:pPr algn="ctr"/>
                      <a:r>
                        <a:rPr lang="en-US" sz="1600" u="sng" dirty="0">
                          <a:latin typeface="Arial" panose="020B0604020202020204" pitchFamily="34" charset="0"/>
                          <a:cs typeface="Arial" panose="020B0604020202020204" pitchFamily="34" charset="0"/>
                        </a:rPr>
                        <a:t>price</a:t>
                      </a:r>
                    </a:p>
                  </a:txBody>
                  <a:tcPr/>
                </a:tc>
                <a:extLst>
                  <a:ext uri="{0D108BD9-81ED-4DB2-BD59-A6C34878D82A}">
                    <a16:rowId xmlns:a16="http://schemas.microsoft.com/office/drawing/2014/main" val="3365197780"/>
                  </a:ext>
                </a:extLst>
              </a:tr>
            </a:tbl>
          </a:graphicData>
        </a:graphic>
      </p:graphicFrame>
    </p:spTree>
    <p:extLst>
      <p:ext uri="{BB962C8B-B14F-4D97-AF65-F5344CB8AC3E}">
        <p14:creationId xmlns:p14="http://schemas.microsoft.com/office/powerpoint/2010/main" val="1945141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High-level Query Language (2)</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09B2D55-E05F-3245-8F92-2254AE6343E1}"/>
              </a:ext>
            </a:extLst>
          </p:cNvPr>
          <p:cNvSpPr txBox="1"/>
          <p:nvPr/>
        </p:nvSpPr>
        <p:spPr>
          <a:xfrm>
            <a:off x="-8924" y="599911"/>
            <a:ext cx="9143999" cy="1131848"/>
          </a:xfrm>
          <a:prstGeom prst="rect">
            <a:avLst/>
          </a:prstGeom>
          <a:noFill/>
        </p:spPr>
        <p:txBody>
          <a:bodyPr wrap="square" rtlCol="0">
            <a:spAutoFit/>
          </a:bodyPr>
          <a:lstStyle/>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RDBMS automatically generates an algorithm for the query:</a:t>
            </a:r>
          </a:p>
          <a:p>
            <a:pPr marL="800100" lvl="1"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We call those algorithms </a:t>
            </a:r>
            <a:r>
              <a:rPr lang="en-US" sz="2400" i="1" dirty="0">
                <a:latin typeface="Arial" panose="020B0604020202020204" pitchFamily="34" charset="0"/>
                <a:cs typeface="Arial" panose="020B0604020202020204" pitchFamily="34" charset="0"/>
              </a:rPr>
              <a:t>query plans</a:t>
            </a:r>
          </a:p>
        </p:txBody>
      </p:sp>
      <p:sp>
        <p:nvSpPr>
          <p:cNvPr id="9" name="TextBox 8">
            <a:extLst>
              <a:ext uri="{FF2B5EF4-FFF2-40B4-BE49-F238E27FC236}">
                <a16:creationId xmlns:a16="http://schemas.microsoft.com/office/drawing/2014/main" id="{F2FDA93C-6DB7-774A-A07F-AEC908DBED43}"/>
              </a:ext>
            </a:extLst>
          </p:cNvPr>
          <p:cNvSpPr txBox="1"/>
          <p:nvPr/>
        </p:nvSpPr>
        <p:spPr>
          <a:xfrm>
            <a:off x="94530" y="2052534"/>
            <a:ext cx="5214893" cy="1015663"/>
          </a:xfrm>
          <a:prstGeom prst="rect">
            <a:avLst/>
          </a:prstGeom>
          <a:noFill/>
        </p:spPr>
        <p:txBody>
          <a:bodyPr wrap="square" rtlCol="0">
            <a:spAutoFit/>
          </a:bodyPr>
          <a:lstStyle/>
          <a:p>
            <a:r>
              <a:rPr lang="en-US" sz="2000" dirty="0">
                <a:latin typeface="Consolas" panose="020B0609020204030204" pitchFamily="49" charset="0"/>
                <a:cs typeface="Consolas" panose="020B0609020204030204" pitchFamily="49" charset="0"/>
              </a:rPr>
              <a:t>SELECT </a:t>
            </a:r>
            <a:r>
              <a:rPr lang="en-US" sz="2000" dirty="0" err="1">
                <a:latin typeface="Consolas" panose="020B0609020204030204" pitchFamily="49" charset="0"/>
                <a:cs typeface="Consolas" panose="020B0609020204030204" pitchFamily="49" charset="0"/>
              </a:rPr>
              <a:t>cust</a:t>
            </a:r>
            <a:r>
              <a:rPr lang="en-US" sz="2000" dirty="0">
                <a:latin typeface="Consolas" panose="020B0609020204030204" pitchFamily="49" charset="0"/>
                <a:cs typeface="Consolas" panose="020B0609020204030204" pitchFamily="49" charset="0"/>
              </a:rPr>
              <a:t>, sum(price) as </a:t>
            </a:r>
            <a:r>
              <a:rPr lang="en-US" sz="2000" dirty="0" err="1">
                <a:latin typeface="Consolas" panose="020B0609020204030204" pitchFamily="49" charset="0"/>
                <a:cs typeface="Consolas" panose="020B0609020204030204" pitchFamily="49" charset="0"/>
              </a:rPr>
              <a:t>sumPay</a:t>
            </a:r>
            <a:endParaRPr lang="en-US" sz="2000" dirty="0">
              <a:latin typeface="Consolas" panose="020B0609020204030204" pitchFamily="49" charset="0"/>
              <a:cs typeface="Consolas" panose="020B0609020204030204" pitchFamily="49" charset="0"/>
            </a:endParaRPr>
          </a:p>
          <a:p>
            <a:r>
              <a:rPr lang="en-US" sz="2000" dirty="0">
                <a:latin typeface="Consolas" panose="020B0609020204030204" pitchFamily="49" charset="0"/>
                <a:cs typeface="Consolas" panose="020B0609020204030204" pitchFamily="49" charset="0"/>
              </a:rPr>
              <a:t>FROM Orders</a:t>
            </a:r>
          </a:p>
          <a:p>
            <a:r>
              <a:rPr lang="en-US" sz="2000" dirty="0">
                <a:latin typeface="Consolas" panose="020B0609020204030204" pitchFamily="49" charset="0"/>
                <a:cs typeface="Consolas" panose="020B0609020204030204" pitchFamily="49" charset="0"/>
              </a:rPr>
              <a:t>ORDER BY </a:t>
            </a:r>
            <a:r>
              <a:rPr lang="en-US" sz="2000" dirty="0" err="1">
                <a:latin typeface="Consolas" panose="020B0609020204030204" pitchFamily="49" charset="0"/>
                <a:cs typeface="Consolas" panose="020B0609020204030204" pitchFamily="49" charset="0"/>
              </a:rPr>
              <a:t>sumPay</a:t>
            </a:r>
            <a:r>
              <a:rPr lang="en-US" sz="2000" dirty="0">
                <a:latin typeface="Consolas" panose="020B0609020204030204" pitchFamily="49" charset="0"/>
                <a:cs typeface="Consolas" panose="020B0609020204030204" pitchFamily="49" charset="0"/>
              </a:rPr>
              <a:t> DESC</a:t>
            </a:r>
          </a:p>
        </p:txBody>
      </p:sp>
      <p:sp>
        <p:nvSpPr>
          <p:cNvPr id="11" name="Rectangle 10">
            <a:extLst>
              <a:ext uri="{FF2B5EF4-FFF2-40B4-BE49-F238E27FC236}">
                <a16:creationId xmlns:a16="http://schemas.microsoft.com/office/drawing/2014/main" id="{F0510CA3-A018-9147-905A-B69AD2C8FF2B}"/>
              </a:ext>
            </a:extLst>
          </p:cNvPr>
          <p:cNvSpPr/>
          <p:nvPr/>
        </p:nvSpPr>
        <p:spPr>
          <a:xfrm>
            <a:off x="8924" y="5082572"/>
            <a:ext cx="9143999" cy="1569660"/>
          </a:xfrm>
          <a:prstGeom prst="rect">
            <a:avLst/>
          </a:prstGeom>
        </p:spPr>
        <p:txBody>
          <a:bodyPr wrap="square">
            <a:spAutoFit/>
          </a:bodyPr>
          <a:lstStyle/>
          <a:p>
            <a:pPr algn="ctr"/>
            <a:r>
              <a:rPr lang="en-US" sz="2400" dirty="0">
                <a:solidFill>
                  <a:srgbClr val="990000"/>
                </a:solidFill>
                <a:latin typeface="Arial" panose="020B0604020202020204" pitchFamily="34" charset="0"/>
                <a:cs typeface="Arial" panose="020B0604020202020204" pitchFamily="34" charset="0"/>
              </a:rPr>
              <a:t>Takeaway: A high-level QL delegates the responsibility of finding an efficient algorithm for queries to the DBMS.</a:t>
            </a:r>
          </a:p>
          <a:p>
            <a:pPr algn="ctr"/>
            <a:r>
              <a:rPr lang="en-US" sz="2400" dirty="0">
                <a:solidFill>
                  <a:srgbClr val="990000"/>
                </a:solidFill>
                <a:latin typeface="Arial" panose="020B0604020202020204" pitchFamily="34" charset="0"/>
                <a:cs typeface="Arial" panose="020B0604020202020204" pitchFamily="34" charset="0"/>
              </a:rPr>
              <a:t>Other efficiency benefits: The DBMS will handle large data and automatically parallelize these algorithms.</a:t>
            </a:r>
          </a:p>
        </p:txBody>
      </p:sp>
      <p:pic>
        <p:nvPicPr>
          <p:cNvPr id="3" name="Picture 2" descr="Graphical user interface, application&#10;&#10;Description automatically generated">
            <a:extLst>
              <a:ext uri="{FF2B5EF4-FFF2-40B4-BE49-F238E27FC236}">
                <a16:creationId xmlns:a16="http://schemas.microsoft.com/office/drawing/2014/main" id="{ACABBE06-50AD-5749-9137-8E922D408B39}"/>
              </a:ext>
            </a:extLst>
          </p:cNvPr>
          <p:cNvPicPr>
            <a:picLocks noChangeAspect="1"/>
          </p:cNvPicPr>
          <p:nvPr/>
        </p:nvPicPr>
        <p:blipFill>
          <a:blip r:embed="rId3"/>
          <a:stretch>
            <a:fillRect/>
          </a:stretch>
        </p:blipFill>
        <p:spPr>
          <a:xfrm>
            <a:off x="5450221" y="2052534"/>
            <a:ext cx="3433396" cy="2705982"/>
          </a:xfrm>
          <a:prstGeom prst="rect">
            <a:avLst/>
          </a:prstGeom>
        </p:spPr>
      </p:pic>
      <p:sp>
        <p:nvSpPr>
          <p:cNvPr id="12" name="TextBox 11">
            <a:extLst>
              <a:ext uri="{FF2B5EF4-FFF2-40B4-BE49-F238E27FC236}">
                <a16:creationId xmlns:a16="http://schemas.microsoft.com/office/drawing/2014/main" id="{62DC413B-4D2E-924A-A490-23017EE8D7F5}"/>
              </a:ext>
            </a:extLst>
          </p:cNvPr>
          <p:cNvSpPr txBox="1"/>
          <p:nvPr/>
        </p:nvSpPr>
        <p:spPr>
          <a:xfrm>
            <a:off x="8924" y="3049552"/>
            <a:ext cx="5060787" cy="1685846"/>
          </a:xfrm>
          <a:prstGeom prst="rect">
            <a:avLst/>
          </a:prstGeom>
          <a:noFill/>
        </p:spPr>
        <p:txBody>
          <a:bodyPr wrap="square" rtlCol="0">
            <a:spAutoFit/>
          </a:bodyPr>
          <a:lstStyle/>
          <a:p>
            <a:pPr marL="342900" indent="-3429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High-level QLs are perhaps the best examples of </a:t>
            </a:r>
            <a:r>
              <a:rPr lang="en-US" sz="2400" i="1" dirty="0">
                <a:latin typeface="Arial" panose="020B0604020202020204" pitchFamily="34" charset="0"/>
                <a:cs typeface="Arial" panose="020B0604020202020204" pitchFamily="34" charset="0"/>
              </a:rPr>
              <a:t>automatic programming</a:t>
            </a:r>
          </a:p>
        </p:txBody>
      </p:sp>
    </p:spTree>
    <p:extLst>
      <p:ext uri="{BB962C8B-B14F-4D97-AF65-F5344CB8AC3E}">
        <p14:creationId xmlns:p14="http://schemas.microsoft.com/office/powerpoint/2010/main" val="145981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Integrity Constraints</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09B2D55-E05F-3245-8F92-2254AE6343E1}"/>
              </a:ext>
            </a:extLst>
          </p:cNvPr>
          <p:cNvSpPr txBox="1"/>
          <p:nvPr/>
        </p:nvSpPr>
        <p:spPr>
          <a:xfrm>
            <a:off x="-8924" y="698767"/>
            <a:ext cx="9143999" cy="3630546"/>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Recall the bug in Checkout App’s “Checkout As Guest”:</a:t>
            </a:r>
          </a:p>
          <a:p>
            <a:pPr lvl="1" indent="-274320">
              <a:lnSpc>
                <a:spcPct val="150000"/>
              </a:lnSpc>
              <a:buFont typeface="Wingdings" pitchFamily="2" charset="2"/>
              <a:buChar char="Ø"/>
            </a:pPr>
            <a:r>
              <a:rPr lang="en-US" sz="2200" dirty="0">
                <a:latin typeface="Arial" panose="020B0604020202020204" pitchFamily="34" charset="0"/>
                <a:cs typeface="Arial" panose="020B0604020202020204" pitchFamily="34" charset="0"/>
              </a:rPr>
              <a:t>Writes the Customer record</a:t>
            </a:r>
          </a:p>
          <a:p>
            <a:pPr lvl="1" indent="-274320">
              <a:lnSpc>
                <a:spcPct val="150000"/>
              </a:lnSpc>
              <a:buFont typeface="Wingdings" pitchFamily="2" charset="2"/>
              <a:buChar char="Ø"/>
            </a:pPr>
            <a:r>
              <a:rPr lang="en-US" sz="2200" dirty="0">
                <a:latin typeface="Arial" panose="020B0604020202020204" pitchFamily="34" charset="0"/>
                <a:cs typeface="Arial" panose="020B0604020202020204" pitchFamily="34" charset="0"/>
              </a:rPr>
              <a:t>Assume Bob shops again</a:t>
            </a:r>
          </a:p>
          <a:p>
            <a:pPr lvl="1" indent="-274320">
              <a:lnSpc>
                <a:spcPct val="150000"/>
              </a:lnSpc>
              <a:buFont typeface="Wingdings" pitchFamily="2" charset="2"/>
              <a:buChar char="Ø"/>
            </a:pPr>
            <a:r>
              <a:rPr lang="en-US" sz="2200" dirty="0">
                <a:latin typeface="Arial" panose="020B0604020202020204" pitchFamily="34" charset="0"/>
                <a:cs typeface="Arial" panose="020B0604020202020204" pitchFamily="34" charset="0"/>
              </a:rPr>
              <a:t>(Bob, 1999/05/07) is duplicated!</a:t>
            </a:r>
          </a:p>
          <a:p>
            <a:pPr indent="-274320">
              <a:lnSpc>
                <a:spcPct val="150000"/>
              </a:lnSpc>
              <a:buFont typeface="Wingdings" pitchFamily="2" charset="2"/>
              <a:buChar char="Ø"/>
            </a:pPr>
            <a:r>
              <a:rPr lang="en-US" sz="2200" dirty="0">
                <a:latin typeface="Arial" panose="020B0604020202020204" pitchFamily="34" charset="0"/>
                <a:cs typeface="Arial" panose="020B0604020202020204" pitchFamily="34" charset="0"/>
              </a:rPr>
              <a:t>In RDBMSs: add uniqueness constraints (Primary Key Constraints)</a:t>
            </a:r>
          </a:p>
          <a:p>
            <a:pPr indent="-274320">
              <a:lnSpc>
                <a:spcPct val="150000"/>
              </a:lnSpc>
              <a:buFont typeface="Wingdings" pitchFamily="2" charset="2"/>
              <a:buChar char="Ø"/>
            </a:pPr>
            <a:endParaRPr lang="en-US" sz="2200" dirty="0">
              <a:latin typeface="Arial" panose="020B0604020202020204" pitchFamily="34" charset="0"/>
              <a:cs typeface="Arial" panose="020B0604020202020204" pitchFamily="34" charset="0"/>
            </a:endParaRPr>
          </a:p>
          <a:p>
            <a:pPr>
              <a:lnSpc>
                <a:spcPct val="150000"/>
              </a:lnSpc>
            </a:pPr>
            <a:endParaRPr lang="en-US" sz="22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D61B4B02-CD33-204F-8C19-50C35BA19135}"/>
              </a:ext>
            </a:extLst>
          </p:cNvPr>
          <p:cNvSpPr txBox="1"/>
          <p:nvPr/>
        </p:nvSpPr>
        <p:spPr>
          <a:xfrm>
            <a:off x="209724" y="3251750"/>
            <a:ext cx="8268042" cy="646331"/>
          </a:xfrm>
          <a:prstGeom prst="rect">
            <a:avLst/>
          </a:prstGeom>
          <a:noFill/>
        </p:spPr>
        <p:txBody>
          <a:bodyPr wrap="square" rtlCol="0">
            <a:spAutoFit/>
          </a:bodyPr>
          <a:lstStyle/>
          <a:p>
            <a:r>
              <a:rPr lang="en-US" dirty="0">
                <a:latin typeface="Consolas" panose="020B0609020204030204" pitchFamily="49" charset="0"/>
                <a:cs typeface="Consolas" panose="020B0609020204030204" pitchFamily="49" charset="0"/>
              </a:rPr>
              <a:t>CREATE TABLE Customers (name varchar(255), birthdate DATE,</a:t>
            </a:r>
          </a:p>
          <a:p>
            <a:r>
              <a:rPr lang="en-US" dirty="0">
                <a:latin typeface="Consolas" panose="020B0609020204030204" pitchFamily="49" charset="0"/>
                <a:cs typeface="Consolas" panose="020B0609020204030204" pitchFamily="49" charset="0"/>
              </a:rPr>
              <a:t>PRIMARY KEY (name));</a:t>
            </a:r>
          </a:p>
        </p:txBody>
      </p:sp>
      <p:pic>
        <p:nvPicPr>
          <p:cNvPr id="3" name="Picture 2" descr="Text&#10;&#10;Description automatically generated">
            <a:extLst>
              <a:ext uri="{FF2B5EF4-FFF2-40B4-BE49-F238E27FC236}">
                <a16:creationId xmlns:a16="http://schemas.microsoft.com/office/drawing/2014/main" id="{5C33A3B7-19C5-F045-9201-7B47D1A647D4}"/>
              </a:ext>
            </a:extLst>
          </p:cNvPr>
          <p:cNvPicPr>
            <a:picLocks noChangeAspect="1"/>
          </p:cNvPicPr>
          <p:nvPr/>
        </p:nvPicPr>
        <p:blipFill>
          <a:blip r:embed="rId3"/>
          <a:stretch>
            <a:fillRect/>
          </a:stretch>
        </p:blipFill>
        <p:spPr>
          <a:xfrm>
            <a:off x="1086366" y="3936573"/>
            <a:ext cx="7391400" cy="1320800"/>
          </a:xfrm>
          <a:prstGeom prst="rect">
            <a:avLst/>
          </a:prstGeom>
        </p:spPr>
      </p:pic>
      <p:sp>
        <p:nvSpPr>
          <p:cNvPr id="11" name="TextBox 10">
            <a:extLst>
              <a:ext uri="{FF2B5EF4-FFF2-40B4-BE49-F238E27FC236}">
                <a16:creationId xmlns:a16="http://schemas.microsoft.com/office/drawing/2014/main" id="{BD015983-41E6-4149-B804-F5E387EE6B8D}"/>
              </a:ext>
            </a:extLst>
          </p:cNvPr>
          <p:cNvSpPr txBox="1"/>
          <p:nvPr/>
        </p:nvSpPr>
        <p:spPr>
          <a:xfrm>
            <a:off x="8924" y="6185433"/>
            <a:ext cx="9143999" cy="577850"/>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Can enforce other integrity constraints (e.g., foreign key)</a:t>
            </a:r>
          </a:p>
        </p:txBody>
      </p:sp>
      <p:sp>
        <p:nvSpPr>
          <p:cNvPr id="6" name="Rectangle 5">
            <a:extLst>
              <a:ext uri="{FF2B5EF4-FFF2-40B4-BE49-F238E27FC236}">
                <a16:creationId xmlns:a16="http://schemas.microsoft.com/office/drawing/2014/main" id="{ED620028-73CB-AC42-81D3-B55877EE694E}"/>
              </a:ext>
            </a:extLst>
          </p:cNvPr>
          <p:cNvSpPr/>
          <p:nvPr/>
        </p:nvSpPr>
        <p:spPr>
          <a:xfrm>
            <a:off x="8924" y="5230481"/>
            <a:ext cx="9126151" cy="1131848"/>
          </a:xfrm>
          <a:prstGeom prst="rect">
            <a:avLst/>
          </a:prstGeom>
        </p:spPr>
        <p:txBody>
          <a:bodyPr wrap="square">
            <a:spAutoFit/>
          </a:bodyPr>
          <a:lstStyle/>
          <a:p>
            <a:pPr algn="ctr">
              <a:lnSpc>
                <a:spcPct val="150000"/>
              </a:lnSpc>
            </a:pPr>
            <a:r>
              <a:rPr lang="en-US" sz="2400" dirty="0">
                <a:solidFill>
                  <a:srgbClr val="990000"/>
                </a:solidFill>
                <a:latin typeface="Arial" panose="020B0604020202020204" pitchFamily="34" charset="0"/>
                <a:cs typeface="Arial" panose="020B0604020202020204" pitchFamily="34" charset="0"/>
              </a:rPr>
              <a:t>Takeaway: DBMSs will enforce the constraint and maintain the data’s integrity at all times on behalf of the app!</a:t>
            </a:r>
          </a:p>
        </p:txBody>
      </p:sp>
    </p:spTree>
    <p:extLst>
      <p:ext uri="{BB962C8B-B14F-4D97-AF65-F5344CB8AC3E}">
        <p14:creationId xmlns:p14="http://schemas.microsoft.com/office/powerpoint/2010/main" val="4280009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6"/>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6"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Concurrency When Using an RDBMS</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7C43B651-F0C2-384B-B4A7-0CD94E8D041F}"/>
              </a:ext>
            </a:extLst>
          </p:cNvPr>
          <p:cNvSpPr txBox="1"/>
          <p:nvPr/>
        </p:nvSpPr>
        <p:spPr>
          <a:xfrm>
            <a:off x="0" y="682309"/>
            <a:ext cx="9143999" cy="1131848"/>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Recall Alice &amp; Bob concurrently ordering </a:t>
            </a:r>
            <a:r>
              <a:rPr lang="en-US" sz="2400" dirty="0" err="1">
                <a:latin typeface="Arial" panose="020B0604020202020204" pitchFamily="34" charset="0"/>
                <a:cs typeface="Arial" panose="020B0604020202020204" pitchFamily="34" charset="0"/>
              </a:rPr>
              <a:t>BookA</a:t>
            </a:r>
            <a:r>
              <a:rPr lang="en-US" sz="2400" dirty="0">
                <a:latin typeface="Arial" panose="020B0604020202020204" pitchFamily="34" charset="0"/>
                <a:cs typeface="Arial" panose="020B0604020202020204" pitchFamily="34" charset="0"/>
              </a:rPr>
              <a:t>:</a:t>
            </a:r>
          </a:p>
          <a:p>
            <a:pPr marL="457200" indent="-457200">
              <a:lnSpc>
                <a:spcPct val="150000"/>
              </a:lnSpc>
              <a:buFont typeface="Wingdings" pitchFamily="2" charset="2"/>
              <a:buChar char="Ø"/>
            </a:pPr>
            <a:endParaRPr lang="en-US" sz="2400" dirty="0">
              <a:latin typeface="Arial" panose="020B0604020202020204" pitchFamily="34" charset="0"/>
              <a:cs typeface="Arial" panose="020B0604020202020204" pitchFamily="34" charset="0"/>
            </a:endParaRPr>
          </a:p>
        </p:txBody>
      </p:sp>
      <p:graphicFrame>
        <p:nvGraphicFramePr>
          <p:cNvPr id="31" name="Table 21">
            <a:extLst>
              <a:ext uri="{FF2B5EF4-FFF2-40B4-BE49-F238E27FC236}">
                <a16:creationId xmlns:a16="http://schemas.microsoft.com/office/drawing/2014/main" id="{4CCB46F1-17E6-504E-809D-D42F1B1F77F2}"/>
              </a:ext>
            </a:extLst>
          </p:cNvPr>
          <p:cNvGraphicFramePr>
            <a:graphicFrameLocks noGrp="1"/>
          </p:cNvGraphicFramePr>
          <p:nvPr/>
        </p:nvGraphicFramePr>
        <p:xfrm>
          <a:off x="496950" y="1337240"/>
          <a:ext cx="2326767" cy="1402080"/>
        </p:xfrm>
        <a:graphic>
          <a:graphicData uri="http://schemas.openxmlformats.org/drawingml/2006/table">
            <a:tbl>
              <a:tblPr firstRow="1" bandRow="1">
                <a:tableStyleId>{2D5ABB26-0587-4C30-8999-92F81FD0307C}</a:tableStyleId>
              </a:tblPr>
              <a:tblGrid>
                <a:gridCol w="951693">
                  <a:extLst>
                    <a:ext uri="{9D8B030D-6E8A-4147-A177-3AD203B41FA5}">
                      <a16:colId xmlns:a16="http://schemas.microsoft.com/office/drawing/2014/main" val="1727528194"/>
                    </a:ext>
                  </a:extLst>
                </a:gridCol>
                <a:gridCol w="1375074">
                  <a:extLst>
                    <a:ext uri="{9D8B030D-6E8A-4147-A177-3AD203B41FA5}">
                      <a16:colId xmlns:a16="http://schemas.microsoft.com/office/drawing/2014/main" val="3729982082"/>
                    </a:ext>
                  </a:extLst>
                </a:gridCol>
              </a:tblGrid>
              <a:tr h="0">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0">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0">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0">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sp>
        <p:nvSpPr>
          <p:cNvPr id="42" name="TextBox 41">
            <a:extLst>
              <a:ext uri="{FF2B5EF4-FFF2-40B4-BE49-F238E27FC236}">
                <a16:creationId xmlns:a16="http://schemas.microsoft.com/office/drawing/2014/main" id="{04FDDBBD-8EFD-C548-87AE-5FEC946E443E}"/>
              </a:ext>
            </a:extLst>
          </p:cNvPr>
          <p:cNvSpPr txBox="1"/>
          <p:nvPr/>
        </p:nvSpPr>
        <p:spPr>
          <a:xfrm>
            <a:off x="3462236" y="1261791"/>
            <a:ext cx="5230761" cy="1400383"/>
          </a:xfrm>
          <a:prstGeom prst="rect">
            <a:avLst/>
          </a:prstGeom>
          <a:noFill/>
        </p:spPr>
        <p:txBody>
          <a:bodyPr wrap="square" rtlCol="0">
            <a:spAutoFit/>
          </a:bodyPr>
          <a:lstStyle/>
          <a:p>
            <a:r>
              <a:rPr lang="en-US" sz="1700" dirty="0" err="1">
                <a:latin typeface="Consolas" panose="020B0609020204030204" pitchFamily="49" charset="0"/>
                <a:cs typeface="Consolas" panose="020B0609020204030204" pitchFamily="49" charset="0"/>
              </a:rPr>
              <a:t>Buy_Product_Subroutine</a:t>
            </a:r>
            <a:r>
              <a:rPr lang="en-US" sz="1700" dirty="0">
                <a:latin typeface="Consolas" panose="020B0609020204030204" pitchFamily="49" charset="0"/>
                <a:cs typeface="Consolas" panose="020B0609020204030204" pitchFamily="49" charset="0"/>
              </a:rPr>
              <a:t>(string </a:t>
            </a:r>
            <a:r>
              <a:rPr lang="en-US" sz="1700" dirty="0" err="1">
                <a:latin typeface="Consolas" panose="020B0609020204030204" pitchFamily="49" charset="0"/>
                <a:cs typeface="Consolas" panose="020B0609020204030204" pitchFamily="49" charset="0"/>
              </a:rPr>
              <a:t>prodName</a:t>
            </a:r>
            <a:r>
              <a:rPr lang="en-US" sz="1700" dirty="0">
                <a:latin typeface="Consolas" panose="020B0609020204030204" pitchFamily="49" charset="0"/>
                <a:cs typeface="Consolas" panose="020B0609020204030204" pitchFamily="49" charset="0"/>
              </a:rPr>
              <a:t>):</a:t>
            </a:r>
          </a:p>
          <a:p>
            <a:r>
              <a:rPr lang="en-US" sz="1700" dirty="0">
                <a:latin typeface="Consolas" panose="020B0609020204030204" pitchFamily="49" charset="0"/>
                <a:cs typeface="Consolas" panose="020B0609020204030204" pitchFamily="49" charset="0"/>
              </a:rPr>
              <a:t>(prod, </a:t>
            </a:r>
            <a:r>
              <a:rPr lang="en-US" sz="1700" dirty="0" err="1">
                <a:latin typeface="Consolas" panose="020B0609020204030204" pitchFamily="49" charset="0"/>
                <a:cs typeface="Consolas" panose="020B0609020204030204" pitchFamily="49" charset="0"/>
              </a:rPr>
              <a:t>numInStock</a:t>
            </a:r>
            <a:r>
              <a:rPr lang="en-US" sz="1700" dirty="0">
                <a:latin typeface="Consolas" panose="020B0609020204030204" pitchFamily="49" charset="0"/>
                <a:cs typeface="Consolas" panose="020B0609020204030204" pitchFamily="49" charset="0"/>
              </a:rPr>
              <a:t>) = </a:t>
            </a:r>
            <a:r>
              <a:rPr lang="en-US" sz="1700" dirty="0" err="1">
                <a:latin typeface="Consolas" panose="020B0609020204030204" pitchFamily="49" charset="0"/>
                <a:cs typeface="Consolas" panose="020B0609020204030204" pitchFamily="49" charset="0"/>
              </a:rPr>
              <a:t>readProduct</a:t>
            </a:r>
            <a:r>
              <a:rPr lang="en-US" sz="1700" dirty="0">
                <a:latin typeface="Consolas" panose="020B0609020204030204" pitchFamily="49" charset="0"/>
                <a:cs typeface="Consolas" panose="020B0609020204030204" pitchFamily="49" charset="0"/>
              </a:rPr>
              <a:t>(</a:t>
            </a:r>
            <a:r>
              <a:rPr lang="en-US" sz="1700" dirty="0" err="1">
                <a:latin typeface="Consolas" panose="020B0609020204030204" pitchFamily="49" charset="0"/>
                <a:cs typeface="Consolas" panose="020B0609020204030204" pitchFamily="49" charset="0"/>
              </a:rPr>
              <a:t>prodName</a:t>
            </a:r>
            <a:r>
              <a:rPr lang="en-US" sz="1700" dirty="0">
                <a:latin typeface="Consolas" panose="020B0609020204030204" pitchFamily="49" charset="0"/>
                <a:cs typeface="Consolas" panose="020B0609020204030204" pitchFamily="49" charset="0"/>
              </a:rPr>
              <a:t>)</a:t>
            </a:r>
          </a:p>
          <a:p>
            <a:r>
              <a:rPr lang="en-US" sz="1700" dirty="0">
                <a:latin typeface="Consolas" panose="020B0609020204030204" pitchFamily="49" charset="0"/>
                <a:cs typeface="Consolas" panose="020B0609020204030204" pitchFamily="49" charset="0"/>
              </a:rPr>
              <a:t>if (</a:t>
            </a:r>
            <a:r>
              <a:rPr lang="en-US" sz="1700" dirty="0" err="1">
                <a:latin typeface="Consolas" panose="020B0609020204030204" pitchFamily="49" charset="0"/>
                <a:cs typeface="Consolas" panose="020B0609020204030204" pitchFamily="49" charset="0"/>
              </a:rPr>
              <a:t>numInStock</a:t>
            </a:r>
            <a:r>
              <a:rPr lang="en-US" sz="1700" dirty="0">
                <a:latin typeface="Consolas" panose="020B0609020204030204" pitchFamily="49" charset="0"/>
                <a:cs typeface="Consolas" panose="020B0609020204030204" pitchFamily="49" charset="0"/>
              </a:rPr>
              <a:t> &gt; 0):</a:t>
            </a:r>
          </a:p>
          <a:p>
            <a:r>
              <a:rPr lang="en-US" sz="1700" dirty="0">
                <a:latin typeface="Consolas" panose="020B0609020204030204" pitchFamily="49" charset="0"/>
                <a:cs typeface="Consolas" panose="020B0609020204030204" pitchFamily="49" charset="0"/>
              </a:rPr>
              <a:t>	</a:t>
            </a:r>
            <a:r>
              <a:rPr lang="en-US" sz="1700" dirty="0" err="1">
                <a:latin typeface="Consolas" panose="020B0609020204030204" pitchFamily="49" charset="0"/>
                <a:cs typeface="Consolas" panose="020B0609020204030204" pitchFamily="49" charset="0"/>
              </a:rPr>
              <a:t>writeProduct</a:t>
            </a:r>
            <a:r>
              <a:rPr lang="en-US" sz="1700" dirty="0">
                <a:latin typeface="Consolas" panose="020B0609020204030204" pitchFamily="49" charset="0"/>
                <a:cs typeface="Consolas" panose="020B0609020204030204" pitchFamily="49" charset="0"/>
              </a:rPr>
              <a:t>((prod, </a:t>
            </a:r>
            <a:r>
              <a:rPr lang="en-US" sz="1700" dirty="0" err="1">
                <a:latin typeface="Consolas" panose="020B0609020204030204" pitchFamily="49" charset="0"/>
                <a:cs typeface="Consolas" panose="020B0609020204030204" pitchFamily="49" charset="0"/>
              </a:rPr>
              <a:t>numInStock</a:t>
            </a:r>
            <a:r>
              <a:rPr lang="en-US" sz="1700" dirty="0">
                <a:latin typeface="Consolas" panose="020B0609020204030204" pitchFamily="49" charset="0"/>
                <a:cs typeface="Consolas" panose="020B0609020204030204" pitchFamily="49" charset="0"/>
              </a:rPr>
              <a:t> - 1)</a:t>
            </a:r>
          </a:p>
          <a:p>
            <a:r>
              <a:rPr lang="en-US" sz="1700" dirty="0">
                <a:latin typeface="Consolas" panose="020B0609020204030204" pitchFamily="49" charset="0"/>
                <a:cs typeface="Consolas" panose="020B0609020204030204" pitchFamily="49" charset="0"/>
              </a:rPr>
              <a:t>else throw(“Cannot buy product!”);</a:t>
            </a:r>
          </a:p>
        </p:txBody>
      </p:sp>
      <p:grpSp>
        <p:nvGrpSpPr>
          <p:cNvPr id="2" name="Group 1">
            <a:extLst>
              <a:ext uri="{FF2B5EF4-FFF2-40B4-BE49-F238E27FC236}">
                <a16:creationId xmlns:a16="http://schemas.microsoft.com/office/drawing/2014/main" id="{4FE9E3C1-CA9F-9F4F-86B3-3F84B07AE75E}"/>
              </a:ext>
            </a:extLst>
          </p:cNvPr>
          <p:cNvGrpSpPr/>
          <p:nvPr/>
        </p:nvGrpSpPr>
        <p:grpSpPr>
          <a:xfrm>
            <a:off x="-123108" y="2727392"/>
            <a:ext cx="9299315" cy="4162683"/>
            <a:chOff x="-123108" y="2727392"/>
            <a:chExt cx="9299315" cy="4162683"/>
          </a:xfrm>
        </p:grpSpPr>
        <p:pic>
          <p:nvPicPr>
            <p:cNvPr id="33" name="Graphic 32" descr="Female Profile with solid fill">
              <a:extLst>
                <a:ext uri="{FF2B5EF4-FFF2-40B4-BE49-F238E27FC236}">
                  <a16:creationId xmlns:a16="http://schemas.microsoft.com/office/drawing/2014/main" id="{A0867ED5-55C4-1247-9CC4-313DA99A7D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020408" y="2751206"/>
              <a:ext cx="731520" cy="731520"/>
            </a:xfrm>
            <a:prstGeom prst="rect">
              <a:avLst/>
            </a:prstGeom>
          </p:spPr>
        </p:pic>
        <p:cxnSp>
          <p:nvCxnSpPr>
            <p:cNvPr id="34" name="Straight Arrow Connector 33">
              <a:extLst>
                <a:ext uri="{FF2B5EF4-FFF2-40B4-BE49-F238E27FC236}">
                  <a16:creationId xmlns:a16="http://schemas.microsoft.com/office/drawing/2014/main" id="{F567CC06-30A8-834B-92D2-2C0460407137}"/>
                </a:ext>
              </a:extLst>
            </p:cNvPr>
            <p:cNvCxnSpPr>
              <a:cxnSpLocks/>
            </p:cNvCxnSpPr>
            <p:nvPr/>
          </p:nvCxnSpPr>
          <p:spPr>
            <a:xfrm>
              <a:off x="333363" y="4246353"/>
              <a:ext cx="1" cy="204774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5" name="TextBox 34">
              <a:extLst>
                <a:ext uri="{FF2B5EF4-FFF2-40B4-BE49-F238E27FC236}">
                  <a16:creationId xmlns:a16="http://schemas.microsoft.com/office/drawing/2014/main" id="{E2076C79-B371-B34B-AEA3-7E7850C413C1}"/>
                </a:ext>
              </a:extLst>
            </p:cNvPr>
            <p:cNvSpPr txBox="1"/>
            <p:nvPr/>
          </p:nvSpPr>
          <p:spPr>
            <a:xfrm>
              <a:off x="333363" y="4225709"/>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 1)</a:t>
              </a:r>
            </a:p>
          </p:txBody>
        </p:sp>
        <p:pic>
          <p:nvPicPr>
            <p:cNvPr id="36" name="Graphic 35" descr="Male profile with solid fill">
              <a:extLst>
                <a:ext uri="{FF2B5EF4-FFF2-40B4-BE49-F238E27FC236}">
                  <a16:creationId xmlns:a16="http://schemas.microsoft.com/office/drawing/2014/main" id="{BAC1BF77-70E8-AE4D-B841-C11D7688570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6920" y="2727392"/>
              <a:ext cx="731520" cy="731520"/>
            </a:xfrm>
            <a:prstGeom prst="rect">
              <a:avLst/>
            </a:prstGeom>
          </p:spPr>
        </p:pic>
        <p:sp>
          <p:nvSpPr>
            <p:cNvPr id="37" name="TextBox 36">
              <a:extLst>
                <a:ext uri="{FF2B5EF4-FFF2-40B4-BE49-F238E27FC236}">
                  <a16:creationId xmlns:a16="http://schemas.microsoft.com/office/drawing/2014/main" id="{C2A2379B-068D-6F47-A9DA-E67FAF7D6326}"/>
                </a:ext>
              </a:extLst>
            </p:cNvPr>
            <p:cNvSpPr txBox="1"/>
            <p:nvPr/>
          </p:nvSpPr>
          <p:spPr>
            <a:xfrm rot="16200000">
              <a:off x="-326282" y="4969200"/>
              <a:ext cx="862819" cy="456472"/>
            </a:xfrm>
            <a:prstGeom prst="rect">
              <a:avLst/>
            </a:prstGeom>
            <a:noFill/>
          </p:spPr>
          <p:txBody>
            <a:bodyPr wrap="square" rtlCol="0">
              <a:spAutoFit/>
            </a:bodyPr>
            <a:lstStyle/>
            <a:p>
              <a:pPr algn="ctr">
                <a:lnSpc>
                  <a:spcPct val="150000"/>
                </a:lnSpc>
              </a:pPr>
              <a:r>
                <a:rPr lang="en-US" dirty="0">
                  <a:latin typeface="Arial" panose="020B0604020202020204" pitchFamily="34" charset="0"/>
                  <a:cs typeface="Arial" panose="020B0604020202020204" pitchFamily="34" charset="0"/>
                </a:rPr>
                <a:t>time</a:t>
              </a:r>
            </a:p>
          </p:txBody>
        </p:sp>
        <p:sp>
          <p:nvSpPr>
            <p:cNvPr id="38" name="TextBox 37">
              <a:extLst>
                <a:ext uri="{FF2B5EF4-FFF2-40B4-BE49-F238E27FC236}">
                  <a16:creationId xmlns:a16="http://schemas.microsoft.com/office/drawing/2014/main" id="{4BCE33D8-DB9A-AE43-BCE9-1F83123A14D5}"/>
                </a:ext>
              </a:extLst>
            </p:cNvPr>
            <p:cNvSpPr txBox="1"/>
            <p:nvPr/>
          </p:nvSpPr>
          <p:spPr>
            <a:xfrm>
              <a:off x="1798387" y="4944240"/>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 0)</a:t>
              </a:r>
            </a:p>
          </p:txBody>
        </p:sp>
        <p:pic>
          <p:nvPicPr>
            <p:cNvPr id="39" name="Graphic 38" descr="Female Profile with solid fill">
              <a:extLst>
                <a:ext uri="{FF2B5EF4-FFF2-40B4-BE49-F238E27FC236}">
                  <a16:creationId xmlns:a16="http://schemas.microsoft.com/office/drawing/2014/main" id="{0B5D87A4-60ED-FE4B-9E17-89B9B27C257A}"/>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43436" y="2772296"/>
              <a:ext cx="731520" cy="731520"/>
            </a:xfrm>
            <a:prstGeom prst="rect">
              <a:avLst/>
            </a:prstGeom>
          </p:spPr>
        </p:pic>
        <p:pic>
          <p:nvPicPr>
            <p:cNvPr id="40" name="Graphic 39" descr="Male profile with solid fill">
              <a:extLst>
                <a:ext uri="{FF2B5EF4-FFF2-40B4-BE49-F238E27FC236}">
                  <a16:creationId xmlns:a16="http://schemas.microsoft.com/office/drawing/2014/main" id="{764470CD-FF43-4948-B289-F964C0E99D7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72085" y="2794769"/>
              <a:ext cx="731520" cy="731520"/>
            </a:xfrm>
            <a:prstGeom prst="rect">
              <a:avLst/>
            </a:prstGeom>
          </p:spPr>
        </p:pic>
        <p:pic>
          <p:nvPicPr>
            <p:cNvPr id="41" name="Graphic 40" descr="Female Profile with solid fill">
              <a:extLst>
                <a:ext uri="{FF2B5EF4-FFF2-40B4-BE49-F238E27FC236}">
                  <a16:creationId xmlns:a16="http://schemas.microsoft.com/office/drawing/2014/main" id="{4954AB71-92D7-8D49-A01B-AA31E72DA9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46815" y="2786566"/>
              <a:ext cx="731520" cy="731520"/>
            </a:xfrm>
            <a:prstGeom prst="rect">
              <a:avLst/>
            </a:prstGeom>
          </p:spPr>
        </p:pic>
        <p:pic>
          <p:nvPicPr>
            <p:cNvPr id="43" name="Graphic 42" descr="Male profile with solid fill">
              <a:extLst>
                <a:ext uri="{FF2B5EF4-FFF2-40B4-BE49-F238E27FC236}">
                  <a16:creationId xmlns:a16="http://schemas.microsoft.com/office/drawing/2014/main" id="{A7E8A940-2247-9C4D-A6EE-93331AAD3D01}"/>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62977" y="2772296"/>
              <a:ext cx="731520" cy="731520"/>
            </a:xfrm>
            <a:prstGeom prst="rect">
              <a:avLst/>
            </a:prstGeom>
          </p:spPr>
        </p:pic>
        <p:sp>
          <p:nvSpPr>
            <p:cNvPr id="44" name="TextBox 43">
              <a:extLst>
                <a:ext uri="{FF2B5EF4-FFF2-40B4-BE49-F238E27FC236}">
                  <a16:creationId xmlns:a16="http://schemas.microsoft.com/office/drawing/2014/main" id="{9F5B41D9-8338-BD4D-9D55-15830CD78782}"/>
                </a:ext>
              </a:extLst>
            </p:cNvPr>
            <p:cNvSpPr txBox="1"/>
            <p:nvPr/>
          </p:nvSpPr>
          <p:spPr>
            <a:xfrm>
              <a:off x="333363" y="4648057"/>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 (A, 0)</a:t>
              </a:r>
            </a:p>
          </p:txBody>
        </p:sp>
        <p:sp>
          <p:nvSpPr>
            <p:cNvPr id="46" name="TextBox 45">
              <a:extLst>
                <a:ext uri="{FF2B5EF4-FFF2-40B4-BE49-F238E27FC236}">
                  <a16:creationId xmlns:a16="http://schemas.microsoft.com/office/drawing/2014/main" id="{BAB090A3-0CEB-A74F-BBA0-8748FA0FE405}"/>
                </a:ext>
              </a:extLst>
            </p:cNvPr>
            <p:cNvSpPr txBox="1"/>
            <p:nvPr/>
          </p:nvSpPr>
          <p:spPr>
            <a:xfrm>
              <a:off x="4396442" y="4333522"/>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(A,1)</a:t>
              </a:r>
            </a:p>
          </p:txBody>
        </p:sp>
        <p:sp>
          <p:nvSpPr>
            <p:cNvPr id="47" name="TextBox 46">
              <a:extLst>
                <a:ext uri="{FF2B5EF4-FFF2-40B4-BE49-F238E27FC236}">
                  <a16:creationId xmlns:a16="http://schemas.microsoft.com/office/drawing/2014/main" id="{7BDA9974-C682-8C41-BC9B-A093ACE70AAB}"/>
                </a:ext>
              </a:extLst>
            </p:cNvPr>
            <p:cNvSpPr txBox="1"/>
            <p:nvPr/>
          </p:nvSpPr>
          <p:spPr>
            <a:xfrm>
              <a:off x="4396442" y="4765327"/>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w:(A,0)</a:t>
              </a:r>
            </a:p>
          </p:txBody>
        </p:sp>
        <p:sp>
          <p:nvSpPr>
            <p:cNvPr id="48" name="TextBox 47">
              <a:extLst>
                <a:ext uri="{FF2B5EF4-FFF2-40B4-BE49-F238E27FC236}">
                  <a16:creationId xmlns:a16="http://schemas.microsoft.com/office/drawing/2014/main" id="{B3E8F09A-6FCB-1149-851A-DC0EC193A395}"/>
                </a:ext>
              </a:extLst>
            </p:cNvPr>
            <p:cNvSpPr txBox="1"/>
            <p:nvPr/>
          </p:nvSpPr>
          <p:spPr>
            <a:xfrm>
              <a:off x="3241757" y="5041991"/>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r:(A,0)</a:t>
              </a:r>
            </a:p>
          </p:txBody>
        </p:sp>
        <p:cxnSp>
          <p:nvCxnSpPr>
            <p:cNvPr id="49" name="Straight Arrow Connector 48">
              <a:extLst>
                <a:ext uri="{FF2B5EF4-FFF2-40B4-BE49-F238E27FC236}">
                  <a16:creationId xmlns:a16="http://schemas.microsoft.com/office/drawing/2014/main" id="{D7116F53-DAE8-294C-A50B-226765632685}"/>
                </a:ext>
              </a:extLst>
            </p:cNvPr>
            <p:cNvCxnSpPr>
              <a:cxnSpLocks/>
            </p:cNvCxnSpPr>
            <p:nvPr/>
          </p:nvCxnSpPr>
          <p:spPr>
            <a:xfrm>
              <a:off x="3235780" y="3970289"/>
              <a:ext cx="0" cy="2573381"/>
            </a:xfrm>
            <a:prstGeom prst="straightConnector1">
              <a:avLst/>
            </a:prstGeom>
            <a:ln>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50" name="Straight Arrow Connector 49">
              <a:extLst>
                <a:ext uri="{FF2B5EF4-FFF2-40B4-BE49-F238E27FC236}">
                  <a16:creationId xmlns:a16="http://schemas.microsoft.com/office/drawing/2014/main" id="{93C548E5-30DA-9C40-9386-A4BE7E518739}"/>
                </a:ext>
              </a:extLst>
            </p:cNvPr>
            <p:cNvCxnSpPr>
              <a:cxnSpLocks/>
            </p:cNvCxnSpPr>
            <p:nvPr/>
          </p:nvCxnSpPr>
          <p:spPr>
            <a:xfrm>
              <a:off x="6122521" y="3970288"/>
              <a:ext cx="0" cy="2573381"/>
            </a:xfrm>
            <a:prstGeom prst="straightConnector1">
              <a:avLst/>
            </a:prstGeom>
            <a:ln>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sp>
          <p:nvSpPr>
            <p:cNvPr id="51" name="TextBox 50">
              <a:extLst>
                <a:ext uri="{FF2B5EF4-FFF2-40B4-BE49-F238E27FC236}">
                  <a16:creationId xmlns:a16="http://schemas.microsoft.com/office/drawing/2014/main" id="{11D231CF-BA6E-234F-98C6-DB4404BF7C82}"/>
                </a:ext>
              </a:extLst>
            </p:cNvPr>
            <p:cNvSpPr txBox="1"/>
            <p:nvPr/>
          </p:nvSpPr>
          <p:spPr>
            <a:xfrm>
              <a:off x="7495033" y="4101540"/>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(A,1)</a:t>
              </a:r>
            </a:p>
          </p:txBody>
        </p:sp>
        <p:sp>
          <p:nvSpPr>
            <p:cNvPr id="65" name="TextBox 64">
              <a:extLst>
                <a:ext uri="{FF2B5EF4-FFF2-40B4-BE49-F238E27FC236}">
                  <a16:creationId xmlns:a16="http://schemas.microsoft.com/office/drawing/2014/main" id="{68BE593A-5FB5-2944-BC5E-826C68E3FC8E}"/>
                </a:ext>
              </a:extLst>
            </p:cNvPr>
            <p:cNvSpPr txBox="1"/>
            <p:nvPr/>
          </p:nvSpPr>
          <p:spPr>
            <a:xfrm>
              <a:off x="6177722" y="4121484"/>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(A,1)</a:t>
              </a:r>
            </a:p>
          </p:txBody>
        </p:sp>
        <p:sp>
          <p:nvSpPr>
            <p:cNvPr id="69" name="TextBox 68">
              <a:extLst>
                <a:ext uri="{FF2B5EF4-FFF2-40B4-BE49-F238E27FC236}">
                  <a16:creationId xmlns:a16="http://schemas.microsoft.com/office/drawing/2014/main" id="{1DE1ED8C-B4B6-5C47-A48D-B61375840DC3}"/>
                </a:ext>
              </a:extLst>
            </p:cNvPr>
            <p:cNvSpPr txBox="1"/>
            <p:nvPr/>
          </p:nvSpPr>
          <p:spPr>
            <a:xfrm>
              <a:off x="7495033" y="4558012"/>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w:(A,0)</a:t>
              </a:r>
            </a:p>
          </p:txBody>
        </p:sp>
        <p:sp>
          <p:nvSpPr>
            <p:cNvPr id="72" name="TextBox 71">
              <a:extLst>
                <a:ext uri="{FF2B5EF4-FFF2-40B4-BE49-F238E27FC236}">
                  <a16:creationId xmlns:a16="http://schemas.microsoft.com/office/drawing/2014/main" id="{39B8E8FC-65AD-9548-8501-4785CAE842E4}"/>
                </a:ext>
              </a:extLst>
            </p:cNvPr>
            <p:cNvSpPr txBox="1"/>
            <p:nvPr/>
          </p:nvSpPr>
          <p:spPr>
            <a:xfrm>
              <a:off x="6224003" y="4960287"/>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w:(A,0)</a:t>
              </a:r>
            </a:p>
          </p:txBody>
        </p:sp>
        <p:pic>
          <p:nvPicPr>
            <p:cNvPr id="79" name="Graphic 78" descr="Server outline">
              <a:extLst>
                <a:ext uri="{FF2B5EF4-FFF2-40B4-BE49-F238E27FC236}">
                  <a16:creationId xmlns:a16="http://schemas.microsoft.com/office/drawing/2014/main" id="{0310CFD0-40B2-1049-B846-3B2B6B99FA0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014537" y="3648705"/>
              <a:ext cx="793194" cy="574286"/>
            </a:xfrm>
            <a:prstGeom prst="rect">
              <a:avLst/>
            </a:prstGeom>
          </p:spPr>
        </p:pic>
        <p:pic>
          <p:nvPicPr>
            <p:cNvPr id="80" name="Graphic 79" descr="Server outline">
              <a:extLst>
                <a:ext uri="{FF2B5EF4-FFF2-40B4-BE49-F238E27FC236}">
                  <a16:creationId xmlns:a16="http://schemas.microsoft.com/office/drawing/2014/main" id="{77CDBEAC-B56B-144C-A6DA-4469BC62C4C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12317" y="3648705"/>
              <a:ext cx="793194" cy="574286"/>
            </a:xfrm>
            <a:prstGeom prst="rect">
              <a:avLst/>
            </a:prstGeom>
          </p:spPr>
        </p:pic>
        <p:pic>
          <p:nvPicPr>
            <p:cNvPr id="81" name="Graphic 80" descr="Server outline">
              <a:extLst>
                <a:ext uri="{FF2B5EF4-FFF2-40B4-BE49-F238E27FC236}">
                  <a16:creationId xmlns:a16="http://schemas.microsoft.com/office/drawing/2014/main" id="{D1549651-B63E-E845-A102-093623F9C34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73078" y="3683010"/>
              <a:ext cx="793194" cy="574286"/>
            </a:xfrm>
            <a:prstGeom prst="rect">
              <a:avLst/>
            </a:prstGeom>
          </p:spPr>
        </p:pic>
        <p:pic>
          <p:nvPicPr>
            <p:cNvPr id="82" name="Graphic 81" descr="Server outline">
              <a:extLst>
                <a:ext uri="{FF2B5EF4-FFF2-40B4-BE49-F238E27FC236}">
                  <a16:creationId xmlns:a16="http://schemas.microsoft.com/office/drawing/2014/main" id="{CF407D78-1F5A-204A-8ECC-166AD25B372C}"/>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48425" y="3664858"/>
              <a:ext cx="793194" cy="574286"/>
            </a:xfrm>
            <a:prstGeom prst="rect">
              <a:avLst/>
            </a:prstGeom>
          </p:spPr>
        </p:pic>
        <p:pic>
          <p:nvPicPr>
            <p:cNvPr id="83" name="Graphic 82" descr="Server outline">
              <a:extLst>
                <a:ext uri="{FF2B5EF4-FFF2-40B4-BE49-F238E27FC236}">
                  <a16:creationId xmlns:a16="http://schemas.microsoft.com/office/drawing/2014/main" id="{0C6B6C23-FBA9-2140-88F8-6DAF71E73AA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65736" y="3663086"/>
              <a:ext cx="793194" cy="574286"/>
            </a:xfrm>
            <a:prstGeom prst="rect">
              <a:avLst/>
            </a:prstGeom>
          </p:spPr>
        </p:pic>
        <p:pic>
          <p:nvPicPr>
            <p:cNvPr id="84" name="Graphic 83" descr="Server outline">
              <a:extLst>
                <a:ext uri="{FF2B5EF4-FFF2-40B4-BE49-F238E27FC236}">
                  <a16:creationId xmlns:a16="http://schemas.microsoft.com/office/drawing/2014/main" id="{11F927E9-8267-2E4C-92BA-B8BF52AE19D3}"/>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15978" y="3616164"/>
              <a:ext cx="793194" cy="574286"/>
            </a:xfrm>
            <a:prstGeom prst="rect">
              <a:avLst/>
            </a:prstGeom>
          </p:spPr>
        </p:pic>
        <p:pic>
          <p:nvPicPr>
            <p:cNvPr id="85" name="Graphic 84" descr="Open book outline">
              <a:extLst>
                <a:ext uri="{FF2B5EF4-FFF2-40B4-BE49-F238E27FC236}">
                  <a16:creationId xmlns:a16="http://schemas.microsoft.com/office/drawing/2014/main" id="{53B9FD3C-0611-A542-87CF-93549444077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45480" y="5394486"/>
              <a:ext cx="914400" cy="914400"/>
            </a:xfrm>
            <a:prstGeom prst="rect">
              <a:avLst/>
            </a:prstGeom>
          </p:spPr>
        </p:pic>
        <p:sp>
          <p:nvSpPr>
            <p:cNvPr id="86" name="TextBox 85">
              <a:extLst>
                <a:ext uri="{FF2B5EF4-FFF2-40B4-BE49-F238E27FC236}">
                  <a16:creationId xmlns:a16="http://schemas.microsoft.com/office/drawing/2014/main" id="{6C6406C9-6761-DF43-80F8-C3F2A595A4E4}"/>
                </a:ext>
              </a:extLst>
            </p:cNvPr>
            <p:cNvSpPr txBox="1"/>
            <p:nvPr/>
          </p:nvSpPr>
          <p:spPr>
            <a:xfrm>
              <a:off x="1581647" y="5584811"/>
              <a:ext cx="1466872" cy="461665"/>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No Book</a:t>
              </a:r>
            </a:p>
          </p:txBody>
        </p:sp>
        <p:sp>
          <p:nvSpPr>
            <p:cNvPr id="87" name="Rectangle 86">
              <a:extLst>
                <a:ext uri="{FF2B5EF4-FFF2-40B4-BE49-F238E27FC236}">
                  <a16:creationId xmlns:a16="http://schemas.microsoft.com/office/drawing/2014/main" id="{7AC262DE-A7C8-5B4D-9EBB-F708078D90A5}"/>
                </a:ext>
              </a:extLst>
            </p:cNvPr>
            <p:cNvSpPr/>
            <p:nvPr/>
          </p:nvSpPr>
          <p:spPr>
            <a:xfrm>
              <a:off x="7093189" y="5874412"/>
              <a:ext cx="697627" cy="1015663"/>
            </a:xfrm>
            <a:prstGeom prst="rect">
              <a:avLst/>
            </a:prstGeom>
          </p:spPr>
          <p:txBody>
            <a:bodyPr wrap="none">
              <a:spAutoFit/>
            </a:bodyPr>
            <a:lstStyle/>
            <a:p>
              <a:pPr algn="ctr"/>
              <a:r>
                <a:rPr lang="en-US" sz="6000" dirty="0">
                  <a:solidFill>
                    <a:srgbClr val="C00000"/>
                  </a:solidFill>
                  <a:latin typeface="Arial" panose="020B0604020202020204" pitchFamily="34" charset="0"/>
                  <a:cs typeface="Arial" panose="020B0604020202020204" pitchFamily="34" charset="0"/>
                </a:rPr>
                <a:t>X</a:t>
              </a:r>
            </a:p>
          </p:txBody>
        </p:sp>
        <p:pic>
          <p:nvPicPr>
            <p:cNvPr id="88" name="Graphic 87" descr="Open book outline">
              <a:extLst>
                <a:ext uri="{FF2B5EF4-FFF2-40B4-BE49-F238E27FC236}">
                  <a16:creationId xmlns:a16="http://schemas.microsoft.com/office/drawing/2014/main" id="{D8CE1C7E-0A10-A34E-B840-A04ADB2FB41F}"/>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654481" y="5415730"/>
              <a:ext cx="914400" cy="914400"/>
            </a:xfrm>
            <a:prstGeom prst="rect">
              <a:avLst/>
            </a:prstGeom>
          </p:spPr>
        </p:pic>
        <p:sp>
          <p:nvSpPr>
            <p:cNvPr id="89" name="TextBox 88">
              <a:extLst>
                <a:ext uri="{FF2B5EF4-FFF2-40B4-BE49-F238E27FC236}">
                  <a16:creationId xmlns:a16="http://schemas.microsoft.com/office/drawing/2014/main" id="{2E5624BB-5A0C-524C-96AA-0EFADCB77151}"/>
                </a:ext>
              </a:extLst>
            </p:cNvPr>
            <p:cNvSpPr txBox="1"/>
            <p:nvPr/>
          </p:nvSpPr>
          <p:spPr>
            <a:xfrm>
              <a:off x="3187609" y="5585297"/>
              <a:ext cx="1466872" cy="461665"/>
            </a:xfrm>
            <a:prstGeom prst="rect">
              <a:avLst/>
            </a:prstGeom>
            <a:noFill/>
          </p:spPr>
          <p:txBody>
            <a:bodyPr wrap="square" rtlCol="0">
              <a:spAutoFit/>
            </a:bodyPr>
            <a:lstStyle/>
            <a:p>
              <a:pPr algn="ctr"/>
              <a:r>
                <a:rPr lang="en-US" sz="2400" dirty="0">
                  <a:latin typeface="Arial" panose="020B0604020202020204" pitchFamily="34" charset="0"/>
                  <a:cs typeface="Arial" panose="020B0604020202020204" pitchFamily="34" charset="0"/>
                </a:rPr>
                <a:t>No Book</a:t>
              </a:r>
            </a:p>
          </p:txBody>
        </p:sp>
        <p:pic>
          <p:nvPicPr>
            <p:cNvPr id="90" name="Graphic 89" descr="Open book outline">
              <a:extLst>
                <a:ext uri="{FF2B5EF4-FFF2-40B4-BE49-F238E27FC236}">
                  <a16:creationId xmlns:a16="http://schemas.microsoft.com/office/drawing/2014/main" id="{B3B0A644-9870-9246-8075-D9358C3CFA1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177722" y="5395529"/>
              <a:ext cx="914400" cy="914400"/>
            </a:xfrm>
            <a:prstGeom prst="rect">
              <a:avLst/>
            </a:prstGeom>
          </p:spPr>
        </p:pic>
        <p:pic>
          <p:nvPicPr>
            <p:cNvPr id="91" name="Graphic 90" descr="Open book outline">
              <a:extLst>
                <a:ext uri="{FF2B5EF4-FFF2-40B4-BE49-F238E27FC236}">
                  <a16:creationId xmlns:a16="http://schemas.microsoft.com/office/drawing/2014/main" id="{7B34D185-FF69-0040-9B34-CDA0DA7F20B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594772" y="5415730"/>
              <a:ext cx="914400" cy="914400"/>
            </a:xfrm>
            <a:prstGeom prst="rect">
              <a:avLst/>
            </a:prstGeom>
          </p:spPr>
        </p:pic>
        <p:sp>
          <p:nvSpPr>
            <p:cNvPr id="92" name="Rectangle 91">
              <a:extLst>
                <a:ext uri="{FF2B5EF4-FFF2-40B4-BE49-F238E27FC236}">
                  <a16:creationId xmlns:a16="http://schemas.microsoft.com/office/drawing/2014/main" id="{D92866D6-DE42-D54B-9E3E-6A4B71184475}"/>
                </a:ext>
              </a:extLst>
            </p:cNvPr>
            <p:cNvSpPr/>
            <p:nvPr/>
          </p:nvSpPr>
          <p:spPr>
            <a:xfrm>
              <a:off x="1152080" y="5874412"/>
              <a:ext cx="761747" cy="1015663"/>
            </a:xfrm>
            <a:prstGeom prst="rect">
              <a:avLst/>
            </a:prstGeom>
          </p:spPr>
          <p:txBody>
            <a:bodyPr wrap="none">
              <a:spAutoFit/>
            </a:bodyPr>
            <a:lstStyle/>
            <a:p>
              <a:r>
                <a:rPr lang="en-US" sz="6000" dirty="0">
                  <a:solidFill>
                    <a:srgbClr val="00B050"/>
                  </a:solidFill>
                  <a:latin typeface="Arial" panose="020B0604020202020204" pitchFamily="34" charset="0"/>
                  <a:cs typeface="Arial" panose="020B0604020202020204" pitchFamily="34" charset="0"/>
                </a:rPr>
                <a:t>✓</a:t>
              </a:r>
              <a:endParaRPr lang="en-US" sz="6000" dirty="0">
                <a:latin typeface="Arial" panose="020B0604020202020204" pitchFamily="34" charset="0"/>
                <a:cs typeface="Arial" panose="020B0604020202020204" pitchFamily="34" charset="0"/>
              </a:endParaRPr>
            </a:p>
          </p:txBody>
        </p:sp>
        <p:sp>
          <p:nvSpPr>
            <p:cNvPr id="93" name="Rectangle 92">
              <a:extLst>
                <a:ext uri="{FF2B5EF4-FFF2-40B4-BE49-F238E27FC236}">
                  <a16:creationId xmlns:a16="http://schemas.microsoft.com/office/drawing/2014/main" id="{5FBFF499-A646-3B44-9AE3-48047D234DF9}"/>
                </a:ext>
              </a:extLst>
            </p:cNvPr>
            <p:cNvSpPr/>
            <p:nvPr/>
          </p:nvSpPr>
          <p:spPr>
            <a:xfrm>
              <a:off x="3948590" y="5874412"/>
              <a:ext cx="761747" cy="1015663"/>
            </a:xfrm>
            <a:prstGeom prst="rect">
              <a:avLst/>
            </a:prstGeom>
          </p:spPr>
          <p:txBody>
            <a:bodyPr wrap="none">
              <a:spAutoFit/>
            </a:bodyPr>
            <a:lstStyle/>
            <a:p>
              <a:r>
                <a:rPr lang="en-US" sz="6000" dirty="0">
                  <a:solidFill>
                    <a:srgbClr val="00B050"/>
                  </a:solidFill>
                  <a:latin typeface="Arial" panose="020B0604020202020204" pitchFamily="34" charset="0"/>
                  <a:cs typeface="Arial" panose="020B0604020202020204" pitchFamily="34" charset="0"/>
                </a:rPr>
                <a:t>✓</a:t>
              </a:r>
              <a:endParaRPr lang="en-US" sz="6000" dirty="0">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33553406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p:bldP spid="4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Concurrency When Using an RDBMS</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394751FE-0E6D-2E45-97D9-6C48A63F30FC}"/>
              </a:ext>
            </a:extLst>
          </p:cNvPr>
          <p:cNvSpPr txBox="1"/>
          <p:nvPr/>
        </p:nvSpPr>
        <p:spPr>
          <a:xfrm>
            <a:off x="8924" y="715595"/>
            <a:ext cx="3997247" cy="2446824"/>
          </a:xfrm>
          <a:prstGeom prst="rect">
            <a:avLst/>
          </a:prstGeom>
          <a:noFill/>
        </p:spPr>
        <p:txBody>
          <a:bodyPr wrap="square" rtlCol="0">
            <a:spAutoFit/>
          </a:bodyPr>
          <a:lstStyle/>
          <a:p>
            <a:r>
              <a:rPr lang="en-US" sz="1700" dirty="0">
                <a:latin typeface="Consolas" panose="020B0609020204030204" pitchFamily="49" charset="0"/>
                <a:cs typeface="Consolas" panose="020B0609020204030204" pitchFamily="49" charset="0"/>
              </a:rPr>
              <a:t>(Simplified) SQL:</a:t>
            </a:r>
          </a:p>
          <a:p>
            <a:r>
              <a:rPr lang="en-US" sz="1700" dirty="0">
                <a:solidFill>
                  <a:srgbClr val="990000"/>
                </a:solidFill>
                <a:latin typeface="Consolas" panose="020B0609020204030204" pitchFamily="49" charset="0"/>
                <a:cs typeface="Consolas" panose="020B0609020204030204" pitchFamily="49" charset="0"/>
              </a:rPr>
              <a:t>BEGIN TRANSACTION</a:t>
            </a:r>
          </a:p>
          <a:p>
            <a:r>
              <a:rPr lang="en-US" sz="1700" dirty="0">
                <a:latin typeface="Consolas" panose="020B0609020204030204" pitchFamily="49" charset="0"/>
                <a:cs typeface="Consolas" panose="020B0609020204030204" pitchFamily="49" charset="0"/>
              </a:rPr>
              <a:t>UPDATE Products</a:t>
            </a:r>
          </a:p>
          <a:p>
            <a:r>
              <a:rPr lang="en-US" sz="1700" dirty="0">
                <a:latin typeface="Consolas" panose="020B0609020204030204" pitchFamily="49" charset="0"/>
                <a:cs typeface="Consolas" panose="020B0609020204030204" pitchFamily="49" charset="0"/>
              </a:rPr>
              <a:t>SET </a:t>
            </a:r>
            <a:r>
              <a:rPr lang="en-US" sz="1700" dirty="0" err="1">
                <a:latin typeface="Consolas" panose="020B0609020204030204" pitchFamily="49" charset="0"/>
                <a:cs typeface="Consolas" panose="020B0609020204030204" pitchFamily="49" charset="0"/>
              </a:rPr>
              <a:t>numInStock</a:t>
            </a:r>
            <a:r>
              <a:rPr lang="en-US" sz="1700" dirty="0">
                <a:latin typeface="Consolas" panose="020B0609020204030204" pitchFamily="49" charset="0"/>
                <a:cs typeface="Consolas" panose="020B0609020204030204" pitchFamily="49" charset="0"/>
              </a:rPr>
              <a:t> = </a:t>
            </a:r>
            <a:r>
              <a:rPr lang="en-US" sz="1700" dirty="0" err="1">
                <a:latin typeface="Consolas" panose="020B0609020204030204" pitchFamily="49" charset="0"/>
                <a:cs typeface="Consolas" panose="020B0609020204030204" pitchFamily="49" charset="0"/>
              </a:rPr>
              <a:t>numInStock</a:t>
            </a:r>
            <a:r>
              <a:rPr lang="en-US" sz="1700" dirty="0">
                <a:latin typeface="Consolas" panose="020B0609020204030204" pitchFamily="49" charset="0"/>
                <a:cs typeface="Consolas" panose="020B0609020204030204" pitchFamily="49" charset="0"/>
              </a:rPr>
              <a:t> - 1</a:t>
            </a:r>
          </a:p>
          <a:p>
            <a:r>
              <a:rPr lang="en-US" sz="1700" dirty="0">
                <a:latin typeface="Consolas" panose="020B0609020204030204" pitchFamily="49" charset="0"/>
                <a:cs typeface="Consolas" panose="020B0609020204030204" pitchFamily="49" charset="0"/>
              </a:rPr>
              <a:t>WHERE name = “</a:t>
            </a:r>
            <a:r>
              <a:rPr lang="en-US" sz="1700" dirty="0" err="1">
                <a:latin typeface="Consolas" panose="020B0609020204030204" pitchFamily="49" charset="0"/>
                <a:cs typeface="Consolas" panose="020B0609020204030204" pitchFamily="49" charset="0"/>
              </a:rPr>
              <a:t>BookA</a:t>
            </a:r>
            <a:r>
              <a:rPr lang="en-US" sz="1700" dirty="0">
                <a:latin typeface="Consolas" panose="020B0609020204030204" pitchFamily="49" charset="0"/>
                <a:cs typeface="Consolas" panose="020B0609020204030204" pitchFamily="49" charset="0"/>
              </a:rPr>
              <a:t>”</a:t>
            </a:r>
          </a:p>
          <a:p>
            <a:endParaRPr lang="en-US" sz="1700" dirty="0">
              <a:latin typeface="Consolas" panose="020B0609020204030204" pitchFamily="49" charset="0"/>
              <a:cs typeface="Consolas" panose="020B0609020204030204" pitchFamily="49" charset="0"/>
            </a:endParaRPr>
          </a:p>
          <a:p>
            <a:r>
              <a:rPr lang="en-US" sz="1700" dirty="0">
                <a:latin typeface="Consolas" panose="020B0609020204030204" pitchFamily="49" charset="0"/>
                <a:cs typeface="Consolas" panose="020B0609020204030204" pitchFamily="49" charset="0"/>
              </a:rPr>
              <a:t>INSERT INTO Orders</a:t>
            </a:r>
          </a:p>
          <a:p>
            <a:r>
              <a:rPr lang="en-US" sz="1700" dirty="0">
                <a:latin typeface="Consolas" panose="020B0609020204030204" pitchFamily="49" charset="0"/>
                <a:cs typeface="Consolas" panose="020B0609020204030204" pitchFamily="49" charset="0"/>
              </a:rPr>
              <a:t>VALUES (“Alice”, “</a:t>
            </a:r>
            <a:r>
              <a:rPr lang="en-US" sz="1700" dirty="0" err="1">
                <a:latin typeface="Consolas" panose="020B0609020204030204" pitchFamily="49" charset="0"/>
                <a:cs typeface="Consolas" panose="020B0609020204030204" pitchFamily="49" charset="0"/>
              </a:rPr>
              <a:t>BookA</a:t>
            </a:r>
            <a:r>
              <a:rPr lang="en-US" sz="1700" dirty="0">
                <a:latin typeface="Consolas" panose="020B0609020204030204" pitchFamily="49" charset="0"/>
                <a:cs typeface="Consolas" panose="020B0609020204030204" pitchFamily="49" charset="0"/>
              </a:rPr>
              <a:t>”, $20)</a:t>
            </a:r>
          </a:p>
          <a:p>
            <a:r>
              <a:rPr lang="en-US" sz="1700" dirty="0">
                <a:solidFill>
                  <a:srgbClr val="990000"/>
                </a:solidFill>
                <a:latin typeface="Consolas" panose="020B0609020204030204" pitchFamily="49" charset="0"/>
                <a:cs typeface="Consolas" panose="020B0609020204030204" pitchFamily="49" charset="0"/>
              </a:rPr>
              <a:t>COMMIT</a:t>
            </a:r>
          </a:p>
        </p:txBody>
      </p:sp>
      <p:pic>
        <p:nvPicPr>
          <p:cNvPr id="8" name="Graphic 7" descr="Female Profile with solid fill">
            <a:extLst>
              <a:ext uri="{FF2B5EF4-FFF2-40B4-BE49-F238E27FC236}">
                <a16:creationId xmlns:a16="http://schemas.microsoft.com/office/drawing/2014/main" id="{FD7942D8-3C54-FA4B-A437-5215F91ECA7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97124" y="3386817"/>
            <a:ext cx="731520" cy="731520"/>
          </a:xfrm>
          <a:prstGeom prst="rect">
            <a:avLst/>
          </a:prstGeom>
        </p:spPr>
      </p:pic>
      <p:cxnSp>
        <p:nvCxnSpPr>
          <p:cNvPr id="9" name="Straight Arrow Connector 8">
            <a:extLst>
              <a:ext uri="{FF2B5EF4-FFF2-40B4-BE49-F238E27FC236}">
                <a16:creationId xmlns:a16="http://schemas.microsoft.com/office/drawing/2014/main" id="{DF2FD3B2-B67E-6945-8FEB-B13F907D9C0D}"/>
              </a:ext>
            </a:extLst>
          </p:cNvPr>
          <p:cNvCxnSpPr>
            <a:cxnSpLocks/>
          </p:cNvCxnSpPr>
          <p:nvPr/>
        </p:nvCxnSpPr>
        <p:spPr>
          <a:xfrm>
            <a:off x="310079" y="4881964"/>
            <a:ext cx="0" cy="1813449"/>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E90BB489-6C58-404B-A0D5-497F49418F01}"/>
              </a:ext>
            </a:extLst>
          </p:cNvPr>
          <p:cNvSpPr txBox="1"/>
          <p:nvPr/>
        </p:nvSpPr>
        <p:spPr>
          <a:xfrm>
            <a:off x="310079" y="4861320"/>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 1)</a:t>
            </a:r>
          </a:p>
        </p:txBody>
      </p:sp>
      <p:pic>
        <p:nvPicPr>
          <p:cNvPr id="11" name="Graphic 10" descr="Male profile with solid fill">
            <a:extLst>
              <a:ext uri="{FF2B5EF4-FFF2-40B4-BE49-F238E27FC236}">
                <a16:creationId xmlns:a16="http://schemas.microsoft.com/office/drawing/2014/main" id="{6B50723B-12C1-2046-950B-0EB494497E1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0707" y="3363003"/>
            <a:ext cx="731520" cy="731520"/>
          </a:xfrm>
          <a:prstGeom prst="rect">
            <a:avLst/>
          </a:prstGeom>
        </p:spPr>
      </p:pic>
      <p:sp>
        <p:nvSpPr>
          <p:cNvPr id="12" name="TextBox 11">
            <a:extLst>
              <a:ext uri="{FF2B5EF4-FFF2-40B4-BE49-F238E27FC236}">
                <a16:creationId xmlns:a16="http://schemas.microsoft.com/office/drawing/2014/main" id="{3A036104-EC7A-CA4A-BA1E-946B0F7CD423}"/>
              </a:ext>
            </a:extLst>
          </p:cNvPr>
          <p:cNvSpPr txBox="1"/>
          <p:nvPr/>
        </p:nvSpPr>
        <p:spPr>
          <a:xfrm rot="16200000">
            <a:off x="-349566" y="5604811"/>
            <a:ext cx="862819" cy="456472"/>
          </a:xfrm>
          <a:prstGeom prst="rect">
            <a:avLst/>
          </a:prstGeom>
          <a:noFill/>
        </p:spPr>
        <p:txBody>
          <a:bodyPr wrap="square" rtlCol="0">
            <a:spAutoFit/>
          </a:bodyPr>
          <a:lstStyle/>
          <a:p>
            <a:pPr algn="ctr">
              <a:lnSpc>
                <a:spcPct val="150000"/>
              </a:lnSpc>
            </a:pPr>
            <a:r>
              <a:rPr lang="en-US" dirty="0">
                <a:latin typeface="Arial" panose="020B0604020202020204" pitchFamily="34" charset="0"/>
                <a:cs typeface="Arial" panose="020B0604020202020204" pitchFamily="34" charset="0"/>
              </a:rPr>
              <a:t>time</a:t>
            </a:r>
          </a:p>
        </p:txBody>
      </p:sp>
      <p:sp>
        <p:nvSpPr>
          <p:cNvPr id="13" name="TextBox 12">
            <a:extLst>
              <a:ext uri="{FF2B5EF4-FFF2-40B4-BE49-F238E27FC236}">
                <a16:creationId xmlns:a16="http://schemas.microsoft.com/office/drawing/2014/main" id="{5D4763D2-FFE6-2643-A24D-69E761127D07}"/>
              </a:ext>
            </a:extLst>
          </p:cNvPr>
          <p:cNvSpPr txBox="1"/>
          <p:nvPr/>
        </p:nvSpPr>
        <p:spPr>
          <a:xfrm>
            <a:off x="1775103" y="5579851"/>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 0)</a:t>
            </a:r>
          </a:p>
        </p:txBody>
      </p:sp>
      <p:pic>
        <p:nvPicPr>
          <p:cNvPr id="14" name="Graphic 13" descr="Female Profile with solid fill">
            <a:extLst>
              <a:ext uri="{FF2B5EF4-FFF2-40B4-BE49-F238E27FC236}">
                <a16:creationId xmlns:a16="http://schemas.microsoft.com/office/drawing/2014/main" id="{EF8306D2-A8CA-6542-AC6A-E296E36A5146}"/>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20152" y="3407907"/>
            <a:ext cx="731520" cy="731520"/>
          </a:xfrm>
          <a:prstGeom prst="rect">
            <a:avLst/>
          </a:prstGeom>
        </p:spPr>
      </p:pic>
      <p:pic>
        <p:nvPicPr>
          <p:cNvPr id="15" name="Graphic 14" descr="Male profile with solid fill">
            <a:extLst>
              <a:ext uri="{FF2B5EF4-FFF2-40B4-BE49-F238E27FC236}">
                <a16:creationId xmlns:a16="http://schemas.microsoft.com/office/drawing/2014/main" id="{4FF6F035-5BAD-4743-8553-85BEBA5ED68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74659" y="3430380"/>
            <a:ext cx="731520" cy="731520"/>
          </a:xfrm>
          <a:prstGeom prst="rect">
            <a:avLst/>
          </a:prstGeom>
        </p:spPr>
      </p:pic>
      <p:pic>
        <p:nvPicPr>
          <p:cNvPr id="16" name="Graphic 15" descr="Female Profile with solid fill">
            <a:extLst>
              <a:ext uri="{FF2B5EF4-FFF2-40B4-BE49-F238E27FC236}">
                <a16:creationId xmlns:a16="http://schemas.microsoft.com/office/drawing/2014/main" id="{10A5EDED-18D6-394A-A17E-025AA5D1FD6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23531" y="3422177"/>
            <a:ext cx="731520" cy="731520"/>
          </a:xfrm>
          <a:prstGeom prst="rect">
            <a:avLst/>
          </a:prstGeom>
        </p:spPr>
      </p:pic>
      <p:pic>
        <p:nvPicPr>
          <p:cNvPr id="17" name="Graphic 16" descr="Male profile with solid fill">
            <a:extLst>
              <a:ext uri="{FF2B5EF4-FFF2-40B4-BE49-F238E27FC236}">
                <a16:creationId xmlns:a16="http://schemas.microsoft.com/office/drawing/2014/main" id="{03D1913D-D027-AC4F-A35A-974FD5B77AFA}"/>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239693" y="3407907"/>
            <a:ext cx="731520" cy="731520"/>
          </a:xfrm>
          <a:prstGeom prst="rect">
            <a:avLst/>
          </a:prstGeom>
        </p:spPr>
      </p:pic>
      <p:sp>
        <p:nvSpPr>
          <p:cNvPr id="18" name="TextBox 17">
            <a:extLst>
              <a:ext uri="{FF2B5EF4-FFF2-40B4-BE49-F238E27FC236}">
                <a16:creationId xmlns:a16="http://schemas.microsoft.com/office/drawing/2014/main" id="{49D2A341-452F-FA4B-B265-D86A0E0E9FF3}"/>
              </a:ext>
            </a:extLst>
          </p:cNvPr>
          <p:cNvSpPr txBox="1"/>
          <p:nvPr/>
        </p:nvSpPr>
        <p:spPr>
          <a:xfrm>
            <a:off x="310079" y="5283668"/>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 (A, 0)</a:t>
            </a:r>
          </a:p>
        </p:txBody>
      </p:sp>
      <p:sp>
        <p:nvSpPr>
          <p:cNvPr id="19" name="TextBox 18">
            <a:extLst>
              <a:ext uri="{FF2B5EF4-FFF2-40B4-BE49-F238E27FC236}">
                <a16:creationId xmlns:a16="http://schemas.microsoft.com/office/drawing/2014/main" id="{5A048204-D911-C946-9142-64647ACCF085}"/>
              </a:ext>
            </a:extLst>
          </p:cNvPr>
          <p:cNvSpPr txBox="1"/>
          <p:nvPr/>
        </p:nvSpPr>
        <p:spPr>
          <a:xfrm>
            <a:off x="4373158" y="4969133"/>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(A,1)</a:t>
            </a:r>
          </a:p>
        </p:txBody>
      </p:sp>
      <p:sp>
        <p:nvSpPr>
          <p:cNvPr id="20" name="TextBox 19">
            <a:extLst>
              <a:ext uri="{FF2B5EF4-FFF2-40B4-BE49-F238E27FC236}">
                <a16:creationId xmlns:a16="http://schemas.microsoft.com/office/drawing/2014/main" id="{4F4616A8-7C81-B540-992C-40B9DA8E0EDB}"/>
              </a:ext>
            </a:extLst>
          </p:cNvPr>
          <p:cNvSpPr txBox="1"/>
          <p:nvPr/>
        </p:nvSpPr>
        <p:spPr>
          <a:xfrm>
            <a:off x="4373158" y="5400938"/>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w:(A,0)</a:t>
            </a:r>
          </a:p>
        </p:txBody>
      </p:sp>
      <p:sp>
        <p:nvSpPr>
          <p:cNvPr id="21" name="TextBox 20">
            <a:extLst>
              <a:ext uri="{FF2B5EF4-FFF2-40B4-BE49-F238E27FC236}">
                <a16:creationId xmlns:a16="http://schemas.microsoft.com/office/drawing/2014/main" id="{515BF896-7BC6-FB46-BD59-33CA680D72C5}"/>
              </a:ext>
            </a:extLst>
          </p:cNvPr>
          <p:cNvSpPr txBox="1"/>
          <p:nvPr/>
        </p:nvSpPr>
        <p:spPr>
          <a:xfrm>
            <a:off x="3218473" y="5677602"/>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r:(A,0)</a:t>
            </a:r>
          </a:p>
        </p:txBody>
      </p:sp>
      <p:cxnSp>
        <p:nvCxnSpPr>
          <p:cNvPr id="22" name="Straight Arrow Connector 21">
            <a:extLst>
              <a:ext uri="{FF2B5EF4-FFF2-40B4-BE49-F238E27FC236}">
                <a16:creationId xmlns:a16="http://schemas.microsoft.com/office/drawing/2014/main" id="{56FC717E-A94E-6C43-A6BB-B193D14EE291}"/>
              </a:ext>
            </a:extLst>
          </p:cNvPr>
          <p:cNvCxnSpPr>
            <a:cxnSpLocks/>
          </p:cNvCxnSpPr>
          <p:nvPr/>
        </p:nvCxnSpPr>
        <p:spPr>
          <a:xfrm>
            <a:off x="3212496" y="4605900"/>
            <a:ext cx="0" cy="1955542"/>
          </a:xfrm>
          <a:prstGeom prst="straightConnector1">
            <a:avLst/>
          </a:prstGeom>
          <a:ln>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EABA9BED-B7EC-4B4A-8F3E-0C0E314DB96E}"/>
              </a:ext>
            </a:extLst>
          </p:cNvPr>
          <p:cNvCxnSpPr>
            <a:cxnSpLocks/>
          </p:cNvCxnSpPr>
          <p:nvPr/>
        </p:nvCxnSpPr>
        <p:spPr>
          <a:xfrm>
            <a:off x="6099237" y="4605899"/>
            <a:ext cx="0" cy="1955543"/>
          </a:xfrm>
          <a:prstGeom prst="straightConnector1">
            <a:avLst/>
          </a:prstGeom>
          <a:ln>
            <a:solidFill>
              <a:schemeClr val="tx1"/>
            </a:solidFill>
            <a:tailEnd type="none"/>
          </a:ln>
          <a:effectLst/>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0D3D8CFA-C3DB-4343-BFEF-EBC1AEA5CB2B}"/>
              </a:ext>
            </a:extLst>
          </p:cNvPr>
          <p:cNvSpPr txBox="1"/>
          <p:nvPr/>
        </p:nvSpPr>
        <p:spPr>
          <a:xfrm>
            <a:off x="7471749" y="4737151"/>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(A,1)</a:t>
            </a:r>
          </a:p>
        </p:txBody>
      </p:sp>
      <p:sp>
        <p:nvSpPr>
          <p:cNvPr id="25" name="TextBox 24">
            <a:extLst>
              <a:ext uri="{FF2B5EF4-FFF2-40B4-BE49-F238E27FC236}">
                <a16:creationId xmlns:a16="http://schemas.microsoft.com/office/drawing/2014/main" id="{24E37FA3-75FA-C84B-9502-9C2AA3D70033}"/>
              </a:ext>
            </a:extLst>
          </p:cNvPr>
          <p:cNvSpPr txBox="1"/>
          <p:nvPr/>
        </p:nvSpPr>
        <p:spPr>
          <a:xfrm>
            <a:off x="6154438" y="4757095"/>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r:  (A,1)</a:t>
            </a:r>
          </a:p>
        </p:txBody>
      </p:sp>
      <p:sp>
        <p:nvSpPr>
          <p:cNvPr id="26" name="TextBox 25">
            <a:extLst>
              <a:ext uri="{FF2B5EF4-FFF2-40B4-BE49-F238E27FC236}">
                <a16:creationId xmlns:a16="http://schemas.microsoft.com/office/drawing/2014/main" id="{B4AB68D3-A602-324F-B1B2-87DBD991F8C4}"/>
              </a:ext>
            </a:extLst>
          </p:cNvPr>
          <p:cNvSpPr txBox="1"/>
          <p:nvPr/>
        </p:nvSpPr>
        <p:spPr>
          <a:xfrm>
            <a:off x="7471749" y="5193623"/>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w:(A,0)</a:t>
            </a:r>
          </a:p>
        </p:txBody>
      </p:sp>
      <p:sp>
        <p:nvSpPr>
          <p:cNvPr id="27" name="TextBox 26">
            <a:extLst>
              <a:ext uri="{FF2B5EF4-FFF2-40B4-BE49-F238E27FC236}">
                <a16:creationId xmlns:a16="http://schemas.microsoft.com/office/drawing/2014/main" id="{6A2827D7-A138-144F-A3A9-02D9A130B0E7}"/>
              </a:ext>
            </a:extLst>
          </p:cNvPr>
          <p:cNvSpPr txBox="1"/>
          <p:nvPr/>
        </p:nvSpPr>
        <p:spPr>
          <a:xfrm>
            <a:off x="6200719" y="5595898"/>
            <a:ext cx="1681174" cy="456472"/>
          </a:xfrm>
          <a:prstGeom prst="rect">
            <a:avLst/>
          </a:prstGeom>
          <a:noFill/>
        </p:spPr>
        <p:txBody>
          <a:bodyPr wrap="square" rtlCol="0">
            <a:spAutoFit/>
          </a:bodyPr>
          <a:lstStyle/>
          <a:p>
            <a:pPr>
              <a:lnSpc>
                <a:spcPct val="150000"/>
              </a:lnSpc>
            </a:pPr>
            <a:r>
              <a:rPr lang="en-US" dirty="0">
                <a:latin typeface="Arial" panose="020B0604020202020204" pitchFamily="34" charset="0"/>
                <a:cs typeface="Arial" panose="020B0604020202020204" pitchFamily="34" charset="0"/>
              </a:rPr>
              <a:t>w:(A,0)</a:t>
            </a:r>
          </a:p>
        </p:txBody>
      </p:sp>
      <p:pic>
        <p:nvPicPr>
          <p:cNvPr id="28" name="Graphic 27" descr="Server outline">
            <a:extLst>
              <a:ext uri="{FF2B5EF4-FFF2-40B4-BE49-F238E27FC236}">
                <a16:creationId xmlns:a16="http://schemas.microsoft.com/office/drawing/2014/main" id="{CA8ED5D4-E067-1D46-85F2-2A0A481FAC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991253" y="4284316"/>
            <a:ext cx="793194" cy="574286"/>
          </a:xfrm>
          <a:prstGeom prst="rect">
            <a:avLst/>
          </a:prstGeom>
        </p:spPr>
      </p:pic>
      <p:pic>
        <p:nvPicPr>
          <p:cNvPr id="29" name="Graphic 28" descr="Server outline">
            <a:extLst>
              <a:ext uri="{FF2B5EF4-FFF2-40B4-BE49-F238E27FC236}">
                <a16:creationId xmlns:a16="http://schemas.microsoft.com/office/drawing/2014/main" id="{40B405D1-422A-6A43-9485-EDDFF00FA0A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89033" y="4284316"/>
            <a:ext cx="793194" cy="574286"/>
          </a:xfrm>
          <a:prstGeom prst="rect">
            <a:avLst/>
          </a:prstGeom>
        </p:spPr>
      </p:pic>
      <p:pic>
        <p:nvPicPr>
          <p:cNvPr id="30" name="Graphic 29" descr="Server outline">
            <a:extLst>
              <a:ext uri="{FF2B5EF4-FFF2-40B4-BE49-F238E27FC236}">
                <a16:creationId xmlns:a16="http://schemas.microsoft.com/office/drawing/2014/main" id="{FA73C485-C684-3C4E-929C-98696C575DD8}"/>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349794" y="4318621"/>
            <a:ext cx="793194" cy="574286"/>
          </a:xfrm>
          <a:prstGeom prst="rect">
            <a:avLst/>
          </a:prstGeom>
        </p:spPr>
      </p:pic>
      <p:pic>
        <p:nvPicPr>
          <p:cNvPr id="31" name="Graphic 30" descr="Server outline">
            <a:extLst>
              <a:ext uri="{FF2B5EF4-FFF2-40B4-BE49-F238E27FC236}">
                <a16:creationId xmlns:a16="http://schemas.microsoft.com/office/drawing/2014/main" id="{81C1626D-E420-8942-AF29-D2B3930B4196}"/>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925141" y="4300469"/>
            <a:ext cx="793194" cy="574286"/>
          </a:xfrm>
          <a:prstGeom prst="rect">
            <a:avLst/>
          </a:prstGeom>
        </p:spPr>
      </p:pic>
      <p:pic>
        <p:nvPicPr>
          <p:cNvPr id="32" name="Graphic 31" descr="Server outline">
            <a:extLst>
              <a:ext uri="{FF2B5EF4-FFF2-40B4-BE49-F238E27FC236}">
                <a16:creationId xmlns:a16="http://schemas.microsoft.com/office/drawing/2014/main" id="{8736FA90-5DFF-214F-A702-F9FCB90260E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42452" y="4298697"/>
            <a:ext cx="793194" cy="574286"/>
          </a:xfrm>
          <a:prstGeom prst="rect">
            <a:avLst/>
          </a:prstGeom>
        </p:spPr>
      </p:pic>
      <p:pic>
        <p:nvPicPr>
          <p:cNvPr id="33" name="Graphic 32" descr="Server outline">
            <a:extLst>
              <a:ext uri="{FF2B5EF4-FFF2-40B4-BE49-F238E27FC236}">
                <a16:creationId xmlns:a16="http://schemas.microsoft.com/office/drawing/2014/main" id="{9B0AC647-2C26-3942-8A51-4CAA27E0D9E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92694" y="4251775"/>
            <a:ext cx="793194" cy="574286"/>
          </a:xfrm>
          <a:prstGeom prst="rect">
            <a:avLst/>
          </a:prstGeom>
        </p:spPr>
      </p:pic>
      <p:sp>
        <p:nvSpPr>
          <p:cNvPr id="34" name="TextBox 33">
            <a:extLst>
              <a:ext uri="{FF2B5EF4-FFF2-40B4-BE49-F238E27FC236}">
                <a16:creationId xmlns:a16="http://schemas.microsoft.com/office/drawing/2014/main" id="{7533F59C-340A-AF4E-93C9-A7B7EE86E308}"/>
              </a:ext>
            </a:extLst>
          </p:cNvPr>
          <p:cNvSpPr txBox="1"/>
          <p:nvPr/>
        </p:nvSpPr>
        <p:spPr>
          <a:xfrm>
            <a:off x="3842954" y="573802"/>
            <a:ext cx="5136430" cy="2793842"/>
          </a:xfrm>
          <a:prstGeom prst="rect">
            <a:avLst/>
          </a:prstGeom>
          <a:noFill/>
        </p:spPr>
        <p:txBody>
          <a:bodyPr wrap="square" rtlCol="0">
            <a:spAutoFit/>
          </a:bodyPr>
          <a:lstStyle/>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Will ensure a correct end state</a:t>
            </a:r>
          </a:p>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Will avoid any deadlocks</a:t>
            </a:r>
          </a:p>
          <a:p>
            <a:pPr marL="457200" indent="-457200">
              <a:lnSpc>
                <a:spcPct val="150000"/>
              </a:lnSpc>
              <a:buFont typeface="Wingdings" pitchFamily="2" charset="2"/>
              <a:buChar char="Ø"/>
            </a:pPr>
            <a:r>
              <a:rPr lang="en-US" sz="2400" dirty="0">
                <a:latin typeface="Arial" panose="020B0604020202020204" pitchFamily="34" charset="0"/>
                <a:cs typeface="Arial" panose="020B0604020202020204" pitchFamily="34" charset="0"/>
              </a:rPr>
              <a:t>Will error for Alice or Bob</a:t>
            </a:r>
          </a:p>
          <a:p>
            <a:pPr algn="ctr">
              <a:lnSpc>
                <a:spcPct val="150000"/>
              </a:lnSpc>
            </a:pPr>
            <a:r>
              <a:rPr lang="en-US" sz="2400" dirty="0">
                <a:solidFill>
                  <a:srgbClr val="990000"/>
                </a:solidFill>
                <a:latin typeface="Arial" panose="020B0604020202020204" pitchFamily="34" charset="0"/>
                <a:cs typeface="Arial" panose="020B0604020202020204" pitchFamily="34" charset="0"/>
              </a:rPr>
              <a:t>Take away: DBMS ensures safe concurrency.</a:t>
            </a:r>
          </a:p>
        </p:txBody>
      </p:sp>
      <p:sp>
        <p:nvSpPr>
          <p:cNvPr id="37" name="Rectangle 36">
            <a:extLst>
              <a:ext uri="{FF2B5EF4-FFF2-40B4-BE49-F238E27FC236}">
                <a16:creationId xmlns:a16="http://schemas.microsoft.com/office/drawing/2014/main" id="{046F55D8-84B8-1247-9A60-97168230D3FE}"/>
              </a:ext>
            </a:extLst>
          </p:cNvPr>
          <p:cNvSpPr/>
          <p:nvPr/>
        </p:nvSpPr>
        <p:spPr>
          <a:xfrm>
            <a:off x="7093189" y="5874412"/>
            <a:ext cx="697627" cy="1015663"/>
          </a:xfrm>
          <a:prstGeom prst="rect">
            <a:avLst/>
          </a:prstGeom>
        </p:spPr>
        <p:txBody>
          <a:bodyPr wrap="none">
            <a:spAutoFit/>
          </a:bodyPr>
          <a:lstStyle/>
          <a:p>
            <a:pPr algn="ctr"/>
            <a:r>
              <a:rPr lang="en-US" sz="6000" dirty="0">
                <a:solidFill>
                  <a:srgbClr val="C00000"/>
                </a:solidFill>
                <a:latin typeface="Arial" panose="020B0604020202020204" pitchFamily="34" charset="0"/>
                <a:cs typeface="Arial" panose="020B0604020202020204" pitchFamily="34" charset="0"/>
              </a:rPr>
              <a:t>X</a:t>
            </a:r>
          </a:p>
        </p:txBody>
      </p:sp>
      <p:sp>
        <p:nvSpPr>
          <p:cNvPr id="38" name="Rectangle 37">
            <a:extLst>
              <a:ext uri="{FF2B5EF4-FFF2-40B4-BE49-F238E27FC236}">
                <a16:creationId xmlns:a16="http://schemas.microsoft.com/office/drawing/2014/main" id="{2673E6EA-A1EB-BC46-A9A9-1C215ADE6B9D}"/>
              </a:ext>
            </a:extLst>
          </p:cNvPr>
          <p:cNvSpPr/>
          <p:nvPr/>
        </p:nvSpPr>
        <p:spPr>
          <a:xfrm>
            <a:off x="1152080" y="5874412"/>
            <a:ext cx="761747" cy="1015663"/>
          </a:xfrm>
          <a:prstGeom prst="rect">
            <a:avLst/>
          </a:prstGeom>
        </p:spPr>
        <p:txBody>
          <a:bodyPr wrap="none">
            <a:spAutoFit/>
          </a:bodyPr>
          <a:lstStyle/>
          <a:p>
            <a:r>
              <a:rPr lang="en-US" sz="6000" dirty="0">
                <a:solidFill>
                  <a:srgbClr val="00B050"/>
                </a:solidFill>
                <a:latin typeface="Arial" panose="020B0604020202020204" pitchFamily="34" charset="0"/>
                <a:cs typeface="Arial" panose="020B0604020202020204" pitchFamily="34" charset="0"/>
              </a:rPr>
              <a:t>✓</a:t>
            </a:r>
            <a:endParaRPr lang="en-US" sz="6000" dirty="0">
              <a:latin typeface="Arial" panose="020B0604020202020204" pitchFamily="34" charset="0"/>
              <a:cs typeface="Arial" panose="020B0604020202020204" pitchFamily="34" charset="0"/>
            </a:endParaRPr>
          </a:p>
        </p:txBody>
      </p:sp>
      <p:sp>
        <p:nvSpPr>
          <p:cNvPr id="39" name="Rectangle 38">
            <a:extLst>
              <a:ext uri="{FF2B5EF4-FFF2-40B4-BE49-F238E27FC236}">
                <a16:creationId xmlns:a16="http://schemas.microsoft.com/office/drawing/2014/main" id="{473E8E21-1D1B-E749-9EB3-0C38E44BDBF3}"/>
              </a:ext>
            </a:extLst>
          </p:cNvPr>
          <p:cNvSpPr/>
          <p:nvPr/>
        </p:nvSpPr>
        <p:spPr>
          <a:xfrm>
            <a:off x="3948590" y="5874412"/>
            <a:ext cx="761747" cy="1015663"/>
          </a:xfrm>
          <a:prstGeom prst="rect">
            <a:avLst/>
          </a:prstGeom>
        </p:spPr>
        <p:txBody>
          <a:bodyPr wrap="none">
            <a:spAutoFit/>
          </a:bodyPr>
          <a:lstStyle/>
          <a:p>
            <a:r>
              <a:rPr lang="en-US" sz="6000" dirty="0">
                <a:solidFill>
                  <a:srgbClr val="00B050"/>
                </a:solidFill>
                <a:latin typeface="Arial" panose="020B0604020202020204" pitchFamily="34" charset="0"/>
                <a:cs typeface="Arial" panose="020B0604020202020204" pitchFamily="34" charset="0"/>
              </a:rPr>
              <a:t>✓</a:t>
            </a:r>
            <a:endParaRPr lang="en-US" sz="6000" dirty="0">
              <a:latin typeface="Arial" panose="020B0604020202020204" pitchFamily="34" charset="0"/>
              <a:cs typeface="Arial" panose="020B0604020202020204" pitchFamily="34" charset="0"/>
            </a:endParaRPr>
          </a:p>
        </p:txBody>
      </p:sp>
      <p:sp>
        <p:nvSpPr>
          <p:cNvPr id="40" name="Rounded Rectangle 39">
            <a:extLst>
              <a:ext uri="{FF2B5EF4-FFF2-40B4-BE49-F238E27FC236}">
                <a16:creationId xmlns:a16="http://schemas.microsoft.com/office/drawing/2014/main" id="{5FE01676-61F4-0A46-944F-F7B93314F557}"/>
              </a:ext>
            </a:extLst>
          </p:cNvPr>
          <p:cNvSpPr/>
          <p:nvPr/>
        </p:nvSpPr>
        <p:spPr>
          <a:xfrm>
            <a:off x="354984" y="3287586"/>
            <a:ext cx="5570705" cy="3570403"/>
          </a:xfrm>
          <a:prstGeom prst="roundRect">
            <a:avLst/>
          </a:prstGeom>
          <a:noFill/>
          <a:ln w="349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9293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43999" cy="584775"/>
          </a:xfrm>
          <a:prstGeom prst="rect">
            <a:avLst/>
          </a:prstGeom>
          <a:noFill/>
        </p:spPr>
        <p:txBody>
          <a:bodyPr wrap="square" rtlCol="0">
            <a:spAutoFit/>
          </a:bodyPr>
          <a:lstStyle/>
          <a:p>
            <a:r>
              <a:rPr lang="en-US" sz="3200" dirty="0">
                <a:latin typeface="Arial" panose="020B0604020202020204" pitchFamily="34" charset="0"/>
                <a:cs typeface="Arial" panose="020B0604020202020204" pitchFamily="34" charset="0"/>
              </a:rPr>
              <a:t>Backup and Recovery</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35" name="Picture 34" descr="Text&#10;&#10;Description automatically generated">
            <a:extLst>
              <a:ext uri="{FF2B5EF4-FFF2-40B4-BE49-F238E27FC236}">
                <a16:creationId xmlns:a16="http://schemas.microsoft.com/office/drawing/2014/main" id="{25B39AD1-41E4-D34E-BA28-7B4E4AC482D8}"/>
              </a:ext>
            </a:extLst>
          </p:cNvPr>
          <p:cNvPicPr>
            <a:picLocks noChangeAspect="1"/>
          </p:cNvPicPr>
          <p:nvPr/>
        </p:nvPicPr>
        <p:blipFill>
          <a:blip r:embed="rId3"/>
          <a:stretch>
            <a:fillRect/>
          </a:stretch>
        </p:blipFill>
        <p:spPr>
          <a:xfrm>
            <a:off x="3702697" y="1955414"/>
            <a:ext cx="5361843" cy="2940993"/>
          </a:xfrm>
          <a:prstGeom prst="rect">
            <a:avLst/>
          </a:prstGeom>
        </p:spPr>
      </p:pic>
      <p:pic>
        <p:nvPicPr>
          <p:cNvPr id="36" name="Graphic 35" descr="Female Profile with solid fill">
            <a:extLst>
              <a:ext uri="{FF2B5EF4-FFF2-40B4-BE49-F238E27FC236}">
                <a16:creationId xmlns:a16="http://schemas.microsoft.com/office/drawing/2014/main" id="{2B129FAE-EA85-C74C-9F10-E841E3A5894C}"/>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698408" y="2278611"/>
            <a:ext cx="731520" cy="731520"/>
          </a:xfrm>
          <a:prstGeom prst="rect">
            <a:avLst/>
          </a:prstGeom>
        </p:spPr>
      </p:pic>
      <p:sp>
        <p:nvSpPr>
          <p:cNvPr id="37" name="Can 36">
            <a:extLst>
              <a:ext uri="{FF2B5EF4-FFF2-40B4-BE49-F238E27FC236}">
                <a16:creationId xmlns:a16="http://schemas.microsoft.com/office/drawing/2014/main" id="{C2E31A51-96AE-6946-A8A6-2005B558C64F}"/>
              </a:ext>
            </a:extLst>
          </p:cNvPr>
          <p:cNvSpPr/>
          <p:nvPr/>
        </p:nvSpPr>
        <p:spPr>
          <a:xfrm>
            <a:off x="237977" y="4848124"/>
            <a:ext cx="3652382" cy="1809318"/>
          </a:xfrm>
          <a:prstGeom prst="can">
            <a:avLst>
              <a:gd name="adj" fmla="val 9274"/>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FD085F59-86D1-ED47-BBFC-895B582D6EE1}"/>
              </a:ext>
            </a:extLst>
          </p:cNvPr>
          <p:cNvSpPr/>
          <p:nvPr/>
        </p:nvSpPr>
        <p:spPr>
          <a:xfrm>
            <a:off x="1619175" y="3852665"/>
            <a:ext cx="889987"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r (A, 1)</a:t>
            </a:r>
          </a:p>
        </p:txBody>
      </p:sp>
      <p:sp>
        <p:nvSpPr>
          <p:cNvPr id="39" name="Rectangle 38">
            <a:extLst>
              <a:ext uri="{FF2B5EF4-FFF2-40B4-BE49-F238E27FC236}">
                <a16:creationId xmlns:a16="http://schemas.microsoft.com/office/drawing/2014/main" id="{529E753A-C9FC-B345-8357-11D424E63294}"/>
              </a:ext>
            </a:extLst>
          </p:cNvPr>
          <p:cNvSpPr/>
          <p:nvPr/>
        </p:nvSpPr>
        <p:spPr>
          <a:xfrm>
            <a:off x="1574291" y="4246936"/>
            <a:ext cx="979755" cy="369332"/>
          </a:xfrm>
          <a:prstGeom prst="rect">
            <a:avLst/>
          </a:prstGeom>
        </p:spPr>
        <p:txBody>
          <a:bodyPr wrap="none">
            <a:spAutoFit/>
          </a:bodyPr>
          <a:lstStyle/>
          <a:p>
            <a:pPr lvl="0">
              <a:defRPr/>
            </a:pPr>
            <a:r>
              <a:rPr lang="en-US" dirty="0">
                <a:latin typeface="Arial" panose="020B0604020202020204" pitchFamily="34" charset="0"/>
                <a:cs typeface="Arial" panose="020B0604020202020204" pitchFamily="34" charset="0"/>
              </a:rPr>
              <a:t>w (A, 0)</a:t>
            </a:r>
          </a:p>
        </p:txBody>
      </p:sp>
      <p:pic>
        <p:nvPicPr>
          <p:cNvPr id="40" name="Graphic 39" descr="Server outline">
            <a:extLst>
              <a:ext uri="{FF2B5EF4-FFF2-40B4-BE49-F238E27FC236}">
                <a16:creationId xmlns:a16="http://schemas.microsoft.com/office/drawing/2014/main" id="{A884BDDA-BCA4-FF42-93FE-EFD69257E6D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667571" y="3196562"/>
            <a:ext cx="793194" cy="574286"/>
          </a:xfrm>
          <a:prstGeom prst="rect">
            <a:avLst/>
          </a:prstGeom>
        </p:spPr>
      </p:pic>
      <p:pic>
        <p:nvPicPr>
          <p:cNvPr id="41" name="Graphic 40" descr="Lightning bolt with solid fill">
            <a:extLst>
              <a:ext uri="{FF2B5EF4-FFF2-40B4-BE49-F238E27FC236}">
                <a16:creationId xmlns:a16="http://schemas.microsoft.com/office/drawing/2014/main" id="{60C56279-B568-5646-A679-8B3577478DB7}"/>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15034" y="5326102"/>
            <a:ext cx="914400" cy="914400"/>
          </a:xfrm>
          <a:prstGeom prst="rect">
            <a:avLst/>
          </a:prstGeom>
        </p:spPr>
      </p:pic>
      <p:graphicFrame>
        <p:nvGraphicFramePr>
          <p:cNvPr id="42" name="Table 21">
            <a:extLst>
              <a:ext uri="{FF2B5EF4-FFF2-40B4-BE49-F238E27FC236}">
                <a16:creationId xmlns:a16="http://schemas.microsoft.com/office/drawing/2014/main" id="{523B43F2-FA01-BD40-A21E-0D8C1B59DC8D}"/>
              </a:ext>
            </a:extLst>
          </p:cNvPr>
          <p:cNvGraphicFramePr>
            <a:graphicFrameLocks noGrp="1"/>
          </p:cNvGraphicFramePr>
          <p:nvPr>
            <p:extLst>
              <p:ext uri="{D42A27DB-BD31-4B8C-83A1-F6EECF244321}">
                <p14:modId xmlns:p14="http://schemas.microsoft.com/office/powerpoint/2010/main" val="13751857"/>
              </p:ext>
            </p:extLst>
          </p:nvPr>
        </p:nvGraphicFramePr>
        <p:xfrm>
          <a:off x="955394" y="5103939"/>
          <a:ext cx="2217548" cy="1402080"/>
        </p:xfrm>
        <a:graphic>
          <a:graphicData uri="http://schemas.openxmlformats.org/drawingml/2006/table">
            <a:tbl>
              <a:tblPr firstRow="1" bandRow="1">
                <a:tableStyleId>{2D5ABB26-0587-4C30-8999-92F81FD0307C}</a:tableStyleId>
              </a:tblPr>
              <a:tblGrid>
                <a:gridCol w="919163">
                  <a:extLst>
                    <a:ext uri="{9D8B030D-6E8A-4147-A177-3AD203B41FA5}">
                      <a16:colId xmlns:a16="http://schemas.microsoft.com/office/drawing/2014/main" val="1727528194"/>
                    </a:ext>
                  </a:extLst>
                </a:gridCol>
                <a:gridCol w="1298385">
                  <a:extLst>
                    <a:ext uri="{9D8B030D-6E8A-4147-A177-3AD203B41FA5}">
                      <a16:colId xmlns:a16="http://schemas.microsoft.com/office/drawing/2014/main" val="3729982082"/>
                    </a:ext>
                  </a:extLst>
                </a:gridCol>
              </a:tblGrid>
              <a:tr h="289018">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289018">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289018">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289018">
                <a:tc>
                  <a:txBody>
                    <a:bodyPr/>
                    <a:lstStyle/>
                    <a:p>
                      <a:pPr algn="ctr"/>
                      <a:r>
                        <a:rPr lang="en-US" sz="1700" dirty="0" err="1"/>
                        <a:t>BookB</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sp>
        <p:nvSpPr>
          <p:cNvPr id="43" name="Rectangle 42">
            <a:extLst>
              <a:ext uri="{FF2B5EF4-FFF2-40B4-BE49-F238E27FC236}">
                <a16:creationId xmlns:a16="http://schemas.microsoft.com/office/drawing/2014/main" id="{336BB324-D478-964F-8A6C-8B60EE134FCD}"/>
              </a:ext>
            </a:extLst>
          </p:cNvPr>
          <p:cNvSpPr/>
          <p:nvPr/>
        </p:nvSpPr>
        <p:spPr>
          <a:xfrm>
            <a:off x="3176591" y="5519902"/>
            <a:ext cx="526106" cy="707886"/>
          </a:xfrm>
          <a:prstGeom prst="rect">
            <a:avLst/>
          </a:prstGeom>
        </p:spPr>
        <p:txBody>
          <a:bodyPr wrap="none">
            <a:spAutoFit/>
          </a:bodyPr>
          <a:lstStyle/>
          <a:p>
            <a:r>
              <a:rPr lang="en-US" sz="4000" dirty="0">
                <a:solidFill>
                  <a:srgbClr val="C00000"/>
                </a:solidFill>
                <a:latin typeface="Arial" panose="020B0604020202020204" pitchFamily="34" charset="0"/>
                <a:cs typeface="Arial" panose="020B0604020202020204" pitchFamily="34" charset="0"/>
              </a:rPr>
              <a:t>X</a:t>
            </a:r>
            <a:endParaRPr lang="en-US" sz="4000" dirty="0">
              <a:latin typeface="Arial" panose="020B0604020202020204" pitchFamily="34" charset="0"/>
              <a:cs typeface="Arial" panose="020B0604020202020204" pitchFamily="34" charset="0"/>
            </a:endParaRPr>
          </a:p>
        </p:txBody>
      </p:sp>
      <p:sp>
        <p:nvSpPr>
          <p:cNvPr id="2" name="Rectangle 1">
            <a:extLst>
              <a:ext uri="{FF2B5EF4-FFF2-40B4-BE49-F238E27FC236}">
                <a16:creationId xmlns:a16="http://schemas.microsoft.com/office/drawing/2014/main" id="{8E784AA6-10C6-1843-8C8A-581A67348AB6}"/>
              </a:ext>
            </a:extLst>
          </p:cNvPr>
          <p:cNvSpPr/>
          <p:nvPr/>
        </p:nvSpPr>
        <p:spPr>
          <a:xfrm>
            <a:off x="8923" y="810193"/>
            <a:ext cx="9143999" cy="1200329"/>
          </a:xfrm>
          <a:prstGeom prst="rect">
            <a:avLst/>
          </a:prstGeom>
        </p:spPr>
        <p:txBody>
          <a:bodyPr wrap="square">
            <a:spAutoFit/>
          </a:bodyPr>
          <a:lstStyle/>
          <a:p>
            <a:pPr marL="457200" indent="-457200">
              <a:buFont typeface="Wingdings" pitchFamily="2" charset="2"/>
              <a:buChar char="Ø"/>
            </a:pPr>
            <a:r>
              <a:rPr lang="en-US" sz="2400" dirty="0">
                <a:latin typeface="Arial" panose="020B0604020202020204" pitchFamily="34" charset="0"/>
                <a:cs typeface="Arial" panose="020B0604020202020204" pitchFamily="34" charset="0"/>
              </a:rPr>
              <a:t>Recall failure scenario: Alice orders both </a:t>
            </a:r>
            <a:r>
              <a:rPr lang="en-US" sz="2400" dirty="0" err="1">
                <a:latin typeface="Arial" panose="020B0604020202020204" pitchFamily="34" charset="0"/>
                <a:cs typeface="Arial" panose="020B0604020202020204" pitchFamily="34" charset="0"/>
              </a:rPr>
              <a:t>BookA</a:t>
            </a:r>
            <a:r>
              <a:rPr lang="en-US" sz="2400" dirty="0">
                <a:latin typeface="Arial" panose="020B0604020202020204" pitchFamily="34" charset="0"/>
                <a:cs typeface="Arial" panose="020B0604020202020204" pitchFamily="34" charset="0"/>
              </a:rPr>
              <a:t> and </a:t>
            </a:r>
            <a:r>
              <a:rPr lang="en-US" sz="2400" dirty="0" err="1">
                <a:latin typeface="Arial" panose="020B0604020202020204" pitchFamily="34" charset="0"/>
                <a:cs typeface="Arial" panose="020B0604020202020204" pitchFamily="34" charset="0"/>
              </a:rPr>
              <a:t>BookB</a:t>
            </a:r>
            <a:endParaRPr lang="en-US" sz="2400" dirty="0">
              <a:latin typeface="Arial" panose="020B0604020202020204" pitchFamily="34" charset="0"/>
              <a:cs typeface="Arial" panose="020B0604020202020204" pitchFamily="34" charset="0"/>
            </a:endParaRPr>
          </a:p>
          <a:p>
            <a:pPr marL="457200" indent="-457200">
              <a:buFont typeface="Wingdings" pitchFamily="2" charset="2"/>
              <a:buChar char="Ø"/>
            </a:pPr>
            <a:r>
              <a:rPr lang="en-US" sz="2400" dirty="0">
                <a:latin typeface="Arial" panose="020B0604020202020204" pitchFamily="34" charset="0"/>
                <a:cs typeface="Arial" panose="020B0604020202020204" pitchFamily="34" charset="0"/>
              </a:rPr>
              <a:t>Suppose a power failure occurs and the DBMS fails in the middle of committing the transaction</a:t>
            </a:r>
          </a:p>
        </p:txBody>
      </p:sp>
      <p:graphicFrame>
        <p:nvGraphicFramePr>
          <p:cNvPr id="44" name="Table 21">
            <a:extLst>
              <a:ext uri="{FF2B5EF4-FFF2-40B4-BE49-F238E27FC236}">
                <a16:creationId xmlns:a16="http://schemas.microsoft.com/office/drawing/2014/main" id="{D5904A62-4A2A-6243-B0C2-03169F3416FF}"/>
              </a:ext>
            </a:extLst>
          </p:cNvPr>
          <p:cNvGraphicFramePr>
            <a:graphicFrameLocks noGrp="1"/>
          </p:cNvGraphicFramePr>
          <p:nvPr>
            <p:extLst>
              <p:ext uri="{D42A27DB-BD31-4B8C-83A1-F6EECF244321}">
                <p14:modId xmlns:p14="http://schemas.microsoft.com/office/powerpoint/2010/main" val="1842551337"/>
              </p:ext>
            </p:extLst>
          </p:nvPr>
        </p:nvGraphicFramePr>
        <p:xfrm>
          <a:off x="5283274" y="5103939"/>
          <a:ext cx="2217548" cy="1402080"/>
        </p:xfrm>
        <a:graphic>
          <a:graphicData uri="http://schemas.openxmlformats.org/drawingml/2006/table">
            <a:tbl>
              <a:tblPr firstRow="1" bandRow="1">
                <a:tableStyleId>{2D5ABB26-0587-4C30-8999-92F81FD0307C}</a:tableStyleId>
              </a:tblPr>
              <a:tblGrid>
                <a:gridCol w="919163">
                  <a:extLst>
                    <a:ext uri="{9D8B030D-6E8A-4147-A177-3AD203B41FA5}">
                      <a16:colId xmlns:a16="http://schemas.microsoft.com/office/drawing/2014/main" val="1727528194"/>
                    </a:ext>
                  </a:extLst>
                </a:gridCol>
                <a:gridCol w="1298385">
                  <a:extLst>
                    <a:ext uri="{9D8B030D-6E8A-4147-A177-3AD203B41FA5}">
                      <a16:colId xmlns:a16="http://schemas.microsoft.com/office/drawing/2014/main" val="3729982082"/>
                    </a:ext>
                  </a:extLst>
                </a:gridCol>
              </a:tblGrid>
              <a:tr h="289018">
                <a:tc>
                  <a:txBody>
                    <a:bodyPr/>
                    <a:lstStyle/>
                    <a:p>
                      <a:pPr algn="ctr"/>
                      <a:r>
                        <a:rPr lang="en-US" sz="1700" dirty="0"/>
                        <a:t>Product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err="1"/>
                        <a:t>NumInStock</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988350"/>
                  </a:ext>
                </a:extLst>
              </a:tr>
              <a:tr h="289018">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428834732"/>
                  </a:ext>
                </a:extLst>
              </a:tr>
              <a:tr h="289018">
                <a:tc>
                  <a:txBody>
                    <a:bodyPr/>
                    <a:lstStyle/>
                    <a:p>
                      <a:pPr algn="ctr"/>
                      <a:r>
                        <a:rPr lang="en-US" sz="1700" dirty="0"/>
                        <a:t>BookA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95358941"/>
                  </a:ext>
                </a:extLst>
              </a:tr>
              <a:tr h="289018">
                <a:tc>
                  <a:txBody>
                    <a:bodyPr/>
                    <a:lstStyle/>
                    <a:p>
                      <a:pPr algn="ctr"/>
                      <a:r>
                        <a:rPr lang="en-US" sz="1700" dirty="0" err="1"/>
                        <a:t>BookB</a:t>
                      </a:r>
                      <a:endParaRPr lang="en-US" sz="17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7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4000441028"/>
                  </a:ext>
                </a:extLst>
              </a:tr>
            </a:tbl>
          </a:graphicData>
        </a:graphic>
      </p:graphicFrame>
      <p:sp>
        <p:nvSpPr>
          <p:cNvPr id="45" name="Rectangle 44">
            <a:extLst>
              <a:ext uri="{FF2B5EF4-FFF2-40B4-BE49-F238E27FC236}">
                <a16:creationId xmlns:a16="http://schemas.microsoft.com/office/drawing/2014/main" id="{361F7974-B466-2F44-B6CC-CB8A363623E2}"/>
              </a:ext>
            </a:extLst>
          </p:cNvPr>
          <p:cNvSpPr/>
          <p:nvPr/>
        </p:nvSpPr>
        <p:spPr>
          <a:xfrm>
            <a:off x="7619219" y="5451036"/>
            <a:ext cx="569387" cy="707886"/>
          </a:xfrm>
          <a:prstGeom prst="rect">
            <a:avLst/>
          </a:prstGeom>
        </p:spPr>
        <p:txBody>
          <a:bodyPr wrap="none">
            <a:spAutoFit/>
          </a:bodyPr>
          <a:lstStyle/>
          <a:p>
            <a:r>
              <a:rPr lang="en-US" sz="4000" b="1" dirty="0">
                <a:solidFill>
                  <a:srgbClr val="00B050"/>
                </a:solidFill>
                <a:latin typeface="Arial" panose="020B0604020202020204" pitchFamily="34" charset="0"/>
                <a:cs typeface="Arial" panose="020B0604020202020204" pitchFamily="34" charset="0"/>
              </a:rPr>
              <a:t>✓</a:t>
            </a:r>
            <a:endParaRPr lang="en-US" sz="40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66887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p:cNvSpPr txBox="1"/>
          <p:nvPr/>
        </p:nvSpPr>
        <p:spPr>
          <a:xfrm>
            <a:off x="16079" y="64300"/>
            <a:ext cx="9127921" cy="553998"/>
          </a:xfrm>
          <a:prstGeom prst="rect">
            <a:avLst/>
          </a:prstGeom>
          <a:noFill/>
        </p:spPr>
        <p:txBody>
          <a:bodyPr wrap="square" rtlCol="0">
            <a:spAutoFit/>
          </a:bodyPr>
          <a:lstStyle/>
          <a:p>
            <a:r>
              <a:rPr lang="en-US" sz="3000" dirty="0">
                <a:latin typeface="Arial" panose="020B0604020202020204" pitchFamily="34" charset="0"/>
                <a:cs typeface="Arial" panose="020B0604020202020204" pitchFamily="34" charset="0"/>
              </a:rPr>
              <a:t>Summary</a:t>
            </a:r>
          </a:p>
        </p:txBody>
      </p:sp>
      <p:cxnSp>
        <p:nvCxnSpPr>
          <p:cNvPr id="64" name="Straight Connector 63"/>
          <p:cNvCxnSpPr/>
          <p:nvPr/>
        </p:nvCxnSpPr>
        <p:spPr>
          <a:xfrm>
            <a:off x="0" y="758856"/>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3452" y="773927"/>
            <a:ext cx="9060548" cy="577850"/>
          </a:xfrm>
          <a:prstGeom prst="rect">
            <a:avLst/>
          </a:prstGeom>
          <a:noFill/>
        </p:spPr>
        <p:txBody>
          <a:bodyPr wrap="square" rtlCol="0">
            <a:spAutoFit/>
          </a:bodyPr>
          <a:lstStyle/>
          <a:p>
            <a:pPr marL="457200" indent="-457200">
              <a:lnSpc>
                <a:spcPct val="150000"/>
              </a:lnSpc>
              <a:buFont typeface="+mj-lt"/>
              <a:buAutoNum type="arabicPeriod"/>
            </a:pPr>
            <a:endParaRPr lang="en-US" sz="2400" dirty="0">
              <a:latin typeface="Arial" panose="020B0604020202020204" pitchFamily="34" charset="0"/>
              <a:cs typeface="Arial" panose="020B0604020202020204" pitchFamily="34" charset="0"/>
            </a:endParaRPr>
          </a:p>
        </p:txBody>
      </p:sp>
      <p:sp>
        <p:nvSpPr>
          <p:cNvPr id="2" name="Slide Number Placeholder 1"/>
          <p:cNvSpPr>
            <a:spLocks noGrp="1"/>
          </p:cNvSpPr>
          <p:nvPr>
            <p:ph type="sldNum" sz="quarter" idx="12"/>
          </p:nvPr>
        </p:nvSpPr>
        <p:spPr/>
        <p:txBody>
          <a:bodyPr/>
          <a:lstStyle/>
          <a:p>
            <a:fld id="{AFAD4509-1FB2-2540-A246-CEF93BA68631}" type="slidenum">
              <a:rPr lang="en-US" smtClean="0"/>
              <a:t>43</a:t>
            </a:fld>
            <a:endParaRPr lang="en-US"/>
          </a:p>
        </p:txBody>
      </p:sp>
      <p:sp>
        <p:nvSpPr>
          <p:cNvPr id="6" name="TextBox 5">
            <a:extLst>
              <a:ext uri="{FF2B5EF4-FFF2-40B4-BE49-F238E27FC236}">
                <a16:creationId xmlns:a16="http://schemas.microsoft.com/office/drawing/2014/main" id="{34BA50CD-BDAD-D147-846B-4409781D6CA6}"/>
              </a:ext>
            </a:extLst>
          </p:cNvPr>
          <p:cNvSpPr txBox="1"/>
          <p:nvPr/>
        </p:nvSpPr>
        <p:spPr>
          <a:xfrm>
            <a:off x="41726" y="2863076"/>
            <a:ext cx="9060548" cy="1131848"/>
          </a:xfrm>
          <a:prstGeom prst="rect">
            <a:avLst/>
          </a:prstGeom>
          <a:noFill/>
        </p:spPr>
        <p:txBody>
          <a:bodyPr wrap="square" rtlCol="0">
            <a:spAutoFit/>
          </a:bodyPr>
          <a:lstStyle/>
          <a:p>
            <a:pPr algn="ctr">
              <a:lnSpc>
                <a:spcPct val="150000"/>
              </a:lnSpc>
            </a:pPr>
            <a:r>
              <a:rPr lang="en-US" sz="2400" dirty="0">
                <a:latin typeface="Arial" panose="020B0604020202020204" pitchFamily="34" charset="0"/>
                <a:cs typeface="Arial" panose="020B0604020202020204" pitchFamily="34" charset="0"/>
              </a:rPr>
              <a:t>DBMS is an indispensable core system software to develop any application that stores, queries, or processes data.</a:t>
            </a:r>
          </a:p>
        </p:txBody>
      </p:sp>
    </p:spTree>
    <p:extLst>
      <p:ext uri="{BB962C8B-B14F-4D97-AF65-F5344CB8AC3E}">
        <p14:creationId xmlns:p14="http://schemas.microsoft.com/office/powerpoint/2010/main" val="20243241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 name="TextBox 62"/>
          <p:cNvSpPr txBox="1"/>
          <p:nvPr/>
        </p:nvSpPr>
        <p:spPr>
          <a:xfrm>
            <a:off x="16079" y="64300"/>
            <a:ext cx="8629577"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Outline For Today</a:t>
            </a:r>
          </a:p>
        </p:txBody>
      </p:sp>
      <p:cxnSp>
        <p:nvCxnSpPr>
          <p:cNvPr id="64" name="Straight Connector 63"/>
          <p:cNvCxnSpPr/>
          <p:nvPr/>
        </p:nvCxnSpPr>
        <p:spPr>
          <a:xfrm>
            <a:off x="0" y="758856"/>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3452" y="773927"/>
            <a:ext cx="9060548" cy="2793842"/>
          </a:xfrm>
          <a:prstGeom prst="rect">
            <a:avLst/>
          </a:prstGeom>
          <a:noFill/>
        </p:spPr>
        <p:txBody>
          <a:bodyPr wrap="square" rtlCol="0">
            <a:spAutoFit/>
          </a:bodyPr>
          <a:lstStyle/>
          <a:p>
            <a:pPr marL="457200" indent="-457200">
              <a:lnSpc>
                <a:spcPct val="150000"/>
              </a:lnSpc>
              <a:buFont typeface="+mj-lt"/>
              <a:buAutoNum type="arabicPeriod"/>
            </a:pPr>
            <a:r>
              <a:rPr lang="en-US" sz="2400" dirty="0">
                <a:solidFill>
                  <a:schemeClr val="bg1">
                    <a:lumMod val="65000"/>
                  </a:schemeClr>
                </a:solidFill>
                <a:latin typeface="Arial" panose="020B0604020202020204" pitchFamily="34" charset="0"/>
                <a:cs typeface="Arial" panose="020B0604020202020204" pitchFamily="34" charset="0"/>
              </a:rPr>
              <a:t>Overview of DBMSs: 3 Major Contributions of the Field</a:t>
            </a:r>
          </a:p>
          <a:p>
            <a:pPr marL="914400" lvl="1" indent="-457200">
              <a:lnSpc>
                <a:spcPct val="150000"/>
              </a:lnSpc>
              <a:buFont typeface="+mj-lt"/>
              <a:buAutoNum type="arabicPeriod"/>
            </a:pPr>
            <a:r>
              <a:rPr lang="en-US" sz="2400" dirty="0">
                <a:solidFill>
                  <a:schemeClr val="bg1">
                    <a:lumMod val="65000"/>
                  </a:schemeClr>
                </a:solidFill>
                <a:latin typeface="Arial" panose="020B0604020202020204" pitchFamily="34" charset="0"/>
                <a:cs typeface="Arial" panose="020B0604020202020204" pitchFamily="34" charset="0"/>
              </a:rPr>
              <a:t>Set of DBMS Features for Applications</a:t>
            </a:r>
          </a:p>
          <a:p>
            <a:pPr marL="914400" lvl="1" indent="-457200">
              <a:lnSpc>
                <a:spcPct val="150000"/>
              </a:lnSpc>
              <a:buFont typeface="+mj-lt"/>
              <a:buAutoNum type="arabicPeriod"/>
            </a:pPr>
            <a:r>
              <a:rPr lang="en-US" sz="2400" dirty="0">
                <a:solidFill>
                  <a:schemeClr val="bg1">
                    <a:lumMod val="65000"/>
                  </a:schemeClr>
                </a:solidFill>
                <a:latin typeface="Arial" panose="020B0604020202020204" pitchFamily="34" charset="0"/>
                <a:cs typeface="Arial" panose="020B0604020202020204" pitchFamily="34" charset="0"/>
              </a:rPr>
              <a:t>Physical Data Independence/High-level Query Languages</a:t>
            </a:r>
          </a:p>
          <a:p>
            <a:pPr marL="914400" lvl="1" indent="-457200">
              <a:lnSpc>
                <a:spcPct val="150000"/>
              </a:lnSpc>
              <a:buFont typeface="+mj-lt"/>
              <a:buAutoNum type="arabicPeriod"/>
            </a:pPr>
            <a:r>
              <a:rPr lang="en-US" sz="2400" dirty="0">
                <a:solidFill>
                  <a:schemeClr val="bg1">
                    <a:lumMod val="65000"/>
                  </a:schemeClr>
                </a:solidFill>
                <a:latin typeface="Arial" panose="020B0604020202020204" pitchFamily="34" charset="0"/>
                <a:cs typeface="Arial" panose="020B0604020202020204" pitchFamily="34" charset="0"/>
              </a:rPr>
              <a:t>Transactions</a:t>
            </a:r>
          </a:p>
          <a:p>
            <a:pPr marL="457200" indent="-457200">
              <a:lnSpc>
                <a:spcPct val="150000"/>
              </a:lnSpc>
              <a:buFont typeface="+mj-lt"/>
              <a:buAutoNum type="arabicPeriod"/>
            </a:pPr>
            <a:r>
              <a:rPr lang="en-US" sz="2400" dirty="0">
                <a:latin typeface="Arial" panose="020B0604020202020204" pitchFamily="34" charset="0"/>
                <a:cs typeface="Arial" panose="020B0604020202020204" pitchFamily="34" charset="0"/>
              </a:rPr>
              <a:t>Course Diagram &amp; Administrative Information</a:t>
            </a:r>
          </a:p>
        </p:txBody>
      </p:sp>
      <p:sp>
        <p:nvSpPr>
          <p:cNvPr id="2" name="Slide Number Placeholder 1"/>
          <p:cNvSpPr>
            <a:spLocks noGrp="1"/>
          </p:cNvSpPr>
          <p:nvPr>
            <p:ph type="sldNum" sz="quarter" idx="12"/>
          </p:nvPr>
        </p:nvSpPr>
        <p:spPr/>
        <p:txBody>
          <a:bodyPr/>
          <a:lstStyle/>
          <a:p>
            <a:fld id="{AFAD4509-1FB2-2540-A246-CEF93BA68631}" type="slidenum">
              <a:rPr lang="en-US" smtClean="0"/>
              <a:t>44</a:t>
            </a:fld>
            <a:endParaRPr lang="en-US"/>
          </a:p>
        </p:txBody>
      </p:sp>
    </p:spTree>
    <p:extLst>
      <p:ext uri="{BB962C8B-B14F-4D97-AF65-F5344CB8AC3E}">
        <p14:creationId xmlns:p14="http://schemas.microsoft.com/office/powerpoint/2010/main" val="245898837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8925" y="93523"/>
            <a:ext cx="9023864" cy="1200329"/>
          </a:xfrm>
          <a:prstGeom prst="rect">
            <a:avLst/>
          </a:prstGeom>
          <a:noFill/>
        </p:spPr>
        <p:txBody>
          <a:bodyPr wrap="square" rtlCol="0">
            <a:spAutoFit/>
          </a:bodyPr>
          <a:lstStyle/>
          <a:p>
            <a:pPr algn="ctr"/>
            <a:r>
              <a:rPr lang="en-US" sz="3600" dirty="0">
                <a:latin typeface="Arial" panose="020B0604020202020204" pitchFamily="34" charset="0"/>
                <a:cs typeface="Arial" panose="020B0604020202020204" pitchFamily="34" charset="0"/>
              </a:rPr>
              <a:t>Key People When Developing Data-Intensive Applications</a:t>
            </a:r>
          </a:p>
        </p:txBody>
      </p:sp>
      <p:cxnSp>
        <p:nvCxnSpPr>
          <p:cNvPr id="22" name="Straight Connector 21"/>
          <p:cNvCxnSpPr/>
          <p:nvPr/>
        </p:nvCxnSpPr>
        <p:spPr>
          <a:xfrm>
            <a:off x="8925" y="1293852"/>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4" name="Graphic 3" descr="Server outline">
            <a:extLst>
              <a:ext uri="{FF2B5EF4-FFF2-40B4-BE49-F238E27FC236}">
                <a16:creationId xmlns:a16="http://schemas.microsoft.com/office/drawing/2014/main" id="{2973DDF4-F722-944C-BD9C-6F8F752FE70D}"/>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80936" y="2582143"/>
            <a:ext cx="777240" cy="777240"/>
          </a:xfrm>
          <a:prstGeom prst="rect">
            <a:avLst/>
          </a:prstGeom>
        </p:spPr>
      </p:pic>
      <p:pic>
        <p:nvPicPr>
          <p:cNvPr id="5" name="Graphic 4" descr="Server outline">
            <a:extLst>
              <a:ext uri="{FF2B5EF4-FFF2-40B4-BE49-F238E27FC236}">
                <a16:creationId xmlns:a16="http://schemas.microsoft.com/office/drawing/2014/main" id="{111729C7-5BB7-F045-AB0A-C8B39F7D612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16805" y="2610005"/>
            <a:ext cx="777240" cy="777240"/>
          </a:xfrm>
          <a:prstGeom prst="rect">
            <a:avLst/>
          </a:prstGeom>
        </p:spPr>
      </p:pic>
      <p:pic>
        <p:nvPicPr>
          <p:cNvPr id="6" name="Graphic 5" descr="Server outline">
            <a:extLst>
              <a:ext uri="{FF2B5EF4-FFF2-40B4-BE49-F238E27FC236}">
                <a16:creationId xmlns:a16="http://schemas.microsoft.com/office/drawing/2014/main" id="{1A0FEB95-1F2F-4B46-BA3B-10ED28F0E29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582201" y="2582143"/>
            <a:ext cx="777240" cy="777240"/>
          </a:xfrm>
          <a:prstGeom prst="rect">
            <a:avLst/>
          </a:prstGeom>
        </p:spPr>
      </p:pic>
      <p:cxnSp>
        <p:nvCxnSpPr>
          <p:cNvPr id="7" name="Straight Arrow Connector 6">
            <a:extLst>
              <a:ext uri="{FF2B5EF4-FFF2-40B4-BE49-F238E27FC236}">
                <a16:creationId xmlns:a16="http://schemas.microsoft.com/office/drawing/2014/main" id="{B926F2EC-6077-B344-BFA3-311C346A8B7C}"/>
              </a:ext>
            </a:extLst>
          </p:cNvPr>
          <p:cNvCxnSpPr>
            <a:cxnSpLocks/>
            <a:stCxn id="4" idx="2"/>
            <a:endCxn id="33" idx="1"/>
          </p:cNvCxnSpPr>
          <p:nvPr/>
        </p:nvCxnSpPr>
        <p:spPr>
          <a:xfrm>
            <a:off x="3669556" y="3359383"/>
            <a:ext cx="2208532" cy="41325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22D49319-F961-244F-8476-6A624944CABF}"/>
              </a:ext>
            </a:extLst>
          </p:cNvPr>
          <p:cNvCxnSpPr>
            <a:cxnSpLocks/>
            <a:stCxn id="5" idx="2"/>
            <a:endCxn id="33" idx="1"/>
          </p:cNvCxnSpPr>
          <p:nvPr/>
        </p:nvCxnSpPr>
        <p:spPr>
          <a:xfrm>
            <a:off x="4705425" y="3387245"/>
            <a:ext cx="1172663" cy="385394"/>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9" name="Straight Arrow Connector 8">
            <a:extLst>
              <a:ext uri="{FF2B5EF4-FFF2-40B4-BE49-F238E27FC236}">
                <a16:creationId xmlns:a16="http://schemas.microsoft.com/office/drawing/2014/main" id="{38B09BE4-4E90-9B4D-BD67-584078140AC0}"/>
              </a:ext>
            </a:extLst>
          </p:cNvPr>
          <p:cNvCxnSpPr>
            <a:cxnSpLocks/>
            <a:stCxn id="6" idx="2"/>
            <a:endCxn id="33" idx="1"/>
          </p:cNvCxnSpPr>
          <p:nvPr/>
        </p:nvCxnSpPr>
        <p:spPr>
          <a:xfrm flipH="1">
            <a:off x="5878088" y="3359383"/>
            <a:ext cx="92733" cy="41325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grpSp>
        <p:nvGrpSpPr>
          <p:cNvPr id="11" name="Group 10">
            <a:extLst>
              <a:ext uri="{FF2B5EF4-FFF2-40B4-BE49-F238E27FC236}">
                <a16:creationId xmlns:a16="http://schemas.microsoft.com/office/drawing/2014/main" id="{FFCC3189-7B01-1040-8C0C-7404FDDE55B6}"/>
              </a:ext>
            </a:extLst>
          </p:cNvPr>
          <p:cNvGrpSpPr/>
          <p:nvPr/>
        </p:nvGrpSpPr>
        <p:grpSpPr>
          <a:xfrm>
            <a:off x="2406950" y="1573612"/>
            <a:ext cx="2703368" cy="731520"/>
            <a:chOff x="933708" y="2623957"/>
            <a:chExt cx="2703368" cy="731520"/>
          </a:xfrm>
        </p:grpSpPr>
        <p:pic>
          <p:nvPicPr>
            <p:cNvPr id="13" name="Graphic 12" descr="Smart Phone with solid fill">
              <a:extLst>
                <a:ext uri="{FF2B5EF4-FFF2-40B4-BE49-F238E27FC236}">
                  <a16:creationId xmlns:a16="http://schemas.microsoft.com/office/drawing/2014/main" id="{6A793FD8-D4D0-984B-8DAB-F15F82E424DE}"/>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427030" y="2623957"/>
              <a:ext cx="731520" cy="731520"/>
            </a:xfrm>
            <a:prstGeom prst="rect">
              <a:avLst/>
            </a:prstGeom>
          </p:spPr>
        </p:pic>
        <p:pic>
          <p:nvPicPr>
            <p:cNvPr id="14" name="Graphic 13" descr="Browser window with solid fill">
              <a:extLst>
                <a:ext uri="{FF2B5EF4-FFF2-40B4-BE49-F238E27FC236}">
                  <a16:creationId xmlns:a16="http://schemas.microsoft.com/office/drawing/2014/main" id="{C5DD6D6C-49C7-2A49-B822-5EF1F49445D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905556" y="2623957"/>
              <a:ext cx="731520" cy="731520"/>
            </a:xfrm>
            <a:prstGeom prst="rect">
              <a:avLst/>
            </a:prstGeom>
          </p:spPr>
        </p:pic>
        <p:pic>
          <p:nvPicPr>
            <p:cNvPr id="15" name="Graphic 14" descr="Male profile with solid fill">
              <a:extLst>
                <a:ext uri="{FF2B5EF4-FFF2-40B4-BE49-F238E27FC236}">
                  <a16:creationId xmlns:a16="http://schemas.microsoft.com/office/drawing/2014/main" id="{36D26864-2164-6741-99F4-276E5A523375}"/>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33708" y="2623957"/>
              <a:ext cx="731520" cy="731520"/>
            </a:xfrm>
            <a:prstGeom prst="rect">
              <a:avLst/>
            </a:prstGeom>
          </p:spPr>
        </p:pic>
        <p:pic>
          <p:nvPicPr>
            <p:cNvPr id="16" name="Graphic 15" descr="Female Profile with solid fill">
              <a:extLst>
                <a:ext uri="{FF2B5EF4-FFF2-40B4-BE49-F238E27FC236}">
                  <a16:creationId xmlns:a16="http://schemas.microsoft.com/office/drawing/2014/main" id="{BAE73D75-BFF0-E040-A185-B1DA2F0DFDCA}"/>
                </a:ext>
              </a:extLst>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174036" y="2623957"/>
              <a:ext cx="731520" cy="731520"/>
            </a:xfrm>
            <a:prstGeom prst="rect">
              <a:avLst/>
            </a:prstGeom>
          </p:spPr>
        </p:pic>
      </p:grpSp>
      <p:pic>
        <p:nvPicPr>
          <p:cNvPr id="18" name="Graphic 17" descr="Delivery with solid fill">
            <a:extLst>
              <a:ext uri="{FF2B5EF4-FFF2-40B4-BE49-F238E27FC236}">
                <a16:creationId xmlns:a16="http://schemas.microsoft.com/office/drawing/2014/main" id="{6B2DF1DC-3B9D-194A-821A-BD042E463971}"/>
              </a:ext>
            </a:extLst>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5537830" y="1573612"/>
            <a:ext cx="731520" cy="731520"/>
          </a:xfrm>
          <a:prstGeom prst="rect">
            <a:avLst/>
          </a:prstGeom>
        </p:spPr>
      </p:pic>
      <p:grpSp>
        <p:nvGrpSpPr>
          <p:cNvPr id="23" name="Group 22">
            <a:extLst>
              <a:ext uri="{FF2B5EF4-FFF2-40B4-BE49-F238E27FC236}">
                <a16:creationId xmlns:a16="http://schemas.microsoft.com/office/drawing/2014/main" id="{3E170958-5168-544D-810B-DC6BB629A618}"/>
              </a:ext>
            </a:extLst>
          </p:cNvPr>
          <p:cNvGrpSpPr/>
          <p:nvPr/>
        </p:nvGrpSpPr>
        <p:grpSpPr>
          <a:xfrm>
            <a:off x="6631648" y="1573612"/>
            <a:ext cx="2236057" cy="731520"/>
            <a:chOff x="6115463" y="2623957"/>
            <a:chExt cx="2236057" cy="731520"/>
          </a:xfrm>
        </p:grpSpPr>
        <p:pic>
          <p:nvPicPr>
            <p:cNvPr id="25" name="Graphic 24" descr="Scatterplot with solid fill">
              <a:extLst>
                <a:ext uri="{FF2B5EF4-FFF2-40B4-BE49-F238E27FC236}">
                  <a16:creationId xmlns:a16="http://schemas.microsoft.com/office/drawing/2014/main" id="{9ECE1067-B4DE-264A-B91B-A70FBDB829D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867731" y="2623957"/>
              <a:ext cx="731520" cy="731520"/>
            </a:xfrm>
            <a:prstGeom prst="rect">
              <a:avLst/>
            </a:prstGeom>
          </p:spPr>
        </p:pic>
        <p:pic>
          <p:nvPicPr>
            <p:cNvPr id="26" name="Graphic 25" descr="Gauge outline">
              <a:extLst>
                <a:ext uri="{FF2B5EF4-FFF2-40B4-BE49-F238E27FC236}">
                  <a16:creationId xmlns:a16="http://schemas.microsoft.com/office/drawing/2014/main" id="{E6115541-52D7-DB49-9DFB-06FA5BF33C4A}"/>
                </a:ext>
              </a:extLst>
            </p:cNvPr>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7620000" y="2623957"/>
              <a:ext cx="731520" cy="731520"/>
            </a:xfrm>
            <a:prstGeom prst="rect">
              <a:avLst/>
            </a:prstGeom>
          </p:spPr>
        </p:pic>
        <p:pic>
          <p:nvPicPr>
            <p:cNvPr id="27" name="Graphic 26" descr="Office worker female outline">
              <a:extLst>
                <a:ext uri="{FF2B5EF4-FFF2-40B4-BE49-F238E27FC236}">
                  <a16:creationId xmlns:a16="http://schemas.microsoft.com/office/drawing/2014/main" id="{CA6B53BD-D514-7D49-BC0F-C84529241EA5}"/>
                </a:ext>
              </a:extLst>
            </p:cNvPr>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6115463" y="2623957"/>
              <a:ext cx="731520" cy="731520"/>
            </a:xfrm>
            <a:prstGeom prst="rect">
              <a:avLst/>
            </a:prstGeom>
          </p:spPr>
        </p:pic>
      </p:grpSp>
      <p:pic>
        <p:nvPicPr>
          <p:cNvPr id="28" name="Graphic 27" descr="Server outline">
            <a:extLst>
              <a:ext uri="{FF2B5EF4-FFF2-40B4-BE49-F238E27FC236}">
                <a16:creationId xmlns:a16="http://schemas.microsoft.com/office/drawing/2014/main" id="{17EC9E87-0AF6-CC4D-8D26-6996C0D3719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50081" y="2582143"/>
            <a:ext cx="777240" cy="777240"/>
          </a:xfrm>
          <a:prstGeom prst="rect">
            <a:avLst/>
          </a:prstGeom>
        </p:spPr>
      </p:pic>
      <p:sp>
        <p:nvSpPr>
          <p:cNvPr id="29" name="Rectangle 28">
            <a:extLst>
              <a:ext uri="{FF2B5EF4-FFF2-40B4-BE49-F238E27FC236}">
                <a16:creationId xmlns:a16="http://schemas.microsoft.com/office/drawing/2014/main" id="{6AB3ADFE-14CE-A640-9C12-5CC33B49D3F2}"/>
              </a:ext>
            </a:extLst>
          </p:cNvPr>
          <p:cNvSpPr/>
          <p:nvPr/>
        </p:nvSpPr>
        <p:spPr>
          <a:xfrm>
            <a:off x="7649866" y="2647597"/>
            <a:ext cx="1704158" cy="646331"/>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App Software/</a:t>
            </a:r>
          </a:p>
          <a:p>
            <a:pPr algn="ctr"/>
            <a:r>
              <a:rPr lang="en-US" dirty="0">
                <a:latin typeface="Arial" panose="020B0604020202020204" pitchFamily="34" charset="0"/>
                <a:cs typeface="Arial" panose="020B0604020202020204" pitchFamily="34" charset="0"/>
              </a:rPr>
              <a:t>Servers</a:t>
            </a:r>
          </a:p>
        </p:txBody>
      </p:sp>
      <p:cxnSp>
        <p:nvCxnSpPr>
          <p:cNvPr id="31" name="Straight Arrow Connector 30">
            <a:extLst>
              <a:ext uri="{FF2B5EF4-FFF2-40B4-BE49-F238E27FC236}">
                <a16:creationId xmlns:a16="http://schemas.microsoft.com/office/drawing/2014/main" id="{34116870-4CA8-DC4B-926F-028B20B11D5A}"/>
              </a:ext>
            </a:extLst>
          </p:cNvPr>
          <p:cNvCxnSpPr>
            <a:cxnSpLocks/>
            <a:stCxn id="28" idx="2"/>
            <a:endCxn id="33" idx="1"/>
          </p:cNvCxnSpPr>
          <p:nvPr/>
        </p:nvCxnSpPr>
        <p:spPr>
          <a:xfrm flipH="1">
            <a:off x="5878088" y="3359383"/>
            <a:ext cx="1560613" cy="413256"/>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3" name="Can 32">
            <a:extLst>
              <a:ext uri="{FF2B5EF4-FFF2-40B4-BE49-F238E27FC236}">
                <a16:creationId xmlns:a16="http://schemas.microsoft.com/office/drawing/2014/main" id="{0563237D-8AD8-CC49-BA57-D1EC5CCF858A}"/>
              </a:ext>
            </a:extLst>
          </p:cNvPr>
          <p:cNvSpPr/>
          <p:nvPr/>
        </p:nvSpPr>
        <p:spPr>
          <a:xfrm>
            <a:off x="4868587" y="3772639"/>
            <a:ext cx="2019002" cy="1417189"/>
          </a:xfrm>
          <a:prstGeom prst="can">
            <a:avLst>
              <a:gd name="adj" fmla="val 25000"/>
            </a:avLst>
          </a:prstGeom>
          <a:noFill/>
          <a:ln w="34925">
            <a:solidFill>
              <a:schemeClr val="tx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 name="Straight Arrow Connector 33">
            <a:extLst>
              <a:ext uri="{FF2B5EF4-FFF2-40B4-BE49-F238E27FC236}">
                <a16:creationId xmlns:a16="http://schemas.microsoft.com/office/drawing/2014/main" id="{B9960781-FF18-9642-A86D-C815CFCB13EE}"/>
              </a:ext>
            </a:extLst>
          </p:cNvPr>
          <p:cNvCxnSpPr>
            <a:cxnSpLocks/>
          </p:cNvCxnSpPr>
          <p:nvPr/>
        </p:nvCxnSpPr>
        <p:spPr>
          <a:xfrm>
            <a:off x="5970821" y="2332994"/>
            <a:ext cx="0" cy="2770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5" name="Straight Arrow Connector 34">
            <a:extLst>
              <a:ext uri="{FF2B5EF4-FFF2-40B4-BE49-F238E27FC236}">
                <a16:creationId xmlns:a16="http://schemas.microsoft.com/office/drawing/2014/main" id="{48A0CF78-7BB5-9243-B618-7BD691C5D63B}"/>
              </a:ext>
            </a:extLst>
          </p:cNvPr>
          <p:cNvCxnSpPr>
            <a:cxnSpLocks/>
          </p:cNvCxnSpPr>
          <p:nvPr/>
        </p:nvCxnSpPr>
        <p:spPr>
          <a:xfrm>
            <a:off x="7441339" y="2332994"/>
            <a:ext cx="0" cy="2770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6" name="Straight Arrow Connector 35">
            <a:extLst>
              <a:ext uri="{FF2B5EF4-FFF2-40B4-BE49-F238E27FC236}">
                <a16:creationId xmlns:a16="http://schemas.microsoft.com/office/drawing/2014/main" id="{9E86A8C2-472D-C34B-BEB1-D59FEFC42267}"/>
              </a:ext>
            </a:extLst>
          </p:cNvPr>
          <p:cNvCxnSpPr>
            <a:cxnSpLocks/>
          </p:cNvCxnSpPr>
          <p:nvPr/>
        </p:nvCxnSpPr>
        <p:spPr>
          <a:xfrm>
            <a:off x="4705425" y="2332994"/>
            <a:ext cx="0" cy="2770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cxnSp>
        <p:nvCxnSpPr>
          <p:cNvPr id="37" name="Straight Arrow Connector 36">
            <a:extLst>
              <a:ext uri="{FF2B5EF4-FFF2-40B4-BE49-F238E27FC236}">
                <a16:creationId xmlns:a16="http://schemas.microsoft.com/office/drawing/2014/main" id="{91C6FF61-453E-C846-9229-B54730EF40F7}"/>
              </a:ext>
            </a:extLst>
          </p:cNvPr>
          <p:cNvCxnSpPr>
            <a:cxnSpLocks/>
          </p:cNvCxnSpPr>
          <p:nvPr/>
        </p:nvCxnSpPr>
        <p:spPr>
          <a:xfrm>
            <a:off x="3669556" y="2332994"/>
            <a:ext cx="0" cy="277011"/>
          </a:xfrm>
          <a:prstGeom prst="straightConnector1">
            <a:avLst/>
          </a:prstGeom>
          <a:ln>
            <a:solidFill>
              <a:schemeClr val="tx1"/>
            </a:solidFill>
            <a:tailEnd type="triangle"/>
          </a:ln>
          <a:effectLst/>
        </p:spPr>
        <p:style>
          <a:lnRef idx="2">
            <a:schemeClr val="accent1"/>
          </a:lnRef>
          <a:fillRef idx="0">
            <a:schemeClr val="accent1"/>
          </a:fillRef>
          <a:effectRef idx="1">
            <a:schemeClr val="accent1"/>
          </a:effectRef>
          <a:fontRef idx="minor">
            <a:schemeClr val="tx1"/>
          </a:fontRef>
        </p:style>
      </p:cxnSp>
      <p:sp>
        <p:nvSpPr>
          <p:cNvPr id="38" name="Rectangle 37">
            <a:extLst>
              <a:ext uri="{FF2B5EF4-FFF2-40B4-BE49-F238E27FC236}">
                <a16:creationId xmlns:a16="http://schemas.microsoft.com/office/drawing/2014/main" id="{21BD0B2D-462C-E749-8A7C-3ACD2C82F6E4}"/>
              </a:ext>
            </a:extLst>
          </p:cNvPr>
          <p:cNvSpPr/>
          <p:nvPr/>
        </p:nvSpPr>
        <p:spPr>
          <a:xfrm>
            <a:off x="4977630" y="4785557"/>
            <a:ext cx="1800915" cy="369332"/>
          </a:xfrm>
          <a:prstGeom prst="rect">
            <a:avLst/>
          </a:prstGeom>
        </p:spPr>
        <p:txBody>
          <a:bodyPr wrap="square">
            <a:spAutoFit/>
          </a:bodyPr>
          <a:lstStyle/>
          <a:p>
            <a:pPr algn="ctr"/>
            <a:r>
              <a:rPr lang="en-US" dirty="0">
                <a:latin typeface="Arial" panose="020B0604020202020204" pitchFamily="34" charset="0"/>
                <a:cs typeface="Arial" panose="020B0604020202020204" pitchFamily="34" charset="0"/>
              </a:rPr>
              <a:t>DBMS</a:t>
            </a:r>
          </a:p>
        </p:txBody>
      </p:sp>
      <p:sp>
        <p:nvSpPr>
          <p:cNvPr id="39" name="Rectangle 38">
            <a:extLst>
              <a:ext uri="{FF2B5EF4-FFF2-40B4-BE49-F238E27FC236}">
                <a16:creationId xmlns:a16="http://schemas.microsoft.com/office/drawing/2014/main" id="{1E7AA340-A4F7-834B-BAA0-D6F43682D925}"/>
              </a:ext>
            </a:extLst>
          </p:cNvPr>
          <p:cNvSpPr/>
          <p:nvPr/>
        </p:nvSpPr>
        <p:spPr>
          <a:xfrm>
            <a:off x="24648" y="1610888"/>
            <a:ext cx="1704158"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1: Application End Users</a:t>
            </a:r>
          </a:p>
        </p:txBody>
      </p:sp>
      <p:sp>
        <p:nvSpPr>
          <p:cNvPr id="41" name="Rectangle 40">
            <a:extLst>
              <a:ext uri="{FF2B5EF4-FFF2-40B4-BE49-F238E27FC236}">
                <a16:creationId xmlns:a16="http://schemas.microsoft.com/office/drawing/2014/main" id="{EE7B38A0-1EB7-7B4B-82C6-185228EAF267}"/>
              </a:ext>
            </a:extLst>
          </p:cNvPr>
          <p:cNvSpPr/>
          <p:nvPr/>
        </p:nvSpPr>
        <p:spPr>
          <a:xfrm>
            <a:off x="24648" y="2630405"/>
            <a:ext cx="2705038"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2. App Developers: DBMS Users</a:t>
            </a:r>
          </a:p>
        </p:txBody>
      </p:sp>
      <p:sp>
        <p:nvSpPr>
          <p:cNvPr id="42" name="Rectangle 41">
            <a:extLst>
              <a:ext uri="{FF2B5EF4-FFF2-40B4-BE49-F238E27FC236}">
                <a16:creationId xmlns:a16="http://schemas.microsoft.com/office/drawing/2014/main" id="{AB62D72D-D00A-B24A-9108-6BB9DC473672}"/>
              </a:ext>
            </a:extLst>
          </p:cNvPr>
          <p:cNvSpPr/>
          <p:nvPr/>
        </p:nvSpPr>
        <p:spPr>
          <a:xfrm>
            <a:off x="24648" y="3666417"/>
            <a:ext cx="3545574" cy="923330"/>
          </a:xfrm>
          <a:prstGeom prst="rect">
            <a:avLst/>
          </a:prstGeom>
        </p:spPr>
        <p:txBody>
          <a:bodyPr wrap="square">
            <a:spAutoFit/>
          </a:bodyPr>
          <a:lstStyle/>
          <a:p>
            <a:r>
              <a:rPr lang="en-US" dirty="0">
                <a:latin typeface="Arial" panose="020B0604020202020204" pitchFamily="34" charset="0"/>
                <a:cs typeface="Arial" panose="020B0604020202020204" pitchFamily="34" charset="0"/>
              </a:rPr>
              <a:t>3. DBMS Administrator: Person who maintains the DBMS when it serves multiple applications</a:t>
            </a:r>
          </a:p>
        </p:txBody>
      </p:sp>
      <p:sp>
        <p:nvSpPr>
          <p:cNvPr id="43" name="Rectangle 42">
            <a:extLst>
              <a:ext uri="{FF2B5EF4-FFF2-40B4-BE49-F238E27FC236}">
                <a16:creationId xmlns:a16="http://schemas.microsoft.com/office/drawing/2014/main" id="{F3115C80-3E8A-F442-AC77-FF45223068AE}"/>
              </a:ext>
            </a:extLst>
          </p:cNvPr>
          <p:cNvSpPr/>
          <p:nvPr/>
        </p:nvSpPr>
        <p:spPr>
          <a:xfrm>
            <a:off x="24648" y="4777758"/>
            <a:ext cx="3830660" cy="646331"/>
          </a:xfrm>
          <a:prstGeom prst="rect">
            <a:avLst/>
          </a:prstGeom>
        </p:spPr>
        <p:txBody>
          <a:bodyPr wrap="square">
            <a:spAutoFit/>
          </a:bodyPr>
          <a:lstStyle/>
          <a:p>
            <a:r>
              <a:rPr lang="en-US" dirty="0">
                <a:latin typeface="Arial" panose="020B0604020202020204" pitchFamily="34" charset="0"/>
                <a:cs typeface="Arial" panose="020B0604020202020204" pitchFamily="34" charset="0"/>
              </a:rPr>
              <a:t>4. DBMS Architect: Person who actually implements the DBMS</a:t>
            </a:r>
          </a:p>
        </p:txBody>
      </p:sp>
      <p:sp>
        <p:nvSpPr>
          <p:cNvPr id="44" name="Rounded Rectangle 43">
            <a:extLst>
              <a:ext uri="{FF2B5EF4-FFF2-40B4-BE49-F238E27FC236}">
                <a16:creationId xmlns:a16="http://schemas.microsoft.com/office/drawing/2014/main" id="{6128CA3E-01F6-584F-A97A-9406D5BF1F49}"/>
              </a:ext>
            </a:extLst>
          </p:cNvPr>
          <p:cNvSpPr/>
          <p:nvPr/>
        </p:nvSpPr>
        <p:spPr>
          <a:xfrm>
            <a:off x="24648" y="2668752"/>
            <a:ext cx="2111117" cy="640663"/>
          </a:xfrm>
          <a:prstGeom prst="roundRect">
            <a:avLst/>
          </a:prstGeom>
          <a:noFill/>
          <a:ln w="349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Rounded Rectangle 45">
            <a:extLst>
              <a:ext uri="{FF2B5EF4-FFF2-40B4-BE49-F238E27FC236}">
                <a16:creationId xmlns:a16="http://schemas.microsoft.com/office/drawing/2014/main" id="{F730D817-FD5B-6D4E-B12F-1C9C2A9D5911}"/>
              </a:ext>
            </a:extLst>
          </p:cNvPr>
          <p:cNvSpPr/>
          <p:nvPr/>
        </p:nvSpPr>
        <p:spPr>
          <a:xfrm>
            <a:off x="24648" y="3659436"/>
            <a:ext cx="3545574" cy="923330"/>
          </a:xfrm>
          <a:prstGeom prst="roundRect">
            <a:avLst/>
          </a:prstGeom>
          <a:noFill/>
          <a:ln w="349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ounded Rectangle 46">
            <a:extLst>
              <a:ext uri="{FF2B5EF4-FFF2-40B4-BE49-F238E27FC236}">
                <a16:creationId xmlns:a16="http://schemas.microsoft.com/office/drawing/2014/main" id="{82B91094-13E7-5F48-9606-D8D009CA5698}"/>
              </a:ext>
            </a:extLst>
          </p:cNvPr>
          <p:cNvSpPr/>
          <p:nvPr/>
        </p:nvSpPr>
        <p:spPr>
          <a:xfrm>
            <a:off x="52442" y="4777758"/>
            <a:ext cx="3802866" cy="646331"/>
          </a:xfrm>
          <a:prstGeom prst="roundRect">
            <a:avLst/>
          </a:prstGeom>
          <a:noFill/>
          <a:ln w="3492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6E2B4A12-E163-6C47-A959-E4AA9F8EF51F}"/>
              </a:ext>
            </a:extLst>
          </p:cNvPr>
          <p:cNvSpPr txBox="1"/>
          <p:nvPr/>
        </p:nvSpPr>
        <p:spPr>
          <a:xfrm>
            <a:off x="148281" y="5502297"/>
            <a:ext cx="8943277" cy="1323439"/>
          </a:xfrm>
          <a:prstGeom prst="rect">
            <a:avLst/>
          </a:prstGeom>
          <a:noFill/>
        </p:spPr>
        <p:txBody>
          <a:bodyPr wrap="square" rtlCol="0">
            <a:spAutoFit/>
          </a:bodyPr>
          <a:lstStyle/>
          <a:p>
            <a:pPr marL="457200" indent="-457200">
              <a:buFont typeface="Wingdings" pitchFamily="2" charset="2"/>
              <a:buChar char="Ø"/>
            </a:pPr>
            <a:r>
              <a:rPr lang="en-US" sz="2000" dirty="0">
                <a:latin typeface="Arial" panose="020B0604020202020204" pitchFamily="34" charset="0"/>
                <a:cs typeface="Arial" panose="020B0604020202020204" pitchFamily="34" charset="0"/>
              </a:rPr>
              <a:t>Won’t differentiate between 2&amp;3</a:t>
            </a:r>
          </a:p>
          <a:p>
            <a:pPr marL="914400" lvl="1" indent="-457200">
              <a:buFont typeface="Wingdings" pitchFamily="2" charset="2"/>
              <a:buChar char="Ø"/>
            </a:pPr>
            <a:r>
              <a:rPr lang="en-US" sz="2000" dirty="0">
                <a:latin typeface="Arial" panose="020B0604020202020204" pitchFamily="34" charset="0"/>
                <a:cs typeface="Arial" panose="020B0604020202020204" pitchFamily="34" charset="0"/>
              </a:rPr>
              <a:t>~2/3</a:t>
            </a:r>
            <a:r>
              <a:rPr lang="en-US" sz="2000" baseline="30000" dirty="0">
                <a:latin typeface="Arial" panose="020B0604020202020204" pitchFamily="34" charset="0"/>
                <a:cs typeface="Arial" panose="020B0604020202020204" pitchFamily="34" charset="0"/>
              </a:rPr>
              <a:t>rd</a:t>
            </a:r>
            <a:r>
              <a:rPr lang="en-US" sz="2000" dirty="0">
                <a:latin typeface="Arial" panose="020B0604020202020204" pitchFamily="34" charset="0"/>
                <a:cs typeface="Arial" panose="020B0604020202020204" pitchFamily="34" charset="0"/>
              </a:rPr>
              <a:t> from the perspective of app developers</a:t>
            </a:r>
          </a:p>
          <a:p>
            <a:pPr marL="914400" lvl="1" indent="-457200">
              <a:buFont typeface="Wingdings" pitchFamily="2" charset="2"/>
              <a:buChar char="Ø"/>
            </a:pPr>
            <a:r>
              <a:rPr lang="en-US" sz="2000" dirty="0">
                <a:latin typeface="Arial" panose="020B0604020202020204" pitchFamily="34" charset="0"/>
                <a:cs typeface="Arial" panose="020B0604020202020204" pitchFamily="34" charset="0"/>
              </a:rPr>
              <a:t>~1/3</a:t>
            </a:r>
            <a:r>
              <a:rPr lang="en-US" sz="2000" baseline="30000" dirty="0">
                <a:latin typeface="Arial" panose="020B0604020202020204" pitchFamily="34" charset="0"/>
                <a:cs typeface="Arial" panose="020B0604020202020204" pitchFamily="34" charset="0"/>
              </a:rPr>
              <a:t>rd</a:t>
            </a:r>
            <a:r>
              <a:rPr lang="en-US" sz="2000" dirty="0">
                <a:latin typeface="Arial" panose="020B0604020202020204" pitchFamily="34" charset="0"/>
                <a:cs typeface="Arial" panose="020B0604020202020204" pitchFamily="34" charset="0"/>
              </a:rPr>
              <a:t> on DBMS internals and architecture</a:t>
            </a:r>
          </a:p>
          <a:p>
            <a:pPr marL="457200" indent="-457200">
              <a:buFont typeface="Wingdings" pitchFamily="2" charset="2"/>
              <a:buChar char="Ø"/>
            </a:pPr>
            <a:r>
              <a:rPr lang="en-US" sz="2000" dirty="0">
                <a:latin typeface="Arial" panose="020B0604020202020204" pitchFamily="34" charset="0"/>
                <a:cs typeface="Arial" panose="020B0604020202020204" pitchFamily="34" charset="0"/>
              </a:rPr>
              <a:t>Want to learn more about internals of DBMSs: CS 448</a:t>
            </a:r>
          </a:p>
        </p:txBody>
      </p:sp>
      <p:pic>
        <p:nvPicPr>
          <p:cNvPr id="52" name="Graphic 51" descr="Document outline">
            <a:extLst>
              <a:ext uri="{FF2B5EF4-FFF2-40B4-BE49-F238E27FC236}">
                <a16:creationId xmlns:a16="http://schemas.microsoft.com/office/drawing/2014/main" id="{ED51F09F-B1F9-5746-929B-2EB160CF0B22}"/>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4888044" y="4143028"/>
            <a:ext cx="556096" cy="556096"/>
          </a:xfrm>
          <a:prstGeom prst="rect">
            <a:avLst/>
          </a:prstGeom>
        </p:spPr>
      </p:pic>
      <p:pic>
        <p:nvPicPr>
          <p:cNvPr id="53" name="Graphic 52" descr="Document outline">
            <a:extLst>
              <a:ext uri="{FF2B5EF4-FFF2-40B4-BE49-F238E27FC236}">
                <a16:creationId xmlns:a16="http://schemas.microsoft.com/office/drawing/2014/main" id="{7510FE2C-EAC8-B741-AB35-66108ACB5ADE}"/>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463597" y="4143028"/>
            <a:ext cx="556096" cy="556096"/>
          </a:xfrm>
          <a:prstGeom prst="rect">
            <a:avLst/>
          </a:prstGeom>
        </p:spPr>
      </p:pic>
      <p:pic>
        <p:nvPicPr>
          <p:cNvPr id="54" name="Graphic 53" descr="Document outline">
            <a:extLst>
              <a:ext uri="{FF2B5EF4-FFF2-40B4-BE49-F238E27FC236}">
                <a16:creationId xmlns:a16="http://schemas.microsoft.com/office/drawing/2014/main" id="{7EC4B90C-FB42-2E4A-903F-AA95163782BC}"/>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5937202" y="4143028"/>
            <a:ext cx="556096" cy="556096"/>
          </a:xfrm>
          <a:prstGeom prst="rect">
            <a:avLst/>
          </a:prstGeom>
        </p:spPr>
      </p:pic>
      <p:pic>
        <p:nvPicPr>
          <p:cNvPr id="55" name="Graphic 54" descr="Document outline">
            <a:extLst>
              <a:ext uri="{FF2B5EF4-FFF2-40B4-BE49-F238E27FC236}">
                <a16:creationId xmlns:a16="http://schemas.microsoft.com/office/drawing/2014/main" id="{B40D81DB-A5C4-0D47-93D7-23601AF2C00E}"/>
              </a:ext>
            </a:extLst>
          </p:cNvPr>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6384752" y="4143028"/>
            <a:ext cx="556096" cy="556096"/>
          </a:xfrm>
          <a:prstGeom prst="rect">
            <a:avLst/>
          </a:prstGeom>
        </p:spPr>
      </p:pic>
    </p:spTree>
    <p:extLst>
      <p:ext uri="{BB962C8B-B14F-4D97-AF65-F5344CB8AC3E}">
        <p14:creationId xmlns:p14="http://schemas.microsoft.com/office/powerpoint/2010/main" val="1172826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6"/>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8">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48">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8">
                                            <p:txEl>
                                              <p:pRg st="2" end="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8">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P spid="41" grpId="0"/>
      <p:bldP spid="42" grpId="0"/>
      <p:bldP spid="43" grpId="0"/>
      <p:bldP spid="44" grpId="0" animBg="1"/>
      <p:bldP spid="46" grpId="0" animBg="1"/>
      <p:bldP spid="4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716691" y="1137154"/>
            <a:ext cx="8007179" cy="2877155"/>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ounded Rectangle 5"/>
          <p:cNvSpPr/>
          <p:nvPr/>
        </p:nvSpPr>
        <p:spPr>
          <a:xfrm>
            <a:off x="716691" y="4087284"/>
            <a:ext cx="3990463" cy="1777367"/>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p:cNvSpPr txBox="1"/>
          <p:nvPr/>
        </p:nvSpPr>
        <p:spPr>
          <a:xfrm>
            <a:off x="1491339" y="1210129"/>
            <a:ext cx="5536909" cy="369332"/>
          </a:xfrm>
          <a:prstGeom prst="rect">
            <a:avLst/>
          </a:prstGeom>
          <a:noFill/>
        </p:spPr>
        <p:txBody>
          <a:bodyPr wrap="square" rtlCol="0">
            <a:spAutoFit/>
          </a:bodyPr>
          <a:lstStyle/>
          <a:p>
            <a:pPr algn="ctr"/>
            <a:r>
              <a:rPr lang="en-US" dirty="0">
                <a:solidFill>
                  <a:srgbClr val="FF0000"/>
                </a:solidFill>
                <a:latin typeface="Chalkboard"/>
                <a:cs typeface="Chalkboard"/>
              </a:rPr>
              <a:t>User/Administrator Perspective</a:t>
            </a:r>
          </a:p>
        </p:txBody>
      </p:sp>
      <p:sp>
        <p:nvSpPr>
          <p:cNvPr id="11" name="TextBox 10"/>
          <p:cNvSpPr txBox="1"/>
          <p:nvPr/>
        </p:nvSpPr>
        <p:spPr>
          <a:xfrm>
            <a:off x="895657" y="4122965"/>
            <a:ext cx="3547151" cy="646331"/>
          </a:xfrm>
          <a:prstGeom prst="rect">
            <a:avLst/>
          </a:prstGeom>
          <a:noFill/>
        </p:spPr>
        <p:txBody>
          <a:bodyPr wrap="square" rtlCol="0">
            <a:spAutoFit/>
          </a:bodyPr>
          <a:lstStyle/>
          <a:p>
            <a:pPr algn="ctr"/>
            <a:r>
              <a:rPr lang="en-US" dirty="0">
                <a:solidFill>
                  <a:srgbClr val="FF0000"/>
                </a:solidFill>
                <a:latin typeface="Chalkboard"/>
                <a:cs typeface="Chalkboard"/>
              </a:rPr>
              <a:t>DBMS Architect/Implementer Perspective</a:t>
            </a:r>
          </a:p>
        </p:txBody>
      </p:sp>
      <p:sp>
        <p:nvSpPr>
          <p:cNvPr id="13" name="TextBox 12"/>
          <p:cNvSpPr txBox="1"/>
          <p:nvPr/>
        </p:nvSpPr>
        <p:spPr>
          <a:xfrm>
            <a:off x="843929" y="1579461"/>
            <a:ext cx="3774394" cy="2308324"/>
          </a:xfrm>
          <a:prstGeom prst="rect">
            <a:avLst/>
          </a:prstGeom>
          <a:noFill/>
        </p:spPr>
        <p:txBody>
          <a:bodyPr wrap="square" rtlCol="0">
            <a:spAutoFit/>
          </a:bodyPr>
          <a:lstStyle/>
          <a:p>
            <a:pPr marL="93726" algn="ctr"/>
            <a:r>
              <a:rPr lang="en-US" dirty="0">
                <a:solidFill>
                  <a:srgbClr val="FF0000"/>
                </a:solidFill>
                <a:latin typeface="Chalkboard"/>
                <a:cs typeface="Chalkboard"/>
              </a:rPr>
              <a:t>Primary Database Management System Features</a:t>
            </a:r>
            <a:endParaRPr lang="en-US" dirty="0"/>
          </a:p>
          <a:p>
            <a:pPr marL="285750" indent="-192024">
              <a:buFont typeface="Arial"/>
              <a:buChar char="•"/>
            </a:pPr>
            <a:r>
              <a:rPr lang="en-US" dirty="0"/>
              <a:t>Data Model: Relational Model</a:t>
            </a:r>
          </a:p>
          <a:p>
            <a:pPr marL="285750" indent="-192024">
              <a:buFont typeface="Arial"/>
              <a:buChar char="•"/>
            </a:pPr>
            <a:r>
              <a:rPr lang="en-US" dirty="0"/>
              <a:t>High Level Query Language: Relational Algebra &amp; SQL, </a:t>
            </a:r>
            <a:r>
              <a:rPr lang="en-US" dirty="0" err="1"/>
              <a:t>Datalog</a:t>
            </a:r>
            <a:endParaRPr lang="en-US" dirty="0"/>
          </a:p>
          <a:p>
            <a:pPr marL="285750" indent="-192024">
              <a:buFont typeface="Arial"/>
              <a:buChar char="•"/>
            </a:pPr>
            <a:r>
              <a:rPr lang="en-US" dirty="0"/>
              <a:t>Integrity Constraints</a:t>
            </a:r>
          </a:p>
          <a:p>
            <a:pPr marL="285750" indent="-192024">
              <a:buFont typeface="Arial"/>
              <a:buChar char="•"/>
            </a:pPr>
            <a:r>
              <a:rPr lang="en-US" dirty="0"/>
              <a:t>Indexes/Views</a:t>
            </a:r>
          </a:p>
          <a:p>
            <a:pPr marL="285750" indent="-192024">
              <a:buFont typeface="Arial"/>
              <a:buChar char="•"/>
            </a:pPr>
            <a:r>
              <a:rPr lang="en-US" dirty="0"/>
              <a:t>Transactions</a:t>
            </a:r>
          </a:p>
        </p:txBody>
      </p:sp>
      <p:sp>
        <p:nvSpPr>
          <p:cNvPr id="14" name="TextBox 13"/>
          <p:cNvSpPr txBox="1"/>
          <p:nvPr/>
        </p:nvSpPr>
        <p:spPr>
          <a:xfrm>
            <a:off x="790180" y="4638050"/>
            <a:ext cx="3916974" cy="1200329"/>
          </a:xfrm>
          <a:prstGeom prst="rect">
            <a:avLst/>
          </a:prstGeom>
          <a:noFill/>
        </p:spPr>
        <p:txBody>
          <a:bodyPr wrap="square" rtlCol="0">
            <a:spAutoFit/>
          </a:bodyPr>
          <a:lstStyle/>
          <a:p>
            <a:pPr marL="285750" indent="-192024">
              <a:buFont typeface="Arial"/>
              <a:buChar char="•"/>
            </a:pPr>
            <a:r>
              <a:rPr lang="en-US" dirty="0"/>
              <a:t>Physical Record Design</a:t>
            </a:r>
          </a:p>
          <a:p>
            <a:pPr marL="285750" indent="-192024">
              <a:buFont typeface="Arial"/>
              <a:buChar char="•"/>
            </a:pPr>
            <a:r>
              <a:rPr lang="en-US" dirty="0"/>
              <a:t>Query Planning and Optimization</a:t>
            </a:r>
          </a:p>
          <a:p>
            <a:pPr marL="285750" indent="-192024">
              <a:buFont typeface="Arial"/>
              <a:buChar char="•"/>
            </a:pPr>
            <a:r>
              <a:rPr lang="en-US" dirty="0"/>
              <a:t>Indexes</a:t>
            </a:r>
          </a:p>
          <a:p>
            <a:pPr marL="285750" indent="-192024">
              <a:buFont typeface="Arial"/>
              <a:buChar char="•"/>
            </a:pPr>
            <a:r>
              <a:rPr lang="en-US" dirty="0"/>
              <a:t>Transactions</a:t>
            </a:r>
          </a:p>
        </p:txBody>
      </p:sp>
      <p:sp>
        <p:nvSpPr>
          <p:cNvPr id="18" name="Rounded Rectangle 17"/>
          <p:cNvSpPr/>
          <p:nvPr/>
        </p:nvSpPr>
        <p:spPr>
          <a:xfrm>
            <a:off x="4801157" y="4079018"/>
            <a:ext cx="3725004" cy="1474095"/>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TextBox 18"/>
          <p:cNvSpPr txBox="1"/>
          <p:nvPr/>
        </p:nvSpPr>
        <p:spPr>
          <a:xfrm>
            <a:off x="4940417" y="4101391"/>
            <a:ext cx="3147277" cy="369332"/>
          </a:xfrm>
          <a:prstGeom prst="rect">
            <a:avLst/>
          </a:prstGeom>
          <a:noFill/>
        </p:spPr>
        <p:txBody>
          <a:bodyPr wrap="square" rtlCol="0">
            <a:spAutoFit/>
          </a:bodyPr>
          <a:lstStyle/>
          <a:p>
            <a:r>
              <a:rPr lang="en-US" dirty="0">
                <a:solidFill>
                  <a:srgbClr val="FF0000"/>
                </a:solidFill>
                <a:latin typeface="Chalkboard"/>
                <a:cs typeface="Chalkboard"/>
              </a:rPr>
              <a:t>Other (Last 1/2 Lectures)</a:t>
            </a:r>
          </a:p>
        </p:txBody>
      </p:sp>
      <p:sp>
        <p:nvSpPr>
          <p:cNvPr id="20" name="TextBox 19"/>
          <p:cNvSpPr txBox="1"/>
          <p:nvPr/>
        </p:nvSpPr>
        <p:spPr>
          <a:xfrm>
            <a:off x="4739077" y="4414571"/>
            <a:ext cx="3674121" cy="923330"/>
          </a:xfrm>
          <a:prstGeom prst="rect">
            <a:avLst/>
          </a:prstGeom>
          <a:noFill/>
        </p:spPr>
        <p:txBody>
          <a:bodyPr wrap="square" rtlCol="0">
            <a:spAutoFit/>
          </a:bodyPr>
          <a:lstStyle/>
          <a:p>
            <a:pPr marL="285750" indent="-192024">
              <a:buFont typeface="Arial"/>
              <a:buChar char="•"/>
            </a:pPr>
            <a:r>
              <a:rPr lang="en-US" dirty="0"/>
              <a:t>Graph DBMSs</a:t>
            </a:r>
          </a:p>
          <a:p>
            <a:pPr marL="285750" indent="-192024">
              <a:buFont typeface="Arial"/>
              <a:buChar char="•"/>
            </a:pPr>
            <a:r>
              <a:rPr lang="en-US" dirty="0"/>
              <a:t>MapReduce: Distributed Data Processing Systems</a:t>
            </a:r>
          </a:p>
        </p:txBody>
      </p:sp>
      <p:sp>
        <p:nvSpPr>
          <p:cNvPr id="21" name="TextBox 20"/>
          <p:cNvSpPr txBox="1"/>
          <p:nvPr/>
        </p:nvSpPr>
        <p:spPr>
          <a:xfrm>
            <a:off x="8925" y="93523"/>
            <a:ext cx="7878824" cy="646331"/>
          </a:xfrm>
          <a:prstGeom prst="rect">
            <a:avLst/>
          </a:prstGeom>
          <a:noFill/>
        </p:spPr>
        <p:txBody>
          <a:bodyPr wrap="square" rtlCol="0">
            <a:spAutoFit/>
          </a:bodyPr>
          <a:lstStyle/>
          <a:p>
            <a:r>
              <a:rPr lang="en-US" sz="3600" dirty="0"/>
              <a:t>CS 348 Diagram</a:t>
            </a:r>
          </a:p>
        </p:txBody>
      </p:sp>
      <p:cxnSp>
        <p:nvCxnSpPr>
          <p:cNvPr id="22" name="Straight Connector 21"/>
          <p:cNvCxnSpPr/>
          <p:nvPr/>
        </p:nvCxnSpPr>
        <p:spPr>
          <a:xfrm>
            <a:off x="8925" y="80719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C06C098F-ABA0-EE4A-9035-553F708C2449}"/>
              </a:ext>
            </a:extLst>
          </p:cNvPr>
          <p:cNvSpPr txBox="1"/>
          <p:nvPr/>
        </p:nvSpPr>
        <p:spPr>
          <a:xfrm>
            <a:off x="4618323" y="1592745"/>
            <a:ext cx="3774394" cy="923330"/>
          </a:xfrm>
          <a:prstGeom prst="rect">
            <a:avLst/>
          </a:prstGeom>
          <a:noFill/>
        </p:spPr>
        <p:txBody>
          <a:bodyPr wrap="square" rtlCol="0">
            <a:spAutoFit/>
          </a:bodyPr>
          <a:lstStyle/>
          <a:p>
            <a:pPr marL="93726" algn="ctr"/>
            <a:r>
              <a:rPr lang="en-US" dirty="0">
                <a:solidFill>
                  <a:srgbClr val="FF0000"/>
                </a:solidFill>
                <a:latin typeface="Chalkboard"/>
                <a:cs typeface="Chalkboard"/>
              </a:rPr>
              <a:t>Relational Database Design</a:t>
            </a:r>
            <a:endParaRPr lang="en-US" dirty="0"/>
          </a:p>
          <a:p>
            <a:pPr marL="285750" indent="-192024">
              <a:buFont typeface="Arial"/>
              <a:buChar char="•"/>
            </a:pPr>
            <a:r>
              <a:rPr lang="en-US" dirty="0"/>
              <a:t>E/R Models</a:t>
            </a:r>
          </a:p>
          <a:p>
            <a:pPr marL="285750" indent="-192024">
              <a:buFont typeface="Arial"/>
              <a:buChar char="•"/>
            </a:pPr>
            <a:r>
              <a:rPr lang="en-US" dirty="0"/>
              <a:t>Normal Forms</a:t>
            </a:r>
          </a:p>
        </p:txBody>
      </p:sp>
      <p:sp>
        <p:nvSpPr>
          <p:cNvPr id="15" name="TextBox 14">
            <a:extLst>
              <a:ext uri="{FF2B5EF4-FFF2-40B4-BE49-F238E27FC236}">
                <a16:creationId xmlns:a16="http://schemas.microsoft.com/office/drawing/2014/main" id="{A8557804-943E-4144-8C4C-1CEA51607891}"/>
              </a:ext>
            </a:extLst>
          </p:cNvPr>
          <p:cNvSpPr txBox="1"/>
          <p:nvPr/>
        </p:nvSpPr>
        <p:spPr>
          <a:xfrm>
            <a:off x="4261751" y="2928263"/>
            <a:ext cx="4418088" cy="923330"/>
          </a:xfrm>
          <a:prstGeom prst="rect">
            <a:avLst/>
          </a:prstGeom>
          <a:noFill/>
        </p:spPr>
        <p:txBody>
          <a:bodyPr wrap="square" rtlCol="0">
            <a:spAutoFit/>
          </a:bodyPr>
          <a:lstStyle/>
          <a:p>
            <a:pPr marL="93726" algn="ctr"/>
            <a:r>
              <a:rPr lang="en-US" dirty="0">
                <a:solidFill>
                  <a:srgbClr val="FF0000"/>
                </a:solidFill>
                <a:latin typeface="Chalkboard"/>
                <a:cs typeface="Chalkboard"/>
              </a:rPr>
              <a:t>How To Program A DBMS (0.5-1 lecture)</a:t>
            </a:r>
            <a:endParaRPr lang="en-US" dirty="0"/>
          </a:p>
          <a:p>
            <a:pPr marL="285750" indent="-192024">
              <a:buFont typeface="Arial"/>
              <a:buChar char="•"/>
            </a:pPr>
            <a:r>
              <a:rPr lang="en-US" dirty="0"/>
              <a:t>Embedded vs Dynamic SQL</a:t>
            </a:r>
          </a:p>
          <a:p>
            <a:pPr marL="285750" indent="-192024">
              <a:buFont typeface="Arial"/>
              <a:buChar char="•"/>
            </a:pPr>
            <a:r>
              <a:rPr lang="en-US" dirty="0"/>
              <a:t>Frameworks</a:t>
            </a:r>
          </a:p>
        </p:txBody>
      </p:sp>
    </p:spTree>
    <p:extLst>
      <p:ext uri="{BB962C8B-B14F-4D97-AF65-F5344CB8AC3E}">
        <p14:creationId xmlns:p14="http://schemas.microsoft.com/office/powerpoint/2010/main" val="16345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extBox 20"/>
          <p:cNvSpPr txBox="1"/>
          <p:nvPr/>
        </p:nvSpPr>
        <p:spPr>
          <a:xfrm>
            <a:off x="8925" y="93523"/>
            <a:ext cx="7878824"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Before/After CS 348</a:t>
            </a:r>
          </a:p>
        </p:txBody>
      </p:sp>
      <p:cxnSp>
        <p:nvCxnSpPr>
          <p:cNvPr id="22" name="Straight Connector 21"/>
          <p:cNvCxnSpPr/>
          <p:nvPr/>
        </p:nvCxnSpPr>
        <p:spPr>
          <a:xfrm>
            <a:off x="8925" y="80719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pSp>
        <p:nvGrpSpPr>
          <p:cNvPr id="45" name="Group 44"/>
          <p:cNvGrpSpPr/>
          <p:nvPr/>
        </p:nvGrpSpPr>
        <p:grpSpPr>
          <a:xfrm>
            <a:off x="590639" y="1230229"/>
            <a:ext cx="1729730" cy="5317735"/>
            <a:chOff x="736076" y="1230229"/>
            <a:chExt cx="2121734" cy="5317735"/>
          </a:xfrm>
        </p:grpSpPr>
        <p:sp>
          <p:nvSpPr>
            <p:cNvPr id="2" name="Oval 1"/>
            <p:cNvSpPr/>
            <p:nvPr/>
          </p:nvSpPr>
          <p:spPr>
            <a:xfrm>
              <a:off x="1313386" y="1230229"/>
              <a:ext cx="1298448" cy="1298448"/>
            </a:xfrm>
            <a:prstGeom prst="ellips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Rounded Rectangle 22"/>
            <p:cNvSpPr/>
            <p:nvPr/>
          </p:nvSpPr>
          <p:spPr>
            <a:xfrm>
              <a:off x="1392771" y="4940737"/>
              <a:ext cx="423131" cy="160722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ounded Rectangle 25"/>
            <p:cNvSpPr/>
            <p:nvPr/>
          </p:nvSpPr>
          <p:spPr>
            <a:xfrm>
              <a:off x="2073898" y="4940737"/>
              <a:ext cx="423131" cy="160722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Rounded Rectangle 26"/>
            <p:cNvSpPr/>
            <p:nvPr/>
          </p:nvSpPr>
          <p:spPr>
            <a:xfrm>
              <a:off x="1051833" y="2548519"/>
              <a:ext cx="1805977" cy="289697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ounded Rectangle 35"/>
            <p:cNvSpPr/>
            <p:nvPr/>
          </p:nvSpPr>
          <p:spPr>
            <a:xfrm rot="2459486">
              <a:off x="736076" y="2433707"/>
              <a:ext cx="523391" cy="185113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46" name="Group 45"/>
          <p:cNvGrpSpPr/>
          <p:nvPr/>
        </p:nvGrpSpPr>
        <p:grpSpPr>
          <a:xfrm>
            <a:off x="6428413" y="2344958"/>
            <a:ext cx="1888498" cy="4074573"/>
            <a:chOff x="541324" y="2473391"/>
            <a:chExt cx="2316486" cy="4074573"/>
          </a:xfrm>
        </p:grpSpPr>
        <p:sp>
          <p:nvSpPr>
            <p:cNvPr id="48" name="Rounded Rectangle 47"/>
            <p:cNvSpPr/>
            <p:nvPr/>
          </p:nvSpPr>
          <p:spPr>
            <a:xfrm>
              <a:off x="1392771" y="4940737"/>
              <a:ext cx="423131" cy="160722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Rounded Rectangle 48"/>
            <p:cNvSpPr/>
            <p:nvPr/>
          </p:nvSpPr>
          <p:spPr>
            <a:xfrm>
              <a:off x="2073898" y="4940737"/>
              <a:ext cx="423131" cy="1607227"/>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ounded Rectangle 49"/>
            <p:cNvSpPr/>
            <p:nvPr/>
          </p:nvSpPr>
          <p:spPr>
            <a:xfrm>
              <a:off x="1051833" y="2548519"/>
              <a:ext cx="1805977" cy="2896978"/>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Rounded Rectangle 50"/>
            <p:cNvSpPr/>
            <p:nvPr/>
          </p:nvSpPr>
          <p:spPr>
            <a:xfrm rot="2459486">
              <a:off x="541324" y="2473391"/>
              <a:ext cx="523392" cy="185113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57" name="Smiley Face 56"/>
          <p:cNvSpPr/>
          <p:nvPr/>
        </p:nvSpPr>
        <p:spPr>
          <a:xfrm>
            <a:off x="7035130" y="1145837"/>
            <a:ext cx="1058551" cy="1373186"/>
          </a:xfrm>
          <a:prstGeom prst="smileyFac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Rounded Rectangle 59"/>
          <p:cNvSpPr/>
          <p:nvPr/>
        </p:nvSpPr>
        <p:spPr>
          <a:xfrm rot="18730182">
            <a:off x="2292202" y="2385807"/>
            <a:ext cx="456872" cy="185113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Rounded Rectangle 60"/>
          <p:cNvSpPr/>
          <p:nvPr/>
        </p:nvSpPr>
        <p:spPr>
          <a:xfrm rot="18730182">
            <a:off x="8289472" y="2384124"/>
            <a:ext cx="456872" cy="1851131"/>
          </a:xfrm>
          <a:prstGeom prst="round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0" name="Straight Arrow Connector 29"/>
          <p:cNvCxnSpPr/>
          <p:nvPr/>
        </p:nvCxnSpPr>
        <p:spPr>
          <a:xfrm>
            <a:off x="3630898" y="3501266"/>
            <a:ext cx="1508289" cy="0"/>
          </a:xfrm>
          <a:prstGeom prst="straightConnector1">
            <a:avLst/>
          </a:prstGeom>
          <a:ln w="127000" cmpd="tri">
            <a:tailEnd type="arrow"/>
          </a:ln>
        </p:spPr>
        <p:style>
          <a:lnRef idx="2">
            <a:schemeClr val="accent1"/>
          </a:lnRef>
          <a:fillRef idx="0">
            <a:schemeClr val="accent1"/>
          </a:fillRef>
          <a:effectRef idx="1">
            <a:schemeClr val="accent1"/>
          </a:effectRef>
          <a:fontRef idx="minor">
            <a:schemeClr val="tx1"/>
          </a:fontRef>
        </p:style>
      </p:cxnSp>
      <p:grpSp>
        <p:nvGrpSpPr>
          <p:cNvPr id="4" name="Group 3"/>
          <p:cNvGrpSpPr/>
          <p:nvPr/>
        </p:nvGrpSpPr>
        <p:grpSpPr>
          <a:xfrm>
            <a:off x="2596159" y="3960179"/>
            <a:ext cx="4522080" cy="2520433"/>
            <a:chOff x="2786297" y="3909709"/>
            <a:chExt cx="4522080" cy="2520433"/>
          </a:xfrm>
        </p:grpSpPr>
        <p:sp>
          <p:nvSpPr>
            <p:cNvPr id="64" name="Cube 63"/>
            <p:cNvSpPr/>
            <p:nvPr/>
          </p:nvSpPr>
          <p:spPr>
            <a:xfrm>
              <a:off x="2788454" y="3909709"/>
              <a:ext cx="4519923" cy="2484679"/>
            </a:xfrm>
            <a:prstGeom prst="cube">
              <a:avLst/>
            </a:prstGeom>
            <a:solidFill>
              <a:srgbClr val="C4BD97"/>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Block Arc 64"/>
            <p:cNvSpPr/>
            <p:nvPr/>
          </p:nvSpPr>
          <p:spPr>
            <a:xfrm>
              <a:off x="4595026" y="3957895"/>
              <a:ext cx="734299" cy="626223"/>
            </a:xfrm>
            <a:prstGeom prst="blockArc">
              <a:avLst/>
            </a:prstGeom>
            <a:solidFill>
              <a:schemeClr val="bg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66" name="TextBox 65"/>
            <p:cNvSpPr txBox="1"/>
            <p:nvPr/>
          </p:nvSpPr>
          <p:spPr>
            <a:xfrm>
              <a:off x="2786297" y="4645038"/>
              <a:ext cx="3968082" cy="1785104"/>
            </a:xfrm>
            <a:prstGeom prst="rect">
              <a:avLst/>
            </a:prstGeom>
            <a:noFill/>
          </p:spPr>
          <p:txBody>
            <a:bodyPr wrap="square" rtlCol="0">
              <a:spAutoFit/>
            </a:bodyPr>
            <a:lstStyle/>
            <a:p>
              <a:pPr marL="342900" indent="-342900">
                <a:buFont typeface="Wingdings" pitchFamily="2" charset="2"/>
                <a:buChar char="Ø"/>
              </a:pPr>
              <a:r>
                <a:rPr lang="en-US" sz="2200" dirty="0">
                  <a:latin typeface="Arial" panose="020B0604020202020204" pitchFamily="34" charset="0"/>
                  <a:cs typeface="Arial" panose="020B0604020202020204" pitchFamily="34" charset="0"/>
                </a:rPr>
                <a:t>Relational Model, SQL, </a:t>
              </a:r>
              <a:r>
                <a:rPr lang="en-US" sz="2200" dirty="0" err="1">
                  <a:latin typeface="Arial" panose="020B0604020202020204" pitchFamily="34" charset="0"/>
                  <a:cs typeface="Arial" panose="020B0604020202020204" pitchFamily="34" charset="0"/>
                </a:rPr>
                <a:t>Datalog</a:t>
              </a:r>
              <a:endParaRPr lang="en-US" sz="2200" dirty="0">
                <a:latin typeface="Arial" panose="020B0604020202020204" pitchFamily="34" charset="0"/>
                <a:cs typeface="Arial" panose="020B0604020202020204" pitchFamily="34" charset="0"/>
              </a:endParaRPr>
            </a:p>
            <a:p>
              <a:pPr marL="342900" indent="-342900">
                <a:buFont typeface="Wingdings" pitchFamily="2" charset="2"/>
                <a:buChar char="Ø"/>
              </a:pPr>
              <a:r>
                <a:rPr lang="en-US" sz="2200" dirty="0">
                  <a:latin typeface="Arial" panose="020B0604020202020204" pitchFamily="34" charset="0"/>
                  <a:cs typeface="Arial" panose="020B0604020202020204" pitchFamily="34" charset="0"/>
                </a:rPr>
                <a:t>DB Design &amp; Tuning</a:t>
              </a:r>
            </a:p>
            <a:p>
              <a:pPr marL="342900" indent="-342900">
                <a:buFont typeface="Wingdings" pitchFamily="2" charset="2"/>
                <a:buChar char="Ø"/>
              </a:pPr>
              <a:r>
                <a:rPr lang="en-US" sz="2200" dirty="0">
                  <a:latin typeface="Arial" panose="020B0604020202020204" pitchFamily="34" charset="0"/>
                  <a:cs typeface="Arial" panose="020B0604020202020204" pitchFamily="34" charset="0"/>
                </a:rPr>
                <a:t>Transactions</a:t>
              </a:r>
            </a:p>
            <a:p>
              <a:pPr marL="342900" indent="-342900">
                <a:buFont typeface="Wingdings" pitchFamily="2" charset="2"/>
                <a:buChar char="Ø"/>
              </a:pPr>
              <a:r>
                <a:rPr lang="en-US" sz="2200" dirty="0">
                  <a:latin typeface="Arial" panose="020B0604020202020204" pitchFamily="34" charset="0"/>
                  <a:cs typeface="Arial" panose="020B0604020202020204" pitchFamily="34" charset="0"/>
                </a:rPr>
                <a:t>DB Internal Architecture</a:t>
              </a:r>
            </a:p>
          </p:txBody>
        </p:sp>
      </p:grpSp>
      <p:sp>
        <p:nvSpPr>
          <p:cNvPr id="28" name="Rounded Rectangular Callout 27">
            <a:extLst>
              <a:ext uri="{FF2B5EF4-FFF2-40B4-BE49-F238E27FC236}">
                <a16:creationId xmlns:a16="http://schemas.microsoft.com/office/drawing/2014/main" id="{F07003A8-BA59-104B-A72A-902EE148830C}"/>
              </a:ext>
            </a:extLst>
          </p:cNvPr>
          <p:cNvSpPr/>
          <p:nvPr/>
        </p:nvSpPr>
        <p:spPr>
          <a:xfrm>
            <a:off x="2346522" y="895275"/>
            <a:ext cx="4217719" cy="2295126"/>
          </a:xfrm>
          <a:prstGeom prst="wedgeRoundRectCallout">
            <a:avLst>
              <a:gd name="adj1" fmla="val 61829"/>
              <a:gd name="adj2" fmla="val -5894"/>
              <a:gd name="adj3" fmla="val 16667"/>
            </a:avLst>
          </a:prstGeom>
          <a:solidFill>
            <a:schemeClr val="bg2">
              <a:lumMod val="75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2000" dirty="0">
                <a:solidFill>
                  <a:schemeClr val="tx1"/>
                </a:solidFill>
                <a:latin typeface="Arial" panose="020B0604020202020204" pitchFamily="34" charset="0"/>
                <a:cs typeface="Arial" panose="020B0604020202020204" pitchFamily="34" charset="0"/>
              </a:rPr>
              <a:t>SAP, Oracle, Microsoft, IBM,  Snowflake, Databricks, Neo4j, </a:t>
            </a:r>
            <a:r>
              <a:rPr lang="en-US" sz="2000" dirty="0" err="1">
                <a:solidFill>
                  <a:schemeClr val="tx1"/>
                </a:solidFill>
                <a:latin typeface="Arial" panose="020B0604020202020204" pitchFamily="34" charset="0"/>
                <a:cs typeface="Arial" panose="020B0604020202020204" pitchFamily="34" charset="0"/>
              </a:rPr>
              <a:t>CockroachDB</a:t>
            </a:r>
            <a:r>
              <a:rPr lang="en-US" sz="2000" dirty="0">
                <a:solidFill>
                  <a:schemeClr val="tx1"/>
                </a:solidFill>
                <a:latin typeface="Arial" panose="020B0604020202020204" pitchFamily="34" charset="0"/>
                <a:cs typeface="Arial" panose="020B0604020202020204" pitchFamily="34" charset="0"/>
              </a:rPr>
              <a:t>, </a:t>
            </a:r>
            <a:r>
              <a:rPr lang="en-US" sz="2000" dirty="0" err="1">
                <a:solidFill>
                  <a:schemeClr val="tx1"/>
                </a:solidFill>
                <a:latin typeface="Arial" panose="020B0604020202020204" pitchFamily="34" charset="0"/>
                <a:cs typeface="Arial" panose="020B0604020202020204" pitchFamily="34" charset="0"/>
              </a:rPr>
              <a:t>GraphflowDB</a:t>
            </a:r>
            <a:r>
              <a:rPr lang="en-US" sz="2000" dirty="0">
                <a:solidFill>
                  <a:schemeClr val="tx1"/>
                </a:solidFill>
                <a:latin typeface="Arial" panose="020B0604020202020204" pitchFamily="34" charset="0"/>
                <a:cs typeface="Arial" panose="020B0604020202020204" pitchFamily="34" charset="0"/>
              </a:rPr>
              <a:t>, …</a:t>
            </a:r>
          </a:p>
          <a:p>
            <a:pPr algn="ctr"/>
            <a:r>
              <a:rPr lang="en-US" sz="2000" dirty="0">
                <a:solidFill>
                  <a:schemeClr val="tx1"/>
                </a:solidFill>
                <a:latin typeface="Arial" panose="020B0604020202020204" pitchFamily="34" charset="0"/>
                <a:cs typeface="Arial" panose="020B0604020202020204" pitchFamily="34" charset="0"/>
              </a:rPr>
              <a:t>SQL vs NoSQL?</a:t>
            </a:r>
          </a:p>
          <a:p>
            <a:pPr algn="ctr"/>
            <a:r>
              <a:rPr lang="en-US" sz="2000" dirty="0">
                <a:solidFill>
                  <a:schemeClr val="tx1"/>
                </a:solidFill>
                <a:latin typeface="Arial" panose="020B0604020202020204" pitchFamily="34" charset="0"/>
                <a:cs typeface="Arial" panose="020B0604020202020204" pitchFamily="34" charset="0"/>
              </a:rPr>
              <a:t>RDBMs vs GDBMs vs Key-Value or Document Store?</a:t>
            </a:r>
          </a:p>
          <a:p>
            <a:pPr algn="ctr"/>
            <a:r>
              <a:rPr lang="en-US" sz="2000" dirty="0">
                <a:solidFill>
                  <a:schemeClr val="tx1"/>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442244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 grpId="0" animBg="1"/>
      <p:bldP spid="61" grpId="0" animBg="1"/>
      <p:bldP spid="28"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4" y="-30397"/>
            <a:ext cx="9135075"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A Glimpse of Current DBMS Market</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63B73B6B-E1EB-EF48-B0CE-7DA78BDCF035}"/>
              </a:ext>
            </a:extLst>
          </p:cNvPr>
          <p:cNvPicPr>
            <a:picLocks noChangeAspect="1"/>
          </p:cNvPicPr>
          <p:nvPr/>
        </p:nvPicPr>
        <p:blipFill>
          <a:blip r:embed="rId3"/>
          <a:stretch>
            <a:fillRect/>
          </a:stretch>
        </p:blipFill>
        <p:spPr>
          <a:xfrm>
            <a:off x="3581685" y="2554259"/>
            <a:ext cx="1905000" cy="1066800"/>
          </a:xfrm>
          <a:prstGeom prst="rect">
            <a:avLst/>
          </a:prstGeom>
        </p:spPr>
      </p:pic>
      <p:pic>
        <p:nvPicPr>
          <p:cNvPr id="3" name="Picture 2">
            <a:extLst>
              <a:ext uri="{FF2B5EF4-FFF2-40B4-BE49-F238E27FC236}">
                <a16:creationId xmlns:a16="http://schemas.microsoft.com/office/drawing/2014/main" id="{052FE73F-4817-BE45-B10C-BEFFD22DC64C}"/>
              </a:ext>
            </a:extLst>
          </p:cNvPr>
          <p:cNvPicPr>
            <a:picLocks noChangeAspect="1"/>
          </p:cNvPicPr>
          <p:nvPr/>
        </p:nvPicPr>
        <p:blipFill>
          <a:blip r:embed="rId4"/>
          <a:stretch>
            <a:fillRect/>
          </a:stretch>
        </p:blipFill>
        <p:spPr>
          <a:xfrm>
            <a:off x="222627" y="943418"/>
            <a:ext cx="1587500" cy="1282700"/>
          </a:xfrm>
          <a:prstGeom prst="rect">
            <a:avLst/>
          </a:prstGeom>
        </p:spPr>
      </p:pic>
      <p:pic>
        <p:nvPicPr>
          <p:cNvPr id="8" name="Picture 7">
            <a:extLst>
              <a:ext uri="{FF2B5EF4-FFF2-40B4-BE49-F238E27FC236}">
                <a16:creationId xmlns:a16="http://schemas.microsoft.com/office/drawing/2014/main" id="{0B5E6C33-E2FB-8747-886E-6A5887D0E80B}"/>
              </a:ext>
            </a:extLst>
          </p:cNvPr>
          <p:cNvPicPr>
            <a:picLocks noChangeAspect="1"/>
          </p:cNvPicPr>
          <p:nvPr/>
        </p:nvPicPr>
        <p:blipFill>
          <a:blip r:embed="rId5"/>
          <a:stretch>
            <a:fillRect/>
          </a:stretch>
        </p:blipFill>
        <p:spPr>
          <a:xfrm>
            <a:off x="4491619" y="1305879"/>
            <a:ext cx="1993900" cy="1016000"/>
          </a:xfrm>
          <a:prstGeom prst="rect">
            <a:avLst/>
          </a:prstGeom>
        </p:spPr>
      </p:pic>
      <p:pic>
        <p:nvPicPr>
          <p:cNvPr id="9" name="Picture 8">
            <a:extLst>
              <a:ext uri="{FF2B5EF4-FFF2-40B4-BE49-F238E27FC236}">
                <a16:creationId xmlns:a16="http://schemas.microsoft.com/office/drawing/2014/main" id="{1FD82452-3FDC-854F-873C-A1DAD4DDF18F}"/>
              </a:ext>
            </a:extLst>
          </p:cNvPr>
          <p:cNvPicPr>
            <a:picLocks noChangeAspect="1"/>
          </p:cNvPicPr>
          <p:nvPr/>
        </p:nvPicPr>
        <p:blipFill>
          <a:blip r:embed="rId6"/>
          <a:stretch>
            <a:fillRect/>
          </a:stretch>
        </p:blipFill>
        <p:spPr>
          <a:xfrm>
            <a:off x="5942452" y="2941561"/>
            <a:ext cx="2019300" cy="1003300"/>
          </a:xfrm>
          <a:prstGeom prst="rect">
            <a:avLst/>
          </a:prstGeom>
        </p:spPr>
      </p:pic>
      <p:pic>
        <p:nvPicPr>
          <p:cNvPr id="10" name="Picture 9">
            <a:extLst>
              <a:ext uri="{FF2B5EF4-FFF2-40B4-BE49-F238E27FC236}">
                <a16:creationId xmlns:a16="http://schemas.microsoft.com/office/drawing/2014/main" id="{A2F0F7EA-ED96-7B40-B8EC-2FC50602C277}"/>
              </a:ext>
            </a:extLst>
          </p:cNvPr>
          <p:cNvPicPr>
            <a:picLocks noChangeAspect="1"/>
          </p:cNvPicPr>
          <p:nvPr/>
        </p:nvPicPr>
        <p:blipFill>
          <a:blip r:embed="rId7"/>
          <a:stretch>
            <a:fillRect/>
          </a:stretch>
        </p:blipFill>
        <p:spPr>
          <a:xfrm>
            <a:off x="591641" y="4276511"/>
            <a:ext cx="1993900" cy="1016000"/>
          </a:xfrm>
          <a:prstGeom prst="rect">
            <a:avLst/>
          </a:prstGeom>
        </p:spPr>
      </p:pic>
      <p:pic>
        <p:nvPicPr>
          <p:cNvPr id="11" name="Picture 10">
            <a:extLst>
              <a:ext uri="{FF2B5EF4-FFF2-40B4-BE49-F238E27FC236}">
                <a16:creationId xmlns:a16="http://schemas.microsoft.com/office/drawing/2014/main" id="{1C77076E-B733-354D-A1E5-D5118C621793}"/>
              </a:ext>
            </a:extLst>
          </p:cNvPr>
          <p:cNvPicPr>
            <a:picLocks noChangeAspect="1"/>
          </p:cNvPicPr>
          <p:nvPr/>
        </p:nvPicPr>
        <p:blipFill>
          <a:blip r:embed="rId8"/>
          <a:stretch>
            <a:fillRect/>
          </a:stretch>
        </p:blipFill>
        <p:spPr>
          <a:xfrm>
            <a:off x="3491273" y="3412663"/>
            <a:ext cx="1968500" cy="1028700"/>
          </a:xfrm>
          <a:prstGeom prst="rect">
            <a:avLst/>
          </a:prstGeom>
        </p:spPr>
      </p:pic>
      <p:pic>
        <p:nvPicPr>
          <p:cNvPr id="12" name="Picture 11">
            <a:extLst>
              <a:ext uri="{FF2B5EF4-FFF2-40B4-BE49-F238E27FC236}">
                <a16:creationId xmlns:a16="http://schemas.microsoft.com/office/drawing/2014/main" id="{85FA83D4-6A06-AB46-918A-5F0B9206E6A2}"/>
              </a:ext>
            </a:extLst>
          </p:cNvPr>
          <p:cNvPicPr>
            <a:picLocks noChangeAspect="1"/>
          </p:cNvPicPr>
          <p:nvPr/>
        </p:nvPicPr>
        <p:blipFill>
          <a:blip r:embed="rId9"/>
          <a:stretch>
            <a:fillRect/>
          </a:stretch>
        </p:blipFill>
        <p:spPr>
          <a:xfrm>
            <a:off x="5837668" y="3989234"/>
            <a:ext cx="3147307" cy="484201"/>
          </a:xfrm>
          <a:prstGeom prst="rect">
            <a:avLst/>
          </a:prstGeom>
        </p:spPr>
      </p:pic>
      <p:pic>
        <p:nvPicPr>
          <p:cNvPr id="13" name="Picture 12">
            <a:extLst>
              <a:ext uri="{FF2B5EF4-FFF2-40B4-BE49-F238E27FC236}">
                <a16:creationId xmlns:a16="http://schemas.microsoft.com/office/drawing/2014/main" id="{AB1C5E90-A5AA-5147-A120-9D85669F493E}"/>
              </a:ext>
            </a:extLst>
          </p:cNvPr>
          <p:cNvPicPr>
            <a:picLocks noChangeAspect="1"/>
          </p:cNvPicPr>
          <p:nvPr/>
        </p:nvPicPr>
        <p:blipFill>
          <a:blip r:embed="rId10"/>
          <a:stretch>
            <a:fillRect/>
          </a:stretch>
        </p:blipFill>
        <p:spPr>
          <a:xfrm>
            <a:off x="191812" y="2339676"/>
            <a:ext cx="2011825" cy="747563"/>
          </a:xfrm>
          <a:prstGeom prst="rect">
            <a:avLst/>
          </a:prstGeom>
        </p:spPr>
      </p:pic>
      <p:pic>
        <p:nvPicPr>
          <p:cNvPr id="14" name="Picture 13">
            <a:extLst>
              <a:ext uri="{FF2B5EF4-FFF2-40B4-BE49-F238E27FC236}">
                <a16:creationId xmlns:a16="http://schemas.microsoft.com/office/drawing/2014/main" id="{9E3081CF-BE91-1243-983B-108C168068A1}"/>
              </a:ext>
            </a:extLst>
          </p:cNvPr>
          <p:cNvPicPr>
            <a:picLocks noChangeAspect="1"/>
          </p:cNvPicPr>
          <p:nvPr/>
        </p:nvPicPr>
        <p:blipFill>
          <a:blip r:embed="rId11"/>
          <a:stretch>
            <a:fillRect/>
          </a:stretch>
        </p:blipFill>
        <p:spPr>
          <a:xfrm>
            <a:off x="5912171" y="803740"/>
            <a:ext cx="3048000" cy="660400"/>
          </a:xfrm>
          <a:prstGeom prst="rect">
            <a:avLst/>
          </a:prstGeom>
        </p:spPr>
      </p:pic>
      <p:pic>
        <p:nvPicPr>
          <p:cNvPr id="15" name="Picture 14">
            <a:extLst>
              <a:ext uri="{FF2B5EF4-FFF2-40B4-BE49-F238E27FC236}">
                <a16:creationId xmlns:a16="http://schemas.microsoft.com/office/drawing/2014/main" id="{0C9A7B93-9CBA-6846-91EC-113B1E5F7201}"/>
              </a:ext>
            </a:extLst>
          </p:cNvPr>
          <p:cNvPicPr>
            <a:picLocks noChangeAspect="1"/>
          </p:cNvPicPr>
          <p:nvPr/>
        </p:nvPicPr>
        <p:blipFill>
          <a:blip r:embed="rId12"/>
          <a:stretch>
            <a:fillRect/>
          </a:stretch>
        </p:blipFill>
        <p:spPr>
          <a:xfrm>
            <a:off x="2258360" y="790163"/>
            <a:ext cx="1892300" cy="1066800"/>
          </a:xfrm>
          <a:prstGeom prst="rect">
            <a:avLst/>
          </a:prstGeom>
        </p:spPr>
      </p:pic>
      <p:pic>
        <p:nvPicPr>
          <p:cNvPr id="16" name="Picture 15">
            <a:extLst>
              <a:ext uri="{FF2B5EF4-FFF2-40B4-BE49-F238E27FC236}">
                <a16:creationId xmlns:a16="http://schemas.microsoft.com/office/drawing/2014/main" id="{6C1FE3D0-F0A1-A64B-86DD-9226D9D958B1}"/>
              </a:ext>
            </a:extLst>
          </p:cNvPr>
          <p:cNvPicPr>
            <a:picLocks noChangeAspect="1"/>
          </p:cNvPicPr>
          <p:nvPr/>
        </p:nvPicPr>
        <p:blipFill>
          <a:blip r:embed="rId13"/>
          <a:stretch>
            <a:fillRect/>
          </a:stretch>
        </p:blipFill>
        <p:spPr>
          <a:xfrm>
            <a:off x="7447413" y="1354902"/>
            <a:ext cx="1612900" cy="1244600"/>
          </a:xfrm>
          <a:prstGeom prst="rect">
            <a:avLst/>
          </a:prstGeom>
        </p:spPr>
      </p:pic>
      <p:pic>
        <p:nvPicPr>
          <p:cNvPr id="17" name="Picture 16">
            <a:extLst>
              <a:ext uri="{FF2B5EF4-FFF2-40B4-BE49-F238E27FC236}">
                <a16:creationId xmlns:a16="http://schemas.microsoft.com/office/drawing/2014/main" id="{9F72F0A8-5947-9844-8CB9-FA7FEBF22406}"/>
              </a:ext>
            </a:extLst>
          </p:cNvPr>
          <p:cNvPicPr>
            <a:picLocks noChangeAspect="1"/>
          </p:cNvPicPr>
          <p:nvPr/>
        </p:nvPicPr>
        <p:blipFill>
          <a:blip r:embed="rId14"/>
          <a:stretch>
            <a:fillRect/>
          </a:stretch>
        </p:blipFill>
        <p:spPr>
          <a:xfrm>
            <a:off x="2458628" y="1738623"/>
            <a:ext cx="1778000" cy="1130300"/>
          </a:xfrm>
          <a:prstGeom prst="rect">
            <a:avLst/>
          </a:prstGeom>
        </p:spPr>
      </p:pic>
      <p:pic>
        <p:nvPicPr>
          <p:cNvPr id="18" name="Picture 17">
            <a:extLst>
              <a:ext uri="{FF2B5EF4-FFF2-40B4-BE49-F238E27FC236}">
                <a16:creationId xmlns:a16="http://schemas.microsoft.com/office/drawing/2014/main" id="{360CA928-013F-0940-9AA3-7675978C12FD}"/>
              </a:ext>
            </a:extLst>
          </p:cNvPr>
          <p:cNvPicPr>
            <a:picLocks noChangeAspect="1"/>
          </p:cNvPicPr>
          <p:nvPr/>
        </p:nvPicPr>
        <p:blipFill>
          <a:blip r:embed="rId15"/>
          <a:stretch>
            <a:fillRect/>
          </a:stretch>
        </p:blipFill>
        <p:spPr>
          <a:xfrm>
            <a:off x="6197356" y="2334100"/>
            <a:ext cx="2476500" cy="812800"/>
          </a:xfrm>
          <a:prstGeom prst="rect">
            <a:avLst/>
          </a:prstGeom>
        </p:spPr>
      </p:pic>
      <p:sp>
        <p:nvSpPr>
          <p:cNvPr id="19" name="Rectangle 18">
            <a:extLst>
              <a:ext uri="{FF2B5EF4-FFF2-40B4-BE49-F238E27FC236}">
                <a16:creationId xmlns:a16="http://schemas.microsoft.com/office/drawing/2014/main" id="{B6C16619-6AB1-924C-A142-8085B3218327}"/>
              </a:ext>
            </a:extLst>
          </p:cNvPr>
          <p:cNvSpPr/>
          <p:nvPr/>
        </p:nvSpPr>
        <p:spPr>
          <a:xfrm>
            <a:off x="8925" y="5562695"/>
            <a:ext cx="9144000" cy="1200329"/>
          </a:xfrm>
          <a:prstGeom prst="rect">
            <a:avLst/>
          </a:prstGeom>
        </p:spPr>
        <p:txBody>
          <a:bodyPr wrap="square">
            <a:spAutoFit/>
          </a:bodyPr>
          <a:lstStyle/>
          <a:p>
            <a:pPr algn="ctr"/>
            <a:r>
              <a:rPr lang="en-US" sz="2400" dirty="0">
                <a:latin typeface="Arial" panose="020B0604020202020204" pitchFamily="34" charset="0"/>
                <a:cs typeface="Arial" panose="020B0604020202020204" pitchFamily="34" charset="0"/>
              </a:rPr>
              <a:t>Hundreds of companies producing DBMSs: Many RDBMS/SQL, but also graph, RDF, Document DB, Key-value stores etc..</a:t>
            </a:r>
          </a:p>
          <a:p>
            <a:pPr algn="ctr"/>
            <a:r>
              <a:rPr lang="en-US" sz="2400" dirty="0">
                <a:latin typeface="Arial" panose="020B0604020202020204" pitchFamily="34" charset="0"/>
                <a:cs typeface="Arial" panose="020B0604020202020204" pitchFamily="34" charset="0"/>
              </a:rPr>
              <a:t>Not even including companies to tune, ingest, visualize etc..</a:t>
            </a:r>
          </a:p>
        </p:txBody>
      </p:sp>
      <p:pic>
        <p:nvPicPr>
          <p:cNvPr id="6" name="Picture 5">
            <a:extLst>
              <a:ext uri="{FF2B5EF4-FFF2-40B4-BE49-F238E27FC236}">
                <a16:creationId xmlns:a16="http://schemas.microsoft.com/office/drawing/2014/main" id="{78D6D942-BDD7-FA41-9644-CDAFFBB4E173}"/>
              </a:ext>
            </a:extLst>
          </p:cNvPr>
          <p:cNvPicPr>
            <a:picLocks noChangeAspect="1"/>
          </p:cNvPicPr>
          <p:nvPr/>
        </p:nvPicPr>
        <p:blipFill>
          <a:blip r:embed="rId16"/>
          <a:stretch>
            <a:fillRect/>
          </a:stretch>
        </p:blipFill>
        <p:spPr>
          <a:xfrm>
            <a:off x="3478038" y="4513113"/>
            <a:ext cx="1778000" cy="1130300"/>
          </a:xfrm>
          <a:prstGeom prst="rect">
            <a:avLst/>
          </a:prstGeom>
        </p:spPr>
      </p:pic>
      <p:pic>
        <p:nvPicPr>
          <p:cNvPr id="20" name="Picture 19">
            <a:extLst>
              <a:ext uri="{FF2B5EF4-FFF2-40B4-BE49-F238E27FC236}">
                <a16:creationId xmlns:a16="http://schemas.microsoft.com/office/drawing/2014/main" id="{05BA4EC4-E462-9B42-8B76-D751DF6D0621}"/>
              </a:ext>
            </a:extLst>
          </p:cNvPr>
          <p:cNvPicPr>
            <a:picLocks noChangeAspect="1"/>
          </p:cNvPicPr>
          <p:nvPr/>
        </p:nvPicPr>
        <p:blipFill>
          <a:blip r:embed="rId17"/>
          <a:stretch>
            <a:fillRect/>
          </a:stretch>
        </p:blipFill>
        <p:spPr>
          <a:xfrm>
            <a:off x="524062" y="3209217"/>
            <a:ext cx="2933700" cy="685800"/>
          </a:xfrm>
          <a:prstGeom prst="rect">
            <a:avLst/>
          </a:prstGeom>
        </p:spPr>
      </p:pic>
      <p:pic>
        <p:nvPicPr>
          <p:cNvPr id="21" name="Picture 20">
            <a:extLst>
              <a:ext uri="{FF2B5EF4-FFF2-40B4-BE49-F238E27FC236}">
                <a16:creationId xmlns:a16="http://schemas.microsoft.com/office/drawing/2014/main" id="{9F24648A-6EA7-E24F-85BA-230E0EF13E3D}"/>
              </a:ext>
            </a:extLst>
          </p:cNvPr>
          <p:cNvPicPr>
            <a:picLocks noChangeAspect="1"/>
          </p:cNvPicPr>
          <p:nvPr/>
        </p:nvPicPr>
        <p:blipFill>
          <a:blip r:embed="rId18"/>
          <a:stretch>
            <a:fillRect/>
          </a:stretch>
        </p:blipFill>
        <p:spPr>
          <a:xfrm>
            <a:off x="6304085" y="4493046"/>
            <a:ext cx="1968500" cy="1028700"/>
          </a:xfrm>
          <a:prstGeom prst="rect">
            <a:avLst/>
          </a:prstGeom>
        </p:spPr>
      </p:pic>
      <p:pic>
        <p:nvPicPr>
          <p:cNvPr id="7" name="Picture 6">
            <a:extLst>
              <a:ext uri="{FF2B5EF4-FFF2-40B4-BE49-F238E27FC236}">
                <a16:creationId xmlns:a16="http://schemas.microsoft.com/office/drawing/2014/main" id="{1DA287DF-6473-8D4F-90BC-ADE0C5F17EF3}"/>
              </a:ext>
            </a:extLst>
          </p:cNvPr>
          <p:cNvPicPr>
            <a:picLocks noChangeAspect="1"/>
          </p:cNvPicPr>
          <p:nvPr/>
        </p:nvPicPr>
        <p:blipFill>
          <a:blip r:embed="rId19"/>
          <a:stretch>
            <a:fillRect/>
          </a:stretch>
        </p:blipFill>
        <p:spPr>
          <a:xfrm>
            <a:off x="6561414" y="1460814"/>
            <a:ext cx="975010" cy="975010"/>
          </a:xfrm>
          <a:prstGeom prst="rect">
            <a:avLst/>
          </a:prstGeom>
        </p:spPr>
      </p:pic>
    </p:spTree>
    <p:extLst>
      <p:ext uri="{BB962C8B-B14F-4D97-AF65-F5344CB8AC3E}">
        <p14:creationId xmlns:p14="http://schemas.microsoft.com/office/powerpoint/2010/main" val="2353820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5" y="-30397"/>
            <a:ext cx="7878824"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What I Want You To Watch</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0" y="698767"/>
            <a:ext cx="9060548" cy="2805255"/>
          </a:xfrm>
          <a:prstGeom prst="rect">
            <a:avLst/>
          </a:prstGeom>
          <a:noFill/>
        </p:spPr>
        <p:txBody>
          <a:bodyPr wrap="square" rtlCol="0">
            <a:spAutoFit/>
          </a:bodyPr>
          <a:lstStyle/>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hlinkClick r:id="rId3"/>
              </a:rPr>
              <a:t>Short Video On History of DBMSs by Computer History Museum</a:t>
            </a:r>
            <a:r>
              <a:rPr lang="en-US" sz="2000" dirty="0">
                <a:latin typeface="Arial" panose="020B0604020202020204" pitchFamily="34" charset="0"/>
                <a:cs typeface="Arial" panose="020B0604020202020204" pitchFamily="34" charset="0"/>
              </a:rPr>
              <a:t> (CHM)</a:t>
            </a:r>
          </a:p>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hlinkClick r:id="rId4"/>
              </a:rPr>
              <a:t>Charles Bachmann’s Talk at CHM on Developing IDS</a:t>
            </a:r>
            <a:endParaRPr lang="en-US" sz="2000" dirty="0">
              <a:latin typeface="Arial" panose="020B0604020202020204" pitchFamily="34" charset="0"/>
              <a:cs typeface="Arial" panose="020B0604020202020204" pitchFamily="34" charset="0"/>
            </a:endParaRPr>
          </a:p>
          <a:p>
            <a:pPr marL="800100" lvl="1"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IDS: The First DBMS in the world (developed around 1960-1964)</a:t>
            </a:r>
          </a:p>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hlinkClick r:id="rId5"/>
              </a:rPr>
              <a:t>Jim Gray’s Interview on Microsoft Research on His Career &amp; Projects</a:t>
            </a:r>
            <a:endParaRPr lang="en-US" sz="2000" dirty="0">
              <a:latin typeface="Arial" panose="020B0604020202020204" pitchFamily="34" charset="0"/>
              <a:cs typeface="Arial" panose="020B0604020202020204" pitchFamily="34" charset="0"/>
            </a:endParaRPr>
          </a:p>
          <a:p>
            <a:pPr marL="800100" lvl="1"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hlinkClick r:id="rId6"/>
              </a:rPr>
              <a:t>This short video is his high-level overview of transactions &amp; ACID</a:t>
            </a:r>
            <a:endParaRPr lang="en-US" sz="2000" dirty="0">
              <a:latin typeface="Arial" panose="020B0604020202020204" pitchFamily="34" charset="0"/>
              <a:cs typeface="Arial" panose="020B0604020202020204" pitchFamily="34" charset="0"/>
            </a:endParaRPr>
          </a:p>
          <a:p>
            <a:pPr lvl="1">
              <a:lnSpc>
                <a:spcPct val="150000"/>
              </a:lnSpc>
            </a:pPr>
            <a:endParaRPr lang="en-US" sz="2000" dirty="0">
              <a:latin typeface="Arial" panose="020B0604020202020204" pitchFamily="34" charset="0"/>
              <a:cs typeface="Arial" panose="020B0604020202020204" pitchFamily="34" charset="0"/>
            </a:endParaRPr>
          </a:p>
        </p:txBody>
      </p:sp>
      <p:sp>
        <p:nvSpPr>
          <p:cNvPr id="7" name="TextBox 6">
            <a:extLst>
              <a:ext uri="{FF2B5EF4-FFF2-40B4-BE49-F238E27FC236}">
                <a16:creationId xmlns:a16="http://schemas.microsoft.com/office/drawing/2014/main" id="{2533A634-1AAD-7445-967D-D4B956806679}"/>
              </a:ext>
            </a:extLst>
          </p:cNvPr>
          <p:cNvSpPr txBox="1"/>
          <p:nvPr/>
        </p:nvSpPr>
        <p:spPr>
          <a:xfrm>
            <a:off x="8925" y="3007091"/>
            <a:ext cx="9060548" cy="496931"/>
          </a:xfrm>
          <a:prstGeom prst="rect">
            <a:avLst/>
          </a:prstGeom>
          <a:noFill/>
        </p:spPr>
        <p:txBody>
          <a:bodyPr wrap="square" rtlCol="0">
            <a:spAutoFit/>
          </a:bodyPr>
          <a:lstStyle/>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No Public </a:t>
            </a:r>
            <a:r>
              <a:rPr lang="en-US" sz="2000">
                <a:latin typeface="Arial" panose="020B0604020202020204" pitchFamily="34" charset="0"/>
                <a:cs typeface="Arial" panose="020B0604020202020204" pitchFamily="34" charset="0"/>
              </a:rPr>
              <a:t>Talk of </a:t>
            </a:r>
            <a:r>
              <a:rPr lang="en-US" sz="2000" dirty="0">
                <a:latin typeface="Arial" panose="020B0604020202020204" pitchFamily="34" charset="0"/>
                <a:cs typeface="Arial" panose="020B0604020202020204" pitchFamily="34" charset="0"/>
              </a:rPr>
              <a:t>Ted Codd I know of. If you ever find one let me know!</a:t>
            </a:r>
          </a:p>
        </p:txBody>
      </p:sp>
    </p:spTree>
    <p:extLst>
      <p:ext uri="{BB962C8B-B14F-4D97-AF65-F5344CB8AC3E}">
        <p14:creationId xmlns:p14="http://schemas.microsoft.com/office/powerpoint/2010/main" val="1215380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5" y="-30397"/>
            <a:ext cx="7878824"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What I Want You To Never Forget</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0" y="698767"/>
            <a:ext cx="9060548" cy="4190250"/>
          </a:xfrm>
          <a:prstGeom prst="rect">
            <a:avLst/>
          </a:prstGeom>
          <a:noFill/>
        </p:spPr>
        <p:txBody>
          <a:bodyPr wrap="square" rtlCol="0">
            <a:spAutoFit/>
          </a:bodyPr>
          <a:lstStyle/>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I have highlighted 3 main intellectual contributions and some of the key people behind those contributions</a:t>
            </a:r>
          </a:p>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But as any field: the field is much bigger than these people</a:t>
            </a:r>
          </a:p>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Excellent researchers and engineers continue to push the field forward</a:t>
            </a:r>
          </a:p>
          <a:p>
            <a:pPr marL="342900" indent="-342900">
              <a:lnSpc>
                <a:spcPct val="150000"/>
              </a:lnSpc>
              <a:buFont typeface="Wingdings" pitchFamily="2" charset="2"/>
              <a:buChar char="Ø"/>
            </a:pPr>
            <a:r>
              <a:rPr lang="en-US" sz="2000" dirty="0" err="1">
                <a:latin typeface="Arial" panose="020B0604020202020204" pitchFamily="34" charset="0"/>
                <a:cs typeface="Arial" panose="020B0604020202020204" pitchFamily="34" charset="0"/>
              </a:rPr>
              <a:t>E.g</a:t>
            </a:r>
            <a:r>
              <a:rPr lang="en-US" sz="2000" dirty="0">
                <a:latin typeface="Arial" panose="020B0604020202020204" pitchFamily="34" charset="0"/>
                <a:cs typeface="Arial" panose="020B0604020202020204" pitchFamily="34" charset="0"/>
              </a:rPr>
              <a:t>: Patricia Selinger: core engineer in System R, first RDBMS prototype. Lead of first cost-based query optimizer.</a:t>
            </a:r>
          </a:p>
          <a:p>
            <a:pPr marL="342900" indent="-342900">
              <a:lnSpc>
                <a:spcPct val="150000"/>
              </a:lnSpc>
              <a:buFont typeface="Wingdings" pitchFamily="2" charset="2"/>
              <a:buChar char="Ø"/>
            </a:pPr>
            <a:r>
              <a:rPr lang="en-US" sz="2000" dirty="0" err="1">
                <a:latin typeface="Arial" panose="020B0604020202020204" pitchFamily="34" charset="0"/>
                <a:cs typeface="Arial" panose="020B0604020202020204" pitchFamily="34" charset="0"/>
              </a:rPr>
              <a:t>E.g</a:t>
            </a:r>
            <a:r>
              <a:rPr lang="en-US" sz="2000" dirty="0">
                <a:latin typeface="Arial" panose="020B0604020202020204" pitchFamily="34" charset="0"/>
                <a:cs typeface="Arial" panose="020B0604020202020204" pitchFamily="34" charset="0"/>
              </a:rPr>
              <a:t>: Prof. Tamer </a:t>
            </a:r>
            <a:r>
              <a:rPr lang="en-US" sz="2000" dirty="0" err="1">
                <a:latin typeface="Arial" panose="020B0604020202020204" pitchFamily="34" charset="0"/>
                <a:cs typeface="Arial" panose="020B0604020202020204" pitchFamily="34" charset="0"/>
              </a:rPr>
              <a:t>Ozsu</a:t>
            </a:r>
            <a:r>
              <a:rPr lang="en-US" sz="2000" dirty="0">
                <a:latin typeface="Arial" panose="020B0604020202020204" pitchFamily="34" charset="0"/>
                <a:cs typeface="Arial" panose="020B0604020202020204" pitchFamily="34" charset="0"/>
              </a:rPr>
              <a:t> of </a:t>
            </a:r>
            <a:r>
              <a:rPr lang="en-US" sz="2000" dirty="0" err="1">
                <a:latin typeface="Arial" panose="020B0604020202020204" pitchFamily="34" charset="0"/>
                <a:cs typeface="Arial" panose="020B0604020202020204" pitchFamily="34" charset="0"/>
              </a:rPr>
              <a:t>UWaterloo</a:t>
            </a:r>
            <a:r>
              <a:rPr lang="en-US" sz="2000" dirty="0">
                <a:latin typeface="Arial" panose="020B0604020202020204" pitchFamily="34" charset="0"/>
                <a:cs typeface="Arial" panose="020B0604020202020204" pitchFamily="34" charset="0"/>
              </a:rPr>
              <a:t> DSG: key figure in distributed DBMSs</a:t>
            </a:r>
          </a:p>
          <a:p>
            <a:pPr marL="342900" indent="-342900">
              <a:lnSpc>
                <a:spcPct val="150000"/>
              </a:lnSpc>
              <a:buFont typeface="Wingdings" pitchFamily="2" charset="2"/>
              <a:buChar char="Ø"/>
            </a:pPr>
            <a:r>
              <a:rPr lang="en-US" sz="2000" dirty="0" err="1">
                <a:latin typeface="Arial" panose="020B0604020202020204" pitchFamily="34" charset="0"/>
                <a:cs typeface="Arial" panose="020B0604020202020204" pitchFamily="34" charset="0"/>
              </a:rPr>
              <a:t>E.g</a:t>
            </a:r>
            <a:r>
              <a:rPr lang="en-US" sz="2000" dirty="0">
                <a:latin typeface="Arial" panose="020B0604020202020204" pitchFamily="34" charset="0"/>
                <a:cs typeface="Arial" panose="020B0604020202020204" pitchFamily="34" charset="0"/>
              </a:rPr>
              <a:t>: Ken Salem of </a:t>
            </a:r>
            <a:r>
              <a:rPr lang="en-US" sz="2000" dirty="0" err="1">
                <a:latin typeface="Arial" panose="020B0604020202020204" pitchFamily="34" charset="0"/>
                <a:cs typeface="Arial" panose="020B0604020202020204" pitchFamily="34" charset="0"/>
              </a:rPr>
              <a:t>UWaterloo</a:t>
            </a:r>
            <a:r>
              <a:rPr lang="en-US" sz="2000" dirty="0">
                <a:latin typeface="Arial" panose="020B0604020202020204" pitchFamily="34" charset="0"/>
                <a:cs typeface="Arial" panose="020B0604020202020204" pitchFamily="34" charset="0"/>
              </a:rPr>
              <a:t> DSG (co-inventor of disk-striping, which is the foundations of </a:t>
            </a:r>
            <a:r>
              <a:rPr lang="en-US" sz="2000" dirty="0">
                <a:latin typeface="Arial" panose="020B0604020202020204" pitchFamily="34" charset="0"/>
                <a:cs typeface="Arial" panose="020B0604020202020204" pitchFamily="34" charset="0"/>
                <a:hlinkClick r:id="rId3"/>
              </a:rPr>
              <a:t>RAID disks</a:t>
            </a:r>
            <a:r>
              <a:rPr lang="en-US" sz="2000" dirty="0">
                <a:latin typeface="Arial" panose="020B0604020202020204" pitchFamily="34" charset="0"/>
                <a:cs typeface="Arial" panose="020B0604020202020204" pitchFamily="34" charset="0"/>
              </a:rPr>
              <a:t>)</a:t>
            </a:r>
          </a:p>
        </p:txBody>
      </p:sp>
      <p:pic>
        <p:nvPicPr>
          <p:cNvPr id="2" name="Picture 1">
            <a:extLst>
              <a:ext uri="{FF2B5EF4-FFF2-40B4-BE49-F238E27FC236}">
                <a16:creationId xmlns:a16="http://schemas.microsoft.com/office/drawing/2014/main" id="{CEAC84B2-52B8-7A44-9992-ED22A58F2D71}"/>
              </a:ext>
            </a:extLst>
          </p:cNvPr>
          <p:cNvPicPr>
            <a:picLocks noChangeAspect="1"/>
          </p:cNvPicPr>
          <p:nvPr/>
        </p:nvPicPr>
        <p:blipFill>
          <a:blip r:embed="rId4"/>
          <a:stretch>
            <a:fillRect/>
          </a:stretch>
        </p:blipFill>
        <p:spPr>
          <a:xfrm>
            <a:off x="5074335" y="4935482"/>
            <a:ext cx="1105764" cy="1470552"/>
          </a:xfrm>
          <a:prstGeom prst="rect">
            <a:avLst/>
          </a:prstGeom>
        </p:spPr>
      </p:pic>
      <p:pic>
        <p:nvPicPr>
          <p:cNvPr id="3" name="Picture 2">
            <a:extLst>
              <a:ext uri="{FF2B5EF4-FFF2-40B4-BE49-F238E27FC236}">
                <a16:creationId xmlns:a16="http://schemas.microsoft.com/office/drawing/2014/main" id="{9C716254-04D4-BF42-9D9A-B49F9904C6AA}"/>
              </a:ext>
            </a:extLst>
          </p:cNvPr>
          <p:cNvPicPr>
            <a:picLocks noChangeAspect="1"/>
          </p:cNvPicPr>
          <p:nvPr/>
        </p:nvPicPr>
        <p:blipFill>
          <a:blip r:embed="rId5"/>
          <a:stretch>
            <a:fillRect/>
          </a:stretch>
        </p:blipFill>
        <p:spPr>
          <a:xfrm>
            <a:off x="3797389" y="4919564"/>
            <a:ext cx="1073134" cy="1502388"/>
          </a:xfrm>
          <a:prstGeom prst="rect">
            <a:avLst/>
          </a:prstGeom>
        </p:spPr>
      </p:pic>
      <p:sp>
        <p:nvSpPr>
          <p:cNvPr id="8" name="Rectangle 7">
            <a:extLst>
              <a:ext uri="{FF2B5EF4-FFF2-40B4-BE49-F238E27FC236}">
                <a16:creationId xmlns:a16="http://schemas.microsoft.com/office/drawing/2014/main" id="{27F117D3-BD47-F445-AA54-1C51ECCF609F}"/>
              </a:ext>
            </a:extLst>
          </p:cNvPr>
          <p:cNvSpPr/>
          <p:nvPr/>
        </p:nvSpPr>
        <p:spPr>
          <a:xfrm>
            <a:off x="3587566" y="6387068"/>
            <a:ext cx="1492781"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Tamer </a:t>
            </a:r>
            <a:r>
              <a:rPr lang="en-US" dirty="0" err="1">
                <a:latin typeface="Arial" panose="020B0604020202020204" pitchFamily="34" charset="0"/>
                <a:cs typeface="Arial" panose="020B0604020202020204" pitchFamily="34" charset="0"/>
              </a:rPr>
              <a:t>Ozsu</a:t>
            </a:r>
            <a:r>
              <a:rPr lang="en-US" dirty="0">
                <a:latin typeface="Arial" panose="020B0604020202020204" pitchFamily="34" charset="0"/>
                <a:cs typeface="Arial" panose="020B0604020202020204" pitchFamily="34" charset="0"/>
              </a:rPr>
              <a:t> </a:t>
            </a:r>
            <a:endParaRPr lang="en-US" dirty="0"/>
          </a:p>
        </p:txBody>
      </p:sp>
      <p:pic>
        <p:nvPicPr>
          <p:cNvPr id="9" name="Picture 8">
            <a:extLst>
              <a:ext uri="{FF2B5EF4-FFF2-40B4-BE49-F238E27FC236}">
                <a16:creationId xmlns:a16="http://schemas.microsoft.com/office/drawing/2014/main" id="{72FBD10E-1D27-084F-89F2-43FEEAF7648A}"/>
              </a:ext>
            </a:extLst>
          </p:cNvPr>
          <p:cNvPicPr>
            <a:picLocks noChangeAspect="1"/>
          </p:cNvPicPr>
          <p:nvPr/>
        </p:nvPicPr>
        <p:blipFill>
          <a:blip r:embed="rId6"/>
          <a:stretch>
            <a:fillRect/>
          </a:stretch>
        </p:blipFill>
        <p:spPr>
          <a:xfrm>
            <a:off x="7438919" y="4923641"/>
            <a:ext cx="1462055" cy="1462055"/>
          </a:xfrm>
          <a:prstGeom prst="rect">
            <a:avLst/>
          </a:prstGeom>
        </p:spPr>
      </p:pic>
      <p:sp>
        <p:nvSpPr>
          <p:cNvPr id="10" name="Rectangle 9">
            <a:extLst>
              <a:ext uri="{FF2B5EF4-FFF2-40B4-BE49-F238E27FC236}">
                <a16:creationId xmlns:a16="http://schemas.microsoft.com/office/drawing/2014/main" id="{B84D9EAC-2D57-7C47-9BEC-52A4EBF7390E}"/>
              </a:ext>
            </a:extLst>
          </p:cNvPr>
          <p:cNvSpPr/>
          <p:nvPr/>
        </p:nvSpPr>
        <p:spPr>
          <a:xfrm>
            <a:off x="7513356" y="6387068"/>
            <a:ext cx="1313180"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Ken Salem</a:t>
            </a:r>
            <a:endParaRPr lang="en-US" dirty="0"/>
          </a:p>
        </p:txBody>
      </p:sp>
      <p:pic>
        <p:nvPicPr>
          <p:cNvPr id="7" name="Picture 6">
            <a:extLst>
              <a:ext uri="{FF2B5EF4-FFF2-40B4-BE49-F238E27FC236}">
                <a16:creationId xmlns:a16="http://schemas.microsoft.com/office/drawing/2014/main" id="{90A98DB1-0A0A-A849-A2FF-C476FD5FE84A}"/>
              </a:ext>
            </a:extLst>
          </p:cNvPr>
          <p:cNvPicPr>
            <a:picLocks noChangeAspect="1"/>
          </p:cNvPicPr>
          <p:nvPr/>
        </p:nvPicPr>
        <p:blipFill>
          <a:blip r:embed="rId7"/>
          <a:stretch>
            <a:fillRect/>
          </a:stretch>
        </p:blipFill>
        <p:spPr>
          <a:xfrm>
            <a:off x="485936" y="4935482"/>
            <a:ext cx="1422400" cy="1422400"/>
          </a:xfrm>
          <a:prstGeom prst="rect">
            <a:avLst/>
          </a:prstGeom>
        </p:spPr>
      </p:pic>
      <p:sp>
        <p:nvSpPr>
          <p:cNvPr id="11" name="Rectangle 10">
            <a:extLst>
              <a:ext uri="{FF2B5EF4-FFF2-40B4-BE49-F238E27FC236}">
                <a16:creationId xmlns:a16="http://schemas.microsoft.com/office/drawing/2014/main" id="{E2C3C68B-012C-1A4F-B4DF-051907991098}"/>
              </a:ext>
            </a:extLst>
          </p:cNvPr>
          <p:cNvSpPr/>
          <p:nvPr/>
        </p:nvSpPr>
        <p:spPr>
          <a:xfrm>
            <a:off x="264830" y="6387068"/>
            <a:ext cx="1864613" cy="369332"/>
          </a:xfrm>
          <a:prstGeom prst="rect">
            <a:avLst/>
          </a:prstGeom>
        </p:spPr>
        <p:txBody>
          <a:bodyPr wrap="none">
            <a:spAutoFit/>
          </a:bodyPr>
          <a:lstStyle/>
          <a:p>
            <a:r>
              <a:rPr lang="en-US" dirty="0">
                <a:latin typeface="Arial" panose="020B0604020202020204" pitchFamily="34" charset="0"/>
                <a:cs typeface="Arial" panose="020B0604020202020204" pitchFamily="34" charset="0"/>
              </a:rPr>
              <a:t>Patricia Selinger</a:t>
            </a:r>
            <a:endParaRPr lang="en-US" dirty="0"/>
          </a:p>
        </p:txBody>
      </p:sp>
    </p:spTree>
    <p:extLst>
      <p:ext uri="{BB962C8B-B14F-4D97-AF65-F5344CB8AC3E}">
        <p14:creationId xmlns:p14="http://schemas.microsoft.com/office/powerpoint/2010/main" val="37459611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5" end="5"/>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5" y="-30397"/>
            <a:ext cx="7878824"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Administrative Info (1)</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2476" y="621317"/>
            <a:ext cx="9060548" cy="6036909"/>
          </a:xfrm>
          <a:prstGeom prst="rect">
            <a:avLst/>
          </a:prstGeom>
          <a:noFill/>
        </p:spPr>
        <p:txBody>
          <a:bodyPr wrap="square" rtlCol="0">
            <a:spAutoFit/>
          </a:bodyPr>
          <a:lstStyle/>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Instructor: Semih Salihoglu (</a:t>
            </a:r>
            <a:r>
              <a:rPr lang="en-US" sz="2000" dirty="0" err="1">
                <a:latin typeface="Arial" panose="020B0604020202020204" pitchFamily="34" charset="0"/>
                <a:cs typeface="Arial" panose="020B0604020202020204" pitchFamily="34" charset="0"/>
              </a:rPr>
              <a:t>semih.salihoglu@uwaterloo.ca</a:t>
            </a:r>
            <a:r>
              <a:rPr lang="en-US" sz="2000" dirty="0">
                <a:latin typeface="Arial" panose="020B0604020202020204" pitchFamily="34" charset="0"/>
                <a:cs typeface="Arial" panose="020B0604020202020204" pitchFamily="34" charset="0"/>
              </a:rPr>
              <a:t>)</a:t>
            </a:r>
          </a:p>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Planning for an online instead of a hybrid course</a:t>
            </a:r>
          </a:p>
          <a:p>
            <a:pPr marL="800100" lvl="1"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School is officially online until Feb but expect a longer delay</a:t>
            </a:r>
          </a:p>
          <a:p>
            <a:pPr marL="800100" lvl="1"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If we go in person, we *might* have an actual midterm and final.</a:t>
            </a:r>
          </a:p>
          <a:p>
            <a:pPr marL="800100" lvl="1"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Plan for course organization aside from in-person lectures is same</a:t>
            </a:r>
          </a:p>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OHs: Mondays 2:00pm-3:00pm over Zoom (see Piazza)</a:t>
            </a:r>
            <a:endParaRPr lang="en-US" sz="2000" i="1" dirty="0">
              <a:solidFill>
                <a:srgbClr val="C00000"/>
              </a:solidFill>
              <a:latin typeface="Arial" panose="020B0604020202020204" pitchFamily="34" charset="0"/>
              <a:cs typeface="Arial" panose="020B0604020202020204" pitchFamily="34" charset="0"/>
            </a:endParaRPr>
          </a:p>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Unofficial Co-Instructor: </a:t>
            </a:r>
            <a:r>
              <a:rPr lang="en-US" sz="2000" dirty="0">
                <a:latin typeface="Arial" panose="020B0604020202020204" pitchFamily="34" charset="0"/>
                <a:cs typeface="Arial" panose="020B0604020202020204" pitchFamily="34" charset="0"/>
                <a:hlinkClick r:id="rId3"/>
              </a:rPr>
              <a:t>Prof Xi He</a:t>
            </a:r>
            <a:r>
              <a:rPr lang="en-US" sz="2000" dirty="0">
                <a:latin typeface="Arial" panose="020B0604020202020204" pitchFamily="34" charset="0"/>
                <a:cs typeface="Arial" panose="020B0604020202020204" pitchFamily="34" charset="0"/>
              </a:rPr>
              <a:t>!</a:t>
            </a:r>
          </a:p>
          <a:p>
            <a:pPr marL="800100" lvl="1"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Will use much of her material and her videos</a:t>
            </a:r>
          </a:p>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TAs: Guy </a:t>
            </a:r>
            <a:r>
              <a:rPr lang="en-US" sz="2000" dirty="0" err="1">
                <a:latin typeface="Arial" panose="020B0604020202020204" pitchFamily="34" charset="0"/>
                <a:cs typeface="Arial" panose="020B0604020202020204" pitchFamily="34" charset="0"/>
              </a:rPr>
              <a:t>Coccimiglio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Glaucia</a:t>
            </a:r>
            <a:r>
              <a:rPr lang="en-US" sz="2000" dirty="0">
                <a:latin typeface="Arial" panose="020B0604020202020204" pitchFamily="34" charset="0"/>
                <a:cs typeface="Arial" panose="020B0604020202020204" pitchFamily="34" charset="0"/>
              </a:rPr>
              <a:t> Melo, Karl Knopf, Chang Liu, Amine, </a:t>
            </a:r>
            <a:r>
              <a:rPr lang="en-US" sz="2000" dirty="0" err="1">
                <a:latin typeface="Arial" panose="020B0604020202020204" pitchFamily="34" charset="0"/>
                <a:cs typeface="Arial" panose="020B0604020202020204" pitchFamily="34" charset="0"/>
              </a:rPr>
              <a:t>Mhedhbi</a:t>
            </a:r>
            <a:endParaRPr lang="en-US" sz="2000" dirty="0">
              <a:latin typeface="Arial" panose="020B0604020202020204" pitchFamily="34" charset="0"/>
              <a:cs typeface="Arial" panose="020B0604020202020204" pitchFamily="34" charset="0"/>
            </a:endParaRPr>
          </a:p>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TA OHs: 2 hours on weeks assignments are due</a:t>
            </a:r>
          </a:p>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Lectures: For online part: recorded and available on Learn</a:t>
            </a:r>
          </a:p>
          <a:p>
            <a:pPr marL="800100" lvl="1"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If we are in-person, I will deliver in-person lectures</a:t>
            </a:r>
          </a:p>
        </p:txBody>
      </p:sp>
      <p:pic>
        <p:nvPicPr>
          <p:cNvPr id="3" name="Picture 2" descr="A person wearing sunglasses&#10;&#10;Description automatically generated with low confidence">
            <a:extLst>
              <a:ext uri="{FF2B5EF4-FFF2-40B4-BE49-F238E27FC236}">
                <a16:creationId xmlns:a16="http://schemas.microsoft.com/office/drawing/2014/main" id="{C0CE5A3C-728A-1247-BD0D-70D36BC46D4E}"/>
              </a:ext>
            </a:extLst>
          </p:cNvPr>
          <p:cNvPicPr>
            <a:picLocks noChangeAspect="1"/>
          </p:cNvPicPr>
          <p:nvPr/>
        </p:nvPicPr>
        <p:blipFill>
          <a:blip r:embed="rId4"/>
          <a:stretch>
            <a:fillRect/>
          </a:stretch>
        </p:blipFill>
        <p:spPr>
          <a:xfrm>
            <a:off x="7702553" y="776218"/>
            <a:ext cx="1225275" cy="1328612"/>
          </a:xfrm>
          <a:prstGeom prst="rect">
            <a:avLst/>
          </a:prstGeom>
        </p:spPr>
      </p:pic>
    </p:spTree>
    <p:extLst>
      <p:ext uri="{BB962C8B-B14F-4D97-AF65-F5344CB8AC3E}">
        <p14:creationId xmlns:p14="http://schemas.microsoft.com/office/powerpoint/2010/main" val="3541379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5" y="-30397"/>
            <a:ext cx="7878824"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Administrative Info (2)</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2476" y="621317"/>
            <a:ext cx="9060548" cy="2343590"/>
          </a:xfrm>
          <a:prstGeom prst="rect">
            <a:avLst/>
          </a:prstGeom>
          <a:noFill/>
        </p:spPr>
        <p:txBody>
          <a:bodyPr wrap="square" rtlCol="0">
            <a:spAutoFit/>
          </a:bodyPr>
          <a:lstStyle/>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Learn: </a:t>
            </a:r>
            <a:r>
              <a:rPr lang="en-US" sz="2000" dirty="0">
                <a:latin typeface="Arial" panose="020B0604020202020204" pitchFamily="34" charset="0"/>
                <a:cs typeface="Arial" panose="020B0604020202020204" pitchFamily="34" charset="0"/>
                <a:hlinkClick r:id="rId3"/>
              </a:rPr>
              <a:t>https://</a:t>
            </a:r>
            <a:r>
              <a:rPr lang="en-US" sz="2000" dirty="0" err="1">
                <a:latin typeface="Arial" panose="020B0604020202020204" pitchFamily="34" charset="0"/>
                <a:cs typeface="Arial" panose="020B0604020202020204" pitchFamily="34" charset="0"/>
                <a:hlinkClick r:id="rId3"/>
              </a:rPr>
              <a:t>learn.uwaterloo.ca</a:t>
            </a:r>
            <a:r>
              <a:rPr lang="en-US" sz="2000" dirty="0">
                <a:latin typeface="Arial" panose="020B0604020202020204" pitchFamily="34" charset="0"/>
                <a:cs typeface="Arial" panose="020B0604020202020204" pitchFamily="34" charset="0"/>
                <a:hlinkClick r:id="rId3"/>
              </a:rPr>
              <a:t>/d2l/home/761209 </a:t>
            </a:r>
            <a:endParaRPr lang="en-US" sz="2000" dirty="0">
              <a:latin typeface="Arial" panose="020B0604020202020204" pitchFamily="34" charset="0"/>
              <a:cs typeface="Arial" panose="020B0604020202020204" pitchFamily="34" charset="0"/>
            </a:endParaRPr>
          </a:p>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Piazza: </a:t>
            </a:r>
            <a:r>
              <a:rPr lang="en-US" sz="2000" dirty="0">
                <a:latin typeface="Arial" panose="020B0604020202020204" pitchFamily="34" charset="0"/>
                <a:cs typeface="Arial" panose="020B0604020202020204" pitchFamily="34" charset="0"/>
                <a:hlinkClick r:id="rId4"/>
              </a:rPr>
              <a:t>https://</a:t>
            </a:r>
            <a:r>
              <a:rPr lang="en-US" sz="2000" dirty="0" err="1">
                <a:latin typeface="Arial" panose="020B0604020202020204" pitchFamily="34" charset="0"/>
                <a:cs typeface="Arial" panose="020B0604020202020204" pitchFamily="34" charset="0"/>
                <a:hlinkClick r:id="rId4"/>
              </a:rPr>
              <a:t>piazza.com</a:t>
            </a:r>
            <a:r>
              <a:rPr lang="en-US" sz="2000" dirty="0">
                <a:latin typeface="Arial" panose="020B0604020202020204" pitchFamily="34" charset="0"/>
                <a:cs typeface="Arial" panose="020B0604020202020204" pitchFamily="34" charset="0"/>
                <a:hlinkClick r:id="rId4"/>
              </a:rPr>
              <a:t>/class/kxhps7c94rj9r</a:t>
            </a:r>
            <a:endParaRPr lang="en-US" sz="2000" dirty="0">
              <a:latin typeface="Arial" panose="020B0604020202020204" pitchFamily="34" charset="0"/>
              <a:cs typeface="Arial" panose="020B0604020202020204" pitchFamily="34" charset="0"/>
            </a:endParaRPr>
          </a:p>
          <a:p>
            <a:pPr marL="800100" lvl="1"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Unless urgent, we will wait for students to answer</a:t>
            </a:r>
          </a:p>
          <a:p>
            <a:pPr marL="800100" lvl="1"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We will interfere when there is confusion</a:t>
            </a:r>
          </a:p>
          <a:p>
            <a:pPr marL="800100" lvl="1" indent="-342900">
              <a:lnSpc>
                <a:spcPct val="150000"/>
              </a:lnSpc>
              <a:buFont typeface="Wingdings" pitchFamily="2" charset="2"/>
              <a:buChar char="Ø"/>
            </a:pPr>
            <a:r>
              <a:rPr lang="en-US" sz="2000" i="1" dirty="0">
                <a:solidFill>
                  <a:srgbClr val="C00000"/>
                </a:solidFill>
                <a:latin typeface="Arial" panose="020B0604020202020204" pitchFamily="34" charset="0"/>
                <a:cs typeface="Arial" panose="020B0604020202020204" pitchFamily="34" charset="0"/>
              </a:rPr>
              <a:t>Please be active! This our best forum for communication.</a:t>
            </a:r>
          </a:p>
        </p:txBody>
      </p:sp>
    </p:spTree>
    <p:extLst>
      <p:ext uri="{BB962C8B-B14F-4D97-AF65-F5344CB8AC3E}">
        <p14:creationId xmlns:p14="http://schemas.microsoft.com/office/powerpoint/2010/main" val="2548907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5" y="-30397"/>
            <a:ext cx="7878824"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Administrative Info (3)</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2476" y="621317"/>
            <a:ext cx="9060548" cy="2580130"/>
          </a:xfrm>
          <a:prstGeom prst="rect">
            <a:avLst/>
          </a:prstGeom>
          <a:noFill/>
        </p:spPr>
        <p:txBody>
          <a:bodyPr wrap="square" rtlCol="0">
            <a:spAutoFit/>
          </a:bodyPr>
          <a:lstStyle/>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Textbook: </a:t>
            </a:r>
            <a:r>
              <a:rPr lang="en-US" sz="2000" dirty="0">
                <a:latin typeface="Arial" panose="020B0604020202020204" pitchFamily="34" charset="0"/>
                <a:cs typeface="Arial" panose="020B0604020202020204" pitchFamily="34" charset="0"/>
                <a:hlinkClick r:id="rId3"/>
              </a:rPr>
              <a:t>Database System Concepts</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Silberschatz</a:t>
            </a:r>
            <a:r>
              <a:rPr lang="en-US" sz="2000" dirty="0">
                <a:latin typeface="Arial" panose="020B0604020202020204" pitchFamily="34" charset="0"/>
                <a:cs typeface="Arial" panose="020B0604020202020204" pitchFamily="34" charset="0"/>
              </a:rPr>
              <a:t> et al., 7th edition</a:t>
            </a:r>
          </a:p>
          <a:p>
            <a:pPr marL="800100" lvl="1" indent="-342900">
              <a:lnSpc>
                <a:spcPct val="150000"/>
              </a:lnSpc>
              <a:buFont typeface="Wingdings" pitchFamily="2" charset="2"/>
              <a:buChar char="Ø"/>
            </a:pPr>
            <a:r>
              <a:rPr lang="en-US" i="1" dirty="0">
                <a:latin typeface="Arial" panose="020B0604020202020204" pitchFamily="34" charset="0"/>
                <a:cs typeface="Arial" panose="020B0604020202020204" pitchFamily="34" charset="0"/>
              </a:rPr>
              <a:t>“The library has electronic access only to the  2006 edition of “Database System Concepts by </a:t>
            </a:r>
            <a:r>
              <a:rPr lang="en-US" i="1" dirty="0" err="1">
                <a:latin typeface="Arial" panose="020B0604020202020204" pitchFamily="34" charset="0"/>
                <a:cs typeface="Arial" panose="020B0604020202020204" pitchFamily="34" charset="0"/>
              </a:rPr>
              <a:t>Silberschatz</a:t>
            </a:r>
            <a:r>
              <a:rPr lang="en-US" i="1" dirty="0">
                <a:latin typeface="Arial" panose="020B0604020202020204" pitchFamily="34" charset="0"/>
                <a:cs typeface="Arial" panose="020B0604020202020204" pitchFamily="34" charset="0"/>
              </a:rPr>
              <a:t>.”  This access is through Hathi Trust which is emergency access.  Access is restricted to one user and for one hour at a time.”</a:t>
            </a:r>
          </a:p>
          <a:p>
            <a:pPr marL="800100" lvl="1" indent="-342900">
              <a:lnSpc>
                <a:spcPct val="150000"/>
              </a:lnSpc>
              <a:buFont typeface="Wingdings" pitchFamily="2" charset="2"/>
              <a:buChar char="Ø"/>
            </a:pPr>
            <a:r>
              <a:rPr lang="en-US" dirty="0">
                <a:latin typeface="Arial" panose="020B0604020202020204" pitchFamily="34" charset="0"/>
                <a:cs typeface="Arial" panose="020B0604020202020204" pitchFamily="34" charset="0"/>
              </a:rPr>
              <a:t>(Rare) Optional: </a:t>
            </a:r>
            <a:r>
              <a:rPr lang="en-US" dirty="0">
                <a:latin typeface="Arial" panose="020B0604020202020204" pitchFamily="34" charset="0"/>
                <a:cs typeface="Arial" panose="020B0604020202020204" pitchFamily="34" charset="0"/>
                <a:hlinkClick r:id="rId4"/>
              </a:rPr>
              <a:t>Designing Data Intensive Applications</a:t>
            </a:r>
            <a:r>
              <a:rPr lang="en-US" dirty="0">
                <a:latin typeface="Arial" panose="020B0604020202020204" pitchFamily="34" charset="0"/>
                <a:cs typeface="Arial" panose="020B0604020202020204" pitchFamily="34" charset="0"/>
              </a:rPr>
              <a:t>, </a:t>
            </a:r>
            <a:r>
              <a:rPr lang="en-US" dirty="0" err="1">
                <a:latin typeface="Arial" panose="020B0604020202020204" pitchFamily="34" charset="0"/>
                <a:cs typeface="Arial" panose="020B0604020202020204" pitchFamily="34" charset="0"/>
              </a:rPr>
              <a:t>Klepmann</a:t>
            </a:r>
            <a:endParaRPr lang="en-US" dirty="0">
              <a:latin typeface="Arial" panose="020B0604020202020204" pitchFamily="34" charset="0"/>
              <a:cs typeface="Arial" panose="020B0604020202020204" pitchFamily="34" charset="0"/>
            </a:endParaRPr>
          </a:p>
        </p:txBody>
      </p:sp>
      <p:pic>
        <p:nvPicPr>
          <p:cNvPr id="3" name="Picture 2" descr="A picture containing text, cat, book&#10;&#10;Description automatically generated">
            <a:hlinkClick r:id="rId4"/>
            <a:extLst>
              <a:ext uri="{FF2B5EF4-FFF2-40B4-BE49-F238E27FC236}">
                <a16:creationId xmlns:a16="http://schemas.microsoft.com/office/drawing/2014/main" id="{EC429353-7C5A-9D4F-A8BB-CFB3339FB970}"/>
              </a:ext>
            </a:extLst>
          </p:cNvPr>
          <p:cNvPicPr>
            <a:picLocks/>
          </p:cNvPicPr>
          <p:nvPr/>
        </p:nvPicPr>
        <p:blipFill>
          <a:blip r:embed="rId5"/>
          <a:stretch>
            <a:fillRect/>
          </a:stretch>
        </p:blipFill>
        <p:spPr>
          <a:xfrm>
            <a:off x="5758902" y="3620978"/>
            <a:ext cx="2331720" cy="2871216"/>
          </a:xfrm>
          <a:prstGeom prst="rect">
            <a:avLst/>
          </a:prstGeom>
        </p:spPr>
      </p:pic>
      <p:pic>
        <p:nvPicPr>
          <p:cNvPr id="8" name="Picture 7" descr="A sailboat on the water&#10;&#10;Description automatically generated with medium confidence">
            <a:hlinkClick r:id="rId3"/>
            <a:extLst>
              <a:ext uri="{FF2B5EF4-FFF2-40B4-BE49-F238E27FC236}">
                <a16:creationId xmlns:a16="http://schemas.microsoft.com/office/drawing/2014/main" id="{C9D7CD4E-1E71-B043-8A93-774F9A9ACE73}"/>
              </a:ext>
            </a:extLst>
          </p:cNvPr>
          <p:cNvPicPr>
            <a:picLocks/>
          </p:cNvPicPr>
          <p:nvPr/>
        </p:nvPicPr>
        <p:blipFill>
          <a:blip r:embed="rId6"/>
          <a:stretch>
            <a:fillRect/>
          </a:stretch>
        </p:blipFill>
        <p:spPr>
          <a:xfrm>
            <a:off x="1358747" y="3620978"/>
            <a:ext cx="2331720" cy="2871216"/>
          </a:xfrm>
          <a:prstGeom prst="rect">
            <a:avLst/>
          </a:prstGeom>
        </p:spPr>
      </p:pic>
    </p:spTree>
    <p:extLst>
      <p:ext uri="{BB962C8B-B14F-4D97-AF65-F5344CB8AC3E}">
        <p14:creationId xmlns:p14="http://schemas.microsoft.com/office/powerpoint/2010/main" val="30351424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5" y="-30397"/>
            <a:ext cx="7878824"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Administrative Info (3)</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2476" y="621317"/>
            <a:ext cx="9060548" cy="496931"/>
          </a:xfrm>
          <a:prstGeom prst="rect">
            <a:avLst/>
          </a:prstGeom>
          <a:noFill/>
        </p:spPr>
        <p:txBody>
          <a:bodyPr wrap="square" rtlCol="0">
            <a:spAutoFit/>
          </a:bodyPr>
          <a:lstStyle/>
          <a:p>
            <a:pPr marL="342900"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2 Other Main Textbooks in the Field </a:t>
            </a:r>
          </a:p>
        </p:txBody>
      </p:sp>
      <p:pic>
        <p:nvPicPr>
          <p:cNvPr id="10" name="Picture 9" descr="Graphical user interface, application&#10;&#10;Description automatically generated">
            <a:hlinkClick r:id="rId3"/>
            <a:extLst>
              <a:ext uri="{FF2B5EF4-FFF2-40B4-BE49-F238E27FC236}">
                <a16:creationId xmlns:a16="http://schemas.microsoft.com/office/drawing/2014/main" id="{C70C6D26-0FF8-024E-825A-79E33D61D5ED}"/>
              </a:ext>
            </a:extLst>
          </p:cNvPr>
          <p:cNvPicPr>
            <a:picLocks/>
          </p:cNvPicPr>
          <p:nvPr/>
        </p:nvPicPr>
        <p:blipFill>
          <a:blip r:embed="rId4"/>
          <a:stretch>
            <a:fillRect/>
          </a:stretch>
        </p:blipFill>
        <p:spPr>
          <a:xfrm>
            <a:off x="985272" y="1992320"/>
            <a:ext cx="2587752" cy="3374136"/>
          </a:xfrm>
          <a:prstGeom prst="rect">
            <a:avLst/>
          </a:prstGeom>
        </p:spPr>
      </p:pic>
      <p:pic>
        <p:nvPicPr>
          <p:cNvPr id="12" name="Picture 11" descr="Graphical user interface, text, application&#10;&#10;Description automatically generated">
            <a:hlinkClick r:id="rId5"/>
            <a:extLst>
              <a:ext uri="{FF2B5EF4-FFF2-40B4-BE49-F238E27FC236}">
                <a16:creationId xmlns:a16="http://schemas.microsoft.com/office/drawing/2014/main" id="{6FFE3C6D-BB4F-394E-983A-5113467C4533}"/>
              </a:ext>
            </a:extLst>
          </p:cNvPr>
          <p:cNvPicPr>
            <a:picLocks/>
          </p:cNvPicPr>
          <p:nvPr/>
        </p:nvPicPr>
        <p:blipFill>
          <a:blip r:embed="rId6"/>
          <a:stretch>
            <a:fillRect/>
          </a:stretch>
        </p:blipFill>
        <p:spPr>
          <a:xfrm>
            <a:off x="5486404" y="1992320"/>
            <a:ext cx="2587752" cy="3374136"/>
          </a:xfrm>
          <a:prstGeom prst="rect">
            <a:avLst/>
          </a:prstGeom>
        </p:spPr>
      </p:pic>
    </p:spTree>
    <p:extLst>
      <p:ext uri="{BB962C8B-B14F-4D97-AF65-F5344CB8AC3E}">
        <p14:creationId xmlns:p14="http://schemas.microsoft.com/office/powerpoint/2010/main" val="42675800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5" y="-30397"/>
            <a:ext cx="7878824" cy="646331"/>
          </a:xfrm>
          <a:prstGeom prst="rect">
            <a:avLst/>
          </a:prstGeom>
          <a:noFill/>
        </p:spPr>
        <p:txBody>
          <a:bodyPr wrap="square" rtlCol="0">
            <a:spAutoFit/>
          </a:bodyPr>
          <a:lstStyle/>
          <a:p>
            <a:r>
              <a:rPr lang="en-US" sz="3600" dirty="0">
                <a:latin typeface="Arial" panose="020B0604020202020204" pitchFamily="34" charset="0"/>
                <a:cs typeface="Arial" panose="020B0604020202020204" pitchFamily="34" charset="0"/>
              </a:rPr>
              <a:t>Administrative Info (4)</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2476" y="621317"/>
            <a:ext cx="9060548" cy="5975354"/>
          </a:xfrm>
          <a:prstGeom prst="rect">
            <a:avLst/>
          </a:prstGeom>
          <a:noFill/>
        </p:spPr>
        <p:txBody>
          <a:bodyPr wrap="square" rtlCol="0">
            <a:spAutoFit/>
          </a:bodyPr>
          <a:lstStyle/>
          <a:p>
            <a:pPr marL="342900" indent="-3429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Workload &amp; Mark Distribution</a:t>
            </a:r>
          </a:p>
          <a:p>
            <a:pPr marL="800100" lvl="1" indent="-342900">
              <a:lnSpc>
                <a:spcPts val="3880"/>
              </a:lnSpc>
              <a:buFont typeface="Wingdings" pitchFamily="2" charset="2"/>
              <a:buChar char="Ø"/>
            </a:pPr>
            <a:r>
              <a:rPr lang="en-US" sz="2000" dirty="0">
                <a:latin typeface="Arial" panose="020B0604020202020204" pitchFamily="34" charset="0"/>
                <a:cs typeface="Arial" panose="020B0604020202020204" pitchFamily="34" charset="0"/>
              </a:rPr>
              <a:t>4 assignments: </a:t>
            </a:r>
          </a:p>
          <a:p>
            <a:pPr marL="1257300" lvl="2" indent="-342900">
              <a:lnSpc>
                <a:spcPts val="3880"/>
              </a:lnSpc>
              <a:buFont typeface="Wingdings" pitchFamily="2" charset="2"/>
              <a:buChar char="Ø"/>
            </a:pPr>
            <a:r>
              <a:rPr lang="en-US" sz="2000" dirty="0">
                <a:latin typeface="Arial" panose="020B0604020202020204" pitchFamily="34" charset="0"/>
                <a:cs typeface="Arial" panose="020B0604020202020204" pitchFamily="34" charset="0"/>
              </a:rPr>
              <a:t>~3 will have programming questions.</a:t>
            </a:r>
          </a:p>
          <a:p>
            <a:pPr marL="1257300" lvl="2" indent="-342900">
              <a:lnSpc>
                <a:spcPts val="3880"/>
              </a:lnSpc>
              <a:buFont typeface="Wingdings" pitchFamily="2" charset="2"/>
              <a:buChar char="Ø"/>
            </a:pPr>
            <a:r>
              <a:rPr lang="en-US" sz="2000" dirty="0">
                <a:latin typeface="Arial" panose="020B0604020202020204" pitchFamily="34" charset="0"/>
                <a:cs typeface="Arial" panose="020B0604020202020204" pitchFamily="34" charset="0"/>
              </a:rPr>
              <a:t>1 or 2 weeks (not guaranteed to be 2 weeks) to complete each.</a:t>
            </a:r>
          </a:p>
          <a:p>
            <a:pPr marL="1257300" lvl="2" indent="-342900">
              <a:lnSpc>
                <a:spcPts val="3880"/>
              </a:lnSpc>
              <a:buFont typeface="Wingdings" pitchFamily="2" charset="2"/>
              <a:buChar char="Ø"/>
            </a:pPr>
            <a:r>
              <a:rPr lang="en-US" sz="2000" dirty="0">
                <a:latin typeface="Arial" panose="020B0604020202020204" pitchFamily="34" charset="0"/>
                <a:cs typeface="Arial" panose="020B0604020202020204" pitchFamily="34" charset="0"/>
              </a:rPr>
              <a:t>Submit through </a:t>
            </a:r>
            <a:r>
              <a:rPr lang="en-US" sz="2000" dirty="0" err="1">
                <a:latin typeface="Arial" panose="020B0604020202020204" pitchFamily="34" charset="0"/>
                <a:cs typeface="Arial" panose="020B0604020202020204" pitchFamily="34" charset="0"/>
              </a:rPr>
              <a:t>Crowdmark</a:t>
            </a:r>
            <a:r>
              <a:rPr lang="en-US" sz="2000" dirty="0">
                <a:latin typeface="Arial" panose="020B0604020202020204" pitchFamily="34" charset="0"/>
                <a:cs typeface="Arial" panose="020B0604020202020204" pitchFamily="34" charset="0"/>
              </a:rPr>
              <a:t>/Marmoset</a:t>
            </a:r>
          </a:p>
          <a:p>
            <a:pPr marL="1257300" lvl="2" indent="-342900">
              <a:lnSpc>
                <a:spcPts val="3880"/>
              </a:lnSpc>
              <a:buFont typeface="Wingdings" pitchFamily="2" charset="2"/>
              <a:buChar char="Ø"/>
            </a:pPr>
            <a:r>
              <a:rPr lang="en-US" sz="2000" dirty="0">
                <a:latin typeface="Arial" panose="020B0604020202020204" pitchFamily="34" charset="0"/>
                <a:cs typeface="Arial" panose="020B0604020202020204" pitchFamily="34" charset="0"/>
              </a:rPr>
              <a:t>First one is out next Friday, Jan14</a:t>
            </a:r>
            <a:r>
              <a:rPr lang="en-US" sz="2000" baseline="30000" dirty="0">
                <a:latin typeface="Arial" panose="020B0604020202020204" pitchFamily="34" charset="0"/>
                <a:cs typeface="Arial" panose="020B0604020202020204" pitchFamily="34" charset="0"/>
              </a:rPr>
              <a:t>th</a:t>
            </a:r>
            <a:r>
              <a:rPr lang="en-US" sz="2000" b="1" i="1" dirty="0">
                <a:latin typeface="Arial" panose="020B0604020202020204" pitchFamily="34" charset="0"/>
                <a:cs typeface="Arial" panose="020B0604020202020204" pitchFamily="34" charset="0"/>
              </a:rPr>
              <a:t>. </a:t>
            </a:r>
            <a:r>
              <a:rPr lang="en-US" sz="2000" dirty="0">
                <a:latin typeface="Arial" panose="020B0604020202020204" pitchFamily="34" charset="0"/>
                <a:cs typeface="Arial" panose="020B0604020202020204" pitchFamily="34" charset="0"/>
              </a:rPr>
              <a:t>Due Jan 28</a:t>
            </a:r>
            <a:r>
              <a:rPr lang="en-US" sz="2000" baseline="30000" dirty="0">
                <a:latin typeface="Arial" panose="020B0604020202020204" pitchFamily="34" charset="0"/>
                <a:cs typeface="Arial" panose="020B0604020202020204" pitchFamily="34" charset="0"/>
              </a:rPr>
              <a:t>th</a:t>
            </a:r>
            <a:r>
              <a:rPr lang="en-US" sz="2000" dirty="0">
                <a:latin typeface="Arial" panose="020B0604020202020204" pitchFamily="34" charset="0"/>
                <a:cs typeface="Arial" panose="020B0604020202020204" pitchFamily="34" charset="0"/>
              </a:rPr>
              <a:t>.</a:t>
            </a:r>
          </a:p>
          <a:p>
            <a:pPr marL="800100" lvl="1" indent="-342900">
              <a:lnSpc>
                <a:spcPts val="3880"/>
              </a:lnSpc>
              <a:buFont typeface="Wingdings" pitchFamily="2" charset="2"/>
              <a:buChar char="Ø"/>
            </a:pPr>
            <a:r>
              <a:rPr lang="en-US" sz="2000" dirty="0">
                <a:latin typeface="Arial" panose="020B0604020202020204" pitchFamily="34" charset="0"/>
                <a:cs typeface="Arial" panose="020B0604020202020204" pitchFamily="34" charset="0"/>
              </a:rPr>
              <a:t>1 “Midterm Assignment”. You will have 1 day </a:t>
            </a:r>
          </a:p>
          <a:p>
            <a:pPr marL="800100" lvl="1" indent="-342900">
              <a:lnSpc>
                <a:spcPts val="3880"/>
              </a:lnSpc>
              <a:buFont typeface="Wingdings" pitchFamily="2" charset="2"/>
              <a:buChar char="Ø"/>
            </a:pPr>
            <a:r>
              <a:rPr lang="en-US" sz="2000" dirty="0">
                <a:latin typeface="Arial" panose="020B0604020202020204" pitchFamily="34" charset="0"/>
                <a:cs typeface="Arial" panose="020B0604020202020204" pitchFamily="34" charset="0"/>
              </a:rPr>
              <a:t>1 “Final Assignment”. You will have 1 day. </a:t>
            </a:r>
          </a:p>
          <a:p>
            <a:pPr marL="800100" lvl="1" indent="-342900">
              <a:lnSpc>
                <a:spcPts val="3880"/>
              </a:lnSpc>
              <a:buFont typeface="Wingdings" pitchFamily="2" charset="2"/>
              <a:buChar char="Ø"/>
            </a:pPr>
            <a:r>
              <a:rPr lang="en-US" sz="2000" dirty="0">
                <a:latin typeface="Arial" panose="020B0604020202020204" pitchFamily="34" charset="0"/>
                <a:cs typeface="Arial" panose="020B0604020202020204" pitchFamily="34" charset="0"/>
              </a:rPr>
              <a:t>Midterm &amp; Final Assignments are comprehensive w/ different late policy</a:t>
            </a:r>
          </a:p>
          <a:p>
            <a:pPr marL="342900" indent="-3429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Late Policy: You have 2 extra days</a:t>
            </a:r>
          </a:p>
          <a:p>
            <a:pPr marL="800100" lvl="1"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For 4 Assignments: Lose 5% for each additional day</a:t>
            </a:r>
          </a:p>
          <a:p>
            <a:pPr marL="800100" lvl="1" indent="-342900">
              <a:lnSpc>
                <a:spcPct val="150000"/>
              </a:lnSpc>
              <a:buFont typeface="Wingdings" pitchFamily="2" charset="2"/>
              <a:buChar char="Ø"/>
            </a:pPr>
            <a:r>
              <a:rPr lang="en-US" sz="2000" dirty="0">
                <a:latin typeface="Arial" panose="020B0604020202020204" pitchFamily="34" charset="0"/>
                <a:cs typeface="Arial" panose="020B0604020202020204" pitchFamily="34" charset="0"/>
              </a:rPr>
              <a:t>For Midterm and Final Assignments: Lose 15% for each additional day </a:t>
            </a:r>
          </a:p>
        </p:txBody>
      </p:sp>
    </p:spTree>
    <p:extLst>
      <p:ext uri="{BB962C8B-B14F-4D97-AF65-F5344CB8AC3E}">
        <p14:creationId xmlns:p14="http://schemas.microsoft.com/office/powerpoint/2010/main" val="23786592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8925" y="-30397"/>
            <a:ext cx="7878824" cy="646331"/>
          </a:xfrm>
          <a:prstGeom prst="rect">
            <a:avLst/>
          </a:prstGeom>
          <a:noFill/>
        </p:spPr>
        <p:txBody>
          <a:bodyPr wrap="square" rtlCol="0">
            <a:spAutoFit/>
          </a:bodyPr>
          <a:lstStyle/>
          <a:p>
            <a:r>
              <a:rPr lang="en-US" sz="3600" dirty="0"/>
              <a:t>Prerequisites</a:t>
            </a:r>
          </a:p>
        </p:txBody>
      </p:sp>
      <p:cxnSp>
        <p:nvCxnSpPr>
          <p:cNvPr id="5" name="Straight Connector 4"/>
          <p:cNvCxnSpPr/>
          <p:nvPr/>
        </p:nvCxnSpPr>
        <p:spPr>
          <a:xfrm>
            <a:off x="8925" y="698767"/>
            <a:ext cx="9144000" cy="0"/>
          </a:xfrm>
          <a:prstGeom prst="line">
            <a:avLst/>
          </a:prstGeom>
          <a:ln w="57150" cmpd="thickThi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52476" y="621317"/>
            <a:ext cx="9060548" cy="2060885"/>
          </a:xfrm>
          <a:prstGeom prst="rect">
            <a:avLst/>
          </a:prstGeom>
          <a:noFill/>
        </p:spPr>
        <p:txBody>
          <a:bodyPr wrap="square" rtlCol="0">
            <a:spAutoFit/>
          </a:bodyPr>
          <a:lstStyle/>
          <a:p>
            <a:pPr marL="342900" indent="-3429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CS 240/240E is listed but not strictly necessary.</a:t>
            </a:r>
          </a:p>
          <a:p>
            <a:pPr marL="342900" indent="-3429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Programming in a standard language: TBA</a:t>
            </a:r>
          </a:p>
          <a:p>
            <a:pPr marL="342900" indent="-342900">
              <a:lnSpc>
                <a:spcPct val="150000"/>
              </a:lnSpc>
              <a:buFont typeface="Wingdings" pitchFamily="2" charset="2"/>
              <a:buChar char="Ø"/>
            </a:pPr>
            <a:r>
              <a:rPr lang="en-US" sz="2200" dirty="0">
                <a:latin typeface="Arial" panose="020B0604020202020204" pitchFamily="34" charset="0"/>
                <a:cs typeface="Arial" panose="020B0604020202020204" pitchFamily="34" charset="0"/>
              </a:rPr>
              <a:t>General Interest in Software Systems, Data-Intensive Application Programming and Data Management/Processing Systems</a:t>
            </a:r>
          </a:p>
        </p:txBody>
      </p:sp>
    </p:spTree>
    <p:extLst>
      <p:ext uri="{BB962C8B-B14F-4D97-AF65-F5344CB8AC3E}">
        <p14:creationId xmlns:p14="http://schemas.microsoft.com/office/powerpoint/2010/main" val="3568699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ln>
          <a:solidFill>
            <a:schemeClr val="tx1"/>
          </a:solidFill>
          <a:tailEnd type="arrow"/>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26821</TotalTime>
  <Words>4323</Words>
  <Application>Microsoft Macintosh PowerPoint</Application>
  <PresentationFormat>On-screen Show (4:3)</PresentationFormat>
  <Paragraphs>860</Paragraphs>
  <Slides>56</Slides>
  <Notes>56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56</vt:i4>
      </vt:variant>
    </vt:vector>
  </HeadingPairs>
  <TitlesOfParts>
    <vt:vector size="62" baseType="lpstr">
      <vt:lpstr>Arial</vt:lpstr>
      <vt:lpstr>Calibri</vt:lpstr>
      <vt:lpstr>Chalkboard</vt:lpstr>
      <vt:lpstr>Consolas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Stanford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Semih Salihoglu</dc:creator>
  <cp:lastModifiedBy>Semih Salihoglu</cp:lastModifiedBy>
  <cp:revision>961</cp:revision>
  <dcterms:created xsi:type="dcterms:W3CDTF">2016-04-06T14:30:24Z</dcterms:created>
  <dcterms:modified xsi:type="dcterms:W3CDTF">2022-01-04T22:02:24Z</dcterms:modified>
</cp:coreProperties>
</file>