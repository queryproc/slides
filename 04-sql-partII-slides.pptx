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notesSlides/notesSlide21.xml" ContentType="application/vnd.openxmlformats-officedocument.presentationml.notesSlide+xml"/>
  <Override PartName="/ppt/tags/tag20.xml" ContentType="application/vnd.openxmlformats-officedocument.presentationml.tags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ppt/tags/tag23.xml" ContentType="application/vnd.openxmlformats-officedocument.presentationml.tags+xml"/>
  <Override PartName="/ppt/notesSlides/notesSlide25.xml" ContentType="application/vnd.openxmlformats-officedocument.presentationml.notesSlide+xml"/>
  <Override PartName="/ppt/tags/tag24.xml" ContentType="application/vnd.openxmlformats-officedocument.presentationml.tags+xml"/>
  <Override PartName="/ppt/notesSlides/notesSlide26.xml" ContentType="application/vnd.openxmlformats-officedocument.presentationml.notesSlide+xml"/>
  <Override PartName="/ppt/tags/tag25.xml" ContentType="application/vnd.openxmlformats-officedocument.presentationml.tags+xml"/>
  <Override PartName="/ppt/notesSlides/notesSlide27.xml" ContentType="application/vnd.openxmlformats-officedocument.presentationml.notesSlide+xml"/>
  <Override PartName="/ppt/tags/tag26.xml" ContentType="application/vnd.openxmlformats-officedocument.presentationml.tags+xml"/>
  <Override PartName="/ppt/notesSlides/notesSlide28.xml" ContentType="application/vnd.openxmlformats-officedocument.presentationml.notesSlide+xml"/>
  <Override PartName="/ppt/tags/tag27.xml" ContentType="application/vnd.openxmlformats-officedocument.presentationml.tags+xml"/>
  <Override PartName="/ppt/notesSlides/notesSlide29.xml" ContentType="application/vnd.openxmlformats-officedocument.presentationml.notesSlide+xml"/>
  <Override PartName="/ppt/tags/tag28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1"/>
  </p:sldMasterIdLst>
  <p:notesMasterIdLst>
    <p:notesMasterId r:id="rId33"/>
  </p:notesMasterIdLst>
  <p:sldIdLst>
    <p:sldId id="256" r:id="rId2"/>
    <p:sldId id="30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0" r:id="rId13"/>
    <p:sldId id="302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303" r:id="rId27"/>
    <p:sldId id="305" r:id="rId28"/>
    <p:sldId id="306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35" autoAdjust="0"/>
    <p:restoredTop sz="70190" autoAdjust="0"/>
  </p:normalViewPr>
  <p:slideViewPr>
    <p:cSldViewPr snapToGrid="0">
      <p:cViewPr varScale="1">
        <p:scale>
          <a:sx n="70" d="100"/>
          <a:sy n="70" d="100"/>
        </p:scale>
        <p:origin x="1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0:55:25.1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903 22,'-49'-5,"16"-1,-38-1,-126 4,158 5,0 2,1 1,0 3,-74 23,97-25,-1 1,1 1,0 0,1 0,0 2,1 0,0 0,0 1,-16 19,15-13,1 0,1 1,1 0,1 1,0 0,-13 40,14-33,2 0,0 1,2 0,1 0,1 0,2 0,2 49,1-59,1 1,0 0,1-1,1 0,1 0,0-1,1 1,1-1,0-1,2 1,-1-1,2-1,12 14,-3-9,0 0,1-1,1-2,1 0,0-1,1-2,1 0,0-1,0-2,36 10,-24-10,0-2,0-2,0-1,1-1,0-3,75-6,-80 0,1-1,-1-1,0-2,-1-2,0-1,-1-1,0-1,-2-2,1-1,-2-2,49-41,-58 43,-2 0,0-2,-1 0,-1-1,0-1,-2 0,13-27,-17 29,-2-1,0 1,-1-1,-1 0,-1-1,-1 1,-1-1,0 1,-3-30,-1 24,-1-1,-2 1,0 0,-2 0,-1 1,-14-31,14 39,0 0,-1 0,-1 1,-1 1,0-1,-1 2,0 0,-2 0,-22-18,29 27,0 0,0 1,-1 0,1 0,-1 1,0 0,0 0,0 1,-1 0,1 0,0 1,-1 0,1 1,-1 0,1 0,-1 1,1 0,0 0,-1 1,1 0,0 0,0 1,0 0,0 1,-11 6,0 1,1 0,0 2,1 0,-25 23,25-18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1:02:06.4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1:02:10.31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1:04:39.9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622 296,'16'-11,"36"-24,2 3,1 2,2 3,0 2,2 2,1 4,0 1,1 4,1 2,0 3,0 3,64 1,-93 6,0 1,0 2,-1 1,1 1,-1 2,-1 2,35 14,-52-18,-1 0,1 1,-1 1,0 0,-1 1,0 1,0 0,-1 0,-1 1,0 0,0 1,-1 0,0 1,-1 0,-1 0,0 0,8 22,-11-21,-1-1,0 1,0 0,-2 0,0 0,0 0,-1 1,-1-1,-4 23,1-18,-1-1,-1 0,0-1,-2 1,0-1,-17 27,7-18,-2-1,0-1,-2-1,0 0,-2-2,0 0,-1-2,-42 25,8-13,-1-1,-2-4,0-2,-71 17,29-17,-194 21,203-38,-102-5,139-5,0-3,-111-26,143 25,1-1,0-1,0-1,1-1,-29-18,43 22,0 0,1 0,0-1,0 0,0-1,1 1,1-2,-1 1,2-1,-1 0,1-1,1 1,-8-20,10 18,0 1,1-1,0 0,0 0,1 1,1-1,0 0,1 0,2-13,1 7,0 0,1 1,1-1,1 1,12-22,1 5,1 1,3 0,0 2,53-52,-38 46,2 2,2 1,0 2,3 2,0 3,2 1,0 2,2 2,0 3,78-19,-74 28,-20 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1:01:21.72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903 22,'-49'-5,"16"-1,-38-1,-126 4,158 5,0 2,1 1,0 3,-74 23,97-25,-1 1,1 1,0 0,1 0,0 2,1 0,0 0,0 1,-16 19,15-13,1 0,1 1,1 0,1 1,0 0,-13 40,14-33,2 0,0 1,2 0,1 0,1 0,2 0,2 49,1-59,1 1,0 0,1-1,1 0,1 0,0-1,1 1,1-1,0-1,2 1,-1-1,2-1,12 14,-3-9,0 0,1-1,1-2,1 0,0-1,1-2,1 0,0-1,0-2,36 10,-24-10,0-2,0-2,0-1,1-1,0-3,75-6,-80 0,1-1,-1-1,0-2,-1-2,0-1,-1-1,0-1,-2-2,1-1,-2-2,49-41,-58 43,-2 0,0-2,-1 0,-1-1,0-1,-2 0,13-27,-17 29,-2-1,0 1,-1-1,-1 0,-1-1,-1 1,-1-1,0 1,-3-30,-1 24,-1-1,-2 1,0 0,-2 0,-1 1,-14-31,14 39,0 0,-1 0,-1 1,-1 1,0-1,-1 2,0 0,-2 0,-22-18,29 27,0 0,0 1,-1 0,1 0,-1 1,0 0,0 0,0 1,-1 0,1 0,0 1,-1 0,1 1,-1 0,1 0,-1 1,1 0,0 0,-1 1,1 0,0 0,0 1,0 0,0 1,-11 6,0 1,1 0,0 2,1 0,-25 23,25-18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5T21:05:34.35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622 296,'16'-11,"36"-24,2 3,1 2,2 3,0 2,2 2,1 4,0 1,1 4,1 2,0 3,0 3,64 1,-93 6,0 1,0 2,-1 1,1 1,-1 2,-1 2,35 14,-52-18,-1 0,1 1,-1 1,0 0,-1 1,0 1,0 0,-1 0,-1 1,0 0,0 1,-1 0,0 1,-1 0,-1 0,0 0,8 22,-11-21,-1-1,0 1,0 0,-2 0,0 0,0 0,-1 1,-1-1,-4 23,1-18,-1-1,-1 0,0-1,-2 1,0-1,-17 27,7-18,-2-1,0-1,-2-1,0 0,-2-2,0 0,-1-2,-42 25,8-13,-1-1,-2-4,0-2,-71 17,29-17,-194 21,203-38,-102-5,139-5,0-3,-111-26,143 25,1-1,0-1,0-1,1-1,-29-18,43 22,0 0,1 0,0-1,0 0,0-1,1 1,1-2,-1 1,2-1,-1 0,1-1,1 1,-8-20,10 18,0 1,1-1,0 0,0 0,1 1,1-1,0 0,1 0,2-13,1 7,0 0,1 1,1-1,1 1,12-22,1 5,1 1,3 0,0 2,53-52,-38 46,2 2,2 1,0 2,3 2,0 3,2 1,0 2,2 2,0 3,78-19,-74 28,-20 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7T22:14:08.44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6508 627,'125'22,"-1"5,128 47,-167-42,0 3,-2 3,120 77,-162-87,41 35,-64-47,-1 1,0 0,-1 2,14 19,-25-29,1-1,-1 1,-1 0,0 0,0 1,0-1,2 16,-5-18,0-1,-1 0,1 0,-2 0,1 1,-1-1,1 0,-2 0,1 0,-1 0,0 0,0 0,-4 7,-1-1,-1 0,0-1,0 0,-1-1,0 0,-1 0,-18 14,-91 55,-212 98,-19-22,-62 9,-621 163,692-247,-3-15,-480 29,324-77,-751-72,699-12,14-46,445 87,0-4,3-4,1-4,-92-54,135 64,1-3,1-1,-53-52,69 56,0-2,3-1,0-1,2 0,-23-45,34 53,0 0,2-1,1-1,1 0,1 0,1 0,-3-28,8 32,0 1,1-1,2 1,0 0,1-1,1 1,1 0,0 1,13-29,-2 15,1 1,1 1,2 0,2 2,0 0,43-42,-14 23,2 2,96-65,-53 51,193-92,129-5,453-46,1041-12,-1454 203,774 79,-857-16,-2 16,524 165,-670-152,-65-8,-146-63,0 0,-1 2,-1 0,20 17,-31-24,0-1,-1 1,0-1,1 1,-1 0,0 0,0 0,-1 0,1 0,-1 1,1-1,-1 0,0 1,0-1,-1 1,1 3,-1-3,0-1,-1 0,1 0,-1 1,0-1,0 0,0 0,0 0,-1 0,1 0,-1 0,0 0,0 0,-2 2,-7 6,1-1,-2-1,1 1,-1-2,-1 0,-13 7,-26 12,-2-1,-103 32,104-42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7T22:14:13.397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970 317,'0'0,"-3"2,-249 152,-356 288,602-438,-78 71,68-54,16-21,0 0,0 0,-1 1,1-1,0 0,0 0,0 1,0-1,0 0,0 0,0 1,0-1,0 0,0 0,0 1,0-1,0 0,0 0,1 1,-1-1,0 0,0 0,0 1,0-1,0 0,1 0,-1 1,0-1,0 0,0 0,0 0,1 0,-1 1,0-1,0 0,1 0,-1 0,0 0,0 0,1 0,-1 0,0 0,0 1,1-1,-1 0,0 0,0 0,1 0,-1 0,0 0,0-1,1 1,-1 0,0 0,1 0,-1 0,20-4,-20 4,104-32,87-20,-109 39,0 4,1 3,0 4,-1 4,1 3,0 3,121 30,-176-32,-2 2,1 0,-1 2,35 18,-56-26,-6-3,-11-8,-15-12,-49-52,-84-107,84 92,-10-11,-343-368,416 454,4 4,1 1,-1 0,-1 0,0 0,0 1,-20-10,29 16,1 1,-1 0,1-1,-1 1,0 0,1 0,-1 0,1-1,-1 1,0 0,1 0,-1 0,1 0,-1 0,0 0,1 0,-1 0,0 0,1 0,-1 0,1 1,-1-1,0 0,1 0,-1 1,1-1,-1 0,1 1,-1-1,1 1,-1-1,1 0,-1 1,1-1,-1 1,1-1,0 1,-1-1,1 1,0 0,-1 0,1 3,-1-1,1 1,0-1,-1 1,2 0,0 6,8 49,3-1,20 59,-9-33,89 308,30-11,-139-375,34 69,-33-67,1-1,0 1,1-1,-1 0,1 0,9 7,-14-13,0 0,-1 0,1-1,0 1,0 0,0-1,0 1,0 0,0-1,0 1,0-1,0 0,0 1,0-1,0 0,0 0,1 1,-1-1,0 0,0 0,0 0,0-1,0 1,0 0,0 0,1 0,-1-1,0 1,0-1,0 1,1-2,0 0,0 0,0 0,0-1,0 1,-1-1,1 0,-1 1,1-1,-1 0,0 0,1-3,4-24,0 0,-2-1,0-49,-3 55,40-621,-37 595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69ED9-CB95-4DAD-9B9B-E560A3321DCE}" type="datetimeFigureOut">
              <a:rPr lang="en-US" smtClean="0"/>
              <a:t>7/26/2021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470F9-3B63-4A29-A4D2-E4DBA5B3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0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4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57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9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16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4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20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96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6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95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955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670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574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78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44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2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1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16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22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92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CA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At most one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PRIMARY</a:t>
                </a:r>
                <a:r>
                  <a:rPr lang="en-US" dirty="0">
                    <a:solidFill>
                      <a:schemeClr val="tx2"/>
                    </a:solidFill>
                  </a:rPr>
                  <a:t>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KEY</a:t>
                </a:r>
                <a:r>
                  <a:rPr lang="en-US" dirty="0"/>
                  <a:t> per table</a:t>
                </a:r>
              </a:p>
              <a:p>
                <a:pPr lvl="1"/>
                <a:r>
                  <a:rPr lang="en-US" dirty="0"/>
                  <a:t>Typically implies a </a:t>
                </a:r>
                <a:r>
                  <a:rPr lang="en-US" dirty="0">
                    <a:solidFill>
                      <a:schemeClr val="accent2"/>
                    </a:solidFill>
                  </a:rPr>
                  <a:t>primary index</a:t>
                </a:r>
              </a:p>
              <a:p>
                <a:pPr lvl="1"/>
                <a:r>
                  <a:rPr lang="en-US" dirty="0"/>
                  <a:t>Rows are stored inside the index, typically sorted by the primary key value </a:t>
                </a:r>
                <a:r>
                  <a:rPr lang="en-US" i="0" dirty="0">
                    <a:latin typeface="Cambria Math"/>
                  </a:rPr>
                  <a:t>⇒</a:t>
                </a:r>
                <a:r>
                  <a:rPr lang="en-US" dirty="0"/>
                  <a:t> best speedup for queries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Any number of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UNIQUE</a:t>
                </a:r>
                <a:r>
                  <a:rPr lang="en-US" dirty="0"/>
                  <a:t> keys per table</a:t>
                </a:r>
              </a:p>
              <a:p>
                <a:pPr lvl="1"/>
                <a:r>
                  <a:rPr lang="en-US" dirty="0"/>
                  <a:t>Typically implies a </a:t>
                </a:r>
                <a:r>
                  <a:rPr lang="en-US" dirty="0">
                    <a:solidFill>
                      <a:schemeClr val="accent2"/>
                    </a:solidFill>
                  </a:rPr>
                  <a:t>secondary index</a:t>
                </a:r>
              </a:p>
              <a:p>
                <a:pPr lvl="1"/>
                <a:r>
                  <a:rPr lang="en-US" dirty="0"/>
                  <a:t>Pointers to rows are stored inside the index </a:t>
                </a:r>
                <a:r>
                  <a:rPr lang="en-US" i="0" dirty="0">
                    <a:latin typeface="Cambria Math"/>
                  </a:rPr>
                  <a:t>⇒</a:t>
                </a:r>
                <a:r>
                  <a:rPr lang="en-US" dirty="0"/>
                  <a:t> less speedup for queries</a:t>
                </a:r>
              </a:p>
              <a:p>
                <a:endParaRPr lang="en-CA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873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679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334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87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288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847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764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7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938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470F9-3B63-4A29-A4D2-E4DBA5B3258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79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85E7-7033-4BD1-A625-C36166465D7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36" y="162161"/>
            <a:ext cx="8801664" cy="11801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173014" cy="5264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68C2A-DC08-4D71-B5BC-A571B022E25E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1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9DCD6-3D10-40FA-A88B-E0AD5136A360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8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D43D1-D08D-4D7D-B4AB-E82156BEAC2C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6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8F3BF-3FC2-4600-9976-243D0786F5BB}" type="datetime1">
              <a:rPr lang="en-US" smtClean="0"/>
              <a:t>7/26/2021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2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E7219-C430-46CE-85B9-30B4F0CA56AD}" type="datetime1">
              <a:rPr lang="en-US" smtClean="0"/>
              <a:t>7/26/2021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6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6457F-C273-4FC9-8FE1-6D874FEF83EF}" type="datetime1">
              <a:rPr lang="en-US" smtClean="0"/>
              <a:t>7/26/2021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8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3ADF5-D710-4EBB-AA69-2A818CDF92E1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7EE3B-FC30-46DA-98F7-BE80A4010F5D}" type="datetime1">
              <a:rPr lang="en-US" smtClean="0"/>
              <a:t>7/26/2021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8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61231-A0A7-4403-8B90-83ED4F249362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85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661F2-D403-4BA1-A95E-62DE29B59CB4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3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7D50E-B569-40DB-B6B5-FEED8173E279}" type="datetime1">
              <a:rPr lang="en-US" smtClean="0"/>
              <a:t>7/26/2021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99FA5-7995-46A9-A97E-16E38AD58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4.xml"/><Relationship Id="rId3" Type="http://schemas.openxmlformats.org/officeDocument/2006/relationships/notesSlide" Target="../notesSlides/notesSlide11.xml"/><Relationship Id="rId7" Type="http://schemas.openxmlformats.org/officeDocument/2006/relationships/customXml" Target="../ink/ink1.xml"/><Relationship Id="rId12" Type="http://schemas.openxmlformats.org/officeDocument/2006/relationships/customXml" Target="../ink/ink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50.png"/><Relationship Id="rId11" Type="http://schemas.openxmlformats.org/officeDocument/2006/relationships/image" Target="../media/image80.png"/><Relationship Id="rId10" Type="http://schemas.openxmlformats.org/officeDocument/2006/relationships/customXml" Target="../ink/ink2.xml"/><Relationship Id="rId9" Type="http://schemas.openxmlformats.org/officeDocument/2006/relationships/image" Target="../media/image70.png"/><Relationship Id="rId1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3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11.png"/><Relationship Id="rId12" Type="http://schemas.openxmlformats.org/officeDocument/2006/relationships/image" Target="../media/image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00.png"/><Relationship Id="rId11" Type="http://schemas.openxmlformats.org/officeDocument/2006/relationships/customXml" Target="../ink/ink6.xml"/><Relationship Id="rId10" Type="http://schemas.openxmlformats.org/officeDocument/2006/relationships/image" Target="../media/image60.png"/><Relationship Id="rId9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customXml" Target="../ink/ink7.xml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1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SQL: Part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Database Management</a:t>
            </a:r>
          </a:p>
          <a:p>
            <a:r>
              <a:rPr lang="en-US" dirty="0"/>
              <a:t>CS348 Spring 2021</a:t>
            </a:r>
          </a:p>
        </p:txBody>
      </p:sp>
    </p:spTree>
    <p:extLst>
      <p:ext uri="{BB962C8B-B14F-4D97-AF65-F5344CB8AC3E}">
        <p14:creationId xmlns:p14="http://schemas.microsoft.com/office/powerpoint/2010/main" val="366528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SQL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+mj-lt"/>
              </a:rPr>
              <a:t>Query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SELECT-FROM-WHERE statements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Set/bag (DISTINCT, UNION/EXCEPT/INTERSECT (ALL))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Subqueries (table, scalar, IN, EXISTS, ALL, ANY)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Aggregation and grouping (GROUP BY, HAVING)</a:t>
            </a:r>
          </a:p>
          <a:p>
            <a:pPr lvl="1">
              <a:defRPr/>
            </a:pPr>
            <a:r>
              <a:rPr lang="en-US" dirty="0">
                <a:latin typeface="+mj-lt"/>
              </a:rPr>
              <a:t>Ordering (ORDER)</a:t>
            </a:r>
          </a:p>
          <a:p>
            <a:pPr lvl="1">
              <a:defRPr/>
            </a:pPr>
            <a:r>
              <a:rPr lang="en-US" dirty="0" err="1">
                <a:solidFill>
                  <a:schemeClr val="accent2"/>
                </a:solidFill>
                <a:latin typeface="+mj-lt"/>
              </a:rPr>
              <a:t>Outerjoins</a:t>
            </a:r>
            <a:r>
              <a:rPr lang="en-US" dirty="0">
                <a:solidFill>
                  <a:schemeClr val="accent2"/>
                </a:solidFill>
                <a:latin typeface="+mj-lt"/>
              </a:rPr>
              <a:t> (and Nulls)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Modification</a:t>
            </a:r>
          </a:p>
          <a:p>
            <a:pPr lvl="1"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INSERT/DELETE/UPDATE</a:t>
            </a:r>
          </a:p>
          <a:p>
            <a:pPr>
              <a:defRPr/>
            </a:pPr>
            <a:r>
              <a:rPr lang="en-US" dirty="0">
                <a:solidFill>
                  <a:schemeClr val="accent2"/>
                </a:solidFill>
                <a:latin typeface="+mj-lt"/>
              </a:rPr>
              <a:t>Constraints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</a:t>
            </a:fld>
            <a:endParaRPr lang="en-US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7E2366B7-C07E-4B3F-BC50-030091144E4D}"/>
              </a:ext>
            </a:extLst>
          </p:cNvPr>
          <p:cNvSpPr/>
          <p:nvPr/>
        </p:nvSpPr>
        <p:spPr>
          <a:xfrm>
            <a:off x="4202445" y="3993462"/>
            <a:ext cx="383177" cy="1735501"/>
          </a:xfrm>
          <a:prstGeom prst="rightBracket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BAB32-6CD9-4E4A-9BE2-10C34CCD1467}"/>
              </a:ext>
            </a:extLst>
          </p:cNvPr>
          <p:cNvSpPr txBox="1"/>
          <p:nvPr/>
        </p:nvSpPr>
        <p:spPr>
          <a:xfrm>
            <a:off x="4809336" y="4399548"/>
            <a:ext cx="17716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2"/>
                </a:solidFill>
              </a:rPr>
              <a:t>Lecture 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147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Incomplete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User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/>
              <a:t>age</a:t>
            </a:r>
            <a:r>
              <a:rPr lang="en-US" dirty="0"/>
              <a:t>, </a:t>
            </a:r>
            <a:r>
              <a:rPr lang="en-US" i="1" dirty="0"/>
              <a:t>pop</a:t>
            </a:r>
            <a:r>
              <a:rPr lang="en-US" dirty="0"/>
              <a:t>)</a:t>
            </a:r>
          </a:p>
          <a:p>
            <a:r>
              <a:rPr lang="en-US" dirty="0"/>
              <a:t>Value </a:t>
            </a:r>
            <a:r>
              <a:rPr lang="en-US" dirty="0">
                <a:solidFill>
                  <a:schemeClr val="accent2"/>
                </a:solidFill>
              </a:rPr>
              <a:t>unknown</a:t>
            </a:r>
          </a:p>
          <a:p>
            <a:pPr lvl="1"/>
            <a:r>
              <a:rPr lang="en-US" dirty="0"/>
              <a:t>We do not know Nelson’s age</a:t>
            </a:r>
          </a:p>
          <a:p>
            <a:r>
              <a:rPr lang="en-US" dirty="0"/>
              <a:t>Value </a:t>
            </a:r>
            <a:r>
              <a:rPr lang="en-US" dirty="0">
                <a:solidFill>
                  <a:schemeClr val="accent2"/>
                </a:solidFill>
              </a:rPr>
              <a:t>not applicable</a:t>
            </a:r>
          </a:p>
          <a:p>
            <a:pPr lvl="1"/>
            <a:r>
              <a:rPr lang="en-US" dirty="0"/>
              <a:t>Suppose </a:t>
            </a:r>
            <a:r>
              <a:rPr lang="en-US" i="1" dirty="0"/>
              <a:t>pop</a:t>
            </a:r>
            <a:r>
              <a:rPr lang="en-US" dirty="0"/>
              <a:t> is based on interactions with others on our social networking site</a:t>
            </a:r>
          </a:p>
          <a:p>
            <a:pPr lvl="1"/>
            <a:r>
              <a:rPr lang="en-US" dirty="0"/>
              <a:t>Nelson is new to our site; what is his </a:t>
            </a:r>
            <a:r>
              <a:rPr lang="en-US" i="1" dirty="0"/>
              <a:t>pop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323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Dedicate a value</a:t>
                </a:r>
                <a:r>
                  <a:rPr lang="en-US" dirty="0"/>
                  <a:t> from each domain (type)</a:t>
                </a:r>
              </a:p>
              <a:p>
                <a:pPr lvl="1"/>
                <a:r>
                  <a:rPr lang="en-US" i="1" dirty="0"/>
                  <a:t>pop</a:t>
                </a:r>
                <a:r>
                  <a:rPr lang="en-US" dirty="0"/>
                  <a:t> cannot be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/>
                      </a:rPr>
                      <m:t>−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, so use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/>
                      </a:rPr>
                      <m:t>−</m:t>
                    </m:r>
                    <m:r>
                      <a:rPr lang="en-US" i="1" dirty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 as a special value to indicate a missing or invalid </a:t>
                </a:r>
                <a:r>
                  <a:rPr lang="en-US" i="1" dirty="0"/>
                  <a:t>pop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Perhaps the value is not </a:t>
                </a:r>
                <a:br>
                  <a:rPr lang="en-US" dirty="0"/>
                </a:br>
                <a:r>
                  <a:rPr lang="en-US" dirty="0"/>
                  <a:t>as special as you think!</a:t>
                </a:r>
              </a:p>
              <a:p>
                <a:pPr lvl="2"/>
                <a:r>
                  <a:rPr lang="en-US" dirty="0"/>
                  <a:t>the Y2K bug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168" y="4055704"/>
            <a:ext cx="4044981" cy="26237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38043" y="6627168"/>
            <a:ext cx="32071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Prestige12 BT" panose="02070509030506020304" pitchFamily="49" charset="0"/>
              </a:rPr>
              <a:t>http://www.90s411.com/images/y2k-cartoon.jpg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253F5-228B-40DF-BD6D-3326F28C0A36}"/>
              </a:ext>
            </a:extLst>
          </p:cNvPr>
          <p:cNvSpPr/>
          <p:nvPr/>
        </p:nvSpPr>
        <p:spPr>
          <a:xfrm>
            <a:off x="1138188" y="2825552"/>
            <a:ext cx="4828503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AVG(pop) </a:t>
            </a:r>
            <a:r>
              <a:rPr lang="en-US" dirty="0"/>
              <a:t>FROM User;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E0EFA-99C2-434B-9A99-8C02096532DC}"/>
              </a:ext>
            </a:extLst>
          </p:cNvPr>
          <p:cNvSpPr/>
          <p:nvPr/>
        </p:nvSpPr>
        <p:spPr>
          <a:xfrm>
            <a:off x="1138188" y="3429000"/>
            <a:ext cx="4828503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AVG(pop) </a:t>
            </a:r>
            <a:r>
              <a:rPr lang="en-US" dirty="0"/>
              <a:t>FROM User WHERE </a:t>
            </a:r>
            <a:r>
              <a:rPr lang="en-US" dirty="0">
                <a:solidFill>
                  <a:schemeClr val="accent2"/>
                </a:solidFill>
              </a:rPr>
              <a:t>pop &lt;&gt; -1</a:t>
            </a:r>
            <a:r>
              <a:rPr lang="en-US" dirty="0"/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D71707-44FA-4639-80A9-229170988759}"/>
              </a:ext>
            </a:extLst>
          </p:cNvPr>
          <p:cNvSpPr txBox="1"/>
          <p:nvPr/>
        </p:nvSpPr>
        <p:spPr>
          <a:xfrm rot="20955794">
            <a:off x="5083151" y="2653608"/>
            <a:ext cx="2448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Incorrect answers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9CA57-3EA9-42C7-AFC7-3C24D19482D3}"/>
              </a:ext>
            </a:extLst>
          </p:cNvPr>
          <p:cNvSpPr txBox="1"/>
          <p:nvPr/>
        </p:nvSpPr>
        <p:spPr>
          <a:xfrm rot="20955794">
            <a:off x="5814460" y="3313570"/>
            <a:ext cx="1848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Complicated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7935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valid-bit for every column</a:t>
            </a:r>
          </a:p>
          <a:p>
            <a:pPr lvl="1"/>
            <a:r>
              <a:rPr lang="en-US" i="1" dirty="0"/>
              <a:t>User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	        </a:t>
            </a:r>
            <a:r>
              <a:rPr lang="en-US" i="1" dirty="0"/>
              <a:t>name</a:t>
            </a:r>
            <a:r>
              <a:rPr lang="en-US" dirty="0"/>
              <a:t>, </a:t>
            </a:r>
            <a:r>
              <a:rPr lang="en-US" i="1" dirty="0" err="1"/>
              <a:t>name_is_valid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        </a:t>
            </a:r>
            <a:r>
              <a:rPr lang="en-US" i="1" dirty="0"/>
              <a:t>age</a:t>
            </a:r>
            <a:r>
              <a:rPr lang="en-US" dirty="0"/>
              <a:t>, </a:t>
            </a:r>
            <a:r>
              <a:rPr lang="en-US" i="1" dirty="0" err="1"/>
              <a:t>age_is_valid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        </a:t>
            </a:r>
            <a:r>
              <a:rPr lang="en-US" i="1" dirty="0"/>
              <a:t>pop</a:t>
            </a:r>
            <a:r>
              <a:rPr lang="en-US" dirty="0"/>
              <a:t>, </a:t>
            </a:r>
            <a:r>
              <a:rPr lang="en-US" i="1" dirty="0" err="1"/>
              <a:t>pop_is_valid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Complicates schema and queries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9E1F41-ED62-41A3-9CE1-5283F373C4B1}"/>
              </a:ext>
            </a:extLst>
          </p:cNvPr>
          <p:cNvSpPr/>
          <p:nvPr/>
        </p:nvSpPr>
        <p:spPr>
          <a:xfrm>
            <a:off x="1175133" y="4223327"/>
            <a:ext cx="5545803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</a:t>
            </a:r>
            <a:r>
              <a:rPr lang="en-US" dirty="0">
                <a:solidFill>
                  <a:schemeClr val="accent2"/>
                </a:solidFill>
              </a:rPr>
              <a:t>AVG(pop) </a:t>
            </a:r>
            <a:r>
              <a:rPr lang="en-US" dirty="0"/>
              <a:t>FROM User WHERE </a:t>
            </a:r>
            <a:r>
              <a:rPr lang="en-US" dirty="0" err="1">
                <a:solidFill>
                  <a:schemeClr val="accent2"/>
                </a:solidFill>
              </a:rPr>
              <a:t>pop_is_valid</a:t>
            </a:r>
            <a:r>
              <a:rPr lang="en-US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500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Decompose the table; missing row = missing value</a:t>
            </a:r>
          </a:p>
          <a:p>
            <a:pPr lvl="1"/>
            <a:r>
              <a:rPr lang="en-US" i="1" dirty="0" err="1"/>
              <a:t>UserName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name</a:t>
            </a:r>
            <a:r>
              <a:rPr lang="en-US" dirty="0"/>
              <a:t>)</a:t>
            </a:r>
          </a:p>
          <a:p>
            <a:pPr lvl="1"/>
            <a:r>
              <a:rPr lang="en-US" i="1" dirty="0" err="1"/>
              <a:t>UserAge</a:t>
            </a:r>
            <a:r>
              <a:rPr lang="en-US" dirty="0"/>
              <a:t> 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age</a:t>
            </a:r>
            <a:r>
              <a:rPr lang="en-US" dirty="0"/>
              <a:t>)</a:t>
            </a:r>
          </a:p>
          <a:p>
            <a:pPr lvl="1"/>
            <a:r>
              <a:rPr lang="en-US" i="1" dirty="0" err="1"/>
              <a:t>UserPop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u="sng" dirty="0" err="1"/>
              <a:t>uid</a:t>
            </a:r>
            <a:r>
              <a:rPr lang="en-US" dirty="0"/>
              <a:t>, </a:t>
            </a:r>
            <a:r>
              <a:rPr lang="en-US" i="1" dirty="0"/>
              <a:t>pop</a:t>
            </a:r>
            <a:r>
              <a:rPr lang="en-US" dirty="0"/>
              <a:t>)</a:t>
            </a:r>
          </a:p>
          <a:p>
            <a:pPr lvl="1"/>
            <a:r>
              <a:rPr lang="en-US" i="1" dirty="0" err="1"/>
              <a:t>UserID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u="sng" dirty="0" err="1"/>
              <a:t>uid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Conceptually the cleanest solution</a:t>
            </a:r>
          </a:p>
          <a:p>
            <a:r>
              <a:rPr lang="en-US" dirty="0"/>
              <a:t>Still complicates schema and queries</a:t>
            </a:r>
          </a:p>
          <a:p>
            <a:pPr lvl="1"/>
            <a:r>
              <a:rPr lang="en-US" dirty="0"/>
              <a:t>How to get all information about users in a table?</a:t>
            </a:r>
          </a:p>
          <a:p>
            <a:pPr lvl="1"/>
            <a:r>
              <a:rPr lang="en-US" dirty="0"/>
              <a:t>Natural join doesn’t work!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568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SQL’s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special value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NULL</a:t>
                </a:r>
              </a:p>
              <a:p>
                <a:pPr lvl="1"/>
                <a:r>
                  <a:rPr lang="en-US" dirty="0"/>
                  <a:t>For every domain</a:t>
                </a:r>
              </a:p>
              <a:p>
                <a:pPr lvl="1"/>
                <a:r>
                  <a:rPr lang="en-US" dirty="0"/>
                  <a:t>Special rules for dealing with </a:t>
                </a:r>
                <a:r>
                  <a:rPr lang="en-US" dirty="0">
                    <a:latin typeface="Prestige12 BT" panose="02070509030506020304" pitchFamily="49" charset="0"/>
                  </a:rPr>
                  <a:t>NULL</a:t>
                </a:r>
                <a:r>
                  <a:rPr lang="en-US" dirty="0"/>
                  <a:t>’s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Example: </a:t>
                </a:r>
                <a:r>
                  <a:rPr lang="en-US" i="1" dirty="0"/>
                  <a:t>User </a:t>
                </a:r>
                <a:r>
                  <a:rPr lang="en-US" dirty="0"/>
                  <a:t>(</a:t>
                </a:r>
                <a:r>
                  <a:rPr lang="en-US" i="1" u="sng" dirty="0" err="1"/>
                  <a:t>uid</a:t>
                </a:r>
                <a:r>
                  <a:rPr lang="en-US" dirty="0"/>
                  <a:t>, </a:t>
                </a:r>
                <a:r>
                  <a:rPr lang="en-US" i="1" dirty="0"/>
                  <a:t>name</a:t>
                </a:r>
                <a:r>
                  <a:rPr lang="en-US" dirty="0"/>
                  <a:t>, </a:t>
                </a:r>
                <a:r>
                  <a:rPr lang="en-US" i="1" dirty="0"/>
                  <a:t>age</a:t>
                </a:r>
                <a:r>
                  <a:rPr lang="en-US" dirty="0"/>
                  <a:t>, </a:t>
                </a:r>
                <a:r>
                  <a:rPr lang="en-US" i="1" dirty="0"/>
                  <a:t>pop</a:t>
                </a:r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dirty="0"/>
                          <m:t>789, “</m:t>
                        </m:r>
                        <m:r>
                          <m:rPr>
                            <m:nor/>
                          </m:rPr>
                          <a:rPr lang="en-US" dirty="0"/>
                          <m:t>Nelson</m:t>
                        </m:r>
                        <m:r>
                          <m:rPr>
                            <m:nor/>
                          </m:rPr>
                          <a:rPr lang="en-US" dirty="0"/>
                          <m:t>”,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Prestige12 BT" panose="02070509030506020304" pitchFamily="49" charset="0"/>
                          </a:rPr>
                          <m:t>NULL</m:t>
                        </m:r>
                        <m:r>
                          <m:rPr>
                            <m:nor/>
                          </m:rPr>
                          <a:rPr lang="en-US" dirty="0"/>
                          <m:t>,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>
                            <a:latin typeface="Prestige12 BT" panose="02070509030506020304" pitchFamily="49" charset="0"/>
                          </a:rPr>
                          <m:t>NULL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/>
                <a:stretch>
                  <a:fillRect l="-1342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115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Three-valued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Comparing a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NULL</a:t>
                </a:r>
                <a:r>
                  <a:rPr lang="en-US" dirty="0"/>
                  <a:t> with another value (including another </a:t>
                </a:r>
                <a:r>
                  <a:rPr lang="en-US" dirty="0">
                    <a:latin typeface="Prestige12 BT" panose="02070509030506020304" pitchFamily="49" charset="0"/>
                  </a:rPr>
                  <a:t>NULL</a:t>
                </a:r>
                <a:r>
                  <a:rPr lang="en-US" dirty="0">
                    <a:solidFill>
                      <a:schemeClr val="accent2"/>
                    </a:solidFill>
                  </a:rPr>
                  <a:t>) using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, etc</a:t>
                </a:r>
                <a:r>
                  <a:rPr lang="en-US" dirty="0"/>
                  <a:t>., the result is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NULL</a:t>
                </a:r>
                <a:b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</a:br>
                <a:endParaRPr lang="en-US" dirty="0">
                  <a:solidFill>
                    <a:schemeClr val="accent2"/>
                  </a:solidFill>
                  <a:latin typeface="Prestige12 BT" panose="02070509030506020304" pitchFamily="49" charset="0"/>
                </a:endParaRPr>
              </a:p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WHERE</a:t>
                </a:r>
                <a:r>
                  <a:rPr lang="en-US" dirty="0"/>
                  <a:t> and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HAVING</a:t>
                </a:r>
                <a:r>
                  <a:rPr lang="en-US" dirty="0"/>
                  <a:t> clauses only select rows for output if the condition evaluates to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TRUE</a:t>
                </a:r>
              </a:p>
              <a:p>
                <a:pPr lvl="1"/>
                <a:r>
                  <a:rPr lang="en-US" dirty="0">
                    <a:latin typeface="Prestige12 BT" panose="02070509030506020304" pitchFamily="49" charset="0"/>
                  </a:rPr>
                  <a:t>NULL</a:t>
                </a:r>
                <a:r>
                  <a:rPr lang="en-US" dirty="0"/>
                  <a:t> is not enough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Aggregate</a:t>
                </a:r>
                <a:r>
                  <a:rPr lang="en-US" dirty="0"/>
                  <a:t> functions </a:t>
                </a:r>
                <a:r>
                  <a:rPr lang="en-US" dirty="0">
                    <a:solidFill>
                      <a:schemeClr val="accent2"/>
                    </a:solidFill>
                  </a:rPr>
                  <a:t>ignore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NULL</a:t>
                </a:r>
                <a:r>
                  <a:rPr lang="en-US" dirty="0">
                    <a:solidFill>
                      <a:schemeClr val="accent2"/>
                    </a:solidFill>
                  </a:rPr>
                  <a:t>, except </a:t>
                </a: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COUNT(*)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r="-37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A68363-4A82-44EA-A9E5-4DF6665EA7F2}"/>
                  </a:ext>
                </a:extLst>
              </p:cNvPr>
              <p:cNvSpPr txBox="1"/>
              <p:nvPr/>
            </p:nvSpPr>
            <p:spPr>
              <a:xfrm>
                <a:off x="1263634" y="1342321"/>
                <a:ext cx="6616732" cy="15696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latin typeface="Prestige12 BT" panose="02070509030506020304" pitchFamily="49" charset="0"/>
                  </a:rPr>
                  <a:t>TRUE</a:t>
                </a:r>
                <a:r>
                  <a:rPr lang="en-US" sz="2400" dirty="0"/>
                  <a:t> = 1, </a:t>
                </a:r>
                <a:r>
                  <a:rPr lang="en-US" sz="2400" dirty="0">
                    <a:latin typeface="Prestige12 BT" panose="02070509030506020304" pitchFamily="49" charset="0"/>
                  </a:rPr>
                  <a:t>FALSE</a:t>
                </a:r>
                <a:r>
                  <a:rPr lang="en-US" sz="2400" dirty="0"/>
                  <a:t> = 0, </a:t>
                </a:r>
                <a:r>
                  <a:rPr lang="en-US" sz="2400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UNKNOWN</a:t>
                </a:r>
                <a:r>
                  <a:rPr lang="en-US" sz="2400" dirty="0"/>
                  <a:t> = 0.5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Prestige12 BT" panose="02070509030506020304" pitchFamily="49" charset="0"/>
                  </a:rPr>
                  <a:t>AND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/>
                      </a:rPr>
                      <m:t>min</m:t>
                    </m:r>
                    <m:r>
                      <a:rPr lang="en-US" sz="2400" i="1" dirty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, </m:t>
                    </m:r>
                    <m:r>
                      <a:rPr lang="en-US" sz="2400" i="1" dirty="0">
                        <a:latin typeface="Cambria Math"/>
                      </a:rPr>
                      <m:t>𝑦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Prestige12 BT" panose="02070509030506020304" pitchFamily="49" charset="0"/>
                  </a:rPr>
                  <a:t>OR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i="1" dirty="0">
                        <a:latin typeface="Cambria Math"/>
                      </a:rPr>
                      <m:t>max</m:t>
                    </m:r>
                    <m:r>
                      <a:rPr lang="en-US" sz="2400" i="1" dirty="0">
                        <a:latin typeface="Cambria Math"/>
                      </a:rPr>
                      <m:t>⁡(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  <m:r>
                      <a:rPr lang="en-US" sz="2400" i="1" dirty="0">
                        <a:latin typeface="Cambria Math"/>
                      </a:rPr>
                      <m:t>, </m:t>
                    </m:r>
                    <m:r>
                      <a:rPr lang="en-US" sz="2400" i="1" dirty="0">
                        <a:latin typeface="Cambria Math"/>
                      </a:rPr>
                      <m:t>𝑦</m:t>
                    </m:r>
                    <m:r>
                      <a:rPr lang="en-US" sz="2400" i="1" dirty="0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algn="ctr"/>
                <a:r>
                  <a:rPr lang="en-US" sz="2400" dirty="0">
                    <a:latin typeface="Prestige12 BT" panose="02070509030506020304" pitchFamily="49" charset="0"/>
                  </a:rPr>
                  <a:t>NOT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1−</m:t>
                    </m:r>
                    <m:r>
                      <a:rPr lang="en-US" sz="2400" i="1" dirty="0">
                        <a:latin typeface="Cambria Math"/>
                      </a:rPr>
                      <m:t>𝑥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A68363-4A82-44EA-A9E5-4DF6665EA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634" y="1342321"/>
                <a:ext cx="6616732" cy="1569660"/>
              </a:xfrm>
              <a:prstGeom prst="rect">
                <a:avLst/>
              </a:prstGeom>
              <a:blipFill>
                <a:blip r:embed="rId7"/>
                <a:stretch>
                  <a:fillRect t="-3101" b="-775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495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Unfortunate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Q1a = Q1b?</a:t>
            </a: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r>
              <a:rPr lang="en-US" dirty="0">
                <a:latin typeface="Prestige12 BT" panose="02070509030506020304" pitchFamily="49" charset="0"/>
              </a:rPr>
              <a:t>Q2a = Q2b?</a:t>
            </a: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r>
              <a:rPr lang="en-US" dirty="0"/>
              <a:t>Be careful: </a:t>
            </a:r>
            <a:r>
              <a:rPr lang="en-US" dirty="0">
                <a:latin typeface="Prestige12 BT" panose="02070509030506020304" pitchFamily="49" charset="0"/>
              </a:rPr>
              <a:t>NULL</a:t>
            </a:r>
            <a:r>
              <a:rPr lang="en-US" dirty="0"/>
              <a:t> breaks many equivalences</a:t>
            </a:r>
          </a:p>
          <a:p>
            <a:endParaRPr lang="en-US" dirty="0">
              <a:latin typeface="Prestige12 BT" panose="02070509030506020304" pitchFamily="49" charset="0"/>
            </a:endParaRPr>
          </a:p>
          <a:p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74D22-9C84-4D95-9DD2-476F44E4BE6E}"/>
              </a:ext>
            </a:extLst>
          </p:cNvPr>
          <p:cNvSpPr/>
          <p:nvPr/>
        </p:nvSpPr>
        <p:spPr>
          <a:xfrm>
            <a:off x="907278" y="2033748"/>
            <a:ext cx="5678249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Q1a. SELECT </a:t>
            </a:r>
            <a:r>
              <a:rPr lang="en-US" dirty="0">
                <a:solidFill>
                  <a:schemeClr val="accent2"/>
                </a:solidFill>
              </a:rPr>
              <a:t>AVG(pop) </a:t>
            </a:r>
            <a:r>
              <a:rPr lang="en-US" dirty="0"/>
              <a:t>FROM User;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C0195D-A3F4-4272-80B1-73E263CF1ADB}"/>
              </a:ext>
            </a:extLst>
          </p:cNvPr>
          <p:cNvSpPr/>
          <p:nvPr/>
        </p:nvSpPr>
        <p:spPr>
          <a:xfrm>
            <a:off x="907278" y="2604750"/>
            <a:ext cx="5678249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Q1b. SELECT </a:t>
            </a:r>
            <a:r>
              <a:rPr lang="en-US" dirty="0">
                <a:solidFill>
                  <a:schemeClr val="accent2"/>
                </a:solidFill>
              </a:rPr>
              <a:t>SUM(pop)/COUNT(*) </a:t>
            </a:r>
            <a:r>
              <a:rPr lang="en-US" dirty="0"/>
              <a:t>FROM User;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54E574-5B34-4DE1-8A93-3F66AE9CFE02}"/>
              </a:ext>
            </a:extLst>
          </p:cNvPr>
          <p:cNvSpPr/>
          <p:nvPr/>
        </p:nvSpPr>
        <p:spPr>
          <a:xfrm>
            <a:off x="1055061" y="4220575"/>
            <a:ext cx="5604357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Q2a. SELECT </a:t>
            </a:r>
            <a:r>
              <a:rPr lang="en-US" dirty="0">
                <a:solidFill>
                  <a:schemeClr val="accent2"/>
                </a:solidFill>
              </a:rPr>
              <a:t>* </a:t>
            </a:r>
            <a:r>
              <a:rPr lang="en-US" dirty="0"/>
              <a:t>FROM User;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EF915C-6308-48B4-963E-830D726FEFC3}"/>
              </a:ext>
            </a:extLst>
          </p:cNvPr>
          <p:cNvSpPr/>
          <p:nvPr/>
        </p:nvSpPr>
        <p:spPr>
          <a:xfrm>
            <a:off x="1055061" y="4791577"/>
            <a:ext cx="5604357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Q2b SELECT </a:t>
            </a:r>
            <a:r>
              <a:rPr lang="en-US" dirty="0">
                <a:solidFill>
                  <a:schemeClr val="accent2"/>
                </a:solidFill>
              </a:rPr>
              <a:t>* </a:t>
            </a:r>
            <a:r>
              <a:rPr lang="en-US" dirty="0"/>
              <a:t>FROM User </a:t>
            </a:r>
            <a:r>
              <a:rPr lang="en-US" dirty="0">
                <a:solidFill>
                  <a:schemeClr val="accent2"/>
                </a:solidFill>
              </a:rPr>
              <a:t>WHERE pop=pop</a:t>
            </a:r>
            <a:r>
              <a:rPr lang="en-US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840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Who has </a:t>
            </a:r>
            <a:r>
              <a:rPr lang="en-US" dirty="0">
                <a:latin typeface="Prestige12 BT" panose="02070509030506020304" pitchFamily="49" charset="0"/>
              </a:rPr>
              <a:t>NULL</a:t>
            </a:r>
            <a:r>
              <a:rPr lang="en-US" dirty="0"/>
              <a:t> </a:t>
            </a:r>
            <a:r>
              <a:rPr lang="en-US" i="1" dirty="0"/>
              <a:t>pop</a:t>
            </a:r>
            <a:r>
              <a:rPr lang="en-US" dirty="0"/>
              <a:t> values?</a:t>
            </a:r>
          </a:p>
          <a:p>
            <a:pPr lvl="1"/>
            <a:endParaRPr lang="en-US" dirty="0"/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lvl="1"/>
            <a:endParaRPr lang="en-US" dirty="0">
              <a:latin typeface="Prestige12 BT" panose="02070509030506020304" pitchFamily="49" charset="0"/>
            </a:endParaRP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SQL introduced special, built-in predicates </a:t>
            </a:r>
            <a:br>
              <a:rPr lang="en-US" dirty="0"/>
            </a:b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IS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NULL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IS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NOT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000F9-3305-4529-9377-3AE61AF34072}"/>
              </a:ext>
            </a:extLst>
          </p:cNvPr>
          <p:cNvSpPr/>
          <p:nvPr/>
        </p:nvSpPr>
        <p:spPr>
          <a:xfrm>
            <a:off x="1045823" y="2186891"/>
            <a:ext cx="5678249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* FROM User WHERE pop = NULL;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90092-63AB-4A3B-BFD5-642FBAFED7B9}"/>
              </a:ext>
            </a:extLst>
          </p:cNvPr>
          <p:cNvSpPr txBox="1"/>
          <p:nvPr/>
        </p:nvSpPr>
        <p:spPr>
          <a:xfrm rot="20955794">
            <a:off x="5864225" y="2052045"/>
            <a:ext cx="2147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Does not work!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10CAA-6216-4951-B72F-3A26A9D19378}"/>
              </a:ext>
            </a:extLst>
          </p:cNvPr>
          <p:cNvSpPr/>
          <p:nvPr/>
        </p:nvSpPr>
        <p:spPr>
          <a:xfrm>
            <a:off x="1045822" y="3024928"/>
            <a:ext cx="5678249" cy="13242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(SELEC * FROM User)</a:t>
            </a:r>
          </a:p>
          <a:p>
            <a:r>
              <a:rPr lang="en-US" dirty="0"/>
              <a:t>EXCEPT ALL</a:t>
            </a:r>
          </a:p>
          <a:p>
            <a:r>
              <a:rPr lang="en-US" dirty="0"/>
              <a:t>(SELECT * FROM USER WHERE pop=pop);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9884E-0650-4A05-8807-1B04DBBDDAB0}"/>
              </a:ext>
            </a:extLst>
          </p:cNvPr>
          <p:cNvSpPr txBox="1"/>
          <p:nvPr/>
        </p:nvSpPr>
        <p:spPr>
          <a:xfrm rot="20955794">
            <a:off x="5847010" y="3372219"/>
            <a:ext cx="2181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Works, but ugly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5D0C19-347E-4410-8307-83A161182036}"/>
              </a:ext>
            </a:extLst>
          </p:cNvPr>
          <p:cNvSpPr/>
          <p:nvPr/>
        </p:nvSpPr>
        <p:spPr>
          <a:xfrm>
            <a:off x="1045822" y="5660421"/>
            <a:ext cx="5678249" cy="5137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SELECT * FROM User WHERE pop </a:t>
            </a:r>
            <a:r>
              <a:rPr lang="en-US" dirty="0">
                <a:solidFill>
                  <a:schemeClr val="accent2"/>
                </a:solidFill>
              </a:rPr>
              <a:t>IS NULL</a:t>
            </a:r>
            <a:r>
              <a:rPr lang="en-US" dirty="0"/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670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</a:t>
            </a:r>
            <a:r>
              <a:rPr lang="en-US" dirty="0"/>
              <a:t>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a master group membership list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What if a group is empty?</a:t>
            </a:r>
          </a:p>
          <a:p>
            <a:r>
              <a:rPr lang="en-US" dirty="0"/>
              <a:t>It may be reasonable for the master list to </a:t>
            </a:r>
            <a:r>
              <a:rPr lang="en-US" dirty="0">
                <a:solidFill>
                  <a:schemeClr val="accent2"/>
                </a:solidFill>
              </a:rPr>
              <a:t>include empty groups</a:t>
            </a:r>
            <a:r>
              <a:rPr lang="en-US" dirty="0"/>
              <a:t> as well</a:t>
            </a:r>
          </a:p>
          <a:p>
            <a:pPr lvl="1"/>
            <a:r>
              <a:rPr lang="en-US" dirty="0"/>
              <a:t>For these groups, </a:t>
            </a:r>
            <a:r>
              <a:rPr lang="en-US" i="1" dirty="0" err="1"/>
              <a:t>uid</a:t>
            </a:r>
            <a:r>
              <a:rPr lang="en-US" dirty="0"/>
              <a:t> and </a:t>
            </a:r>
            <a:r>
              <a:rPr lang="en-US" i="1" dirty="0" err="1"/>
              <a:t>uname</a:t>
            </a:r>
            <a:r>
              <a:rPr lang="en-US" dirty="0"/>
              <a:t> columns would be </a:t>
            </a:r>
            <a:r>
              <a:rPr lang="en-US" dirty="0">
                <a:latin typeface="Prestige12 BT" panose="02070509030506020304" pitchFamily="49" charset="0"/>
              </a:rPr>
              <a:t>NULL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C77EA8-01B7-42A9-BF8A-4C6599E02731}"/>
              </a:ext>
            </a:extLst>
          </p:cNvPr>
          <p:cNvSpPr/>
          <p:nvPr/>
        </p:nvSpPr>
        <p:spPr>
          <a:xfrm>
            <a:off x="1187936" y="2108200"/>
            <a:ext cx="6481814" cy="15055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+mj-lt"/>
              </a:rPr>
              <a:t>SELECT </a:t>
            </a:r>
            <a:r>
              <a:rPr lang="en-US" sz="2000" dirty="0" err="1">
                <a:latin typeface="+mj-lt"/>
              </a:rPr>
              <a:t>g.gid</a:t>
            </a:r>
            <a:r>
              <a:rPr lang="en-US" sz="2000" dirty="0">
                <a:latin typeface="+mj-lt"/>
              </a:rPr>
              <a:t>, g.name AS </a:t>
            </a:r>
            <a:r>
              <a:rPr lang="en-US" sz="2000" dirty="0" err="1">
                <a:latin typeface="+mj-lt"/>
              </a:rPr>
              <a:t>gname</a:t>
            </a:r>
            <a:r>
              <a:rPr lang="en-US" sz="2000" dirty="0">
                <a:latin typeface="+mj-lt"/>
              </a:rPr>
              <a:t>,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</a:t>
            </a:r>
            <a:r>
              <a:rPr lang="en-US" sz="2000" dirty="0" err="1">
                <a:latin typeface="+mj-lt"/>
              </a:rPr>
              <a:t>u.uid</a:t>
            </a:r>
            <a:r>
              <a:rPr lang="en-US" sz="2000" dirty="0">
                <a:latin typeface="+mj-lt"/>
              </a:rPr>
              <a:t>, u.name AS </a:t>
            </a:r>
            <a:r>
              <a:rPr lang="en-US" sz="2000" dirty="0" err="1">
                <a:latin typeface="+mj-lt"/>
              </a:rPr>
              <a:t>uname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FROM </a:t>
            </a:r>
            <a:r>
              <a:rPr lang="en-US" sz="2000" dirty="0">
                <a:solidFill>
                  <a:schemeClr val="accent2"/>
                </a:solidFill>
                <a:latin typeface="+mj-lt"/>
              </a:rPr>
              <a:t>Group g, Member m, User u</a:t>
            </a:r>
            <a:br>
              <a:rPr lang="en-US" sz="2000" dirty="0">
                <a:solidFill>
                  <a:schemeClr val="accent2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WHERE </a:t>
            </a:r>
            <a:r>
              <a:rPr lang="en-US" sz="2000" dirty="0" err="1">
                <a:latin typeface="+mj-lt"/>
              </a:rPr>
              <a:t>g.gid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m.gid</a:t>
            </a:r>
            <a:r>
              <a:rPr lang="en-US" sz="2000" dirty="0">
                <a:latin typeface="+mj-lt"/>
              </a:rPr>
              <a:t> AND </a:t>
            </a:r>
            <a:r>
              <a:rPr lang="en-US" sz="2000" dirty="0" err="1">
                <a:latin typeface="+mj-lt"/>
              </a:rPr>
              <a:t>m.uid</a:t>
            </a:r>
            <a:r>
              <a:rPr lang="en-US" sz="2000" dirty="0">
                <a:latin typeface="+mj-lt"/>
              </a:rPr>
              <a:t> = </a:t>
            </a:r>
            <a:r>
              <a:rPr lang="en-US" sz="2000" dirty="0" err="1">
                <a:latin typeface="+mj-lt"/>
              </a:rPr>
              <a:t>u.uid</a:t>
            </a:r>
            <a:r>
              <a:rPr lang="en-US" sz="2000" dirty="0">
                <a:latin typeface="+mj-lt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994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</a:t>
            </a:r>
            <a:r>
              <a:rPr lang="en-US" dirty="0"/>
              <a:t>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304745"/>
              </p:ext>
            </p:extLst>
          </p:nvPr>
        </p:nvGraphicFramePr>
        <p:xfrm>
          <a:off x="321908" y="2150153"/>
          <a:ext cx="285178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nuk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United Nuclear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Workers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587924"/>
              </p:ext>
            </p:extLst>
          </p:nvPr>
        </p:nvGraphicFramePr>
        <p:xfrm>
          <a:off x="1274208" y="4228508"/>
          <a:ext cx="1102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uid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foo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27854" y="1772243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371" y="3880905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655164"/>
              </p:ext>
            </p:extLst>
          </p:nvPr>
        </p:nvGraphicFramePr>
        <p:xfrm>
          <a:off x="5327052" y="1342321"/>
          <a:ext cx="34950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uid</a:t>
                      </a:r>
                      <a:endParaRPr lang="en-U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38815" y="1520327"/>
                <a:ext cx="2145587" cy="485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Group</m:t>
                      </m:r>
                      <m:nary>
                        <m:naryPr>
                          <m:chr m:val="⟗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sz="2000" b="0" i="1" dirty="0" smtClean="0"/>
                            <m:t>Member</m:t>
                          </m:r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815" y="1520327"/>
                <a:ext cx="2145587" cy="485133"/>
              </a:xfrm>
              <a:prstGeom prst="rect">
                <a:avLst/>
              </a:prstGeom>
              <a:blipFill>
                <a:blip r:embed="rId6"/>
                <a:stretch>
                  <a:fillRect t="-42500" r="-2273" b="-6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0F7260-6953-4126-AE3F-0A8A9BBD4438}"/>
                  </a:ext>
                </a:extLst>
              </p14:cNvPr>
              <p14:cNvContentPartPr/>
              <p14:nvPr/>
            </p14:nvContentPartPr>
            <p14:xfrm>
              <a:off x="380123" y="3308239"/>
              <a:ext cx="482040" cy="372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0F7260-6953-4126-AE3F-0A8A9BBD44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483" y="3272599"/>
                <a:ext cx="51768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BE02D4-2E33-495B-8DA8-4748CB2010B9}"/>
                  </a:ext>
                </a:extLst>
              </p:cNvPr>
              <p:cNvSpPr txBox="1"/>
              <p:nvPr/>
            </p:nvSpPr>
            <p:spPr>
              <a:xfrm>
                <a:off x="3712778" y="3595440"/>
                <a:ext cx="5109313" cy="2616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chemeClr val="accent2"/>
                    </a:solidFill>
                  </a:rPr>
                  <a:t>full</a:t>
                </a:r>
                <a:r>
                  <a:rPr lang="en-US" sz="2400" dirty="0">
                    <a:solidFill>
                      <a:schemeClr val="tx2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accent2"/>
                    </a:solidFill>
                  </a:rPr>
                  <a:t>outerjoin</a:t>
                </a:r>
                <a:r>
                  <a:rPr lang="en-US" sz="2400" dirty="0"/>
                  <a:t> between </a:t>
                </a:r>
                <a:r>
                  <a:rPr lang="en-US" sz="2400" i="1" dirty="0"/>
                  <a:t>R</a:t>
                </a:r>
                <a:r>
                  <a:rPr lang="en-US" sz="2400" dirty="0"/>
                  <a:t> and </a:t>
                </a:r>
                <a:r>
                  <a:rPr lang="en-US" sz="2400" i="1" dirty="0"/>
                  <a:t>S</a:t>
                </a:r>
                <a:r>
                  <a:rPr lang="en-US" sz="2400" dirty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/>
                    </a:solidFill>
                  </a:rPr>
                  <a:t>All rows in the result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</a:rPr>
                      <m:t>𝑅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</a:rPr>
                      <m:t>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/>
                  <a:t>plus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/>
                    </a:solidFill>
                  </a:rPr>
                  <a:t>“Dangling”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>
                    <a:solidFill>
                      <a:schemeClr val="accent2"/>
                    </a:solidFill>
                  </a:rPr>
                  <a:t> rows </a:t>
                </a:r>
                <a:r>
                  <a:rPr lang="en-US" sz="2000" dirty="0"/>
                  <a:t>(those that do not join with any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/>
                  <a:t> rows) padded with </a:t>
                </a:r>
                <a:r>
                  <a:rPr lang="en-US" sz="2000" dirty="0">
                    <a:latin typeface="Prestige12 BT" panose="02070509030506020304" pitchFamily="49" charset="0"/>
                  </a:rPr>
                  <a:t>NULL</a:t>
                </a:r>
                <a:r>
                  <a:rPr lang="en-US" sz="2000" dirty="0"/>
                  <a:t>’s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/>
                  <a:t>’s columns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6"/>
                    </a:solidFill>
                  </a:rPr>
                  <a:t>“Dangling”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accent6"/>
                        </a:solidFill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 rows</a:t>
                </a:r>
                <a:r>
                  <a:rPr lang="en-US" sz="20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2000" dirty="0"/>
                  <a:t>(those that do not join with any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/>
                  <a:t> rows) padded with </a:t>
                </a:r>
                <a:r>
                  <a:rPr lang="en-US" sz="2000" dirty="0">
                    <a:latin typeface="Prestige12 BT" panose="02070509030506020304" pitchFamily="49" charset="0"/>
                  </a:rPr>
                  <a:t>NULL</a:t>
                </a:r>
                <a:r>
                  <a:rPr lang="en-US" sz="2000" dirty="0"/>
                  <a:t>’s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/>
                  <a:t>’s columns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1BE02D4-2E33-495B-8DA8-4748CB20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778" y="3595440"/>
                <a:ext cx="5109313" cy="2616101"/>
              </a:xfrm>
              <a:prstGeom prst="rect">
                <a:avLst/>
              </a:prstGeom>
              <a:blipFill>
                <a:blip r:embed="rId9"/>
                <a:stretch>
                  <a:fillRect l="-1790" t="-1865" b="-326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F74D37E-7A76-4E18-8D11-F364286E372C}"/>
                  </a:ext>
                </a:extLst>
              </p14:cNvPr>
              <p14:cNvContentPartPr/>
              <p14:nvPr/>
            </p14:nvContentPartPr>
            <p14:xfrm>
              <a:off x="10207763" y="3223999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F74D37E-7A76-4E18-8D11-F364286E37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90123" y="3187999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9352CFA-29AC-40C8-B482-6221E9DDF822}"/>
                  </a:ext>
                </a:extLst>
              </p14:cNvPr>
              <p14:cNvContentPartPr/>
              <p14:nvPr/>
            </p14:nvContentPartPr>
            <p14:xfrm>
              <a:off x="-867277" y="5966839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9352CFA-29AC-40C8-B482-6221E9DDF82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885277" y="5931199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2DFE84B-F665-4FF1-B497-8CE36B897540}"/>
                  </a:ext>
                </a:extLst>
              </p14:cNvPr>
              <p14:cNvContentPartPr/>
              <p14:nvPr/>
            </p14:nvContentPartPr>
            <p14:xfrm>
              <a:off x="1715363" y="5561839"/>
              <a:ext cx="710280" cy="384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2DFE84B-F665-4FF1-B497-8CE36B8975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7723" y="5525839"/>
                <a:ext cx="745920" cy="45612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FC71792-222D-492B-8748-C902706BC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696420"/>
              </p:ext>
            </p:extLst>
          </p:nvPr>
        </p:nvGraphicFramePr>
        <p:xfrm>
          <a:off x="5327051" y="2713920"/>
          <a:ext cx="34950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815567644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653337815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7280537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nuk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United Nuclear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Workers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75289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EBF45D3-1201-4123-B379-2A89C8806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246606"/>
              </p:ext>
            </p:extLst>
          </p:nvPr>
        </p:nvGraphicFramePr>
        <p:xfrm>
          <a:off x="5327051" y="3006528"/>
          <a:ext cx="349504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897709193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194168478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536620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foo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9457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39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</a:t>
            </a:r>
            <a:r>
              <a:rPr lang="en-US" dirty="0"/>
              <a:t>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1908" y="2150153"/>
          <a:ext cx="285178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nuk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United Nuclear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Workers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74208" y="4228508"/>
          <a:ext cx="1102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uid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foo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27854" y="1772243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371" y="3880905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229684"/>
              </p:ext>
            </p:extLst>
          </p:nvPr>
        </p:nvGraphicFramePr>
        <p:xfrm>
          <a:off x="5351109" y="859084"/>
          <a:ext cx="3495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uid</a:t>
                      </a:r>
                      <a:endParaRPr lang="en-U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nuk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United Nuclear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Workers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96086" y="1099754"/>
                <a:ext cx="2112373" cy="485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Group</m:t>
                      </m:r>
                      <m:nary>
                        <m:naryPr>
                          <m:chr m:val="⟕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sz="2000" b="0" i="1" dirty="0" smtClean="0"/>
                            <m:t>Member</m:t>
                          </m:r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086" y="1099754"/>
                <a:ext cx="2112373" cy="485133"/>
              </a:xfrm>
              <a:prstGeom prst="rect">
                <a:avLst/>
              </a:prstGeom>
              <a:blipFill>
                <a:blip r:embed="rId6"/>
                <a:stretch>
                  <a:fillRect t="-42500" b="-6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609558"/>
              </p:ext>
            </p:extLst>
          </p:nvPr>
        </p:nvGraphicFramePr>
        <p:xfrm>
          <a:off x="5351109" y="3544125"/>
          <a:ext cx="34950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gid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i="1" dirty="0" err="1"/>
                        <a:t>uid</a:t>
                      </a:r>
                      <a:endParaRPr lang="en-US" sz="12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Book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Club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Prestige12 BT" panose="02070509030506020304" pitchFamily="49" charset="0"/>
                        </a:rPr>
                        <a:t>Student 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Dead</a:t>
                      </a:r>
                      <a:r>
                        <a:rPr lang="en-US" sz="1200" baseline="0" dirty="0">
                          <a:latin typeface="Prestige12 BT" panose="02070509030506020304" pitchFamily="49" charset="0"/>
                        </a:rPr>
                        <a:t> Putting Society</a:t>
                      </a:r>
                      <a:endParaRPr lang="en-US" sz="12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foo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296086" y="3716517"/>
                <a:ext cx="2112373" cy="485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1" dirty="0" smtClean="0"/>
                        <m:t>Group</m:t>
                      </m:r>
                      <m:nary>
                        <m:naryPr>
                          <m:chr m:val="⟖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nor/>
                            </m:rPr>
                            <a:rPr lang="en-US" sz="2000" b="0" i="1" dirty="0" smtClean="0"/>
                            <m:t>Member</m:t>
                          </m:r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086" y="3716517"/>
                <a:ext cx="2112373" cy="485133"/>
              </a:xfrm>
              <a:prstGeom prst="rect">
                <a:avLst/>
              </a:prstGeom>
              <a:blipFill>
                <a:blip r:embed="rId7"/>
                <a:stretch>
                  <a:fillRect t="-43038" b="-6202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2E7E23-79ED-486F-BA68-536C497E6AB5}"/>
                  </a:ext>
                </a:extLst>
              </p:cNvPr>
              <p:cNvSpPr txBox="1"/>
              <p:nvPr/>
            </p:nvSpPr>
            <p:spPr>
              <a:xfrm>
                <a:off x="3358055" y="2487466"/>
                <a:ext cx="556522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 </a:t>
                </a:r>
                <a:r>
                  <a:rPr lang="en-US" sz="2000" dirty="0">
                    <a:solidFill>
                      <a:schemeClr val="accent2"/>
                    </a:solidFill>
                  </a:rPr>
                  <a:t>left</a:t>
                </a:r>
                <a:r>
                  <a:rPr lang="en-US" sz="2000" dirty="0">
                    <a:solidFill>
                      <a:schemeClr val="tx2"/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2"/>
                    </a:solidFill>
                  </a:rPr>
                  <a:t>outerjoin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2"/>
                        </a:solidFill>
                        <a:latin typeface="Cambria Math"/>
                      </a:rPr>
                      <m:t>𝑅</m:t>
                    </m:r>
                    <m:nary>
                      <m:naryPr>
                        <m:chr m:val="⟕"/>
                        <m:subHide m:val="on"/>
                        <m:supHide m:val="on"/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</m:nary>
                  </m:oMath>
                </a14:m>
                <a:r>
                  <a:rPr lang="en-US" sz="2000" dirty="0"/>
                  <a:t>) includes rows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</m:t>
                    </m:r>
                    <m:r>
                      <a:rPr lang="en-US" sz="2000" i="1">
                        <a:latin typeface="Cambria Math"/>
                      </a:rPr>
                      <m:t>⋈</m:t>
                    </m:r>
                    <m:r>
                      <a:rPr lang="en-US" sz="20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/>
                  <a:t> plus dangling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𝑅</m:t>
                    </m:r>
                  </m:oMath>
                </a14:m>
                <a:r>
                  <a:rPr lang="en-US" sz="2000" dirty="0"/>
                  <a:t> rows padded with </a:t>
                </a:r>
                <a:r>
                  <a:rPr lang="en-US" sz="2000" dirty="0">
                    <a:latin typeface="Prestige12 BT" panose="02070509030506020304" pitchFamily="49" charset="0"/>
                  </a:rPr>
                  <a:t>NULL</a:t>
                </a:r>
                <a:r>
                  <a:rPr lang="en-US" sz="2000" dirty="0"/>
                  <a:t>’s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2E7E23-79ED-486F-BA68-536C497E6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055" y="2487466"/>
                <a:ext cx="5565227" cy="707886"/>
              </a:xfrm>
              <a:prstGeom prst="rect">
                <a:avLst/>
              </a:prstGeom>
              <a:blipFill>
                <a:blip r:embed="rId8"/>
                <a:stretch>
                  <a:fillRect l="-986" t="-30172" b="-146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3350777-DEB5-4729-B67D-3593055BD77C}"/>
                  </a:ext>
                </a:extLst>
              </p14:cNvPr>
              <p14:cNvContentPartPr/>
              <p14:nvPr/>
            </p14:nvContentPartPr>
            <p14:xfrm>
              <a:off x="380123" y="3308239"/>
              <a:ext cx="482040" cy="372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3350777-DEB5-4729-B67D-3593055BD77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2483" y="3272599"/>
                <a:ext cx="51768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376269E-4BAD-47D3-8487-182C91A8FC9A}"/>
                  </a:ext>
                </a:extLst>
              </p14:cNvPr>
              <p14:cNvContentPartPr/>
              <p14:nvPr/>
            </p14:nvContentPartPr>
            <p14:xfrm>
              <a:off x="1715363" y="5561839"/>
              <a:ext cx="710280" cy="384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376269E-4BAD-47D3-8487-182C91A8FC9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97723" y="5525839"/>
                <a:ext cx="74592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CE6BF8-A372-4117-90E9-47E2ACB73F25}"/>
                  </a:ext>
                </a:extLst>
              </p:cNvPr>
              <p:cNvSpPr txBox="1"/>
              <p:nvPr/>
            </p:nvSpPr>
            <p:spPr>
              <a:xfrm>
                <a:off x="3477389" y="5284998"/>
                <a:ext cx="544589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 right </a:t>
                </a:r>
                <a:r>
                  <a:rPr lang="en-US" sz="2000" dirty="0" err="1">
                    <a:solidFill>
                      <a:schemeClr val="accent6"/>
                    </a:solidFill>
                  </a:rPr>
                  <a:t>outerjoin</a:t>
                </a:r>
                <a:r>
                  <a:rPr lang="en-US" sz="2000" dirty="0">
                    <a:solidFill>
                      <a:schemeClr val="accent6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6"/>
                        </a:solidFill>
                        <a:latin typeface="Cambria Math"/>
                      </a:rPr>
                      <m:t>𝑅</m:t>
                    </m:r>
                    <m:nary>
                      <m:naryPr>
                        <m:chr m:val="⟖"/>
                        <m:subHide m:val="on"/>
                        <m:supHide m:val="on"/>
                        <m:ctrlPr>
                          <a:rPr lang="en-US" sz="20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000" i="1">
                            <a:solidFill>
                              <a:schemeClr val="accent6"/>
                            </a:solidFill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</m:nary>
                  </m:oMath>
                </a14:m>
                <a:r>
                  <a:rPr lang="en-US" sz="2000" dirty="0">
                    <a:solidFill>
                      <a:schemeClr val="accent6"/>
                    </a:solidFill>
                  </a:rPr>
                  <a:t>) </a:t>
                </a:r>
                <a:r>
                  <a:rPr lang="en-US" sz="2000" dirty="0"/>
                  <a:t>includes rows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</m:t>
                    </m:r>
                    <m:r>
                      <a:rPr lang="en-US" sz="2000" i="1">
                        <a:latin typeface="Cambria Math"/>
                      </a:rPr>
                      <m:t>⋈</m:t>
                    </m:r>
                    <m:r>
                      <a:rPr lang="en-US" sz="20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/>
                  <a:t> plus dangling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𝑆</m:t>
                    </m:r>
                  </m:oMath>
                </a14:m>
                <a:r>
                  <a:rPr lang="en-US" sz="2000" dirty="0"/>
                  <a:t> rows padded with </a:t>
                </a:r>
                <a:r>
                  <a:rPr lang="en-US" sz="2000" dirty="0">
                    <a:latin typeface="Prestige12 BT" panose="02070509030506020304" pitchFamily="49" charset="0"/>
                  </a:rPr>
                  <a:t>NULL</a:t>
                </a:r>
                <a:r>
                  <a:rPr lang="en-US" sz="2000" dirty="0"/>
                  <a:t>’s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FCE6BF8-A372-4117-90E9-47E2ACB73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389" y="5284998"/>
                <a:ext cx="5445893" cy="707886"/>
              </a:xfrm>
              <a:prstGeom prst="rect">
                <a:avLst/>
              </a:prstGeom>
              <a:blipFill>
                <a:blip r:embed="rId13"/>
                <a:stretch>
                  <a:fillRect l="-1007" t="-30172" b="-146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03632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Outerjoin</a:t>
            </a:r>
            <a:r>
              <a:rPr lang="en-US" dirty="0"/>
              <a:t>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HiraKakuProN-W3" charset="-128"/>
              <a:buChar char="☞"/>
            </a:pPr>
            <a:endParaRPr lang="en-US" sz="2400" dirty="0"/>
          </a:p>
          <a:p>
            <a:pPr>
              <a:buFont typeface="HiraKakuProN-W3" charset="-128"/>
              <a:buChar char="☞"/>
            </a:pPr>
            <a:endParaRPr lang="en-US" sz="2400" dirty="0"/>
          </a:p>
          <a:p>
            <a:pPr>
              <a:buFont typeface="HiraKakuProN-W3" charset="-128"/>
              <a:buChar char="☞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HiraKakuProN-W3" charset="-128"/>
              <a:buChar char="☞"/>
            </a:pPr>
            <a:r>
              <a:rPr lang="en-US" sz="2400" dirty="0"/>
              <a:t>A similar construct exists for regular (“inner”) joins: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>
              <a:buFont typeface="HiraKakuProN-W3" charset="-128"/>
              <a:buChar char="☞"/>
            </a:pPr>
            <a:r>
              <a:rPr lang="en-US" sz="2400" dirty="0"/>
              <a:t>For natural joins, add keyword </a:t>
            </a:r>
            <a:r>
              <a:rPr lang="en-US" sz="2400" dirty="0">
                <a:latin typeface="Prestige12 BT Roman" charset="0"/>
                <a:ea typeface="Prestige12 BT Roman" charset="0"/>
                <a:cs typeface="Prestige12 BT Roman" charset="0"/>
              </a:rPr>
              <a:t>NATURAL</a:t>
            </a:r>
            <a:r>
              <a:rPr lang="en-US" sz="2400" dirty="0"/>
              <a:t>; don’t use </a:t>
            </a:r>
            <a:r>
              <a:rPr lang="en-US" sz="2400" dirty="0">
                <a:latin typeface="Prestige12 BT Roman" charset="0"/>
                <a:ea typeface="Prestige12 BT Roman" charset="0"/>
                <a:cs typeface="Prestige12 BT Roman" charset="0"/>
              </a:rPr>
              <a:t>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32BB29-D767-4FCF-AEFA-D2EECEE64CB7}"/>
              </a:ext>
            </a:extLst>
          </p:cNvPr>
          <p:cNvSpPr/>
          <p:nvPr/>
        </p:nvSpPr>
        <p:spPr>
          <a:xfrm>
            <a:off x="281807" y="1472620"/>
            <a:ext cx="5063117" cy="584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Prestige12 BT" panose="02070509030506020304" pitchFamily="49" charset="0"/>
              </a:rPr>
              <a:t>SELECT * FROM Group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LEFT OUTER JOIN</a:t>
            </a:r>
            <a:r>
              <a:rPr lang="en-US" sz="1800" dirty="0">
                <a:latin typeface="Prestige12 BT" panose="02070509030506020304" pitchFamily="49" charset="0"/>
              </a:rPr>
              <a:t> Member</a:t>
            </a:r>
            <a:br>
              <a:rPr lang="en-US" sz="1800" dirty="0">
                <a:latin typeface="Prestige12 BT" panose="02070509030506020304" pitchFamily="49" charset="0"/>
              </a:rPr>
            </a:br>
            <a:r>
              <a:rPr lang="en-US" sz="1800" dirty="0">
                <a:latin typeface="Prestige12 BT" panose="02070509030506020304" pitchFamily="49" charset="0"/>
              </a:rPr>
              <a:t>             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1800" dirty="0">
                <a:latin typeface="Prestige12 BT" panose="02070509030506020304" pitchFamily="49" charset="0"/>
              </a:rPr>
              <a:t> </a:t>
            </a:r>
            <a:r>
              <a:rPr lang="en-US" sz="1800" dirty="0" err="1">
                <a:latin typeface="Prestige12 BT" panose="02070509030506020304" pitchFamily="49" charset="0"/>
              </a:rPr>
              <a:t>Group.gid</a:t>
            </a:r>
            <a:r>
              <a:rPr lang="en-US" sz="1800" dirty="0">
                <a:latin typeface="Prestige12 BT" panose="02070509030506020304" pitchFamily="49" charset="0"/>
              </a:rPr>
              <a:t> = </a:t>
            </a:r>
            <a:r>
              <a:rPr lang="en-US" sz="1800" dirty="0" err="1">
                <a:latin typeface="Prestige12 BT" panose="02070509030506020304" pitchFamily="49" charset="0"/>
              </a:rPr>
              <a:t>Member.gid</a:t>
            </a:r>
            <a:r>
              <a:rPr lang="en-US" sz="18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D4A18-E687-48F1-92A3-A264F15E68E3}"/>
              </a:ext>
            </a:extLst>
          </p:cNvPr>
          <p:cNvSpPr/>
          <p:nvPr/>
        </p:nvSpPr>
        <p:spPr>
          <a:xfrm>
            <a:off x="281807" y="2190382"/>
            <a:ext cx="5063117" cy="584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Prestige12 BT" panose="02070509030506020304" pitchFamily="49" charset="0"/>
              </a:rPr>
              <a:t>SELECT * FROM Group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RIGHT OUTER JOIN</a:t>
            </a:r>
            <a:r>
              <a:rPr lang="en-US" sz="1800" dirty="0">
                <a:latin typeface="Prestige12 BT" panose="02070509030506020304" pitchFamily="49" charset="0"/>
              </a:rPr>
              <a:t> Member</a:t>
            </a:r>
            <a:br>
              <a:rPr lang="en-US" sz="1800" dirty="0">
                <a:latin typeface="Prestige12 BT" panose="02070509030506020304" pitchFamily="49" charset="0"/>
              </a:rPr>
            </a:br>
            <a:r>
              <a:rPr lang="en-US" sz="1800" dirty="0">
                <a:latin typeface="Prestige12 BT" panose="02070509030506020304" pitchFamily="49" charset="0"/>
              </a:rPr>
              <a:t>             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1800" dirty="0">
                <a:latin typeface="Prestige12 BT" panose="02070509030506020304" pitchFamily="49" charset="0"/>
              </a:rPr>
              <a:t> </a:t>
            </a:r>
            <a:r>
              <a:rPr lang="en-US" sz="1800" dirty="0" err="1">
                <a:latin typeface="Prestige12 BT" panose="02070509030506020304" pitchFamily="49" charset="0"/>
              </a:rPr>
              <a:t>Group.gid</a:t>
            </a:r>
            <a:r>
              <a:rPr lang="en-US" sz="1800" dirty="0">
                <a:latin typeface="Prestige12 BT" panose="02070509030506020304" pitchFamily="49" charset="0"/>
              </a:rPr>
              <a:t> = </a:t>
            </a:r>
            <a:r>
              <a:rPr lang="en-US" sz="1800" dirty="0" err="1">
                <a:latin typeface="Prestige12 BT" panose="02070509030506020304" pitchFamily="49" charset="0"/>
              </a:rPr>
              <a:t>Member.gid</a:t>
            </a:r>
            <a:r>
              <a:rPr lang="en-US" sz="18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A2C3DE-681A-4B7F-B8AC-9C5E1BCDA00C}"/>
              </a:ext>
            </a:extLst>
          </p:cNvPr>
          <p:cNvSpPr/>
          <p:nvPr/>
        </p:nvSpPr>
        <p:spPr>
          <a:xfrm>
            <a:off x="281807" y="2908144"/>
            <a:ext cx="5063117" cy="584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Prestige12 BT" panose="02070509030506020304" pitchFamily="49" charset="0"/>
              </a:rPr>
              <a:t>SELECT * FROM Group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FULL OUTER JOIN</a:t>
            </a:r>
            <a:r>
              <a:rPr lang="en-US" sz="1800" dirty="0">
                <a:latin typeface="Prestige12 BT" panose="02070509030506020304" pitchFamily="49" charset="0"/>
              </a:rPr>
              <a:t> Member</a:t>
            </a:r>
            <a:br>
              <a:rPr lang="en-US" sz="1800" dirty="0">
                <a:latin typeface="Prestige12 BT" panose="02070509030506020304" pitchFamily="49" charset="0"/>
              </a:rPr>
            </a:br>
            <a:r>
              <a:rPr lang="en-US" sz="1800" dirty="0">
                <a:latin typeface="Prestige12 BT" panose="02070509030506020304" pitchFamily="49" charset="0"/>
              </a:rPr>
              <a:t>             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1800" dirty="0">
                <a:latin typeface="Prestige12 BT" panose="02070509030506020304" pitchFamily="49" charset="0"/>
              </a:rPr>
              <a:t> </a:t>
            </a:r>
            <a:r>
              <a:rPr lang="en-US" sz="1800" dirty="0" err="1">
                <a:latin typeface="Prestige12 BT" panose="02070509030506020304" pitchFamily="49" charset="0"/>
              </a:rPr>
              <a:t>Group.gid</a:t>
            </a:r>
            <a:r>
              <a:rPr lang="en-US" sz="1800" dirty="0">
                <a:latin typeface="Prestige12 BT" panose="02070509030506020304" pitchFamily="49" charset="0"/>
              </a:rPr>
              <a:t> = </a:t>
            </a:r>
            <a:r>
              <a:rPr lang="en-US" sz="1800" dirty="0" err="1">
                <a:latin typeface="Prestige12 BT" panose="02070509030506020304" pitchFamily="49" charset="0"/>
              </a:rPr>
              <a:t>Member.gid</a:t>
            </a:r>
            <a:r>
              <a:rPr lang="en-US" sz="1800" dirty="0">
                <a:latin typeface="Prestige12 BT" panose="02070509030506020304" pitchFamily="49" charset="0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24CAF-AA13-4C86-B7A0-78931BC6BA8B}"/>
                  </a:ext>
                </a:extLst>
              </p:cNvPr>
              <p:cNvSpPr txBox="1"/>
              <p:nvPr/>
            </p:nvSpPr>
            <p:spPr>
              <a:xfrm>
                <a:off x="5210504" y="1578358"/>
                <a:ext cx="4059621" cy="479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𝐺𝑟𝑜𝑢𝑝</m:t>
                      </m:r>
                      <m:nary>
                        <m:naryPr>
                          <m:chr m:val="⟕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𝐺𝑟𝑜𝑢𝑝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</m:e>
                      </m:nary>
                    </m:oMath>
                  </m:oMathPara>
                </a14:m>
                <a:endParaRPr lang="en-US" sz="1800" dirty="0">
                  <a:latin typeface="Prestige12 BT" panose="02070509030506020304" pitchFamily="49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324CAF-AA13-4C86-B7A0-78931BC6B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504" y="1578358"/>
                <a:ext cx="4059621" cy="479042"/>
              </a:xfrm>
              <a:prstGeom prst="rect">
                <a:avLst/>
              </a:prstGeom>
              <a:blipFill>
                <a:blip r:embed="rId6"/>
                <a:stretch>
                  <a:fillRect t="-37975" b="-493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E298C9-BCEF-41A3-BF3D-55FA5BEBD53C}"/>
                  </a:ext>
                </a:extLst>
              </p:cNvPr>
              <p:cNvSpPr txBox="1"/>
              <p:nvPr/>
            </p:nvSpPr>
            <p:spPr>
              <a:xfrm>
                <a:off x="4922783" y="2296120"/>
                <a:ext cx="4635062" cy="479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𝐺𝑟𝑜𝑢𝑝</m:t>
                      </m:r>
                      <m:nary>
                        <m:naryPr>
                          <m:chr m:val="⟖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𝐺𝑟𝑜𝑢𝑝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2E298C9-BCEF-41A3-BF3D-55FA5BEBD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783" y="2296120"/>
                <a:ext cx="4635062" cy="479042"/>
              </a:xfrm>
              <a:prstGeom prst="rect">
                <a:avLst/>
              </a:prstGeom>
              <a:blipFill>
                <a:blip r:embed="rId7"/>
                <a:stretch>
                  <a:fillRect t="-38462" b="-5128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402677-D13B-406D-92DE-1D78633D02BF}"/>
                  </a:ext>
                </a:extLst>
              </p:cNvPr>
              <p:cNvSpPr txBox="1"/>
              <p:nvPr/>
            </p:nvSpPr>
            <p:spPr>
              <a:xfrm>
                <a:off x="4889283" y="2961013"/>
                <a:ext cx="4780892" cy="479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/>
                        </a:rPr>
                        <m:t>≈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𝐺𝑟𝑜𝑢𝑝</m:t>
                      </m:r>
                      <m:nary>
                        <m:naryPr>
                          <m:chr m:val="⟗"/>
                          <m:supHide m:val="on"/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𝐺𝑟𝑜𝑢𝑝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.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𝑔𝑖𝑑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𝑀𝑒𝑚𝑏𝑒𝑟</m:t>
                          </m:r>
                        </m:e>
                      </m:nary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4402677-D13B-406D-92DE-1D78633D0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283" y="2961013"/>
                <a:ext cx="4780892" cy="479042"/>
              </a:xfrm>
              <a:prstGeom prst="rect">
                <a:avLst/>
              </a:prstGeom>
              <a:blipFill>
                <a:blip r:embed="rId8"/>
                <a:stretch>
                  <a:fillRect t="-38462" b="-5128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C8BD450A-2BC7-4D81-905A-EE0E56E77ED8}"/>
              </a:ext>
            </a:extLst>
          </p:cNvPr>
          <p:cNvSpPr/>
          <p:nvPr/>
        </p:nvSpPr>
        <p:spPr>
          <a:xfrm>
            <a:off x="898704" y="4211199"/>
            <a:ext cx="6560204" cy="4093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Prestige12 BT" panose="02070509030506020304" pitchFamily="49" charset="0"/>
              </a:rPr>
              <a:t>SELECT * FROM Group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JOIN</a:t>
            </a:r>
            <a:r>
              <a:rPr lang="en-US" sz="1800" dirty="0">
                <a:latin typeface="Prestige12 BT" panose="02070509030506020304" pitchFamily="49" charset="0"/>
              </a:rPr>
              <a:t> Member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ON</a:t>
            </a:r>
            <a:r>
              <a:rPr lang="en-US" sz="1800" dirty="0">
                <a:latin typeface="Prestige12 BT" panose="02070509030506020304" pitchFamily="49" charset="0"/>
              </a:rPr>
              <a:t> </a:t>
            </a:r>
            <a:r>
              <a:rPr lang="en-US" sz="1800" dirty="0" err="1">
                <a:latin typeface="Prestige12 BT" panose="02070509030506020304" pitchFamily="49" charset="0"/>
              </a:rPr>
              <a:t>Group.gid</a:t>
            </a:r>
            <a:r>
              <a:rPr lang="en-US" sz="1800" dirty="0">
                <a:latin typeface="Prestige12 BT" panose="02070509030506020304" pitchFamily="49" charset="0"/>
              </a:rPr>
              <a:t> = </a:t>
            </a:r>
            <a:r>
              <a:rPr lang="en-US" sz="1800" dirty="0" err="1">
                <a:latin typeface="Prestige12 BT" panose="02070509030506020304" pitchFamily="49" charset="0"/>
              </a:rPr>
              <a:t>Member.gid</a:t>
            </a:r>
            <a:r>
              <a:rPr lang="en-US" sz="1800" dirty="0"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F8B362-949B-4FD2-A076-1309086CEC98}"/>
              </a:ext>
            </a:extLst>
          </p:cNvPr>
          <p:cNvSpPr/>
          <p:nvPr/>
        </p:nvSpPr>
        <p:spPr>
          <a:xfrm>
            <a:off x="1833276" y="5602314"/>
            <a:ext cx="5063117" cy="4093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Prestige12 BT" panose="02070509030506020304" pitchFamily="49" charset="0"/>
              </a:rPr>
              <a:t>SELECT * FROM Group </a:t>
            </a:r>
            <a:r>
              <a:rPr lang="en-US" sz="1800" dirty="0">
                <a:solidFill>
                  <a:schemeClr val="accent2"/>
                </a:solidFill>
                <a:latin typeface="Prestige12 BT" panose="02070509030506020304" pitchFamily="49" charset="0"/>
              </a:rPr>
              <a:t>NATURAL JOIN</a:t>
            </a:r>
            <a:r>
              <a:rPr lang="en-US" sz="1800" dirty="0">
                <a:latin typeface="Prestige12 BT" panose="02070509030506020304" pitchFamily="49" charset="0"/>
              </a:rPr>
              <a:t> Member;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708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SELECT-FROM-WHERE</a:t>
            </a:r>
            <a:r>
              <a:rPr lang="en-US" dirty="0"/>
              <a:t> statements</a:t>
            </a:r>
          </a:p>
          <a:p>
            <a:r>
              <a:rPr lang="en-US" dirty="0"/>
              <a:t>Set and bag operations</a:t>
            </a:r>
          </a:p>
          <a:p>
            <a:r>
              <a:rPr lang="en-US" dirty="0"/>
              <a:t>Table expressions, </a:t>
            </a:r>
            <a:r>
              <a:rPr lang="en-US" dirty="0" err="1"/>
              <a:t>subqueries</a:t>
            </a:r>
            <a:endParaRPr lang="en-US" dirty="0"/>
          </a:p>
          <a:p>
            <a:r>
              <a:rPr lang="en-US" dirty="0"/>
              <a:t>Aggregation and grouping</a:t>
            </a:r>
          </a:p>
          <a:p>
            <a:r>
              <a:rPr lang="en-US" dirty="0"/>
              <a:t>Ordering</a:t>
            </a:r>
          </a:p>
          <a:p>
            <a:r>
              <a:rPr lang="en-US" dirty="0">
                <a:latin typeface="Prestige12 BT" panose="02070509030506020304" pitchFamily="49" charset="0"/>
              </a:rPr>
              <a:t>NULL’s</a:t>
            </a:r>
            <a:r>
              <a:rPr lang="en-US" dirty="0"/>
              <a:t> and </a:t>
            </a:r>
            <a:r>
              <a:rPr lang="en-US" dirty="0" err="1"/>
              <a:t>outerjoins</a:t>
            </a:r>
            <a:endParaRPr lang="en-US" dirty="0"/>
          </a:p>
          <a:p>
            <a:endParaRPr lang="en-US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Next: data modification statements,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198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Insert one row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User 789 joins Dead Putting Society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Insert the result of a query</a:t>
            </a:r>
          </a:p>
          <a:p>
            <a:pPr lvl="1">
              <a:lnSpc>
                <a:spcPct val="120000"/>
              </a:lnSpc>
              <a:buClr>
                <a:schemeClr val="tx1"/>
              </a:buClr>
            </a:pPr>
            <a:r>
              <a:rPr lang="en-US" dirty="0"/>
              <a:t>Everybody joins Dead Putting Society!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894AC8-4A0C-4999-9773-BB7E4B44A251}"/>
              </a:ext>
            </a:extLst>
          </p:cNvPr>
          <p:cNvSpPr/>
          <p:nvPr/>
        </p:nvSpPr>
        <p:spPr>
          <a:xfrm>
            <a:off x="1291645" y="2521027"/>
            <a:ext cx="5724855" cy="58478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INSERT INTO 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Member VALUES (789, '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dps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')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BE226F-F578-47C6-BBB5-0E470BB9C662}"/>
              </a:ext>
            </a:extLst>
          </p:cNvPr>
          <p:cNvSpPr/>
          <p:nvPr/>
        </p:nvSpPr>
        <p:spPr>
          <a:xfrm>
            <a:off x="1291645" y="4278883"/>
            <a:ext cx="5724855" cy="181594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INSERT INTO Member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	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, '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dps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' FROM User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	WHERE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NOT IN 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FROM Member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           WHERE gid = '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dps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'));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4283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Delete </a:t>
            </a:r>
            <a:r>
              <a:rPr lang="en-US" dirty="0">
                <a:solidFill>
                  <a:schemeClr val="accent2"/>
                </a:solidFill>
              </a:rPr>
              <a:t>everything</a:t>
            </a:r>
            <a:r>
              <a:rPr lang="en-US" dirty="0"/>
              <a:t> from a table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Delete according to a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WHERE</a:t>
            </a:r>
            <a:r>
              <a:rPr lang="en-US" dirty="0"/>
              <a:t> condition</a:t>
            </a:r>
          </a:p>
          <a:p>
            <a:pPr lvl="1"/>
            <a:r>
              <a:rPr lang="en-US" dirty="0"/>
              <a:t>Example: User 789 leaves Dead Putting Society</a:t>
            </a:r>
          </a:p>
          <a:p>
            <a:pPr marL="457200" lvl="1" indent="0">
              <a:buNone/>
            </a:pP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Example: Users under age 18 must be removed from United Nuclear Workers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E97554-C77A-479D-B9F9-53066FB6BDFA}"/>
              </a:ext>
            </a:extLst>
          </p:cNvPr>
          <p:cNvSpPr/>
          <p:nvPr/>
        </p:nvSpPr>
        <p:spPr>
          <a:xfrm>
            <a:off x="1212816" y="1890407"/>
            <a:ext cx="5724855" cy="49018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DELETE FROM 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Member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EA66EC-DA82-4417-A029-247DEFEEB077}"/>
              </a:ext>
            </a:extLst>
          </p:cNvPr>
          <p:cNvSpPr/>
          <p:nvPr/>
        </p:nvSpPr>
        <p:spPr>
          <a:xfrm>
            <a:off x="1126670" y="4870317"/>
            <a:ext cx="6890660" cy="106165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DELETE FROM Member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WHERE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FROM User WHERE age &lt; 18)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	AND gid = '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nuk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';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B6AF68-AB03-4EFC-AC3B-48777307937E}"/>
              </a:ext>
            </a:extLst>
          </p:cNvPr>
          <p:cNvSpPr/>
          <p:nvPr/>
        </p:nvSpPr>
        <p:spPr>
          <a:xfrm>
            <a:off x="1154540" y="3397326"/>
            <a:ext cx="6890660" cy="3942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DELETE FROM Member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WHERE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=789 AND gid=‘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dps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’;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114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User 142 changes name to “Barney”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We are all popular!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914400" lvl="2" indent="0">
              <a:buNone/>
            </a:pP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But won’t update of every row causes average </a:t>
            </a:r>
            <a:r>
              <a:rPr lang="en-US" i="1" dirty="0"/>
              <a:t>pop</a:t>
            </a:r>
            <a:r>
              <a:rPr lang="en-US" dirty="0"/>
              <a:t> to change?</a:t>
            </a:r>
          </a:p>
          <a:p>
            <a:pPr lvl="1">
              <a:buFont typeface="Wingdings" pitchFamily="2" charset="2"/>
              <a:buChar char="F"/>
            </a:pPr>
            <a:r>
              <a:rPr lang="en-US" dirty="0" err="1"/>
              <a:t>Subquery</a:t>
            </a:r>
            <a:r>
              <a:rPr lang="en-US" dirty="0"/>
              <a:t> is always computed over the old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F1E6CE-75E1-48C7-BC4F-089BB3DF3D6D}"/>
              </a:ext>
            </a:extLst>
          </p:cNvPr>
          <p:cNvSpPr/>
          <p:nvPr/>
        </p:nvSpPr>
        <p:spPr>
          <a:xfrm>
            <a:off x="1055725" y="1953696"/>
            <a:ext cx="6890660" cy="106165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UPDATE 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User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SET name = 'Barney’ 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WHERE 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= 142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F86A2-651B-4B47-8132-778F8FEB24D4}"/>
              </a:ext>
            </a:extLst>
          </p:cNvPr>
          <p:cNvSpPr/>
          <p:nvPr/>
        </p:nvSpPr>
        <p:spPr>
          <a:xfrm>
            <a:off x="1126670" y="3990076"/>
            <a:ext cx="6890660" cy="9997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UPDATE 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User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SET pop =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(SELECT AVG(pop) FROM User);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772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Restrictions on allowable data in a database</a:t>
            </a:r>
          </a:p>
          <a:p>
            <a:pPr lvl="1"/>
            <a:r>
              <a:rPr lang="en-US" dirty="0"/>
              <a:t>In addition to the simple structure and type restrictions imposed by the table definitions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Why use constraints?</a:t>
            </a:r>
          </a:p>
          <a:p>
            <a:pPr lvl="1"/>
            <a:r>
              <a:rPr lang="en-US" dirty="0"/>
              <a:t>Protect data integrity (catch errors)</a:t>
            </a:r>
          </a:p>
          <a:p>
            <a:pPr lvl="1"/>
            <a:r>
              <a:rPr lang="en-US" dirty="0"/>
              <a:t>Tell the DBMS about the data (so it can optimize better)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Declared as </a:t>
            </a:r>
            <a:r>
              <a:rPr lang="en-US" dirty="0">
                <a:solidFill>
                  <a:schemeClr val="accent2"/>
                </a:solidFill>
              </a:rPr>
              <a:t>part of the schema </a:t>
            </a:r>
            <a:r>
              <a:rPr lang="en-US" dirty="0"/>
              <a:t>and enforced by the DBMS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19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21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SQL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6" y="1443319"/>
            <a:ext cx="8173014" cy="5264622"/>
          </a:xfrm>
        </p:spPr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NOT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NULL</a:t>
            </a:r>
            <a:endParaRPr lang="en-US" dirty="0"/>
          </a:p>
          <a:p>
            <a:r>
              <a:rPr lang="en-US" dirty="0"/>
              <a:t>Key</a:t>
            </a:r>
          </a:p>
          <a:p>
            <a:r>
              <a:rPr lang="en-US" dirty="0"/>
              <a:t>Referential integrity (foreign key)</a:t>
            </a:r>
          </a:p>
          <a:p>
            <a:r>
              <a:rPr lang="en-US" dirty="0"/>
              <a:t>General assertion</a:t>
            </a:r>
          </a:p>
          <a:p>
            <a:r>
              <a:rPr lang="en-US" dirty="0"/>
              <a:t>Tuple- and attribute-based </a:t>
            </a:r>
            <a:r>
              <a:rPr lang="en-US" dirty="0">
                <a:latin typeface="Prestige12 BT" panose="02070509030506020304" pitchFamily="49" charset="0"/>
              </a:rPr>
              <a:t>CHECK</a:t>
            </a:r>
            <a:r>
              <a:rPr lang="en-US" dirty="0"/>
              <a:t>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8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Prestige12 BT" panose="02070509030506020304" pitchFamily="49" charset="0"/>
              </a:rPr>
              <a:t>NOT</a:t>
            </a:r>
            <a:r>
              <a:rPr lang="en-US" dirty="0"/>
              <a:t> </a:t>
            </a:r>
            <a:r>
              <a:rPr lang="en-US" dirty="0">
                <a:latin typeface="Prestige12 BT" panose="02070509030506020304" pitchFamily="49" charset="0"/>
              </a:rPr>
              <a:t>NULL</a:t>
            </a:r>
            <a:r>
              <a:rPr lang="en-US" dirty="0"/>
              <a:t> constraint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48A51D-9EFB-40F6-A803-40331D0B74A4}"/>
              </a:ext>
            </a:extLst>
          </p:cNvPr>
          <p:cNvSpPr/>
          <p:nvPr/>
        </p:nvSpPr>
        <p:spPr>
          <a:xfrm>
            <a:off x="628650" y="1426776"/>
            <a:ext cx="4075950" cy="20652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CREATE TABLE User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latin typeface="Prestige12 BT" panose="02070509030506020304" pitchFamily="49" charset="0"/>
              </a:rPr>
              <a:t>uid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/>
              <a:t>DECIMAL(3,0)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name VARCHAR(30)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 err="1">
                <a:latin typeface="Prestige12 BT" panose="02070509030506020304" pitchFamily="49" charset="0"/>
              </a:rPr>
              <a:t>twitterid</a:t>
            </a:r>
            <a:r>
              <a:rPr lang="en-US" sz="2000" dirty="0">
                <a:latin typeface="Prestige12 BT" panose="02070509030506020304" pitchFamily="49" charset="0"/>
              </a:rPr>
              <a:t> VARCHAR(15)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age </a:t>
            </a:r>
            <a:r>
              <a:rPr lang="en-US" sz="2000" dirty="0"/>
              <a:t>DECIMAL (2,0)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pop </a:t>
            </a:r>
            <a:r>
              <a:rPr lang="en-US" sz="2000" dirty="0"/>
              <a:t>DECIMAL(3,2));</a:t>
            </a:r>
            <a:endParaRPr lang="en-US" sz="2000" dirty="0">
              <a:latin typeface="Prestige12 BT" panose="020705090305060203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E8B32-DBFF-44DA-9BB8-B989E05DFA76}"/>
              </a:ext>
            </a:extLst>
          </p:cNvPr>
          <p:cNvSpPr/>
          <p:nvPr/>
        </p:nvSpPr>
        <p:spPr>
          <a:xfrm>
            <a:off x="667218" y="3730793"/>
            <a:ext cx="4075950" cy="11801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latin typeface="Prestige12 BT" panose="02070509030506020304" pitchFamily="49" charset="0"/>
              </a:rPr>
              <a:t>CREATE TABLE Group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(gid CHAR(10)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name VARCHAR(100)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EF964D-3F68-4C82-8D42-B4AAEB14D8BD}"/>
              </a:ext>
            </a:extLst>
          </p:cNvPr>
          <p:cNvSpPr/>
          <p:nvPr/>
        </p:nvSpPr>
        <p:spPr>
          <a:xfrm>
            <a:off x="675946" y="5149689"/>
            <a:ext cx="4075950" cy="11801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Prestige12 BT" panose="02070509030506020304" pitchFamily="49" charset="0"/>
              </a:rPr>
              <a:t>CREATE TABLE Member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latin typeface="Prestige12 BT" panose="02070509030506020304" pitchFamily="49" charset="0"/>
              </a:rPr>
              <a:t>uid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/>
              <a:t>DECIMAL(3,0)</a:t>
            </a: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gid CHAR(10)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NOT NULL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69129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declaration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361A13-2BE1-440F-AA5C-F1FE57EEF094}"/>
              </a:ext>
            </a:extLst>
          </p:cNvPr>
          <p:cNvSpPr/>
          <p:nvPr/>
        </p:nvSpPr>
        <p:spPr>
          <a:xfrm>
            <a:off x="496050" y="1438207"/>
            <a:ext cx="5132240" cy="20652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CREATE TABLE User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DECIMAL(3,0)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NOT NULL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 KEY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name VARCHAR(30) NOT NULL,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twitterid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VARCHAR(15) NOT NULL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UNIQUE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age </a:t>
            </a:r>
            <a:r>
              <a:rPr lang="en-US" sz="2000" dirty="0">
                <a:solidFill>
                  <a:schemeClr val="bg1"/>
                </a:solidFill>
              </a:rPr>
              <a:t>DECIMAL (2,0)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pop </a:t>
            </a:r>
            <a:r>
              <a:rPr lang="en-US" sz="2000" dirty="0">
                <a:solidFill>
                  <a:schemeClr val="bg1"/>
                </a:solidFill>
              </a:rPr>
              <a:t>DECIMAL(3,2));</a:t>
            </a:r>
            <a:endParaRPr lang="en-US" sz="2000" dirty="0">
              <a:solidFill>
                <a:schemeClr val="bg1"/>
              </a:solidFill>
              <a:latin typeface="Prestige12 BT" panose="020705090305060203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C52B01-D862-4CDC-89DF-FB92D80CB438}"/>
              </a:ext>
            </a:extLst>
          </p:cNvPr>
          <p:cNvSpPr/>
          <p:nvPr/>
        </p:nvSpPr>
        <p:spPr>
          <a:xfrm>
            <a:off x="534618" y="3716587"/>
            <a:ext cx="5132240" cy="118016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CREATE TABLE Group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(gid CHAR(10) NOT NULL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 KEY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name VARCHAR(100) NOT NULL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D5D501-22B0-4AA6-96E9-DF13A0739923}"/>
              </a:ext>
            </a:extLst>
          </p:cNvPr>
          <p:cNvSpPr/>
          <p:nvPr/>
        </p:nvSpPr>
        <p:spPr>
          <a:xfrm>
            <a:off x="534618" y="5078991"/>
            <a:ext cx="5132240" cy="13110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DECIMAL(3,0)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NOT NULL,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gid CHAR(10) NOT NULL,</a:t>
            </a:r>
          </a:p>
          <a:p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 KEY(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uid,gid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F47AEA39-705C-477A-B139-5302082C4BBC}"/>
              </a:ext>
            </a:extLst>
          </p:cNvPr>
          <p:cNvSpPr/>
          <p:nvPr/>
        </p:nvSpPr>
        <p:spPr>
          <a:xfrm>
            <a:off x="6117098" y="4120779"/>
            <a:ext cx="2222861" cy="99322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7093"/>
              <a:gd name="adj6" fmla="val -13900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This form is required for multi-attribute keys</a:t>
            </a:r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A95621B0-17B1-4A06-BBF1-50C6412C754F}"/>
              </a:ext>
            </a:extLst>
          </p:cNvPr>
          <p:cNvSpPr/>
          <p:nvPr/>
        </p:nvSpPr>
        <p:spPr>
          <a:xfrm>
            <a:off x="6498097" y="1438207"/>
            <a:ext cx="2222861" cy="99322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8999"/>
              <a:gd name="adj6" fmla="val -5744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At most one primary key per table</a:t>
            </a:r>
          </a:p>
        </p:txBody>
      </p: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F7ADE920-2A9D-4F6A-9339-57A2E4746859}"/>
              </a:ext>
            </a:extLst>
          </p:cNvPr>
          <p:cNvSpPr/>
          <p:nvPr/>
        </p:nvSpPr>
        <p:spPr>
          <a:xfrm>
            <a:off x="6650497" y="2932385"/>
            <a:ext cx="2222861" cy="99322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8302"/>
              <a:gd name="adj6" fmla="val -69146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Any number of UNIQUE keys per 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BBD191-E84F-49F2-B9A0-0B43573FFEC5}"/>
              </a:ext>
            </a:extLst>
          </p:cNvPr>
          <p:cNvSpPr/>
          <p:nvPr/>
        </p:nvSpPr>
        <p:spPr>
          <a:xfrm>
            <a:off x="4193629" y="5515678"/>
            <a:ext cx="4737538" cy="11801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DECIMAL(3,0)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NOT NULL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 KEY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 gid CHAR(10) NOT NULL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 KEY</a:t>
            </a: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,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414157-1943-4897-A64E-9C7DAAAE9F5B}"/>
              </a:ext>
            </a:extLst>
          </p:cNvPr>
          <p:cNvSpPr txBox="1"/>
          <p:nvPr/>
        </p:nvSpPr>
        <p:spPr>
          <a:xfrm rot="20955794">
            <a:off x="7330167" y="5405011"/>
            <a:ext cx="14300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Incorrect!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010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</a:t>
            </a:r>
            <a:r>
              <a:rPr lang="en-US" i="1" dirty="0" err="1"/>
              <a:t>uid</a:t>
            </a:r>
            <a:r>
              <a:rPr lang="en-US" dirty="0"/>
              <a:t> appears in </a:t>
            </a:r>
            <a:r>
              <a:rPr lang="en-US" i="1" dirty="0"/>
              <a:t>Member</a:t>
            </a:r>
            <a:r>
              <a:rPr lang="en-US" dirty="0"/>
              <a:t>, it must appear in </a:t>
            </a:r>
            <a:r>
              <a:rPr lang="en-US" i="1" dirty="0"/>
              <a:t>User</a:t>
            </a:r>
          </a:p>
          <a:p>
            <a:pPr lvl="1"/>
            <a:r>
              <a:rPr lang="en-US" i="1" dirty="0" err="1"/>
              <a:t>Member</a:t>
            </a:r>
            <a:r>
              <a:rPr lang="en-US" dirty="0" err="1"/>
              <a:t>.</a:t>
            </a:r>
            <a:r>
              <a:rPr lang="en-US" i="1" dirty="0" err="1"/>
              <a:t>uid</a:t>
            </a:r>
            <a:r>
              <a:rPr lang="en-US" dirty="0"/>
              <a:t> references </a:t>
            </a:r>
            <a:r>
              <a:rPr lang="en-US" i="1" dirty="0" err="1"/>
              <a:t>User</a:t>
            </a:r>
            <a:r>
              <a:rPr lang="en-US" dirty="0" err="1"/>
              <a:t>.</a:t>
            </a:r>
            <a:r>
              <a:rPr lang="en-US" i="1" dirty="0" err="1"/>
              <a:t>uid</a:t>
            </a:r>
            <a:endParaRPr lang="en-US" i="1" dirty="0"/>
          </a:p>
          <a:p>
            <a:r>
              <a:rPr lang="en-US" dirty="0"/>
              <a:t>If a </a:t>
            </a:r>
            <a:r>
              <a:rPr lang="en-US" i="1" dirty="0"/>
              <a:t>gid</a:t>
            </a:r>
            <a:r>
              <a:rPr lang="en-US" dirty="0"/>
              <a:t> appears in </a:t>
            </a:r>
            <a:r>
              <a:rPr lang="en-US" i="1" dirty="0"/>
              <a:t>Member</a:t>
            </a:r>
            <a:r>
              <a:rPr lang="en-US" dirty="0"/>
              <a:t>, it must appear in </a:t>
            </a:r>
            <a:r>
              <a:rPr lang="en-US" i="1" dirty="0"/>
              <a:t>Group</a:t>
            </a:r>
          </a:p>
          <a:p>
            <a:pPr lvl="1"/>
            <a:r>
              <a:rPr lang="en-US" i="1" dirty="0" err="1"/>
              <a:t>Member</a:t>
            </a:r>
            <a:r>
              <a:rPr lang="en-US" dirty="0" err="1"/>
              <a:t>.</a:t>
            </a:r>
            <a:r>
              <a:rPr lang="en-US" i="1" dirty="0" err="1"/>
              <a:t>gid</a:t>
            </a:r>
            <a:r>
              <a:rPr lang="en-US" dirty="0"/>
              <a:t> references </a:t>
            </a:r>
            <a:r>
              <a:rPr lang="en-US" i="1" dirty="0" err="1"/>
              <a:t>Group</a:t>
            </a:r>
            <a:r>
              <a:rPr lang="en-US" dirty="0" err="1"/>
              <a:t>.</a:t>
            </a:r>
            <a:r>
              <a:rPr lang="en-US" i="1" dirty="0" err="1"/>
              <a:t>gid</a:t>
            </a:r>
            <a:endParaRPr lang="en-US" i="1" dirty="0"/>
          </a:p>
          <a:p>
            <a:pPr>
              <a:buFont typeface="Wingdings" pitchFamily="2" charset="2"/>
              <a:buChar char="F"/>
            </a:pPr>
            <a:r>
              <a:rPr lang="en-US" dirty="0"/>
              <a:t>That is, no “dangling pointers”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55637"/>
              </p:ext>
            </p:extLst>
          </p:nvPr>
        </p:nvGraphicFramePr>
        <p:xfrm>
          <a:off x="571943" y="4089165"/>
          <a:ext cx="2504441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743805"/>
              </p:ext>
            </p:extLst>
          </p:nvPr>
        </p:nvGraphicFramePr>
        <p:xfrm>
          <a:off x="6416801" y="4099552"/>
          <a:ext cx="137064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243023"/>
              </p:ext>
            </p:extLst>
          </p:nvPr>
        </p:nvGraphicFramePr>
        <p:xfrm>
          <a:off x="4010685" y="4098552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43556" y="37736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2291" y="3773674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8455" y="3773674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025833" y="461772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25833" y="4936375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25833" y="525503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3025833" y="5270270"/>
            <a:ext cx="994822" cy="3124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3025833" y="5573685"/>
            <a:ext cx="994822" cy="3768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3025833" y="5573685"/>
            <a:ext cx="994822" cy="69898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320145" y="4617720"/>
            <a:ext cx="1119448" cy="65255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6" idx="1"/>
          </p:cNvCxnSpPr>
          <p:nvPr/>
        </p:nvCxnSpPr>
        <p:spPr>
          <a:xfrm flipV="1">
            <a:off x="5309267" y="4937752"/>
            <a:ext cx="1107534" cy="1457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5320145" y="4617720"/>
            <a:ext cx="1096656" cy="652551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6" idx="1"/>
          </p:cNvCxnSpPr>
          <p:nvPr/>
        </p:nvCxnSpPr>
        <p:spPr>
          <a:xfrm flipV="1">
            <a:off x="5309267" y="4937752"/>
            <a:ext cx="1107534" cy="692735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5320145" y="4611491"/>
            <a:ext cx="1096656" cy="133902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6" idx="1"/>
          </p:cNvCxnSpPr>
          <p:nvPr/>
        </p:nvCxnSpPr>
        <p:spPr>
          <a:xfrm flipV="1">
            <a:off x="5320145" y="4937752"/>
            <a:ext cx="1096656" cy="1334919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688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335" y="1456854"/>
            <a:ext cx="8624684" cy="5264622"/>
          </a:xfrm>
        </p:spPr>
        <p:txBody>
          <a:bodyPr/>
          <a:lstStyle/>
          <a:p>
            <a:r>
              <a:rPr lang="en-US" dirty="0"/>
              <a:t>Referenced column(s) must be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PRIMARY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KEY</a:t>
            </a:r>
          </a:p>
          <a:p>
            <a:r>
              <a:rPr lang="en-US" dirty="0"/>
              <a:t>Referencing column(s) form a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FOREIGN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KEY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24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66128D-65CE-4898-9753-EB5AB56AA482}"/>
              </a:ext>
            </a:extLst>
          </p:cNvPr>
          <p:cNvSpPr/>
          <p:nvPr/>
        </p:nvSpPr>
        <p:spPr>
          <a:xfrm>
            <a:off x="1024759" y="3031236"/>
            <a:ext cx="6841388" cy="17338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 DECIMAL(3,0) NOT NULL </a:t>
            </a: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REFERENCES User(</a:t>
            </a:r>
            <a:r>
              <a:rPr lang="en-US" sz="2000" dirty="0" err="1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,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 gid CHAR(10) NOT NULL,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PRIMARY KEY(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uid,gid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),</a:t>
            </a: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 </a:t>
            </a:r>
          </a:p>
          <a:p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FOREIGN KEY (gid) REFERENCES Group(gid)</a:t>
            </a:r>
            <a:r>
              <a:rPr lang="en-US" sz="2000" dirty="0"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;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F842EEFB-007A-4273-A941-761F6F806327}"/>
              </a:ext>
            </a:extLst>
          </p:cNvPr>
          <p:cNvSpPr/>
          <p:nvPr/>
        </p:nvSpPr>
        <p:spPr>
          <a:xfrm>
            <a:off x="5380583" y="4755164"/>
            <a:ext cx="3619767" cy="61024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128"/>
              <a:gd name="adj6" fmla="val -2394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dirty="0"/>
              <a:t>This form is required for multi-attribute foreign keys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1C1ED7-7BF3-4FD1-8802-BBC81D4C2135}"/>
              </a:ext>
            </a:extLst>
          </p:cNvPr>
          <p:cNvSpPr/>
          <p:nvPr/>
        </p:nvSpPr>
        <p:spPr>
          <a:xfrm>
            <a:off x="1043047" y="5423873"/>
            <a:ext cx="6841388" cy="106510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CREATE TABLE 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MemberBenefits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(…..</a:t>
            </a:r>
          </a:p>
          <a:p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FOREIGN KEY (</a:t>
            </a:r>
            <a:r>
              <a:rPr lang="en-US" sz="2000" dirty="0" err="1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uid,gid</a:t>
            </a: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) REFERENCES Member(</a:t>
            </a:r>
            <a:r>
              <a:rPr lang="en-US" sz="2000" dirty="0" err="1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uid,gid</a:t>
            </a: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2E8602-A4D8-4033-8546-3220B0BE3671}"/>
                  </a:ext>
                </a:extLst>
              </p14:cNvPr>
              <p14:cNvContentPartPr/>
              <p14:nvPr/>
            </p14:nvContentPartPr>
            <p14:xfrm>
              <a:off x="4120200" y="3114864"/>
              <a:ext cx="2846520" cy="938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2E8602-A4D8-4033-8546-3220B0BE36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02200" y="3096864"/>
                <a:ext cx="2882160" cy="9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479BE3-3338-4D6B-BFA4-10BF32169343}"/>
                  </a:ext>
                </a:extLst>
              </p14:cNvPr>
              <p14:cNvContentPartPr/>
              <p14:nvPr/>
            </p14:nvContentPartPr>
            <p14:xfrm>
              <a:off x="624240" y="4393584"/>
              <a:ext cx="460800" cy="461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479BE3-3338-4D6B-BFA4-10BF321693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6240" y="4375944"/>
                <a:ext cx="496440" cy="4975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475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Enforcing referential integrity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i="1" dirty="0" err="1">
                <a:solidFill>
                  <a:schemeClr val="accent2"/>
                </a:solidFill>
              </a:rPr>
              <a:t>Member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r>
              <a:rPr lang="en-US" dirty="0">
                <a:solidFill>
                  <a:schemeClr val="accent2"/>
                </a:solidFill>
              </a:rPr>
              <a:t> references </a:t>
            </a:r>
            <a:r>
              <a:rPr lang="en-US" i="1" dirty="0" err="1">
                <a:solidFill>
                  <a:schemeClr val="accent2"/>
                </a:solidFill>
              </a:rPr>
              <a:t>User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endParaRPr lang="en-US" i="1" dirty="0">
              <a:solidFill>
                <a:schemeClr val="accent2"/>
              </a:solidFill>
            </a:endParaRPr>
          </a:p>
          <a:p>
            <a:r>
              <a:rPr lang="en-US" dirty="0"/>
              <a:t>Insert or update a </a:t>
            </a:r>
            <a:r>
              <a:rPr lang="en-US" i="1" dirty="0"/>
              <a:t>Member</a:t>
            </a:r>
            <a:r>
              <a:rPr lang="en-US" dirty="0"/>
              <a:t> row so it </a:t>
            </a:r>
            <a:r>
              <a:rPr lang="en-US" dirty="0">
                <a:solidFill>
                  <a:schemeClr val="accent2"/>
                </a:solidFill>
              </a:rPr>
              <a:t>refers to a non-existent 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endParaRPr lang="en-US" i="1" dirty="0">
              <a:solidFill>
                <a:schemeClr val="accent2"/>
              </a:solidFill>
            </a:endParaRPr>
          </a:p>
          <a:p>
            <a:pPr lvl="1"/>
            <a:r>
              <a:rPr lang="en-US" dirty="0">
                <a:solidFill>
                  <a:schemeClr val="accent2"/>
                </a:solidFill>
              </a:rPr>
              <a:t>Reject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BD4BEF-3A67-40F5-B9A8-C5DB459E4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232772"/>
              </p:ext>
            </p:extLst>
          </p:nvPr>
        </p:nvGraphicFramePr>
        <p:xfrm>
          <a:off x="571943" y="4089165"/>
          <a:ext cx="2504441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B09CE6-33BC-43D2-9323-3D50592FC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33638"/>
              </p:ext>
            </p:extLst>
          </p:nvPr>
        </p:nvGraphicFramePr>
        <p:xfrm>
          <a:off x="4010685" y="4098552"/>
          <a:ext cx="134366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6BCC59-4326-4B49-89F2-EA854C38CB31}"/>
              </a:ext>
            </a:extLst>
          </p:cNvPr>
          <p:cNvSpPr txBox="1"/>
          <p:nvPr/>
        </p:nvSpPr>
        <p:spPr>
          <a:xfrm>
            <a:off x="1343556" y="37736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01C0F-6D58-43E0-A8CA-B88A5D5E50BF}"/>
              </a:ext>
            </a:extLst>
          </p:cNvPr>
          <p:cNvSpPr txBox="1"/>
          <p:nvPr/>
        </p:nvSpPr>
        <p:spPr>
          <a:xfrm>
            <a:off x="4148455" y="3773674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119489-E12D-410A-882B-30BE83F88D9F}"/>
              </a:ext>
            </a:extLst>
          </p:cNvPr>
          <p:cNvCxnSpPr/>
          <p:nvPr/>
        </p:nvCxnSpPr>
        <p:spPr>
          <a:xfrm flipH="1">
            <a:off x="3025833" y="461772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D902EB-045C-4072-943B-46283B40AE4E}"/>
              </a:ext>
            </a:extLst>
          </p:cNvPr>
          <p:cNvCxnSpPr/>
          <p:nvPr/>
        </p:nvCxnSpPr>
        <p:spPr>
          <a:xfrm flipH="1">
            <a:off x="3025833" y="4936375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AA144D-0860-4277-B425-24CE3BFB8D0D}"/>
              </a:ext>
            </a:extLst>
          </p:cNvPr>
          <p:cNvCxnSpPr/>
          <p:nvPr/>
        </p:nvCxnSpPr>
        <p:spPr>
          <a:xfrm flipH="1">
            <a:off x="3025833" y="525503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6F1B8B-59A8-4210-8273-14A3B5481D3F}"/>
              </a:ext>
            </a:extLst>
          </p:cNvPr>
          <p:cNvCxnSpPr/>
          <p:nvPr/>
        </p:nvCxnSpPr>
        <p:spPr>
          <a:xfrm flipH="1" flipV="1">
            <a:off x="3025833" y="5270270"/>
            <a:ext cx="994822" cy="3124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3F825A-5D85-47EC-B14D-6CDF522C9747}"/>
              </a:ext>
            </a:extLst>
          </p:cNvPr>
          <p:cNvCxnSpPr/>
          <p:nvPr/>
        </p:nvCxnSpPr>
        <p:spPr>
          <a:xfrm flipH="1" flipV="1">
            <a:off x="3025833" y="5573685"/>
            <a:ext cx="994822" cy="3768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8851F5-17FA-419E-A48A-2F6BA97BF0D1}"/>
              </a:ext>
            </a:extLst>
          </p:cNvPr>
          <p:cNvCxnSpPr/>
          <p:nvPr/>
        </p:nvCxnSpPr>
        <p:spPr>
          <a:xfrm flipH="1" flipV="1">
            <a:off x="3025833" y="5573685"/>
            <a:ext cx="994822" cy="69898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DED914D-A191-43F0-8A37-916D661313D4}"/>
              </a:ext>
            </a:extLst>
          </p:cNvPr>
          <p:cNvSpPr txBox="1"/>
          <p:nvPr/>
        </p:nvSpPr>
        <p:spPr>
          <a:xfrm rot="20955794">
            <a:off x="5388783" y="6359774"/>
            <a:ext cx="97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Reject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373DC79-CF1D-4CCE-B14E-A10AE5E8F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951766"/>
              </p:ext>
            </p:extLst>
          </p:nvPr>
        </p:nvGraphicFramePr>
        <p:xfrm>
          <a:off x="4020655" y="6435110"/>
          <a:ext cx="134366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1518064851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658351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000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gov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0152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81163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Enforcing referential integrity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i="1" dirty="0" err="1">
                <a:solidFill>
                  <a:schemeClr val="accent2"/>
                </a:solidFill>
              </a:rPr>
              <a:t>Member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r>
              <a:rPr lang="en-US" dirty="0">
                <a:solidFill>
                  <a:schemeClr val="accent2"/>
                </a:solidFill>
              </a:rPr>
              <a:t> references </a:t>
            </a:r>
            <a:r>
              <a:rPr lang="en-US" i="1" dirty="0" err="1">
                <a:solidFill>
                  <a:schemeClr val="accent2"/>
                </a:solidFill>
              </a:rPr>
              <a:t>User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endParaRPr lang="en-US" i="1" dirty="0">
              <a:solidFill>
                <a:schemeClr val="accent2"/>
              </a:solidFill>
            </a:endParaRPr>
          </a:p>
          <a:p>
            <a:r>
              <a:rPr lang="en-US" dirty="0"/>
              <a:t>Delete or update a </a:t>
            </a:r>
            <a:r>
              <a:rPr lang="en-US" i="1" dirty="0"/>
              <a:t>User</a:t>
            </a:r>
            <a:r>
              <a:rPr lang="en-US" dirty="0"/>
              <a:t> row whose </a:t>
            </a:r>
            <a:r>
              <a:rPr lang="en-US" i="1" dirty="0" err="1"/>
              <a:t>uid</a:t>
            </a:r>
            <a:r>
              <a:rPr lang="en-US" dirty="0"/>
              <a:t> is </a:t>
            </a:r>
            <a:r>
              <a:rPr lang="en-US" dirty="0">
                <a:solidFill>
                  <a:schemeClr val="accent2"/>
                </a:solidFill>
              </a:rPr>
              <a:t>referenced by some </a:t>
            </a:r>
            <a:r>
              <a:rPr lang="en-US" i="1" dirty="0">
                <a:solidFill>
                  <a:schemeClr val="accent2"/>
                </a:solidFill>
              </a:rPr>
              <a:t>Member</a:t>
            </a:r>
            <a:r>
              <a:rPr lang="en-US" dirty="0">
                <a:solidFill>
                  <a:schemeClr val="accent2"/>
                </a:solidFill>
              </a:rPr>
              <a:t> row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Multiple Options (in SQL)</a:t>
            </a:r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827EA-B0CF-4315-AE45-09E5AE0C7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52168"/>
              </p:ext>
            </p:extLst>
          </p:nvPr>
        </p:nvGraphicFramePr>
        <p:xfrm>
          <a:off x="571943" y="4089165"/>
          <a:ext cx="2504441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17BB2F-3DB5-4E0D-BCFD-6A1400943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049393"/>
              </p:ext>
            </p:extLst>
          </p:nvPr>
        </p:nvGraphicFramePr>
        <p:xfrm>
          <a:off x="4010685" y="4098552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D690F2-5971-4884-801E-169CD14DDCF0}"/>
              </a:ext>
            </a:extLst>
          </p:cNvPr>
          <p:cNvSpPr txBox="1"/>
          <p:nvPr/>
        </p:nvSpPr>
        <p:spPr>
          <a:xfrm>
            <a:off x="1343556" y="37736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DAB5B-8CC3-435C-9CFA-BD432A1458E6}"/>
              </a:ext>
            </a:extLst>
          </p:cNvPr>
          <p:cNvSpPr txBox="1"/>
          <p:nvPr/>
        </p:nvSpPr>
        <p:spPr>
          <a:xfrm>
            <a:off x="4148455" y="3773674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B2AC9A-FD65-4A99-A83F-E5D4D05754B9}"/>
              </a:ext>
            </a:extLst>
          </p:cNvPr>
          <p:cNvCxnSpPr/>
          <p:nvPr/>
        </p:nvCxnSpPr>
        <p:spPr>
          <a:xfrm flipH="1">
            <a:off x="3025833" y="461772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130D50-7FA7-43BD-9383-8D6C62D96FAB}"/>
              </a:ext>
            </a:extLst>
          </p:cNvPr>
          <p:cNvCxnSpPr/>
          <p:nvPr/>
        </p:nvCxnSpPr>
        <p:spPr>
          <a:xfrm flipH="1">
            <a:off x="3025833" y="4936375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4F0FCF-EB6A-4EF3-8DDE-FD66A0D5768F}"/>
              </a:ext>
            </a:extLst>
          </p:cNvPr>
          <p:cNvCxnSpPr/>
          <p:nvPr/>
        </p:nvCxnSpPr>
        <p:spPr>
          <a:xfrm flipH="1">
            <a:off x="3025833" y="525503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565EEA-6749-424D-8F0F-716219827154}"/>
              </a:ext>
            </a:extLst>
          </p:cNvPr>
          <p:cNvCxnSpPr/>
          <p:nvPr/>
        </p:nvCxnSpPr>
        <p:spPr>
          <a:xfrm flipH="1" flipV="1">
            <a:off x="3025833" y="5270270"/>
            <a:ext cx="994822" cy="3124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94C0A-70E7-4586-9FDB-FEF6BBDA64ED}"/>
              </a:ext>
            </a:extLst>
          </p:cNvPr>
          <p:cNvCxnSpPr/>
          <p:nvPr/>
        </p:nvCxnSpPr>
        <p:spPr>
          <a:xfrm flipH="1" flipV="1">
            <a:off x="3025833" y="5573685"/>
            <a:ext cx="994822" cy="3768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E4339C-FFEA-464C-ABB5-458BD9790EDE}"/>
              </a:ext>
            </a:extLst>
          </p:cNvPr>
          <p:cNvCxnSpPr/>
          <p:nvPr/>
        </p:nvCxnSpPr>
        <p:spPr>
          <a:xfrm flipH="1" flipV="1">
            <a:off x="3025833" y="5573685"/>
            <a:ext cx="994822" cy="69898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BBF4CC-3104-4B9A-9E11-E7FE52A91675}"/>
              </a:ext>
            </a:extLst>
          </p:cNvPr>
          <p:cNvSpPr txBox="1"/>
          <p:nvPr/>
        </p:nvSpPr>
        <p:spPr>
          <a:xfrm>
            <a:off x="760431" y="4991106"/>
            <a:ext cx="2242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Option 1: Reject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285181-BD5B-4EF5-8606-6076E3949666}"/>
              </a:ext>
            </a:extLst>
          </p:cNvPr>
          <p:cNvCxnSpPr/>
          <p:nvPr/>
        </p:nvCxnSpPr>
        <p:spPr>
          <a:xfrm flipV="1">
            <a:off x="409903" y="5573685"/>
            <a:ext cx="2809650" cy="90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4714FA-1ACF-488E-AA94-9095B61E8137}"/>
              </a:ext>
            </a:extLst>
          </p:cNvPr>
          <p:cNvCxnSpPr>
            <a:cxnSpLocks/>
          </p:cNvCxnSpPr>
          <p:nvPr/>
        </p:nvCxnSpPr>
        <p:spPr>
          <a:xfrm>
            <a:off x="3523244" y="5955042"/>
            <a:ext cx="20070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B244E1-2239-4BB6-9D6C-C53AFC8422E2}"/>
              </a:ext>
            </a:extLst>
          </p:cNvPr>
          <p:cNvCxnSpPr>
            <a:cxnSpLocks/>
          </p:cNvCxnSpPr>
          <p:nvPr/>
        </p:nvCxnSpPr>
        <p:spPr>
          <a:xfrm>
            <a:off x="3568485" y="6272671"/>
            <a:ext cx="20070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69A18F-6BFB-4053-99FE-535A64960A7F}"/>
              </a:ext>
            </a:extLst>
          </p:cNvPr>
          <p:cNvSpPr txBox="1"/>
          <p:nvPr/>
        </p:nvSpPr>
        <p:spPr>
          <a:xfrm>
            <a:off x="5610979" y="5161941"/>
            <a:ext cx="3553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Option 2: Cascade </a:t>
            </a:r>
          </a:p>
          <a:p>
            <a:r>
              <a:rPr lang="en-US" sz="2400" dirty="0">
                <a:solidFill>
                  <a:srgbClr val="FF0000"/>
                </a:solidFill>
                <a:latin typeface="Prestige12 BT" panose="02070509030506020304" pitchFamily="49" charset="0"/>
              </a:rPr>
              <a:t>(ripple changes to all referring rows)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83DC23-DE68-4469-B2F4-052269E0EA8F}"/>
              </a:ext>
            </a:extLst>
          </p:cNvPr>
          <p:cNvSpPr/>
          <p:nvPr/>
        </p:nvSpPr>
        <p:spPr>
          <a:xfrm>
            <a:off x="5550031" y="3514115"/>
            <a:ext cx="3498385" cy="159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 DECIMAL(3,0) NOT NULL REFERENCES User(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ON DELETE CASCADE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,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…..</a:t>
            </a:r>
            <a:r>
              <a:rPr lang="en-US" sz="2000" dirty="0"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814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Enforcing referential integrity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i="1" dirty="0" err="1">
                <a:solidFill>
                  <a:schemeClr val="accent2"/>
                </a:solidFill>
              </a:rPr>
              <a:t>Member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r>
              <a:rPr lang="en-US" dirty="0">
                <a:solidFill>
                  <a:schemeClr val="accent2"/>
                </a:solidFill>
              </a:rPr>
              <a:t> references </a:t>
            </a:r>
            <a:r>
              <a:rPr lang="en-US" i="1" dirty="0" err="1">
                <a:solidFill>
                  <a:schemeClr val="accent2"/>
                </a:solidFill>
              </a:rPr>
              <a:t>User</a:t>
            </a:r>
            <a:r>
              <a:rPr lang="en-US" dirty="0" err="1">
                <a:solidFill>
                  <a:schemeClr val="accent2"/>
                </a:solidFill>
              </a:rPr>
              <a:t>.</a:t>
            </a:r>
            <a:r>
              <a:rPr lang="en-US" i="1" dirty="0" err="1">
                <a:solidFill>
                  <a:schemeClr val="accent2"/>
                </a:solidFill>
              </a:rPr>
              <a:t>uid</a:t>
            </a:r>
            <a:endParaRPr lang="en-US" i="1" dirty="0">
              <a:solidFill>
                <a:schemeClr val="accent2"/>
              </a:solidFill>
            </a:endParaRPr>
          </a:p>
          <a:p>
            <a:r>
              <a:rPr lang="en-US" dirty="0"/>
              <a:t>Delete or update a </a:t>
            </a:r>
            <a:r>
              <a:rPr lang="en-US" i="1" dirty="0"/>
              <a:t>User</a:t>
            </a:r>
            <a:r>
              <a:rPr lang="en-US" dirty="0"/>
              <a:t> row whose </a:t>
            </a:r>
            <a:r>
              <a:rPr lang="en-US" i="1" dirty="0" err="1"/>
              <a:t>uid</a:t>
            </a:r>
            <a:r>
              <a:rPr lang="en-US" dirty="0"/>
              <a:t> is referenced by some </a:t>
            </a:r>
            <a:r>
              <a:rPr lang="en-US" i="1" dirty="0"/>
              <a:t>Member</a:t>
            </a:r>
            <a:r>
              <a:rPr lang="en-US" dirty="0"/>
              <a:t> row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Multiple Options (in SQL)</a:t>
            </a:r>
            <a:endParaRPr lang="en-US" dirty="0">
              <a:latin typeface="Prestige12 BT" panose="020705090305060203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BF827EA-B0CF-4315-AE45-09E5AE0C7614}"/>
              </a:ext>
            </a:extLst>
          </p:cNvPr>
          <p:cNvGraphicFramePr>
            <a:graphicFrameLocks noGrp="1"/>
          </p:cNvGraphicFramePr>
          <p:nvPr/>
        </p:nvGraphicFramePr>
        <p:xfrm>
          <a:off x="571943" y="4089165"/>
          <a:ext cx="2504441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3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47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16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Bart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12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Milhouse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2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Lisa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7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Ralph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17BB2F-3DB5-4E0D-BCFD-6A1400943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486891"/>
              </p:ext>
            </p:extLst>
          </p:nvPr>
        </p:nvGraphicFramePr>
        <p:xfrm>
          <a:off x="4010685" y="4098552"/>
          <a:ext cx="1343660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523"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uid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gid</a:t>
                      </a:r>
                      <a:endParaRPr lang="en-US" sz="16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97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dps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66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80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abc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NULL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Prestige12 BT" panose="02070509030506020304" pitchFamily="49" charset="0"/>
                        </a:rPr>
                        <a:t>gov</a:t>
                      </a:r>
                      <a:endParaRPr lang="en-US" sz="1600" dirty="0">
                        <a:latin typeface="Prestige12 BT" panose="020705090305060203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Prestige12 BT" panose="02070509030506020304" pitchFamily="49" charset="0"/>
                        </a:rPr>
                        <a:t>….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4D690F2-5971-4884-801E-169CD14DDCF0}"/>
              </a:ext>
            </a:extLst>
          </p:cNvPr>
          <p:cNvSpPr txBox="1"/>
          <p:nvPr/>
        </p:nvSpPr>
        <p:spPr>
          <a:xfrm>
            <a:off x="1343556" y="3773674"/>
            <a:ext cx="660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User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DAB5B-8CC3-435C-9CFA-BD432A1458E6}"/>
              </a:ext>
            </a:extLst>
          </p:cNvPr>
          <p:cNvSpPr txBox="1"/>
          <p:nvPr/>
        </p:nvSpPr>
        <p:spPr>
          <a:xfrm>
            <a:off x="4148455" y="3773674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Member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B2AC9A-FD65-4A99-A83F-E5D4D05754B9}"/>
              </a:ext>
            </a:extLst>
          </p:cNvPr>
          <p:cNvCxnSpPr/>
          <p:nvPr/>
        </p:nvCxnSpPr>
        <p:spPr>
          <a:xfrm flipH="1">
            <a:off x="3025833" y="461772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130D50-7FA7-43BD-9383-8D6C62D96FAB}"/>
              </a:ext>
            </a:extLst>
          </p:cNvPr>
          <p:cNvCxnSpPr/>
          <p:nvPr/>
        </p:nvCxnSpPr>
        <p:spPr>
          <a:xfrm flipH="1">
            <a:off x="3025833" y="4936375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F4F0FCF-EB6A-4EF3-8DDE-FD66A0D5768F}"/>
              </a:ext>
            </a:extLst>
          </p:cNvPr>
          <p:cNvCxnSpPr/>
          <p:nvPr/>
        </p:nvCxnSpPr>
        <p:spPr>
          <a:xfrm flipH="1">
            <a:off x="3025833" y="5255030"/>
            <a:ext cx="994822" cy="15240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565EEA-6749-424D-8F0F-716219827154}"/>
              </a:ext>
            </a:extLst>
          </p:cNvPr>
          <p:cNvCxnSpPr/>
          <p:nvPr/>
        </p:nvCxnSpPr>
        <p:spPr>
          <a:xfrm flipH="1" flipV="1">
            <a:off x="3025833" y="5270270"/>
            <a:ext cx="994822" cy="3124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4E94C0A-70E7-4586-9FDB-FEF6BBDA64ED}"/>
              </a:ext>
            </a:extLst>
          </p:cNvPr>
          <p:cNvCxnSpPr/>
          <p:nvPr/>
        </p:nvCxnSpPr>
        <p:spPr>
          <a:xfrm flipH="1" flipV="1">
            <a:off x="3025833" y="5573685"/>
            <a:ext cx="994822" cy="376843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E4339C-FFEA-464C-ABB5-458BD9790EDE}"/>
              </a:ext>
            </a:extLst>
          </p:cNvPr>
          <p:cNvCxnSpPr/>
          <p:nvPr/>
        </p:nvCxnSpPr>
        <p:spPr>
          <a:xfrm flipH="1" flipV="1">
            <a:off x="3025833" y="5573685"/>
            <a:ext cx="994822" cy="698986"/>
          </a:xfrm>
          <a:prstGeom prst="straightConnector1">
            <a:avLst/>
          </a:prstGeom>
          <a:ln w="25400">
            <a:solidFill>
              <a:schemeClr val="tx1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285181-BD5B-4EF5-8606-6076E3949666}"/>
              </a:ext>
            </a:extLst>
          </p:cNvPr>
          <p:cNvCxnSpPr/>
          <p:nvPr/>
        </p:nvCxnSpPr>
        <p:spPr>
          <a:xfrm flipV="1">
            <a:off x="409903" y="5573685"/>
            <a:ext cx="2809650" cy="90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69A18F-6BFB-4053-99FE-535A64960A7F}"/>
              </a:ext>
            </a:extLst>
          </p:cNvPr>
          <p:cNvSpPr txBox="1"/>
          <p:nvPr/>
        </p:nvSpPr>
        <p:spPr>
          <a:xfrm>
            <a:off x="5628746" y="4382384"/>
            <a:ext cx="35534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Prestige12 BT" panose="02070509030506020304" pitchFamily="49" charset="0"/>
              </a:rPr>
              <a:t>Option 3: Set NULL </a:t>
            </a:r>
          </a:p>
          <a:p>
            <a:r>
              <a:rPr lang="en-US" sz="2400" dirty="0">
                <a:solidFill>
                  <a:srgbClr val="FF0000"/>
                </a:solidFill>
                <a:latin typeface="Prestige12 BT" panose="02070509030506020304" pitchFamily="49" charset="0"/>
              </a:rPr>
              <a:t>(set all references to NULL)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6F42B7-02F9-4980-B3E6-5F4E6CC0FCEC}"/>
              </a:ext>
            </a:extLst>
          </p:cNvPr>
          <p:cNvSpPr/>
          <p:nvPr/>
        </p:nvSpPr>
        <p:spPr>
          <a:xfrm>
            <a:off x="5524309" y="2732508"/>
            <a:ext cx="3498385" cy="15905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CREATE TABLE Member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 DECIMAL(3,0) </a:t>
            </a:r>
            <a:r>
              <a:rPr lang="en-US" sz="2000" strike="sngStrike" dirty="0">
                <a:solidFill>
                  <a:srgbClr val="FF0000"/>
                </a:solidFill>
                <a:latin typeface="+mj-lt"/>
                <a:cs typeface="Calibri" panose="020F0502020204030204" pitchFamily="34" charset="0"/>
              </a:rPr>
              <a:t>NOT NULL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REFERENCES User(</a:t>
            </a:r>
            <a:r>
              <a:rPr lang="en-US" sz="2000" dirty="0" err="1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uid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)</a:t>
            </a:r>
            <a:b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</a:br>
            <a:r>
              <a:rPr lang="en-US" sz="2000" dirty="0">
                <a:solidFill>
                  <a:schemeClr val="accent2"/>
                </a:solidFill>
                <a:latin typeface="+mj-lt"/>
                <a:cs typeface="Calibri" panose="020F0502020204030204" pitchFamily="34" charset="0"/>
              </a:rPr>
              <a:t>ON DELETE SET NULL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,</a:t>
            </a:r>
          </a:p>
          <a:p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…..</a:t>
            </a:r>
            <a:r>
              <a:rPr lang="en-US" sz="2000" dirty="0">
                <a:latin typeface="+mj-lt"/>
                <a:cs typeface="Calibri" panose="020F0502020204030204" pitchFamily="34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Calibri" panose="020F0502020204030204" pitchFamily="34" charset="0"/>
              </a:rPr>
              <a:t>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79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Deferred constraint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Example: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first </a:t>
            </a:r>
            <a:r>
              <a:rPr lang="en-US" dirty="0">
                <a:latin typeface="Prestige12 BT" panose="02070509030506020304" pitchFamily="49" charset="0"/>
              </a:rPr>
              <a:t>INSERT</a:t>
            </a:r>
            <a:r>
              <a:rPr lang="en-US" dirty="0"/>
              <a:t> will always violate a constraint!</a:t>
            </a:r>
          </a:p>
          <a:p>
            <a:r>
              <a:rPr lang="en-US" dirty="0">
                <a:solidFill>
                  <a:schemeClr val="accent2"/>
                </a:solidFill>
              </a:rPr>
              <a:t>Deferred constraint checking </a:t>
            </a:r>
            <a:r>
              <a:rPr lang="en-US" dirty="0"/>
              <a:t>is necessary</a:t>
            </a:r>
          </a:p>
          <a:p>
            <a:pPr lvl="1"/>
            <a:r>
              <a:rPr lang="en-US" dirty="0"/>
              <a:t>Check only at the end of a transaction</a:t>
            </a:r>
          </a:p>
          <a:p>
            <a:pPr lvl="1"/>
            <a:r>
              <a:rPr lang="en-US" dirty="0"/>
              <a:t>Allowed in SQL as an option</a:t>
            </a:r>
          </a:p>
          <a:p>
            <a:r>
              <a:rPr lang="en-US" dirty="0"/>
              <a:t>Curious how the schema was created in the first place?</a:t>
            </a:r>
          </a:p>
          <a:p>
            <a:pPr lvl="1"/>
            <a:r>
              <a:rPr lang="en-US" dirty="0">
                <a:solidFill>
                  <a:schemeClr val="accent2"/>
                </a:solidFill>
                <a:latin typeface="Prestige12 BT" panose="02070509030506020304" pitchFamily="49" charset="0"/>
              </a:rPr>
              <a:t>ALTER TABLE ADD CONSTRAINT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(read the manual!)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DECCB-3BDD-44B6-8E7B-C969513031D3}"/>
              </a:ext>
            </a:extLst>
          </p:cNvPr>
          <p:cNvSpPr/>
          <p:nvPr/>
        </p:nvSpPr>
        <p:spPr>
          <a:xfrm>
            <a:off x="2153119" y="1342321"/>
            <a:ext cx="6275520" cy="129469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CREATE TABLE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Dept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name</a:t>
            </a:r>
            <a:r>
              <a:rPr lang="en-US" sz="2000" dirty="0">
                <a:latin typeface="Prestige12 BT" panose="02070509030506020304" pitchFamily="49" charset="0"/>
              </a:rPr>
              <a:t> CHAR(20) NOT NULL PRIMARY KEY,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chair</a:t>
            </a:r>
            <a:r>
              <a:rPr lang="en-US" sz="2000" dirty="0">
                <a:latin typeface="Prestige12 BT" panose="02070509030506020304" pitchFamily="49" charset="0"/>
              </a:rPr>
              <a:t> CHAR(30) NOT NULL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              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REFERENCES Prof(name)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A4AC2-8657-4A32-9E23-F6E1452DE048}"/>
              </a:ext>
            </a:extLst>
          </p:cNvPr>
          <p:cNvSpPr/>
          <p:nvPr/>
        </p:nvSpPr>
        <p:spPr>
          <a:xfrm>
            <a:off x="2153119" y="2672047"/>
            <a:ext cx="6275520" cy="13381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CREATE TABLE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Prof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name</a:t>
            </a:r>
            <a:r>
              <a:rPr lang="en-US" sz="2000" dirty="0">
                <a:latin typeface="Prestige12 BT" panose="02070509030506020304" pitchFamily="49" charset="0"/>
              </a:rPr>
              <a:t> CHAR(30) NOT NULL PRIMARY KEY,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dept</a:t>
            </a:r>
            <a:r>
              <a:rPr lang="en-US" sz="2000" dirty="0">
                <a:latin typeface="Prestige12 BT" panose="02070509030506020304" pitchFamily="49" charset="0"/>
              </a:rPr>
              <a:t> CHAR(20) NOT NULL 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             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REFERENCES Dept(name)</a:t>
            </a:r>
            <a:r>
              <a:rPr lang="en-US" sz="2000" dirty="0">
                <a:latin typeface="Prestige12 BT" panose="02070509030506020304" pitchFamily="49" charset="0"/>
              </a:rPr>
              <a:t>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353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assertion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CREATE ASSERTION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𝑎𝑠𝑠𝑒𝑟𝑡𝑖𝑜𝑛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_</m:t>
                    </m:r>
                    <m: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𝑛𝑎𝑚𝑒</m:t>
                    </m:r>
                  </m:oMath>
                </a14:m>
                <a:b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</a:br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CHECK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assertion</m:t>
                    </m:r>
                    <m:r>
                      <m:rPr>
                        <m:nor/>
                      </m:rPr>
                      <a:rPr lang="en-US" b="0" i="1" dirty="0" smtClean="0">
                        <a:solidFill>
                          <a:schemeClr val="accent2"/>
                        </a:solidFill>
                        <a:latin typeface="Cambria Math" charset="0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solidFill>
                          <a:schemeClr val="accent2"/>
                        </a:solidFill>
                        <a:latin typeface="Cambria Math"/>
                      </a:rPr>
                      <m:t>condition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  <a:latin typeface="Prestige12 BT" panose="02070509030506020304" pitchFamily="49" charset="0"/>
                  </a:rPr>
                  <a:t>;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assertion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_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condition</m:t>
                    </m:r>
                  </m:oMath>
                </a14:m>
                <a:r>
                  <a:rPr lang="en-US" dirty="0"/>
                  <a:t> is checked for each modification that could potentially violate it</a:t>
                </a:r>
              </a:p>
              <a:p>
                <a:endParaRPr lang="en-US" dirty="0"/>
              </a:p>
              <a:p>
                <a:r>
                  <a:rPr lang="en-US" dirty="0"/>
                  <a:t>Example: </a:t>
                </a:r>
                <a:r>
                  <a:rPr lang="en-US" i="1" dirty="0" err="1"/>
                  <a:t>Member</a:t>
                </a:r>
                <a:r>
                  <a:rPr lang="en-US" dirty="0" err="1"/>
                  <a:t>.</a:t>
                </a:r>
                <a:r>
                  <a:rPr lang="en-US" i="1" dirty="0" err="1"/>
                  <a:t>uid</a:t>
                </a:r>
                <a:r>
                  <a:rPr lang="en-US" dirty="0"/>
                  <a:t> references </a:t>
                </a:r>
                <a:r>
                  <a:rPr lang="en-US" i="1" dirty="0" err="1"/>
                  <a:t>User</a:t>
                </a:r>
                <a:r>
                  <a:rPr lang="en-US" dirty="0" err="1"/>
                  <a:t>.</a:t>
                </a:r>
                <a:r>
                  <a:rPr lang="en-US" i="1" dirty="0" err="1"/>
                  <a:t>uid</a:t>
                </a:r>
                <a:endParaRPr lang="en-US" i="1" dirty="0"/>
              </a:p>
              <a:p>
                <a:pPr>
                  <a:buFont typeface="Wingdings" pitchFamily="2" charset="2"/>
                  <a:buChar char="F"/>
                </a:pPr>
                <a:endParaRPr lang="en-US" dirty="0"/>
              </a:p>
              <a:p>
                <a:pPr>
                  <a:buFont typeface="Wingdings" pitchFamily="2" charset="2"/>
                  <a:buChar char="F"/>
                </a:pPr>
                <a:endParaRPr lang="en-US" dirty="0"/>
              </a:p>
              <a:p>
                <a:pPr>
                  <a:buFont typeface="Wingdings" pitchFamily="2" charset="2"/>
                  <a:buChar char="F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342" t="-19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B8A722-6315-4A5E-B7D3-6C3A4FE1A0E6}"/>
              </a:ext>
            </a:extLst>
          </p:cNvPr>
          <p:cNvSpPr/>
          <p:nvPr/>
        </p:nvSpPr>
        <p:spPr>
          <a:xfrm>
            <a:off x="974804" y="4291404"/>
            <a:ext cx="6275520" cy="16653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CREATE ASSERTION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MemberUserRefIntegrity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bg1"/>
                </a:solidFill>
                <a:latin typeface="Prestige12 BT" panose="02070509030506020304" pitchFamily="49" charset="0"/>
              </a:rPr>
              <a:t>CHECK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(NOT EXISTS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(SELECT * FROM Member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WHERE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NOT IN</a:t>
            </a:r>
            <a:b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       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FROM User)));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499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Tuple- and attribute-based </a:t>
            </a:r>
            <a:r>
              <a:rPr lang="en-US" dirty="0">
                <a:latin typeface="Prestige12 BT" panose="02070509030506020304" pitchFamily="49" charset="0"/>
              </a:rPr>
              <a:t>CHECK</a:t>
            </a:r>
            <a:r>
              <a:rPr lang="en-US" dirty="0">
                <a:latin typeface="+mn-lt"/>
              </a:rPr>
              <a:t>’s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2336" y="1456854"/>
            <a:ext cx="8382116" cy="5264622"/>
          </a:xfrm>
        </p:spPr>
        <p:txBody>
          <a:bodyPr>
            <a:normAutofit/>
          </a:bodyPr>
          <a:lstStyle/>
          <a:p>
            <a:r>
              <a:rPr lang="en-US" dirty="0"/>
              <a:t>Associated with a single table</a:t>
            </a:r>
          </a:p>
          <a:p>
            <a:r>
              <a:rPr lang="en-US" dirty="0">
                <a:solidFill>
                  <a:schemeClr val="accent2"/>
                </a:solidFill>
              </a:rPr>
              <a:t>Only checked when a tuple/attribute is inserted/updated</a:t>
            </a:r>
          </a:p>
          <a:p>
            <a:pPr lvl="1"/>
            <a:r>
              <a:rPr lang="en-US" dirty="0"/>
              <a:t>Reject if condition evaluates to </a:t>
            </a:r>
            <a:r>
              <a:rPr lang="en-US" dirty="0">
                <a:latin typeface="Prestige12 BT Roman" charset="0"/>
                <a:ea typeface="Prestige12 BT Roman" charset="0"/>
                <a:cs typeface="Prestige12 BT Roman" charset="0"/>
              </a:rPr>
              <a:t>FALSE</a:t>
            </a:r>
            <a:endParaRPr lang="en-US" dirty="0"/>
          </a:p>
          <a:p>
            <a:pPr lvl="1"/>
            <a:r>
              <a:rPr lang="en-US" dirty="0">
                <a:latin typeface="Prestige12 BT Roman" charset="0"/>
                <a:ea typeface="Prestige12 BT Roman" charset="0"/>
                <a:cs typeface="Prestige12 BT Roman" charset="0"/>
              </a:rPr>
              <a:t>TRUE</a:t>
            </a:r>
            <a:r>
              <a:rPr lang="en-US" dirty="0"/>
              <a:t> and </a:t>
            </a:r>
            <a:r>
              <a:rPr lang="en-US" dirty="0">
                <a:latin typeface="Prestige12 BT Roman" charset="0"/>
                <a:ea typeface="Prestige12 BT Roman" charset="0"/>
                <a:cs typeface="Prestige12 BT Roman" charset="0"/>
              </a:rPr>
              <a:t>UNKNOWN</a:t>
            </a:r>
            <a:r>
              <a:rPr lang="en-US" dirty="0"/>
              <a:t> are fine</a:t>
            </a:r>
          </a:p>
          <a:p>
            <a:r>
              <a:rPr lang="en-US" dirty="0"/>
              <a:t>Examples: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8ED76-BF2F-4D49-BE97-C6C5F53BE20E}"/>
              </a:ext>
            </a:extLst>
          </p:cNvPr>
          <p:cNvSpPr/>
          <p:nvPr/>
        </p:nvSpPr>
        <p:spPr>
          <a:xfrm>
            <a:off x="630571" y="4154690"/>
            <a:ext cx="5533743" cy="93950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CREATE TABLE User(... 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age INTEGER 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CHECK(age IS NULL OR age &gt; 0)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...);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0CDD70-31C2-4BBB-9A7D-8A2E4A41B45B}"/>
              </a:ext>
            </a:extLst>
          </p:cNvPr>
          <p:cNvSpPr/>
          <p:nvPr/>
        </p:nvSpPr>
        <p:spPr>
          <a:xfrm>
            <a:off x="630571" y="5275023"/>
            <a:ext cx="5533743" cy="12108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Prestige12 BT" panose="02070509030506020304" pitchFamily="49" charset="0"/>
              </a:rPr>
              <a:t>CREATE TABLE Member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(</a:t>
            </a:r>
            <a:r>
              <a:rPr lang="en-US" sz="2000" dirty="0" err="1">
                <a:latin typeface="Prestige12 BT" panose="02070509030506020304" pitchFamily="49" charset="0"/>
              </a:rPr>
              <a:t>uid</a:t>
            </a:r>
            <a:r>
              <a:rPr lang="en-US" sz="2000" dirty="0">
                <a:latin typeface="Prestige12 BT" panose="02070509030506020304" pitchFamily="49" charset="0"/>
              </a:rPr>
              <a:t> INTEGER NOT NULL,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CHECK(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IN (SELECT </a:t>
            </a:r>
            <a:r>
              <a:rPr lang="en-US" sz="2000" dirty="0" err="1">
                <a:solidFill>
                  <a:schemeClr val="accent2"/>
                </a:solidFill>
                <a:latin typeface="Prestige12 BT" panose="02070509030506020304" pitchFamily="49" charset="0"/>
              </a:rPr>
              <a:t>uid</a:t>
            </a:r>
            <a:r>
              <a:rPr lang="en-US" sz="2000" dirty="0">
                <a:solidFill>
                  <a:schemeClr val="accent2"/>
                </a:solidFill>
                <a:latin typeface="Prestige12 BT" panose="02070509030506020304" pitchFamily="49" charset="0"/>
              </a:rPr>
              <a:t> FROM User))</a:t>
            </a:r>
            <a:r>
              <a:rPr lang="en-US" sz="2000" dirty="0">
                <a:latin typeface="Prestige12 BT" panose="02070509030506020304" pitchFamily="49" charset="0"/>
              </a:rPr>
              <a:t>,</a:t>
            </a:r>
            <a:br>
              <a:rPr lang="en-US" sz="2000" dirty="0">
                <a:latin typeface="Prestige12 BT" panose="02070509030506020304" pitchFamily="49" charset="0"/>
              </a:rPr>
            </a:br>
            <a:r>
              <a:rPr lang="en-US" sz="2000" dirty="0">
                <a:latin typeface="Prestige12 BT" panose="02070509030506020304" pitchFamily="49" charset="0"/>
              </a:rPr>
              <a:t> ...);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E8CF1B94-07FD-455D-A5A9-5831EB3F9FBF}"/>
              </a:ext>
            </a:extLst>
          </p:cNvPr>
          <p:cNvSpPr/>
          <p:nvPr/>
        </p:nvSpPr>
        <p:spPr>
          <a:xfrm>
            <a:off x="6684579" y="4281794"/>
            <a:ext cx="2354413" cy="18588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1928"/>
              <a:gd name="adj6" fmla="val -52639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sz="2000" b="1" dirty="0"/>
              <a:t>Exercise Question</a:t>
            </a:r>
            <a:r>
              <a:rPr lang="en-US" sz="2000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How does it differ from a referential integrity constraint (slides 26-27)?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9485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features covered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Query</a:t>
            </a:r>
          </a:p>
          <a:p>
            <a:pPr lvl="1">
              <a:defRPr/>
            </a:pPr>
            <a:r>
              <a:rPr lang="en-US" dirty="0">
                <a:latin typeface="Prestige12 BT" panose="02070509030506020304" pitchFamily="49" charset="0"/>
              </a:rPr>
              <a:t>SELECT-FROM-WHERE</a:t>
            </a:r>
            <a:r>
              <a:rPr lang="en-US" dirty="0"/>
              <a:t> statements</a:t>
            </a:r>
          </a:p>
          <a:p>
            <a:pPr lvl="1">
              <a:defRPr/>
            </a:pPr>
            <a:r>
              <a:rPr lang="en-US" dirty="0"/>
              <a:t>Set and bag operations</a:t>
            </a:r>
          </a:p>
          <a:p>
            <a:pPr lvl="1">
              <a:defRPr/>
            </a:pPr>
            <a:r>
              <a:rPr lang="en-US" dirty="0"/>
              <a:t>Table expressions, </a:t>
            </a:r>
            <a:r>
              <a:rPr lang="en-US" dirty="0" err="1"/>
              <a:t>subqueries</a:t>
            </a:r>
            <a:endParaRPr lang="en-US" dirty="0"/>
          </a:p>
          <a:p>
            <a:pPr lvl="1">
              <a:defRPr/>
            </a:pPr>
            <a:r>
              <a:rPr lang="en-US" dirty="0"/>
              <a:t>Aggregation and grouping</a:t>
            </a:r>
          </a:p>
          <a:p>
            <a:pPr lvl="1">
              <a:defRPr/>
            </a:pPr>
            <a:r>
              <a:rPr lang="en-US" dirty="0"/>
              <a:t>Ordering</a:t>
            </a:r>
          </a:p>
          <a:p>
            <a:pPr lvl="1">
              <a:defRPr/>
            </a:pPr>
            <a:r>
              <a:rPr lang="en-US" dirty="0" err="1"/>
              <a:t>Outerjoins</a:t>
            </a:r>
            <a:r>
              <a:rPr lang="en-US" dirty="0"/>
              <a:t> (and NULL)</a:t>
            </a:r>
          </a:p>
          <a:p>
            <a:pPr>
              <a:defRPr/>
            </a:pPr>
            <a:r>
              <a:rPr lang="en-US" dirty="0"/>
              <a:t>Modification</a:t>
            </a:r>
          </a:p>
          <a:p>
            <a:pPr lvl="1">
              <a:defRPr/>
            </a:pPr>
            <a:r>
              <a:rPr lang="en-US" dirty="0">
                <a:latin typeface="Prestige12 BT" panose="02070509030506020304" pitchFamily="49" charset="0"/>
              </a:rPr>
              <a:t>INSERT/DELETE/UPDATE</a:t>
            </a:r>
          </a:p>
          <a:p>
            <a:pPr>
              <a:defRPr/>
            </a:pPr>
            <a:r>
              <a:rPr lang="en-US" dirty="0"/>
              <a:t>Constraints</a:t>
            </a:r>
          </a:p>
          <a:p>
            <a:pPr>
              <a:buFont typeface="Wingdings" pitchFamily="2" charset="2"/>
              <a:buChar char="F"/>
              <a:defRPr/>
            </a:pPr>
            <a:r>
              <a:rPr lang="en-US" dirty="0"/>
              <a:t>Next: triggers, views, indexes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9FA5-7995-46A9-A97E-16E38AD58950}" type="slidenum">
              <a:rPr lang="en-US" smtClean="0"/>
              <a:t>31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409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15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4|15.2|7|9.7|1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2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|1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8|10.1|15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43|37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12.1|19.5|4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9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7|4.2|4.8|10.1|1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2.2|6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1|15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16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|11.7|8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|12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3|22.7|28.8|2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9.2|8.9|12.1|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|6.2|17.9|2.8|13.4|10.5|6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4|1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7.1|6.9|21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8|23.1|1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10.1|18.4|20.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|17.3|33.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2439</Words>
  <Application>Microsoft Office PowerPoint</Application>
  <PresentationFormat>On-screen Show (4:3)</PresentationFormat>
  <Paragraphs>637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HiraKakuProN-W3</vt:lpstr>
      <vt:lpstr>Prestige12 BT</vt:lpstr>
      <vt:lpstr>Prestige12 BT Roman</vt:lpstr>
      <vt:lpstr>Arial</vt:lpstr>
      <vt:lpstr>Calibri</vt:lpstr>
      <vt:lpstr>Cambria Math</vt:lpstr>
      <vt:lpstr>Candara</vt:lpstr>
      <vt:lpstr>Wingdings</vt:lpstr>
      <vt:lpstr>Office Theme</vt:lpstr>
      <vt:lpstr>SQL: Part II</vt:lpstr>
      <vt:lpstr>Basic SQL features</vt:lpstr>
      <vt:lpstr>Incomplete information</vt:lpstr>
      <vt:lpstr>Solution 1</vt:lpstr>
      <vt:lpstr>Solution 2</vt:lpstr>
      <vt:lpstr>Solution 3</vt:lpstr>
      <vt:lpstr>SQL’s solution</vt:lpstr>
      <vt:lpstr>Three-valued logic</vt:lpstr>
      <vt:lpstr>Unfortunate consequences</vt:lpstr>
      <vt:lpstr>Another problem</vt:lpstr>
      <vt:lpstr>Outerjoin motivation</vt:lpstr>
      <vt:lpstr>Outerjoin examples</vt:lpstr>
      <vt:lpstr>Outerjoin examples</vt:lpstr>
      <vt:lpstr>Outerjoin syntax</vt:lpstr>
      <vt:lpstr>SQL features covered so far</vt:lpstr>
      <vt:lpstr>INSERT</vt:lpstr>
      <vt:lpstr>DELETE</vt:lpstr>
      <vt:lpstr>UPDATE</vt:lpstr>
      <vt:lpstr>Constraints</vt:lpstr>
      <vt:lpstr>Types of SQL constraints</vt:lpstr>
      <vt:lpstr>NOT NULL constraint examples</vt:lpstr>
      <vt:lpstr>Key declaration examples</vt:lpstr>
      <vt:lpstr>Referential integrity example</vt:lpstr>
      <vt:lpstr>Referential integrity in SQL</vt:lpstr>
      <vt:lpstr>Enforcing referential integrity </vt:lpstr>
      <vt:lpstr>Enforcing referential integrity </vt:lpstr>
      <vt:lpstr>Enforcing referential integrity </vt:lpstr>
      <vt:lpstr>Deferred constraint checking</vt:lpstr>
      <vt:lpstr>General assertion</vt:lpstr>
      <vt:lpstr>Tuple- and attribute-based CHECK’s</vt:lpstr>
      <vt:lpstr>SQL features covered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2021-07-27T02:20:01Z</dcterms:created>
  <dcterms:modified xsi:type="dcterms:W3CDTF">2021-07-27T02:20:09Z</dcterms:modified>
</cp:coreProperties>
</file>