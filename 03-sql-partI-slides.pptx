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notesSlides/notesSlide5.xml" ContentType="application/vnd.openxmlformats-officedocument.presentationml.notesSlide+xml"/>
  <Override PartName="/ppt/tags/tag4.xml" ContentType="application/vnd.openxmlformats-officedocument.presentationml.tags+xml"/>
  <Override PartName="/ppt/notesSlides/notesSlide6.xml" ContentType="application/vnd.openxmlformats-officedocument.presentationml.notesSlide+xml"/>
  <Override PartName="/ppt/tags/tag5.xml" ContentType="application/vnd.openxmlformats-officedocument.presentationml.tags+xml"/>
  <Override PartName="/ppt/notesSlides/notesSlide7.xml" ContentType="application/vnd.openxmlformats-officedocument.presentationml.notesSlide+xml"/>
  <Override PartName="/ppt/tags/tag6.xml" ContentType="application/vnd.openxmlformats-officedocument.presentationml.tags+xml"/>
  <Override PartName="/ppt/notesSlides/notesSlide8.xml" ContentType="application/vnd.openxmlformats-officedocument.presentationml.notesSlide+xml"/>
  <Override PartName="/ppt/tags/tag7.xml" ContentType="application/vnd.openxmlformats-officedocument.presentationml.tags+xml"/>
  <Override PartName="/ppt/notesSlides/notesSlide9.xml" ContentType="application/vnd.openxmlformats-officedocument.presentationml.notesSlide+xml"/>
  <Override PartName="/ppt/tags/tag8.xml" ContentType="application/vnd.openxmlformats-officedocument.presentationml.tags+xml"/>
  <Override PartName="/ppt/notesSlides/notesSlide10.xml" ContentType="application/vnd.openxmlformats-officedocument.presentationml.notesSlide+xml"/>
  <Override PartName="/ppt/tags/tag9.xml" ContentType="application/vnd.openxmlformats-officedocument.presentationml.tags+xml"/>
  <Override PartName="/ppt/notesSlides/notesSlide11.xml" ContentType="application/vnd.openxmlformats-officedocument.presentationml.notesSlide+xml"/>
  <Override PartName="/ppt/tags/tag10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11.xml" ContentType="application/vnd.openxmlformats-officedocument.presentationml.tags+xml"/>
  <Override PartName="/ppt/notesSlides/notesSlide16.xml" ContentType="application/vnd.openxmlformats-officedocument.presentationml.notesSlide+xml"/>
  <Override PartName="/ppt/tags/tag12.xml" ContentType="application/vnd.openxmlformats-officedocument.presentationml.tags+xml"/>
  <Override PartName="/ppt/notesSlides/notesSlide17.xml" ContentType="application/vnd.openxmlformats-officedocument.presentationml.notesSlide+xml"/>
  <Override PartName="/ppt/tags/tag13.xml" ContentType="application/vnd.openxmlformats-officedocument.presentationml.tags+xml"/>
  <Override PartName="/ppt/notesSlides/notesSlide18.xml" ContentType="application/vnd.openxmlformats-officedocument.presentationml.notesSlide+xml"/>
  <Override PartName="/ppt/tags/tag14.xml" ContentType="application/vnd.openxmlformats-officedocument.presentationml.tags+xml"/>
  <Override PartName="/ppt/notesSlides/notesSlide19.xml" ContentType="application/vnd.openxmlformats-officedocument.presentationml.notesSlide+xml"/>
  <Override PartName="/ppt/tags/tag15.xml" ContentType="application/vnd.openxmlformats-officedocument.presentationml.tags+xml"/>
  <Override PartName="/ppt/notesSlides/notesSlide20.xml" ContentType="application/vnd.openxmlformats-officedocument.presentationml.notesSlide+xml"/>
  <Override PartName="/ppt/tags/tag16.xml" ContentType="application/vnd.openxmlformats-officedocument.presentationml.tags+xml"/>
  <Override PartName="/ppt/notesSlides/notesSlide21.xml" ContentType="application/vnd.openxmlformats-officedocument.presentationml.notesSlide+xml"/>
  <Override PartName="/ppt/tags/tag17.xml" ContentType="application/vnd.openxmlformats-officedocument.presentationml.tags+xml"/>
  <Override PartName="/ppt/notesSlides/notesSlide22.xml" ContentType="application/vnd.openxmlformats-officedocument.presentationml.notesSlide+xml"/>
  <Override PartName="/ppt/tags/tag18.xml" ContentType="application/vnd.openxmlformats-officedocument.presentationml.tags+xml"/>
  <Override PartName="/ppt/notesSlides/notesSlide23.xml" ContentType="application/vnd.openxmlformats-officedocument.presentationml.notesSlide+xml"/>
  <Override PartName="/ppt/tags/tag19.xml" ContentType="application/vnd.openxmlformats-officedocument.presentationml.tags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tags/tag20.xml" ContentType="application/vnd.openxmlformats-officedocument.presentationml.tags+xml"/>
  <Override PartName="/ppt/notesSlides/notesSlide26.xml" ContentType="application/vnd.openxmlformats-officedocument.presentationml.notesSlide+xml"/>
  <Override PartName="/ppt/tags/tag21.xml" ContentType="application/vnd.openxmlformats-officedocument.presentationml.tags+xml"/>
  <Override PartName="/ppt/notesSlides/notesSlide27.xml" ContentType="application/vnd.openxmlformats-officedocument.presentationml.notesSlide+xml"/>
  <Override PartName="/ppt/tags/tag22.xml" ContentType="application/vnd.openxmlformats-officedocument.presentationml.tags+xml"/>
  <Override PartName="/ppt/notesSlides/notesSlide28.xml" ContentType="application/vnd.openxmlformats-officedocument.presentationml.notesSlide+xml"/>
  <Override PartName="/ppt/tags/tag23.xml" ContentType="application/vnd.openxmlformats-officedocument.presentationml.tags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tags/tag24.xml" ContentType="application/vnd.openxmlformats-officedocument.presentationml.tags+xml"/>
  <Override PartName="/ppt/notesSlides/notesSlide3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tags/tag25.xml" ContentType="application/vnd.openxmlformats-officedocument.presentationml.tags+xml"/>
  <Override PartName="/ppt/notesSlides/notesSlide32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tags/tag26.xml" ContentType="application/vnd.openxmlformats-officedocument.presentationml.tags+xml"/>
  <Override PartName="/ppt/notesSlides/notesSlide33.xml" ContentType="application/vnd.openxmlformats-officedocument.presentationml.notesSlide+xml"/>
  <Override PartName="/ppt/tags/tag27.xml" ContentType="application/vnd.openxmlformats-officedocument.presentationml.tags+xml"/>
  <Override PartName="/ppt/notesSlides/notesSlide34.xml" ContentType="application/vnd.openxmlformats-officedocument.presentationml.notesSlide+xml"/>
  <Override PartName="/ppt/tags/tag28.xml" ContentType="application/vnd.openxmlformats-officedocument.presentationml.tags+xml"/>
  <Override PartName="/ppt/notesSlides/notesSlide35.xml" ContentType="application/vnd.openxmlformats-officedocument.presentationml.notesSlide+xml"/>
  <Override PartName="/ppt/tags/tag29.xml" ContentType="application/vnd.openxmlformats-officedocument.presentationml.tags+xml"/>
  <Override PartName="/ppt/notesSlides/notesSlide36.xml" ContentType="application/vnd.openxmlformats-officedocument.presentationml.notesSlide+xml"/>
  <Override PartName="/ppt/tags/tag30.xml" ContentType="application/vnd.openxmlformats-officedocument.presentationml.tags+xml"/>
  <Override PartName="/ppt/notesSlides/notesSlide37.xml" ContentType="application/vnd.openxmlformats-officedocument.presentationml.notesSlide+xml"/>
  <Override PartName="/ppt/tags/tag31.xml" ContentType="application/vnd.openxmlformats-officedocument.presentationml.tags+xml"/>
  <Override PartName="/ppt/notesSlides/notesSlide38.xml" ContentType="application/vnd.openxmlformats-officedocument.presentationml.notesSlide+xml"/>
  <Override PartName="/ppt/tags/tag32.xml" ContentType="application/vnd.openxmlformats-officedocument.presentationml.tags+xml"/>
  <Override PartName="/ppt/notesSlides/notesSlide39.xml" ContentType="application/vnd.openxmlformats-officedocument.presentationml.notesSlide+xml"/>
  <Override PartName="/ppt/tags/tag33.xml" ContentType="application/vnd.openxmlformats-officedocument.presentationml.tags+xml"/>
  <Override PartName="/ppt/notesSlides/notesSlide40.xml" ContentType="application/vnd.openxmlformats-officedocument.presentationml.notesSlide+xml"/>
  <Override PartName="/ppt/tags/tag34.xml" ContentType="application/vnd.openxmlformats-officedocument.presentationml.tags+xml"/>
  <Override PartName="/ppt/notesSlides/notesSlide41.xml" ContentType="application/vnd.openxmlformats-officedocument.presentationml.notesSlide+xml"/>
  <Override PartName="/ppt/tags/tag35.xml" ContentType="application/vnd.openxmlformats-officedocument.presentationml.tags+xml"/>
  <Override PartName="/ppt/notesSlides/notesSlide42.xml" ContentType="application/vnd.openxmlformats-officedocument.presentationml.notesSlide+xml"/>
  <Override PartName="/ppt/tags/tag36.xml" ContentType="application/vnd.openxmlformats-officedocument.presentationml.tags+xml"/>
  <Override PartName="/ppt/notesSlides/notesSlide43.xml" ContentType="application/vnd.openxmlformats-officedocument.presentationml.notesSlide+xml"/>
  <Override PartName="/ppt/tags/tag37.xml" ContentType="application/vnd.openxmlformats-officedocument.presentationml.tags+xml"/>
  <Override PartName="/ppt/notesSlides/notesSlide44.xml" ContentType="application/vnd.openxmlformats-officedocument.presentationml.notesSlide+xml"/>
  <Override PartName="/ppt/tags/tag38.xml" ContentType="application/vnd.openxmlformats-officedocument.presentationml.tags+xml"/>
  <Override PartName="/ppt/notesSlides/notesSlide45.xml" ContentType="application/vnd.openxmlformats-officedocument.presentationml.notesSlide+xml"/>
  <Override PartName="/ppt/tags/tag39.xml" ContentType="application/vnd.openxmlformats-officedocument.presentationml.tags+xml"/>
  <Override PartName="/ppt/notesSlides/notesSlide46.xml" ContentType="application/vnd.openxmlformats-officedocument.presentationml.notesSlide+xml"/>
  <Override PartName="/ppt/tags/tag40.xml" ContentType="application/vnd.openxmlformats-officedocument.presentationml.tags+xml"/>
  <Override PartName="/ppt/notesSlides/notesSlide47.xml" ContentType="application/vnd.openxmlformats-officedocument.presentationml.notesSlide+xml"/>
  <Override PartName="/ppt/tags/tag41.xml" ContentType="application/vnd.openxmlformats-officedocument.presentationml.tags+xml"/>
  <Override PartName="/ppt/notesSlides/notesSlide48.xml" ContentType="application/vnd.openxmlformats-officedocument.presentationml.notesSlide+xml"/>
  <Override PartName="/ppt/tags/tag42.xml" ContentType="application/vnd.openxmlformats-officedocument.presentationml.tags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84" r:id="rId1"/>
  </p:sldMasterIdLst>
  <p:notesMasterIdLst>
    <p:notesMasterId r:id="rId51"/>
  </p:notesMasterIdLst>
  <p:handoutMasterIdLst>
    <p:handoutMasterId r:id="rId52"/>
  </p:handoutMasterIdLst>
  <p:sldIdLst>
    <p:sldId id="256" r:id="rId2"/>
    <p:sldId id="327" r:id="rId3"/>
    <p:sldId id="259" r:id="rId4"/>
    <p:sldId id="260" r:id="rId5"/>
    <p:sldId id="322" r:id="rId6"/>
    <p:sldId id="258" r:id="rId7"/>
    <p:sldId id="261" r:id="rId8"/>
    <p:sldId id="305" r:id="rId9"/>
    <p:sldId id="323" r:id="rId10"/>
    <p:sldId id="306" r:id="rId11"/>
    <p:sldId id="265" r:id="rId12"/>
    <p:sldId id="266" r:id="rId13"/>
    <p:sldId id="324" r:id="rId14"/>
    <p:sldId id="325" r:id="rId15"/>
    <p:sldId id="326" r:id="rId16"/>
    <p:sldId id="267" r:id="rId17"/>
    <p:sldId id="310" r:id="rId18"/>
    <p:sldId id="311" r:id="rId19"/>
    <p:sldId id="271" r:id="rId20"/>
    <p:sldId id="272" r:id="rId21"/>
    <p:sldId id="273" r:id="rId22"/>
    <p:sldId id="314" r:id="rId23"/>
    <p:sldId id="313" r:id="rId24"/>
    <p:sldId id="315" r:id="rId25"/>
    <p:sldId id="275" r:id="rId26"/>
    <p:sldId id="316" r:id="rId27"/>
    <p:sldId id="276" r:id="rId28"/>
    <p:sldId id="277" r:id="rId29"/>
    <p:sldId id="278" r:id="rId30"/>
    <p:sldId id="279" r:id="rId31"/>
    <p:sldId id="280" r:id="rId32"/>
    <p:sldId id="318" r:id="rId33"/>
    <p:sldId id="284" r:id="rId34"/>
    <p:sldId id="319" r:id="rId35"/>
    <p:sldId id="287" r:id="rId36"/>
    <p:sldId id="288" r:id="rId37"/>
    <p:sldId id="289" r:id="rId38"/>
    <p:sldId id="290" r:id="rId39"/>
    <p:sldId id="292" r:id="rId40"/>
    <p:sldId id="291" r:id="rId41"/>
    <p:sldId id="293" r:id="rId42"/>
    <p:sldId id="294" r:id="rId43"/>
    <p:sldId id="296" r:id="rId44"/>
    <p:sldId id="297" r:id="rId45"/>
    <p:sldId id="321" r:id="rId46"/>
    <p:sldId id="298" r:id="rId47"/>
    <p:sldId id="299" r:id="rId48"/>
    <p:sldId id="300" r:id="rId49"/>
    <p:sldId id="301" r:id="rId5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40" autoAdjust="0"/>
    <p:restoredTop sz="72789"/>
  </p:normalViewPr>
  <p:slideViewPr>
    <p:cSldViewPr snapToGrid="0">
      <p:cViewPr varScale="1">
        <p:scale>
          <a:sx n="91" d="100"/>
          <a:sy n="91" d="100"/>
        </p:scale>
        <p:origin x="20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2824" y="4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914480-3C30-42F9-9F47-4D7DFEFA1F1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006B83-44E2-4558-9B95-AFBEB93FEA2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3C57F7-B71F-46C8-8654-130D4AC73F60}" type="datetimeFigureOut">
              <a:rPr lang="en-CA" smtClean="0"/>
              <a:t>2021-09-22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03D4CD-3837-4B96-BAEC-7F7A76CD415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264F2C-CA0D-499E-AE18-F7EDFD059DD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1F3292-2CE6-4816-AA7A-ABC3B8CDDD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516760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5T15:46:40.64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5824 3226,'13'12,"1"-2,1-1,-1 0,2-1,-1 0,1-1,0-1,0-1,1 0,23 3,-3-2,0-3,1 0,51-5,-31-4,1-2,-1-2,-1-4,107-39,-52 7,150-87,-143 64,-2-6,-4-4,-3-6,-5-4,-3-5,112-133,-64 24,-122 158,-2-1,37-96,-53 114,-1-1,-1-1,-1 0,-2 0,-2 0,1-39,-5 47,0 0,-2 1,0-1,-1 1,-2-1,0 1,-1 1,-1-1,-18-30,12 27,-2 1,-1 0,0 2,-2 0,0 1,-1 1,-1 1,-1 0,-1 2,0 1,-1 0,-1 2,0 1,-50-17,38 17,-1 3,0 0,0 3,-1 1,0 2,0 2,0 1,0 2,0 2,-43 9,35-1,1 1,1 3,0 2,2 1,0 3,1 1,1 2,1 2,2 2,1 1,1 2,2 1,-41 51,42-43,3 1,1 2,2 1,2 1,2 1,2 1,3 0,1 2,3 0,1 1,3 1,-3 54,11-77,1 1,2 0,1-1,1 0,1 1,2-1,11 34,-13-52,0-1,1 0,0 0,0 0,1-1,1 0,-1 0,2 0,12 11,-14-15,1 0,0 0,0 0,0-1,1-1,0 1,-1-1,1 0,0-1,0 0,1 0,-1-1,0 0,10 0,-1-2,0 0,0-1,0-1,0 0,0-1,-1-1,0-1,0 0,0-2,-1 1,23-16,-7 1,0-1,-2-1,0-2,31-36,-26 21,-2-1,-1-2,-2-1,-2-1,-3-2,-1 0,22-71,-30 71,-2-2,-2 0,-2-1,-3 1,-1-1,-3-1,-8-90,2 112,-1 0,-2 1,-1 0,-1 0,-1 1,-2 0,-1 0,-1 2,-17-26,10 23,-1 2,-1 0,-1 1,-1 1,-2 1,0 2,-41-26,16 17,0 2,-1 3,-2 2,-1 2,0 3,-60-12,62 20,0 2,-1 2,0 3,0 3,0 1,-90 14,117-9,1 0,0 2,0 2,-41 17,60-22,0 0,0 0,0 1,0 0,1 0,0 1,0 0,1 0,-1 0,1 1,1 0,-1 0,1 1,0 0,1 0,0 0,-6 15,9-18,0 0,0 0,1 1,-1-1,1 0,0 0,0 1,1-1,0 0,0 0,0 0,0 0,4 9,-1-7,0 0,0 0,1 0,0 0,0-1,0 0,1 0,7 6,4 1,0-1,1 0,0-1,1-2,1 1,20 5,-12-5,1-2,-1 0,1-3,0 0,1-2,-1-1,1-1,0-1,46-8,-61 5,-1 0,1-1,-1-1,1 0,-2-1,1-1,-1 0,25-17,-29 17,0-2,-1 1,1-1,-2 0,1 0,-1-1,-1 0,1 0,-2-1,0 0,0 0,5-16,-6 11,0 0,-1 0,-1 0,-1 0,0 0,-1 0,0-1,-1 1,-7-30,3 25,-2 1,0 0,-1 0,-1 1,0 0,-2 1,-13-18,5 10,-2 1,-1 2,-1 0,-1 1,-1 1,0 1,-2 2,0 0,-1 2,-30-13,31 18,1 1,-1 2,-1 0,1 2,-1 1,0 1,0 2,-1 1,1 0,0 3,-1 0,1 2,0 0,1 2,-1 2,1 0,1 2,-42 20,34-11,1 2,0 1,2 1,0 2,-43 45,56-51,0 1,2 1,0 1,1 0,1 1,2 1,0 0,1 0,-7 27,17-47,0 0,0 0,0 0,1-1,-1 1,1 0,0 5,0-10,0 1,0 0,0 0,0 0,0-1,0 1,1 0,-1 0,0 0,0-1,0 1,0 0,0 0,0 0,0 0,0 0,1-1,-1 1,0 0,0 0,0 0,0 0,0 0,1 0,-1-1,0 1,0 0,0 0,1 0,-1 0,0 0,0 0,0 0,1 0,-1 0,0 0,0 0,0 0,0 0,1 0,-1 0,0 0,0 0,0 0,1 0,-1 0,0 1,0-1,0 0,0 0,1 0,-1 0,0 0,0 0,0 0,0 1,0-1,1 0,-1 0,0 0,0 0,0 1,0-1,0 0,0 0,0 0,0 1,0-1,0 0,3-5,0 0,-1-1,1 0,-1 0,-1 1,1-1,-1 0,0 0,0 0,-1 0,0-12,-2-2,0 0,-6-29,2 28,0-1,-1 1,-1 1,-1-1,-1 1,0 1,-2 0,0 0,-22-24,13 21,0 1,-1 1,0 2,-2 0,-1 1,-39-20,14 13,-2 3,-1 2,0 2,-1 2,-1 3,0 3,-68-4,46 9,0 4,0 3,0 4,1 3,0 3,-92 29,81-14,1 5,1 2,3 5,-150 96,186-104,8-6,-1 0,-67 31,94-51,0-1,0-1,0 0,-1-1,1-1,-1 0,0 0,1-1,-1-1,0 0,0 0,0-2,0 0,-14-3,10-1,0-1,0 0,1-1,0-1,-18-13,-71-60,34 23,22 24,-1 2,-2 3,0 1,-2 3,-100-34,88 41,-1 2,-1 4,0 2,-123-3,-122 29,0 23,-18 3,74-9,192-20,-120 39,166-44,9-3,-1 0,1-1,-1 0,0 0,-14 0,22-3,0 0,1 0,-1 0,0 0,0-1,1 1,-1-1,0 0,1 0,-1 0,1 0,-1 0,1 0,0-1,0 1,-1-1,1 0,0 0,0 0,0 0,1 0,-1 0,0 0,1 0,0-1,-3-4,1-2,0 0,0 0,1-1,1 1,-1-1,1 1,1-1,0 1,0-1,1 0,0 1,1-1,4-14,2-5,2 0,1 1,16-29,-16 36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5T15:46:41.23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472 1,'7'18,"-1"-2,-1 1,0-1,2 19,-7-29,1 0,-1 0,0 1,0-1,-1 0,0 0,0 0,0 1,-1-1,0 0,0-1,-3 8,-3 1,-1-1,0 0,-1-1,0 0,-19 18,-66 49,62-53,-61 45,41-32,-76 72,128-111,1 1,-1-1,0 1,1-1,-1 1,1-1,-1 1,1 0,-1-1,1 1,0 0,-1-1,1 1,0 0,0 0,-1-1,1 1,0 0,0 1,0-2,0 1,1-1,-1 0,0 1,1-1,-1 0,0 0,1 1,-1-1,1 0,-1 0,0 0,1 1,-1-1,1 0,-1 0,1 0,-1 0,1 0,-1 0,0 0,1 0,-1 0,1 0,40-7,-34 5,146-26,183-10,156 18,-454 19,-21-1,-15 2,1-1,-1 1,1 0,-1 0,1 0,-1 0,1 0,-1 0,1 1,-1-1,1 1,4 2,-7-3,0 0,0 0,0 0,0 1,0-1,0 0,0 0,0 1,0-1,0 0,0 0,0 1,0-1,-1 0,1 0,0 1,0-1,0 0,0 0,0 0,0 1,0-1,-1 0,1 0,0 0,0 0,0 1,-1-1,1 0,0 0,0 0,0 0,-1 0,1 0,0 0,0 1,0-1,-1 0,1 0,0 0,0 0,-1 0,1 0,0 0,-13 5,3-3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5T16:09:06.01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0 125,'6'2,"1"0,-1-1,0 0,1 0,-1 0,13-1,-8 0,14-1,35-4,6-1,246 5,-176 0,-118 1,0-1,0 0,0-1,28-8,69-26,-14 4,24-4,-119 35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5T16:09:09.51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1 488,'2'-18,"-1"11,0 0,1-1,0 1,0 1,0-1,1 0,0 0,1 1,-1 0,1 0,7-9,-5 9,1 0,0 0,0 0,0 1,0 0,1 1,0-1,0 2,11-5,34-11,0 3,1 2,1 2,0 3,1 2,-1 2,1 3,96 9,-76-2,136-10,-77-1,-18 4,-1-6,163-31,-262 35,-1-2,-1 0,1 0,-1-2,0 0,-1 0,1-2,-2 0,22-19,-34 28,1 0,-1-1,0 1,0 0,0-1,0 1,0-1,0 1,0-1,0 1,0-1,-1 1,1-1,-1 0,1 0,-1 1,0-1,0 0,1 1,-1-1,0 0,-1 0,1 1,0-1,0 0,-1 0,1 1,-1-1,1 0,-1 1,0-1,0 1,0-1,0 1,0-1,0 1,0 0,0-1,-1 1,1 0,0 0,-1 0,1 0,-1 0,-2-1,4 1,-1 1,1 0,-1-1,1 1,-1-1,1 1,-1-1,1 0,-1 1,1-1,0 0,-1 1,1-1,0 0,0 1,-1-1,1 0,0 1,0-1,0 0,0 0,0 1,0-1,0 0,0 1,0-1,0 0,1 0,-1 1,0-1,0 0,1 1,-1-1,0 0,1 1,-1-1,0 1,1-1,-1 1,1-1,-1 1,1-1,0 1,-1-1,1 1,-1 0,1-1,0 1,-1 0,1-1,0 1,-1 0,1 0,0 0,0 0,-1-1,1 1,0 0,-1 0,1 1,0-1,0 0,-1 0,2 0,9 3,-1 0,0 1,1 0,-1 0,-1 1,12 8,15 6,-17-10,0-1,1 0,0-2,0 0,1-2,0 0,0-1,37 0,-57-3,0 0,1 0,-1 0,1 0,-1 0,0 0,1-1,-1 1,0-1,0 1,1-1,-1 1,2-2,-3 2,0 0,0-1,0 1,1 0,-1-1,0 1,0 0,0 0,0-1,0 1,0 0,0-1,0 1,0 0,0 0,0-1,0 1,0 0,0-1,0 1,0 0,0-1,0 1,-1 0,1 0,0-1,0 1,0 0,0 0,-1-1,1 1,0 0,0 0,-1-1,-1-1,0 0,-1 0,1 0,-1 1,0-1,0 1,1-1,-1 1,-6-2,5 3,1-1,-1 1,0 0,0 0,0 0,1 0,-1 0,0 1,0 0,0 0,1 0,-1 0,1 1,-6 2,-5 4,1 0,-16 13,-3 2,2-3,-36 20,63-38,0-1,0 0,0 0,0 0,0 0,-1 0,1-1,-4 1,4-2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5T16:10:52.06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76,'0'9,"1"0,0 0,0 0,1 0,0-1,1 1,0 0,1-1,4 9,-6-14,0-1,0 0,1 0,-1 0,1 0,-1 0,1 0,0-1,0 1,0-1,-1 0,1 0,1 0,-1 0,0 0,0-1,0 1,0-1,5 0,9 0,-1-1,25-4,-28 3,178-30,33-4,-93 16,28-4,-126 21,-1 2,60 4,-79-1,-1 0,0 2,-1-1,1 1,19 10,1 1,-28-14,0 0,0 0,1-1,-1 1,0-1,0 0,1 0,-1 0,0 0,1-1,-1 0,0 0,0 0,0 0,8-4,-7 3,1 0,-1 0,1 0,0 1,0 0,-1 0,1 1,9-1,-10 2,0-1,0-1,0 1,0-1,0 0,0 0,-1-1,1 1,0-1,5-3,46-28,-32 18,31-17,-39 22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5T16:10:55.92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1011 4993,'3'-2,"0"0,1-1,-1 0,0 1,0-1,-1-1,4-2,7-9,2 1,0 0,1 2,1 0,25-14,-32 20,1 1,0 1,1 0,-1 0,1 1,-1 1,1 0,0 0,13 1,13 3,1 2,-2 1,1 3,37 11,-40-9,0-1,0-2,1-1,0-2,41-1,-33-7,-1-2,0-2,0-2,-1-1,71-30,-20-2,116-70,-111 53,-2-4,-3-4,149-141,-217 183,-1 0,-2-1,-1-1,32-56,-44 66,-1 1,-1-1,0 0,-2 0,0-1,-1 0,0 0,-2 0,-1 0,0-27,-3 27,0 1,-1-1,0 1,-2-1,0 1,-2 1,1-1,-2 1,-1 0,0 1,-1 0,0 0,-19-21,18 23,11 10,21 14,8 4,-18-12,0 0,0-1,0 0,1-1,-1 0,0 0,0-2,1 1,-1-1,0-1,13-5,-5 1,1-1,-1 0,-1-2,0 0,22-17,-18 9,-1-1,-1 0,0-2,-1 0,-2-2,0 0,-1 0,-2-2,12-25,-14 25,-2 0,-1 0,-1-1,-1 0,-1-1,-2 1,0-1,-2 0,-2-43,-2 52,0 0,-2 0,0 0,-1 0,-1 1,0-1,-1 1,-11-18,-9-9,-51-62,36 51,18 19,1 0,2-1,1-1,3-1,1-1,1 0,3-1,-13-77,22 100,1-1,1-32,1 45,0 0,1 1,0-1,0 0,0 1,1-1,-1 1,1 0,1 0,-1 0,1 0,0 0,5-7,-7 11,0 0,-1 1,1-1,0 0,0 0,0 0,0 1,0-1,0 0,0 1,0-1,0 1,1 0,-1-1,0 1,0 0,0-1,1 1,-1 0,0 0,0 0,0 0,1 0,-1 1,0-1,0 0,0 0,0 1,2 0,-1 0,0-1,0 1,0-1,-1 0,1 1,0-1,0 0,0 0,0 0,3-1,-4 0,0 1,1-1,-1 1,0-1,0 0,0 0,0 0,0 0,0 0,0 0,0 0,0 0,0 0,-1 0,1 0,0 0,-1-1,1-1,9-28,-9 27,7-37,-2-1,-1-1,-1-42,-12-129,4 147,-3-1,-25-99,25 140,-2 1,0-1,-2 1,-1 1,-1 0,-1 1,-1 0,-35-41,-7 8,-106-82,72 64,-6-10,-108-84,194 161,0 1,0 0,-1 1,0 1,-15-6,24 10,-1 0,0 0,0 0,0 0,1 1,-1 0,0 0,0 0,0 0,0 0,0 1,1 0,-1 0,0 0,0 0,1 0,-1 1,1 0,-1-1,1 1,-6 5,2 0,1 0,0 0,0 1,1 0,0 0,-8 16,-9 14,22-38,-1 1,1 0,-1-1,1 1,-1 0,1-1,-1 1,0-1,1 1,-1-1,0 0,1 1,-1-1,0 0,0 1,1-1,-1 0,0 0,0 0,0 1,1-1,-1 0,0 0,0 0,0 0,1-1,-1 1,0 0,0 0,0 0,1-1,-1 1,0 0,0-1,0 1,-29-23,11 8,-5 1,-1 1,-1 1,-35-11,-85-19,68 21,-280-108,241 81,-230-60,232 87,0 6,-2 4,1 5,-117 11,187-3,0 1,1 3,-87 23,123-26,1 0,1 0,-1 1,0 0,-12 9,18-12,1 0,0 0,0-1,0 1,0 0,0 0,0 0,0 0,0 0,0 0,1 0,-1 0,0 1,1-1,-1 0,1 0,-1 1,1-1,-1 0,1 1,0-1,0 0,0 1,0-1,0 0,0 1,0-1,0 1,0-1,1 0,-1 1,1-1,-1 0,1 0,-1 1,1-1,0 0,-1 0,1 0,0 0,0 0,2 2,0 0,1 0,0 0,1-1,-1 1,0-1,1 0,-1 0,1-1,-1 1,1-1,0 0,0 0,-1-1,1 1,0-1,8-1,11-1,-1 0,28-8,-31 6,156-29,-158 30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5T16:10:56.29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1,'0'0,"0"0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5T16:10:56.68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368 0,'0'0,"0"0,-17 11,-10 3,0-1,-1-1,-1-2,-46 11,-48 18,118-38,0 2,0-1,0 0,0 1,-7 6,12-9,-1 1,1-1,0 0,-1 1,1-1,0 0,-1 1,1-1,0 1,-1-1,1 1,0-1,0 1,0-1,0 1,-1-1,1 1,0-1,0 1,0-1,0 1,0-1,0 1,0-1,1 2,-1-1,1 0,0 0,0 0,0-1,-1 1,1 0,0 0,0 0,0-1,0 1,1 0,-1-1,0 1,0-1,3 1,38 14,54 22,-82-30,-1 0,0 1,-1 0,1 1,11 11,6 11,49 66,-53-62,53 54,-73-83,0-1,0 0,0 0,1-1,0 1,0-2,0 1,1-1,-1 0,10 2,-14-4,0 0,0-1,0 0,0 0,0 0,0 0,0 0,0 0,0-1,0 0,0 1,-1-1,1 0,0 0,0-1,-1 1,1 0,-1-1,1 0,-1 0,1 1,-1-1,0-1,0 1,0 0,0 0,-1-1,1 1,-1-1,3-4,-1 0,0 0,-1-1,1 1,-2-1,1 1,-1-1,0 0,0-12,-2-8,-5-29,3 28,-2-16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5T16:13:59.1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1 119,'22'0,"-12"-1,3 1,0 1,0 0,0 1,0 1,0 0,13 5,-1 2,47 27,-57-28,1 0,0-2,1 0,0-1,23 6,-32-10,-1-1,1 0,0-1,1 0,-1 0,0 0,0-1,0 0,-1-1,1 0,0 0,0-1,-1 0,10-5,1-3,-2-1,1 0,-1-2,-1 0,20-24,-22 23,1 0,0 2,1-1,0 2,1 0,18-10,-29 20,-1 0,1 1,0-1,0 1,0 0,0 0,0 1,0 0,0 0,0 0,0 0,0 1,0 0,0 0,0 0,0 1,7 2,8 5,0 1,32 22,-21-13,-23-14,140 76,-128-72,0 0,1-2,1 0,-1-1,34 4,-52-9,1-1,-1 0,1 0,-1 0,1 0,-1 0,1-1,4 0,-7 0,1 0,0 0,-1 0,1 0,0 0,-1-1,1 1,-1 0,0-1,1 1,-1-1,0 0,0 1,0-1,1-2,-1 2,0 0,0 1,0-1,0 1,0-1,1 1,-1-1,0 1,1 0,-1 0,1 0,-1 0,1 0,0 0,-1 0,1 0,0 1,-1-1,4 0,1 0,0 1,0 0,0 0,-1 0,7 2,-7-1,1-1,-1 1,0-1,0 0,1 0,-1-1,10-1,-5-2,1-1,0 0,-1-1,0 0,-1 0,11-10,51-48,-65 58,8-8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5T16:14:00.9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319 2170,'-19'-9,"0"-1,1 0,0-1,1-1,0-1,1 0,1-1,0-1,1-1,0 0,1 0,1-1,1-1,1 0,0 0,1-1,1-1,1 1,-7-29,-1-28,2 0,4 0,4-1,7-128,10 51,44-201,-40 274,40-117,-45 168,1 1,1 1,2 0,0 1,2 0,1 2,25-29,-2 10,2 1,83-64,-97 89,-27 16,0 2,0-1,0 0,0 0,0 1,0-1,0 1,0-1,0 1,0 0,1 0,-1 0,2 0,-2 2,-8-1,-9 1,2-5,0 0,1 0,-1-1,-14-7,11 4,1 1,-19-4,-132-18,162 27,0 1,-1-1,1 1,0 0,-1 0,1 0,0 1,-1-1,1 1,0 0,0 0,-1 1,1-1,0 1,0 0,1 0,-1 1,0-1,1 1,-1-1,1 1,-4 4,7-7,0 0,0 0,0 0,0 1,-1-1,1 0,0 0,0 0,0 0,0 1,0-1,0 0,0 0,-1 0,1 1,0-1,0 0,0 0,0 0,0 1,0-1,0 0,0 0,0 1,0-1,0 0,0 0,0 0,0 1,0-1,1 0,-1 0,0 0,0 1,8 0,15-6,-21 4,10-1,-1 0,1 0,0 1,0 1,24 2,-7 1,37 11,-57-12,-1 0,0 0,1 1,-1 0,-1 1,1 0,0 0,-1 1,0 0,0 0,0 0,0 1,-1 0,0 1,-1-1,1 1,-1 0,-1 0,1 1,-1-1,0 1,-1 0,0 0,0 1,-1-1,0 0,1 11,0 22,3 16,-6-53,1 1,0-1,1 0,-1 0,1 0,0 0,0 0,0 0,1 0,3 4,-3-5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A69ED9-CB95-4DAD-9B9B-E560A3321DCE}" type="datetimeFigureOut">
              <a:rPr lang="en-US" smtClean="0"/>
              <a:t>9/22/21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B470F9-3B63-4A29-A4D2-E4DBA5B325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308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8294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5246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0543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6744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4146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143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447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923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6843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CA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CA" dirty="0"/>
                  <a:t>As we only want o keep the groups with user’s names that contains Simpson, we have the additional Where condition, “User name Like Simpson’. Like matches a string against a pattern, and </a:t>
                </a:r>
                <a:r>
                  <a:rPr lang="en-US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  <a:t>percentile</a:t>
                </a:r>
                <a:r>
                  <a:rPr lang="en-US" dirty="0"/>
                  <a:t> matches any sequence of zero or more characters.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Note that it is okay to omit </a:t>
                </a:r>
                <a:r>
                  <a:rPr lang="en-US" i="0" dirty="0">
                    <a:latin typeface="Cambria Math"/>
                  </a:rPr>
                  <a:t>"table_name</a:t>
                </a:r>
                <a:r>
                  <a:rPr lang="en-CA" i="0" dirty="0">
                    <a:latin typeface="Cambria Math"/>
                  </a:rPr>
                  <a:t>"</a:t>
                </a:r>
                <a:r>
                  <a:rPr lang="en-US" dirty="0"/>
                  <a:t> in </a:t>
                </a:r>
                <a:r>
                  <a:rPr lang="en-US" i="0" dirty="0">
                    <a:latin typeface="Cambria Math"/>
                  </a:rPr>
                  <a:t>"table_name</a:t>
                </a:r>
                <a:r>
                  <a:rPr lang="en-CA" i="0" dirty="0">
                    <a:latin typeface="Cambria Math"/>
                  </a:rPr>
                  <a:t>"</a:t>
                </a:r>
                <a:r>
                  <a:rPr lang="en-US" dirty="0" err="1">
                    <a:latin typeface="LettrGoth12 BT" pitchFamily="49" charset="0"/>
                  </a:rPr>
                  <a:t>.</a:t>
                </a:r>
                <a:r>
                  <a:rPr lang="en-US" b="0" i="0" dirty="0">
                    <a:latin typeface="Cambria Math"/>
                  </a:rPr>
                  <a:t>"column</a:t>
                </a:r>
                <a:r>
                  <a:rPr lang="en-US" i="0" dirty="0">
                    <a:latin typeface="Cambria Math"/>
                  </a:rPr>
                  <a:t>_name</a:t>
                </a:r>
                <a:r>
                  <a:rPr lang="en-CA" i="0" dirty="0">
                    <a:latin typeface="Cambria Math"/>
                  </a:rPr>
                  <a:t>"</a:t>
                </a:r>
                <a:r>
                  <a:rPr lang="en-US" dirty="0"/>
                  <a:t> if </a:t>
                </a:r>
                <a:r>
                  <a:rPr lang="en-US" b="0" i="0" dirty="0">
                    <a:latin typeface="Cambria Math"/>
                  </a:rPr>
                  <a:t>"column</a:t>
                </a:r>
                <a:r>
                  <a:rPr lang="en-US" i="0" dirty="0">
                    <a:latin typeface="Cambria Math"/>
                  </a:rPr>
                  <a:t>_name</a:t>
                </a:r>
                <a:r>
                  <a:rPr lang="en-CA" i="0" dirty="0">
                    <a:latin typeface="Cambria Math"/>
                  </a:rPr>
                  <a:t>"</a:t>
                </a:r>
                <a:r>
                  <a:rPr lang="en-US" dirty="0"/>
                  <a:t> is unique, such as popularity rating or age columns. But in this query example, name, gid</a:t>
                </a:r>
                <a:r>
                  <a:rPr lang="en-US" baseline="0" dirty="0"/>
                  <a:t>, and </a:t>
                </a:r>
                <a:r>
                  <a:rPr lang="en-US" baseline="0" dirty="0" err="1"/>
                  <a:t>uid</a:t>
                </a:r>
                <a:r>
                  <a:rPr lang="en-US" baseline="0" dirty="0"/>
                  <a:t> are not unique column names, and hence we have to keep the </a:t>
                </a:r>
                <a:r>
                  <a:rPr lang="en-US" baseline="0" dirty="0" err="1"/>
                  <a:t>table_name</a:t>
                </a:r>
                <a:r>
                  <a:rPr lang="en-US" baseline="0" dirty="0"/>
                  <a:t> as a prefix for each column name. </a:t>
                </a:r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  <a:p>
                <a:endParaRPr lang="en-CA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6872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8162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4433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6190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7994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3904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856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1199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5840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7823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1415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1545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7227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7911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90617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5421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7623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1833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55337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07472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21412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7872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CA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To find out which table a column belongs to</a:t>
                </a:r>
              </a:p>
              <a:p>
                <a:pPr lvl="1"/>
                <a:r>
                  <a:rPr lang="en-US" dirty="0"/>
                  <a:t>Start with the immediately surrounding query</a:t>
                </a:r>
              </a:p>
              <a:p>
                <a:pPr lvl="1"/>
                <a:r>
                  <a:rPr lang="en-US" dirty="0"/>
                  <a:t>If not found, look in the one surrounding that; repeat if necessary</a:t>
                </a:r>
              </a:p>
              <a:p>
                <a:r>
                  <a:rPr lang="en-US" dirty="0"/>
                  <a:t>Use </a:t>
                </a:r>
                <a:r>
                  <a:rPr lang="en-US" i="0" dirty="0">
                    <a:latin typeface="Cambria Math"/>
                  </a:rPr>
                  <a:t>"table_name</a:t>
                </a:r>
                <a:r>
                  <a:rPr lang="en-CA" i="0" dirty="0">
                    <a:latin typeface="Cambria Math"/>
                  </a:rPr>
                  <a:t>"</a:t>
                </a:r>
                <a:r>
                  <a:rPr lang="en-US" dirty="0" err="1">
                    <a:latin typeface="LettrGoth12 BT" pitchFamily="49" charset="0"/>
                  </a:rPr>
                  <a:t>.</a:t>
                </a:r>
                <a:r>
                  <a:rPr lang="en-US" b="0" i="0" dirty="0">
                    <a:latin typeface="Cambria Math"/>
                  </a:rPr>
                  <a:t>"column</a:t>
                </a:r>
                <a:r>
                  <a:rPr lang="en-US" i="0" dirty="0">
                    <a:latin typeface="Cambria Math"/>
                  </a:rPr>
                  <a:t>_name</a:t>
                </a:r>
                <a:r>
                  <a:rPr lang="en-CA" i="0" dirty="0">
                    <a:latin typeface="Cambria Math"/>
                  </a:rPr>
                  <a:t>"</a:t>
                </a:r>
                <a:r>
                  <a:rPr lang="en-US" dirty="0"/>
                  <a:t> notation and </a:t>
                </a:r>
                <a:r>
                  <a:rPr lang="en-US" dirty="0">
                    <a:latin typeface="Prestige12 BT" panose="02070509030506020304" pitchFamily="49" charset="0"/>
                  </a:rPr>
                  <a:t>AS</a:t>
                </a:r>
                <a:r>
                  <a:rPr lang="en-US" dirty="0"/>
                  <a:t> (renaming) to avoid confusion</a:t>
                </a:r>
              </a:p>
              <a:p>
                <a:endParaRPr lang="en-CA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80241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82132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5101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95630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54234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23303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06857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77794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7702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56097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60131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77935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19092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07638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62995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15880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09278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4417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F85E7-7033-4BD1-A625-C36166465D72}" type="datetime1">
              <a:rPr lang="en-US" smtClean="0"/>
              <a:t>9/22/21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98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336" y="162161"/>
            <a:ext cx="8801664" cy="118016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336" y="1456854"/>
            <a:ext cx="8173014" cy="52646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68C2A-DC08-4D71-B5BC-A571B022E25E}" type="datetime1">
              <a:rPr lang="en-US" smtClean="0"/>
              <a:t>9/22/21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315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9DCD6-3D10-40FA-A88B-E0AD5136A360}" type="datetime1">
              <a:rPr lang="en-US" smtClean="0"/>
              <a:t>9/22/21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780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D43D1-D08D-4D7D-B4AB-E82156BEAC2C}" type="datetime1">
              <a:rPr lang="en-US" smtClean="0"/>
              <a:t>9/22/21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368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8F3BF-3FC2-4600-9976-243D0786F5BB}" type="datetime1">
              <a:rPr lang="en-US" smtClean="0"/>
              <a:t>9/22/21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928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E7219-C430-46CE-85B9-30B4F0CA56AD}" type="datetime1">
              <a:rPr lang="en-US" smtClean="0"/>
              <a:t>9/22/21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263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6457F-C273-4FC9-8FE1-6D874FEF83EF}" type="datetime1">
              <a:rPr lang="en-US" smtClean="0"/>
              <a:t>9/22/21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980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3ADF5-D710-4EBB-AA69-2A818CDF92E1}" type="datetime1">
              <a:rPr lang="en-US" smtClean="0"/>
              <a:t>9/22/21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154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7EE3B-FC30-46DA-98F7-BE80A4010F5D}" type="datetime1">
              <a:rPr lang="en-US" smtClean="0"/>
              <a:t>9/22/21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787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61231-A0A7-4403-8B90-83ED4F249362}" type="datetime1">
              <a:rPr lang="en-US" smtClean="0"/>
              <a:t>9/22/21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585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661F2-D403-4BA1-A95E-62DE29B59CB4}" type="datetime1">
              <a:rPr lang="en-US" smtClean="0"/>
              <a:t>9/22/21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737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D7D50E-B569-40DB-B6B5-FEED8173E279}" type="datetime1">
              <a:rPr lang="en-US" smtClean="0"/>
              <a:t>9/22/21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331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1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2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image" Target="../media/image3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6" Type="http://schemas.openxmlformats.org/officeDocument/2006/relationships/image" Target="../media/image4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6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6" Type="http://schemas.openxmlformats.org/officeDocument/2006/relationships/image" Target="../media/image5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6" Type="http://schemas.openxmlformats.org/officeDocument/2006/relationships/image" Target="../media/image6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6" Type="http://schemas.openxmlformats.org/officeDocument/2006/relationships/image" Target="../media/image7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6" Type="http://schemas.openxmlformats.org/officeDocument/2006/relationships/image" Target="../media/image8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6" Type="http://schemas.openxmlformats.org/officeDocument/2006/relationships/image" Target="../media/image8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6" Type="http://schemas.openxmlformats.org/officeDocument/2006/relationships/image" Target="../media/image10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6" Type="http://schemas.openxmlformats.org/officeDocument/2006/relationships/image" Target="../media/image10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6" Type="http://schemas.openxmlformats.org/officeDocument/2006/relationships/image" Target="../media/image10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1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3" Type="http://schemas.openxmlformats.org/officeDocument/2006/relationships/notesSlide" Target="../notesSlides/notesSlide31.xml"/><Relationship Id="rId7" Type="http://schemas.openxmlformats.org/officeDocument/2006/relationships/customXml" Target="../ink/ink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Relationship Id="rId6" Type="http://schemas.openxmlformats.org/officeDocument/2006/relationships/image" Target="../media/image120.png"/><Relationship Id="rId10" Type="http://schemas.openxmlformats.org/officeDocument/2006/relationships/image" Target="../media/image140.png"/><Relationship Id="rId9" Type="http://schemas.openxmlformats.org/officeDocument/2006/relationships/customXml" Target="../ink/ink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180.png"/><Relationship Id="rId18" Type="http://schemas.openxmlformats.org/officeDocument/2006/relationships/customXml" Target="../ink/ink9.xml"/><Relationship Id="rId3" Type="http://schemas.openxmlformats.org/officeDocument/2006/relationships/notesSlide" Target="../notesSlides/notesSlide32.xml"/><Relationship Id="rId21" Type="http://schemas.openxmlformats.org/officeDocument/2006/relationships/image" Target="../media/image220.png"/><Relationship Id="rId7" Type="http://schemas.openxmlformats.org/officeDocument/2006/relationships/image" Target="../media/image150.png"/><Relationship Id="rId12" Type="http://schemas.openxmlformats.org/officeDocument/2006/relationships/customXml" Target="../ink/ink6.xml"/><Relationship Id="rId17" Type="http://schemas.openxmlformats.org/officeDocument/2006/relationships/image" Target="../media/image200.png"/><Relationship Id="rId2" Type="http://schemas.openxmlformats.org/officeDocument/2006/relationships/slideLayout" Target="../slideLayouts/slideLayout2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1" Type="http://schemas.openxmlformats.org/officeDocument/2006/relationships/tags" Target="../tags/tag25.xml"/><Relationship Id="rId11" Type="http://schemas.openxmlformats.org/officeDocument/2006/relationships/image" Target="../media/image170.png"/><Relationship Id="rId15" Type="http://schemas.openxmlformats.org/officeDocument/2006/relationships/image" Target="../media/image190.png"/><Relationship Id="rId10" Type="http://schemas.openxmlformats.org/officeDocument/2006/relationships/customXml" Target="../ink/ink5.xml"/><Relationship Id="rId19" Type="http://schemas.openxmlformats.org/officeDocument/2006/relationships/image" Target="../media/image211.png"/><Relationship Id="rId4" Type="http://schemas.openxmlformats.org/officeDocument/2006/relationships/customXml" Target="../ink/ink3.xml"/><Relationship Id="rId9" Type="http://schemas.openxmlformats.org/officeDocument/2006/relationships/image" Target="../media/image160.png"/><Relationship Id="rId14" Type="http://schemas.openxmlformats.org/officeDocument/2006/relationships/customXml" Target="../ink/ink7.xml"/><Relationship Id="rId22" Type="http://schemas.openxmlformats.org/officeDocument/2006/relationships/image" Target="../media/image23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Relationship Id="rId6" Type="http://schemas.openxmlformats.org/officeDocument/2006/relationships/image" Target="../media/image9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Relationship Id="rId6" Type="http://schemas.openxmlformats.org/officeDocument/2006/relationships/image" Target="../media/image24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Relationship Id="rId6" Type="http://schemas.openxmlformats.org/officeDocument/2006/relationships/image" Target="../media/image26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6.xml"/><Relationship Id="rId6" Type="http://schemas.openxmlformats.org/officeDocument/2006/relationships/image" Target="../media/image27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8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9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0.xml"/><Relationship Id="rId6" Type="http://schemas.openxmlformats.org/officeDocument/2006/relationships/image" Target="../media/image28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SQL: Part 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Introduction to Database Management</a:t>
            </a:r>
          </a:p>
          <a:p>
            <a:r>
              <a:rPr lang="en-US" dirty="0"/>
              <a:t>CS348 Spring 2021</a:t>
            </a:r>
          </a:p>
        </p:txBody>
      </p:sp>
    </p:spTree>
    <p:extLst>
      <p:ext uri="{BB962C8B-B14F-4D97-AF65-F5344CB8AC3E}">
        <p14:creationId xmlns:p14="http://schemas.microsoft.com/office/powerpoint/2010/main" val="3665284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B856E-A584-48A2-B18F-B926BBA9D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291090"/>
            <a:ext cx="7886699" cy="93268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3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We know a bit more about you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A91308-A25B-4E33-ABFE-3C913DEF58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5329" y="1776715"/>
            <a:ext cx="4920494" cy="4440746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09CFD0-263A-4725-98FA-DB628EE01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4C99FA5-7995-46A9-A97E-16E38AD58950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475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 (Tue. May 18)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Project details (</a:t>
            </a:r>
            <a:r>
              <a:rPr lang="en-US" dirty="0" err="1"/>
              <a:t>note+video</a:t>
            </a:r>
            <a:r>
              <a:rPr lang="en-US" dirty="0"/>
              <a:t>) are released on Learn </a:t>
            </a:r>
          </a:p>
          <a:p>
            <a:pPr lvl="1"/>
            <a:r>
              <a:rPr lang="en-US" dirty="0"/>
              <a:t>Milestone 0 by May 24 (Mon), 11pm </a:t>
            </a:r>
          </a:p>
          <a:p>
            <a:pPr lvl="2"/>
            <a:r>
              <a:rPr lang="en-US" dirty="0"/>
              <a:t>Form </a:t>
            </a:r>
            <a:r>
              <a:rPr lang="en-US" dirty="0">
                <a:solidFill>
                  <a:schemeClr val="accent2"/>
                </a:solidFill>
              </a:rPr>
              <a:t>groups of 4-5</a:t>
            </a:r>
            <a:r>
              <a:rPr lang="en-US" dirty="0"/>
              <a:t> on Markus </a:t>
            </a:r>
          </a:p>
          <a:p>
            <a:pPr lvl="2"/>
            <a:r>
              <a:rPr lang="en-US" dirty="0"/>
              <a:t>Submit </a:t>
            </a:r>
            <a:r>
              <a:rPr lang="en-US" dirty="0" err="1">
                <a:solidFill>
                  <a:schemeClr val="accent2"/>
                </a:solidFill>
              </a:rPr>
              <a:t>report.pdf</a:t>
            </a:r>
            <a:r>
              <a:rPr lang="en-US" dirty="0"/>
              <a:t> and </a:t>
            </a:r>
            <a:r>
              <a:rPr lang="en-US" dirty="0" err="1">
                <a:solidFill>
                  <a:schemeClr val="accent2"/>
                </a:solidFill>
              </a:rPr>
              <a:t>code.zip</a:t>
            </a:r>
            <a:r>
              <a:rPr lang="en-US" dirty="0"/>
              <a:t> to Markus </a:t>
            </a:r>
          </a:p>
          <a:p>
            <a:pPr lvl="2"/>
            <a:r>
              <a:rPr lang="en-US" dirty="0"/>
              <a:t>Mainly for testing of the groups, not graded</a:t>
            </a:r>
          </a:p>
          <a:p>
            <a:pPr lvl="1"/>
            <a:endParaRPr lang="en-US" dirty="0"/>
          </a:p>
          <a:p>
            <a:r>
              <a:rPr lang="en-US" dirty="0"/>
              <a:t>Assignment #1 is released on Learn </a:t>
            </a:r>
          </a:p>
          <a:p>
            <a:pPr lvl="1"/>
            <a:r>
              <a:rPr lang="en-US" dirty="0"/>
              <a:t>Part 1: general questions and </a:t>
            </a:r>
            <a:r>
              <a:rPr lang="en-US" dirty="0" err="1"/>
              <a:t>r.a.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Submit a </a:t>
            </a:r>
            <a:r>
              <a:rPr lang="en-US" dirty="0">
                <a:solidFill>
                  <a:schemeClr val="accent2"/>
                </a:solidFill>
              </a:rPr>
              <a:t>a1part1.pdf</a:t>
            </a:r>
            <a:r>
              <a:rPr lang="en-US" dirty="0"/>
              <a:t> to Markus</a:t>
            </a:r>
          </a:p>
          <a:p>
            <a:pPr lvl="1"/>
            <a:r>
              <a:rPr lang="en-US" dirty="0"/>
              <a:t>Part 2: writing SQL on DB2 on school servers (try soon)</a:t>
            </a:r>
          </a:p>
          <a:p>
            <a:pPr lvl="2"/>
            <a:r>
              <a:rPr lang="en-US" dirty="0"/>
              <a:t>Submit </a:t>
            </a:r>
            <a:r>
              <a:rPr lang="en-US" dirty="0">
                <a:solidFill>
                  <a:schemeClr val="accent2"/>
                </a:solidFill>
              </a:rPr>
              <a:t>1.sql, 2.sql, </a:t>
            </a:r>
            <a:r>
              <a:rPr lang="mr-IN" dirty="0">
                <a:solidFill>
                  <a:schemeClr val="accent2"/>
                </a:solidFill>
              </a:rPr>
              <a:t>…</a:t>
            </a:r>
            <a:r>
              <a:rPr lang="en-US" dirty="0">
                <a:solidFill>
                  <a:schemeClr val="accent2"/>
                </a:solidFill>
              </a:rPr>
              <a:t>,6.sql </a:t>
            </a:r>
            <a:r>
              <a:rPr lang="en-US" dirty="0"/>
              <a:t>to Markus</a:t>
            </a:r>
          </a:p>
          <a:p>
            <a:pPr lvl="1"/>
            <a:r>
              <a:rPr lang="en-US" dirty="0"/>
              <a:t>Due by May 31 (Mon), 11pm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3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83281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SQL: </a:t>
            </a:r>
            <a:r>
              <a:rPr lang="en-US" dirty="0">
                <a:solidFill>
                  <a:schemeClr val="accent2"/>
                </a:solidFill>
              </a:rPr>
              <a:t>Structured Query Language</a:t>
            </a:r>
          </a:p>
          <a:p>
            <a:pPr lvl="1">
              <a:defRPr/>
            </a:pPr>
            <a:r>
              <a:rPr lang="en-US" dirty="0"/>
              <a:t>Pronounced “S-Q-L” or “sequel”</a:t>
            </a:r>
          </a:p>
          <a:p>
            <a:pPr lvl="1">
              <a:defRPr/>
            </a:pPr>
            <a:r>
              <a:rPr lang="en-US" dirty="0"/>
              <a:t>The standard query language supported by most DBMS</a:t>
            </a:r>
          </a:p>
          <a:p>
            <a:pPr>
              <a:defRPr/>
            </a:pPr>
            <a:r>
              <a:rPr lang="en-US" dirty="0"/>
              <a:t>A brief history</a:t>
            </a:r>
          </a:p>
          <a:p>
            <a:pPr lvl="1">
              <a:defRPr/>
            </a:pPr>
            <a:r>
              <a:rPr lang="en-US" dirty="0"/>
              <a:t>IBM System R</a:t>
            </a:r>
          </a:p>
          <a:p>
            <a:pPr lvl="1">
              <a:defRPr/>
            </a:pPr>
            <a:r>
              <a:rPr lang="en-US" dirty="0"/>
              <a:t>ANSI SQL86</a:t>
            </a:r>
          </a:p>
          <a:p>
            <a:pPr lvl="1">
              <a:defRPr/>
            </a:pPr>
            <a:r>
              <a:rPr lang="en-US" dirty="0"/>
              <a:t>ANSI SQL89</a:t>
            </a:r>
          </a:p>
          <a:p>
            <a:pPr lvl="1">
              <a:defRPr/>
            </a:pPr>
            <a:r>
              <a:rPr lang="en-US" dirty="0"/>
              <a:t>ANSI SQL92 (SQL2)</a:t>
            </a:r>
          </a:p>
          <a:p>
            <a:pPr lvl="1">
              <a:defRPr/>
            </a:pPr>
            <a:r>
              <a:rPr lang="en-US" dirty="0"/>
              <a:t>ANSI SQL99 (SQL3)</a:t>
            </a:r>
          </a:p>
          <a:p>
            <a:pPr lvl="1">
              <a:defRPr/>
            </a:pPr>
            <a:r>
              <a:rPr lang="en-US" dirty="0"/>
              <a:t>ANSI SQL 2003 (added OLAP, XML, etc.)</a:t>
            </a:r>
          </a:p>
          <a:p>
            <a:pPr lvl="1">
              <a:defRPr/>
            </a:pPr>
            <a:r>
              <a:rPr lang="en-US" dirty="0"/>
              <a:t>ANSI SQL 2006 (added more XML)</a:t>
            </a:r>
          </a:p>
          <a:p>
            <a:pPr lvl="1">
              <a:defRPr/>
            </a:pPr>
            <a:r>
              <a:rPr lang="en-US" dirty="0"/>
              <a:t>ANSI SQL 2008, 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4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59178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DE117-DE41-45F6-AB69-14D85F942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D0BE7-F7AB-4894-9ECF-6CB11D314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 dirty="0">
                <a:solidFill>
                  <a:schemeClr val="accent2"/>
                </a:solidFill>
              </a:rPr>
              <a:t>Data-definition language (DDL):</a:t>
            </a:r>
            <a:r>
              <a:rPr lang="en-CA" dirty="0"/>
              <a:t> define/modify schemas, delete relations</a:t>
            </a:r>
          </a:p>
          <a:p>
            <a:endParaRPr lang="en-CA" dirty="0"/>
          </a:p>
          <a:p>
            <a:r>
              <a:rPr lang="en-CA" dirty="0">
                <a:solidFill>
                  <a:schemeClr val="accent2"/>
                </a:solidFill>
              </a:rPr>
              <a:t>Data-manipulation language (DML): </a:t>
            </a:r>
            <a:r>
              <a:rPr lang="en-CA" dirty="0"/>
              <a:t>query information, and insert/delete/modify tuples </a:t>
            </a:r>
          </a:p>
          <a:p>
            <a:endParaRPr lang="en-CA" dirty="0"/>
          </a:p>
          <a:p>
            <a:r>
              <a:rPr lang="en-CA" dirty="0">
                <a:solidFill>
                  <a:schemeClr val="accent2"/>
                </a:solidFill>
              </a:rPr>
              <a:t>Integrity constraints:</a:t>
            </a:r>
            <a:r>
              <a:rPr lang="en-CA" dirty="0"/>
              <a:t> specify constraints that the data stored in the database must satisfy</a:t>
            </a:r>
            <a:endParaRPr lang="en-CA" dirty="0">
              <a:solidFill>
                <a:schemeClr val="accent2"/>
              </a:solidFill>
            </a:endParaRPr>
          </a:p>
          <a:p>
            <a:endParaRPr lang="en-CA" dirty="0"/>
          </a:p>
          <a:p>
            <a:r>
              <a:rPr lang="en-CA" dirty="0"/>
              <a:t>Intermediate/Advanced topics: </a:t>
            </a:r>
            <a:r>
              <a:rPr lang="en-CA" dirty="0">
                <a:solidFill>
                  <a:schemeClr val="accent2"/>
                </a:solidFill>
              </a:rPr>
              <a:t>(next week)</a:t>
            </a:r>
          </a:p>
          <a:p>
            <a:pPr lvl="1">
              <a:defRPr/>
            </a:pPr>
            <a:r>
              <a:rPr lang="en-US" dirty="0"/>
              <a:t>E.g., triggers, views, indexes, programming, recursive queries</a:t>
            </a:r>
            <a:endParaRPr lang="en-CA" dirty="0"/>
          </a:p>
          <a:p>
            <a:endParaRPr lang="en-CA" dirty="0"/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6C82E0-E9FE-4483-BC13-7C79AC2E4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5</a:t>
            </a:fld>
            <a:endParaRPr lang="en-US"/>
          </a:p>
        </p:txBody>
      </p:sp>
      <p:sp>
        <p:nvSpPr>
          <p:cNvPr id="5" name="Right Bracket 4">
            <a:extLst>
              <a:ext uri="{FF2B5EF4-FFF2-40B4-BE49-F238E27FC236}">
                <a16:creationId xmlns:a16="http://schemas.microsoft.com/office/drawing/2014/main" id="{0BDAEA3B-47E9-4EA0-8A96-1DFE2CA74AB6}"/>
              </a:ext>
            </a:extLst>
          </p:cNvPr>
          <p:cNvSpPr/>
          <p:nvPr/>
        </p:nvSpPr>
        <p:spPr>
          <a:xfrm>
            <a:off x="7593875" y="1320330"/>
            <a:ext cx="383177" cy="3543188"/>
          </a:xfrm>
          <a:prstGeom prst="rightBracket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B17D7C-0878-4D49-9B8B-D6519F783D69}"/>
              </a:ext>
            </a:extLst>
          </p:cNvPr>
          <p:cNvSpPr txBox="1"/>
          <p:nvPr/>
        </p:nvSpPr>
        <p:spPr>
          <a:xfrm>
            <a:off x="8095181" y="2556179"/>
            <a:ext cx="125403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>
                <a:solidFill>
                  <a:schemeClr val="accent2"/>
                </a:solidFill>
              </a:rPr>
              <a:t>this </a:t>
            </a:r>
          </a:p>
          <a:p>
            <a:r>
              <a:rPr lang="en-CA" sz="2400" dirty="0">
                <a:solidFill>
                  <a:schemeClr val="accent2"/>
                </a:solidFill>
              </a:rPr>
              <a:t>week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53350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DDL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  <a:t>CREATE</a:t>
                </a:r>
                <a:r>
                  <a:rPr lang="en-US" dirty="0">
                    <a:solidFill>
                      <a:schemeClr val="tx2"/>
                    </a:solidFill>
                    <a:latin typeface="Prestige12 BT" panose="02070509030506020304" pitchFamily="49" charset="0"/>
                  </a:rPr>
                  <a:t> </a:t>
                </a:r>
                <a:r>
                  <a:rPr lang="en-US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  <a:t>TABLE</a:t>
                </a:r>
                <a:r>
                  <a:rPr lang="en-US" dirty="0">
                    <a:latin typeface="Prestige12 BT" panose="020705090305060203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1" dirty="0">
                        <a:latin typeface="Cambria Math"/>
                      </a:rPr>
                      <m:t>table</m:t>
                    </m:r>
                    <m:r>
                      <m:rPr>
                        <m:nor/>
                      </m:rPr>
                      <a:rPr lang="en-US" b="0" i="1" dirty="0" smtClean="0">
                        <a:latin typeface="Cambria Math"/>
                      </a:rPr>
                      <m:t>_</m:t>
                    </m:r>
                    <m:r>
                      <m:rPr>
                        <m:nor/>
                      </m:rPr>
                      <a:rPr lang="en-US" i="1" dirty="0">
                        <a:latin typeface="Cambria Math"/>
                      </a:rPr>
                      <m:t>name</m:t>
                    </m:r>
                  </m:oMath>
                </a14:m>
                <a:r>
                  <a:rPr lang="en-US" dirty="0">
                    <a:latin typeface="Prestige12 BT" panose="02070509030506020304" pitchFamily="49" charset="0"/>
                  </a:rPr>
                  <a:t> </a:t>
                </a:r>
                <a:br>
                  <a:rPr lang="en-US" dirty="0">
                    <a:latin typeface="Prestige12 BT" panose="02070509030506020304" pitchFamily="49" charset="0"/>
                  </a:rPr>
                </a:br>
                <a:r>
                  <a:rPr lang="en-US" dirty="0">
                    <a:solidFill>
                      <a:schemeClr val="tx1"/>
                    </a:solidFill>
                    <a:latin typeface="Prestige12 BT" panose="02070509030506020304" pitchFamily="49" charset="0"/>
                  </a:rPr>
                  <a:t>(</a:t>
                </a:r>
                <a:r>
                  <a:rPr lang="en-US" i="1" dirty="0">
                    <a:solidFill>
                      <a:schemeClr val="tx1"/>
                    </a:solidFill>
                    <a:latin typeface="Prestige12 BT" panose="02070509030506020304" pitchFamily="49" charset="0"/>
                  </a:rPr>
                  <a:t>…</a:t>
                </a:r>
                <a:r>
                  <a:rPr lang="en-US" dirty="0">
                    <a:solidFill>
                      <a:schemeClr val="tx1"/>
                    </a:solidFill>
                    <a:latin typeface="Prestige12 BT" panose="02070509030506020304" pitchFamily="49" charset="0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1" dirty="0">
                        <a:solidFill>
                          <a:schemeClr val="tx1"/>
                        </a:solidFill>
                        <a:latin typeface="Cambria Math"/>
                      </a:rPr>
                      <m:t>column</m:t>
                    </m:r>
                    <m:r>
                      <m:rPr>
                        <m:nor/>
                      </m:rPr>
                      <a:rPr lang="en-US" b="0" i="1" dirty="0" smtClean="0">
                        <a:solidFill>
                          <a:schemeClr val="tx1"/>
                        </a:solidFill>
                        <a:latin typeface="Cambria Math"/>
                      </a:rPr>
                      <m:t>_</m:t>
                    </m:r>
                    <m:r>
                      <m:rPr>
                        <m:nor/>
                      </m:rPr>
                      <a:rPr lang="en-US" i="1" dirty="0">
                        <a:solidFill>
                          <a:schemeClr val="tx1"/>
                        </a:solidFill>
                        <a:latin typeface="Cambria Math"/>
                      </a:rPr>
                      <m:t>nam</m:t>
                    </m:r>
                    <m:r>
                      <m:rPr>
                        <m:nor/>
                      </m:rPr>
                      <a:rPr lang="en-US" b="0" i="1" dirty="0" smtClean="0">
                        <a:solidFill>
                          <a:schemeClr val="tx1"/>
                        </a:solidFill>
                        <a:latin typeface="Cambria Math"/>
                      </a:rPr>
                      <m:t>e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Prestige12 BT" panose="020705090305060203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1" dirty="0">
                        <a:solidFill>
                          <a:schemeClr val="tx1"/>
                        </a:solidFill>
                        <a:latin typeface="Cambria Math"/>
                      </a:rPr>
                      <m:t>column</m:t>
                    </m:r>
                    <m:r>
                      <m:rPr>
                        <m:nor/>
                      </m:rPr>
                      <a:rPr lang="en-US" b="0" i="1" dirty="0" smtClean="0">
                        <a:solidFill>
                          <a:schemeClr val="tx1"/>
                        </a:solidFill>
                        <a:latin typeface="Cambria Math"/>
                      </a:rPr>
                      <m:t>_</m:t>
                    </m:r>
                    <m:r>
                      <m:rPr>
                        <m:nor/>
                      </m:rPr>
                      <a:rPr lang="en-US" i="1" dirty="0">
                        <a:solidFill>
                          <a:schemeClr val="tx1"/>
                        </a:solidFill>
                        <a:latin typeface="Cambria Math"/>
                      </a:rPr>
                      <m:t>typ</m:t>
                    </m:r>
                    <m:r>
                      <m:rPr>
                        <m:nor/>
                      </m:rPr>
                      <a:rPr lang="en-US" b="0" i="1" dirty="0" smtClean="0">
                        <a:solidFill>
                          <a:schemeClr val="tx1"/>
                        </a:solidFill>
                        <a:latin typeface="Cambria Math"/>
                      </a:rPr>
                      <m:t>e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Prestige12 BT" panose="02070509030506020304" pitchFamily="49" charset="0"/>
                  </a:rPr>
                  <a:t>, </a:t>
                </a:r>
                <a:r>
                  <a:rPr lang="en-US" i="1" dirty="0">
                    <a:solidFill>
                      <a:schemeClr val="tx1"/>
                    </a:solidFill>
                    <a:latin typeface="Prestige12 BT" panose="02070509030506020304" pitchFamily="49" charset="0"/>
                  </a:rPr>
                  <a:t>…</a:t>
                </a:r>
                <a:r>
                  <a:rPr lang="en-US" dirty="0">
                    <a:solidFill>
                      <a:schemeClr val="tx1"/>
                    </a:solidFill>
                    <a:latin typeface="Prestige12 BT" panose="02070509030506020304" pitchFamily="49" charset="0"/>
                  </a:rPr>
                  <a:t>);</a:t>
                </a:r>
              </a:p>
              <a:p>
                <a:endParaRPr lang="en-US" dirty="0">
                  <a:solidFill>
                    <a:schemeClr val="accent2"/>
                  </a:solidFill>
                  <a:latin typeface="Prestige12 BT" panose="02070509030506020304" pitchFamily="49" charset="0"/>
                </a:endParaRPr>
              </a:p>
              <a:p>
                <a:endParaRPr lang="en-US" dirty="0">
                  <a:solidFill>
                    <a:schemeClr val="accent2"/>
                  </a:solidFill>
                  <a:latin typeface="Prestige12 BT" panose="02070509030506020304" pitchFamily="49" charset="0"/>
                </a:endParaRPr>
              </a:p>
              <a:p>
                <a:endParaRPr lang="en-US" dirty="0">
                  <a:solidFill>
                    <a:schemeClr val="accent2"/>
                  </a:solidFill>
                  <a:latin typeface="Prestige12 BT" panose="02070509030506020304" pitchFamily="49" charset="0"/>
                </a:endParaRPr>
              </a:p>
              <a:p>
                <a:r>
                  <a:rPr lang="en-US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  <a:t>DROP</a:t>
                </a:r>
                <a:r>
                  <a:rPr lang="en-US" dirty="0">
                    <a:solidFill>
                      <a:schemeClr val="tx1"/>
                    </a:solidFill>
                    <a:latin typeface="Prestige12 BT" panose="02070509030506020304" pitchFamily="49" charset="0"/>
                  </a:rPr>
                  <a:t> </a:t>
                </a:r>
                <a:r>
                  <a:rPr lang="en-US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  <a:t>TABLE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1" dirty="0">
                        <a:latin typeface="Cambria Math"/>
                      </a:rPr>
                      <m:t>table</m:t>
                    </m:r>
                    <m:r>
                      <m:rPr>
                        <m:nor/>
                      </m:rPr>
                      <a:rPr lang="en-US" i="1" dirty="0">
                        <a:latin typeface="Cambria Math"/>
                      </a:rPr>
                      <m:t>_</m:t>
                    </m:r>
                    <m:r>
                      <m:rPr>
                        <m:nor/>
                      </m:rPr>
                      <a:rPr lang="en-US" i="1" dirty="0">
                        <a:latin typeface="Cambria Math"/>
                      </a:rPr>
                      <m:t>name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Prestige12 BT" panose="02070509030506020304" pitchFamily="49" charset="0"/>
                  </a:rPr>
                  <a:t>;</a:t>
                </a:r>
              </a:p>
              <a:p>
                <a:pPr lvl="1">
                  <a:buNone/>
                </a:pPr>
                <a:endParaRPr lang="en-US" sz="1800" dirty="0">
                  <a:solidFill>
                    <a:schemeClr val="accent1"/>
                  </a:solidFill>
                  <a:latin typeface="Prestige12 BT" panose="02070509030506020304" pitchFamily="49" charset="0"/>
                </a:endParaRPr>
              </a:p>
              <a:p>
                <a:pPr lvl="1">
                  <a:buNone/>
                </a:pPr>
                <a:endParaRPr lang="en-US" sz="1800" dirty="0">
                  <a:solidFill>
                    <a:schemeClr val="accent1"/>
                  </a:solidFill>
                  <a:latin typeface="Prestige12 BT" panose="02070509030506020304" pitchFamily="49" charset="0"/>
                </a:endParaRPr>
              </a:p>
              <a:p>
                <a:pPr lvl="1">
                  <a:buNone/>
                </a:pPr>
                <a:endParaRPr lang="en-US" sz="1800" dirty="0">
                  <a:solidFill>
                    <a:schemeClr val="accent1"/>
                  </a:solidFill>
                  <a:latin typeface="Prestige12 BT" panose="02070509030506020304" pitchFamily="49" charset="0"/>
                </a:endParaRPr>
              </a:p>
              <a:p>
                <a:pPr lvl="1">
                  <a:buNone/>
                </a:pPr>
                <a:endParaRPr lang="en-US" sz="1800" dirty="0">
                  <a:solidFill>
                    <a:schemeClr val="accent1"/>
                  </a:solidFill>
                  <a:latin typeface="Prestige12 BT" panose="02070509030506020304" pitchFamily="49" charset="0"/>
                </a:endParaRPr>
              </a:p>
              <a:p>
                <a:pPr lvl="1">
                  <a:buNone/>
                </a:pPr>
                <a:endParaRPr lang="en-US" sz="1800" dirty="0">
                  <a:solidFill>
                    <a:schemeClr val="accent1"/>
                  </a:solidFill>
                  <a:latin typeface="Prestige12 BT" panose="02070509030506020304" pitchFamily="49" charset="0"/>
                </a:endParaRPr>
              </a:p>
              <a:p>
                <a:pPr lvl="1">
                  <a:buNone/>
                </a:pPr>
                <a:endParaRPr lang="en-US" sz="1800" dirty="0">
                  <a:solidFill>
                    <a:schemeClr val="accent1"/>
                  </a:solidFill>
                  <a:latin typeface="Prestige12 BT" panose="020705090305060203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6"/>
                <a:stretch>
                  <a:fillRect l="-1342" t="-1968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6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28650" y="2500805"/>
            <a:ext cx="7737957" cy="113742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CREATE TABLE </a:t>
            </a:r>
            <a:r>
              <a:rPr lang="en-US" dirty="0">
                <a:solidFill>
                  <a:schemeClr val="accent2"/>
                </a:solidFill>
              </a:rPr>
              <a:t>User</a:t>
            </a:r>
            <a:r>
              <a:rPr lang="en-US" dirty="0"/>
              <a:t>(</a:t>
            </a:r>
            <a:r>
              <a:rPr lang="en-US" dirty="0" err="1"/>
              <a:t>uid</a:t>
            </a:r>
            <a:r>
              <a:rPr lang="en-US" dirty="0"/>
              <a:t> DECIMAL(3,0), name VARCHAR(30), age DECIMAL (2,0), pop DECIMAL(3,2));</a:t>
            </a:r>
          </a:p>
          <a:p>
            <a:r>
              <a:rPr lang="en-US" dirty="0"/>
              <a:t>CREATE TABLE </a:t>
            </a:r>
            <a:r>
              <a:rPr lang="en-US" dirty="0">
                <a:solidFill>
                  <a:schemeClr val="accent2"/>
                </a:solidFill>
              </a:rPr>
              <a:t>Group</a:t>
            </a:r>
            <a:r>
              <a:rPr lang="en-US" dirty="0"/>
              <a:t> (gid CHAR(10), name VARCHAR(100));</a:t>
            </a:r>
          </a:p>
          <a:p>
            <a:r>
              <a:rPr lang="en-US" dirty="0"/>
              <a:t>CREATE TABLE </a:t>
            </a:r>
            <a:r>
              <a:rPr lang="en-US" dirty="0">
                <a:solidFill>
                  <a:schemeClr val="accent2"/>
                </a:solidFill>
              </a:rPr>
              <a:t>Member</a:t>
            </a:r>
            <a:r>
              <a:rPr lang="en-US" dirty="0"/>
              <a:t> (</a:t>
            </a:r>
            <a:r>
              <a:rPr lang="en-US" dirty="0" err="1"/>
              <a:t>uid</a:t>
            </a:r>
            <a:r>
              <a:rPr lang="en-US" dirty="0"/>
              <a:t> DECIMAL (3,0), </a:t>
            </a:r>
            <a:r>
              <a:rPr lang="en-US" dirty="0" err="1"/>
              <a:t>gid</a:t>
            </a:r>
            <a:r>
              <a:rPr lang="en-US" dirty="0"/>
              <a:t> CHAR(10));</a:t>
            </a:r>
          </a:p>
        </p:txBody>
      </p:sp>
      <p:sp>
        <p:nvSpPr>
          <p:cNvPr id="6" name="Rectangle 5"/>
          <p:cNvSpPr/>
          <p:nvPr/>
        </p:nvSpPr>
        <p:spPr>
          <a:xfrm>
            <a:off x="628650" y="4413632"/>
            <a:ext cx="4108813" cy="98751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DROP TABLE </a:t>
            </a:r>
            <a:r>
              <a:rPr lang="en-US" dirty="0">
                <a:solidFill>
                  <a:schemeClr val="accent2"/>
                </a:solidFill>
              </a:rPr>
              <a:t>User</a:t>
            </a:r>
            <a:r>
              <a:rPr lang="en-US" dirty="0"/>
              <a:t>;</a:t>
            </a:r>
          </a:p>
          <a:p>
            <a:r>
              <a:rPr lang="en-US" dirty="0"/>
              <a:t>DROP TABLE </a:t>
            </a:r>
            <a:r>
              <a:rPr lang="en-US" dirty="0">
                <a:solidFill>
                  <a:schemeClr val="accent2"/>
                </a:solidFill>
              </a:rPr>
              <a:t>Group</a:t>
            </a:r>
            <a:r>
              <a:rPr lang="en-US" dirty="0"/>
              <a:t>;</a:t>
            </a:r>
          </a:p>
          <a:p>
            <a:r>
              <a:rPr lang="en-US" dirty="0"/>
              <a:t>DROP TABLE </a:t>
            </a:r>
            <a:r>
              <a:rPr lang="en-US" dirty="0">
                <a:solidFill>
                  <a:schemeClr val="accent2"/>
                </a:solidFill>
              </a:rPr>
              <a:t>Member</a:t>
            </a:r>
            <a:r>
              <a:rPr lang="en-US" dirty="0"/>
              <a:t>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915FF3-3319-4A8E-90CE-C2B2CA0E5B06}"/>
              </a:ext>
            </a:extLst>
          </p:cNvPr>
          <p:cNvSpPr txBox="1"/>
          <p:nvPr/>
        </p:nvSpPr>
        <p:spPr>
          <a:xfrm>
            <a:off x="5090274" y="76883"/>
            <a:ext cx="3992652" cy="861774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r>
              <a:rPr lang="en-US" sz="1600" i="1" dirty="0"/>
              <a:t>User</a:t>
            </a:r>
            <a:r>
              <a:rPr lang="en-US" sz="1600" dirty="0"/>
              <a:t> (</a:t>
            </a:r>
            <a:r>
              <a:rPr lang="en-US" sz="1600" i="1" u="sng" dirty="0" err="1"/>
              <a:t>uid</a:t>
            </a:r>
            <a:r>
              <a:rPr lang="en-US" sz="1600" u="sng" dirty="0"/>
              <a:t> </a:t>
            </a:r>
            <a:r>
              <a:rPr lang="en-US" sz="1600" dirty="0"/>
              <a:t>int, </a:t>
            </a:r>
            <a:r>
              <a:rPr lang="en-US" sz="1600" i="1" dirty="0"/>
              <a:t>name</a:t>
            </a:r>
            <a:r>
              <a:rPr lang="en-US" sz="1600" dirty="0"/>
              <a:t> string, </a:t>
            </a:r>
            <a:r>
              <a:rPr lang="en-US" sz="1600" i="1" dirty="0"/>
              <a:t>age</a:t>
            </a:r>
            <a:r>
              <a:rPr lang="en-US" sz="1600" dirty="0"/>
              <a:t> int, </a:t>
            </a:r>
            <a:r>
              <a:rPr lang="en-US" sz="1600" i="1" dirty="0"/>
              <a:t>pop</a:t>
            </a:r>
            <a:r>
              <a:rPr lang="en-US" sz="1600" dirty="0"/>
              <a:t> float)</a:t>
            </a:r>
          </a:p>
          <a:p>
            <a:r>
              <a:rPr lang="en-US" sz="1600" i="1" dirty="0"/>
              <a:t>Group</a:t>
            </a:r>
            <a:r>
              <a:rPr lang="en-US" sz="1600" dirty="0"/>
              <a:t> (</a:t>
            </a:r>
            <a:r>
              <a:rPr lang="en-US" sz="1600" i="1" u="sng" dirty="0"/>
              <a:t>gid</a:t>
            </a:r>
            <a:r>
              <a:rPr lang="en-US" sz="1600" dirty="0"/>
              <a:t> string, </a:t>
            </a:r>
            <a:r>
              <a:rPr lang="en-US" sz="1600" i="1" dirty="0"/>
              <a:t>name</a:t>
            </a:r>
            <a:r>
              <a:rPr lang="en-US" sz="1600" dirty="0"/>
              <a:t> string)</a:t>
            </a:r>
          </a:p>
          <a:p>
            <a:r>
              <a:rPr lang="en-US" sz="1600" i="1" dirty="0"/>
              <a:t>Member</a:t>
            </a:r>
            <a:r>
              <a:rPr lang="en-US" sz="1600" dirty="0"/>
              <a:t> (</a:t>
            </a:r>
            <a:r>
              <a:rPr lang="en-US" sz="1600" i="1" u="sng" dirty="0" err="1"/>
              <a:t>uid</a:t>
            </a:r>
            <a:r>
              <a:rPr lang="en-US" sz="1600" dirty="0"/>
              <a:t> int, </a:t>
            </a:r>
            <a:r>
              <a:rPr lang="en-US" sz="1600" i="1" u="sng" dirty="0"/>
              <a:t>gid</a:t>
            </a:r>
            <a:r>
              <a:rPr lang="en-US" sz="1600" dirty="0"/>
              <a:t> string)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C0891F-9514-4384-A9D7-FC1F26377E04}"/>
              </a:ext>
            </a:extLst>
          </p:cNvPr>
          <p:cNvSpPr txBox="1"/>
          <p:nvPr/>
        </p:nvSpPr>
        <p:spPr>
          <a:xfrm>
            <a:off x="628650" y="5455591"/>
            <a:ext cx="712143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/>
                </a:solidFill>
                <a:latin typeface="Prestige12 BT" panose="02070509030506020304" pitchFamily="49" charset="0"/>
              </a:rPr>
              <a:t>-- everything from -- to the end of line is ignored.</a:t>
            </a:r>
          </a:p>
          <a:p>
            <a:r>
              <a:rPr lang="en-US" dirty="0">
                <a:solidFill>
                  <a:schemeClr val="accent1"/>
                </a:solidFill>
                <a:latin typeface="Prestige12 BT" panose="02070509030506020304" pitchFamily="49" charset="0"/>
              </a:rPr>
              <a:t>-- SQL is insensitive to white space.</a:t>
            </a:r>
          </a:p>
          <a:p>
            <a:r>
              <a:rPr lang="en-US" dirty="0">
                <a:solidFill>
                  <a:schemeClr val="accent1"/>
                </a:solidFill>
                <a:latin typeface="Prestige12 BT" panose="02070509030506020304" pitchFamily="49" charset="0"/>
              </a:rPr>
              <a:t>-- SQL is insensitive to case (e.g., ...CREATE... is</a:t>
            </a:r>
          </a:p>
          <a:p>
            <a:r>
              <a:rPr lang="en-US" dirty="0">
                <a:solidFill>
                  <a:schemeClr val="accent1"/>
                </a:solidFill>
                <a:latin typeface="Prestige12 BT" panose="02070509030506020304" pitchFamily="49" charset="0"/>
              </a:rPr>
              <a:t>-- equivalent to ...create...).</a:t>
            </a:r>
          </a:p>
        </p:txBody>
      </p:sp>
      <p:sp>
        <p:nvSpPr>
          <p:cNvPr id="10" name="Callout: Bent Line 9">
            <a:extLst>
              <a:ext uri="{FF2B5EF4-FFF2-40B4-BE49-F238E27FC236}">
                <a16:creationId xmlns:a16="http://schemas.microsoft.com/office/drawing/2014/main" id="{BC3C1DAF-C736-4A7A-A019-58EF0406BC44}"/>
              </a:ext>
            </a:extLst>
          </p:cNvPr>
          <p:cNvSpPr/>
          <p:nvPr/>
        </p:nvSpPr>
        <p:spPr>
          <a:xfrm>
            <a:off x="7216570" y="4086672"/>
            <a:ext cx="1359740" cy="920476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90332"/>
              <a:gd name="adj6" fmla="val -50677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2"/>
                </a:solidFill>
              </a:rPr>
              <a:t>How does it work with MySQL?</a:t>
            </a:r>
            <a:endParaRPr lang="en-CA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28575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Basic queries for DML: SFW statement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  <a:t>SELECT</a:t>
                </a:r>
                <a:r>
                  <a:rPr lang="en-US" dirty="0">
                    <a:solidFill>
                      <a:schemeClr val="tx1"/>
                    </a:solidFill>
                    <a:latin typeface="Prestige12 BT" panose="02070509030506020304" pitchFamily="49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Prestige12 BT" panose="02070509030506020304" pitchFamily="49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Prestige12 BT" panose="02070509030506020304" pitchFamily="49" charset="0"/>
                  </a:rPr>
                  <a:t>, 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br>
                  <a:rPr lang="en-US" dirty="0">
                    <a:solidFill>
                      <a:schemeClr val="tx1"/>
                    </a:solidFill>
                    <a:latin typeface="Prestige12 BT" panose="02070509030506020304" pitchFamily="49" charset="0"/>
                  </a:rPr>
                </a:br>
                <a:r>
                  <a:rPr lang="en-US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  <a:t>FROM</a:t>
                </a:r>
                <a:r>
                  <a:rPr lang="en-US" dirty="0">
                    <a:solidFill>
                      <a:schemeClr val="tx1"/>
                    </a:solidFill>
                    <a:latin typeface="Prestige12 BT" panose="02070509030506020304" pitchFamily="49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Prestige12 BT" panose="02070509030506020304" pitchFamily="49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Prestige12 BT" panose="02070509030506020304" pitchFamily="49" charset="0"/>
                  </a:rPr>
                  <a:t>, 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𝑚</m:t>
                        </m:r>
                      </m:sub>
                    </m:sSub>
                  </m:oMath>
                </a14:m>
                <a:br>
                  <a:rPr lang="en-US" dirty="0">
                    <a:solidFill>
                      <a:schemeClr val="tx1"/>
                    </a:solidFill>
                    <a:latin typeface="Prestige12 BT" panose="02070509030506020304" pitchFamily="49" charset="0"/>
                  </a:rPr>
                </a:br>
                <a:r>
                  <a:rPr lang="en-US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𝑐𝑜𝑛𝑑𝑖𝑡𝑖𝑜𝑛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Prestige12 BT" panose="02070509030506020304" pitchFamily="49" charset="0"/>
                  </a:rPr>
                  <a:t>;</a:t>
                </a:r>
              </a:p>
              <a:p>
                <a:endParaRPr lang="en-US" dirty="0"/>
              </a:p>
              <a:p>
                <a:r>
                  <a:rPr lang="en-US" dirty="0"/>
                  <a:t>Also called an SPJ (select-project-join) query</a:t>
                </a:r>
              </a:p>
              <a:p>
                <a:endParaRPr lang="en-US" dirty="0"/>
              </a:p>
              <a:p>
                <a:r>
                  <a:rPr lang="en-US" dirty="0"/>
                  <a:t>Corresponds to (</a:t>
                </a:r>
                <a:r>
                  <a:rPr lang="en-US" dirty="0">
                    <a:solidFill>
                      <a:schemeClr val="accent2"/>
                    </a:solidFill>
                  </a:rPr>
                  <a:t>but not really equivalent to</a:t>
                </a:r>
                <a:r>
                  <a:rPr lang="en-US" dirty="0"/>
                  <a:t>) relational algebra query: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𝜋</m:t>
                        </m:r>
                      </m:e>
                      <m:sub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 dirty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i="1" dirty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 dirty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i="1" dirty="0">
                            <a:latin typeface="Cambria Math"/>
                          </a:rPr>
                          <m:t>,…,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 dirty="0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/>
                              </a:rPr>
                              <m:t>𝜎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/>
                              </a:rPr>
                              <m:t>𝑐𝑜𝑛𝑑𝑖𝑡𝑖𝑜𝑛</m:t>
                            </m:r>
                          </m:sub>
                        </m:sSub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 dirty="0">
                                <a:latin typeface="Cambria Math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 dirty="0">
                                <a:latin typeface="Cambria Math"/>
                              </a:rPr>
                              <m:t>×⋯×</m:t>
                            </m:r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/>
                                  </a:rPr>
                                  <m:t>𝑚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6"/>
                <a:stretch>
                  <a:fillRect l="-1342" t="-1968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7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2997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List all rows in the User table </a:t>
            </a:r>
          </a:p>
          <a:p>
            <a:endParaRPr lang="en-US" dirty="0"/>
          </a:p>
          <a:p>
            <a:pPr marL="685800" lvl="2">
              <a:spcBef>
                <a:spcPts val="1000"/>
              </a:spcBef>
            </a:pPr>
            <a:r>
              <a:rPr lang="en-US" dirty="0">
                <a:solidFill>
                  <a:schemeClr val="accent2"/>
                </a:solidFill>
                <a:latin typeface="Prestige12 BT" panose="02070509030506020304" pitchFamily="49" charset="0"/>
              </a:rPr>
              <a:t>*</a:t>
            </a:r>
            <a:r>
              <a:rPr lang="en-US" dirty="0"/>
              <a:t> is a short hand for “all columns”</a:t>
            </a:r>
          </a:p>
          <a:p>
            <a:r>
              <a:rPr lang="en-US" dirty="0"/>
              <a:t>List name of users under 18 (selection, projection)</a:t>
            </a:r>
          </a:p>
          <a:p>
            <a:endParaRPr lang="en-US" dirty="0"/>
          </a:p>
          <a:p>
            <a:r>
              <a:rPr lang="en-US" dirty="0"/>
              <a:t>When was Lisa born?</a:t>
            </a:r>
          </a:p>
          <a:p>
            <a:endParaRPr lang="en-US" dirty="0"/>
          </a:p>
          <a:p>
            <a:pPr lvl="1"/>
            <a:r>
              <a:rPr lang="en-US" dirty="0">
                <a:latin typeface="Prestige12 BT" panose="02070509030506020304" pitchFamily="49" charset="0"/>
              </a:rPr>
              <a:t>SELECT</a:t>
            </a:r>
            <a:r>
              <a:rPr lang="en-US" dirty="0"/>
              <a:t> list can contain expressions</a:t>
            </a:r>
          </a:p>
          <a:p>
            <a:pPr lvl="2"/>
            <a:r>
              <a:rPr lang="en-US" dirty="0"/>
              <a:t>Can also use built-in functions such as </a:t>
            </a:r>
            <a:r>
              <a:rPr lang="en-US" dirty="0">
                <a:latin typeface="Prestige12 BT" panose="02070509030506020304" pitchFamily="49" charset="0"/>
              </a:rPr>
              <a:t>SUBSTR</a:t>
            </a:r>
            <a:r>
              <a:rPr lang="en-US" dirty="0"/>
              <a:t>, </a:t>
            </a:r>
            <a:r>
              <a:rPr lang="en-US" dirty="0">
                <a:latin typeface="Prestige12 BT" panose="02070509030506020304" pitchFamily="49" charset="0"/>
              </a:rPr>
              <a:t>ABS</a:t>
            </a:r>
            <a:r>
              <a:rPr lang="en-US" dirty="0"/>
              <a:t>, etc.</a:t>
            </a:r>
          </a:p>
          <a:p>
            <a:pPr lvl="1"/>
            <a:r>
              <a:rPr lang="en-US" dirty="0"/>
              <a:t>String literals (case sensitive) are enclosed in </a:t>
            </a:r>
            <a:r>
              <a:rPr lang="en-US" dirty="0">
                <a:solidFill>
                  <a:schemeClr val="accent2"/>
                </a:solidFill>
              </a:rPr>
              <a:t>single quotes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F3ED84-F6F7-4464-AB87-4B673FC8FB09}"/>
              </a:ext>
            </a:extLst>
          </p:cNvPr>
          <p:cNvSpPr txBox="1"/>
          <p:nvPr/>
        </p:nvSpPr>
        <p:spPr>
          <a:xfrm>
            <a:off x="5081248" y="321354"/>
            <a:ext cx="3992652" cy="861774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r>
              <a:rPr lang="en-US" sz="1600" i="1" dirty="0"/>
              <a:t>User</a:t>
            </a:r>
            <a:r>
              <a:rPr lang="en-US" sz="1600" dirty="0"/>
              <a:t> (</a:t>
            </a:r>
            <a:r>
              <a:rPr lang="en-US" sz="1600" i="1" u="sng" dirty="0" err="1"/>
              <a:t>uid</a:t>
            </a:r>
            <a:r>
              <a:rPr lang="en-US" sz="1600" u="sng" dirty="0"/>
              <a:t> </a:t>
            </a:r>
            <a:r>
              <a:rPr lang="en-US" sz="1600" dirty="0"/>
              <a:t>int, </a:t>
            </a:r>
            <a:r>
              <a:rPr lang="en-US" sz="1600" i="1" dirty="0"/>
              <a:t>name</a:t>
            </a:r>
            <a:r>
              <a:rPr lang="en-US" sz="1600" dirty="0"/>
              <a:t> string, </a:t>
            </a:r>
            <a:r>
              <a:rPr lang="en-US" sz="1600" i="1" dirty="0"/>
              <a:t>age</a:t>
            </a:r>
            <a:r>
              <a:rPr lang="en-US" sz="1600" dirty="0"/>
              <a:t> int, </a:t>
            </a:r>
            <a:r>
              <a:rPr lang="en-US" sz="1600" i="1" dirty="0"/>
              <a:t>pop</a:t>
            </a:r>
            <a:r>
              <a:rPr lang="en-US" sz="1600" dirty="0"/>
              <a:t> float)</a:t>
            </a:r>
          </a:p>
          <a:p>
            <a:r>
              <a:rPr lang="en-US" sz="1600" i="1" dirty="0"/>
              <a:t>Group</a:t>
            </a:r>
            <a:r>
              <a:rPr lang="en-US" sz="1600" dirty="0"/>
              <a:t> (</a:t>
            </a:r>
            <a:r>
              <a:rPr lang="en-US" sz="1600" i="1" u="sng" dirty="0"/>
              <a:t>gid</a:t>
            </a:r>
            <a:r>
              <a:rPr lang="en-US" sz="1600" dirty="0"/>
              <a:t> string, </a:t>
            </a:r>
            <a:r>
              <a:rPr lang="en-US" sz="1600" i="1" dirty="0"/>
              <a:t>name</a:t>
            </a:r>
            <a:r>
              <a:rPr lang="en-US" sz="1600" dirty="0"/>
              <a:t> string)</a:t>
            </a:r>
          </a:p>
          <a:p>
            <a:r>
              <a:rPr lang="en-US" sz="1600" i="1" dirty="0"/>
              <a:t>Member</a:t>
            </a:r>
            <a:r>
              <a:rPr lang="en-US" sz="1600" dirty="0"/>
              <a:t> (</a:t>
            </a:r>
            <a:r>
              <a:rPr lang="en-US" sz="1600" i="1" u="sng" dirty="0" err="1"/>
              <a:t>uid</a:t>
            </a:r>
            <a:r>
              <a:rPr lang="en-US" sz="1600" dirty="0"/>
              <a:t> int, </a:t>
            </a:r>
            <a:r>
              <a:rPr lang="en-US" sz="1600" i="1" u="sng" dirty="0"/>
              <a:t>gid</a:t>
            </a:r>
            <a:r>
              <a:rPr lang="en-US" sz="1600" dirty="0"/>
              <a:t> string)</a:t>
            </a:r>
          </a:p>
        </p:txBody>
      </p:sp>
      <p:sp>
        <p:nvSpPr>
          <p:cNvPr id="7" name="Rectangle 6"/>
          <p:cNvSpPr/>
          <p:nvPr/>
        </p:nvSpPr>
        <p:spPr>
          <a:xfrm>
            <a:off x="654730" y="1864890"/>
            <a:ext cx="7737957" cy="51373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SELECT </a:t>
            </a:r>
            <a:r>
              <a:rPr lang="en-US" dirty="0">
                <a:solidFill>
                  <a:schemeClr val="accent2"/>
                </a:solidFill>
              </a:rPr>
              <a:t>* </a:t>
            </a:r>
            <a:r>
              <a:rPr lang="en-US" dirty="0"/>
              <a:t>FROM User;</a:t>
            </a:r>
          </a:p>
        </p:txBody>
      </p:sp>
      <p:sp>
        <p:nvSpPr>
          <p:cNvPr id="9" name="Rectangle 8"/>
          <p:cNvSpPr/>
          <p:nvPr/>
        </p:nvSpPr>
        <p:spPr>
          <a:xfrm>
            <a:off x="654730" y="3310823"/>
            <a:ext cx="7737957" cy="51373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SELECT </a:t>
            </a:r>
            <a:r>
              <a:rPr lang="en-US" dirty="0">
                <a:solidFill>
                  <a:schemeClr val="accent2"/>
                </a:solidFill>
              </a:rPr>
              <a:t>name </a:t>
            </a:r>
            <a:r>
              <a:rPr lang="en-US" dirty="0"/>
              <a:t>FROM User </a:t>
            </a:r>
            <a:r>
              <a:rPr lang="en-US" dirty="0">
                <a:solidFill>
                  <a:schemeClr val="accent2"/>
                </a:solidFill>
              </a:rPr>
              <a:t>where age &lt;18</a:t>
            </a:r>
            <a:r>
              <a:rPr lang="en-US" dirty="0"/>
              <a:t>;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4729" y="4310321"/>
            <a:ext cx="7737957" cy="51373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SELECT </a:t>
            </a:r>
            <a:r>
              <a:rPr lang="en-US" dirty="0">
                <a:solidFill>
                  <a:schemeClr val="accent2"/>
                </a:solidFill>
              </a:rPr>
              <a:t>2021-age </a:t>
            </a:r>
            <a:r>
              <a:rPr lang="en-US" dirty="0"/>
              <a:t>FROM User </a:t>
            </a:r>
            <a:r>
              <a:rPr lang="en-US" dirty="0">
                <a:solidFill>
                  <a:schemeClr val="accent2"/>
                </a:solidFill>
              </a:rPr>
              <a:t>where name = ‘Lisa’</a:t>
            </a:r>
            <a:r>
              <a:rPr lang="en-US" dirty="0"/>
              <a:t>;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81328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join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 </a:t>
            </a:r>
            <a:r>
              <a:rPr lang="en-US" dirty="0">
                <a:solidFill>
                  <a:schemeClr val="accent2"/>
                </a:solidFill>
              </a:rPr>
              <a:t>ID’s and names of groups with a user whose name</a:t>
            </a:r>
            <a:r>
              <a:rPr lang="en-US" dirty="0"/>
              <a:t> contains “Simpson”</a:t>
            </a:r>
          </a:p>
          <a:p>
            <a:pPr lvl="1"/>
            <a:endParaRPr lang="en-US" dirty="0">
              <a:solidFill>
                <a:schemeClr val="accent2"/>
              </a:solidFill>
              <a:latin typeface="Prestige12 BT" panose="02070509030506020304" pitchFamily="49" charset="0"/>
            </a:endParaRPr>
          </a:p>
          <a:p>
            <a:pPr lvl="1"/>
            <a:endParaRPr lang="en-US" dirty="0">
              <a:solidFill>
                <a:schemeClr val="accent2"/>
              </a:solidFill>
              <a:latin typeface="Prestige12 BT" panose="02070509030506020304" pitchFamily="49" charset="0"/>
            </a:endParaRPr>
          </a:p>
          <a:p>
            <a:pPr lvl="1"/>
            <a:endParaRPr lang="en-US" dirty="0">
              <a:solidFill>
                <a:schemeClr val="accent2"/>
              </a:solidFill>
              <a:latin typeface="Prestige12 BT" panose="02070509030506020304" pitchFamily="49" charset="0"/>
            </a:endParaRPr>
          </a:p>
          <a:p>
            <a:pPr lvl="1"/>
            <a:endParaRPr lang="en-US" dirty="0">
              <a:solidFill>
                <a:schemeClr val="accent2"/>
              </a:solidFill>
              <a:latin typeface="Prestige12 BT" panose="02070509030506020304" pitchFamily="49" charset="0"/>
            </a:endParaRP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9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77393" y="2383869"/>
            <a:ext cx="7737957" cy="182285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/>
              <a:t>SELECT </a:t>
            </a:r>
            <a:r>
              <a:rPr lang="en-US" sz="2000" dirty="0" err="1">
                <a:solidFill>
                  <a:schemeClr val="bg1"/>
                </a:solidFill>
              </a:rPr>
              <a:t>Group.gid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Group.name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</a:p>
          <a:p>
            <a:r>
              <a:rPr lang="en-US" sz="2000" dirty="0">
                <a:solidFill>
                  <a:schemeClr val="accent2"/>
                </a:solidFill>
              </a:rPr>
              <a:t>	</a:t>
            </a:r>
            <a:r>
              <a:rPr lang="en-US" sz="2000" dirty="0">
                <a:solidFill>
                  <a:schemeClr val="bg1"/>
                </a:solidFill>
              </a:rPr>
              <a:t>FROM </a:t>
            </a:r>
            <a:r>
              <a:rPr lang="en-US" sz="2000" dirty="0">
                <a:solidFill>
                  <a:schemeClr val="accent2"/>
                </a:solidFill>
              </a:rPr>
              <a:t>User, Member, Group</a:t>
            </a:r>
          </a:p>
          <a:p>
            <a:r>
              <a:rPr lang="en-US" sz="2000" dirty="0">
                <a:solidFill>
                  <a:schemeClr val="accent2"/>
                </a:solidFill>
              </a:rPr>
              <a:t>	</a:t>
            </a:r>
            <a:r>
              <a:rPr lang="en-US" sz="2000" dirty="0">
                <a:solidFill>
                  <a:schemeClr val="bg1"/>
                </a:solidFill>
              </a:rPr>
              <a:t>WHERE</a:t>
            </a:r>
            <a:r>
              <a:rPr lang="en-US" sz="2000" dirty="0">
                <a:solidFill>
                  <a:schemeClr val="accent2"/>
                </a:solidFill>
              </a:rPr>
              <a:t> </a:t>
            </a:r>
            <a:r>
              <a:rPr lang="en-US" sz="2000" dirty="0" err="1">
                <a:solidFill>
                  <a:schemeClr val="accent2"/>
                </a:solidFill>
              </a:rPr>
              <a:t>User.uid</a:t>
            </a:r>
            <a:r>
              <a:rPr lang="en-US" sz="2000" dirty="0">
                <a:solidFill>
                  <a:schemeClr val="accent2"/>
                </a:solidFill>
              </a:rPr>
              <a:t> = </a:t>
            </a:r>
            <a:r>
              <a:rPr lang="en-US" sz="2000" dirty="0" err="1">
                <a:solidFill>
                  <a:schemeClr val="accent2"/>
                </a:solidFill>
              </a:rPr>
              <a:t>Member.uid</a:t>
            </a:r>
            <a:endParaRPr lang="en-US" sz="2000" dirty="0">
              <a:solidFill>
                <a:schemeClr val="accent2"/>
              </a:solidFill>
            </a:endParaRPr>
          </a:p>
          <a:p>
            <a:r>
              <a:rPr lang="en-US" sz="2000" dirty="0">
                <a:solidFill>
                  <a:schemeClr val="accent2"/>
                </a:solidFill>
              </a:rPr>
              <a:t>		</a:t>
            </a:r>
            <a:r>
              <a:rPr lang="en-US" sz="2000" dirty="0">
                <a:solidFill>
                  <a:schemeClr val="bg1"/>
                </a:solidFill>
              </a:rPr>
              <a:t>AND</a:t>
            </a:r>
            <a:r>
              <a:rPr lang="en-US" sz="2000" dirty="0">
                <a:solidFill>
                  <a:schemeClr val="accent2"/>
                </a:solidFill>
              </a:rPr>
              <a:t> </a:t>
            </a:r>
            <a:r>
              <a:rPr lang="en-US" sz="2000" dirty="0" err="1">
                <a:solidFill>
                  <a:schemeClr val="accent2"/>
                </a:solidFill>
              </a:rPr>
              <a:t>Member.gid</a:t>
            </a:r>
            <a:r>
              <a:rPr lang="en-US" sz="2000" dirty="0">
                <a:solidFill>
                  <a:schemeClr val="accent2"/>
                </a:solidFill>
              </a:rPr>
              <a:t> = </a:t>
            </a:r>
            <a:r>
              <a:rPr lang="en-US" sz="2000" dirty="0" err="1">
                <a:solidFill>
                  <a:schemeClr val="accent2"/>
                </a:solidFill>
              </a:rPr>
              <a:t>Group.gid</a:t>
            </a:r>
            <a:endParaRPr lang="en-US" sz="2000" dirty="0">
              <a:solidFill>
                <a:schemeClr val="accent2"/>
              </a:solidFill>
            </a:endParaRPr>
          </a:p>
          <a:p>
            <a:r>
              <a:rPr lang="en-US" sz="2000" dirty="0">
                <a:solidFill>
                  <a:schemeClr val="accent2"/>
                </a:solidFill>
              </a:rPr>
              <a:t>		</a:t>
            </a:r>
            <a:r>
              <a:rPr lang="en-US" sz="2000" dirty="0">
                <a:solidFill>
                  <a:schemeClr val="bg1"/>
                </a:solidFill>
              </a:rPr>
              <a:t>AND</a:t>
            </a:r>
            <a:r>
              <a:rPr lang="en-US" sz="2000" dirty="0">
                <a:solidFill>
                  <a:schemeClr val="accent2"/>
                </a:solidFill>
              </a:rPr>
              <a:t> </a:t>
            </a:r>
            <a:r>
              <a:rPr lang="en-US" sz="2000" dirty="0">
                <a:solidFill>
                  <a:schemeClr val="bg1"/>
                </a:solidFill>
              </a:rPr>
              <a:t>….</a:t>
            </a:r>
            <a:r>
              <a:rPr lang="en-US" sz="2000" dirty="0">
                <a:solidFill>
                  <a:schemeClr val="accent2"/>
                </a:solidFill>
              </a:rPr>
              <a:t>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F3ED84-F6F7-4464-AB87-4B673FC8FB09}"/>
              </a:ext>
            </a:extLst>
          </p:cNvPr>
          <p:cNvSpPr txBox="1"/>
          <p:nvPr/>
        </p:nvSpPr>
        <p:spPr>
          <a:xfrm>
            <a:off x="5081248" y="321354"/>
            <a:ext cx="3992652" cy="861774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r>
              <a:rPr lang="en-US" sz="1600" i="1" dirty="0"/>
              <a:t>User</a:t>
            </a:r>
            <a:r>
              <a:rPr lang="en-US" sz="1600" dirty="0"/>
              <a:t> (</a:t>
            </a:r>
            <a:r>
              <a:rPr lang="en-US" sz="1600" i="1" u="sng" dirty="0" err="1"/>
              <a:t>uid</a:t>
            </a:r>
            <a:r>
              <a:rPr lang="en-US" sz="1600" u="sng" dirty="0"/>
              <a:t> </a:t>
            </a:r>
            <a:r>
              <a:rPr lang="en-US" sz="1600" dirty="0"/>
              <a:t>int, </a:t>
            </a:r>
            <a:r>
              <a:rPr lang="en-US" sz="1600" i="1" dirty="0"/>
              <a:t>name</a:t>
            </a:r>
            <a:r>
              <a:rPr lang="en-US" sz="1600" dirty="0"/>
              <a:t> string, </a:t>
            </a:r>
            <a:r>
              <a:rPr lang="en-US" sz="1600" i="1" dirty="0"/>
              <a:t>age</a:t>
            </a:r>
            <a:r>
              <a:rPr lang="en-US" sz="1600" dirty="0"/>
              <a:t> int, </a:t>
            </a:r>
            <a:r>
              <a:rPr lang="en-US" sz="1600" i="1" dirty="0"/>
              <a:t>pop</a:t>
            </a:r>
            <a:r>
              <a:rPr lang="en-US" sz="1600" dirty="0"/>
              <a:t> float)</a:t>
            </a:r>
          </a:p>
          <a:p>
            <a:r>
              <a:rPr lang="en-US" sz="1600" i="1" dirty="0"/>
              <a:t>Group</a:t>
            </a:r>
            <a:r>
              <a:rPr lang="en-US" sz="1600" dirty="0"/>
              <a:t> (</a:t>
            </a:r>
            <a:r>
              <a:rPr lang="en-US" sz="1600" i="1" u="sng" dirty="0"/>
              <a:t>gid</a:t>
            </a:r>
            <a:r>
              <a:rPr lang="en-US" sz="1600" dirty="0"/>
              <a:t> string, </a:t>
            </a:r>
            <a:r>
              <a:rPr lang="en-US" sz="1600" i="1" dirty="0"/>
              <a:t>name</a:t>
            </a:r>
            <a:r>
              <a:rPr lang="en-US" sz="1600" dirty="0"/>
              <a:t> string)</a:t>
            </a:r>
          </a:p>
          <a:p>
            <a:r>
              <a:rPr lang="en-US" sz="1600" i="1" dirty="0"/>
              <a:t>Member</a:t>
            </a:r>
            <a:r>
              <a:rPr lang="en-US" sz="1600" dirty="0"/>
              <a:t> (</a:t>
            </a:r>
            <a:r>
              <a:rPr lang="en-US" sz="1600" i="1" u="sng" dirty="0" err="1"/>
              <a:t>uid</a:t>
            </a:r>
            <a:r>
              <a:rPr lang="en-US" sz="1600" dirty="0"/>
              <a:t> int, </a:t>
            </a:r>
            <a:r>
              <a:rPr lang="en-US" sz="1600" i="1" u="sng" dirty="0"/>
              <a:t>gid</a:t>
            </a:r>
            <a:r>
              <a:rPr lang="en-US" sz="1600" dirty="0"/>
              <a:t> string)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64510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join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List ID’s and names of groups with a user whose name </a:t>
                </a:r>
                <a:r>
                  <a:rPr lang="en-US" dirty="0">
                    <a:solidFill>
                      <a:schemeClr val="accent2"/>
                    </a:solidFill>
                  </a:rPr>
                  <a:t>contains “Simpson</a:t>
                </a:r>
                <a:r>
                  <a:rPr lang="en-US" dirty="0"/>
                  <a:t>”</a:t>
                </a:r>
              </a:p>
              <a:p>
                <a:pPr lvl="1"/>
                <a:endParaRPr lang="en-US" dirty="0">
                  <a:solidFill>
                    <a:schemeClr val="accent2"/>
                  </a:solidFill>
                  <a:latin typeface="Prestige12 BT" panose="02070509030506020304" pitchFamily="49" charset="0"/>
                </a:endParaRPr>
              </a:p>
              <a:p>
                <a:pPr lvl="1"/>
                <a:endParaRPr lang="en-US" dirty="0">
                  <a:solidFill>
                    <a:schemeClr val="accent2"/>
                  </a:solidFill>
                  <a:latin typeface="Prestige12 BT" panose="02070509030506020304" pitchFamily="49" charset="0"/>
                </a:endParaRPr>
              </a:p>
              <a:p>
                <a:pPr lvl="1"/>
                <a:endParaRPr lang="en-US" dirty="0">
                  <a:solidFill>
                    <a:schemeClr val="accent2"/>
                  </a:solidFill>
                  <a:latin typeface="Prestige12 BT" panose="02070509030506020304" pitchFamily="49" charset="0"/>
                </a:endParaRPr>
              </a:p>
              <a:p>
                <a:pPr lvl="1"/>
                <a:endParaRPr lang="en-US" dirty="0">
                  <a:solidFill>
                    <a:schemeClr val="accent2"/>
                  </a:solidFill>
                  <a:latin typeface="Prestige12 BT" panose="02070509030506020304" pitchFamily="49" charset="0"/>
                </a:endParaRPr>
              </a:p>
              <a:p>
                <a:pPr lvl="1"/>
                <a:endParaRPr lang="en-US" dirty="0">
                  <a:solidFill>
                    <a:schemeClr val="accent2"/>
                  </a:solidFill>
                  <a:latin typeface="Prestige12 BT" panose="02070509030506020304" pitchFamily="49" charset="0"/>
                </a:endParaRPr>
              </a:p>
              <a:p>
                <a:pPr lvl="1"/>
                <a:r>
                  <a:rPr lang="en-US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  <a:t>LIKE</a:t>
                </a:r>
                <a:r>
                  <a:rPr lang="en-US" dirty="0"/>
                  <a:t> matches a string against a pattern</a:t>
                </a:r>
              </a:p>
              <a:p>
                <a:pPr lvl="2"/>
                <a:r>
                  <a:rPr lang="en-US" dirty="0"/>
                  <a:t> </a:t>
                </a:r>
                <a:r>
                  <a:rPr lang="en-US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  <a:t>%</a:t>
                </a:r>
                <a:r>
                  <a:rPr lang="en-US" dirty="0"/>
                  <a:t> matches any sequence of zero or more characters</a:t>
                </a:r>
              </a:p>
              <a:p>
                <a:pPr lvl="1"/>
                <a:r>
                  <a:rPr lang="en-US" dirty="0"/>
                  <a:t>Okay to omit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1" dirty="0">
                        <a:latin typeface="Cambria Math"/>
                      </a:rPr>
                      <m:t>table</m:t>
                    </m:r>
                    <m:r>
                      <m:rPr>
                        <m:nor/>
                      </m:rPr>
                      <a:rPr lang="en-US" i="1" dirty="0">
                        <a:latin typeface="Cambria Math"/>
                      </a:rPr>
                      <m:t>_</m:t>
                    </m:r>
                    <m:r>
                      <m:rPr>
                        <m:nor/>
                      </m:rPr>
                      <a:rPr lang="en-US" i="1" dirty="0">
                        <a:latin typeface="Cambria Math"/>
                      </a:rPr>
                      <m:t>name</m:t>
                    </m:r>
                  </m:oMath>
                </a14:m>
                <a:r>
                  <a:rPr lang="en-US" dirty="0"/>
                  <a:t> in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1" dirty="0">
                        <a:latin typeface="Cambria Math"/>
                      </a:rPr>
                      <m:t>table</m:t>
                    </m:r>
                    <m:r>
                      <m:rPr>
                        <m:nor/>
                      </m:rPr>
                      <a:rPr lang="en-US" i="1" dirty="0">
                        <a:latin typeface="Cambria Math"/>
                      </a:rPr>
                      <m:t>_</m:t>
                    </m:r>
                    <m:r>
                      <m:rPr>
                        <m:nor/>
                      </m:rPr>
                      <a:rPr lang="en-US" i="1" dirty="0">
                        <a:latin typeface="Cambria Math"/>
                      </a:rPr>
                      <m:t>name</m:t>
                    </m:r>
                  </m:oMath>
                </a14:m>
                <a:r>
                  <a:rPr lang="en-US" dirty="0" err="1">
                    <a:latin typeface="LettrGoth12 BT" pitchFamily="49" charset="0"/>
                  </a:rPr>
                  <a:t>.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1" dirty="0" smtClean="0">
                        <a:latin typeface="Cambria Math"/>
                      </a:rPr>
                      <m:t>column</m:t>
                    </m:r>
                    <m:r>
                      <m:rPr>
                        <m:nor/>
                      </m:rPr>
                      <a:rPr lang="en-US" i="1" dirty="0">
                        <a:latin typeface="Cambria Math"/>
                      </a:rPr>
                      <m:t>_</m:t>
                    </m:r>
                    <m:r>
                      <m:rPr>
                        <m:nor/>
                      </m:rPr>
                      <a:rPr lang="en-US" i="1" dirty="0">
                        <a:latin typeface="Cambria Math"/>
                      </a:rPr>
                      <m:t>name</m:t>
                    </m:r>
                  </m:oMath>
                </a14:m>
                <a:r>
                  <a:rPr lang="en-US" dirty="0"/>
                  <a:t> if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1" dirty="0" smtClean="0">
                        <a:latin typeface="Cambria Math"/>
                      </a:rPr>
                      <m:t>column</m:t>
                    </m:r>
                    <m:r>
                      <m:rPr>
                        <m:nor/>
                      </m:rPr>
                      <a:rPr lang="en-US" i="1" dirty="0">
                        <a:latin typeface="Cambria Math"/>
                      </a:rPr>
                      <m:t>_</m:t>
                    </m:r>
                    <m:r>
                      <m:rPr>
                        <m:nor/>
                      </m:rPr>
                      <a:rPr lang="en-US" i="1" dirty="0">
                        <a:latin typeface="Cambria Math"/>
                      </a:rPr>
                      <m:t>name</m:t>
                    </m:r>
                  </m:oMath>
                </a14:m>
                <a:r>
                  <a:rPr lang="en-US" dirty="0"/>
                  <a:t> is unique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6"/>
                <a:stretch>
                  <a:fillRect l="-1342" t="-1968" r="-522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10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77393" y="2383869"/>
            <a:ext cx="7737957" cy="182285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/>
              <a:t>SELECT </a:t>
            </a:r>
            <a:r>
              <a:rPr lang="en-US" sz="2000" dirty="0" err="1">
                <a:solidFill>
                  <a:schemeClr val="bg1"/>
                </a:solidFill>
              </a:rPr>
              <a:t>Group.gid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Group.name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</a:p>
          <a:p>
            <a:r>
              <a:rPr lang="en-US" sz="2000" dirty="0">
                <a:solidFill>
                  <a:schemeClr val="accent2"/>
                </a:solidFill>
              </a:rPr>
              <a:t>	</a:t>
            </a:r>
            <a:r>
              <a:rPr lang="en-US" sz="2000" dirty="0">
                <a:solidFill>
                  <a:schemeClr val="bg1"/>
                </a:solidFill>
              </a:rPr>
              <a:t>FROM User, Member, Group</a:t>
            </a:r>
          </a:p>
          <a:p>
            <a:r>
              <a:rPr lang="en-US" sz="2000" dirty="0">
                <a:solidFill>
                  <a:schemeClr val="bg1"/>
                </a:solidFill>
              </a:rPr>
              <a:t>	WHERE </a:t>
            </a:r>
            <a:r>
              <a:rPr lang="en-US" sz="2000" dirty="0" err="1">
                <a:solidFill>
                  <a:schemeClr val="bg1"/>
                </a:solidFill>
              </a:rPr>
              <a:t>User.uid</a:t>
            </a:r>
            <a:r>
              <a:rPr lang="en-US" sz="2000" dirty="0">
                <a:solidFill>
                  <a:schemeClr val="bg1"/>
                </a:solidFill>
              </a:rPr>
              <a:t> = </a:t>
            </a:r>
            <a:r>
              <a:rPr lang="en-US" sz="2000" dirty="0" err="1">
                <a:solidFill>
                  <a:schemeClr val="bg1"/>
                </a:solidFill>
              </a:rPr>
              <a:t>Member.uid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		AND </a:t>
            </a:r>
            <a:r>
              <a:rPr lang="en-US" sz="2000" dirty="0" err="1">
                <a:solidFill>
                  <a:schemeClr val="bg1"/>
                </a:solidFill>
              </a:rPr>
              <a:t>Member.gid</a:t>
            </a:r>
            <a:r>
              <a:rPr lang="en-US" sz="2000" dirty="0">
                <a:solidFill>
                  <a:schemeClr val="bg1"/>
                </a:solidFill>
              </a:rPr>
              <a:t> = </a:t>
            </a:r>
            <a:r>
              <a:rPr lang="en-US" sz="2000" dirty="0" err="1">
                <a:solidFill>
                  <a:schemeClr val="bg1"/>
                </a:solidFill>
              </a:rPr>
              <a:t>Group.gid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accent2"/>
                </a:solidFill>
              </a:rPr>
              <a:t>		</a:t>
            </a:r>
            <a:r>
              <a:rPr lang="en-US" sz="2000" dirty="0">
                <a:solidFill>
                  <a:schemeClr val="bg1"/>
                </a:solidFill>
              </a:rPr>
              <a:t>AND</a:t>
            </a:r>
            <a:r>
              <a:rPr lang="en-US" sz="2000" dirty="0">
                <a:solidFill>
                  <a:schemeClr val="accent2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User.name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>
                <a:solidFill>
                  <a:schemeClr val="accent2"/>
                </a:solidFill>
              </a:rPr>
              <a:t>LIKE ‘%Simpson%’;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F3ED84-F6F7-4464-AB87-4B673FC8FB09}"/>
              </a:ext>
            </a:extLst>
          </p:cNvPr>
          <p:cNvSpPr txBox="1"/>
          <p:nvPr/>
        </p:nvSpPr>
        <p:spPr>
          <a:xfrm>
            <a:off x="5081248" y="321354"/>
            <a:ext cx="3992652" cy="861774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r>
              <a:rPr lang="en-US" sz="1600" i="1" dirty="0"/>
              <a:t>User</a:t>
            </a:r>
            <a:r>
              <a:rPr lang="en-US" sz="1600" dirty="0"/>
              <a:t> (</a:t>
            </a:r>
            <a:r>
              <a:rPr lang="en-US" sz="1600" i="1" u="sng" dirty="0" err="1"/>
              <a:t>uid</a:t>
            </a:r>
            <a:r>
              <a:rPr lang="en-US" sz="1600" u="sng" dirty="0"/>
              <a:t> </a:t>
            </a:r>
            <a:r>
              <a:rPr lang="en-US" sz="1600" dirty="0"/>
              <a:t>int, </a:t>
            </a:r>
            <a:r>
              <a:rPr lang="en-US" sz="1600" i="1" dirty="0"/>
              <a:t>name</a:t>
            </a:r>
            <a:r>
              <a:rPr lang="en-US" sz="1600" dirty="0"/>
              <a:t> string, </a:t>
            </a:r>
            <a:r>
              <a:rPr lang="en-US" sz="1600" i="1" dirty="0"/>
              <a:t>age</a:t>
            </a:r>
            <a:r>
              <a:rPr lang="en-US" sz="1600" dirty="0"/>
              <a:t> int, </a:t>
            </a:r>
            <a:r>
              <a:rPr lang="en-US" sz="1600" i="1" dirty="0"/>
              <a:t>pop</a:t>
            </a:r>
            <a:r>
              <a:rPr lang="en-US" sz="1600" dirty="0"/>
              <a:t> float)</a:t>
            </a:r>
          </a:p>
          <a:p>
            <a:r>
              <a:rPr lang="en-US" sz="1600" i="1" dirty="0"/>
              <a:t>Group</a:t>
            </a:r>
            <a:r>
              <a:rPr lang="en-US" sz="1600" dirty="0"/>
              <a:t> (</a:t>
            </a:r>
            <a:r>
              <a:rPr lang="en-US" sz="1600" i="1" u="sng" dirty="0"/>
              <a:t>gid</a:t>
            </a:r>
            <a:r>
              <a:rPr lang="en-US" sz="1600" dirty="0"/>
              <a:t> string, </a:t>
            </a:r>
            <a:r>
              <a:rPr lang="en-US" sz="1600" i="1" dirty="0"/>
              <a:t>name</a:t>
            </a:r>
            <a:r>
              <a:rPr lang="en-US" sz="1600" dirty="0"/>
              <a:t> string)</a:t>
            </a:r>
          </a:p>
          <a:p>
            <a:r>
              <a:rPr lang="en-US" sz="1600" i="1" dirty="0"/>
              <a:t>Member</a:t>
            </a:r>
            <a:r>
              <a:rPr lang="en-US" sz="1600" dirty="0"/>
              <a:t> (</a:t>
            </a:r>
            <a:r>
              <a:rPr lang="en-US" sz="1600" i="1" u="sng" dirty="0" err="1"/>
              <a:t>uid</a:t>
            </a:r>
            <a:r>
              <a:rPr lang="en-US" sz="1600" dirty="0"/>
              <a:t> int, </a:t>
            </a:r>
            <a:r>
              <a:rPr lang="en-US" sz="1600" i="1" u="sng" dirty="0"/>
              <a:t>gid</a:t>
            </a:r>
            <a:r>
              <a:rPr lang="en-US" sz="1600" dirty="0"/>
              <a:t> string)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3609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rename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ID’s of all pairs of users that belong to one group</a:t>
                </a:r>
              </a:p>
              <a:p>
                <a:pPr lvl="1"/>
                <a:r>
                  <a:rPr lang="en-US" dirty="0"/>
                  <a:t>Relational algebra query: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𝜋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/>
                          </a:rPr>
                          <m:t>.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𝑢𝑖𝑑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/>
                          </a:rPr>
                          <m:t>.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𝑢𝑖𝑑</m:t>
                        </m:r>
                      </m:sub>
                    </m:sSub>
                  </m:oMath>
                </a14:m>
                <a:br>
                  <a:rPr lang="en-US" i="1" dirty="0">
                    <a:solidFill>
                      <a:schemeClr val="tx1"/>
                    </a:solidFill>
                    <a:latin typeface="Cambria Math"/>
                  </a:rPr>
                </a:b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𝜌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𝑀𝑒𝑚𝑏𝑒𝑟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⋈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.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𝑔𝑖𝑑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.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𝑔𝑖𝑑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 ∧ 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.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𝑢𝑖𝑑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&gt;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.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𝑢𝑖𝑑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𝜌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𝑀𝑒𝑚𝑏𝑒𝑟</m:t>
                        </m:r>
                      </m:e>
                    </m:d>
                  </m:oMath>
                </a14:m>
                <a:endParaRPr lang="en-US" dirty="0">
                  <a:solidFill>
                    <a:schemeClr val="accent2"/>
                  </a:solidFill>
                </a:endParaRPr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SQL (not exactly):</a:t>
                </a:r>
                <a:br>
                  <a:rPr lang="en-US" dirty="0"/>
                </a:br>
                <a:r>
                  <a:rPr lang="en-US" dirty="0">
                    <a:latin typeface="Prestige12 BT" panose="02070509030506020304" pitchFamily="49" charset="0"/>
                  </a:rPr>
                  <a:t>SELECT m1.uid </a:t>
                </a:r>
                <a:r>
                  <a:rPr lang="en-US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  <a:t>AS</a:t>
                </a:r>
                <a:r>
                  <a:rPr lang="en-US" dirty="0">
                    <a:latin typeface="Prestige12 BT" panose="02070509030506020304" pitchFamily="49" charset="0"/>
                  </a:rPr>
                  <a:t> </a:t>
                </a:r>
                <a:r>
                  <a:rPr lang="en-US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  <a:t>uid1</a:t>
                </a:r>
                <a:r>
                  <a:rPr lang="en-US" dirty="0">
                    <a:latin typeface="Prestige12 BT" panose="02070509030506020304" pitchFamily="49" charset="0"/>
                  </a:rPr>
                  <a:t>, m2.uid </a:t>
                </a:r>
                <a:r>
                  <a:rPr lang="en-US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  <a:t>AS</a:t>
                </a:r>
                <a:r>
                  <a:rPr lang="en-US" dirty="0">
                    <a:latin typeface="Prestige12 BT" panose="02070509030506020304" pitchFamily="49" charset="0"/>
                  </a:rPr>
                  <a:t> </a:t>
                </a:r>
                <a:r>
                  <a:rPr lang="en-US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  <a:t>uid2</a:t>
                </a:r>
                <a:br>
                  <a:rPr lang="en-US" dirty="0">
                    <a:latin typeface="Prestige12 BT" panose="02070509030506020304" pitchFamily="49" charset="0"/>
                  </a:rPr>
                </a:br>
                <a:r>
                  <a:rPr lang="en-US" dirty="0">
                    <a:latin typeface="Prestige12 BT" panose="02070509030506020304" pitchFamily="49" charset="0"/>
                  </a:rPr>
                  <a:t>		FROM Member </a:t>
                </a:r>
                <a:r>
                  <a:rPr lang="en-US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  <a:t>AS</a:t>
                </a:r>
                <a:r>
                  <a:rPr lang="en-US" dirty="0">
                    <a:latin typeface="Prestige12 BT" panose="02070509030506020304" pitchFamily="49" charset="0"/>
                  </a:rPr>
                  <a:t> </a:t>
                </a:r>
                <a:r>
                  <a:rPr lang="en-US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  <a:t>m1</a:t>
                </a:r>
                <a:r>
                  <a:rPr lang="en-US" dirty="0">
                    <a:latin typeface="Prestige12 BT" panose="02070509030506020304" pitchFamily="49" charset="0"/>
                  </a:rPr>
                  <a:t>, Member </a:t>
                </a:r>
                <a:r>
                  <a:rPr lang="en-US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  <a:t>AS</a:t>
                </a:r>
                <a:r>
                  <a:rPr lang="en-US" dirty="0">
                    <a:latin typeface="Prestige12 BT" panose="02070509030506020304" pitchFamily="49" charset="0"/>
                  </a:rPr>
                  <a:t> </a:t>
                </a:r>
                <a:r>
                  <a:rPr lang="en-US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  <a:t>m2</a:t>
                </a:r>
                <a:br>
                  <a:rPr lang="en-US" dirty="0">
                    <a:latin typeface="Prestige12 BT" panose="02070509030506020304" pitchFamily="49" charset="0"/>
                  </a:rPr>
                </a:br>
                <a:r>
                  <a:rPr lang="en-US" dirty="0">
                    <a:latin typeface="Prestige12 BT" panose="02070509030506020304" pitchFamily="49" charset="0"/>
                  </a:rPr>
                  <a:t>		WHERE m1.gid = m2.gid</a:t>
                </a:r>
                <a:br>
                  <a:rPr lang="en-US" dirty="0">
                    <a:latin typeface="Prestige12 BT" panose="02070509030506020304" pitchFamily="49" charset="0"/>
                  </a:rPr>
                </a:br>
                <a:r>
                  <a:rPr lang="en-US" dirty="0">
                    <a:latin typeface="Prestige12 BT" panose="02070509030506020304" pitchFamily="49" charset="0"/>
                  </a:rPr>
                  <a:t>			AND m1.uid &gt; m2.uid;</a:t>
                </a:r>
              </a:p>
              <a:p>
                <a:pPr lvl="1"/>
                <a:endParaRPr lang="en-US" dirty="0">
                  <a:latin typeface="Prestige12 BT" panose="02070509030506020304" pitchFamily="49" charset="0"/>
                </a:endParaRPr>
              </a:p>
              <a:p>
                <a:pPr lvl="1"/>
                <a:r>
                  <a:rPr lang="en-US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  <a:t>AS</a:t>
                </a:r>
                <a:r>
                  <a:rPr lang="en-US" dirty="0"/>
                  <a:t> keyword is completely optional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6"/>
                <a:stretch>
                  <a:fillRect l="-1342" t="-1968" r="-119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11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74189" y="3838223"/>
            <a:ext cx="7737957" cy="146351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2000"/>
              <a:t>SELECT m1.uid </a:t>
            </a:r>
            <a:r>
              <a:rPr lang="en-US" sz="2000">
                <a:solidFill>
                  <a:schemeClr val="accent2"/>
                </a:solidFill>
              </a:rPr>
              <a:t>AS</a:t>
            </a:r>
            <a:r>
              <a:rPr lang="en-US" sz="2000"/>
              <a:t> </a:t>
            </a:r>
            <a:r>
              <a:rPr lang="en-US" sz="2000">
                <a:solidFill>
                  <a:schemeClr val="accent2"/>
                </a:solidFill>
              </a:rPr>
              <a:t>uid1</a:t>
            </a:r>
            <a:r>
              <a:rPr lang="en-US" sz="2000"/>
              <a:t>, m2.uid </a:t>
            </a:r>
            <a:r>
              <a:rPr lang="en-US" sz="2000">
                <a:solidFill>
                  <a:schemeClr val="accent2"/>
                </a:solidFill>
              </a:rPr>
              <a:t>AS</a:t>
            </a:r>
            <a:r>
              <a:rPr lang="en-US" sz="2000"/>
              <a:t> </a:t>
            </a:r>
            <a:r>
              <a:rPr lang="en-US" sz="2000">
                <a:solidFill>
                  <a:schemeClr val="accent2"/>
                </a:solidFill>
              </a:rPr>
              <a:t>uid2</a:t>
            </a:r>
            <a:br>
              <a:rPr lang="en-US" sz="2000"/>
            </a:br>
            <a:r>
              <a:rPr lang="en-US" sz="2000"/>
              <a:t>		FROM Member </a:t>
            </a:r>
            <a:r>
              <a:rPr lang="en-US" sz="2000">
                <a:solidFill>
                  <a:schemeClr val="accent2"/>
                </a:solidFill>
              </a:rPr>
              <a:t>AS</a:t>
            </a:r>
            <a:r>
              <a:rPr lang="en-US" sz="2000"/>
              <a:t> </a:t>
            </a:r>
            <a:r>
              <a:rPr lang="en-US" sz="2000">
                <a:solidFill>
                  <a:schemeClr val="accent2"/>
                </a:solidFill>
              </a:rPr>
              <a:t>m1</a:t>
            </a:r>
            <a:r>
              <a:rPr lang="en-US" sz="2000"/>
              <a:t>, Member </a:t>
            </a:r>
            <a:r>
              <a:rPr lang="en-US" sz="2000">
                <a:solidFill>
                  <a:schemeClr val="accent2"/>
                </a:solidFill>
              </a:rPr>
              <a:t>AS</a:t>
            </a:r>
            <a:r>
              <a:rPr lang="en-US" sz="2000"/>
              <a:t> </a:t>
            </a:r>
            <a:r>
              <a:rPr lang="en-US" sz="2000">
                <a:solidFill>
                  <a:schemeClr val="accent2"/>
                </a:solidFill>
              </a:rPr>
              <a:t>m2</a:t>
            </a:r>
            <a:br>
              <a:rPr lang="en-US" sz="2000"/>
            </a:br>
            <a:r>
              <a:rPr lang="en-US" sz="2000"/>
              <a:t>		WHERE m1.gid = m2.gid</a:t>
            </a:r>
            <a:br>
              <a:rPr lang="en-US" sz="2000"/>
            </a:br>
            <a:r>
              <a:rPr lang="en-US" sz="2000"/>
              <a:t>			AND m1.uid &gt; m2.uid;</a:t>
            </a:r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F3ED84-F6F7-4464-AB87-4B673FC8FB09}"/>
              </a:ext>
            </a:extLst>
          </p:cNvPr>
          <p:cNvSpPr txBox="1"/>
          <p:nvPr/>
        </p:nvSpPr>
        <p:spPr>
          <a:xfrm>
            <a:off x="5081248" y="321354"/>
            <a:ext cx="3992652" cy="861774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r>
              <a:rPr lang="en-US" sz="1600" i="1" dirty="0"/>
              <a:t>User</a:t>
            </a:r>
            <a:r>
              <a:rPr lang="en-US" sz="1600" dirty="0"/>
              <a:t> (</a:t>
            </a:r>
            <a:r>
              <a:rPr lang="en-US" sz="1600" i="1" u="sng" dirty="0" err="1"/>
              <a:t>uid</a:t>
            </a:r>
            <a:r>
              <a:rPr lang="en-US" sz="1600" u="sng" dirty="0"/>
              <a:t> </a:t>
            </a:r>
            <a:r>
              <a:rPr lang="en-US" sz="1600" dirty="0"/>
              <a:t>int, </a:t>
            </a:r>
            <a:r>
              <a:rPr lang="en-US" sz="1600" i="1" dirty="0"/>
              <a:t>name</a:t>
            </a:r>
            <a:r>
              <a:rPr lang="en-US" sz="1600" dirty="0"/>
              <a:t> string, </a:t>
            </a:r>
            <a:r>
              <a:rPr lang="en-US" sz="1600" i="1" dirty="0"/>
              <a:t>age</a:t>
            </a:r>
            <a:r>
              <a:rPr lang="en-US" sz="1600" dirty="0"/>
              <a:t> int, </a:t>
            </a:r>
            <a:r>
              <a:rPr lang="en-US" sz="1600" i="1" dirty="0"/>
              <a:t>pop</a:t>
            </a:r>
            <a:r>
              <a:rPr lang="en-US" sz="1600" dirty="0"/>
              <a:t> float)</a:t>
            </a:r>
          </a:p>
          <a:p>
            <a:r>
              <a:rPr lang="en-US" sz="1600" i="1" dirty="0"/>
              <a:t>Group</a:t>
            </a:r>
            <a:r>
              <a:rPr lang="en-US" sz="1600" dirty="0"/>
              <a:t> (</a:t>
            </a:r>
            <a:r>
              <a:rPr lang="en-US" sz="1600" i="1" u="sng" dirty="0"/>
              <a:t>gid</a:t>
            </a:r>
            <a:r>
              <a:rPr lang="en-US" sz="1600" dirty="0"/>
              <a:t> string, </a:t>
            </a:r>
            <a:r>
              <a:rPr lang="en-US" sz="1600" i="1" dirty="0"/>
              <a:t>name</a:t>
            </a:r>
            <a:r>
              <a:rPr lang="en-US" sz="1600" dirty="0"/>
              <a:t> string)</a:t>
            </a:r>
          </a:p>
          <a:p>
            <a:r>
              <a:rPr lang="en-US" sz="1600" i="1" dirty="0"/>
              <a:t>Member</a:t>
            </a:r>
            <a:r>
              <a:rPr lang="en-US" sz="1600" dirty="0"/>
              <a:t> (</a:t>
            </a:r>
            <a:r>
              <a:rPr lang="en-US" sz="1600" i="1" u="sng" dirty="0" err="1"/>
              <a:t>uid</a:t>
            </a:r>
            <a:r>
              <a:rPr lang="en-US" sz="1600" dirty="0"/>
              <a:t> int, </a:t>
            </a:r>
            <a:r>
              <a:rPr lang="en-US" sz="1600" i="1" u="sng" dirty="0"/>
              <a:t>gid</a:t>
            </a:r>
            <a:r>
              <a:rPr lang="en-US" sz="1600" dirty="0"/>
              <a:t> string)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23987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more complicated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Names of all groups that Lisa and Ralph are both in</a:t>
            </a:r>
          </a:p>
          <a:p>
            <a:pPr marL="457200" lvl="1" indent="0">
              <a:buNone/>
            </a:pPr>
            <a:endParaRPr lang="en-US" sz="1800" dirty="0">
              <a:solidFill>
                <a:schemeClr val="accent2"/>
              </a:solidFill>
              <a:latin typeface="Prestige12 BT" panose="02070509030506020304" pitchFamily="49" charset="0"/>
            </a:endParaRP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Tip: Write the </a:t>
            </a:r>
            <a:r>
              <a:rPr lang="en-US" dirty="0">
                <a:latin typeface="Prestige12 BT" panose="02070509030506020304" pitchFamily="49" charset="0"/>
              </a:rPr>
              <a:t>FROM</a:t>
            </a:r>
            <a:r>
              <a:rPr lang="en-US" dirty="0"/>
              <a:t> clause first, then </a:t>
            </a:r>
            <a:r>
              <a:rPr lang="en-US" dirty="0">
                <a:latin typeface="Prestige12 BT" panose="02070509030506020304" pitchFamily="49" charset="0"/>
              </a:rPr>
              <a:t>WHERE</a:t>
            </a:r>
            <a:r>
              <a:rPr lang="en-US" dirty="0"/>
              <a:t>, and then </a:t>
            </a:r>
            <a:r>
              <a:rPr lang="en-US" dirty="0">
                <a:latin typeface="Prestige12 BT" panose="02070509030506020304" pitchFamily="49" charset="0"/>
              </a:rPr>
              <a:t>SELECT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12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F3ED84-F6F7-4464-AB87-4B673FC8FB09}"/>
              </a:ext>
            </a:extLst>
          </p:cNvPr>
          <p:cNvSpPr txBox="1"/>
          <p:nvPr/>
        </p:nvSpPr>
        <p:spPr>
          <a:xfrm>
            <a:off x="436191" y="5198155"/>
            <a:ext cx="3992652" cy="861774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r>
              <a:rPr lang="en-US" sz="1600" i="1" dirty="0"/>
              <a:t>User</a:t>
            </a:r>
            <a:r>
              <a:rPr lang="en-US" sz="1600" dirty="0"/>
              <a:t> (</a:t>
            </a:r>
            <a:r>
              <a:rPr lang="en-US" sz="1600" i="1" u="sng" dirty="0" err="1"/>
              <a:t>uid</a:t>
            </a:r>
            <a:r>
              <a:rPr lang="en-US" sz="1600" u="sng" dirty="0"/>
              <a:t> </a:t>
            </a:r>
            <a:r>
              <a:rPr lang="en-US" sz="1600" dirty="0"/>
              <a:t>int, </a:t>
            </a:r>
            <a:r>
              <a:rPr lang="en-US" sz="1600" i="1" dirty="0"/>
              <a:t>name</a:t>
            </a:r>
            <a:r>
              <a:rPr lang="en-US" sz="1600" dirty="0"/>
              <a:t> string, </a:t>
            </a:r>
            <a:r>
              <a:rPr lang="en-US" sz="1600" i="1" dirty="0"/>
              <a:t>age</a:t>
            </a:r>
            <a:r>
              <a:rPr lang="en-US" sz="1600" dirty="0"/>
              <a:t> int, </a:t>
            </a:r>
            <a:r>
              <a:rPr lang="en-US" sz="1600" i="1" dirty="0"/>
              <a:t>pop</a:t>
            </a:r>
            <a:r>
              <a:rPr lang="en-US" sz="1600" dirty="0"/>
              <a:t> float)</a:t>
            </a:r>
          </a:p>
          <a:p>
            <a:r>
              <a:rPr lang="en-US" sz="1600" i="1" dirty="0"/>
              <a:t>Group</a:t>
            </a:r>
            <a:r>
              <a:rPr lang="en-US" sz="1600" dirty="0"/>
              <a:t> (</a:t>
            </a:r>
            <a:r>
              <a:rPr lang="en-US" sz="1600" i="1" u="sng" dirty="0"/>
              <a:t>gid</a:t>
            </a:r>
            <a:r>
              <a:rPr lang="en-US" sz="1600" dirty="0"/>
              <a:t> string, </a:t>
            </a:r>
            <a:r>
              <a:rPr lang="en-US" sz="1600" i="1" dirty="0"/>
              <a:t>name</a:t>
            </a:r>
            <a:r>
              <a:rPr lang="en-US" sz="1600" dirty="0"/>
              <a:t> string)</a:t>
            </a:r>
          </a:p>
          <a:p>
            <a:r>
              <a:rPr lang="en-US" sz="1600" i="1" dirty="0"/>
              <a:t>Member</a:t>
            </a:r>
            <a:r>
              <a:rPr lang="en-US" sz="1600" dirty="0"/>
              <a:t> (</a:t>
            </a:r>
            <a:r>
              <a:rPr lang="en-US" sz="1600" i="1" u="sng" dirty="0" err="1"/>
              <a:t>uid</a:t>
            </a:r>
            <a:r>
              <a:rPr lang="en-US" sz="1600" dirty="0"/>
              <a:t> int, </a:t>
            </a:r>
            <a:r>
              <a:rPr lang="en-US" sz="1600" i="1" u="sng" dirty="0"/>
              <a:t>gid</a:t>
            </a:r>
            <a:r>
              <a:rPr lang="en-US" sz="1600" dirty="0"/>
              <a:t> string)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36039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more complicated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Names of all </a:t>
            </a:r>
            <a:r>
              <a:rPr lang="en-US" dirty="0">
                <a:solidFill>
                  <a:schemeClr val="accent2"/>
                </a:solidFill>
              </a:rPr>
              <a:t>groups that Lisa</a:t>
            </a:r>
            <a:r>
              <a:rPr lang="en-US" dirty="0"/>
              <a:t> and Ralph are both in</a:t>
            </a:r>
          </a:p>
          <a:p>
            <a:pPr marL="457200" lvl="1" indent="0">
              <a:buNone/>
            </a:pPr>
            <a:endParaRPr lang="en-US" sz="1800" dirty="0">
              <a:solidFill>
                <a:schemeClr val="accent2"/>
              </a:solidFill>
              <a:latin typeface="Prestige12 BT" panose="02070509030506020304" pitchFamily="49" charset="0"/>
            </a:endParaRP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13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40650" y="2077156"/>
            <a:ext cx="7874700" cy="176106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2000" dirty="0">
                <a:solidFill>
                  <a:schemeClr val="bg1"/>
                </a:solidFill>
              </a:rPr>
              <a:t>SELECT </a:t>
            </a:r>
            <a:r>
              <a:rPr lang="en-US" sz="2000" dirty="0" err="1">
                <a:solidFill>
                  <a:schemeClr val="bg1"/>
                </a:solidFill>
              </a:rPr>
              <a:t>g.name</a:t>
            </a:r>
            <a:endParaRPr lang="en-US" sz="2000" dirty="0">
              <a:solidFill>
                <a:schemeClr val="bg1"/>
              </a:solidFill>
            </a:endParaRPr>
          </a:p>
          <a:p>
            <a:pPr lvl="1"/>
            <a:r>
              <a:rPr lang="en-US" sz="2000" dirty="0">
                <a:solidFill>
                  <a:schemeClr val="accent2"/>
                </a:solidFill>
              </a:rPr>
              <a:t>	</a:t>
            </a:r>
            <a:r>
              <a:rPr lang="en-US" sz="2000" dirty="0">
                <a:solidFill>
                  <a:schemeClr val="bg1"/>
                </a:solidFill>
              </a:rPr>
              <a:t>FROM</a:t>
            </a:r>
            <a:r>
              <a:rPr lang="en-US" sz="2000" dirty="0">
                <a:solidFill>
                  <a:schemeClr val="accent2"/>
                </a:solidFill>
              </a:rPr>
              <a:t> User u1</a:t>
            </a:r>
            <a:r>
              <a:rPr lang="en-US" sz="2000" dirty="0">
                <a:solidFill>
                  <a:schemeClr val="bg1"/>
                </a:solidFill>
              </a:rPr>
              <a:t>, …, </a:t>
            </a:r>
            <a:r>
              <a:rPr lang="en-US" sz="2000" dirty="0">
                <a:solidFill>
                  <a:schemeClr val="accent2"/>
                </a:solidFill>
              </a:rPr>
              <a:t>Member m1</a:t>
            </a:r>
            <a:r>
              <a:rPr lang="en-US" sz="2000" dirty="0">
                <a:solidFill>
                  <a:schemeClr val="bg1"/>
                </a:solidFill>
              </a:rPr>
              <a:t>, …</a:t>
            </a:r>
          </a:p>
          <a:p>
            <a:pPr lvl="1"/>
            <a:r>
              <a:rPr lang="en-US" sz="2000" dirty="0">
                <a:solidFill>
                  <a:schemeClr val="accent2"/>
                </a:solidFill>
              </a:rPr>
              <a:t>	</a:t>
            </a:r>
            <a:r>
              <a:rPr lang="en-US" sz="2000" dirty="0">
                <a:solidFill>
                  <a:schemeClr val="bg1"/>
                </a:solidFill>
              </a:rPr>
              <a:t>WHERE</a:t>
            </a:r>
            <a:r>
              <a:rPr lang="en-US" sz="2000" dirty="0">
                <a:solidFill>
                  <a:schemeClr val="accent2"/>
                </a:solidFill>
              </a:rPr>
              <a:t> u1.name = 'Lisa</a:t>
            </a:r>
            <a:r>
              <a:rPr lang="en-US" sz="2000" dirty="0">
                <a:solidFill>
                  <a:schemeClr val="bg1"/>
                </a:solidFill>
              </a:rPr>
              <a:t>' AND …</a:t>
            </a:r>
          </a:p>
          <a:p>
            <a:pPr lvl="1"/>
            <a:r>
              <a:rPr lang="en-US" sz="2000" dirty="0">
                <a:solidFill>
                  <a:schemeClr val="bg1"/>
                </a:solidFill>
              </a:rPr>
              <a:t>		</a:t>
            </a:r>
            <a:r>
              <a:rPr lang="en-US" sz="2000" dirty="0">
                <a:solidFill>
                  <a:schemeClr val="accent2"/>
                </a:solidFill>
              </a:rPr>
              <a:t>AND u1.uid = m1.uid </a:t>
            </a:r>
            <a:r>
              <a:rPr lang="en-US" sz="2000" dirty="0">
                <a:solidFill>
                  <a:schemeClr val="bg1"/>
                </a:solidFill>
              </a:rPr>
              <a:t>AND …</a:t>
            </a:r>
          </a:p>
          <a:p>
            <a:pPr lvl="1"/>
            <a:r>
              <a:rPr lang="en-US" sz="2000" dirty="0">
                <a:solidFill>
                  <a:schemeClr val="accent2"/>
                </a:solidFill>
              </a:rPr>
              <a:t>		</a:t>
            </a:r>
            <a:r>
              <a:rPr lang="en-US" sz="2000" dirty="0">
                <a:solidFill>
                  <a:schemeClr val="bg1"/>
                </a:solidFill>
              </a:rPr>
              <a:t>AND …;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F3ED84-F6F7-4464-AB87-4B673FC8FB09}"/>
              </a:ext>
            </a:extLst>
          </p:cNvPr>
          <p:cNvSpPr txBox="1"/>
          <p:nvPr/>
        </p:nvSpPr>
        <p:spPr>
          <a:xfrm>
            <a:off x="436191" y="5198155"/>
            <a:ext cx="3992652" cy="861774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r>
              <a:rPr lang="en-US" sz="1600" i="1" dirty="0"/>
              <a:t>User</a:t>
            </a:r>
            <a:r>
              <a:rPr lang="en-US" sz="1600" dirty="0"/>
              <a:t> (</a:t>
            </a:r>
            <a:r>
              <a:rPr lang="en-US" sz="1600" i="1" u="sng" dirty="0" err="1"/>
              <a:t>uid</a:t>
            </a:r>
            <a:r>
              <a:rPr lang="en-US" sz="1600" u="sng" dirty="0"/>
              <a:t> </a:t>
            </a:r>
            <a:r>
              <a:rPr lang="en-US" sz="1600" dirty="0"/>
              <a:t>int, </a:t>
            </a:r>
            <a:r>
              <a:rPr lang="en-US" sz="1600" i="1" dirty="0"/>
              <a:t>name</a:t>
            </a:r>
            <a:r>
              <a:rPr lang="en-US" sz="1600" dirty="0"/>
              <a:t> string, </a:t>
            </a:r>
            <a:r>
              <a:rPr lang="en-US" sz="1600" i="1" dirty="0"/>
              <a:t>age</a:t>
            </a:r>
            <a:r>
              <a:rPr lang="en-US" sz="1600" dirty="0"/>
              <a:t> int, </a:t>
            </a:r>
            <a:r>
              <a:rPr lang="en-US" sz="1600" i="1" dirty="0"/>
              <a:t>pop</a:t>
            </a:r>
            <a:r>
              <a:rPr lang="en-US" sz="1600" dirty="0"/>
              <a:t> float)</a:t>
            </a:r>
          </a:p>
          <a:p>
            <a:r>
              <a:rPr lang="en-US" sz="1600" i="1" dirty="0"/>
              <a:t>Group</a:t>
            </a:r>
            <a:r>
              <a:rPr lang="en-US" sz="1600" dirty="0"/>
              <a:t> (</a:t>
            </a:r>
            <a:r>
              <a:rPr lang="en-US" sz="1600" i="1" u="sng" dirty="0"/>
              <a:t>gid</a:t>
            </a:r>
            <a:r>
              <a:rPr lang="en-US" sz="1600" dirty="0"/>
              <a:t> string, </a:t>
            </a:r>
            <a:r>
              <a:rPr lang="en-US" sz="1600" i="1" dirty="0"/>
              <a:t>name</a:t>
            </a:r>
            <a:r>
              <a:rPr lang="en-US" sz="1600" dirty="0"/>
              <a:t> string)</a:t>
            </a:r>
          </a:p>
          <a:p>
            <a:r>
              <a:rPr lang="en-US" sz="1600" i="1" dirty="0"/>
              <a:t>Member</a:t>
            </a:r>
            <a:r>
              <a:rPr lang="en-US" sz="1600" dirty="0"/>
              <a:t> (</a:t>
            </a:r>
            <a:r>
              <a:rPr lang="en-US" sz="1600" i="1" u="sng" dirty="0" err="1"/>
              <a:t>uid</a:t>
            </a:r>
            <a:r>
              <a:rPr lang="en-US" sz="1600" dirty="0"/>
              <a:t> int, </a:t>
            </a:r>
            <a:r>
              <a:rPr lang="en-US" sz="1600" i="1" u="sng" dirty="0"/>
              <a:t>gid</a:t>
            </a:r>
            <a:r>
              <a:rPr lang="en-US" sz="1600" dirty="0"/>
              <a:t> string)</a:t>
            </a:r>
          </a:p>
        </p:txBody>
      </p:sp>
    </p:spTree>
    <p:extLst>
      <p:ext uri="{BB962C8B-B14F-4D97-AF65-F5344CB8AC3E}">
        <p14:creationId xmlns:p14="http://schemas.microsoft.com/office/powerpoint/2010/main" val="24629455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more complicated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Names of all </a:t>
            </a:r>
            <a:r>
              <a:rPr lang="en-US" dirty="0">
                <a:solidFill>
                  <a:schemeClr val="accent2"/>
                </a:solidFill>
              </a:rPr>
              <a:t>groups that </a:t>
            </a:r>
            <a:r>
              <a:rPr lang="en-US" dirty="0"/>
              <a:t>Lisa and </a:t>
            </a:r>
            <a:r>
              <a:rPr lang="en-US" dirty="0">
                <a:solidFill>
                  <a:schemeClr val="accent2"/>
                </a:solidFill>
              </a:rPr>
              <a:t>Ralph</a:t>
            </a:r>
            <a:r>
              <a:rPr lang="en-US" dirty="0"/>
              <a:t> are both in</a:t>
            </a:r>
          </a:p>
          <a:p>
            <a:pPr marL="457200" lvl="1" indent="0">
              <a:buNone/>
            </a:pPr>
            <a:endParaRPr lang="en-US" sz="1800" dirty="0">
              <a:solidFill>
                <a:schemeClr val="accent2"/>
              </a:solidFill>
              <a:latin typeface="Prestige12 BT" panose="02070509030506020304" pitchFamily="49" charset="0"/>
            </a:endParaRP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14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40650" y="2077156"/>
            <a:ext cx="7874700" cy="176106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2000" dirty="0">
                <a:solidFill>
                  <a:schemeClr val="bg1"/>
                </a:solidFill>
              </a:rPr>
              <a:t>SELECT </a:t>
            </a:r>
            <a:r>
              <a:rPr lang="en-US" sz="2000" dirty="0" err="1">
                <a:solidFill>
                  <a:schemeClr val="bg1"/>
                </a:solidFill>
              </a:rPr>
              <a:t>g.name</a:t>
            </a:r>
            <a:endParaRPr lang="en-US" sz="2000" dirty="0">
              <a:solidFill>
                <a:schemeClr val="bg1"/>
              </a:solidFill>
            </a:endParaRPr>
          </a:p>
          <a:p>
            <a:pPr lvl="1"/>
            <a:r>
              <a:rPr lang="en-US" sz="2000" dirty="0">
                <a:solidFill>
                  <a:schemeClr val="accent2"/>
                </a:solidFill>
              </a:rPr>
              <a:t>	</a:t>
            </a:r>
            <a:r>
              <a:rPr lang="en-US" sz="2000" dirty="0">
                <a:solidFill>
                  <a:schemeClr val="bg1"/>
                </a:solidFill>
              </a:rPr>
              <a:t>FROM</a:t>
            </a:r>
            <a:r>
              <a:rPr lang="en-US" sz="2000" dirty="0">
                <a:solidFill>
                  <a:schemeClr val="accent2"/>
                </a:solidFill>
              </a:rPr>
              <a:t> </a:t>
            </a:r>
            <a:r>
              <a:rPr lang="en-US" sz="2000" dirty="0">
                <a:solidFill>
                  <a:schemeClr val="bg1"/>
                </a:solidFill>
              </a:rPr>
              <a:t>User u1, </a:t>
            </a:r>
            <a:r>
              <a:rPr lang="en-US" sz="2000" dirty="0">
                <a:solidFill>
                  <a:schemeClr val="accent2"/>
                </a:solidFill>
              </a:rPr>
              <a:t>User u2</a:t>
            </a:r>
            <a:r>
              <a:rPr lang="en-US" sz="2000" dirty="0">
                <a:solidFill>
                  <a:schemeClr val="bg1"/>
                </a:solidFill>
              </a:rPr>
              <a:t>, Member m1, </a:t>
            </a:r>
            <a:r>
              <a:rPr lang="en-US" sz="2000" dirty="0">
                <a:solidFill>
                  <a:schemeClr val="accent2"/>
                </a:solidFill>
              </a:rPr>
              <a:t>Member m2</a:t>
            </a:r>
            <a:r>
              <a:rPr lang="en-US" sz="2000" dirty="0">
                <a:solidFill>
                  <a:schemeClr val="bg1"/>
                </a:solidFill>
              </a:rPr>
              <a:t>, …</a:t>
            </a:r>
          </a:p>
          <a:p>
            <a:pPr lvl="1"/>
            <a:r>
              <a:rPr lang="en-US" sz="2000" dirty="0">
                <a:solidFill>
                  <a:schemeClr val="bg1"/>
                </a:solidFill>
              </a:rPr>
              <a:t>	WHERE u1.name = 'Lisa' AND </a:t>
            </a:r>
            <a:r>
              <a:rPr lang="en-US" sz="2000" dirty="0">
                <a:solidFill>
                  <a:schemeClr val="accent2"/>
                </a:solidFill>
              </a:rPr>
              <a:t>u2.name = ‘Ralph</a:t>
            </a:r>
            <a:r>
              <a:rPr lang="en-US" sz="2000" dirty="0">
                <a:solidFill>
                  <a:schemeClr val="bg1"/>
                </a:solidFill>
              </a:rPr>
              <a:t>’</a:t>
            </a:r>
          </a:p>
          <a:p>
            <a:pPr lvl="1"/>
            <a:r>
              <a:rPr lang="en-US" sz="2000" dirty="0">
                <a:solidFill>
                  <a:schemeClr val="bg1"/>
                </a:solidFill>
              </a:rPr>
              <a:t>		AND u1.uid = m1.uid AND </a:t>
            </a:r>
            <a:r>
              <a:rPr lang="en-US" sz="2000" dirty="0">
                <a:solidFill>
                  <a:schemeClr val="accent2"/>
                </a:solidFill>
              </a:rPr>
              <a:t>u2.uid=m2.uid</a:t>
            </a:r>
          </a:p>
          <a:p>
            <a:pPr lvl="1"/>
            <a:r>
              <a:rPr lang="en-US" sz="2000" dirty="0">
                <a:solidFill>
                  <a:schemeClr val="bg1"/>
                </a:solidFill>
              </a:rPr>
              <a:t>		AND …;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F3ED84-F6F7-4464-AB87-4B673FC8FB09}"/>
              </a:ext>
            </a:extLst>
          </p:cNvPr>
          <p:cNvSpPr txBox="1"/>
          <p:nvPr/>
        </p:nvSpPr>
        <p:spPr>
          <a:xfrm>
            <a:off x="436191" y="5198155"/>
            <a:ext cx="3992652" cy="861774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r>
              <a:rPr lang="en-US" sz="1600" i="1" dirty="0"/>
              <a:t>User</a:t>
            </a:r>
            <a:r>
              <a:rPr lang="en-US" sz="1600" dirty="0"/>
              <a:t> (</a:t>
            </a:r>
            <a:r>
              <a:rPr lang="en-US" sz="1600" i="1" u="sng" dirty="0" err="1"/>
              <a:t>uid</a:t>
            </a:r>
            <a:r>
              <a:rPr lang="en-US" sz="1600" u="sng" dirty="0"/>
              <a:t> </a:t>
            </a:r>
            <a:r>
              <a:rPr lang="en-US" sz="1600" dirty="0"/>
              <a:t>int, </a:t>
            </a:r>
            <a:r>
              <a:rPr lang="en-US" sz="1600" i="1" dirty="0"/>
              <a:t>name</a:t>
            </a:r>
            <a:r>
              <a:rPr lang="en-US" sz="1600" dirty="0"/>
              <a:t> string, </a:t>
            </a:r>
            <a:r>
              <a:rPr lang="en-US" sz="1600" i="1" dirty="0"/>
              <a:t>age</a:t>
            </a:r>
            <a:r>
              <a:rPr lang="en-US" sz="1600" dirty="0"/>
              <a:t> int, </a:t>
            </a:r>
            <a:r>
              <a:rPr lang="en-US" sz="1600" i="1" dirty="0"/>
              <a:t>pop</a:t>
            </a:r>
            <a:r>
              <a:rPr lang="en-US" sz="1600" dirty="0"/>
              <a:t> float)</a:t>
            </a:r>
          </a:p>
          <a:p>
            <a:r>
              <a:rPr lang="en-US" sz="1600" i="1" dirty="0"/>
              <a:t>Group</a:t>
            </a:r>
            <a:r>
              <a:rPr lang="en-US" sz="1600" dirty="0"/>
              <a:t> (</a:t>
            </a:r>
            <a:r>
              <a:rPr lang="en-US" sz="1600" i="1" u="sng" dirty="0"/>
              <a:t>gid</a:t>
            </a:r>
            <a:r>
              <a:rPr lang="en-US" sz="1600" dirty="0"/>
              <a:t> string, </a:t>
            </a:r>
            <a:r>
              <a:rPr lang="en-US" sz="1600" i="1" dirty="0"/>
              <a:t>name</a:t>
            </a:r>
            <a:r>
              <a:rPr lang="en-US" sz="1600" dirty="0"/>
              <a:t> string)</a:t>
            </a:r>
          </a:p>
          <a:p>
            <a:r>
              <a:rPr lang="en-US" sz="1600" i="1" dirty="0"/>
              <a:t>Member</a:t>
            </a:r>
            <a:r>
              <a:rPr lang="en-US" sz="1600" dirty="0"/>
              <a:t> (</a:t>
            </a:r>
            <a:r>
              <a:rPr lang="en-US" sz="1600" i="1" u="sng" dirty="0" err="1"/>
              <a:t>uid</a:t>
            </a:r>
            <a:r>
              <a:rPr lang="en-US" sz="1600" dirty="0"/>
              <a:t> int, </a:t>
            </a:r>
            <a:r>
              <a:rPr lang="en-US" sz="1600" i="1" u="sng" dirty="0"/>
              <a:t>gid</a:t>
            </a:r>
            <a:r>
              <a:rPr lang="en-US" sz="1600" dirty="0"/>
              <a:t> string)</a:t>
            </a:r>
          </a:p>
        </p:txBody>
      </p:sp>
    </p:spTree>
    <p:extLst>
      <p:ext uri="{BB962C8B-B14F-4D97-AF65-F5344CB8AC3E}">
        <p14:creationId xmlns:p14="http://schemas.microsoft.com/office/powerpoint/2010/main" val="28847526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more complicated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Names of all groups </a:t>
            </a:r>
            <a:r>
              <a:rPr lang="en-US" dirty="0"/>
              <a:t>that Lisa and Ralph are </a:t>
            </a:r>
            <a:r>
              <a:rPr lang="en-US" dirty="0">
                <a:solidFill>
                  <a:schemeClr val="accent2"/>
                </a:solidFill>
              </a:rPr>
              <a:t>both in</a:t>
            </a:r>
          </a:p>
          <a:p>
            <a:pPr marL="457200" lvl="1" indent="0">
              <a:buNone/>
            </a:pPr>
            <a:endParaRPr lang="en-US" sz="1800" dirty="0">
              <a:solidFill>
                <a:schemeClr val="accent2"/>
              </a:solidFill>
              <a:latin typeface="Prestige12 BT" panose="02070509030506020304" pitchFamily="49" charset="0"/>
            </a:endParaRP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15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40650" y="2077156"/>
            <a:ext cx="7874700" cy="176106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2000" dirty="0">
                <a:solidFill>
                  <a:schemeClr val="bg1"/>
                </a:solidFill>
              </a:rPr>
              <a:t>SELECT </a:t>
            </a:r>
            <a:r>
              <a:rPr lang="en-US" sz="2000" dirty="0" err="1">
                <a:solidFill>
                  <a:schemeClr val="accent2"/>
                </a:solidFill>
              </a:rPr>
              <a:t>g.name</a:t>
            </a:r>
            <a:endParaRPr lang="en-US" sz="2000" dirty="0">
              <a:solidFill>
                <a:schemeClr val="accent2"/>
              </a:solidFill>
            </a:endParaRPr>
          </a:p>
          <a:p>
            <a:pPr lvl="1"/>
            <a:r>
              <a:rPr lang="en-US" sz="2000" dirty="0">
                <a:solidFill>
                  <a:schemeClr val="accent2"/>
                </a:solidFill>
              </a:rPr>
              <a:t>	</a:t>
            </a:r>
            <a:r>
              <a:rPr lang="en-US" sz="2000" dirty="0">
                <a:solidFill>
                  <a:schemeClr val="bg1"/>
                </a:solidFill>
              </a:rPr>
              <a:t>FROM</a:t>
            </a:r>
            <a:r>
              <a:rPr lang="en-US" sz="2000" dirty="0">
                <a:solidFill>
                  <a:schemeClr val="accent2"/>
                </a:solidFill>
              </a:rPr>
              <a:t> </a:t>
            </a:r>
            <a:r>
              <a:rPr lang="en-US" sz="2000" dirty="0">
                <a:solidFill>
                  <a:schemeClr val="bg1"/>
                </a:solidFill>
              </a:rPr>
              <a:t>User u1, User u2, Member m1, Member m2, </a:t>
            </a:r>
            <a:r>
              <a:rPr lang="en-US" sz="2000" dirty="0">
                <a:solidFill>
                  <a:schemeClr val="accent2"/>
                </a:solidFill>
              </a:rPr>
              <a:t>Group g</a:t>
            </a:r>
          </a:p>
          <a:p>
            <a:pPr lvl="1"/>
            <a:r>
              <a:rPr lang="en-US" sz="2000" dirty="0">
                <a:solidFill>
                  <a:schemeClr val="bg1"/>
                </a:solidFill>
              </a:rPr>
              <a:t>	WHERE u1.name = 'Lisa' AND u2.name = ‘Ralph’</a:t>
            </a:r>
          </a:p>
          <a:p>
            <a:pPr lvl="1"/>
            <a:r>
              <a:rPr lang="en-US" sz="2000" dirty="0">
                <a:solidFill>
                  <a:schemeClr val="bg1"/>
                </a:solidFill>
              </a:rPr>
              <a:t>		AND u1.uid = m1.uid AND u2.uid=m2.uid</a:t>
            </a:r>
          </a:p>
          <a:p>
            <a:pPr lvl="1"/>
            <a:r>
              <a:rPr lang="en-US" sz="2000" dirty="0">
                <a:solidFill>
                  <a:schemeClr val="bg1"/>
                </a:solidFill>
              </a:rPr>
              <a:t>		AND </a:t>
            </a:r>
            <a:r>
              <a:rPr lang="en-US" sz="2000" dirty="0">
                <a:solidFill>
                  <a:schemeClr val="accent2"/>
                </a:solidFill>
              </a:rPr>
              <a:t>m1.gid = </a:t>
            </a:r>
            <a:r>
              <a:rPr lang="en-US" sz="2000" dirty="0" err="1">
                <a:solidFill>
                  <a:schemeClr val="accent2"/>
                </a:solidFill>
              </a:rPr>
              <a:t>g.gid</a:t>
            </a:r>
            <a:r>
              <a:rPr lang="en-US" sz="2000" dirty="0">
                <a:solidFill>
                  <a:schemeClr val="accent2"/>
                </a:solidFill>
              </a:rPr>
              <a:t> AND m2.gid = </a:t>
            </a:r>
            <a:r>
              <a:rPr lang="en-US" sz="2000" dirty="0" err="1">
                <a:solidFill>
                  <a:schemeClr val="accent2"/>
                </a:solidFill>
              </a:rPr>
              <a:t>g.gid</a:t>
            </a:r>
            <a:r>
              <a:rPr lang="en-US" sz="2000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F3ED84-F6F7-4464-AB87-4B673FC8FB09}"/>
              </a:ext>
            </a:extLst>
          </p:cNvPr>
          <p:cNvSpPr txBox="1"/>
          <p:nvPr/>
        </p:nvSpPr>
        <p:spPr>
          <a:xfrm>
            <a:off x="436191" y="5198155"/>
            <a:ext cx="3992652" cy="861774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r>
              <a:rPr lang="en-US" sz="1600" i="1" dirty="0"/>
              <a:t>User</a:t>
            </a:r>
            <a:r>
              <a:rPr lang="en-US" sz="1600" dirty="0"/>
              <a:t> (</a:t>
            </a:r>
            <a:r>
              <a:rPr lang="en-US" sz="1600" i="1" u="sng" dirty="0" err="1"/>
              <a:t>uid</a:t>
            </a:r>
            <a:r>
              <a:rPr lang="en-US" sz="1600" u="sng" dirty="0"/>
              <a:t> </a:t>
            </a:r>
            <a:r>
              <a:rPr lang="en-US" sz="1600" dirty="0"/>
              <a:t>int, </a:t>
            </a:r>
            <a:r>
              <a:rPr lang="en-US" sz="1600" i="1" dirty="0"/>
              <a:t>name</a:t>
            </a:r>
            <a:r>
              <a:rPr lang="en-US" sz="1600" dirty="0"/>
              <a:t> string, </a:t>
            </a:r>
            <a:r>
              <a:rPr lang="en-US" sz="1600" i="1" dirty="0"/>
              <a:t>age</a:t>
            </a:r>
            <a:r>
              <a:rPr lang="en-US" sz="1600" dirty="0"/>
              <a:t> int, </a:t>
            </a:r>
            <a:r>
              <a:rPr lang="en-US" sz="1600" i="1" dirty="0"/>
              <a:t>pop</a:t>
            </a:r>
            <a:r>
              <a:rPr lang="en-US" sz="1600" dirty="0"/>
              <a:t> float)</a:t>
            </a:r>
          </a:p>
          <a:p>
            <a:r>
              <a:rPr lang="en-US" sz="1600" i="1" dirty="0"/>
              <a:t>Group</a:t>
            </a:r>
            <a:r>
              <a:rPr lang="en-US" sz="1600" dirty="0"/>
              <a:t> (</a:t>
            </a:r>
            <a:r>
              <a:rPr lang="en-US" sz="1600" i="1" u="sng" dirty="0"/>
              <a:t>gid</a:t>
            </a:r>
            <a:r>
              <a:rPr lang="en-US" sz="1600" dirty="0"/>
              <a:t> string, </a:t>
            </a:r>
            <a:r>
              <a:rPr lang="en-US" sz="1600" i="1" dirty="0"/>
              <a:t>name</a:t>
            </a:r>
            <a:r>
              <a:rPr lang="en-US" sz="1600" dirty="0"/>
              <a:t> string)</a:t>
            </a:r>
          </a:p>
          <a:p>
            <a:r>
              <a:rPr lang="en-US" sz="1600" i="1" dirty="0"/>
              <a:t>Member</a:t>
            </a:r>
            <a:r>
              <a:rPr lang="en-US" sz="1600" dirty="0"/>
              <a:t> (</a:t>
            </a:r>
            <a:r>
              <a:rPr lang="en-US" sz="1600" i="1" u="sng" dirty="0" err="1"/>
              <a:t>uid</a:t>
            </a:r>
            <a:r>
              <a:rPr lang="en-US" sz="1600" dirty="0"/>
              <a:t> int, </a:t>
            </a:r>
            <a:r>
              <a:rPr lang="en-US" sz="1600" i="1" u="sng" dirty="0"/>
              <a:t>gid</a:t>
            </a:r>
            <a:r>
              <a:rPr lang="en-US" sz="1600" dirty="0"/>
              <a:t> string)</a:t>
            </a:r>
          </a:p>
        </p:txBody>
      </p:sp>
    </p:spTree>
    <p:extLst>
      <p:ext uri="{BB962C8B-B14F-4D97-AF65-F5344CB8AC3E}">
        <p14:creationId xmlns:p14="http://schemas.microsoft.com/office/powerpoint/2010/main" val="19677561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SFW statements?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Many queries can be written using only </a:t>
                </a:r>
                <a:r>
                  <a:rPr lang="en-US" dirty="0">
                    <a:solidFill>
                      <a:schemeClr val="accent2"/>
                    </a:solidFill>
                  </a:rPr>
                  <a:t>selection, projection, and cross product (or join)</a:t>
                </a:r>
              </a:p>
              <a:p>
                <a:endParaRPr lang="en-US" dirty="0"/>
              </a:p>
              <a:p>
                <a:r>
                  <a:rPr lang="en-US" dirty="0"/>
                  <a:t>These queries can be written in a canonical form which is captured by SFW: 		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𝜋</m:t>
                        </m:r>
                      </m:e>
                      <m:sub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𝐿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/>
                              </a:rPr>
                              <m:t>𝜎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/>
                              </a:rPr>
                              <m:t>𝑝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chemeClr val="accent2"/>
                                    </a:solidFill>
                                    <a:latin typeface="Cambria Math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chemeClr val="accent2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/>
                              </a:rPr>
                              <m:t>×⋯×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chemeClr val="accent2"/>
                                    </a:solidFill>
                                    <a:latin typeface="Cambria Math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chemeClr val="accent2"/>
                                    </a:solidFill>
                                    <a:latin typeface="Cambria Math"/>
                                  </a:rPr>
                                  <m:t>𝑚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:pPr lvl="1"/>
                <a:r>
                  <a:rPr lang="en-US" dirty="0"/>
                  <a:t>Example: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𝜋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𝑅</m:t>
                        </m:r>
                        <m:r>
                          <a:rPr lang="en-US" i="1">
                            <a:latin typeface="Cambria Math"/>
                          </a:rPr>
                          <m:t>.</m:t>
                        </m:r>
                        <m:r>
                          <a:rPr lang="en-US" i="1">
                            <a:latin typeface="Cambria Math"/>
                          </a:rPr>
                          <m:t>𝐴</m:t>
                        </m:r>
                        <m:r>
                          <a:rPr lang="en-US" i="1">
                            <a:latin typeface="Cambria Math"/>
                          </a:rPr>
                          <m:t>, </m:t>
                        </m:r>
                        <m:r>
                          <a:rPr lang="en-US" i="1">
                            <a:latin typeface="Cambria Math"/>
                          </a:rPr>
                          <m:t>𝑆</m:t>
                        </m:r>
                        <m:r>
                          <a:rPr lang="en-US" i="1">
                            <a:latin typeface="Cambria Math"/>
                          </a:rPr>
                          <m:t>.</m:t>
                        </m:r>
                        <m:r>
                          <a:rPr lang="en-US" i="1">
                            <a:latin typeface="Cambria Math"/>
                          </a:rPr>
                          <m:t>𝐵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𝑅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⋈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  <m:r>
                          <a:rPr lang="en-US" i="1">
                            <a:latin typeface="Cambria Math"/>
                          </a:rPr>
                          <m:t>𝑆</m:t>
                        </m:r>
                      </m:e>
                    </m:d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⋈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𝜋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𝑇</m:t>
                            </m:r>
                            <m:r>
                              <a:rPr lang="en-US" i="1">
                                <a:latin typeface="Cambria Math"/>
                              </a:rPr>
                              <m:t>.</m:t>
                            </m:r>
                            <m:r>
                              <a:rPr lang="en-US" i="1">
                                <a:latin typeface="Cambria Math"/>
                              </a:rPr>
                              <m:t>𝐶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𝜎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3</m:t>
                                </m:r>
                              </m:sub>
                            </m:sSub>
                          </m:sub>
                        </m:sSub>
                        <m:r>
                          <a:rPr lang="en-US" i="1">
                            <a:latin typeface="Cambria Math"/>
                          </a:rPr>
                          <m:t>𝑇</m:t>
                        </m:r>
                      </m:e>
                    </m:d>
                  </m:oMath>
                </a14:m>
                <a:br>
                  <a:rPr lang="en-US" i="1" dirty="0">
                    <a:latin typeface="Cambria Math"/>
                  </a:rPr>
                </a:br>
                <a:endParaRPr lang="en-US" dirty="0"/>
              </a:p>
              <a:p>
                <a:endParaRPr lang="en-US" dirty="0">
                  <a:latin typeface="Prestige12 BT" panose="020705090305060203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6"/>
                <a:stretch>
                  <a:fillRect l="-1342" t="-1968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16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779480E-AAAA-4B2C-9F65-8D45405618FC}"/>
                  </a:ext>
                </a:extLst>
              </p:cNvPr>
              <p:cNvSpPr txBox="1"/>
              <p:nvPr/>
            </p:nvSpPr>
            <p:spPr>
              <a:xfrm>
                <a:off x="1790699" y="5271781"/>
                <a:ext cx="5736771" cy="4951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𝜋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𝑅</m:t>
                          </m:r>
                          <m:r>
                            <a:rPr lang="en-US" sz="2400" i="1">
                              <a:latin typeface="Cambria Math"/>
                            </a:rPr>
                            <m:t>.</m:t>
                          </m:r>
                          <m:r>
                            <a:rPr lang="en-US" sz="2400" i="1">
                              <a:latin typeface="Cambria Math"/>
                            </a:rPr>
                            <m:t>𝐴</m:t>
                          </m:r>
                          <m:r>
                            <a:rPr lang="en-US" sz="2400" i="1">
                              <a:latin typeface="Cambria Math"/>
                            </a:rPr>
                            <m:t>,</m:t>
                          </m:r>
                          <m:r>
                            <a:rPr lang="en-US" sz="2400" i="1">
                              <a:latin typeface="Cambria Math"/>
                            </a:rPr>
                            <m:t>𝑆</m:t>
                          </m:r>
                          <m:r>
                            <a:rPr lang="en-US" sz="2400" i="1">
                              <a:latin typeface="Cambria Math"/>
                            </a:rPr>
                            <m:t>.</m:t>
                          </m:r>
                          <m:r>
                            <a:rPr lang="en-US" sz="2400" i="1">
                              <a:latin typeface="Cambria Math"/>
                            </a:rPr>
                            <m:t>𝐵</m:t>
                          </m:r>
                          <m:r>
                            <a:rPr lang="en-US" sz="2400" i="1">
                              <a:latin typeface="Cambria Math"/>
                            </a:rPr>
                            <m:t>,</m:t>
                          </m:r>
                          <m:r>
                            <a:rPr lang="en-US" sz="2400" i="1">
                              <a:latin typeface="Cambria Math"/>
                            </a:rPr>
                            <m:t>𝑇</m:t>
                          </m:r>
                          <m:r>
                            <a:rPr lang="en-US" sz="2400" i="1">
                              <a:latin typeface="Cambria Math"/>
                            </a:rPr>
                            <m:t>.</m:t>
                          </m:r>
                          <m:r>
                            <a:rPr lang="en-US" sz="2400" i="1">
                              <a:latin typeface="Cambria Math"/>
                            </a:rPr>
                            <m:t>𝐶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𝜎</m:t>
                          </m:r>
                        </m:e>
                        <m: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>
                              <a:latin typeface="Cambria Math"/>
                            </a:rPr>
                            <m:t>∧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>
                              <a:latin typeface="Cambria Math"/>
                            </a:rPr>
                            <m:t>∧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/>
                            </a:rPr>
                            <m:t>𝑅</m:t>
                          </m:r>
                          <m:r>
                            <a:rPr lang="en-US" sz="2400" i="1">
                              <a:latin typeface="Cambria Math"/>
                            </a:rPr>
                            <m:t>×</m:t>
                          </m:r>
                          <m:r>
                            <a:rPr lang="en-US" sz="2400" i="1">
                              <a:latin typeface="Cambria Math"/>
                            </a:rPr>
                            <m:t>𝑆</m:t>
                          </m:r>
                          <m:r>
                            <a:rPr lang="en-US" sz="2400" i="1">
                              <a:latin typeface="Cambria Math"/>
                            </a:rPr>
                            <m:t>×</m:t>
                          </m:r>
                          <m:r>
                            <a:rPr lang="en-US" sz="2400" i="1">
                              <a:latin typeface="Cambria Math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CA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779480E-AAAA-4B2C-9F65-8D45405618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0699" y="5271781"/>
                <a:ext cx="5736771" cy="495136"/>
              </a:xfrm>
              <a:prstGeom prst="rect">
                <a:avLst/>
              </a:prstGeom>
              <a:blipFill>
                <a:blip r:embed="rId7"/>
                <a:stretch>
                  <a:fillRect b="-4938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422417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6DA1D-14AB-4E21-B948-6ACD959FD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Set versus bag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ACE3B9-ACE6-4E90-AD03-EADF19294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17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1E3D8FB-243B-412E-810F-C6FB267EE6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9482677"/>
              </p:ext>
            </p:extLst>
          </p:nvPr>
        </p:nvGraphicFramePr>
        <p:xfrm>
          <a:off x="822508" y="1832301"/>
          <a:ext cx="3176271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1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3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95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18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5047">
                <a:tc>
                  <a:txBody>
                    <a:bodyPr/>
                    <a:lstStyle/>
                    <a:p>
                      <a:r>
                        <a:rPr lang="en-US" sz="1600" i="1" dirty="0" err="1"/>
                        <a:t>uid</a:t>
                      </a:r>
                      <a:endParaRPr lang="en-US" sz="16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/>
                        <a:t>pop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5167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Bart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0.9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126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Milhouse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201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Lisa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0.7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275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Ralph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0.3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152E2A7-5D8E-409F-B7F0-C7B2473BE2F0}"/>
              </a:ext>
            </a:extLst>
          </p:cNvPr>
          <p:cNvSpPr txBox="1"/>
          <p:nvPr/>
        </p:nvSpPr>
        <p:spPr>
          <a:xfrm>
            <a:off x="778291" y="1319796"/>
            <a:ext cx="6607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User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0C3DBF3-6050-4915-90A0-B9A3DD61493D}"/>
                  </a:ext>
                </a:extLst>
              </p:cNvPr>
              <p:cNvSpPr txBox="1"/>
              <p:nvPr/>
            </p:nvSpPr>
            <p:spPr>
              <a:xfrm>
                <a:off x="4721866" y="1988887"/>
                <a:ext cx="1296637" cy="425053"/>
              </a:xfrm>
              <a:prstGeom prst="rect">
                <a:avLst/>
              </a:prstGeom>
              <a:solidFill>
                <a:schemeClr val="accent4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CA" sz="2000" b="0" i="1" dirty="0" smtClean="0">
                              <a:latin typeface="Cambria Math" panose="02040503050406030204" pitchFamily="18" charset="0"/>
                            </a:rPr>
                            <m:t>𝑎𝑔𝑒</m:t>
                          </m:r>
                        </m:sub>
                      </m:sSub>
                      <m:r>
                        <a:rPr lang="en-CA" sz="2000" b="0" i="1" dirty="0" smtClean="0">
                          <a:latin typeface="Cambria Math" panose="02040503050406030204" pitchFamily="18" charset="0"/>
                        </a:rPr>
                        <m:t>𝑈𝑠𝑒𝑟</m:t>
                      </m:r>
                    </m:oMath>
                  </m:oMathPara>
                </a14:m>
                <a:endParaRPr lang="en-US" sz="2000" i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0C3DBF3-6050-4915-90A0-B9A3DD6149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1866" y="1988887"/>
                <a:ext cx="1296637" cy="425053"/>
              </a:xfrm>
              <a:prstGeom prst="rect">
                <a:avLst/>
              </a:prstGeom>
              <a:blipFill>
                <a:blip r:embed="rId6"/>
                <a:stretch>
                  <a:fillRect b="-5714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49369018-C2ED-470F-B875-5394CD644A8F}"/>
              </a:ext>
            </a:extLst>
          </p:cNvPr>
          <p:cNvSpPr/>
          <p:nvPr/>
        </p:nvSpPr>
        <p:spPr>
          <a:xfrm>
            <a:off x="1032331" y="4454454"/>
            <a:ext cx="2043864" cy="68364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SELECT </a:t>
            </a:r>
            <a:r>
              <a:rPr lang="en-US" dirty="0">
                <a:solidFill>
                  <a:schemeClr val="accent2"/>
                </a:solidFill>
              </a:rPr>
              <a:t>age </a:t>
            </a:r>
          </a:p>
          <a:p>
            <a:r>
              <a:rPr lang="en-US" dirty="0"/>
              <a:t>FROM User;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FB1D13D-6993-47FF-B050-291FF53DFC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3156149"/>
              </p:ext>
            </p:extLst>
          </p:nvPr>
        </p:nvGraphicFramePr>
        <p:xfrm>
          <a:off x="6763002" y="1335151"/>
          <a:ext cx="549593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95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5047">
                <a:tc>
                  <a:txBody>
                    <a:bodyPr/>
                    <a:lstStyle/>
                    <a:p>
                      <a:r>
                        <a:rPr lang="en-US" sz="1600" i="1" dirty="0"/>
                        <a:t>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5167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126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4AEF4DA-B4F4-4D31-A77E-1A3679289E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0096142"/>
              </p:ext>
            </p:extLst>
          </p:nvPr>
        </p:nvGraphicFramePr>
        <p:xfrm>
          <a:off x="3449186" y="4454454"/>
          <a:ext cx="549593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95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5047">
                <a:tc>
                  <a:txBody>
                    <a:bodyPr/>
                    <a:lstStyle/>
                    <a:p>
                      <a:r>
                        <a:rPr lang="en-US" sz="1600" i="1" dirty="0"/>
                        <a:t>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5167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126">
                <a:tc>
                  <a:txBody>
                    <a:bodyPr/>
                    <a:lstStyle/>
                    <a:p>
                      <a:r>
                        <a:rPr lang="en-US" sz="1600">
                          <a:latin typeface="Prestige12 BT" panose="02070509030506020304" pitchFamily="49" charset="0"/>
                        </a:rPr>
                        <a:t>10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201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275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55977413-4B7A-4AF0-974C-EE3BCDB23512}"/>
              </a:ext>
            </a:extLst>
          </p:cNvPr>
          <p:cNvSpPr txBox="1"/>
          <p:nvPr/>
        </p:nvSpPr>
        <p:spPr>
          <a:xfrm>
            <a:off x="4501900" y="2912193"/>
            <a:ext cx="4572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Set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No duplicates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2"/>
                </a:solidFill>
              </a:rPr>
              <a:t>Relational model and algebra </a:t>
            </a:r>
            <a:r>
              <a:rPr lang="en-US" sz="2000" dirty="0"/>
              <a:t>use </a:t>
            </a:r>
            <a:r>
              <a:rPr lang="en-US" sz="2000" dirty="0">
                <a:solidFill>
                  <a:schemeClr val="accent2"/>
                </a:solidFill>
              </a:rPr>
              <a:t>set</a:t>
            </a:r>
            <a:r>
              <a:rPr lang="en-US" sz="2000" dirty="0"/>
              <a:t> semantics</a:t>
            </a:r>
          </a:p>
          <a:p>
            <a:endParaRPr lang="en-US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489996-FFCE-41F3-AC82-200DE42859EF}"/>
              </a:ext>
            </a:extLst>
          </p:cNvPr>
          <p:cNvSpPr txBox="1"/>
          <p:nvPr/>
        </p:nvSpPr>
        <p:spPr>
          <a:xfrm>
            <a:off x="4412994" y="4389521"/>
            <a:ext cx="4572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Bag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Duplicates allowed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Number of duplicates is significant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2"/>
                </a:solidFill>
              </a:rPr>
              <a:t>SQL</a:t>
            </a:r>
            <a:r>
              <a:rPr lang="en-US" sz="2000" dirty="0"/>
              <a:t> uses </a:t>
            </a:r>
            <a:r>
              <a:rPr lang="en-US" sz="2000" dirty="0">
                <a:solidFill>
                  <a:schemeClr val="accent2"/>
                </a:solidFill>
              </a:rPr>
              <a:t>bag</a:t>
            </a:r>
            <a:r>
              <a:rPr lang="en-US" sz="2000" dirty="0"/>
              <a:t> semantics </a:t>
            </a:r>
            <a:r>
              <a:rPr lang="en-US" sz="2000" dirty="0">
                <a:solidFill>
                  <a:schemeClr val="accent2"/>
                </a:solidFill>
              </a:rPr>
              <a:t>by default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60061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 animBg="1"/>
      <p:bldP spid="12" grpId="0"/>
      <p:bldP spid="1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case for bag semantics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Efficiency</a:t>
            </a:r>
          </a:p>
          <a:p>
            <a:pPr lvl="1"/>
            <a:r>
              <a:rPr lang="en-US" dirty="0"/>
              <a:t>Saves time of eliminating duplicates</a:t>
            </a:r>
          </a:p>
          <a:p>
            <a:pPr lvl="1"/>
            <a:endParaRPr lang="en-US" dirty="0"/>
          </a:p>
          <a:p>
            <a:r>
              <a:rPr lang="en-US" dirty="0"/>
              <a:t>Which one is more useful?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/>
              <a:t>The first query just returns all possible user ages</a:t>
            </a:r>
          </a:p>
          <a:p>
            <a:pPr lvl="1"/>
            <a:r>
              <a:rPr lang="en-US" dirty="0"/>
              <a:t>The second query returns the user age distribution</a:t>
            </a:r>
          </a:p>
          <a:p>
            <a:pPr lvl="1"/>
            <a:endParaRPr lang="en-US" dirty="0"/>
          </a:p>
          <a:p>
            <a:r>
              <a:rPr lang="en-US" dirty="0"/>
              <a:t>Besides, SQL provides the option of set semantics with </a:t>
            </a:r>
            <a:r>
              <a:rPr lang="en-US" dirty="0">
                <a:solidFill>
                  <a:schemeClr val="accent2"/>
                </a:solidFill>
                <a:latin typeface="Prestige12 BT" panose="02070509030506020304" pitchFamily="49" charset="0"/>
              </a:rPr>
              <a:t>DISTINCT</a:t>
            </a:r>
            <a:r>
              <a:rPr lang="en-US" dirty="0"/>
              <a:t> keyword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18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7ECB525-04B1-4E78-8799-C8641057E986}"/>
                  </a:ext>
                </a:extLst>
              </p:cNvPr>
              <p:cNvSpPr txBox="1"/>
              <p:nvPr/>
            </p:nvSpPr>
            <p:spPr>
              <a:xfrm>
                <a:off x="2004792" y="3308254"/>
                <a:ext cx="1296637" cy="425053"/>
              </a:xfrm>
              <a:prstGeom prst="rect">
                <a:avLst/>
              </a:prstGeom>
              <a:solidFill>
                <a:schemeClr val="accent4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CA" sz="2000" b="0" i="1" dirty="0" smtClean="0">
                              <a:latin typeface="Cambria Math" panose="02040503050406030204" pitchFamily="18" charset="0"/>
                            </a:rPr>
                            <m:t>𝑎𝑔𝑒</m:t>
                          </m:r>
                        </m:sub>
                      </m:sSub>
                      <m:r>
                        <a:rPr lang="en-CA" sz="2000" b="0" i="1" dirty="0" smtClean="0">
                          <a:latin typeface="Cambria Math" panose="02040503050406030204" pitchFamily="18" charset="0"/>
                        </a:rPr>
                        <m:t>𝑈𝑠𝑒𝑟</m:t>
                      </m:r>
                    </m:oMath>
                  </m:oMathPara>
                </a14:m>
                <a:endParaRPr lang="en-US" sz="2000" i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7ECB525-04B1-4E78-8799-C8641057E9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4792" y="3308254"/>
                <a:ext cx="1296637" cy="425053"/>
              </a:xfrm>
              <a:prstGeom prst="rect">
                <a:avLst/>
              </a:prstGeom>
              <a:blipFill>
                <a:blip r:embed="rId6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1E552EB6-ECC6-41D8-8C2E-A7E34D1D33ED}"/>
              </a:ext>
            </a:extLst>
          </p:cNvPr>
          <p:cNvSpPr/>
          <p:nvPr/>
        </p:nvSpPr>
        <p:spPr>
          <a:xfrm>
            <a:off x="4820641" y="3087179"/>
            <a:ext cx="2043864" cy="68364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SELECT </a:t>
            </a:r>
            <a:r>
              <a:rPr lang="en-US" dirty="0">
                <a:solidFill>
                  <a:schemeClr val="accent2"/>
                </a:solidFill>
              </a:rPr>
              <a:t>age </a:t>
            </a:r>
          </a:p>
          <a:p>
            <a:r>
              <a:rPr lang="en-US" dirty="0"/>
              <a:t>FROM User;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32401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Forcing set semantics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ID’s of all pairs of users that belong to one group</a:t>
            </a:r>
          </a:p>
          <a:p>
            <a:pPr marL="457200" lvl="1" indent="0">
              <a:buNone/>
            </a:pPr>
            <a:endParaRPr lang="en-US" dirty="0">
              <a:solidFill>
                <a:schemeClr val="accent2"/>
              </a:solidFill>
              <a:latin typeface="Prestige12 BT" panose="02070509030506020304" pitchFamily="49" charset="0"/>
            </a:endParaRPr>
          </a:p>
          <a:p>
            <a:pPr lvl="1"/>
            <a:endParaRPr lang="en-US" dirty="0">
              <a:solidFill>
                <a:schemeClr val="accent2"/>
              </a:solidFill>
              <a:latin typeface="Prestige12 BT" panose="02070509030506020304" pitchFamily="49" charset="0"/>
            </a:endParaRPr>
          </a:p>
          <a:p>
            <a:pPr lvl="1"/>
            <a:endParaRPr lang="en-US" dirty="0">
              <a:solidFill>
                <a:schemeClr val="accent2"/>
              </a:solidFill>
              <a:latin typeface="Prestige12 BT" panose="02070509030506020304" pitchFamily="49" charset="0"/>
            </a:endParaRPr>
          </a:p>
          <a:p>
            <a:pPr lvl="1"/>
            <a:endParaRPr lang="en-US" dirty="0"/>
          </a:p>
          <a:p>
            <a:pPr lvl="1">
              <a:buFont typeface="Wingdings" panose="05000000000000000000" pitchFamily="2" charset="2"/>
              <a:buChar char="à"/>
            </a:pPr>
            <a:r>
              <a:rPr lang="en-US" dirty="0"/>
              <a:t>Say Lisa and Ralph are in both the book club and the student government, they id pairs will appear twice</a:t>
            </a:r>
          </a:p>
          <a:p>
            <a:pPr lvl="1">
              <a:buFont typeface="Wingdings" panose="05000000000000000000" pitchFamily="2" charset="2"/>
              <a:buChar char="à"/>
            </a:pPr>
            <a:endParaRPr lang="en-US" dirty="0"/>
          </a:p>
          <a:p>
            <a:pPr lvl="1"/>
            <a:r>
              <a:rPr lang="en-US" dirty="0"/>
              <a:t>Remove duplicate (uid1, uid2) pairs from the output</a:t>
            </a:r>
          </a:p>
          <a:p>
            <a:pPr lvl="1"/>
            <a:endParaRPr lang="en-US" dirty="0">
              <a:latin typeface="Prestige12 BT" panose="020705090305060203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19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474FE8-DEFE-42D5-8588-91FFC71B5E5E}"/>
              </a:ext>
            </a:extLst>
          </p:cNvPr>
          <p:cNvSpPr/>
          <p:nvPr/>
        </p:nvSpPr>
        <p:spPr>
          <a:xfrm>
            <a:off x="912894" y="1981690"/>
            <a:ext cx="7031897" cy="13624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2000" dirty="0">
                <a:solidFill>
                  <a:schemeClr val="bg1"/>
                </a:solidFill>
                <a:latin typeface="Prestige12 BT" panose="02070509030506020304" pitchFamily="49" charset="0"/>
              </a:rPr>
              <a:t>SELECT m1.uid AS uid1, m2.uid AS uid2</a:t>
            </a:r>
            <a:br>
              <a:rPr lang="en-US" sz="2000" dirty="0">
                <a:solidFill>
                  <a:schemeClr val="bg1"/>
                </a:solidFill>
                <a:latin typeface="Prestige12 BT" panose="02070509030506020304" pitchFamily="49" charset="0"/>
              </a:rPr>
            </a:br>
            <a:r>
              <a:rPr lang="en-US" sz="2000" dirty="0">
                <a:solidFill>
                  <a:schemeClr val="bg1"/>
                </a:solidFill>
                <a:latin typeface="Prestige12 BT" panose="02070509030506020304" pitchFamily="49" charset="0"/>
              </a:rPr>
              <a:t>	FROM Member AS m1, Member AS m2</a:t>
            </a:r>
            <a:br>
              <a:rPr lang="en-US" sz="2000" dirty="0">
                <a:solidFill>
                  <a:schemeClr val="bg1"/>
                </a:solidFill>
                <a:latin typeface="Prestige12 BT" panose="02070509030506020304" pitchFamily="49" charset="0"/>
              </a:rPr>
            </a:br>
            <a:r>
              <a:rPr lang="en-US" sz="2000" dirty="0">
                <a:solidFill>
                  <a:schemeClr val="bg1"/>
                </a:solidFill>
                <a:latin typeface="Prestige12 BT" panose="02070509030506020304" pitchFamily="49" charset="0"/>
              </a:rPr>
              <a:t>	WHERE </a:t>
            </a:r>
            <a: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  <a:t>m1.gid = m2.gid</a:t>
            </a:r>
            <a:br>
              <a:rPr lang="en-US" sz="2000" dirty="0">
                <a:solidFill>
                  <a:schemeClr val="bg1"/>
                </a:solidFill>
                <a:latin typeface="Prestige12 BT" panose="02070509030506020304" pitchFamily="49" charset="0"/>
              </a:rPr>
            </a:br>
            <a:r>
              <a:rPr lang="en-US" sz="2000" dirty="0">
                <a:solidFill>
                  <a:schemeClr val="bg1"/>
                </a:solidFill>
                <a:latin typeface="Prestige12 BT" panose="02070509030506020304" pitchFamily="49" charset="0"/>
              </a:rPr>
              <a:t>		AND </a:t>
            </a:r>
            <a: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  <a:t>m1.uid &gt; m2.uid</a:t>
            </a:r>
            <a:r>
              <a:rPr lang="en-US" sz="2000" dirty="0">
                <a:solidFill>
                  <a:schemeClr val="bg1"/>
                </a:solidFill>
                <a:latin typeface="Prestige12 BT" panose="02070509030506020304" pitchFamily="49" charset="0"/>
              </a:rPr>
              <a:t>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1C41A9-0EC0-40E3-9DE6-310E56B069B4}"/>
              </a:ext>
            </a:extLst>
          </p:cNvPr>
          <p:cNvSpPr/>
          <p:nvPr/>
        </p:nvSpPr>
        <p:spPr>
          <a:xfrm>
            <a:off x="912893" y="5033455"/>
            <a:ext cx="7031897" cy="13624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2000" dirty="0">
                <a:solidFill>
                  <a:schemeClr val="bg1"/>
                </a:solidFill>
                <a:latin typeface="Prestige12 BT" panose="02070509030506020304" pitchFamily="49" charset="0"/>
              </a:rPr>
              <a:t>SELECT </a:t>
            </a:r>
            <a: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  <a:t>DISTINCT</a:t>
            </a:r>
            <a:r>
              <a:rPr lang="en-US" sz="2000" dirty="0">
                <a:solidFill>
                  <a:schemeClr val="bg1"/>
                </a:solidFill>
                <a:latin typeface="Prestige12 BT" panose="02070509030506020304" pitchFamily="49" charset="0"/>
              </a:rPr>
              <a:t> m1.uid AS uid1, m2.uid AS uid2</a:t>
            </a:r>
            <a:br>
              <a:rPr lang="en-US" sz="2000" dirty="0">
                <a:solidFill>
                  <a:schemeClr val="bg1"/>
                </a:solidFill>
                <a:latin typeface="Prestige12 BT" panose="02070509030506020304" pitchFamily="49" charset="0"/>
              </a:rPr>
            </a:br>
            <a:r>
              <a:rPr lang="en-US" sz="2000" dirty="0">
                <a:solidFill>
                  <a:schemeClr val="bg1"/>
                </a:solidFill>
                <a:latin typeface="Prestige12 BT" panose="02070509030506020304" pitchFamily="49" charset="0"/>
              </a:rPr>
              <a:t>	FROM Member AS m1, Member AS m2</a:t>
            </a:r>
            <a:br>
              <a:rPr lang="en-US" sz="2000" dirty="0">
                <a:solidFill>
                  <a:schemeClr val="bg1"/>
                </a:solidFill>
                <a:latin typeface="Prestige12 BT" panose="02070509030506020304" pitchFamily="49" charset="0"/>
              </a:rPr>
            </a:br>
            <a:r>
              <a:rPr lang="en-US" sz="2000" dirty="0">
                <a:solidFill>
                  <a:schemeClr val="bg1"/>
                </a:solidFill>
                <a:latin typeface="Prestige12 BT" panose="02070509030506020304" pitchFamily="49" charset="0"/>
              </a:rPr>
              <a:t>	WHERE </a:t>
            </a:r>
            <a: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  <a:t>m1.gid = m2.gid;</a:t>
            </a:r>
            <a:br>
              <a:rPr lang="en-US" sz="2000" dirty="0">
                <a:solidFill>
                  <a:schemeClr val="bg1"/>
                </a:solidFill>
                <a:latin typeface="Prestige12 BT" panose="02070509030506020304" pitchFamily="49" charset="0"/>
              </a:rPr>
            </a:br>
            <a:r>
              <a:rPr lang="en-US" sz="2000" dirty="0">
                <a:solidFill>
                  <a:schemeClr val="bg1"/>
                </a:solidFill>
                <a:latin typeface="Prestige12 BT" panose="02070509030506020304" pitchFamily="49" charset="0"/>
              </a:rPr>
              <a:t>		AND </a:t>
            </a:r>
            <a: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  <a:t>m1.uid &gt; m2.uid</a:t>
            </a:r>
            <a:r>
              <a:rPr lang="en-US" sz="2000" dirty="0">
                <a:solidFill>
                  <a:schemeClr val="bg1"/>
                </a:solidFill>
                <a:latin typeface="Prestige12 BT" panose="02070509030506020304" pitchFamily="49" charset="0"/>
              </a:rPr>
              <a:t>;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55179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Semantics of SFW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  <a:t>SELECT [DISTINCT]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  <a:t>, 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br>
                  <a:rPr lang="en-US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</a:br>
                <a:r>
                  <a:rPr lang="en-US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  <a:t>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  <a:t>, 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/>
                          </a:rPr>
                          <m:t>𝑚</m:t>
                        </m:r>
                      </m:sub>
                    </m:sSub>
                  </m:oMath>
                </a14:m>
                <a:br>
                  <a:rPr lang="en-US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</a:br>
                <a:r>
                  <a:rPr lang="en-US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accent2"/>
                        </a:solidFill>
                        <a:latin typeface="Cambria Math"/>
                      </a:rPr>
                      <m:t>𝑐𝑜𝑛𝑑𝑖𝑡𝑖𝑜𝑛</m:t>
                    </m:r>
                  </m:oMath>
                </a14:m>
                <a:r>
                  <a:rPr lang="en-US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  <a:t>;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For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:</a:t>
                </a:r>
                <a:br>
                  <a:rPr lang="en-US" dirty="0">
                    <a:solidFill>
                      <a:schemeClr val="tx1"/>
                    </a:solidFill>
                  </a:rPr>
                </a:br>
                <a:r>
                  <a:rPr lang="en-US" dirty="0">
                    <a:solidFill>
                      <a:schemeClr val="tx1"/>
                    </a:solidFill>
                  </a:rPr>
                  <a:t>    For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: … …</a:t>
                </a:r>
                <a:br>
                  <a:rPr lang="en-US" dirty="0">
                    <a:solidFill>
                      <a:schemeClr val="tx1"/>
                    </a:solidFill>
                  </a:rPr>
                </a:br>
                <a:r>
                  <a:rPr lang="en-US" dirty="0">
                    <a:solidFill>
                      <a:schemeClr val="tx1"/>
                    </a:solidFill>
                  </a:rPr>
                  <a:t>        For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:</a:t>
                </a:r>
              </a:p>
              <a:p>
                <a:pPr marL="0" indent="0">
                  <a:buNone/>
                </a:pPr>
                <a:r>
                  <a:rPr lang="en-US" dirty="0"/>
                  <a:t>	   If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𝑐𝑜𝑛𝑑𝑖𝑡𝑖𝑜𝑛</m:t>
                    </m:r>
                  </m:oMath>
                </a14:m>
                <a:r>
                  <a:rPr lang="en-US" dirty="0"/>
                  <a:t> is true over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, 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/>
                  <a:t>: </a:t>
                </a:r>
                <a:br>
                  <a:rPr lang="en-US" dirty="0"/>
                </a:br>
                <a:r>
                  <a:rPr lang="en-US" dirty="0"/>
                  <a:t>	       Compute and output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, 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as a row    </a:t>
                </a:r>
              </a:p>
              <a:p>
                <a:pPr marL="0" indent="0">
                  <a:buNone/>
                </a:pPr>
                <a:r>
                  <a:rPr lang="en-US" dirty="0"/>
                  <a:t>    If </a:t>
                </a:r>
                <a:r>
                  <a:rPr lang="en-US" dirty="0">
                    <a:latin typeface="Prestige12 BT" panose="02070509030506020304" pitchFamily="49" charset="0"/>
                  </a:rPr>
                  <a:t>DISTINCT</a:t>
                </a:r>
                <a:r>
                  <a:rPr lang="en-US" dirty="0"/>
                  <a:t> is present</a:t>
                </a:r>
                <a:br>
                  <a:rPr lang="en-US" dirty="0"/>
                </a:br>
                <a:r>
                  <a:rPr lang="en-US" dirty="0"/>
                  <a:t>         Eliminate duplicate rows in output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, 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/>
                  <a:t> are often called </a:t>
                </a:r>
                <a:r>
                  <a:rPr lang="en-US" dirty="0">
                    <a:solidFill>
                      <a:schemeClr val="accent2"/>
                    </a:solidFill>
                  </a:rPr>
                  <a:t>tuple variables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6"/>
                <a:stretch>
                  <a:fillRect l="-1119" t="-173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20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02125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set and bag operations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latin typeface="Prestige12 BT" panose="02070509030506020304" pitchFamily="49" charset="0"/>
                  </a:rPr>
                  <a:t>Set: UNION</a:t>
                </a:r>
                <a:r>
                  <a:rPr lang="en-US" dirty="0"/>
                  <a:t>, </a:t>
                </a:r>
                <a:r>
                  <a:rPr lang="en-US" dirty="0">
                    <a:latin typeface="Prestige12 BT" panose="02070509030506020304" pitchFamily="49" charset="0"/>
                  </a:rPr>
                  <a:t>EXCEPT</a:t>
                </a:r>
                <a:r>
                  <a:rPr lang="en-US" dirty="0"/>
                  <a:t>, </a:t>
                </a:r>
                <a:r>
                  <a:rPr lang="en-US" dirty="0">
                    <a:latin typeface="Prestige12 BT" panose="02070509030506020304" pitchFamily="49" charset="0"/>
                  </a:rPr>
                  <a:t>INTERSECT</a:t>
                </a:r>
              </a:p>
              <a:p>
                <a:pPr lvl="1"/>
                <a:r>
                  <a:rPr lang="en-US" dirty="0"/>
                  <a:t>Exactly like 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2"/>
                        </a:solidFill>
                        <a:latin typeface="Cambria Math"/>
                      </a:rPr>
                      <m:t>∪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2"/>
                        </a:solidFill>
                        <a:latin typeface="Cambria Math"/>
                      </a:rPr>
                      <m:t>−</m:t>
                    </m:r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2"/>
                        </a:solidFill>
                        <a:latin typeface="Cambria Math"/>
                      </a:rPr>
                      <m:t>∩</m:t>
                    </m:r>
                  </m:oMath>
                </a14:m>
                <a:r>
                  <a:rPr lang="en-US" dirty="0"/>
                  <a:t> in relational algebra</a:t>
                </a:r>
              </a:p>
              <a:p>
                <a:pPr lvl="1"/>
                <a:r>
                  <a:rPr lang="en-US" dirty="0"/>
                  <a:t>Duplicates in input tables, if any, are first eliminated</a:t>
                </a:r>
              </a:p>
              <a:p>
                <a:pPr lvl="1"/>
                <a:r>
                  <a:rPr lang="en-US" dirty="0"/>
                  <a:t>Duplicates in result are also eliminated (for </a:t>
                </a:r>
                <a:r>
                  <a:rPr lang="en-US" dirty="0">
                    <a:latin typeface="Prestige12 BT" panose="02070509030506020304" pitchFamily="49" charset="0"/>
                  </a:rPr>
                  <a:t>UNION</a:t>
                </a:r>
                <a:r>
                  <a:rPr lang="en-US" dirty="0"/>
                  <a:t>)</a:t>
                </a:r>
                <a:endParaRPr lang="en-CA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6"/>
                <a:stretch>
                  <a:fillRect l="-1342" t="-1968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21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04C770F-F683-417B-9A80-4EEB62908C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975121"/>
              </p:ext>
            </p:extLst>
          </p:nvPr>
        </p:nvGraphicFramePr>
        <p:xfrm>
          <a:off x="576396" y="4003330"/>
          <a:ext cx="916305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6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6472">
                <a:tc>
                  <a:txBody>
                    <a:bodyPr/>
                    <a:lstStyle/>
                    <a:p>
                      <a:r>
                        <a:rPr lang="en-US" sz="1600" i="1" dirty="0"/>
                        <a:t>fruit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597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apple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66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apple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70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orange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13A81FF-1D9E-43CB-8355-1612BC8085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9209470"/>
              </p:ext>
            </p:extLst>
          </p:nvPr>
        </p:nvGraphicFramePr>
        <p:xfrm>
          <a:off x="1661484" y="4000282"/>
          <a:ext cx="916305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6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6472">
                <a:tc>
                  <a:txBody>
                    <a:bodyPr/>
                    <a:lstStyle/>
                    <a:p>
                      <a:r>
                        <a:rPr lang="en-US" sz="1600" i="1" dirty="0"/>
                        <a:t>fruit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597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orange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66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orange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70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orange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C41E31B8-9B67-4599-9919-BBA3149A42CE}"/>
              </a:ext>
            </a:extLst>
          </p:cNvPr>
          <p:cNvSpPr/>
          <p:nvPr/>
        </p:nvSpPr>
        <p:spPr>
          <a:xfrm>
            <a:off x="672713" y="3631212"/>
            <a:ext cx="7425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Prestige12 BT" panose="02070509030506020304" pitchFamily="49" charset="0"/>
              </a:rPr>
              <a:t>Bag1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BB892C-05E3-4FFC-83D5-35D343CECDE1}"/>
              </a:ext>
            </a:extLst>
          </p:cNvPr>
          <p:cNvSpPr/>
          <p:nvPr/>
        </p:nvSpPr>
        <p:spPr>
          <a:xfrm>
            <a:off x="1766945" y="3631212"/>
            <a:ext cx="7425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Prestige12 BT" panose="02070509030506020304" pitchFamily="49" charset="0"/>
              </a:rPr>
              <a:t>Bag2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74FDDD-8CE9-4521-B537-43FBEA51B678}"/>
              </a:ext>
            </a:extLst>
          </p:cNvPr>
          <p:cNvSpPr/>
          <p:nvPr/>
        </p:nvSpPr>
        <p:spPr>
          <a:xfrm>
            <a:off x="3080350" y="3631212"/>
            <a:ext cx="1879297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Prestige12 BT" panose="02070509030506020304" pitchFamily="49" charset="0"/>
              </a:rPr>
              <a:t>(SELECT * FROM Bag1)</a:t>
            </a:r>
            <a:br>
              <a:rPr lang="en-US" sz="1400" dirty="0">
                <a:latin typeface="Prestige12 BT" panose="02070509030506020304" pitchFamily="49" charset="0"/>
              </a:rPr>
            </a:br>
            <a:r>
              <a:rPr lang="en-US" sz="1400" dirty="0">
                <a:solidFill>
                  <a:schemeClr val="accent2"/>
                </a:solidFill>
                <a:latin typeface="Prestige12 BT" panose="02070509030506020304" pitchFamily="49" charset="0"/>
              </a:rPr>
              <a:t>UNION</a:t>
            </a:r>
            <a:br>
              <a:rPr lang="en-US" sz="1400" dirty="0">
                <a:solidFill>
                  <a:schemeClr val="accent2"/>
                </a:solidFill>
                <a:latin typeface="Prestige12 BT" panose="02070509030506020304" pitchFamily="49" charset="0"/>
              </a:rPr>
            </a:br>
            <a:r>
              <a:rPr lang="en-US" sz="1400" dirty="0">
                <a:latin typeface="Prestige12 BT" panose="02070509030506020304" pitchFamily="49" charset="0"/>
              </a:rPr>
              <a:t>(SELECT * FROM Bag2);</a:t>
            </a:r>
            <a:endParaRPr lang="en-US" sz="1400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96D3D57-7969-426A-BFB0-08FF783A8D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368348"/>
              </p:ext>
            </p:extLst>
          </p:nvPr>
        </p:nvGraphicFramePr>
        <p:xfrm>
          <a:off x="3742985" y="4369876"/>
          <a:ext cx="916305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6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6472">
                <a:tc>
                  <a:txBody>
                    <a:bodyPr/>
                    <a:lstStyle/>
                    <a:p>
                      <a:r>
                        <a:rPr lang="en-US" sz="1600" i="1" dirty="0"/>
                        <a:t>fruit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597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apple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66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orange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570B5086-FC3D-4DE8-9DA4-459EE624B29F}"/>
              </a:ext>
            </a:extLst>
          </p:cNvPr>
          <p:cNvSpPr/>
          <p:nvPr/>
        </p:nvSpPr>
        <p:spPr>
          <a:xfrm>
            <a:off x="5231613" y="3630950"/>
            <a:ext cx="1879297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Prestige12 BT" panose="02070509030506020304" pitchFamily="49" charset="0"/>
              </a:rPr>
              <a:t>(SELECT * FROM Bag1)</a:t>
            </a:r>
            <a:br>
              <a:rPr lang="en-US" sz="1400" dirty="0">
                <a:latin typeface="Prestige12 BT" panose="02070509030506020304" pitchFamily="49" charset="0"/>
              </a:rPr>
            </a:br>
            <a:r>
              <a:rPr lang="en-US" sz="1400" dirty="0">
                <a:solidFill>
                  <a:schemeClr val="accent2"/>
                </a:solidFill>
                <a:latin typeface="Prestige12 BT" panose="02070509030506020304" pitchFamily="49" charset="0"/>
              </a:rPr>
              <a:t>EXCEPT</a:t>
            </a:r>
            <a:br>
              <a:rPr lang="en-US" sz="1400" dirty="0">
                <a:solidFill>
                  <a:schemeClr val="accent2"/>
                </a:solidFill>
                <a:latin typeface="Prestige12 BT" panose="02070509030506020304" pitchFamily="49" charset="0"/>
              </a:rPr>
            </a:br>
            <a:r>
              <a:rPr lang="en-US" sz="1400" dirty="0">
                <a:latin typeface="Prestige12 BT" panose="02070509030506020304" pitchFamily="49" charset="0"/>
              </a:rPr>
              <a:t>(SELECT * FROM Bag2);</a:t>
            </a:r>
            <a:endParaRPr lang="en-US" sz="1400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2E66447-D471-46FA-882D-F7720A3BDF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9935062"/>
              </p:ext>
            </p:extLst>
          </p:nvPr>
        </p:nvGraphicFramePr>
        <p:xfrm>
          <a:off x="5861948" y="4369614"/>
          <a:ext cx="916305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6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6472">
                <a:tc>
                  <a:txBody>
                    <a:bodyPr/>
                    <a:lstStyle/>
                    <a:p>
                      <a:r>
                        <a:rPr lang="en-US" sz="1600" i="1" dirty="0"/>
                        <a:t>fruit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64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Prestige12 BT" panose="02070509030506020304" pitchFamily="49" charset="0"/>
                        </a:rPr>
                        <a:t>apple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960272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229DC724-FB2F-49AF-948C-3FECD85AED89}"/>
              </a:ext>
            </a:extLst>
          </p:cNvPr>
          <p:cNvSpPr/>
          <p:nvPr/>
        </p:nvSpPr>
        <p:spPr>
          <a:xfrm>
            <a:off x="7272547" y="3631212"/>
            <a:ext cx="1879297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Prestige12 BT" panose="02070509030506020304" pitchFamily="49" charset="0"/>
              </a:rPr>
              <a:t>(SELECT * FROM Bag1)</a:t>
            </a:r>
            <a:br>
              <a:rPr lang="en-US" sz="1400" dirty="0">
                <a:latin typeface="Prestige12 BT" panose="02070509030506020304" pitchFamily="49" charset="0"/>
              </a:rPr>
            </a:br>
            <a:r>
              <a:rPr lang="en-US" sz="1400" dirty="0">
                <a:solidFill>
                  <a:schemeClr val="accent2"/>
                </a:solidFill>
                <a:latin typeface="Prestige12 BT" panose="02070509030506020304" pitchFamily="49" charset="0"/>
              </a:rPr>
              <a:t>INTERSECT</a:t>
            </a:r>
            <a:br>
              <a:rPr lang="en-US" sz="1400" dirty="0">
                <a:latin typeface="Prestige12 BT" panose="02070509030506020304" pitchFamily="49" charset="0"/>
              </a:rPr>
            </a:br>
            <a:r>
              <a:rPr lang="en-US" sz="1400" dirty="0">
                <a:latin typeface="Prestige12 BT" panose="02070509030506020304" pitchFamily="49" charset="0"/>
              </a:rPr>
              <a:t>(SELECT * FROM Bag2);</a:t>
            </a:r>
            <a:endParaRPr lang="en-US" sz="1400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D9C273CA-2784-4E4D-9F36-3DCB064FD0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4965300"/>
              </p:ext>
            </p:extLst>
          </p:nvPr>
        </p:nvGraphicFramePr>
        <p:xfrm>
          <a:off x="7822406" y="4369876"/>
          <a:ext cx="916305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6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6472">
                <a:tc>
                  <a:txBody>
                    <a:bodyPr/>
                    <a:lstStyle/>
                    <a:p>
                      <a:r>
                        <a:rPr lang="en-US" sz="1600" i="1" dirty="0"/>
                        <a:t>fruit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66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orange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933549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  <p:bldP spid="9" grpId="0"/>
      <p:bldP spid="11" grpId="0"/>
      <p:bldP spid="1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set and bag operations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latin typeface="Prestige12 BT" panose="02070509030506020304" pitchFamily="49" charset="0"/>
                  </a:rPr>
                  <a:t>Set: UNION</a:t>
                </a:r>
                <a:r>
                  <a:rPr lang="en-US" dirty="0"/>
                  <a:t>, </a:t>
                </a:r>
                <a:r>
                  <a:rPr lang="en-US" dirty="0">
                    <a:latin typeface="Prestige12 BT" panose="02070509030506020304" pitchFamily="49" charset="0"/>
                  </a:rPr>
                  <a:t>EXCEPT</a:t>
                </a:r>
                <a:r>
                  <a:rPr lang="en-US" dirty="0"/>
                  <a:t>, </a:t>
                </a:r>
                <a:r>
                  <a:rPr lang="en-US" dirty="0">
                    <a:latin typeface="Prestige12 BT" panose="02070509030506020304" pitchFamily="49" charset="0"/>
                  </a:rPr>
                  <a:t>INTERSECT</a:t>
                </a:r>
              </a:p>
              <a:p>
                <a:pPr lvl="1"/>
                <a:r>
                  <a:rPr lang="en-US" dirty="0"/>
                  <a:t>Exactly like 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2"/>
                        </a:solidFill>
                        <a:latin typeface="Cambria Math"/>
                      </a:rPr>
                      <m:t>∪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2"/>
                        </a:solidFill>
                        <a:latin typeface="Cambria Math"/>
                      </a:rPr>
                      <m:t>−</m:t>
                    </m:r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2"/>
                        </a:solidFill>
                        <a:latin typeface="Cambria Math"/>
                      </a:rPr>
                      <m:t>∩</m:t>
                    </m:r>
                  </m:oMath>
                </a14:m>
                <a:r>
                  <a:rPr lang="en-US" dirty="0"/>
                  <a:t> in relational algebra</a:t>
                </a:r>
              </a:p>
              <a:p>
                <a:r>
                  <a:rPr lang="en-US" dirty="0">
                    <a:latin typeface="Prestige12 BT" panose="02070509030506020304" pitchFamily="49" charset="0"/>
                  </a:rPr>
                  <a:t>Bag: UNION </a:t>
                </a:r>
                <a:r>
                  <a:rPr lang="en-US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  <a:t>ALL</a:t>
                </a:r>
                <a:r>
                  <a:rPr lang="en-US" dirty="0"/>
                  <a:t>, </a:t>
                </a:r>
                <a:r>
                  <a:rPr lang="en-US" dirty="0">
                    <a:latin typeface="Prestige12 BT" panose="02070509030506020304" pitchFamily="49" charset="0"/>
                  </a:rPr>
                  <a:t>EXCEPT </a:t>
                </a:r>
                <a:r>
                  <a:rPr lang="en-US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  <a:t>ALL</a:t>
                </a:r>
                <a:r>
                  <a:rPr lang="en-US" dirty="0"/>
                  <a:t>, </a:t>
                </a:r>
                <a:r>
                  <a:rPr lang="en-US" dirty="0">
                    <a:latin typeface="Prestige12 BT" panose="02070509030506020304" pitchFamily="49" charset="0"/>
                  </a:rPr>
                  <a:t>INTERSECT </a:t>
                </a:r>
                <a:r>
                  <a:rPr lang="en-US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  <a:t>ALL</a:t>
                </a:r>
              </a:p>
              <a:p>
                <a:pPr lvl="1"/>
                <a:r>
                  <a:rPr lang="en-US" dirty="0"/>
                  <a:t>Think of each row as having an implicit </a:t>
                </a:r>
                <a:r>
                  <a:rPr lang="en-US" dirty="0">
                    <a:solidFill>
                      <a:schemeClr val="accent2"/>
                    </a:solidFill>
                  </a:rPr>
                  <a:t>count</a:t>
                </a:r>
                <a:r>
                  <a:rPr lang="en-US" dirty="0"/>
                  <a:t> (the number of times it appears in the table)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6"/>
                <a:stretch>
                  <a:fillRect l="-1342" t="-1968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22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429262C-E222-4425-B258-D373029AA9B2}"/>
              </a:ext>
            </a:extLst>
          </p:cNvPr>
          <p:cNvGraphicFramePr>
            <a:graphicFrameLocks noGrp="1"/>
          </p:cNvGraphicFramePr>
          <p:nvPr/>
        </p:nvGraphicFramePr>
        <p:xfrm>
          <a:off x="628650" y="4543269"/>
          <a:ext cx="916305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6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6472">
                <a:tc>
                  <a:txBody>
                    <a:bodyPr/>
                    <a:lstStyle/>
                    <a:p>
                      <a:r>
                        <a:rPr lang="en-US" sz="1600" i="1" dirty="0"/>
                        <a:t>fruit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597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apple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66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apple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70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orange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9E7A0DD-3AA9-468F-A360-35B2A49B7DA9}"/>
              </a:ext>
            </a:extLst>
          </p:cNvPr>
          <p:cNvGraphicFramePr>
            <a:graphicFrameLocks noGrp="1"/>
          </p:cNvGraphicFramePr>
          <p:nvPr/>
        </p:nvGraphicFramePr>
        <p:xfrm>
          <a:off x="1713738" y="4540221"/>
          <a:ext cx="916305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6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6472">
                <a:tc>
                  <a:txBody>
                    <a:bodyPr/>
                    <a:lstStyle/>
                    <a:p>
                      <a:r>
                        <a:rPr lang="en-US" sz="1600" i="1" dirty="0"/>
                        <a:t>fruit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597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apple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66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orange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70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orange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F109DAFE-E00D-4ED4-AB59-9667B1C32721}"/>
              </a:ext>
            </a:extLst>
          </p:cNvPr>
          <p:cNvSpPr/>
          <p:nvPr/>
        </p:nvSpPr>
        <p:spPr>
          <a:xfrm>
            <a:off x="724967" y="4171151"/>
            <a:ext cx="7425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Prestige12 BT" panose="02070509030506020304" pitchFamily="49" charset="0"/>
              </a:rPr>
              <a:t>Bag1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B008A5-C4A7-4596-9BED-474237B7CD02}"/>
              </a:ext>
            </a:extLst>
          </p:cNvPr>
          <p:cNvSpPr/>
          <p:nvPr/>
        </p:nvSpPr>
        <p:spPr>
          <a:xfrm>
            <a:off x="1819199" y="4171151"/>
            <a:ext cx="7425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Prestige12 BT" panose="02070509030506020304" pitchFamily="49" charset="0"/>
              </a:rPr>
              <a:t>Bag2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7FBCF30-3702-460B-BFF0-11BA9789D1D8}"/>
              </a:ext>
            </a:extLst>
          </p:cNvPr>
          <p:cNvSpPr/>
          <p:nvPr/>
        </p:nvSpPr>
        <p:spPr>
          <a:xfrm>
            <a:off x="3132604" y="3613799"/>
            <a:ext cx="1879297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Prestige12 BT" panose="02070509030506020304" pitchFamily="49" charset="0"/>
              </a:rPr>
              <a:t>(SELECT * FROM Bag1)</a:t>
            </a:r>
            <a:br>
              <a:rPr lang="en-US" sz="1400" dirty="0">
                <a:latin typeface="Prestige12 BT" panose="02070509030506020304" pitchFamily="49" charset="0"/>
              </a:rPr>
            </a:br>
            <a:r>
              <a:rPr lang="en-US" sz="1400" dirty="0">
                <a:solidFill>
                  <a:schemeClr val="accent2"/>
                </a:solidFill>
                <a:latin typeface="Prestige12 BT" panose="02070509030506020304" pitchFamily="49" charset="0"/>
              </a:rPr>
              <a:t>UNION ALL</a:t>
            </a:r>
            <a:br>
              <a:rPr lang="en-US" sz="1400" dirty="0">
                <a:solidFill>
                  <a:schemeClr val="accent2"/>
                </a:solidFill>
                <a:latin typeface="Prestige12 BT" panose="02070509030506020304" pitchFamily="49" charset="0"/>
              </a:rPr>
            </a:br>
            <a:r>
              <a:rPr lang="en-US" sz="1400" dirty="0">
                <a:latin typeface="Prestige12 BT" panose="02070509030506020304" pitchFamily="49" charset="0"/>
              </a:rPr>
              <a:t>(SELECT * FROM Bag2);</a:t>
            </a:r>
            <a:endParaRPr lang="en-US" sz="1400" dirty="0"/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0B8BE4CD-AA82-4F6A-A0B8-CA14FE86E881}"/>
              </a:ext>
            </a:extLst>
          </p:cNvPr>
          <p:cNvGraphicFramePr>
            <a:graphicFrameLocks noGrp="1"/>
          </p:cNvGraphicFramePr>
          <p:nvPr/>
        </p:nvGraphicFramePr>
        <p:xfrm>
          <a:off x="3711793" y="4374516"/>
          <a:ext cx="916305" cy="2346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6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6472">
                <a:tc>
                  <a:txBody>
                    <a:bodyPr/>
                    <a:lstStyle/>
                    <a:p>
                      <a:r>
                        <a:rPr lang="en-US" sz="1600" i="1" dirty="0"/>
                        <a:t>fruit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597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apple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66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apple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70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orange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70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apple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970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orange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70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orange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Callout: Bent Line 11">
            <a:extLst>
              <a:ext uri="{FF2B5EF4-FFF2-40B4-BE49-F238E27FC236}">
                <a16:creationId xmlns:a16="http://schemas.microsoft.com/office/drawing/2014/main" id="{781BD6E9-8D0F-4656-90A2-8AED6502382A}"/>
              </a:ext>
            </a:extLst>
          </p:cNvPr>
          <p:cNvSpPr/>
          <p:nvPr/>
        </p:nvSpPr>
        <p:spPr>
          <a:xfrm>
            <a:off x="5778181" y="4352463"/>
            <a:ext cx="2057400" cy="920476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36405"/>
              <a:gd name="adj6" fmla="val -76296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2"/>
                </a:solidFill>
              </a:rPr>
              <a:t>sum</a:t>
            </a:r>
            <a:r>
              <a:rPr lang="en-US" dirty="0"/>
              <a:t> up the counts from two tables</a:t>
            </a:r>
            <a:endParaRPr lang="en-CA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562ECD4-22C5-4B00-A548-84F609AF983B}"/>
              </a:ext>
            </a:extLst>
          </p:cNvPr>
          <p:cNvSpPr/>
          <p:nvPr/>
        </p:nvSpPr>
        <p:spPr>
          <a:xfrm>
            <a:off x="638069" y="5998922"/>
            <a:ext cx="916305" cy="6749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/>
              <a:t>apple: 2</a:t>
            </a:r>
          </a:p>
          <a:p>
            <a:pPr algn="ctr"/>
            <a:r>
              <a:rPr lang="en-CA" sz="1400" dirty="0"/>
              <a:t>orange:1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D22232C-5718-4829-8A24-419C8B2ACFD3}"/>
              </a:ext>
            </a:extLst>
          </p:cNvPr>
          <p:cNvSpPr/>
          <p:nvPr/>
        </p:nvSpPr>
        <p:spPr>
          <a:xfrm>
            <a:off x="1713738" y="6000523"/>
            <a:ext cx="916305" cy="6749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/>
              <a:t>apple: 1</a:t>
            </a:r>
          </a:p>
          <a:p>
            <a:pPr algn="ctr"/>
            <a:r>
              <a:rPr lang="en-CA" sz="1400" dirty="0"/>
              <a:t>orange:2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701CBA4-EC83-48EA-89E2-D59C475BCDB4}"/>
              </a:ext>
            </a:extLst>
          </p:cNvPr>
          <p:cNvSpPr/>
          <p:nvPr/>
        </p:nvSpPr>
        <p:spPr>
          <a:xfrm>
            <a:off x="4861876" y="5997638"/>
            <a:ext cx="916305" cy="6749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/>
              <a:t>apple: 3</a:t>
            </a:r>
          </a:p>
          <a:p>
            <a:pPr algn="ctr"/>
            <a:r>
              <a:rPr lang="en-CA" sz="1400" dirty="0"/>
              <a:t>orange:3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30181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 animBg="1"/>
      <p:bldP spid="18" grpId="0" animBg="1"/>
      <p:bldP spid="19" grpId="0" animBg="1"/>
      <p:bldP spid="2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set and bag operations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latin typeface="Prestige12 BT" panose="02070509030506020304" pitchFamily="49" charset="0"/>
                  </a:rPr>
                  <a:t>Set: UNION</a:t>
                </a:r>
                <a:r>
                  <a:rPr lang="en-US" dirty="0"/>
                  <a:t>, </a:t>
                </a:r>
                <a:r>
                  <a:rPr lang="en-US" dirty="0">
                    <a:latin typeface="Prestige12 BT" panose="02070509030506020304" pitchFamily="49" charset="0"/>
                  </a:rPr>
                  <a:t>EXCEPT</a:t>
                </a:r>
                <a:r>
                  <a:rPr lang="en-US" dirty="0"/>
                  <a:t>, </a:t>
                </a:r>
                <a:r>
                  <a:rPr lang="en-US" dirty="0">
                    <a:latin typeface="Prestige12 BT" panose="02070509030506020304" pitchFamily="49" charset="0"/>
                  </a:rPr>
                  <a:t>INTERSECT</a:t>
                </a:r>
              </a:p>
              <a:p>
                <a:pPr lvl="1"/>
                <a:r>
                  <a:rPr lang="en-US" dirty="0"/>
                  <a:t>Exactly like 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2"/>
                        </a:solidFill>
                        <a:latin typeface="Cambria Math"/>
                      </a:rPr>
                      <m:t>∪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2"/>
                        </a:solidFill>
                        <a:latin typeface="Cambria Math"/>
                      </a:rPr>
                      <m:t>−</m:t>
                    </m:r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2"/>
                        </a:solidFill>
                        <a:latin typeface="Cambria Math"/>
                      </a:rPr>
                      <m:t>∩</m:t>
                    </m:r>
                  </m:oMath>
                </a14:m>
                <a:r>
                  <a:rPr lang="en-US" dirty="0"/>
                  <a:t> in relational algebra</a:t>
                </a:r>
              </a:p>
              <a:p>
                <a:r>
                  <a:rPr lang="en-US" dirty="0">
                    <a:latin typeface="Prestige12 BT" panose="02070509030506020304" pitchFamily="49" charset="0"/>
                  </a:rPr>
                  <a:t>Bag: UNION </a:t>
                </a:r>
                <a:r>
                  <a:rPr lang="en-US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  <a:t>ALL</a:t>
                </a:r>
                <a:r>
                  <a:rPr lang="en-US" dirty="0"/>
                  <a:t>, </a:t>
                </a:r>
                <a:r>
                  <a:rPr lang="en-US" dirty="0">
                    <a:latin typeface="Prestige12 BT" panose="02070509030506020304" pitchFamily="49" charset="0"/>
                  </a:rPr>
                  <a:t>EXCEPT </a:t>
                </a:r>
                <a:r>
                  <a:rPr lang="en-US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  <a:t>ALL</a:t>
                </a:r>
                <a:r>
                  <a:rPr lang="en-US" dirty="0"/>
                  <a:t>, </a:t>
                </a:r>
                <a:r>
                  <a:rPr lang="en-US" dirty="0">
                    <a:latin typeface="Prestige12 BT" panose="02070509030506020304" pitchFamily="49" charset="0"/>
                  </a:rPr>
                  <a:t>INTERSECT </a:t>
                </a:r>
                <a:r>
                  <a:rPr lang="en-US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  <a:t>ALL</a:t>
                </a:r>
              </a:p>
              <a:p>
                <a:pPr lvl="1"/>
                <a:r>
                  <a:rPr lang="en-US" dirty="0"/>
                  <a:t>Think of each row as having an implicit </a:t>
                </a:r>
                <a:r>
                  <a:rPr lang="en-US" dirty="0">
                    <a:solidFill>
                      <a:schemeClr val="accent2"/>
                    </a:solidFill>
                  </a:rPr>
                  <a:t>count</a:t>
                </a:r>
                <a:r>
                  <a:rPr lang="en-US" dirty="0"/>
                  <a:t> (the number of times it appears in the table)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6"/>
                <a:stretch>
                  <a:fillRect l="-1342" t="-1968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23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429262C-E222-4425-B258-D373029AA9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1626140"/>
              </p:ext>
            </p:extLst>
          </p:nvPr>
        </p:nvGraphicFramePr>
        <p:xfrm>
          <a:off x="628650" y="4543269"/>
          <a:ext cx="916305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6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6472">
                <a:tc>
                  <a:txBody>
                    <a:bodyPr/>
                    <a:lstStyle/>
                    <a:p>
                      <a:r>
                        <a:rPr lang="en-US" sz="1600" i="1" dirty="0"/>
                        <a:t>fruit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597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apple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66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apple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70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orange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9E7A0DD-3AA9-468F-A360-35B2A49B7D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2988661"/>
              </p:ext>
            </p:extLst>
          </p:nvPr>
        </p:nvGraphicFramePr>
        <p:xfrm>
          <a:off x="1713738" y="4540221"/>
          <a:ext cx="916305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6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6472">
                <a:tc>
                  <a:txBody>
                    <a:bodyPr/>
                    <a:lstStyle/>
                    <a:p>
                      <a:r>
                        <a:rPr lang="en-US" sz="1600" i="1" dirty="0"/>
                        <a:t>fruit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597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apple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66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orange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70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orange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F109DAFE-E00D-4ED4-AB59-9667B1C32721}"/>
              </a:ext>
            </a:extLst>
          </p:cNvPr>
          <p:cNvSpPr/>
          <p:nvPr/>
        </p:nvSpPr>
        <p:spPr>
          <a:xfrm>
            <a:off x="724967" y="4171151"/>
            <a:ext cx="7425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Prestige12 BT" panose="02070509030506020304" pitchFamily="49" charset="0"/>
              </a:rPr>
              <a:t>Bag1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B008A5-C4A7-4596-9BED-474237B7CD02}"/>
              </a:ext>
            </a:extLst>
          </p:cNvPr>
          <p:cNvSpPr/>
          <p:nvPr/>
        </p:nvSpPr>
        <p:spPr>
          <a:xfrm>
            <a:off x="1819199" y="4171151"/>
            <a:ext cx="7425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Prestige12 BT" panose="02070509030506020304" pitchFamily="49" charset="0"/>
              </a:rPr>
              <a:t>Bag2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B645B6-3E61-4B4B-9CE2-958A04BC1CED}"/>
              </a:ext>
            </a:extLst>
          </p:cNvPr>
          <p:cNvSpPr/>
          <p:nvPr/>
        </p:nvSpPr>
        <p:spPr>
          <a:xfrm>
            <a:off x="3087473" y="3726748"/>
            <a:ext cx="1879297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Prestige12 BT" panose="02070509030506020304" pitchFamily="49" charset="0"/>
              </a:rPr>
              <a:t>(SELECT * FROM Bag1)</a:t>
            </a:r>
            <a:br>
              <a:rPr lang="en-US" sz="1400" dirty="0">
                <a:latin typeface="Prestige12 BT" panose="02070509030506020304" pitchFamily="49" charset="0"/>
              </a:rPr>
            </a:br>
            <a:r>
              <a:rPr lang="en-US" sz="1400" dirty="0">
                <a:solidFill>
                  <a:schemeClr val="accent2"/>
                </a:solidFill>
                <a:latin typeface="Prestige12 BT" panose="02070509030506020304" pitchFamily="49" charset="0"/>
              </a:rPr>
              <a:t>EXCEPT ALL</a:t>
            </a:r>
            <a:br>
              <a:rPr lang="en-US" sz="1400" dirty="0">
                <a:solidFill>
                  <a:schemeClr val="accent2"/>
                </a:solidFill>
                <a:latin typeface="Prestige12 BT" panose="02070509030506020304" pitchFamily="49" charset="0"/>
              </a:rPr>
            </a:br>
            <a:r>
              <a:rPr lang="en-US" sz="1400" dirty="0">
                <a:latin typeface="Prestige12 BT" panose="02070509030506020304" pitchFamily="49" charset="0"/>
              </a:rPr>
              <a:t>(SELECT * FROM Bag2);</a:t>
            </a:r>
            <a:endParaRPr lang="en-US" sz="1400" dirty="0"/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4D483578-30F2-4B97-88D5-A5B9149FA2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5197237"/>
              </p:ext>
            </p:extLst>
          </p:nvPr>
        </p:nvGraphicFramePr>
        <p:xfrm>
          <a:off x="3438641" y="4508517"/>
          <a:ext cx="916305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6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6472">
                <a:tc>
                  <a:txBody>
                    <a:bodyPr/>
                    <a:lstStyle/>
                    <a:p>
                      <a:r>
                        <a:rPr lang="en-US" sz="1600" i="1" dirty="0"/>
                        <a:t>fruit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597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apple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8" name="Callout: Bent Line 27">
            <a:extLst>
              <a:ext uri="{FF2B5EF4-FFF2-40B4-BE49-F238E27FC236}">
                <a16:creationId xmlns:a16="http://schemas.microsoft.com/office/drawing/2014/main" id="{F22D1611-A8ED-43E3-B4C3-26311B19AF9B}"/>
              </a:ext>
            </a:extLst>
          </p:cNvPr>
          <p:cNvSpPr/>
          <p:nvPr/>
        </p:nvSpPr>
        <p:spPr>
          <a:xfrm>
            <a:off x="5778181" y="4352463"/>
            <a:ext cx="1775419" cy="920476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36405"/>
              <a:gd name="adj6" fmla="val -76296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2"/>
                </a:solidFill>
              </a:rPr>
              <a:t>proper-subtract</a:t>
            </a:r>
            <a:r>
              <a:rPr lang="en-US" dirty="0"/>
              <a:t> the two counts</a:t>
            </a:r>
            <a:endParaRPr lang="en-CA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2659733-AADC-480B-954E-A618427D181D}"/>
              </a:ext>
            </a:extLst>
          </p:cNvPr>
          <p:cNvSpPr/>
          <p:nvPr/>
        </p:nvSpPr>
        <p:spPr>
          <a:xfrm>
            <a:off x="638069" y="5998922"/>
            <a:ext cx="916305" cy="6749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/>
              <a:t>apple: 2</a:t>
            </a:r>
          </a:p>
          <a:p>
            <a:pPr algn="ctr"/>
            <a:r>
              <a:rPr lang="en-CA" sz="1400" dirty="0"/>
              <a:t>orange:1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FD9E5D1-6E21-4183-AEA6-BD98251649DE}"/>
              </a:ext>
            </a:extLst>
          </p:cNvPr>
          <p:cNvSpPr/>
          <p:nvPr/>
        </p:nvSpPr>
        <p:spPr>
          <a:xfrm>
            <a:off x="1713738" y="6000523"/>
            <a:ext cx="916305" cy="6749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/>
              <a:t>apple: 1</a:t>
            </a:r>
          </a:p>
          <a:p>
            <a:pPr algn="ctr"/>
            <a:r>
              <a:rPr lang="en-CA" sz="1400" dirty="0"/>
              <a:t>orange:2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2F9D502-BCD1-40F9-9636-8FAD1A0B15DE}"/>
              </a:ext>
            </a:extLst>
          </p:cNvPr>
          <p:cNvSpPr/>
          <p:nvPr/>
        </p:nvSpPr>
        <p:spPr>
          <a:xfrm>
            <a:off x="3324500" y="6000523"/>
            <a:ext cx="916305" cy="6749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/>
              <a:t>apple: 1</a:t>
            </a:r>
          </a:p>
          <a:p>
            <a:pPr algn="ctr"/>
            <a:r>
              <a:rPr lang="en-CA" sz="1400" dirty="0"/>
              <a:t>orange:0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16537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8" grpId="0" animBg="1"/>
      <p:bldP spid="3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set and bag operations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latin typeface="Prestige12 BT" panose="02070509030506020304" pitchFamily="49" charset="0"/>
                  </a:rPr>
                  <a:t>Set: UNION</a:t>
                </a:r>
                <a:r>
                  <a:rPr lang="en-US" dirty="0"/>
                  <a:t>, </a:t>
                </a:r>
                <a:r>
                  <a:rPr lang="en-US" dirty="0">
                    <a:latin typeface="Prestige12 BT" panose="02070509030506020304" pitchFamily="49" charset="0"/>
                  </a:rPr>
                  <a:t>EXCEPT</a:t>
                </a:r>
                <a:r>
                  <a:rPr lang="en-US" dirty="0"/>
                  <a:t>, </a:t>
                </a:r>
                <a:r>
                  <a:rPr lang="en-US" dirty="0">
                    <a:latin typeface="Prestige12 BT" panose="02070509030506020304" pitchFamily="49" charset="0"/>
                  </a:rPr>
                  <a:t>INTERSECT</a:t>
                </a:r>
              </a:p>
              <a:p>
                <a:pPr lvl="1"/>
                <a:r>
                  <a:rPr lang="en-US" dirty="0"/>
                  <a:t>Exactly like 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2"/>
                        </a:solidFill>
                        <a:latin typeface="Cambria Math"/>
                      </a:rPr>
                      <m:t>∪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2"/>
                        </a:solidFill>
                        <a:latin typeface="Cambria Math"/>
                      </a:rPr>
                      <m:t>−</m:t>
                    </m:r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2"/>
                        </a:solidFill>
                        <a:latin typeface="Cambria Math"/>
                      </a:rPr>
                      <m:t>∩</m:t>
                    </m:r>
                  </m:oMath>
                </a14:m>
                <a:r>
                  <a:rPr lang="en-US" dirty="0"/>
                  <a:t> in relational algebra</a:t>
                </a:r>
              </a:p>
              <a:p>
                <a:r>
                  <a:rPr lang="en-US" dirty="0">
                    <a:latin typeface="Prestige12 BT" panose="02070509030506020304" pitchFamily="49" charset="0"/>
                  </a:rPr>
                  <a:t>Bag: UNION </a:t>
                </a:r>
                <a:r>
                  <a:rPr lang="en-US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  <a:t>ALL</a:t>
                </a:r>
                <a:r>
                  <a:rPr lang="en-US" dirty="0"/>
                  <a:t>, </a:t>
                </a:r>
                <a:r>
                  <a:rPr lang="en-US" dirty="0">
                    <a:latin typeface="Prestige12 BT" panose="02070509030506020304" pitchFamily="49" charset="0"/>
                  </a:rPr>
                  <a:t>EXCEPT </a:t>
                </a:r>
                <a:r>
                  <a:rPr lang="en-US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  <a:t>ALL</a:t>
                </a:r>
                <a:r>
                  <a:rPr lang="en-US" dirty="0"/>
                  <a:t>, </a:t>
                </a:r>
                <a:r>
                  <a:rPr lang="en-US" dirty="0">
                    <a:latin typeface="Prestige12 BT" panose="02070509030506020304" pitchFamily="49" charset="0"/>
                  </a:rPr>
                  <a:t>INTERSECT </a:t>
                </a:r>
                <a:r>
                  <a:rPr lang="en-US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  <a:t>ALL</a:t>
                </a:r>
              </a:p>
              <a:p>
                <a:pPr lvl="1"/>
                <a:r>
                  <a:rPr lang="en-US" dirty="0"/>
                  <a:t>Think of each row as having an implicit </a:t>
                </a:r>
                <a:r>
                  <a:rPr lang="en-US" dirty="0">
                    <a:solidFill>
                      <a:schemeClr val="accent2"/>
                    </a:solidFill>
                  </a:rPr>
                  <a:t>count</a:t>
                </a:r>
                <a:r>
                  <a:rPr lang="en-US" dirty="0"/>
                  <a:t> (the number of times it appears in the table)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6"/>
                <a:stretch>
                  <a:fillRect l="-1342" t="-1968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24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429262C-E222-4425-B258-D373029AA9B2}"/>
              </a:ext>
            </a:extLst>
          </p:cNvPr>
          <p:cNvGraphicFramePr>
            <a:graphicFrameLocks noGrp="1"/>
          </p:cNvGraphicFramePr>
          <p:nvPr/>
        </p:nvGraphicFramePr>
        <p:xfrm>
          <a:off x="628650" y="4543269"/>
          <a:ext cx="916305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6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6472">
                <a:tc>
                  <a:txBody>
                    <a:bodyPr/>
                    <a:lstStyle/>
                    <a:p>
                      <a:r>
                        <a:rPr lang="en-US" sz="1600" i="1" dirty="0"/>
                        <a:t>fruit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597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apple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66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apple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70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orange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9E7A0DD-3AA9-468F-A360-35B2A49B7DA9}"/>
              </a:ext>
            </a:extLst>
          </p:cNvPr>
          <p:cNvGraphicFramePr>
            <a:graphicFrameLocks noGrp="1"/>
          </p:cNvGraphicFramePr>
          <p:nvPr/>
        </p:nvGraphicFramePr>
        <p:xfrm>
          <a:off x="1713738" y="4540221"/>
          <a:ext cx="916305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6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6472">
                <a:tc>
                  <a:txBody>
                    <a:bodyPr/>
                    <a:lstStyle/>
                    <a:p>
                      <a:r>
                        <a:rPr lang="en-US" sz="1600" i="1" dirty="0"/>
                        <a:t>fruit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597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apple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66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orange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70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orange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F109DAFE-E00D-4ED4-AB59-9667B1C32721}"/>
              </a:ext>
            </a:extLst>
          </p:cNvPr>
          <p:cNvSpPr/>
          <p:nvPr/>
        </p:nvSpPr>
        <p:spPr>
          <a:xfrm>
            <a:off x="724967" y="4171151"/>
            <a:ext cx="7425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Prestige12 BT" panose="02070509030506020304" pitchFamily="49" charset="0"/>
              </a:rPr>
              <a:t>Bag1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B008A5-C4A7-4596-9BED-474237B7CD02}"/>
              </a:ext>
            </a:extLst>
          </p:cNvPr>
          <p:cNvSpPr/>
          <p:nvPr/>
        </p:nvSpPr>
        <p:spPr>
          <a:xfrm>
            <a:off x="1819199" y="4171151"/>
            <a:ext cx="7425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Prestige12 BT" panose="02070509030506020304" pitchFamily="49" charset="0"/>
              </a:rPr>
              <a:t>Bag2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2DE9B2-8A73-4F7C-9546-C072FEE9DA28}"/>
              </a:ext>
            </a:extLst>
          </p:cNvPr>
          <p:cNvSpPr/>
          <p:nvPr/>
        </p:nvSpPr>
        <p:spPr>
          <a:xfrm>
            <a:off x="3167257" y="3801557"/>
            <a:ext cx="1879297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Prestige12 BT" panose="02070509030506020304" pitchFamily="49" charset="0"/>
              </a:rPr>
              <a:t>(SELECT * FROM Bag1)</a:t>
            </a:r>
            <a:br>
              <a:rPr lang="en-US" sz="1400" dirty="0">
                <a:latin typeface="Prestige12 BT" panose="02070509030506020304" pitchFamily="49" charset="0"/>
              </a:rPr>
            </a:br>
            <a:r>
              <a:rPr lang="en-US" sz="1400" dirty="0">
                <a:solidFill>
                  <a:schemeClr val="accent2"/>
                </a:solidFill>
                <a:latin typeface="Prestige12 BT" panose="02070509030506020304" pitchFamily="49" charset="0"/>
              </a:rPr>
              <a:t>INTERSECT ALL</a:t>
            </a:r>
            <a:br>
              <a:rPr lang="en-US" sz="1400" dirty="0">
                <a:latin typeface="Prestige12 BT" panose="02070509030506020304" pitchFamily="49" charset="0"/>
              </a:rPr>
            </a:br>
            <a:r>
              <a:rPr lang="en-US" sz="1400" dirty="0">
                <a:latin typeface="Prestige12 BT" panose="02070509030506020304" pitchFamily="49" charset="0"/>
              </a:rPr>
              <a:t>(SELECT * FROM Bag2);</a:t>
            </a:r>
            <a:endParaRPr lang="en-US" sz="1400" dirty="0"/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33FEA4E0-DFCF-41C3-8FC2-3A85BAB51F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9328208"/>
              </p:ext>
            </p:extLst>
          </p:nvPr>
        </p:nvGraphicFramePr>
        <p:xfrm>
          <a:off x="3327723" y="4568460"/>
          <a:ext cx="916305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6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6472">
                <a:tc>
                  <a:txBody>
                    <a:bodyPr/>
                    <a:lstStyle/>
                    <a:p>
                      <a:r>
                        <a:rPr lang="en-US" sz="1600" i="1" dirty="0"/>
                        <a:t>fruit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597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apple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66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orange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8" name="Callout: Bent Line 27">
            <a:extLst>
              <a:ext uri="{FF2B5EF4-FFF2-40B4-BE49-F238E27FC236}">
                <a16:creationId xmlns:a16="http://schemas.microsoft.com/office/drawing/2014/main" id="{F22D1611-A8ED-43E3-B4C3-26311B19AF9B}"/>
              </a:ext>
            </a:extLst>
          </p:cNvPr>
          <p:cNvSpPr/>
          <p:nvPr/>
        </p:nvSpPr>
        <p:spPr>
          <a:xfrm>
            <a:off x="5778181" y="4352463"/>
            <a:ext cx="1775419" cy="920476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15591"/>
              <a:gd name="adj6" fmla="val -68938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r>
              <a:rPr lang="en-US" dirty="0"/>
              <a:t>take the </a:t>
            </a:r>
            <a:r>
              <a:rPr lang="en-US" dirty="0">
                <a:solidFill>
                  <a:schemeClr val="accent2"/>
                </a:solidFill>
              </a:rPr>
              <a:t>minimum</a:t>
            </a:r>
            <a:r>
              <a:rPr lang="en-US" dirty="0"/>
              <a:t> of the two counts</a:t>
            </a:r>
            <a:endParaRPr lang="en-CA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AD7B8A-F0DC-4CB3-A07D-D323D5FF2206}"/>
              </a:ext>
            </a:extLst>
          </p:cNvPr>
          <p:cNvSpPr/>
          <p:nvPr/>
        </p:nvSpPr>
        <p:spPr>
          <a:xfrm>
            <a:off x="638069" y="5998922"/>
            <a:ext cx="916305" cy="6749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/>
              <a:t>apple: 2</a:t>
            </a:r>
          </a:p>
          <a:p>
            <a:pPr algn="ctr"/>
            <a:r>
              <a:rPr lang="en-CA" sz="1400" dirty="0"/>
              <a:t>orange:1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F5EB99F-BB02-4D9B-8DB2-4687C0499754}"/>
              </a:ext>
            </a:extLst>
          </p:cNvPr>
          <p:cNvSpPr/>
          <p:nvPr/>
        </p:nvSpPr>
        <p:spPr>
          <a:xfrm>
            <a:off x="1713738" y="6000523"/>
            <a:ext cx="916305" cy="6749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/>
              <a:t>apple: 1</a:t>
            </a:r>
          </a:p>
          <a:p>
            <a:pPr algn="ctr"/>
            <a:r>
              <a:rPr lang="en-CA" sz="1400" dirty="0"/>
              <a:t>orange:2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5DAD277-97B8-4E61-8D23-DAD86042ADC9}"/>
              </a:ext>
            </a:extLst>
          </p:cNvPr>
          <p:cNvSpPr/>
          <p:nvPr/>
        </p:nvSpPr>
        <p:spPr>
          <a:xfrm>
            <a:off x="3324500" y="6000523"/>
            <a:ext cx="916305" cy="6749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/>
              <a:t>apple: 1</a:t>
            </a:r>
          </a:p>
          <a:p>
            <a:pPr algn="ctr"/>
            <a:r>
              <a:rPr lang="en-CA" sz="1400" dirty="0"/>
              <a:t>orange:1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35413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Set versus bag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i="1" dirty="0"/>
              <a:t>Poke</a:t>
            </a:r>
            <a:r>
              <a:rPr lang="en-US" dirty="0"/>
              <a:t> (</a:t>
            </a:r>
            <a:r>
              <a:rPr lang="en-US" i="1" dirty="0"/>
              <a:t>uid1</a:t>
            </a:r>
            <a:r>
              <a:rPr lang="en-US" dirty="0"/>
              <a:t>, </a:t>
            </a:r>
            <a:r>
              <a:rPr lang="en-US" i="1" dirty="0"/>
              <a:t>uid2</a:t>
            </a:r>
            <a:r>
              <a:rPr lang="en-US" dirty="0"/>
              <a:t>, </a:t>
            </a:r>
            <a:r>
              <a:rPr lang="en-US" i="1" dirty="0"/>
              <a:t>timestamp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uid1 poked uid2 at timestamp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Question: How do these two queries differ?</a:t>
            </a:r>
          </a:p>
          <a:p>
            <a:endParaRPr lang="en-US" dirty="0">
              <a:latin typeface="Prestige12 BT" panose="020705090305060203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25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6C926C-90D2-44C4-8F3E-5BBE34467DA3}"/>
              </a:ext>
            </a:extLst>
          </p:cNvPr>
          <p:cNvSpPr/>
          <p:nvPr/>
        </p:nvSpPr>
        <p:spPr>
          <a:xfrm>
            <a:off x="834517" y="3531819"/>
            <a:ext cx="3241095" cy="13624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Prestige12 BT" panose="02070509030506020304" pitchFamily="49" charset="0"/>
              </a:rPr>
              <a:t>Q1:</a:t>
            </a:r>
          </a:p>
          <a:p>
            <a:r>
              <a:rPr lang="en-US" sz="2000" dirty="0">
                <a:latin typeface="Prestige12 BT" panose="02070509030506020304" pitchFamily="49" charset="0"/>
              </a:rPr>
              <a:t>(SELECT uid1 FROM Poke)</a:t>
            </a:r>
            <a:br>
              <a:rPr lang="en-US" sz="2000" dirty="0">
                <a:latin typeface="Prestige12 BT" panose="02070509030506020304" pitchFamily="49" charset="0"/>
              </a:rPr>
            </a:br>
            <a: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  <a:t>EXCEPT</a:t>
            </a:r>
            <a:br>
              <a:rPr lang="en-US" sz="2000" dirty="0">
                <a:latin typeface="Prestige12 BT" panose="02070509030506020304" pitchFamily="49" charset="0"/>
              </a:rPr>
            </a:br>
            <a:r>
              <a:rPr lang="en-US" sz="2000" dirty="0">
                <a:latin typeface="Prestige12 BT" panose="02070509030506020304" pitchFamily="49" charset="0"/>
              </a:rPr>
              <a:t>(SELECT uid2 FROM Poke);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C41234-0207-48B9-9AAF-3CF99F9F5E2A}"/>
              </a:ext>
            </a:extLst>
          </p:cNvPr>
          <p:cNvSpPr/>
          <p:nvPr/>
        </p:nvSpPr>
        <p:spPr>
          <a:xfrm>
            <a:off x="4567793" y="3531819"/>
            <a:ext cx="3241095" cy="13624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Prestige12 BT" panose="02070509030506020304" pitchFamily="49" charset="0"/>
              </a:rPr>
              <a:t>Q2:</a:t>
            </a:r>
          </a:p>
          <a:p>
            <a:r>
              <a:rPr lang="en-US" sz="2000" dirty="0">
                <a:latin typeface="Prestige12 BT" panose="02070509030506020304" pitchFamily="49" charset="0"/>
              </a:rPr>
              <a:t>(SELECT uid1 FROM Poke)</a:t>
            </a:r>
            <a:br>
              <a:rPr lang="en-US" sz="2000" dirty="0">
                <a:latin typeface="Prestige12 BT" panose="02070509030506020304" pitchFamily="49" charset="0"/>
              </a:rPr>
            </a:br>
            <a: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  <a:t>EXCEPT ALL</a:t>
            </a:r>
            <a:br>
              <a:rPr lang="en-US" sz="2000" dirty="0">
                <a:latin typeface="Prestige12 BT" panose="02070509030506020304" pitchFamily="49" charset="0"/>
              </a:rPr>
            </a:br>
            <a:r>
              <a:rPr lang="en-US" sz="2000" dirty="0">
                <a:latin typeface="Prestige12 BT" panose="02070509030506020304" pitchFamily="49" charset="0"/>
              </a:rPr>
              <a:t>(SELECT uid2 FROM Poke);</a:t>
            </a:r>
          </a:p>
        </p:txBody>
      </p:sp>
    </p:spTree>
    <p:extLst>
      <p:ext uri="{BB962C8B-B14F-4D97-AF65-F5344CB8AC3E}">
        <p14:creationId xmlns:p14="http://schemas.microsoft.com/office/powerpoint/2010/main" val="2191215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Set versus bag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i="1" dirty="0"/>
              <a:t>Poke</a:t>
            </a:r>
            <a:r>
              <a:rPr lang="en-US" dirty="0"/>
              <a:t> (</a:t>
            </a:r>
            <a:r>
              <a:rPr lang="en-US" i="1" dirty="0"/>
              <a:t>uid1</a:t>
            </a:r>
            <a:r>
              <a:rPr lang="en-US" dirty="0"/>
              <a:t>, </a:t>
            </a:r>
            <a:r>
              <a:rPr lang="en-US" i="1" dirty="0"/>
              <a:t>uid2</a:t>
            </a:r>
            <a:r>
              <a:rPr lang="en-US" dirty="0"/>
              <a:t>, </a:t>
            </a:r>
            <a:r>
              <a:rPr lang="en-US" i="1" dirty="0"/>
              <a:t>timestamp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uid1 poked uid2 at timestamp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Question: How do these two queries differ?</a:t>
            </a:r>
          </a:p>
          <a:p>
            <a:endParaRPr lang="en-US" dirty="0">
              <a:latin typeface="Prestige12 BT" panose="020705090305060203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26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6C926C-90D2-44C4-8F3E-5BBE34467DA3}"/>
              </a:ext>
            </a:extLst>
          </p:cNvPr>
          <p:cNvSpPr/>
          <p:nvPr/>
        </p:nvSpPr>
        <p:spPr>
          <a:xfrm>
            <a:off x="834517" y="3531819"/>
            <a:ext cx="3241095" cy="13624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Prestige12 BT" panose="02070509030506020304" pitchFamily="49" charset="0"/>
              </a:rPr>
              <a:t>Q1:</a:t>
            </a:r>
          </a:p>
          <a:p>
            <a:r>
              <a:rPr lang="en-US" sz="2000" dirty="0">
                <a:latin typeface="Prestige12 BT" panose="02070509030506020304" pitchFamily="49" charset="0"/>
              </a:rPr>
              <a:t>(SELECT uid1 FROM Poke)</a:t>
            </a:r>
            <a:br>
              <a:rPr lang="en-US" sz="2000" dirty="0">
                <a:latin typeface="Prestige12 BT" panose="02070509030506020304" pitchFamily="49" charset="0"/>
              </a:rPr>
            </a:br>
            <a: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  <a:t>EXCEPT</a:t>
            </a:r>
            <a:br>
              <a:rPr lang="en-US" sz="2000" dirty="0">
                <a:latin typeface="Prestige12 BT" panose="02070509030506020304" pitchFamily="49" charset="0"/>
              </a:rPr>
            </a:br>
            <a:r>
              <a:rPr lang="en-US" sz="2000" dirty="0">
                <a:latin typeface="Prestige12 BT" panose="02070509030506020304" pitchFamily="49" charset="0"/>
              </a:rPr>
              <a:t>(SELECT uid2 FROM Poke);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C41234-0207-48B9-9AAF-3CF99F9F5E2A}"/>
              </a:ext>
            </a:extLst>
          </p:cNvPr>
          <p:cNvSpPr/>
          <p:nvPr/>
        </p:nvSpPr>
        <p:spPr>
          <a:xfrm>
            <a:off x="4567793" y="3531819"/>
            <a:ext cx="3241095" cy="13624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Prestige12 BT" panose="02070509030506020304" pitchFamily="49" charset="0"/>
              </a:rPr>
              <a:t>Q2:</a:t>
            </a:r>
          </a:p>
          <a:p>
            <a:r>
              <a:rPr lang="en-US" sz="2000" dirty="0">
                <a:latin typeface="Prestige12 BT" panose="02070509030506020304" pitchFamily="49" charset="0"/>
              </a:rPr>
              <a:t>(SELECT uid1 FROM Poke)</a:t>
            </a:r>
            <a:br>
              <a:rPr lang="en-US" sz="2000" dirty="0">
                <a:latin typeface="Prestige12 BT" panose="02070509030506020304" pitchFamily="49" charset="0"/>
              </a:rPr>
            </a:br>
            <a: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  <a:t>EXCEPT ALL</a:t>
            </a:r>
            <a:br>
              <a:rPr lang="en-US" sz="2000" dirty="0">
                <a:latin typeface="Prestige12 BT" panose="02070509030506020304" pitchFamily="49" charset="0"/>
              </a:rPr>
            </a:br>
            <a:r>
              <a:rPr lang="en-US" sz="2000" dirty="0">
                <a:latin typeface="Prestige12 BT" panose="02070509030506020304" pitchFamily="49" charset="0"/>
              </a:rPr>
              <a:t>(SELECT uid2 FROM Poke);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0A2DBE-3173-4901-93B0-E3CE9EFCF7C0}"/>
              </a:ext>
            </a:extLst>
          </p:cNvPr>
          <p:cNvSpPr txBox="1"/>
          <p:nvPr/>
        </p:nvSpPr>
        <p:spPr>
          <a:xfrm>
            <a:off x="834517" y="5259029"/>
            <a:ext cx="324109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/>
              <a:t>Users who poked others but never got poked by others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AEDF44-4A4D-4C27-ACD0-31EFBF1AB1D8}"/>
              </a:ext>
            </a:extLst>
          </p:cNvPr>
          <p:cNvSpPr txBox="1"/>
          <p:nvPr/>
        </p:nvSpPr>
        <p:spPr>
          <a:xfrm>
            <a:off x="4567793" y="5259029"/>
            <a:ext cx="342667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/>
              <a:t>Users who poked others more than others poked them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52100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SQL features covered so far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Prestige12 BT" panose="02070509030506020304" pitchFamily="49" charset="0"/>
              </a:rPr>
              <a:t>SELECT-FROM-WHERE</a:t>
            </a:r>
            <a:r>
              <a:rPr lang="en-US" dirty="0"/>
              <a:t> statements</a:t>
            </a:r>
          </a:p>
          <a:p>
            <a:r>
              <a:rPr lang="en-US" dirty="0"/>
              <a:t>Set and bag operations</a:t>
            </a:r>
          </a:p>
          <a:p>
            <a:endParaRPr lang="en-US" dirty="0"/>
          </a:p>
          <a:p>
            <a:pPr>
              <a:buFont typeface="Wingdings" pitchFamily="2" charset="2"/>
              <a:buChar char="F"/>
            </a:pPr>
            <a:r>
              <a:rPr lang="en-US" dirty="0"/>
              <a:t>Next: how to </a:t>
            </a:r>
            <a:r>
              <a:rPr lang="en-US" dirty="0">
                <a:solidFill>
                  <a:schemeClr val="accent2"/>
                </a:solidFill>
              </a:rPr>
              <a:t>nest SQL queries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27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12044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</a:t>
            </a:r>
            <a:r>
              <a:rPr lang="en-US" dirty="0">
                <a:solidFill>
                  <a:schemeClr val="accent2"/>
                </a:solidFill>
              </a:rPr>
              <a:t>query result</a:t>
            </a:r>
            <a:r>
              <a:rPr lang="en-US" dirty="0"/>
              <a:t> as </a:t>
            </a:r>
            <a:r>
              <a:rPr lang="en-US" dirty="0">
                <a:solidFill>
                  <a:schemeClr val="accent2"/>
                </a:solidFill>
              </a:rPr>
              <a:t>a table</a:t>
            </a:r>
          </a:p>
          <a:p>
            <a:pPr lvl="1"/>
            <a:r>
              <a:rPr lang="en-US" dirty="0"/>
              <a:t>In set and bag operations, </a:t>
            </a:r>
            <a:r>
              <a:rPr lang="en-US" dirty="0">
                <a:latin typeface="Prestige12 BT" panose="02070509030506020304" pitchFamily="49" charset="0"/>
              </a:rPr>
              <a:t>FROM</a:t>
            </a:r>
            <a:r>
              <a:rPr lang="en-US" dirty="0"/>
              <a:t> clauses, etc.</a:t>
            </a:r>
            <a:br>
              <a:rPr lang="en-US" dirty="0"/>
            </a:br>
            <a:endParaRPr lang="en-US" dirty="0"/>
          </a:p>
          <a:p>
            <a:r>
              <a:rPr lang="en-US" dirty="0"/>
              <a:t>Example: names of </a:t>
            </a:r>
            <a:r>
              <a:rPr lang="en-US" dirty="0">
                <a:solidFill>
                  <a:schemeClr val="accent2"/>
                </a:solidFill>
              </a:rPr>
              <a:t>users who poked others more than others poked them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</a:t>
            </a:r>
            <a:r>
              <a:rPr lang="en-US" dirty="0" err="1"/>
              <a:t>subqueries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86600" y="6501583"/>
            <a:ext cx="2057400" cy="365125"/>
          </a:xfrm>
        </p:spPr>
        <p:txBody>
          <a:bodyPr/>
          <a:lstStyle/>
          <a:p>
            <a:fld id="{44C99FA5-7995-46A9-A97E-16E38AD58950}" type="slidenum">
              <a:rPr lang="en-US" smtClean="0"/>
              <a:t>28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91DB37-EE22-4A70-882E-80C4FFDE8D38}"/>
              </a:ext>
            </a:extLst>
          </p:cNvPr>
          <p:cNvSpPr/>
          <p:nvPr/>
        </p:nvSpPr>
        <p:spPr>
          <a:xfrm>
            <a:off x="2064537" y="3738287"/>
            <a:ext cx="4728612" cy="243454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2000" dirty="0">
                <a:latin typeface="+mj-lt"/>
              </a:rPr>
              <a:t>SELECT DISTINCT name </a:t>
            </a:r>
          </a:p>
          <a:p>
            <a:pPr lvl="1"/>
            <a:r>
              <a:rPr lang="en-US" sz="2000" dirty="0">
                <a:latin typeface="+mj-lt"/>
              </a:rPr>
              <a:t>FROM User,</a:t>
            </a:r>
          </a:p>
          <a:p>
            <a:pPr lvl="2"/>
            <a:r>
              <a:rPr lang="en-US" sz="2000" dirty="0">
                <a:solidFill>
                  <a:schemeClr val="accent2"/>
                </a:solidFill>
                <a:latin typeface="+mj-lt"/>
              </a:rPr>
              <a:t>(SELECT uid1 FROM Poke)</a:t>
            </a:r>
            <a:br>
              <a:rPr lang="en-US" sz="2000" dirty="0">
                <a:solidFill>
                  <a:schemeClr val="accent2"/>
                </a:solidFill>
                <a:latin typeface="+mj-lt"/>
              </a:rPr>
            </a:br>
            <a:r>
              <a:rPr lang="en-US" sz="2000" dirty="0">
                <a:solidFill>
                  <a:schemeClr val="accent2"/>
                </a:solidFill>
                <a:latin typeface="+mj-lt"/>
              </a:rPr>
              <a:t>EXCEPT ALL</a:t>
            </a:r>
            <a:br>
              <a:rPr lang="en-US" sz="2000" dirty="0">
                <a:solidFill>
                  <a:schemeClr val="accent2"/>
                </a:solidFill>
                <a:latin typeface="+mj-lt"/>
              </a:rPr>
            </a:br>
            <a:r>
              <a:rPr lang="en-US" sz="2000" dirty="0">
                <a:solidFill>
                  <a:schemeClr val="accent2"/>
                </a:solidFill>
                <a:latin typeface="+mj-lt"/>
              </a:rPr>
              <a:t>(SELECT uid2 FROM Poke) AS T</a:t>
            </a:r>
          </a:p>
          <a:p>
            <a:pPr lvl="1"/>
            <a:r>
              <a:rPr lang="en-US" sz="2000" dirty="0">
                <a:latin typeface="+mj-lt"/>
              </a:rPr>
              <a:t>WHERE </a:t>
            </a:r>
            <a:r>
              <a:rPr lang="en-US" sz="2000" dirty="0" err="1">
                <a:latin typeface="+mj-lt"/>
              </a:rPr>
              <a:t>User.uid</a:t>
            </a:r>
            <a:r>
              <a:rPr lang="en-US" sz="2000" dirty="0">
                <a:latin typeface="+mj-lt"/>
              </a:rPr>
              <a:t> = </a:t>
            </a:r>
            <a:r>
              <a:rPr lang="en-US" sz="2000" dirty="0" err="1">
                <a:latin typeface="+mj-lt"/>
              </a:rPr>
              <a:t>T.uid</a:t>
            </a:r>
            <a:r>
              <a:rPr lang="en-US" sz="2000" dirty="0">
                <a:latin typeface="+mj-lt"/>
              </a:rPr>
              <a:t>;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31663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query that returns </a:t>
            </a:r>
            <a:r>
              <a:rPr lang="en-US" dirty="0">
                <a:solidFill>
                  <a:schemeClr val="accent2"/>
                </a:solidFill>
              </a:rPr>
              <a:t>a single row </a:t>
            </a:r>
            <a:r>
              <a:rPr lang="en-US" dirty="0"/>
              <a:t>can be used as </a:t>
            </a:r>
            <a:r>
              <a:rPr lang="en-US" dirty="0">
                <a:solidFill>
                  <a:schemeClr val="accent2"/>
                </a:solidFill>
              </a:rPr>
              <a:t>a value in </a:t>
            </a:r>
            <a:r>
              <a:rPr lang="en-US" dirty="0">
                <a:solidFill>
                  <a:schemeClr val="accent2"/>
                </a:solidFill>
                <a:latin typeface="Prestige12 BT" panose="02070509030506020304" pitchFamily="49" charset="0"/>
              </a:rPr>
              <a:t>WHERE</a:t>
            </a:r>
            <a:r>
              <a:rPr lang="en-US" dirty="0">
                <a:solidFill>
                  <a:schemeClr val="accent2"/>
                </a:solidFill>
              </a:rPr>
              <a:t>, </a:t>
            </a:r>
            <a:r>
              <a:rPr lang="en-US" dirty="0">
                <a:solidFill>
                  <a:schemeClr val="accent2"/>
                </a:solidFill>
                <a:latin typeface="Prestige12 BT" panose="02070509030506020304" pitchFamily="49" charset="0"/>
              </a:rPr>
              <a:t>SELECT</a:t>
            </a:r>
            <a:r>
              <a:rPr lang="en-US" dirty="0"/>
              <a:t>, etc.</a:t>
            </a:r>
          </a:p>
          <a:p>
            <a:r>
              <a:rPr lang="en-US" dirty="0"/>
              <a:t>Example: users at the same age as Bart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When can this query go wrong?</a:t>
            </a:r>
          </a:p>
          <a:p>
            <a:pPr lvl="1"/>
            <a:r>
              <a:rPr lang="en-US" dirty="0"/>
              <a:t>Return more than 1 row</a:t>
            </a:r>
          </a:p>
          <a:p>
            <a:pPr lvl="1"/>
            <a:r>
              <a:rPr lang="en-US" dirty="0"/>
              <a:t>Return no rows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Scalar </a:t>
            </a:r>
            <a:r>
              <a:rPr lang="en-US" dirty="0" err="1"/>
              <a:t>subqueries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29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561D2A-9ABA-4002-AC36-19CE5FFA6BA6}"/>
              </a:ext>
            </a:extLst>
          </p:cNvPr>
          <p:cNvSpPr/>
          <p:nvPr/>
        </p:nvSpPr>
        <p:spPr>
          <a:xfrm>
            <a:off x="1776641" y="2970036"/>
            <a:ext cx="5242468" cy="168904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2000" dirty="0">
                <a:latin typeface="+mj-lt"/>
              </a:rPr>
              <a:t>SELECT *</a:t>
            </a:r>
          </a:p>
          <a:p>
            <a:pPr lvl="1"/>
            <a:r>
              <a:rPr lang="en-US" sz="2000" dirty="0">
                <a:latin typeface="+mj-lt"/>
              </a:rPr>
              <a:t>FROM User,</a:t>
            </a:r>
          </a:p>
          <a:p>
            <a:pPr lvl="1"/>
            <a:r>
              <a:rPr lang="en-US" sz="2000" dirty="0">
                <a:latin typeface="+mj-lt"/>
              </a:rPr>
              <a:t>WHERE age = </a:t>
            </a:r>
            <a:r>
              <a:rPr lang="en-US" sz="2000" dirty="0">
                <a:solidFill>
                  <a:schemeClr val="accent2"/>
                </a:solidFill>
                <a:latin typeface="+mj-lt"/>
              </a:rPr>
              <a:t>(SELECT age </a:t>
            </a:r>
            <a:br>
              <a:rPr lang="en-US" sz="2000" dirty="0">
                <a:solidFill>
                  <a:schemeClr val="accent2"/>
                </a:solidFill>
                <a:latin typeface="+mj-lt"/>
              </a:rPr>
            </a:br>
            <a:r>
              <a:rPr lang="en-US" sz="2000" dirty="0">
                <a:solidFill>
                  <a:schemeClr val="accent2"/>
                </a:solidFill>
                <a:latin typeface="+mj-lt"/>
              </a:rPr>
              <a:t>		  FROM User </a:t>
            </a:r>
            <a:br>
              <a:rPr lang="en-US" sz="2000" dirty="0">
                <a:solidFill>
                  <a:schemeClr val="accent2"/>
                </a:solidFill>
                <a:latin typeface="+mj-lt"/>
              </a:rPr>
            </a:br>
            <a:r>
              <a:rPr lang="en-US" sz="2000" dirty="0">
                <a:solidFill>
                  <a:schemeClr val="accent2"/>
                </a:solidFill>
                <a:latin typeface="+mj-lt"/>
              </a:rPr>
              <a:t>		  WHERE name = ‘Bart’)</a:t>
            </a:r>
            <a:r>
              <a:rPr lang="en-US" sz="2000" dirty="0">
                <a:latin typeface="+mj-lt"/>
              </a:rPr>
              <a:t>;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1409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2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  <a:t> IN (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accent2"/>
                        </a:solidFill>
                        <a:latin typeface="Cambria Math"/>
                      </a:rPr>
                      <m:t>𝑠𝑢𝑏𝑞𝑢𝑒𝑟𝑦</m:t>
                    </m:r>
                  </m:oMath>
                </a14:m>
                <a:r>
                  <a:rPr lang="en-US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  <a:t>)</a:t>
                </a:r>
                <a:r>
                  <a:rPr lang="en-US" dirty="0"/>
                  <a:t> checks if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𝑥</m:t>
                    </m:r>
                  </m:oMath>
                </a14:m>
                <a:r>
                  <a:rPr lang="en-US" dirty="0"/>
                  <a:t> is in the result of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𝑠𝑢𝑏𝑞𝑢𝑒𝑟𝑦</m:t>
                    </m:r>
                  </m:oMath>
                </a14:m>
                <a:endParaRPr lang="en-US" i="1" dirty="0"/>
              </a:p>
              <a:p>
                <a:endParaRPr lang="en-US" i="1" dirty="0"/>
              </a:p>
              <a:p>
                <a:r>
                  <a:rPr lang="en-US" dirty="0"/>
                  <a:t>Example: users at the same age as (some) Bart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1342" t="-1968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Prestige12 BT" panose="02070509030506020304" pitchFamily="49" charset="0"/>
              </a:rPr>
              <a:t>IN</a:t>
            </a:r>
            <a:r>
              <a:rPr lang="en-US" dirty="0"/>
              <a:t> </a:t>
            </a:r>
            <a:r>
              <a:rPr lang="en-US" dirty="0" err="1"/>
              <a:t>subqueries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30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615545-E8C2-4822-B731-3CA02D1DEF8E}"/>
              </a:ext>
            </a:extLst>
          </p:cNvPr>
          <p:cNvSpPr/>
          <p:nvPr/>
        </p:nvSpPr>
        <p:spPr>
          <a:xfrm>
            <a:off x="1706972" y="3630711"/>
            <a:ext cx="5242468" cy="168904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2000" dirty="0">
                <a:latin typeface="+mj-lt"/>
              </a:rPr>
              <a:t>SELECT *</a:t>
            </a:r>
          </a:p>
          <a:p>
            <a:pPr lvl="1"/>
            <a:r>
              <a:rPr lang="en-US" sz="2000" dirty="0">
                <a:latin typeface="+mj-lt"/>
              </a:rPr>
              <a:t>FROM User,</a:t>
            </a:r>
          </a:p>
          <a:p>
            <a:pPr lvl="1"/>
            <a:r>
              <a:rPr lang="en-US" sz="2000" dirty="0">
                <a:latin typeface="+mj-lt"/>
              </a:rPr>
              <a:t>WHERE age </a:t>
            </a:r>
            <a:r>
              <a:rPr lang="en-US" sz="2000" dirty="0">
                <a:solidFill>
                  <a:schemeClr val="accent2"/>
                </a:solidFill>
                <a:latin typeface="+mj-lt"/>
              </a:rPr>
              <a:t>IN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>
                <a:solidFill>
                  <a:schemeClr val="accent2"/>
                </a:solidFill>
                <a:latin typeface="+mj-lt"/>
              </a:rPr>
              <a:t>(SELECT age </a:t>
            </a:r>
            <a:br>
              <a:rPr lang="en-US" sz="2000" dirty="0">
                <a:solidFill>
                  <a:schemeClr val="accent2"/>
                </a:solidFill>
                <a:latin typeface="+mj-lt"/>
              </a:rPr>
            </a:br>
            <a:r>
              <a:rPr lang="en-US" sz="2000" dirty="0">
                <a:solidFill>
                  <a:schemeClr val="accent2"/>
                </a:solidFill>
                <a:latin typeface="+mj-lt"/>
              </a:rPr>
              <a:t>		  FROM User </a:t>
            </a:r>
            <a:br>
              <a:rPr lang="en-US" sz="2000" dirty="0">
                <a:solidFill>
                  <a:schemeClr val="accent2"/>
                </a:solidFill>
                <a:latin typeface="+mj-lt"/>
              </a:rPr>
            </a:br>
            <a:r>
              <a:rPr lang="en-US" sz="2000" dirty="0">
                <a:solidFill>
                  <a:schemeClr val="accent2"/>
                </a:solidFill>
                <a:latin typeface="+mj-lt"/>
              </a:rPr>
              <a:t>		  WHERE name = ‘Bart’);</a:t>
            </a:r>
          </a:p>
        </p:txBody>
      </p:sp>
    </p:spTree>
    <p:extLst>
      <p:ext uri="{BB962C8B-B14F-4D97-AF65-F5344CB8AC3E}">
        <p14:creationId xmlns:p14="http://schemas.microsoft.com/office/powerpoint/2010/main" val="41258428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  <a:t>EXISTS (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accent2"/>
                        </a:solidFill>
                        <a:latin typeface="Cambria Math"/>
                      </a:rPr>
                      <m:t>𝑠𝑢𝑏𝑞𝑢𝑒𝑟𝑦</m:t>
                    </m:r>
                  </m:oMath>
                </a14:m>
                <a:r>
                  <a:rPr lang="en-US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  <a:t>)</a:t>
                </a:r>
                <a:r>
                  <a:rPr lang="en-US" dirty="0"/>
                  <a:t> checks if </a:t>
                </a:r>
                <a:r>
                  <a:rPr lang="en-US" dirty="0">
                    <a:solidFill>
                      <a:schemeClr val="accent2"/>
                    </a:solidFill>
                  </a:rPr>
                  <a:t>the result of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accent2"/>
                        </a:solidFill>
                        <a:latin typeface="Cambria Math"/>
                      </a:rPr>
                      <m:t>𝑠𝑢𝑏𝑞𝑢𝑒𝑟𝑦</m:t>
                    </m:r>
                  </m:oMath>
                </a14:m>
                <a:r>
                  <a:rPr lang="en-US" dirty="0">
                    <a:solidFill>
                      <a:schemeClr val="accent2"/>
                    </a:solidFill>
                  </a:rPr>
                  <a:t> is non-empty</a:t>
                </a:r>
                <a:br>
                  <a:rPr lang="en-US" dirty="0">
                    <a:solidFill>
                      <a:schemeClr val="accent2"/>
                    </a:solidFill>
                  </a:rPr>
                </a:br>
                <a:endParaRPr lang="en-US" dirty="0"/>
              </a:p>
              <a:p>
                <a:r>
                  <a:rPr lang="en-US" dirty="0"/>
                  <a:t>Example: users at the same age as (some) Bart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This happens to be a </a:t>
                </a:r>
                <a:r>
                  <a:rPr lang="en-US" dirty="0">
                    <a:solidFill>
                      <a:schemeClr val="accent2"/>
                    </a:solidFill>
                  </a:rPr>
                  <a:t>correlated</a:t>
                </a:r>
                <a:r>
                  <a:rPr lang="en-US" dirty="0">
                    <a:solidFill>
                      <a:schemeClr val="tx2"/>
                    </a:solidFill>
                  </a:rPr>
                  <a:t> </a:t>
                </a:r>
                <a:r>
                  <a:rPr lang="en-US" dirty="0">
                    <a:solidFill>
                      <a:schemeClr val="accent2"/>
                    </a:solidFill>
                  </a:rPr>
                  <a:t>subquery</a:t>
                </a:r>
                <a:r>
                  <a:rPr lang="en-US" dirty="0"/>
                  <a:t>—a subquery that references tuple variables in surrounding queries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6"/>
                <a:stretch>
                  <a:fillRect l="-1342" t="-1968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Prestige12 BT" panose="02070509030506020304" pitchFamily="49" charset="0"/>
              </a:rPr>
              <a:t>EXISTS</a:t>
            </a:r>
            <a:r>
              <a:rPr lang="en-US" dirty="0"/>
              <a:t> </a:t>
            </a:r>
            <a:r>
              <a:rPr lang="en-US" dirty="0" err="1"/>
              <a:t>subqueries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31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DA30EA-07F0-4963-82E0-0F3173EF9A10}"/>
              </a:ext>
            </a:extLst>
          </p:cNvPr>
          <p:cNvSpPr/>
          <p:nvPr/>
        </p:nvSpPr>
        <p:spPr>
          <a:xfrm>
            <a:off x="1550217" y="3515984"/>
            <a:ext cx="5242468" cy="168904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2000" dirty="0"/>
              <a:t>SELECT *</a:t>
            </a:r>
          </a:p>
          <a:p>
            <a:pPr lvl="1"/>
            <a:r>
              <a:rPr lang="en-US" sz="2000" dirty="0"/>
              <a:t>FROM User AS </a:t>
            </a:r>
            <a:r>
              <a:rPr lang="en-US" sz="2000" dirty="0">
                <a:solidFill>
                  <a:schemeClr val="accent6"/>
                </a:solidFill>
              </a:rPr>
              <a:t>u</a:t>
            </a:r>
            <a:r>
              <a:rPr lang="en-US" sz="2000" dirty="0"/>
              <a:t>,</a:t>
            </a:r>
          </a:p>
          <a:p>
            <a:pPr lvl="1"/>
            <a:r>
              <a:rPr lang="en-US" sz="2000" dirty="0"/>
              <a:t>WHERE </a:t>
            </a:r>
            <a:r>
              <a:rPr lang="en-US" sz="2000" dirty="0">
                <a:solidFill>
                  <a:schemeClr val="accent2"/>
                </a:solidFill>
              </a:rPr>
              <a:t>EXISTS</a:t>
            </a:r>
            <a:r>
              <a:rPr lang="en-US" sz="2000" dirty="0"/>
              <a:t> </a:t>
            </a:r>
            <a:r>
              <a:rPr lang="en-US" sz="2000" dirty="0">
                <a:solidFill>
                  <a:schemeClr val="accent2"/>
                </a:solidFill>
              </a:rPr>
              <a:t>(SELECT * FROM User </a:t>
            </a:r>
            <a:br>
              <a:rPr lang="en-US" sz="2000" dirty="0">
                <a:solidFill>
                  <a:schemeClr val="accent2"/>
                </a:solidFill>
              </a:rPr>
            </a:br>
            <a:r>
              <a:rPr lang="en-US" sz="2000" dirty="0">
                <a:solidFill>
                  <a:schemeClr val="accent2"/>
                </a:solidFill>
              </a:rPr>
              <a:t>		  WHERE name = ‘Bart’</a:t>
            </a:r>
          </a:p>
          <a:p>
            <a:pPr lvl="1"/>
            <a:r>
              <a:rPr lang="en-US" sz="2000" dirty="0">
                <a:solidFill>
                  <a:schemeClr val="accent2"/>
                </a:solidFill>
              </a:rPr>
              <a:t>			AND age =</a:t>
            </a:r>
            <a:r>
              <a:rPr lang="en-US" sz="2000" dirty="0">
                <a:solidFill>
                  <a:schemeClr val="accent6"/>
                </a:solidFill>
              </a:rPr>
              <a:t> </a:t>
            </a:r>
            <a:r>
              <a:rPr lang="en-US" sz="2000" dirty="0" err="1">
                <a:solidFill>
                  <a:schemeClr val="accent6"/>
                </a:solidFill>
              </a:rPr>
              <a:t>u.age</a:t>
            </a:r>
            <a:r>
              <a:rPr lang="en-US" sz="2000" dirty="0">
                <a:solidFill>
                  <a:schemeClr val="accent2"/>
                </a:solidFill>
              </a:rPr>
              <a:t>)</a:t>
            </a:r>
            <a:r>
              <a:rPr lang="en-US" sz="2000" dirty="0"/>
              <a:t>;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BE21881-3131-42EF-9B67-D524A1B6BD34}"/>
              </a:ext>
            </a:extLst>
          </p:cNvPr>
          <p:cNvGrpSpPr/>
          <p:nvPr/>
        </p:nvGrpSpPr>
        <p:grpSpPr>
          <a:xfrm>
            <a:off x="3986006" y="3863332"/>
            <a:ext cx="3151800" cy="1215720"/>
            <a:chOff x="3986006" y="3305983"/>
            <a:chExt cx="3151800" cy="121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FC36847-4242-4886-AE33-6F84067B482A}"/>
                    </a:ext>
                  </a:extLst>
                </p14:cNvPr>
                <p14:cNvContentPartPr/>
                <p14:nvPr/>
              </p14:nvContentPartPr>
              <p14:xfrm>
                <a:off x="4193006" y="3324703"/>
                <a:ext cx="2944800" cy="11970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FC36847-4242-4886-AE33-6F84067B482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175366" y="3307063"/>
                  <a:ext cx="2980440" cy="12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6B2A74F-0FEC-4079-AA0A-248A0D2ECE9F}"/>
                    </a:ext>
                  </a:extLst>
                </p14:cNvPr>
                <p14:cNvContentPartPr/>
                <p14:nvPr/>
              </p14:nvContentPartPr>
              <p14:xfrm>
                <a:off x="3986006" y="3305983"/>
                <a:ext cx="407520" cy="2257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6B2A74F-0FEC-4079-AA0A-248A0D2ECE9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968366" y="3288343"/>
                  <a:ext cx="443160" cy="261360"/>
                </a:xfrm>
                <a:prstGeom prst="rect">
                  <a:avLst/>
                </a:prstGeom>
              </p:spPr>
            </p:pic>
          </mc:Fallback>
        </mc:AlternateContent>
      </p:grpSp>
    </p:spTree>
    <p:custDataLst>
      <p:tags r:id="rId1"/>
    </p:custDataLst>
    <p:extLst>
      <p:ext uri="{BB962C8B-B14F-4D97-AF65-F5344CB8AC3E}">
        <p14:creationId xmlns:p14="http://schemas.microsoft.com/office/powerpoint/2010/main" val="2598975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73AB4-A39C-4F24-9D78-007435B58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Another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AB1B0-5C1E-4316-AEC6-76A07C8C8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336" y="1447178"/>
            <a:ext cx="8173014" cy="5264622"/>
          </a:xfrm>
        </p:spPr>
        <p:txBody>
          <a:bodyPr/>
          <a:lstStyle/>
          <a:p>
            <a:r>
              <a:rPr lang="en-US" dirty="0"/>
              <a:t>Users who join at least two groups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How to find which table a column belongs to?</a:t>
            </a:r>
          </a:p>
          <a:p>
            <a:pPr lvl="1"/>
            <a:r>
              <a:rPr lang="en-US" dirty="0"/>
              <a:t>Start with the immediately surrounding query</a:t>
            </a:r>
          </a:p>
          <a:p>
            <a:pPr lvl="1"/>
            <a:r>
              <a:rPr lang="en-US" dirty="0"/>
              <a:t>If not found, look in the one surrounding that; repeat if necessary</a:t>
            </a:r>
          </a:p>
          <a:p>
            <a:pPr lvl="1"/>
            <a:endParaRPr lang="en-US" dirty="0"/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BFB881-B6AD-43B9-8A5D-2CBCFEBCB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32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288DB9-CEDB-419F-805D-7F160B976574}"/>
              </a:ext>
            </a:extLst>
          </p:cNvPr>
          <p:cNvSpPr txBox="1"/>
          <p:nvPr/>
        </p:nvSpPr>
        <p:spPr>
          <a:xfrm>
            <a:off x="5081248" y="321354"/>
            <a:ext cx="3992652" cy="861774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r>
              <a:rPr lang="en-US" sz="1600" i="1" dirty="0"/>
              <a:t>User</a:t>
            </a:r>
            <a:r>
              <a:rPr lang="en-US" sz="1600" dirty="0"/>
              <a:t> (</a:t>
            </a:r>
            <a:r>
              <a:rPr lang="en-US" sz="1600" i="1" u="sng" dirty="0" err="1"/>
              <a:t>uid</a:t>
            </a:r>
            <a:r>
              <a:rPr lang="en-US" sz="1600" u="sng" dirty="0"/>
              <a:t> </a:t>
            </a:r>
            <a:r>
              <a:rPr lang="en-US" sz="1600" dirty="0"/>
              <a:t>int, </a:t>
            </a:r>
            <a:r>
              <a:rPr lang="en-US" sz="1600" i="1" dirty="0"/>
              <a:t>name</a:t>
            </a:r>
            <a:r>
              <a:rPr lang="en-US" sz="1600" dirty="0"/>
              <a:t> string, </a:t>
            </a:r>
            <a:r>
              <a:rPr lang="en-US" sz="1600" i="1" dirty="0"/>
              <a:t>age</a:t>
            </a:r>
            <a:r>
              <a:rPr lang="en-US" sz="1600" dirty="0"/>
              <a:t> int, </a:t>
            </a:r>
            <a:r>
              <a:rPr lang="en-US" sz="1600" i="1" dirty="0"/>
              <a:t>pop</a:t>
            </a:r>
            <a:r>
              <a:rPr lang="en-US" sz="1600" dirty="0"/>
              <a:t> float)</a:t>
            </a:r>
          </a:p>
          <a:p>
            <a:r>
              <a:rPr lang="en-US" sz="1600" i="1" dirty="0"/>
              <a:t>Group</a:t>
            </a:r>
            <a:r>
              <a:rPr lang="en-US" sz="1600" dirty="0"/>
              <a:t> (</a:t>
            </a:r>
            <a:r>
              <a:rPr lang="en-US" sz="1600" i="1" u="sng" dirty="0"/>
              <a:t>gid</a:t>
            </a:r>
            <a:r>
              <a:rPr lang="en-US" sz="1600" dirty="0"/>
              <a:t> string, </a:t>
            </a:r>
            <a:r>
              <a:rPr lang="en-US" sz="1600" i="1" dirty="0"/>
              <a:t>name</a:t>
            </a:r>
            <a:r>
              <a:rPr lang="en-US" sz="1600" dirty="0"/>
              <a:t> string)</a:t>
            </a:r>
          </a:p>
          <a:p>
            <a:r>
              <a:rPr lang="en-US" sz="1600" i="1" dirty="0"/>
              <a:t>Member</a:t>
            </a:r>
            <a:r>
              <a:rPr lang="en-US" sz="1600" dirty="0"/>
              <a:t> (</a:t>
            </a:r>
            <a:r>
              <a:rPr lang="en-US" sz="1600" i="1" u="sng" dirty="0" err="1"/>
              <a:t>uid</a:t>
            </a:r>
            <a:r>
              <a:rPr lang="en-US" sz="1600" dirty="0"/>
              <a:t> int, </a:t>
            </a:r>
            <a:r>
              <a:rPr lang="en-US" sz="1600" i="1" u="sng" dirty="0"/>
              <a:t>gid</a:t>
            </a:r>
            <a:r>
              <a:rPr lang="en-US" sz="1600" dirty="0"/>
              <a:t> string)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D977B1-2F97-4290-A331-AC43F3350353}"/>
              </a:ext>
            </a:extLst>
          </p:cNvPr>
          <p:cNvSpPr/>
          <p:nvPr/>
        </p:nvSpPr>
        <p:spPr>
          <a:xfrm>
            <a:off x="885621" y="1992721"/>
            <a:ext cx="4922995" cy="273603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2000" dirty="0"/>
              <a:t>SELECT * FROM User u</a:t>
            </a:r>
            <a:br>
              <a:rPr lang="en-US" sz="2000" dirty="0"/>
            </a:br>
            <a:r>
              <a:rPr lang="en-US" sz="2000" dirty="0"/>
              <a:t>WHERE EXISTS</a:t>
            </a:r>
            <a:br>
              <a:rPr lang="en-US" sz="2000" dirty="0"/>
            </a:br>
            <a:r>
              <a:rPr lang="en-US" sz="2000" dirty="0"/>
              <a:t>      (</a:t>
            </a:r>
            <a:r>
              <a:rPr lang="en-US" sz="2000" dirty="0">
                <a:solidFill>
                  <a:schemeClr val="accent2"/>
                </a:solidFill>
              </a:rPr>
              <a:t>SELECT * FROM Member m</a:t>
            </a:r>
            <a:br>
              <a:rPr lang="en-US" sz="2000" dirty="0">
                <a:solidFill>
                  <a:schemeClr val="accent2"/>
                </a:solidFill>
              </a:rPr>
            </a:br>
            <a:r>
              <a:rPr lang="en-US" sz="2000" dirty="0">
                <a:solidFill>
                  <a:schemeClr val="accent2"/>
                </a:solidFill>
              </a:rPr>
              <a:t>       WHERE </a:t>
            </a:r>
            <a:r>
              <a:rPr lang="en-US" sz="2000" dirty="0" err="1">
                <a:solidFill>
                  <a:schemeClr val="accent2"/>
                </a:solidFill>
              </a:rPr>
              <a:t>uid</a:t>
            </a:r>
            <a:r>
              <a:rPr lang="en-US" sz="2000" dirty="0">
                <a:solidFill>
                  <a:schemeClr val="accent2"/>
                </a:solidFill>
              </a:rPr>
              <a:t> = </a:t>
            </a:r>
            <a:r>
              <a:rPr lang="en-US" sz="2000" dirty="0" err="1">
                <a:solidFill>
                  <a:schemeClr val="accent2"/>
                </a:solidFill>
              </a:rPr>
              <a:t>u.uid</a:t>
            </a:r>
            <a:br>
              <a:rPr lang="en-US" sz="2000" dirty="0"/>
            </a:br>
            <a:r>
              <a:rPr lang="en-US" sz="2000" dirty="0"/>
              <a:t>       AND EXISTS</a:t>
            </a:r>
            <a:br>
              <a:rPr lang="en-US" sz="2000" dirty="0"/>
            </a:br>
            <a:r>
              <a:rPr lang="en-US" sz="2000" dirty="0"/>
              <a:t>           (</a:t>
            </a:r>
            <a:r>
              <a:rPr lang="en-US" sz="2000" dirty="0">
                <a:solidFill>
                  <a:schemeClr val="accent2"/>
                </a:solidFill>
              </a:rPr>
              <a:t>SELECT * FROM Member</a:t>
            </a:r>
            <a:br>
              <a:rPr lang="en-US" sz="2000" dirty="0">
                <a:solidFill>
                  <a:schemeClr val="accent2"/>
                </a:solidFill>
              </a:rPr>
            </a:br>
            <a:r>
              <a:rPr lang="en-US" sz="2000" dirty="0">
                <a:solidFill>
                  <a:schemeClr val="accent2"/>
                </a:solidFill>
              </a:rPr>
              <a:t>            WHERE </a:t>
            </a:r>
            <a:r>
              <a:rPr lang="en-US" sz="2000" dirty="0" err="1">
                <a:solidFill>
                  <a:schemeClr val="accent2"/>
                </a:solidFill>
              </a:rPr>
              <a:t>uid</a:t>
            </a:r>
            <a:r>
              <a:rPr lang="en-US" sz="2000" dirty="0">
                <a:solidFill>
                  <a:schemeClr val="accent2"/>
                </a:solidFill>
              </a:rPr>
              <a:t> = </a:t>
            </a:r>
            <a:r>
              <a:rPr lang="en-US" sz="2000" dirty="0" err="1">
                <a:solidFill>
                  <a:schemeClr val="accent2"/>
                </a:solidFill>
              </a:rPr>
              <a:t>u.uid</a:t>
            </a:r>
            <a:br>
              <a:rPr lang="en-US" sz="2000" dirty="0">
                <a:solidFill>
                  <a:schemeClr val="accent2"/>
                </a:solidFill>
              </a:rPr>
            </a:br>
            <a:r>
              <a:rPr lang="en-US" sz="2000" dirty="0">
                <a:solidFill>
                  <a:schemeClr val="accent2"/>
                </a:solidFill>
              </a:rPr>
              <a:t>            AND gid &lt;&gt; </a:t>
            </a:r>
            <a:r>
              <a:rPr lang="en-US" sz="2000" dirty="0" err="1">
                <a:solidFill>
                  <a:schemeClr val="accent2"/>
                </a:solidFill>
              </a:rPr>
              <a:t>m.gid</a:t>
            </a:r>
            <a:r>
              <a:rPr lang="en-US" sz="2000" dirty="0"/>
              <a:t>));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39A51801-4F73-42F3-A4EA-CEDC76F8C316}"/>
                  </a:ext>
                </a:extLst>
              </p14:cNvPr>
              <p14:cNvContentPartPr/>
              <p14:nvPr/>
            </p14:nvContentPartPr>
            <p14:xfrm>
              <a:off x="2980166" y="4239103"/>
              <a:ext cx="407880" cy="478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39A51801-4F73-42F3-A4EA-CEDC76F8C31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962166" y="4221103"/>
                <a:ext cx="443520" cy="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58C69331-5E53-462C-BEFB-3CB1B9BDEC3F}"/>
                  </a:ext>
                </a:extLst>
              </p14:cNvPr>
              <p14:cNvContentPartPr/>
              <p14:nvPr/>
            </p14:nvContentPartPr>
            <p14:xfrm>
              <a:off x="3278966" y="3886663"/>
              <a:ext cx="786600" cy="1760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58C69331-5E53-462C-BEFB-3CB1B9BDEC3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261326" y="3868663"/>
                <a:ext cx="822240" cy="21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23F904A6-09E2-481A-8E33-650A89EB661B}"/>
                  </a:ext>
                </a:extLst>
              </p14:cNvPr>
              <p14:cNvContentPartPr/>
              <p14:nvPr/>
            </p14:nvContentPartPr>
            <p14:xfrm>
              <a:off x="3635006" y="4205263"/>
              <a:ext cx="541080" cy="7164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23F904A6-09E2-481A-8E33-650A89EB661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617366" y="4187623"/>
                <a:ext cx="576720" cy="10728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3AE96397-771B-4C17-B481-1B9F44BE458B}"/>
              </a:ext>
            </a:extLst>
          </p:cNvPr>
          <p:cNvGrpSpPr/>
          <p:nvPr/>
        </p:nvGrpSpPr>
        <p:grpSpPr>
          <a:xfrm>
            <a:off x="3937406" y="2335063"/>
            <a:ext cx="1347480" cy="1884600"/>
            <a:chOff x="3937406" y="2335063"/>
            <a:chExt cx="1347480" cy="188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7993E8F-D723-4A3A-A2AE-1DD2D82478B8}"/>
                    </a:ext>
                  </a:extLst>
                </p14:cNvPr>
                <p14:cNvContentPartPr/>
                <p14:nvPr/>
              </p14:nvContentPartPr>
              <p14:xfrm>
                <a:off x="3993206" y="2421823"/>
                <a:ext cx="1291680" cy="17978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7993E8F-D723-4A3A-A2AE-1DD2D82478B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975566" y="2403823"/>
                  <a:ext cx="1327320" cy="18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94DABB4-0A21-414C-AB89-737054D55AD2}"/>
                    </a:ext>
                  </a:extLst>
                </p14:cNvPr>
                <p14:cNvContentPartPr/>
                <p14:nvPr/>
              </p14:nvContentPartPr>
              <p14:xfrm>
                <a:off x="4113806" y="2395543"/>
                <a:ext cx="360" cy="3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94DABB4-0A21-414C-AB89-737054D55AD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095806" y="237790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35E17A1-A777-451A-B2DC-09B12D8E5CAD}"/>
                    </a:ext>
                  </a:extLst>
                </p14:cNvPr>
                <p14:cNvContentPartPr/>
                <p14:nvPr/>
              </p14:nvContentPartPr>
              <p14:xfrm>
                <a:off x="3937406" y="2335063"/>
                <a:ext cx="231120" cy="2084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35E17A1-A777-451A-B2DC-09B12D8E5CA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919406" y="2317063"/>
                  <a:ext cx="266760" cy="24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D2D9AB6-A717-43A4-B51D-F919E551C5A4}"/>
              </a:ext>
            </a:extLst>
          </p:cNvPr>
          <p:cNvGrpSpPr/>
          <p:nvPr/>
        </p:nvGrpSpPr>
        <p:grpSpPr>
          <a:xfrm>
            <a:off x="3212726" y="2406703"/>
            <a:ext cx="645480" cy="957600"/>
            <a:chOff x="3212726" y="2406703"/>
            <a:chExt cx="645480" cy="95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CC129F6-C8E6-49CC-A683-ACE8D97CBEA3}"/>
                    </a:ext>
                  </a:extLst>
                </p14:cNvPr>
                <p14:cNvContentPartPr/>
                <p14:nvPr/>
              </p14:nvContentPartPr>
              <p14:xfrm>
                <a:off x="3278966" y="3278623"/>
                <a:ext cx="579240" cy="856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CC129F6-C8E6-49CC-A683-ACE8D97CBEA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261326" y="3260983"/>
                  <a:ext cx="61488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A036146-7C75-4AB9-B81C-A7106FDEAA6A}"/>
                    </a:ext>
                  </a:extLst>
                </p14:cNvPr>
                <p14:cNvContentPartPr/>
                <p14:nvPr/>
              </p14:nvContentPartPr>
              <p14:xfrm>
                <a:off x="3212726" y="2406703"/>
                <a:ext cx="201240" cy="7812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A036146-7C75-4AB9-B81C-A7106FDEAA6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195086" y="2389063"/>
                  <a:ext cx="236880" cy="816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BFCA07DE-1333-44EB-8D0B-21CCA1AFB570}"/>
                  </a:ext>
                </a:extLst>
              </p:cNvPr>
              <p:cNvSpPr txBox="1"/>
              <p:nvPr/>
            </p:nvSpPr>
            <p:spPr>
              <a:xfrm>
                <a:off x="6387856" y="2674412"/>
                <a:ext cx="2183294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Use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1" dirty="0">
                        <a:latin typeface="Cambria Math"/>
                      </a:rPr>
                      <m:t>table</m:t>
                    </m:r>
                    <m:r>
                      <m:rPr>
                        <m:nor/>
                      </m:rPr>
                      <a:rPr lang="en-US" i="1" dirty="0">
                        <a:latin typeface="Cambria Math"/>
                      </a:rPr>
                      <m:t>_</m:t>
                    </m:r>
                    <m:r>
                      <m:rPr>
                        <m:nor/>
                      </m:rPr>
                      <a:rPr lang="en-US" i="1" dirty="0">
                        <a:latin typeface="Cambria Math"/>
                      </a:rPr>
                      <m:t>name</m:t>
                    </m:r>
                  </m:oMath>
                </a14:m>
                <a:r>
                  <a:rPr lang="en-US" dirty="0" err="1">
                    <a:latin typeface="LettrGoth12 BT" pitchFamily="49" charset="0"/>
                  </a:rPr>
                  <a:t>.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1" dirty="0" smtClean="0">
                        <a:latin typeface="Cambria Math"/>
                      </a:rPr>
                      <m:t>column</m:t>
                    </m:r>
                    <m:r>
                      <m:rPr>
                        <m:nor/>
                      </m:rPr>
                      <a:rPr lang="en-US" i="1" dirty="0">
                        <a:latin typeface="Cambria Math"/>
                      </a:rPr>
                      <m:t>_</m:t>
                    </m:r>
                    <m:r>
                      <m:rPr>
                        <m:nor/>
                      </m:rPr>
                      <a:rPr lang="en-US" i="1" dirty="0">
                        <a:latin typeface="Cambria Math"/>
                      </a:rPr>
                      <m:t>name</m:t>
                    </m:r>
                  </m:oMath>
                </a14:m>
                <a:r>
                  <a:rPr lang="en-US" dirty="0"/>
                  <a:t> notation and </a:t>
                </a:r>
                <a:r>
                  <a:rPr lang="en-US" dirty="0">
                    <a:latin typeface="Prestige12 BT" panose="02070509030506020304" pitchFamily="49" charset="0"/>
                  </a:rPr>
                  <a:t>AS</a:t>
                </a:r>
                <a:r>
                  <a:rPr lang="en-US" dirty="0"/>
                  <a:t> (renaming) to avoid confusion</a:t>
                </a: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BFCA07DE-1333-44EB-8D0B-21CCA1AFB5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7856" y="2674412"/>
                <a:ext cx="2183294" cy="1754326"/>
              </a:xfrm>
              <a:prstGeom prst="rect">
                <a:avLst/>
              </a:prstGeom>
              <a:blipFill>
                <a:blip r:embed="rId22"/>
                <a:stretch>
                  <a:fillRect l="-2514" t="-2091" r="-559" b="-4878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69727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Quantified </a:t>
            </a:r>
            <a:r>
              <a:rPr lang="en-US" dirty="0" err="1"/>
              <a:t>subqueries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>
                    <a:solidFill>
                      <a:schemeClr val="accent2"/>
                    </a:solidFill>
                  </a:rPr>
                  <a:t>Universal</a:t>
                </a:r>
                <a:r>
                  <a:rPr lang="en-US" dirty="0">
                    <a:solidFill>
                      <a:schemeClr val="tx2"/>
                    </a:solidFill>
                  </a:rPr>
                  <a:t> </a:t>
                </a:r>
                <a:r>
                  <a:rPr lang="en-US" dirty="0">
                    <a:solidFill>
                      <a:schemeClr val="accent2"/>
                    </a:solidFill>
                  </a:rPr>
                  <a:t>quantification</a:t>
                </a:r>
                <a:r>
                  <a:rPr lang="en-US" dirty="0"/>
                  <a:t> (for all):</a:t>
                </a:r>
              </a:p>
              <a:p>
                <a:pPr lvl="1"/>
                <a:r>
                  <a:rPr lang="en-US" dirty="0">
                    <a:latin typeface="Prestige12 BT" panose="02070509030506020304" pitchFamily="49" charset="0"/>
                  </a:rPr>
                  <a:t>… WHERE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𝑥</m:t>
                    </m:r>
                  </m:oMath>
                </a14:m>
                <a:r>
                  <a:rPr lang="en-US" dirty="0">
                    <a:latin typeface="Prestige12 BT" panose="020705090305060203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𝑜𝑝</m:t>
                    </m:r>
                  </m:oMath>
                </a14:m>
                <a:r>
                  <a:rPr lang="en-US" dirty="0">
                    <a:latin typeface="Prestige12 BT" panose="02070509030506020304" pitchFamily="49" charset="0"/>
                  </a:rPr>
                  <a:t> </a:t>
                </a:r>
                <a:r>
                  <a:rPr lang="en-US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  <a:t>ALL</a:t>
                </a:r>
                <a:r>
                  <a:rPr lang="en-US" dirty="0">
                    <a:latin typeface="Prestige12 BT" panose="02070509030506020304" pitchFamily="49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𝑠𝑢𝑏𝑞𝑢𝑒𝑟𝑦</m:t>
                    </m:r>
                  </m:oMath>
                </a14:m>
                <a:r>
                  <a:rPr lang="en-US" dirty="0">
                    <a:latin typeface="Prestige12 BT" panose="02070509030506020304" pitchFamily="49" charset="0"/>
                  </a:rPr>
                  <a:t>) …</a:t>
                </a:r>
              </a:p>
              <a:p>
                <a:pPr lvl="1"/>
                <a:r>
                  <a:rPr lang="en-US" dirty="0"/>
                  <a:t>True </a:t>
                </a:r>
                <a:r>
                  <a:rPr lang="en-US" dirty="0" err="1"/>
                  <a:t>iff</a:t>
                </a:r>
                <a:r>
                  <a:rPr lang="en-US" dirty="0"/>
                  <a:t> for all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𝑡</m:t>
                    </m:r>
                  </m:oMath>
                </a14:m>
                <a:r>
                  <a:rPr lang="en-US" dirty="0"/>
                  <a:t> in the result of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𝑠𝑢𝑏𝑞𝑢𝑒𝑟𝑦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𝑥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𝑜𝑝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𝑡</m:t>
                    </m:r>
                  </m:oMath>
                </a14:m>
                <a:endParaRPr lang="en-US" i="1" dirty="0"/>
              </a:p>
              <a:p>
                <a:endParaRPr lang="en-US" dirty="0">
                  <a:solidFill>
                    <a:schemeClr val="accent2"/>
                  </a:solidFill>
                </a:endParaRPr>
              </a:p>
              <a:p>
                <a:endParaRPr lang="en-US" dirty="0">
                  <a:solidFill>
                    <a:schemeClr val="accent2"/>
                  </a:solidFill>
                </a:endParaRPr>
              </a:p>
              <a:p>
                <a:r>
                  <a:rPr lang="en-US" dirty="0">
                    <a:solidFill>
                      <a:schemeClr val="accent2"/>
                    </a:solidFill>
                  </a:rPr>
                  <a:t>Existential</a:t>
                </a:r>
                <a:r>
                  <a:rPr lang="en-US" dirty="0">
                    <a:solidFill>
                      <a:schemeClr val="tx2"/>
                    </a:solidFill>
                  </a:rPr>
                  <a:t> </a:t>
                </a:r>
                <a:r>
                  <a:rPr lang="en-US" dirty="0">
                    <a:solidFill>
                      <a:schemeClr val="accent2"/>
                    </a:solidFill>
                  </a:rPr>
                  <a:t>quantification</a:t>
                </a:r>
                <a:r>
                  <a:rPr lang="en-US" dirty="0"/>
                  <a:t> (exists):</a:t>
                </a:r>
              </a:p>
              <a:p>
                <a:pPr lvl="1"/>
                <a:r>
                  <a:rPr lang="en-US" dirty="0">
                    <a:latin typeface="Prestige12 BT" panose="02070509030506020304" pitchFamily="49" charset="0"/>
                  </a:rPr>
                  <a:t>… WHERE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𝑥</m:t>
                    </m:r>
                  </m:oMath>
                </a14:m>
                <a:r>
                  <a:rPr lang="en-US" dirty="0">
                    <a:latin typeface="Prestige12 BT" panose="020705090305060203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𝑜𝑝</m:t>
                    </m:r>
                  </m:oMath>
                </a14:m>
                <a:r>
                  <a:rPr lang="en-US" dirty="0">
                    <a:latin typeface="Prestige12 BT" panose="02070509030506020304" pitchFamily="49" charset="0"/>
                  </a:rPr>
                  <a:t> </a:t>
                </a:r>
                <a:r>
                  <a:rPr lang="en-US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  <a:t>ANY</a:t>
                </a:r>
                <a:r>
                  <a:rPr lang="en-US" dirty="0">
                    <a:latin typeface="Prestige12 BT" panose="02070509030506020304" pitchFamily="49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𝑠𝑢𝑏𝑞𝑢𝑒𝑟𝑦</m:t>
                    </m:r>
                  </m:oMath>
                </a14:m>
                <a:r>
                  <a:rPr lang="en-US" dirty="0">
                    <a:latin typeface="Prestige12 BT" panose="02070509030506020304" pitchFamily="49" charset="0"/>
                  </a:rPr>
                  <a:t>) …</a:t>
                </a:r>
              </a:p>
              <a:p>
                <a:pPr lvl="1"/>
                <a:r>
                  <a:rPr lang="en-US" dirty="0"/>
                  <a:t>True </a:t>
                </a:r>
                <a:r>
                  <a:rPr lang="en-US" dirty="0" err="1"/>
                  <a:t>iff</a:t>
                </a:r>
                <a:r>
                  <a:rPr lang="en-US" dirty="0"/>
                  <a:t> there exists </a:t>
                </a:r>
                <a:r>
                  <a:rPr lang="en-US" dirty="0">
                    <a:solidFill>
                      <a:schemeClr val="accent2"/>
                    </a:solidFill>
                  </a:rPr>
                  <a:t>some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𝑡</m:t>
                    </m:r>
                  </m:oMath>
                </a14:m>
                <a:r>
                  <a:rPr lang="en-US" dirty="0"/>
                  <a:t> in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𝑠𝑢𝑏𝑞𝑢𝑒𝑟𝑦</m:t>
                    </m:r>
                  </m:oMath>
                </a14:m>
                <a:r>
                  <a:rPr lang="en-US" dirty="0"/>
                  <a:t> result </a:t>
                </a:r>
                <a:r>
                  <a:rPr lang="en-US" dirty="0" err="1"/>
                  <a:t>s.t.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𝑥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𝑜𝑝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𝑡</m:t>
                    </m:r>
                  </m:oMath>
                </a14:m>
                <a:endParaRPr lang="en-US" i="1" dirty="0"/>
              </a:p>
              <a:p>
                <a:endParaRPr lang="en-US" dirty="0">
                  <a:solidFill>
                    <a:schemeClr val="accent2"/>
                  </a:solidFill>
                </a:endParaRPr>
              </a:p>
              <a:p>
                <a:endParaRPr lang="en-US" dirty="0">
                  <a:solidFill>
                    <a:schemeClr val="accent2"/>
                  </a:solidFill>
                </a:endParaRPr>
              </a:p>
              <a:p>
                <a:endParaRPr lang="en-US" dirty="0">
                  <a:solidFill>
                    <a:schemeClr val="accent2"/>
                  </a:solidFill>
                </a:endParaRPr>
              </a:p>
              <a:p>
                <a:endParaRPr lang="en-US" dirty="0">
                  <a:solidFill>
                    <a:schemeClr val="accent2"/>
                  </a:solidFill>
                </a:endParaRPr>
              </a:p>
              <a:p>
                <a:endParaRPr lang="en-US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6"/>
                <a:stretch>
                  <a:fillRect l="-1342" t="-1968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33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321EE0-13C7-4C17-AB2D-C19C70C6FDEC}"/>
              </a:ext>
            </a:extLst>
          </p:cNvPr>
          <p:cNvSpPr/>
          <p:nvPr/>
        </p:nvSpPr>
        <p:spPr>
          <a:xfrm>
            <a:off x="1645534" y="5116104"/>
            <a:ext cx="5566618" cy="120677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2000" dirty="0"/>
              <a:t>SELECT *</a:t>
            </a:r>
            <a:br>
              <a:rPr lang="en-US" sz="2000" dirty="0"/>
            </a:br>
            <a:r>
              <a:rPr lang="en-US" sz="2000" dirty="0"/>
              <a:t>FROM User</a:t>
            </a:r>
            <a:br>
              <a:rPr lang="en-US" sz="2000" dirty="0"/>
            </a:br>
            <a:r>
              <a:rPr lang="en-US" sz="2000" dirty="0"/>
              <a:t>WHERE </a:t>
            </a:r>
            <a:r>
              <a:rPr lang="en-US" sz="2000" dirty="0">
                <a:solidFill>
                  <a:schemeClr val="accent2"/>
                </a:solidFill>
              </a:rPr>
              <a:t>NOT</a:t>
            </a:r>
            <a:br>
              <a:rPr lang="en-US" sz="2000" dirty="0"/>
            </a:br>
            <a:r>
              <a:rPr lang="en-US" sz="2000" dirty="0"/>
              <a:t>    (pop &lt; </a:t>
            </a:r>
            <a:r>
              <a:rPr lang="en-US" sz="2000" dirty="0">
                <a:solidFill>
                  <a:schemeClr val="accent2"/>
                </a:solidFill>
              </a:rPr>
              <a:t>ANY</a:t>
            </a:r>
            <a:r>
              <a:rPr lang="en-US" sz="2000" dirty="0"/>
              <a:t>(SELECT pop FROM User);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BD45D3-64D4-4EBF-B4BC-7CFF949E3F32}"/>
              </a:ext>
            </a:extLst>
          </p:cNvPr>
          <p:cNvSpPr/>
          <p:nvPr/>
        </p:nvSpPr>
        <p:spPr>
          <a:xfrm>
            <a:off x="1645534" y="2742905"/>
            <a:ext cx="5566618" cy="98226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2000" dirty="0"/>
              <a:t>SELECT *</a:t>
            </a:r>
            <a:br>
              <a:rPr lang="en-US" sz="2000" dirty="0"/>
            </a:br>
            <a:r>
              <a:rPr lang="en-US" sz="2000" dirty="0"/>
              <a:t>FROM User</a:t>
            </a:r>
            <a:br>
              <a:rPr lang="en-US" sz="2000" dirty="0"/>
            </a:br>
            <a:r>
              <a:rPr lang="en-US" sz="2000" dirty="0"/>
              <a:t>WHERE pop &gt;= </a:t>
            </a:r>
            <a:r>
              <a:rPr lang="en-US" sz="2000" dirty="0">
                <a:solidFill>
                  <a:schemeClr val="accent2"/>
                </a:solidFill>
              </a:rPr>
              <a:t>ALL</a:t>
            </a:r>
            <a:r>
              <a:rPr lang="en-US" sz="2000" dirty="0"/>
              <a:t>(SELECT pop FROM User);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13663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47011-1227-4605-8140-595051958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ways to get the most popular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E2CC3-83DD-48E3-87F8-8B5881E87D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Which users are the most popular?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96B6DA-5862-4EFF-BA7C-5AECDFAC9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34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BF044F-1C6B-4A82-BFC8-462AC16EB6A7}"/>
              </a:ext>
            </a:extLst>
          </p:cNvPr>
          <p:cNvSpPr/>
          <p:nvPr/>
        </p:nvSpPr>
        <p:spPr>
          <a:xfrm>
            <a:off x="548254" y="3217423"/>
            <a:ext cx="5566618" cy="120677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2000" dirty="0"/>
              <a:t>Q2. SELECT *</a:t>
            </a:r>
            <a:br>
              <a:rPr lang="en-US" sz="2000" dirty="0"/>
            </a:br>
            <a:r>
              <a:rPr lang="en-US" sz="2000" dirty="0"/>
              <a:t>FROM User</a:t>
            </a:r>
            <a:br>
              <a:rPr lang="en-US" sz="2000" dirty="0"/>
            </a:br>
            <a:r>
              <a:rPr lang="en-US" sz="2000" dirty="0"/>
              <a:t>WHERE </a:t>
            </a:r>
            <a:r>
              <a:rPr lang="en-US" sz="2000" dirty="0">
                <a:solidFill>
                  <a:schemeClr val="accent2"/>
                </a:solidFill>
              </a:rPr>
              <a:t>NOT</a:t>
            </a:r>
            <a:br>
              <a:rPr lang="en-US" sz="2000" dirty="0"/>
            </a:br>
            <a:r>
              <a:rPr lang="en-US" sz="2000" dirty="0"/>
              <a:t>    (pop &lt; </a:t>
            </a:r>
            <a:r>
              <a:rPr lang="en-US" sz="2000" dirty="0">
                <a:solidFill>
                  <a:schemeClr val="accent2"/>
                </a:solidFill>
              </a:rPr>
              <a:t>ANY</a:t>
            </a:r>
            <a:r>
              <a:rPr lang="en-US" sz="2000" dirty="0"/>
              <a:t>(SELECT pop FROM User);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A46148-00DD-492D-909D-7BE395CD69BF}"/>
              </a:ext>
            </a:extLst>
          </p:cNvPr>
          <p:cNvSpPr/>
          <p:nvPr/>
        </p:nvSpPr>
        <p:spPr>
          <a:xfrm>
            <a:off x="548254" y="2054927"/>
            <a:ext cx="5566618" cy="98226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2000" dirty="0"/>
              <a:t>Q1. SELECT *</a:t>
            </a:r>
            <a:br>
              <a:rPr lang="en-US" sz="2000" dirty="0"/>
            </a:br>
            <a:r>
              <a:rPr lang="en-US" sz="2000" dirty="0"/>
              <a:t>FROM User</a:t>
            </a:r>
            <a:br>
              <a:rPr lang="en-US" sz="2000" dirty="0"/>
            </a:br>
            <a:r>
              <a:rPr lang="en-US" sz="2000" dirty="0"/>
              <a:t>WHERE pop &gt;= </a:t>
            </a:r>
            <a:r>
              <a:rPr lang="en-US" sz="2000" dirty="0">
                <a:solidFill>
                  <a:schemeClr val="accent2"/>
                </a:solidFill>
              </a:rPr>
              <a:t>ALL</a:t>
            </a:r>
            <a:r>
              <a:rPr lang="en-US" sz="2000" dirty="0"/>
              <a:t>(SELECT pop FROM User);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FF38E4-03D7-40FE-AE3C-4FD52DDDEA7B}"/>
              </a:ext>
            </a:extLst>
          </p:cNvPr>
          <p:cNvSpPr/>
          <p:nvPr/>
        </p:nvSpPr>
        <p:spPr>
          <a:xfrm>
            <a:off x="548254" y="4604426"/>
            <a:ext cx="3501232" cy="188845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2000" dirty="0">
                <a:latin typeface="+mj-lt"/>
              </a:rPr>
              <a:t>Q3. SELECT *</a:t>
            </a:r>
            <a:br>
              <a:rPr lang="en-US" sz="2000" dirty="0">
                <a:latin typeface="+mj-lt"/>
              </a:rPr>
            </a:br>
            <a:r>
              <a:rPr lang="en-US" sz="2000" dirty="0">
                <a:latin typeface="+mj-lt"/>
              </a:rPr>
              <a:t>FROM User AS u</a:t>
            </a:r>
            <a:br>
              <a:rPr lang="en-US" sz="2000" dirty="0">
                <a:latin typeface="+mj-lt"/>
              </a:rPr>
            </a:br>
            <a:r>
              <a:rPr lang="en-US" sz="2000" dirty="0">
                <a:latin typeface="+mj-lt"/>
              </a:rPr>
              <a:t>WHERE NOT </a:t>
            </a:r>
            <a:r>
              <a:rPr lang="en-US" sz="2000" dirty="0">
                <a:solidFill>
                  <a:schemeClr val="accent2"/>
                </a:solidFill>
                <a:latin typeface="+mj-lt"/>
              </a:rPr>
              <a:t>[EXITS or IN?]</a:t>
            </a:r>
            <a:br>
              <a:rPr lang="en-US" sz="2000" dirty="0">
                <a:latin typeface="+mj-lt"/>
              </a:rPr>
            </a:br>
            <a:r>
              <a:rPr lang="en-US" sz="2000" dirty="0">
                <a:latin typeface="+mj-lt"/>
              </a:rPr>
              <a:t>    (SELECT * FROM User</a:t>
            </a:r>
            <a:br>
              <a:rPr lang="en-US" sz="2000" dirty="0">
                <a:latin typeface="+mj-lt"/>
              </a:rPr>
            </a:br>
            <a:r>
              <a:rPr lang="en-US" sz="2000" dirty="0">
                <a:latin typeface="+mj-lt"/>
              </a:rPr>
              <a:t>     WHERE pop &gt; </a:t>
            </a:r>
            <a:r>
              <a:rPr lang="en-US" sz="2000" dirty="0" err="1">
                <a:latin typeface="+mj-lt"/>
              </a:rPr>
              <a:t>u.pop</a:t>
            </a:r>
            <a:r>
              <a:rPr lang="en-US" sz="2000" dirty="0">
                <a:latin typeface="+mj-lt"/>
              </a:rPr>
              <a:t>);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9004D3-C8A1-4BD9-ADFD-2A9792C84F7B}"/>
              </a:ext>
            </a:extLst>
          </p:cNvPr>
          <p:cNvSpPr/>
          <p:nvPr/>
        </p:nvSpPr>
        <p:spPr>
          <a:xfrm>
            <a:off x="4531802" y="4604425"/>
            <a:ext cx="4189466" cy="188845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2000" dirty="0">
                <a:latin typeface="+mj-lt"/>
              </a:rPr>
              <a:t>Q4. SELECT * FROM User</a:t>
            </a:r>
            <a:br>
              <a:rPr lang="en-US" sz="2000" dirty="0">
                <a:latin typeface="+mj-lt"/>
              </a:rPr>
            </a:br>
            <a:r>
              <a:rPr lang="en-US" sz="2000" dirty="0">
                <a:latin typeface="+mj-lt"/>
              </a:rPr>
              <a:t>WHERE </a:t>
            </a:r>
            <a:r>
              <a:rPr lang="en-US" sz="2000" dirty="0" err="1">
                <a:latin typeface="+mj-lt"/>
              </a:rPr>
              <a:t>uid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>
                <a:solidFill>
                  <a:schemeClr val="accent2"/>
                </a:solidFill>
                <a:latin typeface="+mj-lt"/>
              </a:rPr>
              <a:t>NOT [EXISTS or IN?]</a:t>
            </a:r>
            <a:br>
              <a:rPr lang="en-US" sz="2000" dirty="0">
                <a:latin typeface="+mj-lt"/>
              </a:rPr>
            </a:br>
            <a:r>
              <a:rPr lang="en-US" sz="2000" dirty="0">
                <a:latin typeface="+mj-lt"/>
              </a:rPr>
              <a:t>    (SELECT u1.uid</a:t>
            </a:r>
            <a:br>
              <a:rPr lang="en-US" sz="2000" dirty="0">
                <a:latin typeface="+mj-lt"/>
              </a:rPr>
            </a:br>
            <a:r>
              <a:rPr lang="en-US" sz="2000" dirty="0">
                <a:latin typeface="+mj-lt"/>
              </a:rPr>
              <a:t>     FROM User AS u1, User AS u2</a:t>
            </a:r>
            <a:br>
              <a:rPr lang="en-US" sz="2000" dirty="0">
                <a:latin typeface="+mj-lt"/>
              </a:rPr>
            </a:br>
            <a:r>
              <a:rPr lang="en-US" sz="2000" dirty="0">
                <a:latin typeface="+mj-lt"/>
              </a:rPr>
              <a:t>     WHERE u1.pop &lt; u2.pop);</a:t>
            </a:r>
          </a:p>
        </p:txBody>
      </p:sp>
      <p:sp>
        <p:nvSpPr>
          <p:cNvPr id="9" name="Callout: Bent Line 8">
            <a:extLst>
              <a:ext uri="{FF2B5EF4-FFF2-40B4-BE49-F238E27FC236}">
                <a16:creationId xmlns:a16="http://schemas.microsoft.com/office/drawing/2014/main" id="{1688997E-A78F-477F-A789-03CBFD26EB2A}"/>
              </a:ext>
            </a:extLst>
          </p:cNvPr>
          <p:cNvSpPr/>
          <p:nvPr/>
        </p:nvSpPr>
        <p:spPr>
          <a:xfrm>
            <a:off x="6941492" y="3226089"/>
            <a:ext cx="1775419" cy="920476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235124"/>
              <a:gd name="adj6" fmla="val -187150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endParaRPr lang="en-CA" dirty="0"/>
          </a:p>
        </p:txBody>
      </p:sp>
      <p:sp>
        <p:nvSpPr>
          <p:cNvPr id="10" name="Callout: Bent Line 9">
            <a:extLst>
              <a:ext uri="{FF2B5EF4-FFF2-40B4-BE49-F238E27FC236}">
                <a16:creationId xmlns:a16="http://schemas.microsoft.com/office/drawing/2014/main" id="{C3D62F26-80A4-4980-8B41-AEFA0A2491C3}"/>
              </a:ext>
            </a:extLst>
          </p:cNvPr>
          <p:cNvSpPr/>
          <p:nvPr/>
        </p:nvSpPr>
        <p:spPr>
          <a:xfrm>
            <a:off x="6941492" y="3221778"/>
            <a:ext cx="1775419" cy="920476"/>
          </a:xfrm>
          <a:prstGeom prst="borderCallout2">
            <a:avLst>
              <a:gd name="adj1" fmla="val 110521"/>
              <a:gd name="adj2" fmla="val 45623"/>
              <a:gd name="adj3" fmla="val 114305"/>
              <a:gd name="adj4" fmla="val 44646"/>
              <a:gd name="adj5" fmla="val 216202"/>
              <a:gd name="adj6" fmla="val 44370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r>
              <a:rPr lang="en-US" dirty="0"/>
              <a:t>EXISTS or IN?</a:t>
            </a:r>
            <a:endParaRPr lang="en-CA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81643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features covered so far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Prestige12 BT" panose="02070509030506020304" pitchFamily="49" charset="0"/>
              </a:rPr>
              <a:t>SELECT-FROM-WHERE</a:t>
            </a:r>
            <a:r>
              <a:rPr lang="en-US" dirty="0"/>
              <a:t> statements</a:t>
            </a:r>
          </a:p>
          <a:p>
            <a:r>
              <a:rPr lang="en-US" dirty="0"/>
              <a:t>Set and bag operations</a:t>
            </a:r>
          </a:p>
          <a:p>
            <a:r>
              <a:rPr lang="en-US" dirty="0" err="1"/>
              <a:t>Subqueries</a:t>
            </a:r>
            <a:endParaRPr lang="en-US" dirty="0"/>
          </a:p>
          <a:p>
            <a:pPr lvl="1"/>
            <a:r>
              <a:rPr lang="en-US" dirty="0" err="1"/>
              <a:t>Subqueries</a:t>
            </a:r>
            <a:r>
              <a:rPr lang="en-US" dirty="0"/>
              <a:t> allow queries to be written in more declarative ways (recall the “most popular” query)</a:t>
            </a:r>
          </a:p>
          <a:p>
            <a:pPr lvl="1"/>
            <a:r>
              <a:rPr lang="en-US" dirty="0"/>
              <a:t>But in many cases, they don’t add expressive power</a:t>
            </a:r>
          </a:p>
          <a:p>
            <a:pPr>
              <a:buFont typeface="Wingdings" pitchFamily="2" charset="2"/>
              <a:buChar char="F"/>
            </a:pPr>
            <a:endParaRPr lang="en-US" dirty="0"/>
          </a:p>
          <a:p>
            <a:pPr>
              <a:buFont typeface="Wingdings" pitchFamily="2" charset="2"/>
              <a:buChar char="F"/>
            </a:pPr>
            <a:r>
              <a:rPr lang="en-US" dirty="0"/>
              <a:t>Next: </a:t>
            </a:r>
            <a:r>
              <a:rPr lang="en-US" dirty="0">
                <a:solidFill>
                  <a:schemeClr val="accent2"/>
                </a:solidFill>
              </a:rPr>
              <a:t>aggregation and grouping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35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57623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Standard SQL aggregate functions: </a:t>
            </a:r>
            <a:r>
              <a:rPr lang="en-US" dirty="0">
                <a:solidFill>
                  <a:schemeClr val="accent2"/>
                </a:solidFill>
                <a:latin typeface="Prestige12 BT" panose="02070509030506020304" pitchFamily="49" charset="0"/>
              </a:rPr>
              <a:t>COUNT</a:t>
            </a:r>
            <a:r>
              <a:rPr lang="en-US" dirty="0"/>
              <a:t>, </a:t>
            </a:r>
            <a:r>
              <a:rPr lang="en-US" dirty="0">
                <a:solidFill>
                  <a:schemeClr val="accent2"/>
                </a:solidFill>
                <a:latin typeface="Prestige12 BT" panose="02070509030506020304" pitchFamily="49" charset="0"/>
              </a:rPr>
              <a:t>SUM</a:t>
            </a:r>
            <a:r>
              <a:rPr lang="en-US" dirty="0"/>
              <a:t>, </a:t>
            </a:r>
            <a:r>
              <a:rPr lang="en-US" dirty="0">
                <a:solidFill>
                  <a:schemeClr val="accent2"/>
                </a:solidFill>
                <a:latin typeface="Prestige12 BT" panose="02070509030506020304" pitchFamily="49" charset="0"/>
              </a:rPr>
              <a:t>AVG</a:t>
            </a:r>
            <a:r>
              <a:rPr lang="en-US" dirty="0"/>
              <a:t>, </a:t>
            </a:r>
            <a:r>
              <a:rPr lang="en-US" dirty="0">
                <a:solidFill>
                  <a:schemeClr val="accent2"/>
                </a:solidFill>
                <a:latin typeface="Prestige12 BT" panose="02070509030506020304" pitchFamily="49" charset="0"/>
              </a:rPr>
              <a:t>MIN</a:t>
            </a:r>
            <a:r>
              <a:rPr lang="en-US" dirty="0"/>
              <a:t>, </a:t>
            </a:r>
            <a:r>
              <a:rPr lang="en-US" dirty="0">
                <a:solidFill>
                  <a:schemeClr val="accent2"/>
                </a:solidFill>
                <a:latin typeface="Prestige12 BT" panose="02070509030506020304" pitchFamily="49" charset="0"/>
              </a:rPr>
              <a:t>MAX</a:t>
            </a:r>
            <a:br>
              <a:rPr lang="en-US" dirty="0">
                <a:solidFill>
                  <a:schemeClr val="accent2"/>
                </a:solidFill>
                <a:latin typeface="Prestige12 BT" panose="02070509030506020304" pitchFamily="49" charset="0"/>
              </a:rPr>
            </a:br>
            <a:endParaRPr lang="en-US" dirty="0">
              <a:solidFill>
                <a:schemeClr val="accent2"/>
              </a:solidFill>
              <a:latin typeface="Prestige12 BT" panose="02070509030506020304" pitchFamily="49" charset="0"/>
            </a:endParaRPr>
          </a:p>
          <a:p>
            <a:r>
              <a:rPr lang="en-US" dirty="0"/>
              <a:t>Example: number of users under 18, and their average popularity</a:t>
            </a:r>
          </a:p>
          <a:p>
            <a:pPr lvl="1"/>
            <a:r>
              <a:rPr lang="en-US" dirty="0">
                <a:latin typeface="Prestige12 BT" panose="02070509030506020304" pitchFamily="49" charset="0"/>
              </a:rPr>
              <a:t>COUNT(*)</a:t>
            </a:r>
            <a:r>
              <a:rPr lang="en-US" dirty="0"/>
              <a:t> counts the number of rows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36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F17D92-63BB-48C6-B528-E44965D6FC91}"/>
              </a:ext>
            </a:extLst>
          </p:cNvPr>
          <p:cNvSpPr/>
          <p:nvPr/>
        </p:nvSpPr>
        <p:spPr>
          <a:xfrm>
            <a:off x="983682" y="4171109"/>
            <a:ext cx="5566618" cy="98226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2000" dirty="0"/>
              <a:t>SELECT COUNT(*), AVG(pop)</a:t>
            </a:r>
            <a:br>
              <a:rPr lang="en-US" sz="2000" dirty="0"/>
            </a:br>
            <a:r>
              <a:rPr lang="en-US" sz="2000" dirty="0"/>
              <a:t>FROM User</a:t>
            </a:r>
            <a:br>
              <a:rPr lang="en-US" sz="2000" dirty="0"/>
            </a:br>
            <a:r>
              <a:rPr lang="en-US" sz="2000" dirty="0"/>
              <a:t>WHERE age &lt;18;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43229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Aggregates with </a:t>
            </a:r>
            <a:r>
              <a:rPr lang="en-US" dirty="0">
                <a:latin typeface="Prestige12 BT" panose="02070509030506020304" pitchFamily="49" charset="0"/>
              </a:rPr>
              <a:t>DISTINCT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Example: How many users are in some group?</a:t>
            </a:r>
          </a:p>
          <a:p>
            <a:pPr lvl="1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37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B24BEB-21AD-4707-B256-6AA001910620}"/>
              </a:ext>
            </a:extLst>
          </p:cNvPr>
          <p:cNvSpPr/>
          <p:nvPr/>
        </p:nvSpPr>
        <p:spPr>
          <a:xfrm>
            <a:off x="1459022" y="2227267"/>
            <a:ext cx="5566618" cy="98226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2000" dirty="0"/>
              <a:t>SELECT COUNT(*)</a:t>
            </a:r>
          </a:p>
          <a:p>
            <a:pPr lvl="1"/>
            <a:r>
              <a:rPr lang="en-US" sz="2000" dirty="0"/>
              <a:t>FROM (SELECT </a:t>
            </a:r>
            <a:r>
              <a:rPr lang="en-US" sz="2000" dirty="0">
                <a:solidFill>
                  <a:schemeClr val="accent2"/>
                </a:solidFill>
              </a:rPr>
              <a:t>DISTINCT</a:t>
            </a:r>
            <a:r>
              <a:rPr lang="en-US" sz="2000" dirty="0"/>
              <a:t> </a:t>
            </a:r>
            <a:r>
              <a:rPr lang="en-US" sz="2000" dirty="0" err="1"/>
              <a:t>uid</a:t>
            </a:r>
            <a:r>
              <a:rPr lang="en-US" sz="2000" dirty="0"/>
              <a:t> FROM Member);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0EEC8E-8F87-4D45-A839-67DE2BA1DB85}"/>
              </a:ext>
            </a:extLst>
          </p:cNvPr>
          <p:cNvSpPr/>
          <p:nvPr/>
        </p:nvSpPr>
        <p:spPr>
          <a:xfrm>
            <a:off x="1519982" y="3882349"/>
            <a:ext cx="5566618" cy="98226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2000" dirty="0"/>
              <a:t>SELECT COUNT(</a:t>
            </a:r>
            <a:r>
              <a:rPr lang="en-US" sz="2000" dirty="0">
                <a:solidFill>
                  <a:schemeClr val="accent2"/>
                </a:solidFill>
              </a:rPr>
              <a:t>DISTINCT</a:t>
            </a:r>
            <a:r>
              <a:rPr lang="en-US" sz="2000" dirty="0"/>
              <a:t> </a:t>
            </a:r>
            <a:r>
              <a:rPr lang="en-US" sz="2000" dirty="0" err="1"/>
              <a:t>uid</a:t>
            </a:r>
            <a:r>
              <a:rPr lang="en-US" sz="2000" dirty="0"/>
              <a:t>)</a:t>
            </a:r>
          </a:p>
          <a:p>
            <a:pPr lvl="1"/>
            <a:r>
              <a:rPr lang="en-US" sz="2000" dirty="0"/>
              <a:t>FROM Member;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CF3255-B488-4240-9E83-994146C278FB}"/>
              </a:ext>
            </a:extLst>
          </p:cNvPr>
          <p:cNvSpPr txBox="1"/>
          <p:nvPr/>
        </p:nvSpPr>
        <p:spPr>
          <a:xfrm>
            <a:off x="3166139" y="3265787"/>
            <a:ext cx="21523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2"/>
                </a:solidFill>
                <a:latin typeface="Prestige12 BT" panose="02070509030506020304" pitchFamily="49" charset="0"/>
              </a:rPr>
              <a:t>Is equivalent to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43264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latin typeface="Prestige12 BT" panose="02070509030506020304" pitchFamily="49" charset="0"/>
                  </a:rPr>
                  <a:t>SELECT … FROM … WHERE …</a:t>
                </a:r>
                <a:br>
                  <a:rPr lang="en-US" dirty="0">
                    <a:latin typeface="Prestige12 BT" panose="02070509030506020304" pitchFamily="49" charset="0"/>
                  </a:rPr>
                </a:br>
                <a:r>
                  <a:rPr lang="en-US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  <a:t>GROUP BY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1" dirty="0" smtClean="0">
                        <a:solidFill>
                          <a:schemeClr val="accent2"/>
                        </a:solidFill>
                        <a:latin typeface="Cambria Math"/>
                      </a:rPr>
                      <m:t>list</m:t>
                    </m:r>
                    <m:r>
                      <m:rPr>
                        <m:nor/>
                      </m:rPr>
                      <a:rPr lang="en-US" i="1" dirty="0" smtClean="0">
                        <a:solidFill>
                          <a:schemeClr val="accent2"/>
                        </a:solidFill>
                        <a:latin typeface="Cambria Math"/>
                      </a:rPr>
                      <m:t>_</m:t>
                    </m:r>
                    <m:r>
                      <m:rPr>
                        <m:nor/>
                      </m:rPr>
                      <a:rPr lang="en-US" b="0" i="1" dirty="0" smtClean="0">
                        <a:solidFill>
                          <a:schemeClr val="accent2"/>
                        </a:solidFill>
                        <a:latin typeface="Cambria Math"/>
                      </a:rPr>
                      <m:t>of</m:t>
                    </m:r>
                    <m:r>
                      <m:rPr>
                        <m:nor/>
                      </m:rPr>
                      <a:rPr lang="en-US" b="0" i="1" dirty="0" smtClean="0">
                        <a:solidFill>
                          <a:schemeClr val="accent2"/>
                        </a:solidFill>
                        <a:latin typeface="Cambria Math"/>
                      </a:rPr>
                      <m:t>_</m:t>
                    </m:r>
                    <m:r>
                      <m:rPr>
                        <m:nor/>
                      </m:rPr>
                      <a:rPr lang="en-US" b="0" i="1" dirty="0" smtClean="0">
                        <a:solidFill>
                          <a:schemeClr val="accent2"/>
                        </a:solidFill>
                        <a:latin typeface="Cambria Math"/>
                      </a:rPr>
                      <m:t>columns</m:t>
                    </m:r>
                  </m:oMath>
                </a14:m>
                <a:r>
                  <a:rPr lang="en-US" dirty="0">
                    <a:latin typeface="Prestige12 BT" panose="02070509030506020304" pitchFamily="49" charset="0"/>
                  </a:rPr>
                  <a:t>;</a:t>
                </a:r>
              </a:p>
              <a:p>
                <a:endParaRPr lang="en-US" dirty="0">
                  <a:latin typeface="LettrGoth12 BT" pitchFamily="49" charset="0"/>
                </a:endParaRPr>
              </a:p>
              <a:p>
                <a:r>
                  <a:rPr lang="en-US" dirty="0"/>
                  <a:t>Example: compute average popularity </a:t>
                </a:r>
                <a:r>
                  <a:rPr lang="en-US" dirty="0">
                    <a:solidFill>
                      <a:schemeClr val="accent2"/>
                    </a:solidFill>
                  </a:rPr>
                  <a:t>for </a:t>
                </a:r>
                <a:br>
                  <a:rPr lang="en-US" dirty="0">
                    <a:solidFill>
                      <a:schemeClr val="accent2"/>
                    </a:solidFill>
                  </a:rPr>
                </a:br>
                <a:r>
                  <a:rPr lang="en-US" dirty="0">
                    <a:solidFill>
                      <a:schemeClr val="accent2"/>
                    </a:solidFill>
                  </a:rPr>
                  <a:t>each age group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6"/>
                <a:stretch>
                  <a:fillRect l="-1342" t="-1968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38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D86031-02FC-4C41-BBEC-3F1B21BE58E7}"/>
              </a:ext>
            </a:extLst>
          </p:cNvPr>
          <p:cNvSpPr/>
          <p:nvPr/>
        </p:nvSpPr>
        <p:spPr>
          <a:xfrm>
            <a:off x="1206474" y="3847567"/>
            <a:ext cx="5566618" cy="98226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2000" dirty="0"/>
              <a:t>SELECT </a:t>
            </a:r>
            <a:r>
              <a:rPr lang="en-US" sz="2000" dirty="0">
                <a:solidFill>
                  <a:schemeClr val="accent2"/>
                </a:solidFill>
              </a:rPr>
              <a:t>age</a:t>
            </a:r>
            <a:r>
              <a:rPr lang="en-US" sz="2000" dirty="0"/>
              <a:t>, </a:t>
            </a:r>
            <a:r>
              <a:rPr lang="en-US" sz="2000" dirty="0">
                <a:solidFill>
                  <a:schemeClr val="accent2"/>
                </a:solidFill>
              </a:rPr>
              <a:t>AVG(pop)</a:t>
            </a:r>
          </a:p>
          <a:p>
            <a:pPr lvl="1"/>
            <a:r>
              <a:rPr lang="en-US" sz="2000" dirty="0"/>
              <a:t>FROM User</a:t>
            </a:r>
          </a:p>
          <a:p>
            <a:pPr lvl="1"/>
            <a:r>
              <a:rPr lang="en-US" sz="2000" dirty="0">
                <a:solidFill>
                  <a:schemeClr val="accent2"/>
                </a:solidFill>
              </a:rPr>
              <a:t>GROUP BY age</a:t>
            </a:r>
            <a:r>
              <a:rPr lang="en-US" sz="2000" dirty="0"/>
              <a:t>;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97074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computing </a:t>
            </a:r>
            <a:r>
              <a:rPr lang="en-US" dirty="0">
                <a:latin typeface="Prestige12 BT" panose="02070509030506020304" pitchFamily="49" charset="0"/>
              </a:rPr>
              <a:t>GROUP</a:t>
            </a:r>
            <a:r>
              <a:rPr lang="en-US" dirty="0"/>
              <a:t> </a:t>
            </a:r>
            <a:r>
              <a:rPr lang="en-US" dirty="0">
                <a:latin typeface="Prestige12 BT" panose="02070509030506020304" pitchFamily="49" charset="0"/>
              </a:rPr>
              <a:t>BY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39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0172408"/>
              </p:ext>
            </p:extLst>
          </p:nvPr>
        </p:nvGraphicFramePr>
        <p:xfrm>
          <a:off x="475750" y="2056014"/>
          <a:ext cx="3176271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1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3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95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18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5047">
                <a:tc>
                  <a:txBody>
                    <a:bodyPr/>
                    <a:lstStyle/>
                    <a:p>
                      <a:r>
                        <a:rPr lang="en-US" sz="1600" i="1" dirty="0" err="1"/>
                        <a:t>uid</a:t>
                      </a:r>
                      <a:endParaRPr lang="en-US" sz="16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/>
                        <a:t>pop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5167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Bart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0.9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126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Lisa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0.7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201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Milhouse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275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Ralph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0.3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059382" y="2191435"/>
            <a:ext cx="400950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Tx/>
              <a:buNone/>
            </a:pPr>
            <a:r>
              <a:rPr lang="en-US" sz="2400" dirty="0"/>
              <a:t>Compute </a:t>
            </a:r>
            <a:r>
              <a:rPr lang="en-US" sz="2400" dirty="0">
                <a:latin typeface="Prestige12 BT" panose="02070509030506020304" pitchFamily="49" charset="0"/>
              </a:rPr>
              <a:t>GROUP</a:t>
            </a:r>
            <a:r>
              <a:rPr lang="en-US" sz="2400" dirty="0"/>
              <a:t> </a:t>
            </a:r>
            <a:r>
              <a:rPr lang="en-US" sz="2400" dirty="0">
                <a:latin typeface="Prestige12 BT" panose="02070509030506020304" pitchFamily="49" charset="0"/>
              </a:rPr>
              <a:t>BY</a:t>
            </a:r>
            <a:r>
              <a:rPr lang="en-US" sz="2400" dirty="0"/>
              <a:t>: group rows according to the values of </a:t>
            </a:r>
            <a:r>
              <a:rPr lang="en-US" sz="2400" dirty="0">
                <a:latin typeface="Prestige12 BT" panose="02070509030506020304" pitchFamily="49" charset="0"/>
              </a:rPr>
              <a:t>GROUP</a:t>
            </a:r>
            <a:r>
              <a:rPr lang="en-US" sz="2400" dirty="0"/>
              <a:t> </a:t>
            </a:r>
            <a:r>
              <a:rPr lang="en-US" sz="2400" dirty="0">
                <a:latin typeface="Prestige12 BT" panose="02070509030506020304" pitchFamily="49" charset="0"/>
              </a:rPr>
              <a:t>BY</a:t>
            </a:r>
            <a:r>
              <a:rPr lang="en-US" sz="2400" dirty="0"/>
              <a:t> columns</a:t>
            </a:r>
            <a:endParaRPr lang="en-US" sz="28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6131626"/>
              </p:ext>
            </p:extLst>
          </p:nvPr>
        </p:nvGraphicFramePr>
        <p:xfrm>
          <a:off x="4562841" y="3593868"/>
          <a:ext cx="3176271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1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3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95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18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5047">
                <a:tc>
                  <a:txBody>
                    <a:bodyPr/>
                    <a:lstStyle/>
                    <a:p>
                      <a:r>
                        <a:rPr lang="en-US" sz="1600" i="1" dirty="0" err="1"/>
                        <a:t>uid</a:t>
                      </a:r>
                      <a:endParaRPr lang="en-US" sz="16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/>
                        <a:t>pop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5167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142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Bart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10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0.9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126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123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Milhouse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10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0.2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201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Lisa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8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0.7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275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456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Ralph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8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0.3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71390" y="4175359"/>
            <a:ext cx="2632452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Compute </a:t>
            </a:r>
            <a:r>
              <a:rPr lang="en-US" sz="2400" dirty="0">
                <a:latin typeface="Prestige12 BT" panose="02070509030506020304" pitchFamily="49" charset="0"/>
              </a:rPr>
              <a:t>SELECT</a:t>
            </a:r>
            <a:r>
              <a:rPr lang="en-US" sz="2400" dirty="0"/>
              <a:t> </a:t>
            </a:r>
            <a:br>
              <a:rPr lang="en-US" sz="2400" dirty="0"/>
            </a:br>
            <a:r>
              <a:rPr lang="en-US" sz="2400" dirty="0"/>
              <a:t>for each group 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4459471"/>
              </p:ext>
            </p:extLst>
          </p:nvPr>
        </p:nvGraphicFramePr>
        <p:xfrm>
          <a:off x="1489903" y="5065221"/>
          <a:ext cx="1507173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95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7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5047">
                <a:tc>
                  <a:txBody>
                    <a:bodyPr/>
                    <a:lstStyle/>
                    <a:p>
                      <a:r>
                        <a:rPr lang="en-US" sz="1600" i="1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 err="1"/>
                        <a:t>avg_pop</a:t>
                      </a:r>
                      <a:endParaRPr lang="en-US" sz="16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5167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10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0.55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201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8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0.50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Right Arrow 9"/>
          <p:cNvSpPr/>
          <p:nvPr/>
        </p:nvSpPr>
        <p:spPr>
          <a:xfrm>
            <a:off x="3812771" y="3735185"/>
            <a:ext cx="620684" cy="4401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Arrow 12"/>
          <p:cNvSpPr/>
          <p:nvPr/>
        </p:nvSpPr>
        <p:spPr>
          <a:xfrm flipH="1">
            <a:off x="3125585" y="4951614"/>
            <a:ext cx="1231670" cy="4401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BEB17B-64FC-450B-B137-A9B3FE9BEC49}"/>
              </a:ext>
            </a:extLst>
          </p:cNvPr>
          <p:cNvSpPr/>
          <p:nvPr/>
        </p:nvSpPr>
        <p:spPr>
          <a:xfrm>
            <a:off x="771390" y="1304112"/>
            <a:ext cx="6936040" cy="56723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2000" dirty="0"/>
              <a:t>SELECT </a:t>
            </a:r>
            <a:r>
              <a:rPr lang="en-US" sz="2000" dirty="0">
                <a:solidFill>
                  <a:schemeClr val="accent2"/>
                </a:solidFill>
              </a:rPr>
              <a:t>age</a:t>
            </a:r>
            <a:r>
              <a:rPr lang="en-US" sz="2000" dirty="0"/>
              <a:t>, AVG(pop) FROM User </a:t>
            </a:r>
            <a:r>
              <a:rPr lang="en-US" sz="2000" dirty="0">
                <a:solidFill>
                  <a:schemeClr val="accent2"/>
                </a:solidFill>
              </a:rPr>
              <a:t>GROUP BY age</a:t>
            </a:r>
            <a:r>
              <a:rPr lang="en-US" sz="2000" dirty="0"/>
              <a:t>;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57571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 animBg="1"/>
      <p:bldP spid="1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Semantics of </a:t>
            </a:r>
            <a:r>
              <a:rPr lang="en-US" dirty="0">
                <a:latin typeface="Prestige12 BT" panose="02070509030506020304" pitchFamily="49" charset="0"/>
              </a:rPr>
              <a:t>GROUP</a:t>
            </a:r>
            <a:r>
              <a:rPr lang="en-US" dirty="0"/>
              <a:t> </a:t>
            </a:r>
            <a:r>
              <a:rPr lang="en-US" dirty="0">
                <a:latin typeface="Prestige12 BT" panose="02070509030506020304" pitchFamily="49" charset="0"/>
              </a:rPr>
              <a:t>BY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buNone/>
                </a:pPr>
                <a:r>
                  <a:rPr lang="en-US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  <a:t>SELECT … FROM … WHERE … GROUP BY …;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Compute </a:t>
                </a:r>
                <a:r>
                  <a:rPr lang="en-US" dirty="0">
                    <a:latin typeface="Prestige12 BT" panose="02070509030506020304" pitchFamily="49" charset="0"/>
                  </a:rPr>
                  <a:t>FROM</a:t>
                </a:r>
                <a:r>
                  <a:rPr lang="en-US" dirty="0"/>
                  <a:t>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×</m:t>
                    </m:r>
                  </m:oMath>
                </a14:m>
                <a:r>
                  <a:rPr lang="en-US" dirty="0"/>
                  <a:t>)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Compute </a:t>
                </a:r>
                <a:r>
                  <a:rPr lang="en-US" dirty="0">
                    <a:latin typeface="Prestige12 BT" panose="02070509030506020304" pitchFamily="49" charset="0"/>
                  </a:rPr>
                  <a:t>WHERE</a:t>
                </a:r>
                <a:r>
                  <a:rPr lang="en-US" dirty="0"/>
                  <a:t>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𝜎</m:t>
                    </m:r>
                  </m:oMath>
                </a14:m>
                <a:r>
                  <a:rPr lang="en-US" dirty="0"/>
                  <a:t>)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Compute </a:t>
                </a:r>
                <a:r>
                  <a:rPr lang="en-US" dirty="0">
                    <a:latin typeface="Prestige12 BT" panose="02070509030506020304" pitchFamily="49" charset="0"/>
                  </a:rPr>
                  <a:t>GROUP</a:t>
                </a:r>
                <a:r>
                  <a:rPr lang="en-US" dirty="0"/>
                  <a:t> </a:t>
                </a:r>
                <a:r>
                  <a:rPr lang="en-US" dirty="0">
                    <a:latin typeface="Prestige12 BT" panose="02070509030506020304" pitchFamily="49" charset="0"/>
                  </a:rPr>
                  <a:t>BY</a:t>
                </a:r>
                <a:r>
                  <a:rPr lang="en-US" dirty="0"/>
                  <a:t>: group rows according to the values of </a:t>
                </a:r>
                <a:r>
                  <a:rPr lang="en-US" dirty="0">
                    <a:latin typeface="Prestige12 BT" panose="02070509030506020304" pitchFamily="49" charset="0"/>
                  </a:rPr>
                  <a:t>GROUP</a:t>
                </a:r>
                <a:r>
                  <a:rPr lang="en-US" dirty="0"/>
                  <a:t> </a:t>
                </a:r>
                <a:r>
                  <a:rPr lang="en-US" dirty="0">
                    <a:latin typeface="Prestige12 BT" panose="02070509030506020304" pitchFamily="49" charset="0"/>
                  </a:rPr>
                  <a:t>BY</a:t>
                </a:r>
                <a:r>
                  <a:rPr lang="en-US" dirty="0"/>
                  <a:t> columns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Compute </a:t>
                </a:r>
                <a:r>
                  <a:rPr lang="en-US" dirty="0">
                    <a:latin typeface="Prestige12 BT" panose="02070509030506020304" pitchFamily="49" charset="0"/>
                  </a:rPr>
                  <a:t>SELECT</a:t>
                </a:r>
                <a:r>
                  <a:rPr lang="en-US" dirty="0"/>
                  <a:t> for each group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𝜋</m:t>
                    </m:r>
                  </m:oMath>
                </a14:m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For aggregation functions with </a:t>
                </a:r>
                <a:r>
                  <a:rPr lang="en-US" dirty="0">
                    <a:latin typeface="Prestige12 BT" panose="02070509030506020304" pitchFamily="49" charset="0"/>
                  </a:rPr>
                  <a:t>DISTINCT</a:t>
                </a:r>
                <a:r>
                  <a:rPr lang="en-US" dirty="0"/>
                  <a:t> inputs, first eliminate duplicates within the group</a:t>
                </a:r>
              </a:p>
              <a:p>
                <a:pPr>
                  <a:buFont typeface="Wingdings" pitchFamily="2" charset="2"/>
                  <a:buChar char="F"/>
                </a:pPr>
                <a:r>
                  <a:rPr lang="en-US" dirty="0"/>
                  <a:t>Number of groups = </a:t>
                </a:r>
                <a:br>
                  <a:rPr lang="en-US" dirty="0"/>
                </a:br>
                <a:r>
                  <a:rPr lang="en-US" dirty="0"/>
                  <a:t>	number of rows in the final output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6"/>
                <a:stretch>
                  <a:fillRect l="-1566" t="-1968" r="-1342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40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3249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Aggregates with no </a:t>
            </a:r>
            <a:r>
              <a:rPr lang="en-US" dirty="0">
                <a:latin typeface="Prestige12 BT" panose="02070509030506020304" pitchFamily="49" charset="0"/>
                <a:cs typeface="Leelawadee" panose="020B0502040204020203" pitchFamily="34" charset="-34"/>
              </a:rPr>
              <a:t>GROUP</a:t>
            </a:r>
            <a:r>
              <a:rPr lang="en-US" dirty="0"/>
              <a:t> </a:t>
            </a:r>
            <a:r>
              <a:rPr lang="en-US" dirty="0">
                <a:latin typeface="Prestige12 BT" panose="02070509030506020304" pitchFamily="49" charset="0"/>
              </a:rPr>
              <a:t>BY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aggregate query with no </a:t>
            </a:r>
            <a:r>
              <a:rPr lang="en-US" dirty="0">
                <a:latin typeface="Prestige12 BT" panose="02070509030506020304" pitchFamily="49" charset="0"/>
              </a:rPr>
              <a:t>GROUP</a:t>
            </a:r>
            <a:r>
              <a:rPr lang="en-US" dirty="0"/>
              <a:t> </a:t>
            </a:r>
            <a:r>
              <a:rPr lang="en-US" dirty="0">
                <a:latin typeface="Prestige12 BT" panose="02070509030506020304" pitchFamily="49" charset="0"/>
              </a:rPr>
              <a:t>BY</a:t>
            </a:r>
            <a:r>
              <a:rPr lang="en-US" dirty="0"/>
              <a:t> clause = </a:t>
            </a:r>
            <a:br>
              <a:rPr lang="en-US" dirty="0"/>
            </a:br>
            <a:r>
              <a:rPr lang="en-US" dirty="0"/>
              <a:t>all rows go into one group</a:t>
            </a:r>
          </a:p>
          <a:p>
            <a:pPr>
              <a:buFont typeface="Wingdings" pitchFamily="2" charset="2"/>
              <a:buNone/>
            </a:pPr>
            <a:r>
              <a:rPr lang="en-US" sz="2400" dirty="0">
                <a:latin typeface="LettrGoth12 BT" pitchFamily="49" charset="0"/>
              </a:rPr>
              <a:t>	</a:t>
            </a:r>
            <a:r>
              <a:rPr lang="en-US" sz="2400" dirty="0">
                <a:latin typeface="Prestige12 BT" panose="02070509030506020304" pitchFamily="49" charset="0"/>
              </a:rPr>
              <a:t>SELECT AVG(pop) FROM User;</a:t>
            </a:r>
            <a:endParaRPr lang="en-US" dirty="0">
              <a:latin typeface="Prestige12 BT" panose="020705090305060203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41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8904265"/>
              </p:ext>
            </p:extLst>
          </p:nvPr>
        </p:nvGraphicFramePr>
        <p:xfrm>
          <a:off x="275834" y="4095403"/>
          <a:ext cx="3176271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1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3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95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18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5047">
                <a:tc>
                  <a:txBody>
                    <a:bodyPr/>
                    <a:lstStyle/>
                    <a:p>
                      <a:r>
                        <a:rPr lang="en-US" sz="1600" i="1" dirty="0" err="1"/>
                        <a:t>uid</a:t>
                      </a:r>
                      <a:endParaRPr lang="en-US" sz="16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/>
                        <a:t>pop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5167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Bart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0.9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126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Lisa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0.7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201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Milhouse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275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Ralph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0.3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724101" y="3258168"/>
            <a:ext cx="220564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Tx/>
              <a:buNone/>
            </a:pPr>
            <a:r>
              <a:rPr lang="en-US" sz="2000" dirty="0"/>
              <a:t>Group all rows into one group</a:t>
            </a:r>
            <a:endParaRPr lang="en-US" sz="24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3728024"/>
              </p:ext>
            </p:extLst>
          </p:nvPr>
        </p:nvGraphicFramePr>
        <p:xfrm>
          <a:off x="3790604" y="4092631"/>
          <a:ext cx="3176271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1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3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95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18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5047">
                <a:tc>
                  <a:txBody>
                    <a:bodyPr/>
                    <a:lstStyle/>
                    <a:p>
                      <a:r>
                        <a:rPr lang="en-US" sz="1600" i="1" dirty="0" err="1"/>
                        <a:t>uid</a:t>
                      </a:r>
                      <a:endParaRPr lang="en-US" sz="16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/>
                        <a:t>pop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5167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142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Bart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10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0.9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126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Lisa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8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0.7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201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123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Milhouse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10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0.2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275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456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Ralph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8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0.3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ight Arrow 7"/>
          <p:cNvSpPr/>
          <p:nvPr/>
        </p:nvSpPr>
        <p:spPr>
          <a:xfrm>
            <a:off x="3438698" y="4732712"/>
            <a:ext cx="351906" cy="4401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/>
          <p:cNvSpPr/>
          <p:nvPr/>
        </p:nvSpPr>
        <p:spPr>
          <a:xfrm>
            <a:off x="6960523" y="4751707"/>
            <a:ext cx="351906" cy="4401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162367" y="3258168"/>
            <a:ext cx="198163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Aggregate over </a:t>
            </a:r>
            <a:br>
              <a:rPr lang="en-US" sz="2000" dirty="0"/>
            </a:br>
            <a:r>
              <a:rPr lang="en-US" sz="2000" dirty="0"/>
              <a:t>the whole group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8458035"/>
              </p:ext>
            </p:extLst>
          </p:nvPr>
        </p:nvGraphicFramePr>
        <p:xfrm>
          <a:off x="7315301" y="4422370"/>
          <a:ext cx="957580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7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5047">
                <a:tc>
                  <a:txBody>
                    <a:bodyPr/>
                    <a:lstStyle/>
                    <a:p>
                      <a:r>
                        <a:rPr lang="en-US" sz="1600" i="1" dirty="0" err="1"/>
                        <a:t>avg_pop</a:t>
                      </a:r>
                      <a:endParaRPr lang="en-US" sz="16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5167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0.525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0C714DCE-89DA-46DC-91AE-526F259FBE19}"/>
              </a:ext>
            </a:extLst>
          </p:cNvPr>
          <p:cNvSpPr/>
          <p:nvPr/>
        </p:nvSpPr>
        <p:spPr>
          <a:xfrm>
            <a:off x="628650" y="2359695"/>
            <a:ext cx="6936040" cy="56723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2000" dirty="0"/>
              <a:t>SELECT AVG(pop) FROM User;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94616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9" grpId="0" animBg="1"/>
      <p:bldP spid="1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Restriction on </a:t>
            </a:r>
            <a:r>
              <a:rPr lang="en-US" dirty="0">
                <a:latin typeface="Prestige12 BT" panose="02070509030506020304" pitchFamily="49" charset="0"/>
              </a:rPr>
              <a:t>SELECT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a query uses aggregation/group by, then every column referenced in </a:t>
            </a:r>
            <a:r>
              <a:rPr lang="en-US" dirty="0">
                <a:latin typeface="Prestige12 BT" panose="02070509030506020304" pitchFamily="49" charset="0"/>
              </a:rPr>
              <a:t>SELECT</a:t>
            </a:r>
            <a:r>
              <a:rPr lang="en-US" dirty="0"/>
              <a:t> must be either</a:t>
            </a:r>
          </a:p>
          <a:p>
            <a:pPr lvl="1"/>
            <a:r>
              <a:rPr lang="en-US" dirty="0"/>
              <a:t>Aggregated, or</a:t>
            </a:r>
          </a:p>
          <a:p>
            <a:pPr lvl="1"/>
            <a:r>
              <a:rPr lang="en-US" dirty="0"/>
              <a:t>A </a:t>
            </a:r>
            <a:r>
              <a:rPr lang="en-US" dirty="0">
                <a:latin typeface="Prestige12 BT" panose="02070509030506020304" pitchFamily="49" charset="0"/>
              </a:rPr>
              <a:t>GROUP</a:t>
            </a:r>
            <a:r>
              <a:rPr lang="en-US" dirty="0"/>
              <a:t> </a:t>
            </a:r>
            <a:r>
              <a:rPr lang="en-US" dirty="0">
                <a:latin typeface="Prestige12 BT" panose="02070509030506020304" pitchFamily="49" charset="0"/>
              </a:rPr>
              <a:t>BY</a:t>
            </a:r>
            <a:r>
              <a:rPr lang="en-US" dirty="0"/>
              <a:t> column</a:t>
            </a:r>
          </a:p>
          <a:p>
            <a:pPr marL="0" indent="0">
              <a:buNone/>
            </a:pPr>
            <a:r>
              <a:rPr lang="en-US" dirty="0"/>
              <a:t>Why?</a:t>
            </a:r>
          </a:p>
          <a:p>
            <a:pPr>
              <a:buFont typeface="Wingdings" pitchFamily="2" charset="2"/>
              <a:buChar char="F"/>
            </a:pPr>
            <a:r>
              <a:rPr lang="en-US" dirty="0"/>
              <a:t>This restriction ensures that any </a:t>
            </a:r>
            <a:r>
              <a:rPr lang="en-US" dirty="0">
                <a:latin typeface="Prestige12 BT" panose="02070509030506020304" pitchFamily="49" charset="0"/>
              </a:rPr>
              <a:t>SELECT</a:t>
            </a:r>
            <a:r>
              <a:rPr lang="en-US" dirty="0"/>
              <a:t> expression produces only one value for each group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42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787218-20F8-4B38-8AED-04366BA78D6E}"/>
              </a:ext>
            </a:extLst>
          </p:cNvPr>
          <p:cNvSpPr/>
          <p:nvPr/>
        </p:nvSpPr>
        <p:spPr>
          <a:xfrm>
            <a:off x="800112" y="4759653"/>
            <a:ext cx="6936040" cy="56723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2000" dirty="0"/>
              <a:t>SELECT </a:t>
            </a:r>
            <a:r>
              <a:rPr lang="en-US" sz="2000" dirty="0" err="1">
                <a:solidFill>
                  <a:schemeClr val="accent2"/>
                </a:solidFill>
              </a:rPr>
              <a:t>uid</a:t>
            </a:r>
            <a:r>
              <a:rPr lang="en-US" sz="2000" dirty="0">
                <a:solidFill>
                  <a:schemeClr val="accent2"/>
                </a:solidFill>
              </a:rPr>
              <a:t>,</a:t>
            </a:r>
            <a:r>
              <a:rPr lang="en-US" sz="2000" dirty="0"/>
              <a:t> </a:t>
            </a:r>
            <a:r>
              <a:rPr lang="en-US" sz="2000" dirty="0">
                <a:solidFill>
                  <a:schemeClr val="accent2"/>
                </a:solidFill>
              </a:rPr>
              <a:t>age</a:t>
            </a:r>
            <a:r>
              <a:rPr lang="en-US" sz="2000" dirty="0"/>
              <a:t> FROM User </a:t>
            </a:r>
            <a:r>
              <a:rPr lang="en-US" sz="2000" dirty="0">
                <a:solidFill>
                  <a:schemeClr val="accent2"/>
                </a:solidFill>
              </a:rPr>
              <a:t>GROUP BY age</a:t>
            </a:r>
            <a:r>
              <a:rPr lang="en-US" sz="2000" dirty="0"/>
              <a:t>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34D59C-A817-4217-ADB1-B12C98652A5D}"/>
              </a:ext>
            </a:extLst>
          </p:cNvPr>
          <p:cNvSpPr/>
          <p:nvPr/>
        </p:nvSpPr>
        <p:spPr>
          <a:xfrm>
            <a:off x="800112" y="5441425"/>
            <a:ext cx="6936040" cy="56723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2000" dirty="0"/>
              <a:t>SELECT </a:t>
            </a:r>
            <a:r>
              <a:rPr lang="en-US" sz="2000" dirty="0" err="1">
                <a:solidFill>
                  <a:schemeClr val="accent2"/>
                </a:solidFill>
              </a:rPr>
              <a:t>uid</a:t>
            </a:r>
            <a:r>
              <a:rPr lang="en-US" sz="2000" dirty="0">
                <a:solidFill>
                  <a:schemeClr val="accent2"/>
                </a:solidFill>
              </a:rPr>
              <a:t>,</a:t>
            </a:r>
            <a:r>
              <a:rPr lang="en-US" sz="2000" dirty="0"/>
              <a:t> </a:t>
            </a:r>
            <a:r>
              <a:rPr lang="en-US" sz="2000" dirty="0">
                <a:solidFill>
                  <a:schemeClr val="accent2"/>
                </a:solidFill>
              </a:rPr>
              <a:t>MAX(pop)</a:t>
            </a:r>
            <a:r>
              <a:rPr lang="en-US" sz="2000" dirty="0"/>
              <a:t> FROM User;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909FC4-4D19-489B-B6EE-2BD2E0A28726}"/>
              </a:ext>
            </a:extLst>
          </p:cNvPr>
          <p:cNvSpPr txBox="1"/>
          <p:nvPr/>
        </p:nvSpPr>
        <p:spPr>
          <a:xfrm rot="20955794">
            <a:off x="7183373" y="4726381"/>
            <a:ext cx="13003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Prestige12 BT" panose="02070509030506020304" pitchFamily="49" charset="0"/>
              </a:rPr>
              <a:t>WRONG!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517F92-16D3-48AE-8A48-13C845EBEF4C}"/>
              </a:ext>
            </a:extLst>
          </p:cNvPr>
          <p:cNvSpPr txBox="1"/>
          <p:nvPr/>
        </p:nvSpPr>
        <p:spPr>
          <a:xfrm rot="20955794">
            <a:off x="7360648" y="5572575"/>
            <a:ext cx="13003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Prestige12 BT" panose="02070509030506020304" pitchFamily="49" charset="0"/>
              </a:rPr>
              <a:t>WRONG!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53673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  <p:bldP spid="8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Prestige12 BT" panose="02070509030506020304" pitchFamily="49" charset="0"/>
              </a:rPr>
              <a:t>HAVING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Used to filter groups based on the group properties (e.g., aggregate values, </a:t>
                </a:r>
                <a:r>
                  <a:rPr lang="en-US" dirty="0">
                    <a:latin typeface="Prestige12 BT" panose="02070509030506020304" pitchFamily="49" charset="0"/>
                  </a:rPr>
                  <a:t>GROUP</a:t>
                </a:r>
                <a:r>
                  <a:rPr lang="en-US" dirty="0"/>
                  <a:t> </a:t>
                </a:r>
                <a:r>
                  <a:rPr lang="en-US" dirty="0">
                    <a:latin typeface="Prestige12 BT" panose="02070509030506020304" pitchFamily="49" charset="0"/>
                  </a:rPr>
                  <a:t>BY</a:t>
                </a:r>
                <a:r>
                  <a:rPr lang="en-US" dirty="0"/>
                  <a:t> column values)</a:t>
                </a:r>
              </a:p>
              <a:p>
                <a:endParaRPr lang="en-US" dirty="0"/>
              </a:p>
              <a:p>
                <a:r>
                  <a:rPr lang="en-US" dirty="0">
                    <a:latin typeface="Prestige12 BT" panose="02070509030506020304" pitchFamily="49" charset="0"/>
                  </a:rPr>
                  <a:t>SELECT … FROM … WHERE … GROUP BY …</a:t>
                </a:r>
                <a:br>
                  <a:rPr lang="en-US" dirty="0">
                    <a:latin typeface="Prestige12 BT" panose="02070509030506020304" pitchFamily="49" charset="0"/>
                  </a:rPr>
                </a:br>
                <a:r>
                  <a:rPr lang="en-US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  <a:t>HAVING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accent2"/>
                        </a:solidFill>
                        <a:latin typeface="Cambria Math"/>
                      </a:rPr>
                      <m:t>𝑐𝑜𝑛𝑑𝑖𝑡𝑖𝑜𝑛</m:t>
                    </m:r>
                  </m:oMath>
                </a14:m>
                <a:r>
                  <a:rPr lang="en-US" dirty="0">
                    <a:latin typeface="Prestige12 BT" panose="02070509030506020304" pitchFamily="49" charset="0"/>
                  </a:rPr>
                  <a:t>;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Compute </a:t>
                </a:r>
                <a:r>
                  <a:rPr lang="en-US" dirty="0">
                    <a:latin typeface="Prestige12 BT" panose="02070509030506020304" pitchFamily="49" charset="0"/>
                  </a:rPr>
                  <a:t>FROM</a:t>
                </a:r>
                <a:r>
                  <a:rPr lang="en-US" dirty="0"/>
                  <a:t>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×</m:t>
                    </m:r>
                  </m:oMath>
                </a14:m>
                <a:r>
                  <a:rPr lang="en-US" dirty="0"/>
                  <a:t>)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Compute </a:t>
                </a:r>
                <a:r>
                  <a:rPr lang="en-US" dirty="0">
                    <a:latin typeface="Prestige12 BT" panose="02070509030506020304" pitchFamily="49" charset="0"/>
                  </a:rPr>
                  <a:t>WHERE</a:t>
                </a:r>
                <a:r>
                  <a:rPr lang="en-US" dirty="0"/>
                  <a:t>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𝜎</m:t>
                    </m:r>
                  </m:oMath>
                </a14:m>
                <a:r>
                  <a:rPr lang="en-US" dirty="0"/>
                  <a:t>)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Compute </a:t>
                </a:r>
                <a:r>
                  <a:rPr lang="en-US" dirty="0">
                    <a:latin typeface="Prestige12 BT" panose="02070509030506020304" pitchFamily="49" charset="0"/>
                  </a:rPr>
                  <a:t>GROUP</a:t>
                </a:r>
                <a:r>
                  <a:rPr lang="en-US" dirty="0"/>
                  <a:t> </a:t>
                </a:r>
                <a:r>
                  <a:rPr lang="en-US" dirty="0">
                    <a:latin typeface="Prestige12 BT" panose="02070509030506020304" pitchFamily="49" charset="0"/>
                  </a:rPr>
                  <a:t>BY</a:t>
                </a:r>
                <a:r>
                  <a:rPr lang="en-US" dirty="0"/>
                  <a:t>: group rows according to the values of </a:t>
                </a:r>
                <a:r>
                  <a:rPr lang="en-US" dirty="0">
                    <a:latin typeface="Prestige12 BT" panose="02070509030506020304" pitchFamily="49" charset="0"/>
                  </a:rPr>
                  <a:t>GROUP</a:t>
                </a:r>
                <a:r>
                  <a:rPr lang="en-US" dirty="0"/>
                  <a:t> </a:t>
                </a:r>
                <a:r>
                  <a:rPr lang="en-US" dirty="0">
                    <a:latin typeface="Prestige12 BT" panose="02070509030506020304" pitchFamily="49" charset="0"/>
                  </a:rPr>
                  <a:t>BY</a:t>
                </a:r>
                <a:r>
                  <a:rPr lang="en-US" dirty="0"/>
                  <a:t> columns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>
                    <a:solidFill>
                      <a:schemeClr val="accent2"/>
                    </a:solidFill>
                  </a:rPr>
                  <a:t>Compute </a:t>
                </a:r>
                <a:r>
                  <a:rPr lang="en-US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  <a:t>HAVING</a:t>
                </a:r>
                <a:r>
                  <a:rPr lang="en-US" dirty="0">
                    <a:solidFill>
                      <a:schemeClr val="accent2"/>
                    </a:solidFill>
                  </a:rPr>
                  <a:t> (another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2"/>
                        </a:solidFill>
                        <a:latin typeface="Cambria Math"/>
                      </a:rPr>
                      <m:t>𝜎</m:t>
                    </m:r>
                  </m:oMath>
                </a14:m>
                <a:r>
                  <a:rPr lang="en-US" dirty="0">
                    <a:solidFill>
                      <a:schemeClr val="accent2"/>
                    </a:solidFill>
                  </a:rPr>
                  <a:t> over the groups)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Compute </a:t>
                </a:r>
                <a:r>
                  <a:rPr lang="en-US" dirty="0">
                    <a:latin typeface="Prestige12 BT" panose="02070509030506020304" pitchFamily="49" charset="0"/>
                  </a:rPr>
                  <a:t>SELECT</a:t>
                </a:r>
                <a:r>
                  <a:rPr lang="en-US" dirty="0"/>
                  <a:t>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𝜋</m:t>
                    </m:r>
                  </m:oMath>
                </a14:m>
                <a:r>
                  <a:rPr lang="en-US" dirty="0"/>
                  <a:t>) for </a:t>
                </a:r>
                <a:r>
                  <a:rPr lang="en-US" dirty="0">
                    <a:solidFill>
                      <a:schemeClr val="accent2"/>
                    </a:solidFill>
                  </a:rPr>
                  <a:t>each group that passes </a:t>
                </a:r>
                <a:r>
                  <a:rPr lang="en-US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  <a:t>HAVING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6"/>
                <a:stretch>
                  <a:fillRect l="-1342" t="-1968" r="-2312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43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23173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Prestige12 BT" panose="02070509030506020304" pitchFamily="49" charset="0"/>
              </a:rPr>
              <a:t>HAVING</a:t>
            </a:r>
            <a:r>
              <a:rPr lang="en-US" dirty="0"/>
              <a:t>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List the average popularity for </a:t>
            </a:r>
            <a:r>
              <a:rPr lang="en-US" dirty="0">
                <a:solidFill>
                  <a:schemeClr val="accent2"/>
                </a:solidFill>
              </a:rPr>
              <a:t>each age group with more than a hundred users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Can be written using </a:t>
            </a:r>
            <a:r>
              <a:rPr lang="en-US" dirty="0">
                <a:latin typeface="Prestige12 BT" panose="02070509030506020304" pitchFamily="49" charset="0"/>
              </a:rPr>
              <a:t>WHERE</a:t>
            </a:r>
            <a:r>
              <a:rPr lang="en-US" dirty="0"/>
              <a:t> and table subqueries</a:t>
            </a:r>
            <a:endParaRPr lang="en-US" dirty="0">
              <a:solidFill>
                <a:schemeClr val="tx2"/>
              </a:solidFill>
              <a:latin typeface="LettrGoth12 BT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44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CC5D2D-1185-4847-B0C7-4E7C0E2461C4}"/>
              </a:ext>
            </a:extLst>
          </p:cNvPr>
          <p:cNvSpPr/>
          <p:nvPr/>
        </p:nvSpPr>
        <p:spPr>
          <a:xfrm>
            <a:off x="2469563" y="2272936"/>
            <a:ext cx="3225843" cy="140979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/>
              <a:t>SELECT </a:t>
            </a:r>
            <a:r>
              <a:rPr lang="en-US" sz="2000" dirty="0">
                <a:solidFill>
                  <a:schemeClr val="accent2"/>
                </a:solidFill>
              </a:rPr>
              <a:t>age</a:t>
            </a:r>
            <a:r>
              <a:rPr lang="en-US" sz="2000" dirty="0"/>
              <a:t>, AVG(pop) </a:t>
            </a:r>
          </a:p>
          <a:p>
            <a:r>
              <a:rPr lang="en-US" sz="2000" dirty="0"/>
              <a:t>FROM User </a:t>
            </a:r>
          </a:p>
          <a:p>
            <a:r>
              <a:rPr lang="en-US" sz="2000" dirty="0">
                <a:solidFill>
                  <a:schemeClr val="accent2"/>
                </a:solidFill>
              </a:rPr>
              <a:t>GROUP BY age</a:t>
            </a:r>
          </a:p>
          <a:p>
            <a:r>
              <a:rPr lang="en-US" sz="2000" dirty="0">
                <a:solidFill>
                  <a:schemeClr val="accent2"/>
                </a:solidFill>
              </a:rPr>
              <a:t>HAVING COUNT(*)&gt;100</a:t>
            </a:r>
            <a:r>
              <a:rPr lang="en-US" sz="2000" dirty="0"/>
              <a:t>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BFB09E-1A2D-4860-A95C-6DB7BD7D4AA0}"/>
              </a:ext>
            </a:extLst>
          </p:cNvPr>
          <p:cNvSpPr/>
          <p:nvPr/>
        </p:nvSpPr>
        <p:spPr>
          <a:xfrm>
            <a:off x="1104612" y="4323118"/>
            <a:ext cx="6648461" cy="150291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/>
              <a:t>SELECT </a:t>
            </a:r>
            <a:r>
              <a:rPr lang="en-US" sz="2000" dirty="0" err="1"/>
              <a:t>T.</a:t>
            </a:r>
            <a:r>
              <a:rPr lang="en-US" sz="2000" dirty="0" err="1">
                <a:solidFill>
                  <a:schemeClr val="bg1"/>
                </a:solidFill>
              </a:rPr>
              <a:t>age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T.apop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/>
              <a:t>FROM (SELECT </a:t>
            </a:r>
            <a:r>
              <a:rPr lang="en-US" sz="2000" dirty="0">
                <a:solidFill>
                  <a:schemeClr val="accent2"/>
                </a:solidFill>
              </a:rPr>
              <a:t>age</a:t>
            </a:r>
            <a:r>
              <a:rPr lang="en-US" sz="2000" dirty="0"/>
              <a:t>, AVG(pop) AS </a:t>
            </a:r>
            <a:r>
              <a:rPr lang="en-US" sz="2000" dirty="0" err="1"/>
              <a:t>apop</a:t>
            </a:r>
            <a:r>
              <a:rPr lang="en-US" sz="2000" dirty="0"/>
              <a:t>, </a:t>
            </a:r>
            <a:r>
              <a:rPr lang="en-US" sz="2000" dirty="0">
                <a:solidFill>
                  <a:schemeClr val="accent2"/>
                </a:solidFill>
              </a:rPr>
              <a:t>COUNT(*) AS </a:t>
            </a:r>
            <a:r>
              <a:rPr lang="en-US" sz="2000" dirty="0" err="1">
                <a:solidFill>
                  <a:schemeClr val="accent2"/>
                </a:solidFill>
              </a:rPr>
              <a:t>gsize</a:t>
            </a:r>
            <a:r>
              <a:rPr lang="en-US" sz="2000" dirty="0">
                <a:solidFill>
                  <a:schemeClr val="accent2"/>
                </a:solidFill>
              </a:rPr>
              <a:t>  </a:t>
            </a:r>
          </a:p>
          <a:p>
            <a:r>
              <a:rPr lang="en-US" sz="2000" dirty="0"/>
              <a:t>	FROM User </a:t>
            </a:r>
            <a:r>
              <a:rPr lang="en-US" sz="2000" dirty="0">
                <a:solidFill>
                  <a:schemeClr val="accent2"/>
                </a:solidFill>
              </a:rPr>
              <a:t>GROUP BY age) AS T</a:t>
            </a:r>
          </a:p>
          <a:p>
            <a:r>
              <a:rPr lang="en-US" sz="2000" dirty="0">
                <a:solidFill>
                  <a:schemeClr val="accent2"/>
                </a:solidFill>
              </a:rPr>
              <a:t>WHERE </a:t>
            </a:r>
            <a:r>
              <a:rPr lang="en-US" sz="2000" dirty="0" err="1">
                <a:solidFill>
                  <a:schemeClr val="accent2"/>
                </a:solidFill>
              </a:rPr>
              <a:t>T.gsize</a:t>
            </a:r>
            <a:r>
              <a:rPr lang="en-US" sz="2000" dirty="0">
                <a:solidFill>
                  <a:schemeClr val="accent2"/>
                </a:solidFill>
              </a:rPr>
              <a:t>&gt;100</a:t>
            </a:r>
            <a:r>
              <a:rPr lang="en-US" sz="2000" dirty="0"/>
              <a:t>;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4174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Prestige12 BT" panose="02070509030506020304" pitchFamily="49" charset="0"/>
              </a:rPr>
              <a:t>HAVING</a:t>
            </a:r>
            <a:r>
              <a:rPr lang="en-US" dirty="0"/>
              <a:t>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Find average popularity for each </a:t>
            </a:r>
            <a:r>
              <a:rPr lang="en-US" dirty="0">
                <a:solidFill>
                  <a:schemeClr val="accent2"/>
                </a:solidFill>
              </a:rPr>
              <a:t>age group over 10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Can be written using </a:t>
            </a:r>
            <a:r>
              <a:rPr lang="en-US" dirty="0">
                <a:latin typeface="Prestige12 BT" panose="02070509030506020304" pitchFamily="49" charset="0"/>
              </a:rPr>
              <a:t>WHERE</a:t>
            </a:r>
            <a:r>
              <a:rPr lang="en-US" dirty="0"/>
              <a:t> </a:t>
            </a:r>
            <a:r>
              <a:rPr lang="en-US" dirty="0">
                <a:solidFill>
                  <a:schemeClr val="accent2"/>
                </a:solidFill>
              </a:rPr>
              <a:t>without</a:t>
            </a:r>
            <a:r>
              <a:rPr lang="en-US" dirty="0"/>
              <a:t> table subqueries</a:t>
            </a:r>
            <a:endParaRPr lang="en-US" dirty="0">
              <a:solidFill>
                <a:schemeClr val="tx2"/>
              </a:solidFill>
              <a:latin typeface="LettrGoth12 BT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45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CC5D2D-1185-4847-B0C7-4E7C0E2461C4}"/>
              </a:ext>
            </a:extLst>
          </p:cNvPr>
          <p:cNvSpPr/>
          <p:nvPr/>
        </p:nvSpPr>
        <p:spPr>
          <a:xfrm>
            <a:off x="2382477" y="2017879"/>
            <a:ext cx="3225843" cy="140979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/>
              <a:t>SELECT </a:t>
            </a:r>
            <a:r>
              <a:rPr lang="en-US" sz="2000" dirty="0">
                <a:solidFill>
                  <a:schemeClr val="accent2"/>
                </a:solidFill>
              </a:rPr>
              <a:t>age</a:t>
            </a:r>
            <a:r>
              <a:rPr lang="en-US" sz="2000" dirty="0"/>
              <a:t>, AVG(pop) </a:t>
            </a:r>
          </a:p>
          <a:p>
            <a:r>
              <a:rPr lang="en-US" sz="2000" dirty="0"/>
              <a:t>FROM User </a:t>
            </a:r>
          </a:p>
          <a:p>
            <a:r>
              <a:rPr lang="en-US" sz="2000" dirty="0">
                <a:solidFill>
                  <a:schemeClr val="accent2"/>
                </a:solidFill>
              </a:rPr>
              <a:t>GROUP BY age</a:t>
            </a:r>
          </a:p>
          <a:p>
            <a:r>
              <a:rPr lang="en-US" sz="2000" dirty="0">
                <a:solidFill>
                  <a:schemeClr val="accent2"/>
                </a:solidFill>
              </a:rPr>
              <a:t>HAVING age &gt;10</a:t>
            </a:r>
            <a:r>
              <a:rPr lang="en-US" sz="2000" dirty="0"/>
              <a:t>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BFB09E-1A2D-4860-A95C-6DB7BD7D4AA0}"/>
              </a:ext>
            </a:extLst>
          </p:cNvPr>
          <p:cNvSpPr/>
          <p:nvPr/>
        </p:nvSpPr>
        <p:spPr>
          <a:xfrm>
            <a:off x="2382477" y="4535364"/>
            <a:ext cx="3225843" cy="150291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/>
              <a:t>SELECT </a:t>
            </a:r>
            <a:r>
              <a:rPr lang="en-US" sz="2000" dirty="0">
                <a:solidFill>
                  <a:schemeClr val="accent2"/>
                </a:solidFill>
              </a:rPr>
              <a:t>age</a:t>
            </a:r>
            <a:r>
              <a:rPr lang="en-US" sz="2000" dirty="0"/>
              <a:t>, AVG(pop) </a:t>
            </a:r>
          </a:p>
          <a:p>
            <a:r>
              <a:rPr lang="en-US" sz="2000" dirty="0"/>
              <a:t>FROM User </a:t>
            </a:r>
          </a:p>
          <a:p>
            <a:r>
              <a:rPr lang="en-US" sz="2000" dirty="0">
                <a:solidFill>
                  <a:schemeClr val="accent2"/>
                </a:solidFill>
              </a:rPr>
              <a:t>WHERE age &gt;10</a:t>
            </a:r>
          </a:p>
          <a:p>
            <a:r>
              <a:rPr lang="en-US" sz="2000" dirty="0">
                <a:solidFill>
                  <a:schemeClr val="accent2"/>
                </a:solidFill>
              </a:rPr>
              <a:t>GROUP BY age</a:t>
            </a:r>
            <a:r>
              <a:rPr lang="en-US" sz="2000" dirty="0"/>
              <a:t>;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84523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features covered so far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Prestige12 BT" panose="02070509030506020304" pitchFamily="49" charset="0"/>
              </a:rPr>
              <a:t>SELECT-FROM-WHERE</a:t>
            </a:r>
            <a:r>
              <a:rPr lang="en-US" dirty="0"/>
              <a:t> statements</a:t>
            </a:r>
          </a:p>
          <a:p>
            <a:r>
              <a:rPr lang="en-US" dirty="0"/>
              <a:t>Set and bag operations</a:t>
            </a:r>
          </a:p>
          <a:p>
            <a:r>
              <a:rPr lang="en-US" dirty="0" err="1"/>
              <a:t>Subqueries</a:t>
            </a:r>
            <a:endParaRPr lang="en-US" dirty="0"/>
          </a:p>
          <a:p>
            <a:r>
              <a:rPr lang="en-US" dirty="0"/>
              <a:t>Aggregation and grouping</a:t>
            </a:r>
          </a:p>
          <a:p>
            <a:pPr lvl="1"/>
            <a:r>
              <a:rPr lang="en-US" dirty="0"/>
              <a:t>More expressive power than relational algebra</a:t>
            </a:r>
          </a:p>
          <a:p>
            <a:pPr>
              <a:buFont typeface="Wingdings" pitchFamily="2" charset="2"/>
              <a:buChar char="F"/>
            </a:pPr>
            <a:endParaRPr lang="en-US" dirty="0"/>
          </a:p>
          <a:p>
            <a:pPr>
              <a:buFont typeface="Wingdings" pitchFamily="2" charset="2"/>
              <a:buChar char="F"/>
            </a:pPr>
            <a:r>
              <a:rPr lang="en-US" dirty="0"/>
              <a:t>Next: ordering output rows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46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36797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Prestige12 BT" panose="02070509030506020304" pitchFamily="49" charset="0"/>
              </a:rPr>
              <a:t>ORDER</a:t>
            </a:r>
            <a:r>
              <a:rPr lang="en-US" dirty="0"/>
              <a:t> </a:t>
            </a:r>
            <a:r>
              <a:rPr lang="en-US" dirty="0">
                <a:latin typeface="Prestige12 BT" panose="02070509030506020304" pitchFamily="49" charset="0"/>
              </a:rPr>
              <a:t>BY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latin typeface="Prestige12 BT" panose="02070509030506020304" pitchFamily="49" charset="0"/>
                  </a:rPr>
                  <a:t>SELECT [DISTINCT] …</a:t>
                </a:r>
                <a:br>
                  <a:rPr lang="en-US" dirty="0">
                    <a:latin typeface="Prestige12 BT" panose="02070509030506020304" pitchFamily="49" charset="0"/>
                  </a:rPr>
                </a:br>
                <a:r>
                  <a:rPr lang="en-US" dirty="0">
                    <a:latin typeface="Prestige12 BT" panose="02070509030506020304" pitchFamily="49" charset="0"/>
                  </a:rPr>
                  <a:t>FROM … WHERE … GROUP BY … HAVING …</a:t>
                </a:r>
                <a:br>
                  <a:rPr lang="en-US" dirty="0">
                    <a:latin typeface="Prestige12 BT" panose="02070509030506020304" pitchFamily="49" charset="0"/>
                  </a:rPr>
                </a:br>
                <a:r>
                  <a:rPr lang="en-US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  <a:t>ORDER BY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1" dirty="0" smtClean="0">
                        <a:solidFill>
                          <a:schemeClr val="accent2"/>
                        </a:solidFill>
                        <a:latin typeface="Cambria Math"/>
                      </a:rPr>
                      <m:t>output</m:t>
                    </m:r>
                    <m:r>
                      <m:rPr>
                        <m:nor/>
                      </m:rPr>
                      <a:rPr lang="en-US" b="0" i="1" dirty="0" smtClean="0">
                        <a:solidFill>
                          <a:schemeClr val="accent2"/>
                        </a:solidFill>
                        <a:latin typeface="Cambria Math"/>
                      </a:rPr>
                      <m:t>_</m:t>
                    </m:r>
                    <m:r>
                      <m:rPr>
                        <m:nor/>
                      </m:rPr>
                      <a:rPr lang="en-US" b="0" i="1" dirty="0" smtClean="0">
                        <a:solidFill>
                          <a:schemeClr val="accent2"/>
                        </a:solidFill>
                        <a:latin typeface="Cambria Math"/>
                      </a:rPr>
                      <m:t>column</m:t>
                    </m:r>
                  </m:oMath>
                </a14:m>
                <a:r>
                  <a:rPr lang="en-US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  <a:t> [ASC|DESC], …</a:t>
                </a:r>
                <a:r>
                  <a:rPr lang="en-US" dirty="0">
                    <a:latin typeface="Prestige12 BT" panose="02070509030506020304" pitchFamily="49" charset="0"/>
                  </a:rPr>
                  <a:t>;</a:t>
                </a:r>
              </a:p>
              <a:p>
                <a:endParaRPr lang="en-US" dirty="0">
                  <a:latin typeface="Prestige12 BT" panose="02070509030506020304" pitchFamily="49" charset="0"/>
                </a:endParaRPr>
              </a:p>
              <a:p>
                <a:r>
                  <a:rPr lang="en-US" dirty="0">
                    <a:latin typeface="Prestige12 BT" panose="02070509030506020304" pitchFamily="49" charset="0"/>
                  </a:rPr>
                  <a:t>ASC</a:t>
                </a:r>
                <a:r>
                  <a:rPr lang="en-US" dirty="0"/>
                  <a:t> = ascending, </a:t>
                </a:r>
                <a:r>
                  <a:rPr lang="en-US" dirty="0">
                    <a:latin typeface="Prestige12 BT" panose="02070509030506020304" pitchFamily="49" charset="0"/>
                  </a:rPr>
                  <a:t>DESC</a:t>
                </a:r>
                <a:r>
                  <a:rPr lang="en-US" dirty="0"/>
                  <a:t> = descending</a:t>
                </a:r>
              </a:p>
              <a:p>
                <a:endParaRPr lang="en-US" dirty="0"/>
              </a:p>
              <a:p>
                <a:r>
                  <a:rPr lang="en-US" dirty="0"/>
                  <a:t>Semantics: After </a:t>
                </a:r>
                <a:r>
                  <a:rPr lang="en-US" dirty="0">
                    <a:latin typeface="Prestige12 BT" panose="02070509030506020304" pitchFamily="49" charset="0"/>
                  </a:rPr>
                  <a:t>SELECT</a:t>
                </a:r>
                <a:r>
                  <a:rPr lang="en-US" dirty="0"/>
                  <a:t> list has been computed and optional duplicate elimination has been carried out, </a:t>
                </a:r>
                <a:r>
                  <a:rPr lang="en-US" dirty="0">
                    <a:solidFill>
                      <a:schemeClr val="accent2"/>
                    </a:solidFill>
                  </a:rPr>
                  <a:t>sort the output according to </a:t>
                </a:r>
                <a:r>
                  <a:rPr lang="en-US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  <a:t>ORDER</a:t>
                </a:r>
                <a:r>
                  <a:rPr lang="en-US" dirty="0">
                    <a:solidFill>
                      <a:schemeClr val="accent2"/>
                    </a:solidFill>
                  </a:rPr>
                  <a:t> </a:t>
                </a:r>
                <a:r>
                  <a:rPr lang="en-US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  <a:t>BY</a:t>
                </a:r>
                <a:r>
                  <a:rPr lang="en-US" dirty="0">
                    <a:solidFill>
                      <a:schemeClr val="accent2"/>
                    </a:solidFill>
                  </a:rPr>
                  <a:t> specification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6"/>
                <a:stretch>
                  <a:fillRect l="-1342" t="-1968" r="-111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47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46649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Prestige12 BT" panose="02070509030506020304" pitchFamily="49" charset="0"/>
              </a:rPr>
              <a:t>ORDER</a:t>
            </a:r>
            <a:r>
              <a:rPr lang="en-US" dirty="0"/>
              <a:t> </a:t>
            </a:r>
            <a:r>
              <a:rPr lang="en-US" dirty="0">
                <a:latin typeface="Prestige12 BT" panose="02070509030506020304" pitchFamily="49" charset="0"/>
              </a:rPr>
              <a:t>BY</a:t>
            </a:r>
            <a:r>
              <a:rPr lang="en-US" dirty="0"/>
              <a:t>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 all users, sort them by </a:t>
            </a:r>
            <a:r>
              <a:rPr lang="en-US" dirty="0">
                <a:solidFill>
                  <a:schemeClr val="accent2"/>
                </a:solidFill>
              </a:rPr>
              <a:t>popularity (descending)</a:t>
            </a:r>
            <a:r>
              <a:rPr lang="en-US" dirty="0"/>
              <a:t> and </a:t>
            </a:r>
            <a:r>
              <a:rPr lang="en-US" dirty="0">
                <a:solidFill>
                  <a:schemeClr val="accent2"/>
                </a:solidFill>
              </a:rPr>
              <a:t>name (ascending)</a:t>
            </a:r>
          </a:p>
          <a:p>
            <a:pPr lvl="1"/>
            <a:endParaRPr lang="en-US" dirty="0">
              <a:latin typeface="Prestige12 BT" panose="02070509030506020304" pitchFamily="49" charset="0"/>
            </a:endParaRPr>
          </a:p>
          <a:p>
            <a:pPr lvl="1"/>
            <a:endParaRPr lang="en-US" dirty="0">
              <a:latin typeface="Prestige12 BT" panose="02070509030506020304" pitchFamily="49" charset="0"/>
            </a:endParaRPr>
          </a:p>
          <a:p>
            <a:pPr lvl="1"/>
            <a:endParaRPr lang="en-US" dirty="0">
              <a:latin typeface="Prestige12 BT" panose="02070509030506020304" pitchFamily="49" charset="0"/>
            </a:endParaRPr>
          </a:p>
          <a:p>
            <a:pPr lvl="1"/>
            <a:endParaRPr lang="en-US" dirty="0">
              <a:latin typeface="Prestige12 BT" panose="02070509030506020304" pitchFamily="49" charset="0"/>
            </a:endParaRPr>
          </a:p>
          <a:p>
            <a:pPr lvl="1"/>
            <a:endParaRPr lang="en-US" dirty="0">
              <a:latin typeface="Prestige12 BT" panose="02070509030506020304" pitchFamily="49" charset="0"/>
            </a:endParaRPr>
          </a:p>
          <a:p>
            <a:pPr lvl="1"/>
            <a:r>
              <a:rPr lang="en-US" dirty="0">
                <a:solidFill>
                  <a:schemeClr val="accent2"/>
                </a:solidFill>
                <a:latin typeface="Prestige12 BT" panose="02070509030506020304" pitchFamily="49" charset="0"/>
              </a:rPr>
              <a:t>ASC</a:t>
            </a:r>
            <a:r>
              <a:rPr lang="en-US" dirty="0"/>
              <a:t> is the </a:t>
            </a:r>
            <a:r>
              <a:rPr lang="en-US" dirty="0">
                <a:solidFill>
                  <a:schemeClr val="accent2"/>
                </a:solidFill>
              </a:rPr>
              <a:t>default</a:t>
            </a:r>
            <a:r>
              <a:rPr lang="en-US" dirty="0"/>
              <a:t> option</a:t>
            </a:r>
          </a:p>
          <a:p>
            <a:pPr lvl="1"/>
            <a:r>
              <a:rPr lang="en-US" dirty="0"/>
              <a:t>Strictly speaking, only </a:t>
            </a:r>
            <a:r>
              <a:rPr lang="en-US" dirty="0">
                <a:solidFill>
                  <a:schemeClr val="accent2"/>
                </a:solidFill>
              </a:rPr>
              <a:t>output</a:t>
            </a:r>
            <a:r>
              <a:rPr lang="en-US" dirty="0"/>
              <a:t> columns can appear in </a:t>
            </a:r>
            <a:r>
              <a:rPr lang="en-US" dirty="0">
                <a:latin typeface="Prestige12 BT" panose="02070509030506020304" pitchFamily="49" charset="0"/>
              </a:rPr>
              <a:t>ORDER</a:t>
            </a:r>
            <a:r>
              <a:rPr lang="en-US" dirty="0"/>
              <a:t> </a:t>
            </a:r>
            <a:r>
              <a:rPr lang="en-US" dirty="0">
                <a:latin typeface="Prestige12 BT" panose="02070509030506020304" pitchFamily="49" charset="0"/>
              </a:rPr>
              <a:t>BY</a:t>
            </a:r>
            <a:r>
              <a:rPr lang="en-US" dirty="0"/>
              <a:t> clause (although some DBMS support more)</a:t>
            </a:r>
          </a:p>
          <a:p>
            <a:pPr lvl="1"/>
            <a:r>
              <a:rPr lang="en-US" dirty="0"/>
              <a:t>Can use sequence numbers instead of names to refer to</a:t>
            </a:r>
            <a:br>
              <a:rPr lang="en-US" dirty="0"/>
            </a:br>
            <a:r>
              <a:rPr lang="en-US" dirty="0"/>
              <a:t>output columns: </a:t>
            </a:r>
            <a:r>
              <a:rPr lang="en-US" dirty="0">
                <a:solidFill>
                  <a:schemeClr val="accent2"/>
                </a:solidFill>
                <a:latin typeface="Prestige12 BT" panose="02070509030506020304" pitchFamily="49" charset="0"/>
              </a:rPr>
              <a:t>ORDER BY 4 DESC, 2</a:t>
            </a:r>
            <a:r>
              <a:rPr lang="en-US" dirty="0">
                <a:latin typeface="Prestige12 BT" panose="02070509030506020304" pitchFamily="49" charset="0"/>
              </a:rPr>
              <a:t>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48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160232-B227-490C-9344-085BCC852DD6}"/>
              </a:ext>
            </a:extLst>
          </p:cNvPr>
          <p:cNvSpPr/>
          <p:nvPr/>
        </p:nvSpPr>
        <p:spPr>
          <a:xfrm>
            <a:off x="2959078" y="2414682"/>
            <a:ext cx="3225843" cy="150291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/>
              <a:t>SELECT </a:t>
            </a:r>
            <a:r>
              <a:rPr lang="en-US" sz="2000" dirty="0" err="1"/>
              <a:t>uid</a:t>
            </a:r>
            <a:r>
              <a:rPr lang="en-US" sz="2000" dirty="0"/>
              <a:t>, name, age, pop</a:t>
            </a:r>
          </a:p>
          <a:p>
            <a:r>
              <a:rPr lang="en-US" sz="2000" dirty="0"/>
              <a:t>FROM User </a:t>
            </a:r>
          </a:p>
          <a:p>
            <a:r>
              <a:rPr lang="en-US" sz="2000" dirty="0">
                <a:solidFill>
                  <a:schemeClr val="accent2"/>
                </a:solidFill>
              </a:rPr>
              <a:t>ORDER BY pop DESC, name;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02632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features covered so far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+mj-lt"/>
              </a:rPr>
              <a:t>Query</a:t>
            </a:r>
          </a:p>
          <a:p>
            <a:pPr lvl="1">
              <a:defRPr/>
            </a:pPr>
            <a:r>
              <a:rPr lang="en-US" dirty="0">
                <a:latin typeface="+mj-lt"/>
              </a:rPr>
              <a:t>SELECT-FROM-WHERE statements</a:t>
            </a:r>
          </a:p>
          <a:p>
            <a:pPr lvl="1">
              <a:defRPr/>
            </a:pPr>
            <a:r>
              <a:rPr lang="en-US" dirty="0">
                <a:latin typeface="+mj-lt"/>
              </a:rPr>
              <a:t>Set/bag (DISTINCT, UNION/EXCEPT/INTERSECT (ALL))</a:t>
            </a:r>
          </a:p>
          <a:p>
            <a:pPr lvl="1">
              <a:defRPr/>
            </a:pPr>
            <a:r>
              <a:rPr lang="en-US" dirty="0">
                <a:latin typeface="+mj-lt"/>
              </a:rPr>
              <a:t>Subqueries (table, scalar, IN, EXISTS, ALL, ANY)</a:t>
            </a:r>
          </a:p>
          <a:p>
            <a:pPr lvl="1">
              <a:defRPr/>
            </a:pPr>
            <a:r>
              <a:rPr lang="en-US" dirty="0">
                <a:latin typeface="+mj-lt"/>
              </a:rPr>
              <a:t>Aggregation and grouping (GROUP BY, HAVING)</a:t>
            </a:r>
          </a:p>
          <a:p>
            <a:pPr lvl="1">
              <a:defRPr/>
            </a:pPr>
            <a:r>
              <a:rPr lang="en-US" dirty="0">
                <a:latin typeface="+mj-lt"/>
              </a:rPr>
              <a:t>Ordering (ORDER)</a:t>
            </a:r>
          </a:p>
          <a:p>
            <a:pPr lvl="1">
              <a:defRPr/>
            </a:pPr>
            <a:r>
              <a:rPr lang="en-US" dirty="0" err="1">
                <a:solidFill>
                  <a:schemeClr val="accent2"/>
                </a:solidFill>
                <a:latin typeface="+mj-lt"/>
              </a:rPr>
              <a:t>Outerjoins</a:t>
            </a:r>
            <a:r>
              <a:rPr lang="en-US" dirty="0">
                <a:solidFill>
                  <a:schemeClr val="accent2"/>
                </a:solidFill>
                <a:latin typeface="+mj-lt"/>
              </a:rPr>
              <a:t> (and Nulls)</a:t>
            </a:r>
          </a:p>
          <a:p>
            <a:pPr>
              <a:defRPr/>
            </a:pPr>
            <a:r>
              <a:rPr lang="en-US" dirty="0">
                <a:solidFill>
                  <a:schemeClr val="accent2"/>
                </a:solidFill>
                <a:latin typeface="+mj-lt"/>
              </a:rPr>
              <a:t>Modification</a:t>
            </a:r>
          </a:p>
          <a:p>
            <a:pPr lvl="1">
              <a:defRPr/>
            </a:pPr>
            <a:r>
              <a:rPr lang="en-US" dirty="0">
                <a:solidFill>
                  <a:schemeClr val="accent2"/>
                </a:solidFill>
                <a:latin typeface="+mj-lt"/>
              </a:rPr>
              <a:t>INSERT/DELETE/UPDATE</a:t>
            </a:r>
          </a:p>
          <a:p>
            <a:pPr>
              <a:defRPr/>
            </a:pPr>
            <a:r>
              <a:rPr lang="en-US" dirty="0">
                <a:solidFill>
                  <a:schemeClr val="accent2"/>
                </a:solidFill>
                <a:latin typeface="+mj-lt"/>
              </a:rPr>
              <a:t>Constraints</a:t>
            </a:r>
          </a:p>
          <a:p>
            <a:endParaRPr lang="en-US" dirty="0">
              <a:latin typeface="+mj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49</a:t>
            </a:fld>
            <a:endParaRPr lang="en-US"/>
          </a:p>
        </p:txBody>
      </p:sp>
      <p:sp>
        <p:nvSpPr>
          <p:cNvPr id="5" name="Right Bracket 4">
            <a:extLst>
              <a:ext uri="{FF2B5EF4-FFF2-40B4-BE49-F238E27FC236}">
                <a16:creationId xmlns:a16="http://schemas.microsoft.com/office/drawing/2014/main" id="{7E2366B7-C07E-4B3F-BC50-030091144E4D}"/>
              </a:ext>
            </a:extLst>
          </p:cNvPr>
          <p:cNvSpPr/>
          <p:nvPr/>
        </p:nvSpPr>
        <p:spPr>
          <a:xfrm>
            <a:off x="4202445" y="3993462"/>
            <a:ext cx="383177" cy="1735501"/>
          </a:xfrm>
          <a:prstGeom prst="rightBracket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BBAB32-6CD9-4E4A-9BE2-10C34CCD1467}"/>
              </a:ext>
            </a:extLst>
          </p:cNvPr>
          <p:cNvSpPr txBox="1"/>
          <p:nvPr/>
        </p:nvSpPr>
        <p:spPr>
          <a:xfrm>
            <a:off x="4809336" y="4399548"/>
            <a:ext cx="17716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>
                <a:solidFill>
                  <a:schemeClr val="accent2"/>
                </a:solidFill>
              </a:rPr>
              <a:t>Lecture 4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31900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8|22.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8|9|12.4|11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4|13.4|15.8|19.2|1.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1|50.8|8.3|17.6|9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1.1|6.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1|9.2|14.4|18.1|19.6|12.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0.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2.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6|15.5|4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.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1.7|12.6|14.9|17.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3|22.8|13.8|5.6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8|9.1|7.6|4.7|10.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0.8|12.9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9|10.8|9.3|12.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27.5|14.5|11.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1.1|8.2|12.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8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1|10.5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9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6.9|16.1|3.7|24.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3|17|26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0.3|11.1|17.8|2.3|17.7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2|17.7|16.5|19.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2|14.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3.5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6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0.3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5|6.9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6|3.2|4|15.7|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.1|6.7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5.3|2.5|5.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.6|14.3|6.1|8.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0.4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.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1.5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5|1.6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5|2.3|3.5|6.7|4.3|42.3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ndara">
      <a:maj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4006</Words>
  <Application>Microsoft Macintosh PowerPoint</Application>
  <PresentationFormat>On-screen Show (4:3)</PresentationFormat>
  <Paragraphs>798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7" baseType="lpstr">
      <vt:lpstr>Arial</vt:lpstr>
      <vt:lpstr>Calibri</vt:lpstr>
      <vt:lpstr>Cambria Math</vt:lpstr>
      <vt:lpstr>Candara</vt:lpstr>
      <vt:lpstr>LettrGoth12 BT</vt:lpstr>
      <vt:lpstr>Prestige12 BT</vt:lpstr>
      <vt:lpstr>Wingdings</vt:lpstr>
      <vt:lpstr>Office Theme</vt:lpstr>
      <vt:lpstr>SQL: Part I</vt:lpstr>
      <vt:lpstr>We know a bit more about you</vt:lpstr>
      <vt:lpstr>Announcements (Tue. May 18)</vt:lpstr>
      <vt:lpstr>SQL</vt:lpstr>
      <vt:lpstr>SQL</vt:lpstr>
      <vt:lpstr>DDL</vt:lpstr>
      <vt:lpstr>Basic queries for DML: SFW statement</vt:lpstr>
      <vt:lpstr>Examples</vt:lpstr>
      <vt:lpstr>Example: join</vt:lpstr>
      <vt:lpstr>Example: join</vt:lpstr>
      <vt:lpstr>Example: rename</vt:lpstr>
      <vt:lpstr>A more complicated example</vt:lpstr>
      <vt:lpstr>A more complicated example</vt:lpstr>
      <vt:lpstr>A more complicated example</vt:lpstr>
      <vt:lpstr>A more complicated example</vt:lpstr>
      <vt:lpstr>Why SFW statements?</vt:lpstr>
      <vt:lpstr>Set versus bag</vt:lpstr>
      <vt:lpstr>A case for bag semantics</vt:lpstr>
      <vt:lpstr>Forcing set semantics</vt:lpstr>
      <vt:lpstr>Semantics of SFW</vt:lpstr>
      <vt:lpstr>SQL set and bag operations</vt:lpstr>
      <vt:lpstr>SQL set and bag operations</vt:lpstr>
      <vt:lpstr>SQL set and bag operations</vt:lpstr>
      <vt:lpstr>SQL set and bag operations</vt:lpstr>
      <vt:lpstr>Set versus bag operations</vt:lpstr>
      <vt:lpstr>Set versus bag operations</vt:lpstr>
      <vt:lpstr>SQL features covered so far</vt:lpstr>
      <vt:lpstr>Table subqueries</vt:lpstr>
      <vt:lpstr>Scalar subqueries</vt:lpstr>
      <vt:lpstr>IN subqueries</vt:lpstr>
      <vt:lpstr>EXISTS subqueries</vt:lpstr>
      <vt:lpstr>Another example</vt:lpstr>
      <vt:lpstr>Quantified subqueries</vt:lpstr>
      <vt:lpstr>More ways to get the most popular</vt:lpstr>
      <vt:lpstr>SQL features covered so far</vt:lpstr>
      <vt:lpstr>Aggregates</vt:lpstr>
      <vt:lpstr>Aggregates with DISTINCT</vt:lpstr>
      <vt:lpstr>Grouping</vt:lpstr>
      <vt:lpstr>Example of computing GROUP BY</vt:lpstr>
      <vt:lpstr>Semantics of GROUP BY</vt:lpstr>
      <vt:lpstr>Aggregates with no GROUP BY</vt:lpstr>
      <vt:lpstr>Restriction on SELECT</vt:lpstr>
      <vt:lpstr>HAVING</vt:lpstr>
      <vt:lpstr>HAVING examples</vt:lpstr>
      <vt:lpstr>HAVING examples</vt:lpstr>
      <vt:lpstr>SQL features covered so far</vt:lpstr>
      <vt:lpstr>ORDER BY</vt:lpstr>
      <vt:lpstr>ORDER BY example</vt:lpstr>
      <vt:lpstr>SQL features covered so far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2021-07-27T02:19:33Z</dcterms:created>
  <dcterms:modified xsi:type="dcterms:W3CDTF">2021-09-27T22:05:42Z</dcterms:modified>
</cp:coreProperties>
</file>