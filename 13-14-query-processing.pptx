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4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tags/tag6.xml" ContentType="application/vnd.openxmlformats-officedocument.presentationml.tags+xml"/>
  <Override PartName="/ppt/notesSlides/notesSlide30.xml" ContentType="application/vnd.openxmlformats-officedocument.presentationml.notesSlide+xml"/>
  <Override PartName="/ppt/tags/tag7.xml" ContentType="application/vnd.openxmlformats-officedocument.presentationml.tags+xml"/>
  <Override PartName="/ppt/notesSlides/notesSlide31.xml" ContentType="application/vnd.openxmlformats-officedocument.presentationml.notesSlide+xml"/>
  <Override PartName="/ppt/tags/tag8.xml" ContentType="application/vnd.openxmlformats-officedocument.presentationml.tags+xml"/>
  <Override PartName="/ppt/notesSlides/notesSlide32.xml" ContentType="application/vnd.openxmlformats-officedocument.presentationml.notesSlide+xml"/>
  <Override PartName="/ppt/tags/tag9.xml" ContentType="application/vnd.openxmlformats-officedocument.presentationml.tags+xml"/>
  <Override PartName="/ppt/notesSlides/notesSlide33.xml" ContentType="application/vnd.openxmlformats-officedocument.presentationml.notesSlide+xml"/>
  <Override PartName="/ppt/tags/tag10.xml" ContentType="application/vnd.openxmlformats-officedocument.presentationml.tags+xml"/>
  <Override PartName="/ppt/notesSlides/notesSlide34.xml" ContentType="application/vnd.openxmlformats-officedocument.presentationml.notesSlide+xml"/>
  <Override PartName="/ppt/tags/tag11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2.xml" ContentType="application/vnd.openxmlformats-officedocument.presentationml.tags+xml"/>
  <Override PartName="/ppt/notesSlides/notesSlide37.xml" ContentType="application/vnd.openxmlformats-officedocument.presentationml.notesSlide+xml"/>
  <Override PartName="/ppt/tags/tag13.xml" ContentType="application/vnd.openxmlformats-officedocument.presentationml.tags+xml"/>
  <Override PartName="/ppt/notesSlides/notesSlide38.xml" ContentType="application/vnd.openxmlformats-officedocument.presentationml.notesSlide+xml"/>
  <Override PartName="/ppt/tags/tag14.xml" ContentType="application/vnd.openxmlformats-officedocument.presentationml.tags+xml"/>
  <Override PartName="/ppt/notesSlides/notesSlide39.xml" ContentType="application/vnd.openxmlformats-officedocument.presentationml.notesSlide+xml"/>
  <Override PartName="/ppt/tags/tag15.xml" ContentType="application/vnd.openxmlformats-officedocument.presentationml.tags+xml"/>
  <Override PartName="/ppt/notesSlides/notesSlide40.xml" ContentType="application/vnd.openxmlformats-officedocument.presentationml.notesSlide+xml"/>
  <Override PartName="/ppt/tags/tag16.xml" ContentType="application/vnd.openxmlformats-officedocument.presentationml.tags+xml"/>
  <Override PartName="/ppt/notesSlides/notesSlide41.xml" ContentType="application/vnd.openxmlformats-officedocument.presentationml.notesSlide+xml"/>
  <Override PartName="/ppt/tags/tag17.xml" ContentType="application/vnd.openxmlformats-officedocument.presentationml.tags+xml"/>
  <Override PartName="/ppt/notesSlides/notesSlide42.xml" ContentType="application/vnd.openxmlformats-officedocument.presentationml.notesSlide+xml"/>
  <Override PartName="/ppt/tags/tag18.xml" ContentType="application/vnd.openxmlformats-officedocument.presentationml.tags+xml"/>
  <Override PartName="/ppt/notesSlides/notesSlide43.xml" ContentType="application/vnd.openxmlformats-officedocument.presentationml.notesSlide+xml"/>
  <Override PartName="/ppt/tags/tag19.xml" ContentType="application/vnd.openxmlformats-officedocument.presentationml.tags+xml"/>
  <Override PartName="/ppt/notesSlides/notesSlide44.xml" ContentType="application/vnd.openxmlformats-officedocument.presentationml.notesSlide+xml"/>
  <Override PartName="/ppt/tags/tag20.xml" ContentType="application/vnd.openxmlformats-officedocument.presentationml.tags+xml"/>
  <Override PartName="/ppt/notesSlides/notesSlide45.xml" ContentType="application/vnd.openxmlformats-officedocument.presentationml.notesSlide+xml"/>
  <Override PartName="/ppt/tags/tag21.xml" ContentType="application/vnd.openxmlformats-officedocument.presentationml.tags+xml"/>
  <Override PartName="/ppt/notesSlides/notesSlide46.xml" ContentType="application/vnd.openxmlformats-officedocument.presentationml.notesSlide+xml"/>
  <Override PartName="/ppt/tags/tag22.xml" ContentType="application/vnd.openxmlformats-officedocument.presentationml.tags+xml"/>
  <Override PartName="/ppt/notesSlides/notesSlide47.xml" ContentType="application/vnd.openxmlformats-officedocument.presentationml.notesSlide+xml"/>
  <Override PartName="/ppt/tags/tag23.xml" ContentType="application/vnd.openxmlformats-officedocument.presentationml.tags+xml"/>
  <Override PartName="/ppt/notesSlides/notesSlide48.xml" ContentType="application/vnd.openxmlformats-officedocument.presentationml.notesSlide+xml"/>
  <Override PartName="/ppt/tags/tag24.xml" ContentType="application/vnd.openxmlformats-officedocument.presentationml.tags+xml"/>
  <Override PartName="/ppt/notesSlides/notesSlide49.xml" ContentType="application/vnd.openxmlformats-officedocument.presentationml.notesSlide+xml"/>
  <Override PartName="/ppt/tags/tag25.xml" ContentType="application/vnd.openxmlformats-officedocument.presentationml.tags+xml"/>
  <Override PartName="/ppt/notesSlides/notesSlide50.xml" ContentType="application/vnd.openxmlformats-officedocument.presentationml.notesSlide+xml"/>
  <Override PartName="/ppt/tags/tag26.xml" ContentType="application/vnd.openxmlformats-officedocument.presentationml.tags+xml"/>
  <Override PartName="/ppt/notesSlides/notesSlide51.xml" ContentType="application/vnd.openxmlformats-officedocument.presentationml.notesSlide+xml"/>
  <Override PartName="/ppt/tags/tag27.xml" ContentType="application/vnd.openxmlformats-officedocument.presentationml.tags+xml"/>
  <Override PartName="/ppt/notesSlides/notesSlide52.xml" ContentType="application/vnd.openxmlformats-officedocument.presentationml.notesSlide+xml"/>
  <Override PartName="/ppt/tags/tag28.xml" ContentType="application/vnd.openxmlformats-officedocument.presentationml.tags+xml"/>
  <Override PartName="/ppt/notesSlides/notesSlide53.xml" ContentType="application/vnd.openxmlformats-officedocument.presentationml.notesSlide+xml"/>
  <Override PartName="/ppt/tags/tag29.xml" ContentType="application/vnd.openxmlformats-officedocument.presentationml.tags+xml"/>
  <Override PartName="/ppt/notesSlides/notesSlide54.xml" ContentType="application/vnd.openxmlformats-officedocument.presentationml.notesSlide+xml"/>
  <Override PartName="/ppt/tags/tag30.xml" ContentType="application/vnd.openxmlformats-officedocument.presentationml.tags+xml"/>
  <Override PartName="/ppt/notesSlides/notesSlide55.xml" ContentType="application/vnd.openxmlformats-officedocument.presentationml.notesSlide+xml"/>
  <Override PartName="/ppt/tags/tag31.xml" ContentType="application/vnd.openxmlformats-officedocument.presentationml.tags+xml"/>
  <Override PartName="/ppt/notesSlides/notesSlide56.xml" ContentType="application/vnd.openxmlformats-officedocument.presentationml.notesSlide+xml"/>
  <Override PartName="/ppt/tags/tag32.xml" ContentType="application/vnd.openxmlformats-officedocument.presentationml.tags+xml"/>
  <Override PartName="/ppt/notesSlides/notesSlide57.xml" ContentType="application/vnd.openxmlformats-officedocument.presentationml.notesSlide+xml"/>
  <Override PartName="/ppt/tags/tag33.xml" ContentType="application/vnd.openxmlformats-officedocument.presentationml.tags+xml"/>
  <Override PartName="/ppt/notesSlides/notesSlide58.xml" ContentType="application/vnd.openxmlformats-officedocument.presentationml.notesSlide+xml"/>
  <Override PartName="/ppt/tags/tag34.xml" ContentType="application/vnd.openxmlformats-officedocument.presentationml.tags+xml"/>
  <Override PartName="/ppt/notesSlides/notesSlide59.xml" ContentType="application/vnd.openxmlformats-officedocument.presentationml.notesSlide+xml"/>
  <Override PartName="/ppt/tags/tag35.xml" ContentType="application/vnd.openxmlformats-officedocument.presentationml.tags+xml"/>
  <Override PartName="/ppt/notesSlides/notesSlide60.xml" ContentType="application/vnd.openxmlformats-officedocument.presentationml.notesSlide+xml"/>
  <Override PartName="/ppt/tags/tag36.xml" ContentType="application/vnd.openxmlformats-officedocument.presentationml.tags+xml"/>
  <Override PartName="/ppt/notesSlides/notesSlide61.xml" ContentType="application/vnd.openxmlformats-officedocument.presentationml.notesSlide+xml"/>
  <Override PartName="/ppt/tags/tag37.xml" ContentType="application/vnd.openxmlformats-officedocument.presentationml.tags+xml"/>
  <Override PartName="/ppt/notesSlides/notesSlide62.xml" ContentType="application/vnd.openxmlformats-officedocument.presentationml.notesSlide+xml"/>
  <Override PartName="/ppt/tags/tag38.xml" ContentType="application/vnd.openxmlformats-officedocument.presentationml.tags+xml"/>
  <Override PartName="/ppt/notesSlides/notesSlide63.xml" ContentType="application/vnd.openxmlformats-officedocument.presentationml.notesSlide+xml"/>
  <Override PartName="/ppt/tags/tag39.xml" ContentType="application/vnd.openxmlformats-officedocument.presentationml.tags+xml"/>
  <Override PartName="/ppt/notesSlides/notesSlide64.xml" ContentType="application/vnd.openxmlformats-officedocument.presentationml.notesSlide+xml"/>
  <Override PartName="/ppt/tags/tag40.xml" ContentType="application/vnd.openxmlformats-officedocument.presentationml.tags+xml"/>
  <Override PartName="/ppt/notesSlides/notesSlide65.xml" ContentType="application/vnd.openxmlformats-officedocument.presentationml.notesSlide+xml"/>
  <Override PartName="/ppt/tags/tag41.xml" ContentType="application/vnd.openxmlformats-officedocument.presentationml.tags+xml"/>
  <Override PartName="/ppt/notesSlides/notesSlide66.xml" ContentType="application/vnd.openxmlformats-officedocument.presentationml.notesSlide+xml"/>
  <Override PartName="/ppt/tags/tag42.xml" ContentType="application/vnd.openxmlformats-officedocument.presentationml.tags+xml"/>
  <Override PartName="/ppt/notesSlides/notesSlide67.xml" ContentType="application/vnd.openxmlformats-officedocument.presentationml.notesSlide+xml"/>
  <Override PartName="/ppt/tags/tag43.xml" ContentType="application/vnd.openxmlformats-officedocument.presentationml.tags+xml"/>
  <Override PartName="/ppt/notesSlides/notesSlide68.xml" ContentType="application/vnd.openxmlformats-officedocument.presentationml.notesSlide+xml"/>
  <Override PartName="/ppt/tags/tag44.xml" ContentType="application/vnd.openxmlformats-officedocument.presentationml.tags+xml"/>
  <Override PartName="/ppt/notesSlides/notesSlide69.xml" ContentType="application/vnd.openxmlformats-officedocument.presentationml.notesSlide+xml"/>
  <Override PartName="/ppt/tags/tag45.xml" ContentType="application/vnd.openxmlformats-officedocument.presentationml.tags+xml"/>
  <Override PartName="/ppt/notesSlides/notesSlide70.xml" ContentType="application/vnd.openxmlformats-officedocument.presentationml.notesSlide+xml"/>
  <Override PartName="/ppt/tags/tag46.xml" ContentType="application/vnd.openxmlformats-officedocument.presentationml.tags+xml"/>
  <Override PartName="/ppt/notesSlides/notesSlide71.xml" ContentType="application/vnd.openxmlformats-officedocument.presentationml.notesSlide+xml"/>
  <Override PartName="/ppt/tags/tag47.xml" ContentType="application/vnd.openxmlformats-officedocument.presentationml.tags+xml"/>
  <Override PartName="/ppt/notesSlides/notesSlide72.xml" ContentType="application/vnd.openxmlformats-officedocument.presentationml.notesSlide+xml"/>
  <Override PartName="/ppt/tags/tag48.xml" ContentType="application/vnd.openxmlformats-officedocument.presentationml.tags+xml"/>
  <Override PartName="/ppt/notesSlides/notesSlide73.xml" ContentType="application/vnd.openxmlformats-officedocument.presentationml.notesSlide+xml"/>
  <Override PartName="/ppt/tags/tag49.xml" ContentType="application/vnd.openxmlformats-officedocument.presentationml.tags+xml"/>
  <Override PartName="/ppt/notesSlides/notesSlide74.xml" ContentType="application/vnd.openxmlformats-officedocument.presentationml.notesSlide+xml"/>
  <Override PartName="/ppt/tags/tag50.xml" ContentType="application/vnd.openxmlformats-officedocument.presentationml.tags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tags/tag51.xml" ContentType="application/vnd.openxmlformats-officedocument.presentationml.tags+xml"/>
  <Override PartName="/ppt/notesSlides/notesSlide77.xml" ContentType="application/vnd.openxmlformats-officedocument.presentationml.notesSlide+xml"/>
  <Override PartName="/ppt/tags/tag52.xml" ContentType="application/vnd.openxmlformats-officedocument.presentationml.tags+xml"/>
  <Override PartName="/ppt/notesSlides/notesSlide78.xml" ContentType="application/vnd.openxmlformats-officedocument.presentationml.notesSlide+xml"/>
  <Override PartName="/ppt/tags/tag53.xml" ContentType="application/vnd.openxmlformats-officedocument.presentationml.tags+xml"/>
  <Override PartName="/ppt/notesSlides/notesSlide79.xml" ContentType="application/vnd.openxmlformats-officedocument.presentationml.notesSlide+xml"/>
  <Override PartName="/ppt/tags/tag54.xml" ContentType="application/vnd.openxmlformats-officedocument.presentationml.tags+xml"/>
  <Override PartName="/ppt/notesSlides/notesSlide80.xml" ContentType="application/vnd.openxmlformats-officedocument.presentationml.notesSlide+xml"/>
  <Override PartName="/ppt/tags/tag55.xml" ContentType="application/vnd.openxmlformats-officedocument.presentationml.tags+xml"/>
  <Override PartName="/ppt/notesSlides/notesSlide81.xml" ContentType="application/vnd.openxmlformats-officedocument.presentationml.notesSlide+xml"/>
  <Override PartName="/ppt/tags/tag56.xml" ContentType="application/vnd.openxmlformats-officedocument.presentationml.tags+xml"/>
  <Override PartName="/ppt/notesSlides/notesSlide82.xml" ContentType="application/vnd.openxmlformats-officedocument.presentationml.notesSlide+xml"/>
  <Override PartName="/ppt/tags/tag57.xml" ContentType="application/vnd.openxmlformats-officedocument.presentationml.tags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tags/tag58.xml" ContentType="application/vnd.openxmlformats-officedocument.presentationml.tags+xml"/>
  <Override PartName="/ppt/notesSlides/notesSlide85.xml" ContentType="application/vnd.openxmlformats-officedocument.presentationml.notesSlide+xml"/>
  <Override PartName="/ppt/tags/tag59.xml" ContentType="application/vnd.openxmlformats-officedocument.presentationml.tags+xml"/>
  <Override PartName="/ppt/notesSlides/notesSlide86.xml" ContentType="application/vnd.openxmlformats-officedocument.presentationml.notesSlide+xml"/>
  <Override PartName="/ppt/tags/tag60.xml" ContentType="application/vnd.openxmlformats-officedocument.presentationml.tags+xml"/>
  <Override PartName="/ppt/notesSlides/notesSlide87.xml" ContentType="application/vnd.openxmlformats-officedocument.presentationml.notesSlide+xml"/>
  <Override PartName="/ppt/tags/tag61.xml" ContentType="application/vnd.openxmlformats-officedocument.presentationml.tags+xml"/>
  <Override PartName="/ppt/notesSlides/notesSlide88.xml" ContentType="application/vnd.openxmlformats-officedocument.presentationml.notesSlide+xml"/>
  <Override PartName="/ppt/tags/tag62.xml" ContentType="application/vnd.openxmlformats-officedocument.presentationml.tags+xml"/>
  <Override PartName="/ppt/notesSlides/notesSlide89.xml" ContentType="application/vnd.openxmlformats-officedocument.presentationml.notesSlide+xml"/>
  <Override PartName="/ppt/tags/tag63.xml" ContentType="application/vnd.openxmlformats-officedocument.presentationml.tags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5"/>
  </p:notesMasterIdLst>
  <p:sldIdLst>
    <p:sldId id="537" r:id="rId3"/>
    <p:sldId id="538" r:id="rId4"/>
    <p:sldId id="449" r:id="rId5"/>
    <p:sldId id="545" r:id="rId6"/>
    <p:sldId id="540" r:id="rId7"/>
    <p:sldId id="541" r:id="rId8"/>
    <p:sldId id="539" r:id="rId9"/>
    <p:sldId id="542" r:id="rId10"/>
    <p:sldId id="482" r:id="rId11"/>
    <p:sldId id="543" r:id="rId12"/>
    <p:sldId id="488" r:id="rId13"/>
    <p:sldId id="544" r:id="rId14"/>
    <p:sldId id="485" r:id="rId15"/>
    <p:sldId id="483" r:id="rId16"/>
    <p:sldId id="486" r:id="rId17"/>
    <p:sldId id="281" r:id="rId18"/>
    <p:sldId id="546" r:id="rId19"/>
    <p:sldId id="410" r:id="rId20"/>
    <p:sldId id="327" r:id="rId21"/>
    <p:sldId id="455" r:id="rId22"/>
    <p:sldId id="457" r:id="rId23"/>
    <p:sldId id="458" r:id="rId24"/>
    <p:sldId id="456" r:id="rId25"/>
    <p:sldId id="459" r:id="rId26"/>
    <p:sldId id="460" r:id="rId27"/>
    <p:sldId id="461" r:id="rId28"/>
    <p:sldId id="260" r:id="rId29"/>
    <p:sldId id="462" r:id="rId30"/>
    <p:sldId id="261" r:id="rId31"/>
    <p:sldId id="262" r:id="rId32"/>
    <p:sldId id="463" r:id="rId33"/>
    <p:sldId id="311" r:id="rId34"/>
    <p:sldId id="464" r:id="rId35"/>
    <p:sldId id="465" r:id="rId36"/>
    <p:sldId id="466" r:id="rId37"/>
    <p:sldId id="467" r:id="rId38"/>
    <p:sldId id="469" r:id="rId39"/>
    <p:sldId id="468" r:id="rId40"/>
    <p:sldId id="266" r:id="rId41"/>
    <p:sldId id="473" r:id="rId42"/>
    <p:sldId id="471" r:id="rId43"/>
    <p:sldId id="474" r:id="rId44"/>
    <p:sldId id="475" r:id="rId45"/>
    <p:sldId id="476" r:id="rId46"/>
    <p:sldId id="477" r:id="rId47"/>
    <p:sldId id="478" r:id="rId48"/>
    <p:sldId id="479" r:id="rId49"/>
    <p:sldId id="480" r:id="rId50"/>
    <p:sldId id="481" r:id="rId51"/>
    <p:sldId id="492" r:id="rId52"/>
    <p:sldId id="493" r:id="rId53"/>
    <p:sldId id="494" r:id="rId54"/>
    <p:sldId id="495" r:id="rId55"/>
    <p:sldId id="496" r:id="rId56"/>
    <p:sldId id="497" r:id="rId57"/>
    <p:sldId id="498" r:id="rId58"/>
    <p:sldId id="499" r:id="rId59"/>
    <p:sldId id="269" r:id="rId60"/>
    <p:sldId id="500" r:id="rId61"/>
    <p:sldId id="272" r:id="rId62"/>
    <p:sldId id="273" r:id="rId63"/>
    <p:sldId id="508" r:id="rId64"/>
    <p:sldId id="509" r:id="rId65"/>
    <p:sldId id="504" r:id="rId66"/>
    <p:sldId id="505" r:id="rId67"/>
    <p:sldId id="506" r:id="rId68"/>
    <p:sldId id="507" r:id="rId69"/>
    <p:sldId id="510" r:id="rId70"/>
    <p:sldId id="511" r:id="rId71"/>
    <p:sldId id="512" r:id="rId72"/>
    <p:sldId id="513" r:id="rId73"/>
    <p:sldId id="514" r:id="rId74"/>
    <p:sldId id="515" r:id="rId75"/>
    <p:sldId id="516" r:id="rId76"/>
    <p:sldId id="517" r:id="rId77"/>
    <p:sldId id="518" r:id="rId78"/>
    <p:sldId id="522" r:id="rId79"/>
    <p:sldId id="523" r:id="rId80"/>
    <p:sldId id="524" r:id="rId81"/>
    <p:sldId id="525" r:id="rId82"/>
    <p:sldId id="526" r:id="rId83"/>
    <p:sldId id="528" r:id="rId84"/>
    <p:sldId id="527" r:id="rId85"/>
    <p:sldId id="529" r:id="rId86"/>
    <p:sldId id="530" r:id="rId87"/>
    <p:sldId id="532" r:id="rId88"/>
    <p:sldId id="533" r:id="rId89"/>
    <p:sldId id="534" r:id="rId90"/>
    <p:sldId id="535" r:id="rId91"/>
    <p:sldId id="536" r:id="rId92"/>
    <p:sldId id="521" r:id="rId93"/>
    <p:sldId id="520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2041" autoAdjust="0"/>
  </p:normalViewPr>
  <p:slideViewPr>
    <p:cSldViewPr snapToGrid="0" snapToObjects="1">
      <p:cViewPr varScale="1">
        <p:scale>
          <a:sx n="81" d="100"/>
          <a:sy n="81" d="100"/>
        </p:scale>
        <p:origin x="192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2/28/22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78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9149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2593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952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9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063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240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6531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3137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149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1265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0917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8713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5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3097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7420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4496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4186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4360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0951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022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31020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84661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92222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91631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6174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1752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438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79204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1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37983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38094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20691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72256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87068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5057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8250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56137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4259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821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55723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59887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0389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09617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3400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5443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3237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41246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13376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2640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7573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330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302450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16402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7122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62694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15327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03132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80786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97460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41741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89894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881135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79092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74065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7432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8414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491243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84002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085173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52328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24629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66226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817017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5293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09590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33663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511206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443151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996698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275371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692201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63765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143461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687206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333362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811730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65104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542746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26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93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95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4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2/28/22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0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2/28/22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99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2/28/22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81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29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2/28/22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84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5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2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4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6" Type="http://schemas.openxmlformats.org/officeDocument/2006/relationships/image" Target="../media/image15.png"/><Relationship Id="rId11" Type="http://schemas.openxmlformats.org/officeDocument/2006/relationships/image" Target="../media/image130.png"/><Relationship Id="rId5" Type="http://schemas.openxmlformats.org/officeDocument/2006/relationships/image" Target="../media/image14.png"/><Relationship Id="rId10" Type="http://schemas.openxmlformats.org/officeDocument/2006/relationships/image" Target="../media/image120.png"/><Relationship Id="rId4" Type="http://schemas.openxmlformats.org/officeDocument/2006/relationships/image" Target="../media/image13.png"/><Relationship Id="rId9" Type="http://schemas.openxmlformats.org/officeDocument/2006/relationships/image" Target="../media/image1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Relationship Id="rId4" Type="http://schemas.openxmlformats.org/officeDocument/2006/relationships/image" Target="../media/image1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Relationship Id="rId4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Relationship Id="rId4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5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Relationship Id="rId4" Type="http://schemas.openxmlformats.org/officeDocument/2006/relationships/image" Target="../media/image1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6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8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9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0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1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2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7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3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8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4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9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5.xml"/><Relationship Id="rId7" Type="http://schemas.openxmlformats.org/officeDocument/2006/relationships/image" Target="../media/image190.png"/><Relationship Id="rId12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0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7" Type="http://schemas.openxmlformats.org/officeDocument/2006/relationships/image" Target="../media/image26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4.xml"/><Relationship Id="rId6" Type="http://schemas.openxmlformats.org/officeDocument/2006/relationships/image" Target="../media/image25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5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6.xml"/><Relationship Id="rId4" Type="http://schemas.openxmlformats.org/officeDocument/2006/relationships/image" Target="../media/image3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8.xml"/><Relationship Id="rId4" Type="http://schemas.openxmlformats.org/officeDocument/2006/relationships/image" Target="../media/image3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9.xml"/><Relationship Id="rId4" Type="http://schemas.openxmlformats.org/officeDocument/2006/relationships/image" Target="../media/image3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0.xml"/><Relationship Id="rId4" Type="http://schemas.openxmlformats.org/officeDocument/2006/relationships/image" Target="../media/image3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1.xml"/><Relationship Id="rId4" Type="http://schemas.openxmlformats.org/officeDocument/2006/relationships/image" Target="../media/image3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Relationship Id="rId4" Type="http://schemas.openxmlformats.org/officeDocument/2006/relationships/image" Target="../media/image3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4565"/>
            <a:ext cx="9144001" cy="254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Lectures 13-14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Query Processing Architecture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 1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8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Assignment 4: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 tonight.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Due Mar 18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midnight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Although the programming question is about query optimization (topic of next week) the question is completely self-contained, so you can start on it tonight.</a:t>
            </a:r>
          </a:p>
        </p:txBody>
      </p:sp>
    </p:spTree>
    <p:extLst>
      <p:ext uri="{BB962C8B-B14F-4D97-AF65-F5344CB8AC3E}">
        <p14:creationId xmlns:p14="http://schemas.microsoft.com/office/powerpoint/2010/main" val="421748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23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Wrap up Indices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1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23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Wrap up Indices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9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Recap: 1+4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Index Designs From Last Lecture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809961-EE04-1F4A-8E26-DF7946BCF094}"/>
              </a:ext>
            </a:extLst>
          </p:cNvPr>
          <p:cNvSpPr/>
          <p:nvPr/>
        </p:nvSpPr>
        <p:spPr>
          <a:xfrm>
            <a:off x="50486" y="663808"/>
            <a:ext cx="9149394" cy="142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Index-less “Insertion Sort”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Single-level Dense Index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Single-level Sparse Index with Overflows</a:t>
            </a:r>
          </a:p>
        </p:txBody>
      </p:sp>
      <p:sp>
        <p:nvSpPr>
          <p:cNvPr id="73" name="Slide Number Placeholder 1">
            <a:extLst>
              <a:ext uri="{FF2B5EF4-FFF2-40B4-BE49-F238E27FC236}">
                <a16:creationId xmlns:a16="http://schemas.microsoft.com/office/drawing/2014/main" id="{09B06CBB-D467-114B-9FF6-6632F8D5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7356" y="5253407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4" name="Group 36">
            <a:extLst>
              <a:ext uri="{FF2B5EF4-FFF2-40B4-BE49-F238E27FC236}">
                <a16:creationId xmlns:a16="http://schemas.microsoft.com/office/drawing/2014/main" id="{3AE1939D-6CE9-6246-A0C2-B50547876F84}"/>
              </a:ext>
            </a:extLst>
          </p:cNvPr>
          <p:cNvGrpSpPr>
            <a:grpSpLocks/>
          </p:cNvGrpSpPr>
          <p:nvPr/>
        </p:nvGrpSpPr>
        <p:grpSpPr bwMode="auto">
          <a:xfrm>
            <a:off x="374824" y="1979853"/>
            <a:ext cx="7332663" cy="1227138"/>
            <a:chOff x="181" y="2635"/>
            <a:chExt cx="4619" cy="773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5BE57FD8-B5F7-B74B-93A5-CC1F46F5D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91EB56-4DAD-6C4B-9941-502D876DD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87" name="Line 22">
              <a:extLst>
                <a:ext uri="{FF2B5EF4-FFF2-40B4-BE49-F238E27FC236}">
                  <a16:creationId xmlns:a16="http://schemas.microsoft.com/office/drawing/2014/main" id="{D0F83DF6-1D6A-EE41-89FB-D801E7E24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23">
              <a:extLst>
                <a:ext uri="{FF2B5EF4-FFF2-40B4-BE49-F238E27FC236}">
                  <a16:creationId xmlns:a16="http://schemas.microsoft.com/office/drawing/2014/main" id="{235A77DB-4328-C34B-8542-030E7EA57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52"/>
              <a:ext cx="1091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24">
              <a:extLst>
                <a:ext uri="{FF2B5EF4-FFF2-40B4-BE49-F238E27FC236}">
                  <a16:creationId xmlns:a16="http://schemas.microsoft.com/office/drawing/2014/main" id="{B7B56253-BFB5-7442-8721-154A948DC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3014"/>
              <a:ext cx="274" cy="3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26">
              <a:extLst>
                <a:ext uri="{FF2B5EF4-FFF2-40B4-BE49-F238E27FC236}">
                  <a16:creationId xmlns:a16="http://schemas.microsoft.com/office/drawing/2014/main" id="{B29C25C2-5D97-1145-9479-646694FE4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52"/>
              <a:ext cx="1248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Box 27">
              <a:extLst>
                <a:ext uri="{FF2B5EF4-FFF2-40B4-BE49-F238E27FC236}">
                  <a16:creationId xmlns:a16="http://schemas.microsoft.com/office/drawing/2014/main" id="{F1ED4FC9-9848-5843-A3A1-E15A59270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2635"/>
              <a:ext cx="92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Sparse Index pages</a:t>
              </a:r>
            </a:p>
          </p:txBody>
        </p:sp>
        <p:sp>
          <p:nvSpPr>
            <p:cNvPr id="92" name="Line 33">
              <a:extLst>
                <a:ext uri="{FF2B5EF4-FFF2-40B4-BE49-F238E27FC236}">
                  <a16:creationId xmlns:a16="http://schemas.microsoft.com/office/drawing/2014/main" id="{4F1FCFF3-941F-9F4B-8BEB-A5370413E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roup 35">
            <a:extLst>
              <a:ext uri="{FF2B5EF4-FFF2-40B4-BE49-F238E27FC236}">
                <a16:creationId xmlns:a16="http://schemas.microsoft.com/office/drawing/2014/main" id="{80B154DE-C1E6-E149-9323-AA8ACF55251B}"/>
              </a:ext>
            </a:extLst>
          </p:cNvPr>
          <p:cNvGrpSpPr>
            <a:grpSpLocks/>
          </p:cNvGrpSpPr>
          <p:nvPr/>
        </p:nvGrpSpPr>
        <p:grpSpPr bwMode="auto">
          <a:xfrm>
            <a:off x="468486" y="3206985"/>
            <a:ext cx="8382000" cy="685800"/>
            <a:chOff x="240" y="3408"/>
            <a:chExt cx="5280" cy="432"/>
          </a:xfrm>
        </p:grpSpPr>
        <p:sp>
          <p:nvSpPr>
            <p:cNvPr id="94" name="Rectangle 5">
              <a:extLst>
                <a:ext uri="{FF2B5EF4-FFF2-40B4-BE49-F238E27FC236}">
                  <a16:creationId xmlns:a16="http://schemas.microsoft.com/office/drawing/2014/main" id="{838CC88B-3B64-5340-AF4D-E12BF0959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95" name="Rectangle 6">
              <a:extLst>
                <a:ext uri="{FF2B5EF4-FFF2-40B4-BE49-F238E27FC236}">
                  <a16:creationId xmlns:a16="http://schemas.microsoft.com/office/drawing/2014/main" id="{E58A1794-8D44-4F47-80E8-F9D623197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96" name="Rectangle 7">
              <a:extLst>
                <a:ext uri="{FF2B5EF4-FFF2-40B4-BE49-F238E27FC236}">
                  <a16:creationId xmlns:a16="http://schemas.microsoft.com/office/drawing/2014/main" id="{4033CE0F-A0B3-704E-9393-DE78E0D63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97" name="Rectangle 8">
              <a:extLst>
                <a:ext uri="{FF2B5EF4-FFF2-40B4-BE49-F238E27FC236}">
                  <a16:creationId xmlns:a16="http://schemas.microsoft.com/office/drawing/2014/main" id="{BAE158E7-72AC-FC4F-9BA0-05C78F022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98" name="Rectangle 13">
              <a:extLst>
                <a:ext uri="{FF2B5EF4-FFF2-40B4-BE49-F238E27FC236}">
                  <a16:creationId xmlns:a16="http://schemas.microsoft.com/office/drawing/2014/main" id="{8894AB3B-C786-BC43-8887-F158FFD9C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94312E4F-D48B-4148-AEF6-6C907CB36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100" name="Line 40">
            <a:extLst>
              <a:ext uri="{FF2B5EF4-FFF2-40B4-BE49-F238E27FC236}">
                <a16:creationId xmlns:a16="http://schemas.microsoft.com/office/drawing/2014/main" id="{7002AC09-7D99-EB4B-A39D-E45638A9E7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7886" y="2581516"/>
            <a:ext cx="484188" cy="6254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4423DA0-1BF4-AC44-9F35-70B5A1D9D7A7}"/>
              </a:ext>
            </a:extLst>
          </p:cNvPr>
          <p:cNvSpPr txBox="1"/>
          <p:nvPr/>
        </p:nvSpPr>
        <p:spPr>
          <a:xfrm rot="16200000">
            <a:off x="8249582" y="3505258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DF044CB-0DD5-7449-BD61-106956FE4D98}"/>
              </a:ext>
            </a:extLst>
          </p:cNvPr>
          <p:cNvSpPr txBox="1"/>
          <p:nvPr/>
        </p:nvSpPr>
        <p:spPr>
          <a:xfrm rot="16200000">
            <a:off x="6196522" y="2282550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ID.idx</a:t>
            </a:r>
            <a:endParaRPr lang="en-US" dirty="0"/>
          </a:p>
        </p:txBody>
      </p:sp>
      <p:grpSp>
        <p:nvGrpSpPr>
          <p:cNvPr id="103" name="Group 92">
            <a:extLst>
              <a:ext uri="{FF2B5EF4-FFF2-40B4-BE49-F238E27FC236}">
                <a16:creationId xmlns:a16="http://schemas.microsoft.com/office/drawing/2014/main" id="{64C76A13-94F3-BC42-AB45-90D15C82A6CE}"/>
              </a:ext>
            </a:extLst>
          </p:cNvPr>
          <p:cNvGrpSpPr>
            <a:grpSpLocks/>
          </p:cNvGrpSpPr>
          <p:nvPr/>
        </p:nvGrpSpPr>
        <p:grpSpPr bwMode="auto">
          <a:xfrm>
            <a:off x="220042" y="3806138"/>
            <a:ext cx="2389188" cy="914400"/>
            <a:chOff x="32" y="2400"/>
            <a:chExt cx="1505" cy="576"/>
          </a:xfrm>
        </p:grpSpPr>
        <p:sp>
          <p:nvSpPr>
            <p:cNvPr id="104" name="Rectangle 27">
              <a:extLst>
                <a:ext uri="{FF2B5EF4-FFF2-40B4-BE49-F238E27FC236}">
                  <a16:creationId xmlns:a16="http://schemas.microsoft.com/office/drawing/2014/main" id="{3D4B9734-6B1E-E54B-B531-4DDD7C732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544"/>
              <a:ext cx="720" cy="432"/>
            </a:xfrm>
            <a:prstGeom prst="rect">
              <a:avLst/>
            </a:prstGeom>
            <a:noFill/>
            <a:ln w="25400">
              <a:solidFill>
                <a:srgbClr val="ED7D3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  <a:t>107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</a:b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</a:endParaRPr>
            </a:p>
          </p:txBody>
        </p:sp>
        <p:sp>
          <p:nvSpPr>
            <p:cNvPr id="105" name="Rectangle 29">
              <a:extLst>
                <a:ext uri="{FF2B5EF4-FFF2-40B4-BE49-F238E27FC236}">
                  <a16:creationId xmlns:a16="http://schemas.microsoft.com/office/drawing/2014/main" id="{B6C1EBA8-B8CF-2245-ACE9-29D88F8B1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2606"/>
              <a:ext cx="10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</a:rPr>
                <a:t>Overflow block</a:t>
              </a:r>
            </a:p>
          </p:txBody>
        </p:sp>
        <p:sp>
          <p:nvSpPr>
            <p:cNvPr id="106" name="Freeform 30">
              <a:extLst>
                <a:ext uri="{FF2B5EF4-FFF2-40B4-BE49-F238E27FC236}">
                  <a16:creationId xmlns:a16="http://schemas.microsoft.com/office/drawing/2014/main" id="{EABE727E-F32C-2C47-A036-C89CA40DD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" y="2400"/>
              <a:ext cx="208" cy="192"/>
            </a:xfrm>
            <a:custGeom>
              <a:avLst/>
              <a:gdLst>
                <a:gd name="T0" fmla="*/ 208 w 208"/>
                <a:gd name="T1" fmla="*/ 48 h 192"/>
                <a:gd name="T2" fmla="*/ 112 w 208"/>
                <a:gd name="T3" fmla="*/ 0 h 192"/>
                <a:gd name="T4" fmla="*/ 16 w 208"/>
                <a:gd name="T5" fmla="*/ 48 h 192"/>
                <a:gd name="T6" fmla="*/ 16 w 208"/>
                <a:gd name="T7" fmla="*/ 144 h 192"/>
                <a:gd name="T8" fmla="*/ 112 w 208"/>
                <a:gd name="T9" fmla="*/ 192 h 192"/>
                <a:gd name="T10" fmla="*/ 208 w 208"/>
                <a:gd name="T11" fmla="*/ 144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"/>
                <a:gd name="T19" fmla="*/ 0 h 192"/>
                <a:gd name="T20" fmla="*/ 208 w 208"/>
                <a:gd name="T21" fmla="*/ 192 h 1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" h="192">
                  <a:moveTo>
                    <a:pt x="208" y="48"/>
                  </a:moveTo>
                  <a:cubicBezTo>
                    <a:pt x="176" y="24"/>
                    <a:pt x="144" y="0"/>
                    <a:pt x="112" y="0"/>
                  </a:cubicBezTo>
                  <a:cubicBezTo>
                    <a:pt x="80" y="0"/>
                    <a:pt x="32" y="24"/>
                    <a:pt x="16" y="48"/>
                  </a:cubicBezTo>
                  <a:cubicBezTo>
                    <a:pt x="0" y="72"/>
                    <a:pt x="0" y="120"/>
                    <a:pt x="16" y="144"/>
                  </a:cubicBezTo>
                  <a:cubicBezTo>
                    <a:pt x="32" y="168"/>
                    <a:pt x="80" y="192"/>
                    <a:pt x="112" y="192"/>
                  </a:cubicBezTo>
                  <a:cubicBezTo>
                    <a:pt x="144" y="192"/>
                    <a:pt x="176" y="168"/>
                    <a:pt x="208" y="144"/>
                  </a:cubicBezTo>
                </a:path>
              </a:pathLst>
            </a:custGeom>
            <a:noFill/>
            <a:ln w="25400">
              <a:solidFill>
                <a:srgbClr val="ED7D3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</a:endParaRPr>
            </a:p>
          </p:txBody>
        </p:sp>
      </p:grpSp>
      <p:sp>
        <p:nvSpPr>
          <p:cNvPr id="107" name="Line 32">
            <a:extLst>
              <a:ext uri="{FF2B5EF4-FFF2-40B4-BE49-F238E27FC236}">
                <a16:creationId xmlns:a16="http://schemas.microsoft.com/office/drawing/2014/main" id="{7D098545-5D0F-514B-8250-D2891A8C6E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058" y="3346807"/>
            <a:ext cx="437803" cy="209434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BEC731B-4538-0440-B59E-39C717CBEC13}"/>
              </a:ext>
            </a:extLst>
          </p:cNvPr>
          <p:cNvSpPr/>
          <p:nvPr/>
        </p:nvSpPr>
        <p:spPr>
          <a:xfrm>
            <a:off x="-5394" y="4773149"/>
            <a:ext cx="9149394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 size smaller than dense index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1: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Sparse Index can still become very large (GBs) for large tables.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2: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Overflows are not robust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3: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lead to empty pages (but less of an issue in practice)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0046E161-7017-544C-B244-72E5F5CCB888}"/>
              </a:ext>
            </a:extLst>
          </p:cNvPr>
          <p:cNvSpPr/>
          <p:nvPr/>
        </p:nvSpPr>
        <p:spPr>
          <a:xfrm>
            <a:off x="365576" y="5300706"/>
            <a:ext cx="8132038" cy="46487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9677D594-EE2B-4343-9F5E-09E05AEF785A}"/>
              </a:ext>
            </a:extLst>
          </p:cNvPr>
          <p:cNvSpPr/>
          <p:nvPr/>
        </p:nvSpPr>
        <p:spPr>
          <a:xfrm>
            <a:off x="374824" y="5833007"/>
            <a:ext cx="7460638" cy="916292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20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Recap: 1+4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Index Designs From Last Lecture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809961-EE04-1F4A-8E26-DF7946BCF094}"/>
              </a:ext>
            </a:extLst>
          </p:cNvPr>
          <p:cNvSpPr/>
          <p:nvPr/>
        </p:nvSpPr>
        <p:spPr>
          <a:xfrm>
            <a:off x="50486" y="663808"/>
            <a:ext cx="9149394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Index-less “Insertion Sort”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Single-level Dense Index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Single-level Sparse Index with Overflows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Multi-level Indices with Overflows</a:t>
            </a:r>
          </a:p>
        </p:txBody>
      </p:sp>
      <p:sp>
        <p:nvSpPr>
          <p:cNvPr id="30" name="Slide Number Placeholder 1">
            <a:extLst>
              <a:ext uri="{FF2B5EF4-FFF2-40B4-BE49-F238E27FC236}">
                <a16:creationId xmlns:a16="http://schemas.microsoft.com/office/drawing/2014/main" id="{10CE4747-1C3C-2245-9B3B-08DA1C7A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66280" y="6195592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98E190-8471-9E41-A1B7-3750B2CC6643}"/>
              </a:ext>
            </a:extLst>
          </p:cNvPr>
          <p:cNvSpPr txBox="1"/>
          <p:nvPr/>
        </p:nvSpPr>
        <p:spPr>
          <a:xfrm rot="16200000">
            <a:off x="8174796" y="5460218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1C1B57-2E19-BE46-9699-B79E5FE8BD58}"/>
              </a:ext>
            </a:extLst>
          </p:cNvPr>
          <p:cNvSpPr txBox="1"/>
          <p:nvPr/>
        </p:nvSpPr>
        <p:spPr>
          <a:xfrm rot="16200000">
            <a:off x="8429167" y="4279257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ID.idx</a:t>
            </a:r>
            <a:endParaRPr lang="en-US" dirty="0"/>
          </a:p>
        </p:txBody>
      </p:sp>
      <p:grpSp>
        <p:nvGrpSpPr>
          <p:cNvPr id="33" name="Group 92">
            <a:extLst>
              <a:ext uri="{FF2B5EF4-FFF2-40B4-BE49-F238E27FC236}">
                <a16:creationId xmlns:a16="http://schemas.microsoft.com/office/drawing/2014/main" id="{B6090567-9563-C84A-9D74-C05877D20B11}"/>
              </a:ext>
            </a:extLst>
          </p:cNvPr>
          <p:cNvGrpSpPr>
            <a:grpSpLocks/>
          </p:cNvGrpSpPr>
          <p:nvPr/>
        </p:nvGrpSpPr>
        <p:grpSpPr bwMode="auto">
          <a:xfrm>
            <a:off x="145256" y="5583902"/>
            <a:ext cx="2389188" cy="914400"/>
            <a:chOff x="32" y="2400"/>
            <a:chExt cx="1505" cy="576"/>
          </a:xfrm>
        </p:grpSpPr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F69A2F05-814B-1444-9A40-4A1D7FDD9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544"/>
              <a:ext cx="720" cy="432"/>
            </a:xfrm>
            <a:prstGeom prst="rect">
              <a:avLst/>
            </a:prstGeom>
            <a:noFill/>
            <a:ln w="25400">
              <a:solidFill>
                <a:srgbClr val="ED7D3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  <a:t>107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</a:b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</a:endParaRPr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447EA284-2B6E-D545-9845-2A56FC13B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2606"/>
              <a:ext cx="10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</a:rPr>
                <a:t>Overflow block</a:t>
              </a:r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CD348E7-D59B-0348-A4FD-F85BA3DA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" y="2400"/>
              <a:ext cx="208" cy="192"/>
            </a:xfrm>
            <a:custGeom>
              <a:avLst/>
              <a:gdLst>
                <a:gd name="T0" fmla="*/ 208 w 208"/>
                <a:gd name="T1" fmla="*/ 48 h 192"/>
                <a:gd name="T2" fmla="*/ 112 w 208"/>
                <a:gd name="T3" fmla="*/ 0 h 192"/>
                <a:gd name="T4" fmla="*/ 16 w 208"/>
                <a:gd name="T5" fmla="*/ 48 h 192"/>
                <a:gd name="T6" fmla="*/ 16 w 208"/>
                <a:gd name="T7" fmla="*/ 144 h 192"/>
                <a:gd name="T8" fmla="*/ 112 w 208"/>
                <a:gd name="T9" fmla="*/ 192 h 192"/>
                <a:gd name="T10" fmla="*/ 208 w 208"/>
                <a:gd name="T11" fmla="*/ 144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"/>
                <a:gd name="T19" fmla="*/ 0 h 192"/>
                <a:gd name="T20" fmla="*/ 208 w 208"/>
                <a:gd name="T21" fmla="*/ 192 h 1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" h="192">
                  <a:moveTo>
                    <a:pt x="208" y="48"/>
                  </a:moveTo>
                  <a:cubicBezTo>
                    <a:pt x="176" y="24"/>
                    <a:pt x="144" y="0"/>
                    <a:pt x="112" y="0"/>
                  </a:cubicBezTo>
                  <a:cubicBezTo>
                    <a:pt x="80" y="0"/>
                    <a:pt x="32" y="24"/>
                    <a:pt x="16" y="48"/>
                  </a:cubicBezTo>
                  <a:cubicBezTo>
                    <a:pt x="0" y="72"/>
                    <a:pt x="0" y="120"/>
                    <a:pt x="16" y="144"/>
                  </a:cubicBezTo>
                  <a:cubicBezTo>
                    <a:pt x="32" y="168"/>
                    <a:pt x="80" y="192"/>
                    <a:pt x="112" y="192"/>
                  </a:cubicBezTo>
                  <a:cubicBezTo>
                    <a:pt x="144" y="192"/>
                    <a:pt x="176" y="168"/>
                    <a:pt x="208" y="144"/>
                  </a:cubicBezTo>
                </a:path>
              </a:pathLst>
            </a:custGeom>
            <a:noFill/>
            <a:ln w="25400">
              <a:solidFill>
                <a:srgbClr val="ED7D3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</a:endParaRP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E9024F1-77EB-A04C-A91A-702B2DA82C87}"/>
              </a:ext>
            </a:extLst>
          </p:cNvPr>
          <p:cNvGrpSpPr>
            <a:grpSpLocks/>
          </p:cNvGrpSpPr>
          <p:nvPr/>
        </p:nvGrpSpPr>
        <p:grpSpPr bwMode="auto">
          <a:xfrm>
            <a:off x="2143680" y="3172380"/>
            <a:ext cx="4572000" cy="914400"/>
            <a:chOff x="1392" y="2256"/>
            <a:chExt cx="2880" cy="576"/>
          </a:xfrm>
        </p:grpSpPr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35E7D0D9-76A9-2C42-B732-FBD061368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256"/>
              <a:ext cx="1248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200, …, 901</a:t>
              </a:r>
            </a:p>
          </p:txBody>
        </p:sp>
        <p:sp>
          <p:nvSpPr>
            <p:cNvPr id="39" name="Line 16">
              <a:extLst>
                <a:ext uri="{FF2B5EF4-FFF2-40B4-BE49-F238E27FC236}">
                  <a16:creationId xmlns:a16="http://schemas.microsoft.com/office/drawing/2014/main" id="{D3E4DF61-DCC9-1A4F-A741-FCD11CFA4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496"/>
              <a:ext cx="148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7">
              <a:extLst>
                <a:ext uri="{FF2B5EF4-FFF2-40B4-BE49-F238E27FC236}">
                  <a16:creationId xmlns:a16="http://schemas.microsoft.com/office/drawing/2014/main" id="{89651B27-83A2-CA45-A7A2-8066E3998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96"/>
              <a:ext cx="48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0B7BA7DE-B6C4-2B4A-B73F-8FA8DFF6A0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496"/>
              <a:ext cx="38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36">
            <a:extLst>
              <a:ext uri="{FF2B5EF4-FFF2-40B4-BE49-F238E27FC236}">
                <a16:creationId xmlns:a16="http://schemas.microsoft.com/office/drawing/2014/main" id="{A5FE0F47-0FE7-A240-80E4-E66E88D32D51}"/>
              </a:ext>
            </a:extLst>
          </p:cNvPr>
          <p:cNvGrpSpPr>
            <a:grpSpLocks/>
          </p:cNvGrpSpPr>
          <p:nvPr/>
        </p:nvGrpSpPr>
        <p:grpSpPr bwMode="auto">
          <a:xfrm>
            <a:off x="314880" y="4070908"/>
            <a:ext cx="7696200" cy="930275"/>
            <a:chOff x="240" y="2822"/>
            <a:chExt cx="4848" cy="586"/>
          </a:xfrm>
        </p:grpSpPr>
        <p:sp>
          <p:nvSpPr>
            <p:cNvPr id="43" name="Rectangle 19">
              <a:extLst>
                <a:ext uri="{FF2B5EF4-FFF2-40B4-BE49-F238E27FC236}">
                  <a16:creationId xmlns:a16="http://schemas.microsoft.com/office/drawing/2014/main" id="{D16E9B88-C532-B543-AFE8-B4ADD2F5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1200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…, 192</a:t>
              </a:r>
            </a:p>
          </p:txBody>
        </p:sp>
        <p:sp>
          <p:nvSpPr>
            <p:cNvPr id="44" name="Rectangle 20">
              <a:extLst>
                <a:ext uri="{FF2B5EF4-FFF2-40B4-BE49-F238E27FC236}">
                  <a16:creationId xmlns:a16="http://schemas.microsoft.com/office/drawing/2014/main" id="{4CA6CB4A-469C-4D43-922E-869DBF6A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…, 996</a:t>
              </a:r>
            </a:p>
          </p:txBody>
        </p:sp>
        <p:sp>
          <p:nvSpPr>
            <p:cNvPr id="45" name="Text Box 21">
              <a:extLst>
                <a:ext uri="{FF2B5EF4-FFF2-40B4-BE49-F238E27FC236}">
                  <a16:creationId xmlns:a16="http://schemas.microsoft.com/office/drawing/2014/main" id="{FE879FF3-F150-4F48-8744-01E0C4F60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58"/>
              <a:ext cx="18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solidFill>
                    <a:schemeClr val="tx2"/>
                  </a:solidFill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46" name="Line 22">
              <a:extLst>
                <a:ext uri="{FF2B5EF4-FFF2-40B4-BE49-F238E27FC236}">
                  <a16:creationId xmlns:a16="http://schemas.microsoft.com/office/drawing/2014/main" id="{53A2187B-CDEF-6443-89F4-6A73B7712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72"/>
              <a:ext cx="129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8AB17573-B5D8-7D48-B62D-A92B016044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72"/>
              <a:ext cx="86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B03B2C07-D871-4941-972A-E32612525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3072"/>
              <a:ext cx="48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741C675F-EE35-F44F-97F2-96DFBCA8C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3072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6">
              <a:extLst>
                <a:ext uri="{FF2B5EF4-FFF2-40B4-BE49-F238E27FC236}">
                  <a16:creationId xmlns:a16="http://schemas.microsoft.com/office/drawing/2014/main" id="{92F6E345-3246-0F42-A170-80C394A1E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072"/>
              <a:ext cx="14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Box 27">
              <a:extLst>
                <a:ext uri="{FF2B5EF4-FFF2-40B4-BE49-F238E27FC236}">
                  <a16:creationId xmlns:a16="http://schemas.microsoft.com/office/drawing/2014/main" id="{B1AA9168-2192-ED4C-9A77-0A5DAC50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" y="2822"/>
              <a:ext cx="97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Index blocks</a:t>
              </a:r>
            </a:p>
          </p:txBody>
        </p:sp>
        <p:sp>
          <p:nvSpPr>
            <p:cNvPr id="52" name="Rectangle 31">
              <a:extLst>
                <a:ext uri="{FF2B5EF4-FFF2-40B4-BE49-F238E27FC236}">
                  <a16:creationId xmlns:a16="http://schemas.microsoft.com/office/drawing/2014/main" id="{39D1BF44-F886-7C48-93A4-0F4946348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200, …    </a:t>
              </a:r>
            </a:p>
          </p:txBody>
        </p:sp>
        <p:sp>
          <p:nvSpPr>
            <p:cNvPr id="53" name="Line 33">
              <a:extLst>
                <a:ext uri="{FF2B5EF4-FFF2-40B4-BE49-F238E27FC236}">
                  <a16:creationId xmlns:a16="http://schemas.microsoft.com/office/drawing/2014/main" id="{A0434DEF-43DA-9F47-87CC-4B8F179456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3072"/>
              <a:ext cx="28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35">
            <a:extLst>
              <a:ext uri="{FF2B5EF4-FFF2-40B4-BE49-F238E27FC236}">
                <a16:creationId xmlns:a16="http://schemas.microsoft.com/office/drawing/2014/main" id="{B3BE7CBD-AA86-CA4B-81CE-ED1B49A5C15C}"/>
              </a:ext>
            </a:extLst>
          </p:cNvPr>
          <p:cNvGrpSpPr>
            <a:grpSpLocks/>
          </p:cNvGrpSpPr>
          <p:nvPr/>
        </p:nvGrpSpPr>
        <p:grpSpPr bwMode="auto">
          <a:xfrm>
            <a:off x="314880" y="5001180"/>
            <a:ext cx="8382000" cy="1146175"/>
            <a:chOff x="240" y="3408"/>
            <a:chExt cx="5280" cy="722"/>
          </a:xfrm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52C8DD8E-1AE8-AF41-A85A-EF6B96F27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56" name="Rectangle 6">
              <a:extLst>
                <a:ext uri="{FF2B5EF4-FFF2-40B4-BE49-F238E27FC236}">
                  <a16:creationId xmlns:a16="http://schemas.microsoft.com/office/drawing/2014/main" id="{FA79B67E-E955-7747-8A08-0D276681F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57" name="Rectangle 7">
              <a:extLst>
                <a:ext uri="{FF2B5EF4-FFF2-40B4-BE49-F238E27FC236}">
                  <a16:creationId xmlns:a16="http://schemas.microsoft.com/office/drawing/2014/main" id="{3A5051D9-C8C6-8C43-95DB-62DD58846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58" name="Rectangle 8">
              <a:extLst>
                <a:ext uri="{FF2B5EF4-FFF2-40B4-BE49-F238E27FC236}">
                  <a16:creationId xmlns:a16="http://schemas.microsoft.com/office/drawing/2014/main" id="{E0AFF3A2-9548-B046-A88C-FD7472170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59" name="Text Box 9">
              <a:extLst>
                <a:ext uri="{FF2B5EF4-FFF2-40B4-BE49-F238E27FC236}">
                  <a16:creationId xmlns:a16="http://schemas.microsoft.com/office/drawing/2014/main" id="{CEEB30CD-5EEA-EF48-87C4-370D0A1B3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3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A240A5DC-7EE7-174F-82E9-78AB5B39C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1" name="Text Box 11">
              <a:extLst>
                <a:ext uri="{FF2B5EF4-FFF2-40B4-BE49-F238E27FC236}">
                  <a16:creationId xmlns:a16="http://schemas.microsoft.com/office/drawing/2014/main" id="{2D83E1F7-60AE-A243-877E-071E3867F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7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2" name="Text Box 12">
              <a:extLst>
                <a:ext uri="{FF2B5EF4-FFF2-40B4-BE49-F238E27FC236}">
                  <a16:creationId xmlns:a16="http://schemas.microsoft.com/office/drawing/2014/main" id="{4BD189BD-58FA-CC46-ABF4-29276AE91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878"/>
              <a:ext cx="909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Data blocks</a:t>
              </a:r>
            </a:p>
          </p:txBody>
        </p:sp>
        <p:sp>
          <p:nvSpPr>
            <p:cNvPr id="65" name="Rectangle 13">
              <a:extLst>
                <a:ext uri="{FF2B5EF4-FFF2-40B4-BE49-F238E27FC236}">
                  <a16:creationId xmlns:a16="http://schemas.microsoft.com/office/drawing/2014/main" id="{FFD56D09-EBDD-0B4F-ABFD-1496EDD5B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id="{59A4DBBD-C97C-0245-8776-44CCB55E1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67" name="Text Box 38">
            <a:extLst>
              <a:ext uri="{FF2B5EF4-FFF2-40B4-BE49-F238E27FC236}">
                <a16:creationId xmlns:a16="http://schemas.microsoft.com/office/drawing/2014/main" id="{4743134A-4F6E-BC42-8777-E0867EF80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93" y="2791380"/>
            <a:ext cx="3041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accent5"/>
                </a:solidFill>
                <a:latin typeface="+mn-lt"/>
              </a:rPr>
              <a:t>Example: look up </a:t>
            </a:r>
            <a:r>
              <a:rPr lang="en-US" dirty="0">
                <a:solidFill>
                  <a:schemeClr val="accent5"/>
                </a:solidFill>
                <a:latin typeface="Prestige12 BT" panose="02070509030506020304" pitchFamily="49" charset="0"/>
              </a:rPr>
              <a:t>197</a:t>
            </a:r>
          </a:p>
        </p:txBody>
      </p:sp>
      <p:sp>
        <p:nvSpPr>
          <p:cNvPr id="68" name="Line 39">
            <a:extLst>
              <a:ext uri="{FF2B5EF4-FFF2-40B4-BE49-F238E27FC236}">
                <a16:creationId xmlns:a16="http://schemas.microsoft.com/office/drawing/2014/main" id="{E1FA9BE7-49B2-3544-9371-B7E015BAE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957" y="3553377"/>
            <a:ext cx="23622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40">
            <a:extLst>
              <a:ext uri="{FF2B5EF4-FFF2-40B4-BE49-F238E27FC236}">
                <a16:creationId xmlns:a16="http://schemas.microsoft.com/office/drawing/2014/main" id="{73E091BB-767D-3043-B20C-8527DF8BAD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4280" y="4467783"/>
            <a:ext cx="7620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1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  <p:bldP spid="68" grpId="0" animBg="1"/>
      <p:bldP spid="6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Recap: 5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B/B+ Tree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809961-EE04-1F4A-8E26-DF7946BCF094}"/>
              </a:ext>
            </a:extLst>
          </p:cNvPr>
          <p:cNvSpPr/>
          <p:nvPr/>
        </p:nvSpPr>
        <p:spPr>
          <a:xfrm>
            <a:off x="50486" y="663808"/>
            <a:ext cx="9149394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Multi-level sparse indices on a first level of pages that is either: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actual relation pages (if clustered)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dense index on the relation pages (works for clustered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unclustered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leaf level consists of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chained pages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Forms a k-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balanced tree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Instead of overflow pages uses splitting and merging of pages at any layer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FEEFB3-5559-7840-86B6-069723449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982BB6-F28A-5142-9319-7B9D0F98F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850B49-59D8-6E4B-B856-2A35E6D7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3778A2-ECCA-1347-8E43-1569BAB2F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E0FC7F-550D-8C42-A156-305CFB207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695144-362B-124E-B9C5-7E32BF8B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717BDB-C2EC-504F-929E-D336A0489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47562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DF9ED7-B5C0-9048-A9F8-F155BBE8C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4" y="47562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50DCEC-47A8-C144-8418-EE8419174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3483676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654C097A-C4DA-B440-84EC-4C20CDA29F9A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46051" y="5815013"/>
            <a:ext cx="492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A4A78680-225F-E64B-821C-19699F40E0A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27051" y="5811838"/>
            <a:ext cx="492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5</a:t>
            </a: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67AFABD2-2980-FE4F-9D10-8DC606C2961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08051" y="5735638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11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45E2D66B-2E6B-9744-8075-ABADA9EDF01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671638" y="5737225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30</a:t>
            </a:r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E5BC9066-E812-8D45-BA36-EBF8EE32486B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2051051" y="5751513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35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B0EFA3FF-9ECF-D245-9A30-FA6B963A1C1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194051" y="5661025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100</a:t>
            </a:r>
          </a:p>
        </p:txBody>
      </p:sp>
      <p:sp>
        <p:nvSpPr>
          <p:cNvPr id="58" name="Text Box 20">
            <a:extLst>
              <a:ext uri="{FF2B5EF4-FFF2-40B4-BE49-F238E27FC236}">
                <a16:creationId xmlns:a16="http://schemas.microsoft.com/office/drawing/2014/main" id="{004C11DC-286B-6742-97BC-59CF0DE9EDA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575051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101</a:t>
            </a:r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18EE8476-61E9-344E-993C-DAEFF1AFCDF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956051" y="56753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110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C2593AB9-A6E0-7C40-98BD-2D244ABE3EC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718051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120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0D1C88E-45FC-EC4C-8230-D45066CF827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099051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130</a:t>
            </a:r>
          </a:p>
        </p:txBody>
      </p:sp>
      <p:sp>
        <p:nvSpPr>
          <p:cNvPr id="62" name="Text Box 24">
            <a:extLst>
              <a:ext uri="{FF2B5EF4-FFF2-40B4-BE49-F238E27FC236}">
                <a16:creationId xmlns:a16="http://schemas.microsoft.com/office/drawing/2014/main" id="{5652AA08-F5AD-5E4E-B2CA-D831482F509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259514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150</a:t>
            </a:r>
          </a:p>
        </p:txBody>
      </p:sp>
      <p:sp>
        <p:nvSpPr>
          <p:cNvPr id="65" name="Text Box 25">
            <a:extLst>
              <a:ext uri="{FF2B5EF4-FFF2-40B4-BE49-F238E27FC236}">
                <a16:creationId xmlns:a16="http://schemas.microsoft.com/office/drawing/2014/main" id="{E5635100-BAD0-5F4F-9161-A1A2C652B94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640514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156</a:t>
            </a:r>
          </a:p>
        </p:txBody>
      </p:sp>
      <p:sp>
        <p:nvSpPr>
          <p:cNvPr id="66" name="Text Box 26">
            <a:extLst>
              <a:ext uri="{FF2B5EF4-FFF2-40B4-BE49-F238E27FC236}">
                <a16:creationId xmlns:a16="http://schemas.microsoft.com/office/drawing/2014/main" id="{4C5368ED-FA3A-0F4F-9C64-0BFA76AE1328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7021514" y="56467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179</a:t>
            </a:r>
          </a:p>
        </p:txBody>
      </p:sp>
      <p:sp>
        <p:nvSpPr>
          <p:cNvPr id="67" name="Text Box 27">
            <a:extLst>
              <a:ext uri="{FF2B5EF4-FFF2-40B4-BE49-F238E27FC236}">
                <a16:creationId xmlns:a16="http://schemas.microsoft.com/office/drawing/2014/main" id="{4A9FE0D5-F530-8C46-B854-565B9251A4A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7781926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180</a:t>
            </a:r>
          </a:p>
        </p:txBody>
      </p:sp>
      <p:sp>
        <p:nvSpPr>
          <p:cNvPr id="68" name="Text Box 28">
            <a:extLst>
              <a:ext uri="{FF2B5EF4-FFF2-40B4-BE49-F238E27FC236}">
                <a16:creationId xmlns:a16="http://schemas.microsoft.com/office/drawing/2014/main" id="{ECFC1558-8898-7842-90D2-C27BB25FEAE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8162926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200</a:t>
            </a:r>
          </a:p>
        </p:txBody>
      </p:sp>
      <p:sp>
        <p:nvSpPr>
          <p:cNvPr id="69" name="Text Box 29">
            <a:extLst>
              <a:ext uri="{FF2B5EF4-FFF2-40B4-BE49-F238E27FC236}">
                <a16:creationId xmlns:a16="http://schemas.microsoft.com/office/drawing/2014/main" id="{466E684B-98E2-5D4B-8F28-E1ACF21812B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61303" y="4845140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30</a:t>
            </a:r>
          </a:p>
        </p:txBody>
      </p:sp>
      <p:sp>
        <p:nvSpPr>
          <p:cNvPr id="70" name="Text Box 30">
            <a:extLst>
              <a:ext uri="{FF2B5EF4-FFF2-40B4-BE49-F238E27FC236}">
                <a16:creationId xmlns:a16="http://schemas.microsoft.com/office/drawing/2014/main" id="{9EACCBC4-5C4D-774E-BB9B-2FBF94F5A59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567141" y="3481584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100</a:t>
            </a:r>
          </a:p>
        </p:txBody>
      </p:sp>
      <p:sp>
        <p:nvSpPr>
          <p:cNvPr id="71" name="Text Box 31">
            <a:extLst>
              <a:ext uri="{FF2B5EF4-FFF2-40B4-BE49-F238E27FC236}">
                <a16:creationId xmlns:a16="http://schemas.microsoft.com/office/drawing/2014/main" id="{A319A430-F1DE-CC43-BB1D-66B2CD1AEDA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480051" y="475465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120</a:t>
            </a:r>
          </a:p>
        </p:txBody>
      </p:sp>
      <p:sp>
        <p:nvSpPr>
          <p:cNvPr id="72" name="Text Box 32">
            <a:extLst>
              <a:ext uri="{FF2B5EF4-FFF2-40B4-BE49-F238E27FC236}">
                <a16:creationId xmlns:a16="http://schemas.microsoft.com/office/drawing/2014/main" id="{38F509E1-B01E-4941-9A93-0F86129380C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861051" y="4756240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150</a:t>
            </a:r>
          </a:p>
        </p:txBody>
      </p:sp>
      <p:sp>
        <p:nvSpPr>
          <p:cNvPr id="75" name="Text Box 33">
            <a:extLst>
              <a:ext uri="{FF2B5EF4-FFF2-40B4-BE49-F238E27FC236}">
                <a16:creationId xmlns:a16="http://schemas.microsoft.com/office/drawing/2014/main" id="{E6F60AF5-9FAF-4A4B-8173-E2CF53F1487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242051" y="4756240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180</a:t>
            </a: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04A489D0-72F2-B84D-B0F5-0E364E208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8057" y="3916453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2743BE74-3778-F240-9320-60BA24ACD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3916453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8" name="Line 36">
            <a:extLst>
              <a:ext uri="{FF2B5EF4-FFF2-40B4-BE49-F238E27FC236}">
                <a16:creationId xmlns:a16="http://schemas.microsoft.com/office/drawing/2014/main" id="{7C837CCF-40E3-0644-8CDB-BD79C24D9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662" y="5125842"/>
            <a:ext cx="346075" cy="5383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9" name="Line 37">
            <a:extLst>
              <a:ext uri="{FF2B5EF4-FFF2-40B4-BE49-F238E27FC236}">
                <a16:creationId xmlns:a16="http://schemas.microsoft.com/office/drawing/2014/main" id="{77E2A83D-DA02-C046-849A-DD0A8955E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1449" y="5217408"/>
            <a:ext cx="887414" cy="44679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0" name="Line 38">
            <a:extLst>
              <a:ext uri="{FF2B5EF4-FFF2-40B4-BE49-F238E27FC236}">
                <a16:creationId xmlns:a16="http://schemas.microsoft.com/office/drawing/2014/main" id="{454B1BBC-7A1F-1645-A1B5-5B64136FD3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2862" y="5125842"/>
            <a:ext cx="1701799" cy="53835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1" name="Line 39">
            <a:extLst>
              <a:ext uri="{FF2B5EF4-FFF2-40B4-BE49-F238E27FC236}">
                <a16:creationId xmlns:a16="http://schemas.microsoft.com/office/drawing/2014/main" id="{BC205E4A-9E74-F940-8ED8-E88FF9C13E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0664" y="5186452"/>
            <a:ext cx="573085" cy="47774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2" name="Line 40">
            <a:extLst>
              <a:ext uri="{FF2B5EF4-FFF2-40B4-BE49-F238E27FC236}">
                <a16:creationId xmlns:a16="http://schemas.microsoft.com/office/drawing/2014/main" id="{B724754B-6469-7349-8039-406A234F4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0" y="5217408"/>
            <a:ext cx="584204" cy="44679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3" name="Line 41">
            <a:extLst>
              <a:ext uri="{FF2B5EF4-FFF2-40B4-BE49-F238E27FC236}">
                <a16:creationId xmlns:a16="http://schemas.microsoft.com/office/drawing/2014/main" id="{69B8A97D-E6EA-774A-BF77-F2AB6FFDF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1460" y="5202534"/>
            <a:ext cx="1727204" cy="4616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4" name="Line 42">
            <a:extLst>
              <a:ext uri="{FF2B5EF4-FFF2-40B4-BE49-F238E27FC236}">
                <a16:creationId xmlns:a16="http://schemas.microsoft.com/office/drawing/2014/main" id="{DBAC69E2-8B9E-814D-B2C6-13387F070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7" name="Line 43">
            <a:extLst>
              <a:ext uri="{FF2B5EF4-FFF2-40B4-BE49-F238E27FC236}">
                <a16:creationId xmlns:a16="http://schemas.microsoft.com/office/drawing/2014/main" id="{FBD07699-0622-9543-8B22-13F721916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8" name="Line 44">
            <a:extLst>
              <a:ext uri="{FF2B5EF4-FFF2-40B4-BE49-F238E27FC236}">
                <a16:creationId xmlns:a16="http://schemas.microsoft.com/office/drawing/2014/main" id="{02466FC6-6306-ED4C-91D8-47F1BEEEB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2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9" name="Line 45">
            <a:extLst>
              <a:ext uri="{FF2B5EF4-FFF2-40B4-BE49-F238E27FC236}">
                <a16:creationId xmlns:a16="http://schemas.microsoft.com/office/drawing/2014/main" id="{CB1DDD91-0A05-B647-B8D9-75D77B9E0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7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0" name="Line 46">
            <a:extLst>
              <a:ext uri="{FF2B5EF4-FFF2-40B4-BE49-F238E27FC236}">
                <a16:creationId xmlns:a16="http://schemas.microsoft.com/office/drawing/2014/main" id="{8164DA3B-0001-F44D-AEAF-596D7C1C1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1" name="Line 47">
            <a:extLst>
              <a:ext uri="{FF2B5EF4-FFF2-40B4-BE49-F238E27FC236}">
                <a16:creationId xmlns:a16="http://schemas.microsoft.com/office/drawing/2014/main" id="{99D00960-ACFE-8243-9DCA-7E7A7B797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2" name="Line 48">
            <a:extLst>
              <a:ext uri="{FF2B5EF4-FFF2-40B4-BE49-F238E27FC236}">
                <a16:creationId xmlns:a16="http://schemas.microsoft.com/office/drawing/2014/main" id="{AAAD1721-48E3-7C4A-AC86-76C6D0D14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3" name="Line 49">
            <a:extLst>
              <a:ext uri="{FF2B5EF4-FFF2-40B4-BE49-F238E27FC236}">
                <a16:creationId xmlns:a16="http://schemas.microsoft.com/office/drawing/2014/main" id="{147F64BD-B79B-A144-AA3A-B6852AB04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4" name="Line 50">
            <a:extLst>
              <a:ext uri="{FF2B5EF4-FFF2-40B4-BE49-F238E27FC236}">
                <a16:creationId xmlns:a16="http://schemas.microsoft.com/office/drawing/2014/main" id="{51A17595-6B09-164B-95BD-66A7C19F2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48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5" name="Line 51">
            <a:extLst>
              <a:ext uri="{FF2B5EF4-FFF2-40B4-BE49-F238E27FC236}">
                <a16:creationId xmlns:a16="http://schemas.microsoft.com/office/drawing/2014/main" id="{396F2673-EB87-0A41-B17D-A9866C75D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6" name="Line 52">
            <a:extLst>
              <a:ext uri="{FF2B5EF4-FFF2-40B4-BE49-F238E27FC236}">
                <a16:creationId xmlns:a16="http://schemas.microsoft.com/office/drawing/2014/main" id="{C1CADE9F-3CBF-7C45-A1F9-FAE794E89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7" name="Line 53">
            <a:extLst>
              <a:ext uri="{FF2B5EF4-FFF2-40B4-BE49-F238E27FC236}">
                <a16:creationId xmlns:a16="http://schemas.microsoft.com/office/drawing/2014/main" id="{1EB55B6D-82F6-B042-AEFD-8BE5D6F3D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8" name="Line 54">
            <a:extLst>
              <a:ext uri="{FF2B5EF4-FFF2-40B4-BE49-F238E27FC236}">
                <a16:creationId xmlns:a16="http://schemas.microsoft.com/office/drawing/2014/main" id="{4E2FE7C5-773E-9841-9605-6413207EB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9" name="Line 55">
            <a:extLst>
              <a:ext uri="{FF2B5EF4-FFF2-40B4-BE49-F238E27FC236}">
                <a16:creationId xmlns:a16="http://schemas.microsoft.com/office/drawing/2014/main" id="{73AFDE70-A90D-DC48-8572-6E40CB84C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3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0" name="Line 56">
            <a:extLst>
              <a:ext uri="{FF2B5EF4-FFF2-40B4-BE49-F238E27FC236}">
                <a16:creationId xmlns:a16="http://schemas.microsoft.com/office/drawing/2014/main" id="{AE574B28-5260-0C46-A80B-851F538BA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4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1" name="Line 57">
            <a:extLst>
              <a:ext uri="{FF2B5EF4-FFF2-40B4-BE49-F238E27FC236}">
                <a16:creationId xmlns:a16="http://schemas.microsoft.com/office/drawing/2014/main" id="{7731B355-6B3C-964F-9D2E-8773FA75B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8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2" name="Line 58">
            <a:extLst>
              <a:ext uri="{FF2B5EF4-FFF2-40B4-BE49-F238E27FC236}">
                <a16:creationId xmlns:a16="http://schemas.microsoft.com/office/drawing/2014/main" id="{42AA2007-1650-464C-9A48-143D3B479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3" name="Line 59">
            <a:extLst>
              <a:ext uri="{FF2B5EF4-FFF2-40B4-BE49-F238E27FC236}">
                <a16:creationId xmlns:a16="http://schemas.microsoft.com/office/drawing/2014/main" id="{4A88190A-4BFE-344A-B5D4-3826B9820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6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4" name="Line 60">
            <a:extLst>
              <a:ext uri="{FF2B5EF4-FFF2-40B4-BE49-F238E27FC236}">
                <a16:creationId xmlns:a16="http://schemas.microsoft.com/office/drawing/2014/main" id="{B4E9760D-91E9-7D49-AD5A-0A8237B76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5" name="Line 61">
            <a:extLst>
              <a:ext uri="{FF2B5EF4-FFF2-40B4-BE49-F238E27FC236}">
                <a16:creationId xmlns:a16="http://schemas.microsoft.com/office/drawing/2014/main" id="{3CD3F64B-7A81-DA4B-B339-CCFDD3D2C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6" name="Text Box 62">
            <a:extLst>
              <a:ext uri="{FF2B5EF4-FFF2-40B4-BE49-F238E27FC236}">
                <a16:creationId xmlns:a16="http://schemas.microsoft.com/office/drawing/2014/main" id="{35C9B69D-E836-1F4C-9F64-B9E89F86D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444" y="3846106"/>
            <a:ext cx="20746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Max fan-out: 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10A9B5-CEDB-1641-B33F-81B17B505581}"/>
              </a:ext>
            </a:extLst>
          </p:cNvPr>
          <p:cNvSpPr txBox="1"/>
          <p:nvPr/>
        </p:nvSpPr>
        <p:spPr>
          <a:xfrm>
            <a:off x="42118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65F6022-7816-F247-8FD7-7051C9A12B15}"/>
              </a:ext>
            </a:extLst>
          </p:cNvPr>
          <p:cNvSpPr txBox="1"/>
          <p:nvPr/>
        </p:nvSpPr>
        <p:spPr>
          <a:xfrm>
            <a:off x="156156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8107932-27C7-8B49-9046-123678F176E5}"/>
              </a:ext>
            </a:extLst>
          </p:cNvPr>
          <p:cNvSpPr txBox="1"/>
          <p:nvPr/>
        </p:nvSpPr>
        <p:spPr>
          <a:xfrm>
            <a:off x="6170077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13CB04-2332-CD4F-BFA9-72BEA8E091F3}"/>
              </a:ext>
            </a:extLst>
          </p:cNvPr>
          <p:cNvSpPr txBox="1"/>
          <p:nvPr/>
        </p:nvSpPr>
        <p:spPr>
          <a:xfrm>
            <a:off x="7677413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pg6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AD44A70-E4BC-0C46-BC09-7FB789D76D4D}"/>
              </a:ext>
            </a:extLst>
          </p:cNvPr>
          <p:cNvSpPr txBox="1"/>
          <p:nvPr/>
        </p:nvSpPr>
        <p:spPr>
          <a:xfrm>
            <a:off x="4479316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pg4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0D24EE6-D83C-1141-9FED-39599D4882B4}"/>
              </a:ext>
            </a:extLst>
          </p:cNvPr>
          <p:cNvSpPr txBox="1"/>
          <p:nvPr/>
        </p:nvSpPr>
        <p:spPr>
          <a:xfrm>
            <a:off x="3265739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pg3</a:t>
            </a:r>
          </a:p>
        </p:txBody>
      </p:sp>
    </p:spTree>
    <p:extLst>
      <p:ext uri="{BB962C8B-B14F-4D97-AF65-F5344CB8AC3E}">
        <p14:creationId xmlns:p14="http://schemas.microsoft.com/office/powerpoint/2010/main" val="135099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38" grpId="0"/>
      <p:bldP spid="139" grpId="0"/>
      <p:bldP spid="140" grpId="0"/>
      <p:bldP spid="141" grpId="0"/>
      <p:bldP spid="1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How to Keep A Table Sorted?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3EE5B-C5F8-C945-8827-67E2FEC4D481}"/>
              </a:ext>
            </a:extLst>
          </p:cNvPr>
          <p:cNvSpPr/>
          <p:nvPr/>
        </p:nvSpPr>
        <p:spPr>
          <a:xfrm>
            <a:off x="-1" y="758856"/>
            <a:ext cx="9132141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this key question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further note on clustered indices and page order: “When a relation file has a clustered index, i.e., when pages are sorted, we do not necessarily need the pages to be sorted.”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8B0E9F1E-5551-C04B-9EDF-4D019F68A0D0}"/>
              </a:ext>
            </a:extLst>
          </p:cNvPr>
          <p:cNvGrpSpPr>
            <a:grpSpLocks/>
          </p:cNvGrpSpPr>
          <p:nvPr/>
        </p:nvGrpSpPr>
        <p:grpSpPr bwMode="auto">
          <a:xfrm>
            <a:off x="484873" y="3789793"/>
            <a:ext cx="7092951" cy="914400"/>
            <a:chOff x="240" y="2832"/>
            <a:chExt cx="4468" cy="576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BCB31838-9C71-A549-BF8E-3226496CF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9F8572B0-31F5-0846-BA30-5F724C2A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12" name="Line 22">
              <a:extLst>
                <a:ext uri="{FF2B5EF4-FFF2-40B4-BE49-F238E27FC236}">
                  <a16:creationId xmlns:a16="http://schemas.microsoft.com/office/drawing/2014/main" id="{45B8F7ED-B876-8348-8D37-877B144B6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243933E5-65F6-DB4E-A141-2874148E3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3052"/>
              <a:ext cx="2609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A818A61C-2586-524C-959A-AE7DDEDCB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" y="3014"/>
              <a:ext cx="46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8F9194E-7C80-214B-9045-BA554D4B6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3052"/>
              <a:ext cx="2459" cy="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A810D3A-5F85-5543-93DC-B3A7330F0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A26D13B4-752D-FC4A-AC4C-4CB61F9799A9}"/>
              </a:ext>
            </a:extLst>
          </p:cNvPr>
          <p:cNvGrpSpPr>
            <a:grpSpLocks/>
          </p:cNvGrpSpPr>
          <p:nvPr/>
        </p:nvGrpSpPr>
        <p:grpSpPr bwMode="auto">
          <a:xfrm>
            <a:off x="484872" y="4688314"/>
            <a:ext cx="8201025" cy="1238250"/>
            <a:chOff x="240" y="3398"/>
            <a:chExt cx="5166" cy="780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A0CC0FFE-F529-644D-B17C-F5D4F34FB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4938D2DE-5755-9F4F-9B8D-547512F0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A324F067-7223-264D-BC16-F942036AA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6A98725F-301E-324A-81A0-19C9B802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39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996, 997,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E437D90A-69FC-6343-A27D-D1EFC29B2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3926"/>
              <a:ext cx="2013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Data pages (original relation)</a:t>
              </a: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C0E4C3F3-0B27-CA4B-9922-BEED75DF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latin typeface="Prestige12 BT" panose="02070509030506020304" pitchFamily="49" charset="0"/>
                </a:rPr>
                <a:t>200, 202,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39C4A6E1-DD37-B64A-8C33-DD819185A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400" dirty="0">
                  <a:latin typeface="Prestige12 BT" panose="02070509030506020304" pitchFamily="49" charset="0"/>
                </a:rPr>
                <a:t>192, 197,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25" name="Line 40">
            <a:extLst>
              <a:ext uri="{FF2B5EF4-FFF2-40B4-BE49-F238E27FC236}">
                <a16:creationId xmlns:a16="http://schemas.microsoft.com/office/drawing/2014/main" id="{3C504ABF-B05C-414D-90DE-6F4CFFC61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459" y="4078720"/>
            <a:ext cx="910431" cy="54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4C481-C6D7-124E-8B19-C438A767B2D7}"/>
              </a:ext>
            </a:extLst>
          </p:cNvPr>
          <p:cNvSpPr txBox="1"/>
          <p:nvPr/>
        </p:nvSpPr>
        <p:spPr>
          <a:xfrm rot="16200000">
            <a:off x="8162936" y="4844805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2364DB-3218-9540-A94E-E5452A8F8C97}"/>
              </a:ext>
            </a:extLst>
          </p:cNvPr>
          <p:cNvSpPr txBox="1"/>
          <p:nvPr/>
        </p:nvSpPr>
        <p:spPr>
          <a:xfrm rot="16200000">
            <a:off x="5942702" y="3833726"/>
            <a:ext cx="77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ID.ind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666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How to Keep A Table Sorted?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3EE5B-C5F8-C945-8827-67E2FEC4D481}"/>
              </a:ext>
            </a:extLst>
          </p:cNvPr>
          <p:cNvSpPr/>
          <p:nvPr/>
        </p:nvSpPr>
        <p:spPr>
          <a:xfrm>
            <a:off x="-1" y="758856"/>
            <a:ext cx="9132141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this key question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further note on clustered indices and page order.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Again assume leaf nodes are tuples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RDBMSs use “B+ tree files” to store the tables, i.e., entire file is a B+ tree index, with leaf nodes storing tuples (instead of pointers to tuples)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8B0E9F1E-5551-C04B-9EDF-4D019F68A0D0}"/>
              </a:ext>
            </a:extLst>
          </p:cNvPr>
          <p:cNvGrpSpPr>
            <a:grpSpLocks/>
          </p:cNvGrpSpPr>
          <p:nvPr/>
        </p:nvGrpSpPr>
        <p:grpSpPr bwMode="auto">
          <a:xfrm>
            <a:off x="484873" y="3789793"/>
            <a:ext cx="7092951" cy="914400"/>
            <a:chOff x="240" y="2832"/>
            <a:chExt cx="4468" cy="576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BCB31838-9C71-A549-BF8E-3226496CF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9F8572B0-31F5-0846-BA30-5F724C2A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12" name="Line 22">
              <a:extLst>
                <a:ext uri="{FF2B5EF4-FFF2-40B4-BE49-F238E27FC236}">
                  <a16:creationId xmlns:a16="http://schemas.microsoft.com/office/drawing/2014/main" id="{45B8F7ED-B876-8348-8D37-877B144B6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243933E5-65F6-DB4E-A141-2874148E3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3052"/>
              <a:ext cx="2609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A818A61C-2586-524C-959A-AE7DDEDCB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" y="3014"/>
              <a:ext cx="46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8F9194E-7C80-214B-9045-BA554D4B6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3052"/>
              <a:ext cx="2459" cy="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A810D3A-5F85-5543-93DC-B3A7330F0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A26D13B4-752D-FC4A-AC4C-4CB61F9799A9}"/>
              </a:ext>
            </a:extLst>
          </p:cNvPr>
          <p:cNvGrpSpPr>
            <a:grpSpLocks/>
          </p:cNvGrpSpPr>
          <p:nvPr/>
        </p:nvGrpSpPr>
        <p:grpSpPr bwMode="auto">
          <a:xfrm>
            <a:off x="484872" y="4688315"/>
            <a:ext cx="8201025" cy="2097088"/>
            <a:chOff x="240" y="3398"/>
            <a:chExt cx="5166" cy="1321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A0CC0FFE-F529-644D-B17C-F5D4F34FB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4938D2DE-5755-9F4F-9B8D-547512F0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A324F067-7223-264D-BC16-F942036AA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6A98725F-301E-324A-81A0-19C9B802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39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996, 997,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E437D90A-69FC-6343-A27D-D1EFC29B2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" y="4467"/>
              <a:ext cx="854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B+ tree file</a:t>
              </a: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C0E4C3F3-0B27-CA4B-9922-BEED75DF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latin typeface="Prestige12 BT" panose="02070509030506020304" pitchFamily="49" charset="0"/>
                </a:rPr>
                <a:t>200, 202,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39C4A6E1-DD37-B64A-8C33-DD819185A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400" dirty="0">
                  <a:latin typeface="Prestige12 BT" panose="02070509030506020304" pitchFamily="49" charset="0"/>
                </a:rPr>
                <a:t>192, 197,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25" name="Line 40">
            <a:extLst>
              <a:ext uri="{FF2B5EF4-FFF2-40B4-BE49-F238E27FC236}">
                <a16:creationId xmlns:a16="http://schemas.microsoft.com/office/drawing/2014/main" id="{3C504ABF-B05C-414D-90DE-6F4CFFC61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459" y="4078720"/>
            <a:ext cx="910431" cy="54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4C481-C6D7-124E-8B19-C438A767B2D7}"/>
              </a:ext>
            </a:extLst>
          </p:cNvPr>
          <p:cNvSpPr txBox="1"/>
          <p:nvPr/>
        </p:nvSpPr>
        <p:spPr>
          <a:xfrm rot="16200000">
            <a:off x="8086025" y="4168691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30304646-5B72-4346-AF8E-6B969F08F8F8}"/>
              </a:ext>
            </a:extLst>
          </p:cNvPr>
          <p:cNvCxnSpPr>
            <a:cxnSpLocks/>
            <a:stCxn id="18" idx="2"/>
            <a:endCxn id="19" idx="2"/>
          </p:cNvCxnSpPr>
          <p:nvPr/>
        </p:nvCxnSpPr>
        <p:spPr>
          <a:xfrm rot="16200000" flipH="1">
            <a:off x="4585384" y="1860976"/>
            <a:ext cx="12700" cy="7058025"/>
          </a:xfrm>
          <a:prstGeom prst="curvedConnector3">
            <a:avLst>
              <a:gd name="adj1" fmla="val 786857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3C49AC0-7BFB-FB44-81F3-ABE7036CB037}"/>
              </a:ext>
            </a:extLst>
          </p:cNvPr>
          <p:cNvCxnSpPr>
            <a:cxnSpLocks/>
            <a:stCxn id="24" idx="2"/>
            <a:endCxn id="23" idx="2"/>
          </p:cNvCxnSpPr>
          <p:nvPr/>
        </p:nvCxnSpPr>
        <p:spPr>
          <a:xfrm rot="5400000">
            <a:off x="4485372" y="4780389"/>
            <a:ext cx="12700" cy="1219200"/>
          </a:xfrm>
          <a:prstGeom prst="curvedConnector3">
            <a:avLst>
              <a:gd name="adj1" fmla="val 138856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273517DF-7ECC-BB4C-8C01-B953B78FAF5C}"/>
              </a:ext>
            </a:extLst>
          </p:cNvPr>
          <p:cNvCxnSpPr>
            <a:cxnSpLocks/>
            <a:stCxn id="19" idx="2"/>
            <a:endCxn id="24" idx="2"/>
          </p:cNvCxnSpPr>
          <p:nvPr/>
        </p:nvCxnSpPr>
        <p:spPr>
          <a:xfrm rot="5400000">
            <a:off x="6604685" y="3880277"/>
            <a:ext cx="12700" cy="3019425"/>
          </a:xfrm>
          <a:prstGeom prst="curvedConnector3">
            <a:avLst>
              <a:gd name="adj1" fmla="val 19028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3D98DD3E-30FB-7C4C-8412-5C1EA6E06970}"/>
              </a:ext>
            </a:extLst>
          </p:cNvPr>
          <p:cNvCxnSpPr>
            <a:cxnSpLocks/>
            <a:stCxn id="23" idx="2"/>
            <a:endCxn id="20" idx="2"/>
          </p:cNvCxnSpPr>
          <p:nvPr/>
        </p:nvCxnSpPr>
        <p:spPr>
          <a:xfrm rot="16200000" flipH="1">
            <a:off x="5329922" y="3935839"/>
            <a:ext cx="12700" cy="2908300"/>
          </a:xfrm>
          <a:prstGeom prst="curvedConnector3">
            <a:avLst>
              <a:gd name="adj1" fmla="val 40628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A233C501-96B0-A149-95C4-22C0F082B076}"/>
              </a:ext>
            </a:extLst>
          </p:cNvPr>
          <p:cNvCxnSpPr>
            <a:cxnSpLocks/>
            <a:stCxn id="20" idx="2"/>
            <a:endCxn id="21" idx="2"/>
          </p:cNvCxnSpPr>
          <p:nvPr/>
        </p:nvCxnSpPr>
        <p:spPr>
          <a:xfrm rot="5400000" flipH="1">
            <a:off x="4542522" y="3148440"/>
            <a:ext cx="15875" cy="4467225"/>
          </a:xfrm>
          <a:prstGeom prst="curvedConnector3">
            <a:avLst>
              <a:gd name="adj1" fmla="val -4896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9">
            <a:extLst>
              <a:ext uri="{FF2B5EF4-FFF2-40B4-BE49-F238E27FC236}">
                <a16:creationId xmlns:a16="http://schemas.microsoft.com/office/drawing/2014/main" id="{E393BFCC-39F6-644F-A926-52AD70AC9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041" y="3107058"/>
            <a:ext cx="1531938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1400" dirty="0">
                <a:latin typeface="Prestige12 BT" panose="02070509030506020304" pitchFamily="49" charset="0"/>
              </a:rPr>
              <a:t>100, </a:t>
            </a:r>
            <a:r>
              <a:rPr lang="en-US" sz="1400" dirty="0">
                <a:latin typeface="Prestige12 BT" panose="02070509030506020304" pitchFamily="49" charset="0"/>
              </a:rPr>
              <a:t>901</a:t>
            </a:r>
            <a:endParaRPr kumimoji="0" lang="en-US" sz="1400" dirty="0">
              <a:latin typeface="Prestige12 BT" panose="02070509030506020304" pitchFamily="49" charset="0"/>
            </a:endParaRPr>
          </a:p>
        </p:txBody>
      </p:sp>
      <p:sp>
        <p:nvSpPr>
          <p:cNvPr id="52" name="Line 24">
            <a:extLst>
              <a:ext uri="{FF2B5EF4-FFF2-40B4-BE49-F238E27FC236}">
                <a16:creationId xmlns:a16="http://schemas.microsoft.com/office/drawing/2014/main" id="{9FEC6E4D-C148-1D4B-8751-287ED74A7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6035" y="3399272"/>
            <a:ext cx="866774" cy="3889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9154545F-F962-ED43-8FD6-EA90B73ED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0011" y="3399272"/>
            <a:ext cx="736968" cy="3889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2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Other Common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5238206" cy="557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 Classes of Indices Overall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Tree-based: can do both lookups and range queries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B/B+ Trees, R Trees, Radix Tree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Hash-based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only do look ups. Cannot do range queries.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practice: handle collisions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other indices: bitmap indices, probabilistic indices, suffix arrays,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or Inverted Index for different applications and data types.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0B8A22-1AD6-8D49-BFC1-341D3047B1DC}"/>
              </a:ext>
            </a:extLst>
          </p:cNvPr>
          <p:cNvGraphicFramePr>
            <a:graphicFrameLocks noGrp="1"/>
          </p:cNvGraphicFramePr>
          <p:nvPr/>
        </p:nvGraphicFramePr>
        <p:xfrm>
          <a:off x="7105012" y="14991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142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36CD089-1AD5-D44E-A5F3-E245D0ADD0ED}"/>
              </a:ext>
            </a:extLst>
          </p:cNvPr>
          <p:cNvGraphicFramePr>
            <a:graphicFrameLocks noGrp="1"/>
          </p:cNvGraphicFramePr>
          <p:nvPr/>
        </p:nvGraphicFramePr>
        <p:xfrm>
          <a:off x="7105012" y="27945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456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8648E71-7B8E-E545-8A0D-81DD4F896240}"/>
              </a:ext>
            </a:extLst>
          </p:cNvPr>
          <p:cNvGraphicFramePr>
            <a:graphicFrameLocks noGrp="1"/>
          </p:cNvGraphicFramePr>
          <p:nvPr/>
        </p:nvGraphicFramePr>
        <p:xfrm>
          <a:off x="7105012" y="40899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997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936BE7F-0300-7547-88FB-3B556AB4DE16}"/>
              </a:ext>
            </a:extLst>
          </p:cNvPr>
          <p:cNvGraphicFramePr>
            <a:graphicFrameLocks noGrp="1"/>
          </p:cNvGraphicFramePr>
          <p:nvPr/>
        </p:nvGraphicFramePr>
        <p:xfrm>
          <a:off x="5088978" y="1625854"/>
          <a:ext cx="1581150" cy="32918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Windel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Sherri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Martin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21470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Ralph, 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721256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011429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973295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639434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314457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240315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74139"/>
                  </a:ext>
                </a:extLst>
              </a:tr>
            </a:tbl>
          </a:graphicData>
        </a:graphic>
      </p:graphicFrame>
      <p:sp>
        <p:nvSpPr>
          <p:cNvPr id="24" name="Line 40">
            <a:extLst>
              <a:ext uri="{FF2B5EF4-FFF2-40B4-BE49-F238E27FC236}">
                <a16:creationId xmlns:a16="http://schemas.microsoft.com/office/drawing/2014/main" id="{0116AB8F-55BF-AD4A-BCD4-B043C7D8D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71" y="1746821"/>
            <a:ext cx="930026" cy="28513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6F003-F4D9-6840-8D1A-CCB14F58E14D}"/>
              </a:ext>
            </a:extLst>
          </p:cNvPr>
          <p:cNvSpPr txBox="1"/>
          <p:nvPr/>
        </p:nvSpPr>
        <p:spPr>
          <a:xfrm>
            <a:off x="5088978" y="1186442"/>
            <a:ext cx="1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Table</a:t>
            </a:r>
          </a:p>
        </p:txBody>
      </p:sp>
      <p:sp>
        <p:nvSpPr>
          <p:cNvPr id="26" name="Line 40">
            <a:extLst>
              <a:ext uri="{FF2B5EF4-FFF2-40B4-BE49-F238E27FC236}">
                <a16:creationId xmlns:a16="http://schemas.microsoft.com/office/drawing/2014/main" id="{E9D75309-D2EA-6C45-9BD1-AD46C4838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71" y="2296095"/>
            <a:ext cx="930026" cy="121920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0">
            <a:extLst>
              <a:ext uri="{FF2B5EF4-FFF2-40B4-BE49-F238E27FC236}">
                <a16:creationId xmlns:a16="http://schemas.microsoft.com/office/drawing/2014/main" id="{9AF5D6F7-5BFF-DB4C-A40C-5C8C96550B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0671" y="2602945"/>
            <a:ext cx="927692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849E9C80-3DF3-AB48-A876-0B0458B63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7890" y="2966021"/>
            <a:ext cx="1230472" cy="76782"/>
          </a:xfrm>
          <a:prstGeom prst="line">
            <a:avLst/>
          </a:prstGeom>
          <a:noFill/>
          <a:ln w="25400">
            <a:solidFill>
              <a:schemeClr val="accent6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0">
            <a:extLst>
              <a:ext uri="{FF2B5EF4-FFF2-40B4-BE49-F238E27FC236}">
                <a16:creationId xmlns:a16="http://schemas.microsoft.com/office/drawing/2014/main" id="{6A3CECCA-0BC0-254E-931E-3BD319F1C2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2839" y="2019251"/>
            <a:ext cx="934695" cy="1132970"/>
          </a:xfrm>
          <a:prstGeom prst="line">
            <a:avLst/>
          </a:prstGeom>
          <a:noFill/>
          <a:ln w="25400">
            <a:solidFill>
              <a:schemeClr val="accent6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7C3E48CE-6244-AF42-B9CF-8F2AD37E62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1429" y="3267652"/>
            <a:ext cx="930026" cy="4016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0">
            <a:extLst>
              <a:ext uri="{FF2B5EF4-FFF2-40B4-BE49-F238E27FC236}">
                <a16:creationId xmlns:a16="http://schemas.microsoft.com/office/drawing/2014/main" id="{9A1514E1-596D-8548-B1AA-88D4EA263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29" y="1676740"/>
            <a:ext cx="873775" cy="2260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0">
            <a:extLst>
              <a:ext uri="{FF2B5EF4-FFF2-40B4-BE49-F238E27FC236}">
                <a16:creationId xmlns:a16="http://schemas.microsoft.com/office/drawing/2014/main" id="{F1CC3792-A630-5B47-A8AA-76CA67E15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6002" y="3937576"/>
            <a:ext cx="930026" cy="3470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0">
            <a:extLst>
              <a:ext uri="{FF2B5EF4-FFF2-40B4-BE49-F238E27FC236}">
                <a16:creationId xmlns:a16="http://schemas.microsoft.com/office/drawing/2014/main" id="{AE55B07A-1657-F149-B1CD-B105F33B3D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29" y="4205859"/>
            <a:ext cx="871441" cy="34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0">
            <a:extLst>
              <a:ext uri="{FF2B5EF4-FFF2-40B4-BE49-F238E27FC236}">
                <a16:creationId xmlns:a16="http://schemas.microsoft.com/office/drawing/2014/main" id="{F652E603-B731-4040-984C-0EA7D3F253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30" y="2296095"/>
            <a:ext cx="829202" cy="252397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0">
            <a:extLst>
              <a:ext uri="{FF2B5EF4-FFF2-40B4-BE49-F238E27FC236}">
                <a16:creationId xmlns:a16="http://schemas.microsoft.com/office/drawing/2014/main" id="{F51028CD-69F5-6F48-B481-C105A75C3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6230" y="4820072"/>
            <a:ext cx="779961" cy="2569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4A25F1-9A82-0247-A35C-FDF52A2CAB4C}"/>
              </a:ext>
            </a:extLst>
          </p:cNvPr>
          <p:cNvSpPr txBox="1"/>
          <p:nvPr/>
        </p:nvSpPr>
        <p:spPr>
          <a:xfrm>
            <a:off x="7316191" y="5309179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85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" grpId="0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26" y="2978204"/>
            <a:ext cx="9060548" cy="901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0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Indices can be defined on one ore more attributes: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INDEX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 err="1">
                <a:latin typeface="Prestige12 BT" panose="02070509030506020304" pitchFamily="49" charset="0"/>
              </a:rPr>
              <a:t>NameIndex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2000" dirty="0">
                <a:latin typeface="Prestige12 BT" panose="02070509030506020304" pitchFamily="49" charset="0"/>
              </a:rPr>
              <a:t> User(</a:t>
            </a:r>
            <a:r>
              <a:rPr lang="en-US" sz="2000" dirty="0" err="1">
                <a:latin typeface="Prestige12 BT" panose="02070509030506020304" pitchFamily="49" charset="0"/>
              </a:rPr>
              <a:t>Lastname,Firstname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I.e., B+’s keys are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pairs and tuples are sorted first by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then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index would be useful for these queries: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‘Smith’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‘Smith’ and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=‘John’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But not this query: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=‘John’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systems use indices by default on the primary key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systems use indices to implement UNIQUE constraints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CREATE TABLE Students(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studentID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int, 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sinNumber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varchar(16) UNIQUE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PRIMARY KEY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studentID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4F540-A9A5-5441-84AA-62FE697900AB}"/>
              </a:ext>
            </a:extLst>
          </p:cNvPr>
          <p:cNvSpPr txBox="1"/>
          <p:nvPr/>
        </p:nvSpPr>
        <p:spPr>
          <a:xfrm>
            <a:off x="5421577" y="5248354"/>
            <a:ext cx="36580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Will create 2 B+ indices: </a:t>
            </a:r>
          </a:p>
          <a:p>
            <a:pPr marL="457200" indent="-457200"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studentID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457200" indent="-457200"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sinNumber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7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Users only create indices. They do not refer to indices in queries.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Some user queries will get much faster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B/c RDBMSs use indices during query evaluation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IndexScan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operators,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IndexMergeJoin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(in Oracle)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IndexNestedLoopJoin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AA645-BAEA-B747-805A-41DBD9CC9394}"/>
              </a:ext>
            </a:extLst>
          </p:cNvPr>
          <p:cNvGrpSpPr/>
          <p:nvPr/>
        </p:nvGrpSpPr>
        <p:grpSpPr>
          <a:xfrm>
            <a:off x="188748" y="3055317"/>
            <a:ext cx="4214524" cy="3709450"/>
            <a:chOff x="4279307" y="1902822"/>
            <a:chExt cx="4666351" cy="431073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725C884-C196-BE49-A277-FCCC57A459B1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57E6081-21E0-9145-86BD-3E6DB49828CD}"/>
                </a:ext>
              </a:extLst>
            </p:cNvPr>
            <p:cNvSpPr/>
            <p:nvPr/>
          </p:nvSpPr>
          <p:spPr>
            <a:xfrm>
              <a:off x="4279307" y="5360976"/>
              <a:ext cx="1350114" cy="8525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3D151B-5072-504B-9D0A-5CE732B8D34A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4954365" y="5213869"/>
              <a:ext cx="891571" cy="14710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A74FB4-DF34-7342-A1BA-B31E7D7EF64E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>
              <a:off x="5845935" y="5213869"/>
              <a:ext cx="706409" cy="14706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FA65BC-2B4F-D64B-8456-9AA441F72A09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ADE437F-2B27-6B43-BFA2-347E18664570}"/>
                </a:ext>
              </a:extLst>
            </p:cNvPr>
            <p:cNvSpPr/>
            <p:nvPr/>
          </p:nvSpPr>
          <p:spPr>
            <a:xfrm>
              <a:off x="5877288" y="5360937"/>
              <a:ext cx="1350113" cy="8526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7CDEBBB-A99C-1946-BF2F-F17828547C3D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FBA659E-F8A5-D249-9FE8-80D45FFD76EE}"/>
                </a:ext>
              </a:extLst>
            </p:cNvPr>
            <p:cNvSpPr/>
            <p:nvPr/>
          </p:nvSpPr>
          <p:spPr>
            <a:xfrm>
              <a:off x="7362463" y="5328635"/>
              <a:ext cx="1583195" cy="8849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7C267C2-07B9-494A-BB37-1C951BCA0691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193FA14-9E2C-984A-BC45-3D488E864F49}"/>
                </a:ext>
              </a:extLst>
            </p:cNvPr>
            <p:cNvCxnSpPr>
              <a:cxnSpLocks/>
              <a:stCxn id="20" idx="2"/>
              <a:endCxn id="16" idx="0"/>
            </p:cNvCxnSpPr>
            <p:nvPr/>
          </p:nvCxnSpPr>
          <p:spPr>
            <a:xfrm>
              <a:off x="8154060" y="5182225"/>
              <a:ext cx="0" cy="1464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883BDF-BCC9-374F-9DF8-E0A7CEC7F4F4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961A0EF-DBBC-A841-9F9A-FB0FBE7030A0}"/>
                </a:ext>
              </a:extLst>
            </p:cNvPr>
            <p:cNvSpPr/>
            <p:nvPr/>
          </p:nvSpPr>
          <p:spPr>
            <a:xfrm>
              <a:off x="7374442" y="4516328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7E564-DD4D-1041-8B02-BADD602E781A}"/>
                </a:ext>
              </a:extLst>
            </p:cNvPr>
            <p:cNvCxnSpPr>
              <a:cxnSpLocks/>
              <a:stCxn id="15" idx="2"/>
              <a:endCxn id="20" idx="0"/>
            </p:cNvCxnSpPr>
            <p:nvPr/>
          </p:nvCxnSpPr>
          <p:spPr>
            <a:xfrm>
              <a:off x="6912218" y="3840779"/>
              <a:ext cx="1241842" cy="67554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1F95E3-3F62-3E49-BCC7-10949FFA0B6A}"/>
              </a:ext>
            </a:extLst>
          </p:cNvPr>
          <p:cNvGrpSpPr/>
          <p:nvPr/>
        </p:nvGrpSpPr>
        <p:grpSpPr>
          <a:xfrm>
            <a:off x="4572000" y="3055317"/>
            <a:ext cx="4248390" cy="3765231"/>
            <a:chOff x="4279307" y="1902822"/>
            <a:chExt cx="4666351" cy="419632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115D9C3-10B6-2049-89EA-121D6C4DC43A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L.$3=R.2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AAF7A669-A157-C24F-9742-C1BF71E6A89E}"/>
                </a:ext>
              </a:extLst>
            </p:cNvPr>
            <p:cNvSpPr/>
            <p:nvPr/>
          </p:nvSpPr>
          <p:spPr>
            <a:xfrm>
              <a:off x="4279307" y="5360978"/>
              <a:ext cx="1350114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A5B2C0B-644C-014B-A077-A5DAF6378E21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4954364" y="5213868"/>
              <a:ext cx="891572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83AB2C-871B-A541-9744-29A338568650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5845936" y="5213868"/>
              <a:ext cx="726512" cy="13224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A6965FE-C47B-684F-AB7C-DF98E233C0D7}"/>
                </a:ext>
              </a:extLst>
            </p:cNvPr>
            <p:cNvCxnSpPr>
              <a:cxnSpLocks/>
              <a:stCxn id="30" idx="2"/>
              <a:endCxn id="23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13D795E1-CBE1-5645-8C5C-780D75F467B9}"/>
                </a:ext>
              </a:extLst>
            </p:cNvPr>
            <p:cNvSpPr/>
            <p:nvPr/>
          </p:nvSpPr>
          <p:spPr>
            <a:xfrm>
              <a:off x="5897391" y="5346110"/>
              <a:ext cx="1350113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E518663-4A80-B742-9E3C-6A8143DDC4A9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L.$3=R.$3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C44F11D-3C11-1B4B-885D-D53457588695}"/>
                </a:ext>
              </a:extLst>
            </p:cNvPr>
            <p:cNvSpPr/>
            <p:nvPr/>
          </p:nvSpPr>
          <p:spPr>
            <a:xfrm>
              <a:off x="7362462" y="5328635"/>
              <a:ext cx="1583196" cy="738163"/>
            </a:xfrm>
            <a:prstGeom prst="roundRect">
              <a:avLst/>
            </a:prstGeom>
            <a:solidFill>
              <a:schemeClr val="bg1"/>
            </a:solidFill>
            <a:ln w="317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BD07E05-06C2-A541-816E-A8471422A817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3A7BD9-9BDD-1849-B2B8-5B4AD8E8931C}"/>
                </a:ext>
              </a:extLst>
            </p:cNvPr>
            <p:cNvCxnSpPr>
              <a:cxnSpLocks/>
              <a:stCxn id="32" idx="2"/>
              <a:endCxn id="30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6FB6F06-006B-384D-BFD8-4F472A55FFE7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6912218" y="3840779"/>
              <a:ext cx="1241843" cy="14878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17E7C7-594D-C343-B7CE-74846DD8745E}"/>
              </a:ext>
            </a:extLst>
          </p:cNvPr>
          <p:cNvCxnSpPr>
            <a:cxnSpLocks/>
          </p:cNvCxnSpPr>
          <p:nvPr/>
        </p:nvCxnSpPr>
        <p:spPr>
          <a:xfrm flipH="1">
            <a:off x="4068405" y="4409673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92924C-4135-7C4F-ABBE-40DB0CFFB2B8}"/>
              </a:ext>
            </a:extLst>
          </p:cNvPr>
          <p:cNvSpPr txBox="1"/>
          <p:nvPr/>
        </p:nvSpPr>
        <p:spPr>
          <a:xfrm>
            <a:off x="3267495" y="3652806"/>
            <a:ext cx="277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Plan Transformation during Query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1131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486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Updates will get slower because indices need to be maintained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Q: How should users pick indices given a workload W (i.e., the set of queries an application asks and their frequencies)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General Guideline: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Profile slow queries. Check if they have =, &lt;, ≤, &gt;, ≥  predicates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 AND B = 27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SELECT * FROM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sz="2000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50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above indices on R.A, R.A and R.B multicolumn, S.C, S.D are possible indices that can speed queries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But one should weigh these benefits against slow downs due to updates</a:t>
            </a: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563460C3-4514-D948-ABF0-B37BCB5F8CB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7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RDBMSs have “Physical Design Advisor” (PDA) tool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Input: Database D (w/ existing indices), workload W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 A set of recommended indices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Internally PDA does a “what if” analysis: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Query Optimizer &amp; inspects the estimated runtimes/costs of plans the system would use for queries in W with &amp; without additional indices</a:t>
            </a: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563460C3-4514-D948-ABF0-B37BCB5F8CB8}"/>
              </a:ext>
            </a:extLst>
          </p:cNvPr>
          <p:cNvSpPr txBox="1">
            <a:spLocks/>
          </p:cNvSpPr>
          <p:nvPr/>
        </p:nvSpPr>
        <p:spPr>
          <a:xfrm>
            <a:off x="653168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C25A49-D822-9448-9302-C76CDD2ABCC3}"/>
              </a:ext>
            </a:extLst>
          </p:cNvPr>
          <p:cNvSpPr/>
          <p:nvPr/>
        </p:nvSpPr>
        <p:spPr>
          <a:xfrm>
            <a:off x="3853544" y="4148956"/>
            <a:ext cx="1894114" cy="1039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Optimizer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DB7BE-4793-D140-9C0E-8307B4BB3741}"/>
              </a:ext>
            </a:extLst>
          </p:cNvPr>
          <p:cNvSpPr txBox="1"/>
          <p:nvPr/>
        </p:nvSpPr>
        <p:spPr>
          <a:xfrm>
            <a:off x="221081" y="3933512"/>
            <a:ext cx="3632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 = {&lt;Q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&gt;,…, &lt;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B17D6-27E2-EE43-92C0-0493006490B1}"/>
              </a:ext>
            </a:extLst>
          </p:cNvPr>
          <p:cNvSpPr txBox="1"/>
          <p:nvPr/>
        </p:nvSpPr>
        <p:spPr>
          <a:xfrm>
            <a:off x="221081" y="4696571"/>
            <a:ext cx="36324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 = {R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{Ind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Ind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z+1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76D96E-1907-6B49-B664-1AB26D2BBEAA}"/>
              </a:ext>
            </a:extLst>
          </p:cNvPr>
          <p:cNvCxnSpPr>
            <a:stCxn id="3" idx="2"/>
          </p:cNvCxnSpPr>
          <p:nvPr/>
        </p:nvCxnSpPr>
        <p:spPr>
          <a:xfrm>
            <a:off x="2037313" y="4364399"/>
            <a:ext cx="1816231" cy="3041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771A1A-3E00-E54F-BF96-BBB61F6CE87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037313" y="4668552"/>
            <a:ext cx="1778973" cy="28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7967FC-2A10-2A4F-BC26-4F9ED1C9E275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800601" y="5188149"/>
            <a:ext cx="0" cy="6164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48D29D-E261-814D-B2C2-F8A84E2025AE}"/>
              </a:ext>
            </a:extLst>
          </p:cNvPr>
          <p:cNvSpPr txBox="1"/>
          <p:nvPr/>
        </p:nvSpPr>
        <p:spPr>
          <a:xfrm>
            <a:off x="3853544" y="5930537"/>
            <a:ext cx="1894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Generate Plans  for each Q</a:t>
            </a:r>
            <a:r>
              <a:rPr lang="en-US" baseline="-25000" dirty="0"/>
              <a:t>i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E0830-185E-1D44-94BA-8F1837A04E9D}"/>
              </a:ext>
            </a:extLst>
          </p:cNvPr>
          <p:cNvSpPr txBox="1"/>
          <p:nvPr/>
        </p:nvSpPr>
        <p:spPr>
          <a:xfrm>
            <a:off x="5460275" y="5684608"/>
            <a:ext cx="3699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Inspects the costs of these generated plans to recommend a set of indices to develop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107AAC-C0A3-1342-93A5-B7A7B3C10530}"/>
              </a:ext>
            </a:extLst>
          </p:cNvPr>
          <p:cNvSpPr txBox="1"/>
          <p:nvPr/>
        </p:nvSpPr>
        <p:spPr>
          <a:xfrm>
            <a:off x="418011" y="3619727"/>
            <a:ext cx="3699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include updates</a:t>
            </a:r>
          </a:p>
        </p:txBody>
      </p:sp>
    </p:spTree>
    <p:extLst>
      <p:ext uri="{BB962C8B-B14F-4D97-AF65-F5344CB8AC3E}">
        <p14:creationId xmlns:p14="http://schemas.microsoft.com/office/powerpoint/2010/main" val="232461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/>
      <p:bldP spid="11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949"/>
            <a:ext cx="9073900" cy="1180160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Halloween Problem: An Interesting Note On Challenging Problems a DBMS has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6855"/>
            <a:ext cx="9073900" cy="333721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Story from the early days of System R: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Payroll</a:t>
            </a:r>
            <a:b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salary = salary * 1.1</a:t>
            </a:r>
            <a:b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salary &gt;= 100000;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B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-tree index on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Payroll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update never stopped (why?)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could you try to solve this if you implemented System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B6233F-20A0-C643-91E7-43264E57518B}"/>
              </a:ext>
            </a:extLst>
          </p:cNvPr>
          <p:cNvCxnSpPr/>
          <p:nvPr/>
        </p:nvCxnSpPr>
        <p:spPr>
          <a:xfrm>
            <a:off x="0" y="122110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6360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23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Wrap up Indices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2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Recall: 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297286"/>
              </p:ext>
            </p:extLst>
          </p:nvPr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AE18236F-8A40-7F4D-9C88-0E8F9F7EF85E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4BDE5981-F42E-E843-892A-50BCACD01E72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24248049-F0AE-7A4F-B958-9C6F54273656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AB785425-B0CF-6A4A-8DEE-62C8E3529AAC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E0A2D00-03E1-7741-9081-84915034887B}"/>
                  </a:ext>
                </a:extLst>
              </p:cNvPr>
              <p:cNvCxnSpPr>
                <a:cxnSpLocks/>
                <a:stCxn id="225" idx="2"/>
                <a:endCxn id="226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B8DF3779-49CD-204A-BBF2-DA4403C08452}"/>
                  </a:ext>
                </a:extLst>
              </p:cNvPr>
              <p:cNvCxnSpPr>
                <a:cxnSpLocks/>
                <a:stCxn id="225" idx="2"/>
                <a:endCxn id="224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5D3B7EFB-E733-0A43-B8BC-9CCF463712D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B0071DE-CA7F-8544-8592-2CBAFB2F3EB5}"/>
                  </a:ext>
                </a:extLst>
              </p:cNvPr>
              <p:cNvCxnSpPr>
                <a:cxnSpLocks/>
                <a:stCxn id="229" idx="2"/>
                <a:endCxn id="225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8EF8B94D-4D03-344C-842F-73A07E96EE8B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0896CEE8-40AC-F44C-97E7-B40E8FC9209C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209776B4-59D8-1048-ADE8-E466C20EF3D5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38597988-22E3-7641-9E95-66785425FCF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7419D018-C279-5646-B981-77230E34F615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8CD00AED-46A7-E14B-A190-95CAFCC12177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D8AC49C-2D4D-4246-B2CE-6019F38D2C69}"/>
                </a:ext>
              </a:extLst>
            </p:cNvPr>
            <p:cNvCxnSpPr>
              <a:cxnSpLocks/>
              <a:stCxn id="232" idx="2"/>
              <a:endCxn id="233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E816DA63-9FD5-424D-B52C-2ECD77EC653E}"/>
                </a:ext>
              </a:extLst>
            </p:cNvPr>
            <p:cNvCxnSpPr>
              <a:cxnSpLocks/>
              <a:stCxn id="233" idx="2"/>
              <a:endCxn id="234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73E14BB-92D9-B44B-A530-6AC601DA3F6A}"/>
                </a:ext>
              </a:extLst>
            </p:cNvPr>
            <p:cNvCxnSpPr>
              <a:cxnSpLocks/>
              <a:stCxn id="232" idx="2"/>
              <a:endCxn id="235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ounded Rectangle 238">
              <a:extLst>
                <a:ext uri="{FF2B5EF4-FFF2-40B4-BE49-F238E27FC236}">
                  <a16:creationId xmlns:a16="http://schemas.microsoft.com/office/drawing/2014/main" id="{D7D531F4-1EEA-704C-B987-1B97673E42C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CDFA83F-8485-B342-9F94-40EFC29AA3C4}"/>
                </a:ext>
              </a:extLst>
            </p:cNvPr>
            <p:cNvCxnSpPr>
              <a:cxnSpLocks/>
              <a:stCxn id="239" idx="2"/>
              <a:endCxn id="232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2825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Query Processor of DBMSs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19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5050A-6CD8-5B40-B8D0-060192FCCA21}"/>
              </a:ext>
            </a:extLst>
          </p:cNvPr>
          <p:cNvSpPr txBox="1"/>
          <p:nvPr/>
        </p:nvSpPr>
        <p:spPr>
          <a:xfrm>
            <a:off x="106924" y="770444"/>
            <a:ext cx="90605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component that executes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physical plan: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tree of operators that manipulate files and tuples to produce the output asked in a query.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Operators implement core: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access methods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query processing algorithms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0BE05-4CAF-844A-812C-7BE6F7CFA8D2}"/>
              </a:ext>
            </a:extLst>
          </p:cNvPr>
          <p:cNvSpPr txBox="1"/>
          <p:nvPr/>
        </p:nvSpPr>
        <p:spPr>
          <a:xfrm>
            <a:off x="-18824" y="3482941"/>
            <a:ext cx="415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CE1167-C2E8-6441-9976-ACA2614269E2}"/>
              </a:ext>
            </a:extLst>
          </p:cNvPr>
          <p:cNvGrpSpPr/>
          <p:nvPr/>
        </p:nvGrpSpPr>
        <p:grpSpPr>
          <a:xfrm>
            <a:off x="4648200" y="1744072"/>
            <a:ext cx="4248390" cy="3765231"/>
            <a:chOff x="4279307" y="1902822"/>
            <a:chExt cx="4666351" cy="4196322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8327E4E-3922-7746-8F74-69955608C4CA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L.cid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R.cid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6A6EBA5-90C6-4A45-81A6-0C556E1A93D2}"/>
                </a:ext>
              </a:extLst>
            </p:cNvPr>
            <p:cNvSpPr/>
            <p:nvPr/>
          </p:nvSpPr>
          <p:spPr>
            <a:xfrm>
              <a:off x="4279307" y="5360978"/>
              <a:ext cx="1350114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3912510-4A01-464A-82AC-3303BD719B1F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4954364" y="5213868"/>
              <a:ext cx="891572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F31C955-5605-7944-8A16-DBD0589A9266}"/>
                </a:ext>
              </a:extLst>
            </p:cNvPr>
            <p:cNvCxnSpPr>
              <a:cxnSpLocks/>
              <a:stCxn id="16" idx="2"/>
              <a:endCxn id="28" idx="0"/>
            </p:cNvCxnSpPr>
            <p:nvPr/>
          </p:nvCxnSpPr>
          <p:spPr>
            <a:xfrm>
              <a:off x="5845936" y="5213868"/>
              <a:ext cx="726512" cy="13224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B5727F-8F93-C841-93F7-E3E05C6B216A}"/>
                </a:ext>
              </a:extLst>
            </p:cNvPr>
            <p:cNvCxnSpPr>
              <a:cxnSpLocks/>
              <a:stCxn id="29" idx="2"/>
              <a:endCxn id="16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BB3CFC2-FCB1-1C4F-85A5-E0DAF40F5577}"/>
                </a:ext>
              </a:extLst>
            </p:cNvPr>
            <p:cNvSpPr/>
            <p:nvPr/>
          </p:nvSpPr>
          <p:spPr>
            <a:xfrm>
              <a:off x="5897391" y="5346110"/>
              <a:ext cx="1350113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81A219A-08A6-7B46-A088-04C6A2698A74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87C9040-AA18-4840-A9B3-3CF80E4D8A51}"/>
                </a:ext>
              </a:extLst>
            </p:cNvPr>
            <p:cNvSpPr/>
            <p:nvPr/>
          </p:nvSpPr>
          <p:spPr>
            <a:xfrm>
              <a:off x="7362462" y="5328635"/>
              <a:ext cx="1583196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D0BA37B-52EF-7144-8804-857D93FCA538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F4E3DD-F142-F047-8093-81913B8A825A}"/>
                </a:ext>
              </a:extLst>
            </p:cNvPr>
            <p:cNvCxnSpPr>
              <a:cxnSpLocks/>
              <a:stCxn id="31" idx="2"/>
              <a:endCxn id="29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94F08E7-6429-AE4E-BE55-C70AAB0EDAAB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>
              <a:off x="6912218" y="3840779"/>
              <a:ext cx="1241843" cy="14878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E0E420-841C-A640-81DB-C36333387A03}"/>
              </a:ext>
            </a:extLst>
          </p:cNvPr>
          <p:cNvCxnSpPr>
            <a:cxnSpLocks/>
          </p:cNvCxnSpPr>
          <p:nvPr/>
        </p:nvCxnSpPr>
        <p:spPr>
          <a:xfrm flipH="1">
            <a:off x="4216467" y="3777909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A4069B2-DAED-B547-A689-0F3450CAF94E}"/>
              </a:ext>
            </a:extLst>
          </p:cNvPr>
          <p:cNvSpPr/>
          <p:nvPr/>
        </p:nvSpPr>
        <p:spPr>
          <a:xfrm>
            <a:off x="16078" y="6011871"/>
            <a:ext cx="91279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Note: the more operators a system has, the larger set of query plans (i.e., algorithms) it can stich together to evaluate queries</a:t>
            </a:r>
          </a:p>
        </p:txBody>
      </p:sp>
    </p:spTree>
    <p:extLst>
      <p:ext uri="{BB962C8B-B14F-4D97-AF65-F5344CB8AC3E}">
        <p14:creationId xmlns:p14="http://schemas.microsoft.com/office/powerpoint/2010/main" val="127402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(Simplified) Physical Plan Architecture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73685" y="6588363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DB9FE1-26C6-8747-819E-AD41E903E169}"/>
              </a:ext>
            </a:extLst>
          </p:cNvPr>
          <p:cNvGrpSpPr/>
          <p:nvPr/>
        </p:nvGrpSpPr>
        <p:grpSpPr>
          <a:xfrm>
            <a:off x="4781550" y="823810"/>
            <a:ext cx="4248390" cy="5947115"/>
            <a:chOff x="4029075" y="853249"/>
            <a:chExt cx="4248390" cy="594711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7CE1167-C2E8-6441-9976-ACA2614269E2}"/>
                </a:ext>
              </a:extLst>
            </p:cNvPr>
            <p:cNvGrpSpPr/>
            <p:nvPr/>
          </p:nvGrpSpPr>
          <p:grpSpPr>
            <a:xfrm>
              <a:off x="4029075" y="853249"/>
              <a:ext cx="4248390" cy="4641525"/>
              <a:chOff x="4279307" y="1902822"/>
              <a:chExt cx="4666351" cy="5172942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8327E4E-3922-7746-8F74-69955608C4CA}"/>
                  </a:ext>
                </a:extLst>
              </p:cNvPr>
              <p:cNvSpPr/>
              <p:nvPr/>
            </p:nvSpPr>
            <p:spPr>
              <a:xfrm>
                <a:off x="5119424" y="4930130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C6A6EBA5-90C6-4A45-81A6-0C556E1A93D2}"/>
                  </a:ext>
                </a:extLst>
              </p:cNvPr>
              <p:cNvSpPr/>
              <p:nvPr/>
            </p:nvSpPr>
            <p:spPr>
              <a:xfrm>
                <a:off x="4279307" y="6337598"/>
                <a:ext cx="1350113" cy="73816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FileScan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3912510-4A01-464A-82AC-3303BD719B1F}"/>
                  </a:ext>
                </a:extLst>
              </p:cNvPr>
              <p:cNvCxnSpPr>
                <a:cxnSpLocks/>
                <a:stCxn id="16" idx="2"/>
                <a:endCxn id="17" idx="0"/>
              </p:cNvCxnSpPr>
              <p:nvPr/>
            </p:nvCxnSpPr>
            <p:spPr>
              <a:xfrm flipH="1">
                <a:off x="4954364" y="5596026"/>
                <a:ext cx="891571" cy="74157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F31C955-5605-7944-8A16-DBD0589A9266}"/>
                  </a:ext>
                </a:extLst>
              </p:cNvPr>
              <p:cNvCxnSpPr>
                <a:cxnSpLocks/>
                <a:stCxn id="16" idx="2"/>
                <a:endCxn id="28" idx="0"/>
              </p:cNvCxnSpPr>
              <p:nvPr/>
            </p:nvCxnSpPr>
            <p:spPr>
              <a:xfrm>
                <a:off x="5845936" y="5596027"/>
                <a:ext cx="726513" cy="72671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7B5727F-8F93-C841-93F7-E3E05C6B216A}"/>
                  </a:ext>
                </a:extLst>
              </p:cNvPr>
              <p:cNvCxnSpPr>
                <a:cxnSpLocks/>
                <a:stCxn id="29" idx="2"/>
                <a:endCxn id="16" idx="0"/>
              </p:cNvCxnSpPr>
              <p:nvPr/>
            </p:nvCxnSpPr>
            <p:spPr>
              <a:xfrm flipH="1">
                <a:off x="5845936" y="3946934"/>
                <a:ext cx="1066282" cy="98319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BB3CFC2-FCB1-1C4F-85A5-E0DAF40F5577}"/>
                  </a:ext>
                </a:extLst>
              </p:cNvPr>
              <p:cNvSpPr/>
              <p:nvPr/>
            </p:nvSpPr>
            <p:spPr>
              <a:xfrm>
                <a:off x="5897391" y="6322737"/>
                <a:ext cx="1350113" cy="73816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FileScan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681A219A-08A6-7B46-A088-04C6A2698A74}"/>
                  </a:ext>
                </a:extLst>
              </p:cNvPr>
              <p:cNvSpPr/>
              <p:nvPr/>
            </p:nvSpPr>
            <p:spPr>
              <a:xfrm>
                <a:off x="6185705" y="3281037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87C9040-AA18-4840-A9B3-3CF80E4D8A51}"/>
                  </a:ext>
                </a:extLst>
              </p:cNvPr>
              <p:cNvSpPr/>
              <p:nvPr/>
            </p:nvSpPr>
            <p:spPr>
              <a:xfrm>
                <a:off x="7362461" y="6305264"/>
                <a:ext cx="1583197" cy="73816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9D0BA37B-52EF-7144-8804-857D93FCA538}"/>
                  </a:ext>
                </a:extLst>
              </p:cNvPr>
              <p:cNvSpPr/>
              <p:nvPr/>
            </p:nvSpPr>
            <p:spPr>
              <a:xfrm>
                <a:off x="6128881" y="1902822"/>
                <a:ext cx="1559235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F4E3DD-F142-F047-8093-81913B8A825A}"/>
                  </a:ext>
                </a:extLst>
              </p:cNvPr>
              <p:cNvCxnSpPr>
                <a:cxnSpLocks/>
                <a:stCxn id="31" idx="2"/>
                <a:endCxn id="29" idx="0"/>
              </p:cNvCxnSpPr>
              <p:nvPr/>
            </p:nvCxnSpPr>
            <p:spPr>
              <a:xfrm>
                <a:off x="6908498" y="2568719"/>
                <a:ext cx="3719" cy="712319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94F08E7-6429-AE4E-BE55-C70AAB0EDAAB}"/>
                  </a:ext>
                </a:extLst>
              </p:cNvPr>
              <p:cNvCxnSpPr>
                <a:cxnSpLocks/>
                <a:stCxn id="29" idx="2"/>
                <a:endCxn id="30" idx="0"/>
              </p:cNvCxnSpPr>
              <p:nvPr/>
            </p:nvCxnSpPr>
            <p:spPr>
              <a:xfrm>
                <a:off x="6912218" y="3946934"/>
                <a:ext cx="1241843" cy="235833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arrow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Can 22">
              <a:extLst>
                <a:ext uri="{FF2B5EF4-FFF2-40B4-BE49-F238E27FC236}">
                  <a16:creationId xmlns:a16="http://schemas.microsoft.com/office/drawing/2014/main" id="{DC122F3F-0A52-AC48-A62D-CE620AE3E2AE}"/>
                </a:ext>
              </a:extLst>
            </p:cNvPr>
            <p:cNvSpPr/>
            <p:nvPr/>
          </p:nvSpPr>
          <p:spPr>
            <a:xfrm>
              <a:off x="4156131" y="5834701"/>
              <a:ext cx="4121334" cy="949474"/>
            </a:xfrm>
            <a:prstGeom prst="can">
              <a:avLst>
                <a:gd name="adj" fmla="val 20978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8256BC-4A89-DF48-8DC8-286C097C9C3D}"/>
                </a:ext>
              </a:extLst>
            </p:cNvPr>
            <p:cNvSpPr txBox="1"/>
            <p:nvPr/>
          </p:nvSpPr>
          <p:spPr>
            <a:xfrm>
              <a:off x="5227298" y="6070929"/>
              <a:ext cx="28159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Table files, index files organized into pages/blocks </a:t>
              </a:r>
            </a:p>
          </p:txBody>
        </p:sp>
        <p:pic>
          <p:nvPicPr>
            <p:cNvPr id="25" name="Graphic 24" descr="Document outline">
              <a:extLst>
                <a:ext uri="{FF2B5EF4-FFF2-40B4-BE49-F238E27FC236}">
                  <a16:creationId xmlns:a16="http://schemas.microsoft.com/office/drawing/2014/main" id="{6517C940-F95B-C946-BA44-D3014CBE0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1544" y="5972032"/>
              <a:ext cx="649800" cy="649800"/>
            </a:xfrm>
            <a:prstGeom prst="rect">
              <a:avLst/>
            </a:prstGeom>
          </p:spPr>
        </p:pic>
        <p:pic>
          <p:nvPicPr>
            <p:cNvPr id="36" name="Graphic 35" descr="Document outline">
              <a:extLst>
                <a:ext uri="{FF2B5EF4-FFF2-40B4-BE49-F238E27FC236}">
                  <a16:creationId xmlns:a16="http://schemas.microsoft.com/office/drawing/2014/main" id="{9A22D5A3-67D9-AA43-B694-38C00DF98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0146" y="6105682"/>
              <a:ext cx="649800" cy="649800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79BAF2-8353-F74D-A0BD-FD501BAE640F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6116822" y="5481437"/>
              <a:ext cx="0" cy="429581"/>
            </a:xfrm>
            <a:prstGeom prst="line">
              <a:avLst/>
            </a:prstGeom>
            <a:ln w="190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3490A5C-6BDE-E94C-9F0E-B07266243D94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4643667" y="5494774"/>
              <a:ext cx="1" cy="435911"/>
            </a:xfrm>
            <a:prstGeom prst="line">
              <a:avLst/>
            </a:prstGeom>
            <a:ln w="190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AC5C2C-2EAD-4A4C-AFAD-1B60D34BD54B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7556769" y="5465758"/>
              <a:ext cx="1" cy="445260"/>
            </a:xfrm>
            <a:prstGeom prst="line">
              <a:avLst/>
            </a:prstGeom>
            <a:ln w="19050"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928C64-EFC7-CA44-8C61-C3D4607255BD}"/>
                </a:ext>
              </a:extLst>
            </p:cNvPr>
            <p:cNvSpPr txBox="1"/>
            <p:nvPr/>
          </p:nvSpPr>
          <p:spPr>
            <a:xfrm>
              <a:off x="4071582" y="6431032"/>
              <a:ext cx="649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Disk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2837B55-4673-5843-805D-3C63BF0395E6}"/>
              </a:ext>
            </a:extLst>
          </p:cNvPr>
          <p:cNvSpPr txBox="1"/>
          <p:nvPr/>
        </p:nvSpPr>
        <p:spPr>
          <a:xfrm>
            <a:off x="106924" y="770444"/>
            <a:ext cx="6410268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Tuples flow from leaves to root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Operators produce tables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 necessarily in full; can be in pieces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Several designs exist. Most popular choices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push vs pull (will not simulate)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materialized vs pipelined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iterator model (Volcano) vs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block-at-a-time</a:t>
            </a:r>
          </a:p>
        </p:txBody>
      </p:sp>
      <p:graphicFrame>
        <p:nvGraphicFramePr>
          <p:cNvPr id="46" name="Table 21">
            <a:extLst>
              <a:ext uri="{FF2B5EF4-FFF2-40B4-BE49-F238E27FC236}">
                <a16:creationId xmlns:a16="http://schemas.microsoft.com/office/drawing/2014/main" id="{8CDA752F-E7BC-C745-9EC4-17A63254E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206408"/>
              </p:ext>
            </p:extLst>
          </p:nvPr>
        </p:nvGraphicFramePr>
        <p:xfrm>
          <a:off x="3293373" y="5024839"/>
          <a:ext cx="159988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19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7496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150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512859"/>
                  </a:ext>
                </a:extLst>
              </a:tr>
            </a:tbl>
          </a:graphicData>
        </a:graphic>
      </p:graphicFrame>
      <p:graphicFrame>
        <p:nvGraphicFramePr>
          <p:cNvPr id="47" name="Table 21">
            <a:extLst>
              <a:ext uri="{FF2B5EF4-FFF2-40B4-BE49-F238E27FC236}">
                <a16:creationId xmlns:a16="http://schemas.microsoft.com/office/drawing/2014/main" id="{ABE7563E-7747-2E45-BD76-F27F26CBC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58395"/>
              </p:ext>
            </p:extLst>
          </p:nvPr>
        </p:nvGraphicFramePr>
        <p:xfrm>
          <a:off x="6887652" y="5424538"/>
          <a:ext cx="894398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662506"/>
                  </a:ext>
                </a:extLst>
              </a:tr>
            </a:tbl>
          </a:graphicData>
        </a:graphic>
      </p:graphicFrame>
      <p:graphicFrame>
        <p:nvGraphicFramePr>
          <p:cNvPr id="48" name="Table 21">
            <a:extLst>
              <a:ext uri="{FF2B5EF4-FFF2-40B4-BE49-F238E27FC236}">
                <a16:creationId xmlns:a16="http://schemas.microsoft.com/office/drawing/2014/main" id="{EB994D90-0B1D-1049-8B95-79D5810AF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65769"/>
              </p:ext>
            </p:extLst>
          </p:nvPr>
        </p:nvGraphicFramePr>
        <p:xfrm>
          <a:off x="8136591" y="5539591"/>
          <a:ext cx="997585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BookA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50" name="Table 21">
            <a:extLst>
              <a:ext uri="{FF2B5EF4-FFF2-40B4-BE49-F238E27FC236}">
                <a16:creationId xmlns:a16="http://schemas.microsoft.com/office/drawing/2014/main" id="{D0EE61DF-DD75-304C-9AAD-E448EB6B9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21110"/>
              </p:ext>
            </p:extLst>
          </p:nvPr>
        </p:nvGraphicFramePr>
        <p:xfrm>
          <a:off x="4955958" y="2945942"/>
          <a:ext cx="211772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19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7496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264152578"/>
                    </a:ext>
                  </a:extLst>
                </a:gridCol>
              </a:tblGrid>
              <a:tr h="1206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1206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664068"/>
                  </a:ext>
                </a:extLst>
              </a:tr>
            </a:tbl>
          </a:graphicData>
        </a:graphic>
      </p:graphicFrame>
      <p:graphicFrame>
        <p:nvGraphicFramePr>
          <p:cNvPr id="51" name="Table 21">
            <a:extLst>
              <a:ext uri="{FF2B5EF4-FFF2-40B4-BE49-F238E27FC236}">
                <a16:creationId xmlns:a16="http://schemas.microsoft.com/office/drawing/2014/main" id="{4A1155CC-64AB-F145-97F6-DFCE6F6C8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434736"/>
              </p:ext>
            </p:extLst>
          </p:nvPr>
        </p:nvGraphicFramePr>
        <p:xfrm>
          <a:off x="5599894" y="1414113"/>
          <a:ext cx="273875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19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7496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2650960286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264152578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1060064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$20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BookA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833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32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74 -0.00255 L -0.14826 -0.4923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9" y="-2449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73 -0.01134 L -0.10312 -0.2569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42" y="-1229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64 -0.03078 L 0.19253 -0.2206 " pathEditMode="relative" ptsTypes="AA">
                                      <p:cBhvr>
                                        <p:cTn id="3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 0.02871 L 0.07865 -0.1347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-817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02 -4.81481E-6 L -0.00989 -0.1296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6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Materialized vs Pipelined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73685" y="6588363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21</a:t>
            </a:fld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327E4E-3922-7746-8F74-69955608C4CA}"/>
              </a:ext>
            </a:extLst>
          </p:cNvPr>
          <p:cNvSpPr/>
          <p:nvPr/>
        </p:nvSpPr>
        <p:spPr>
          <a:xfrm>
            <a:off x="6338303" y="3540120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name=Alice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31C955-5605-7944-8A16-DBD0589A92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>
            <a:off x="6999740" y="4137609"/>
            <a:ext cx="0" cy="65205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B5727F-8F93-C841-93F7-E3E05C6B216A}"/>
              </a:ext>
            </a:extLst>
          </p:cNvPr>
          <p:cNvCxnSpPr>
            <a:cxnSpLocks/>
            <a:stCxn id="29" idx="2"/>
            <a:endCxn id="16" idx="0"/>
          </p:cNvCxnSpPr>
          <p:nvPr/>
        </p:nvCxnSpPr>
        <p:spPr>
          <a:xfrm>
            <a:off x="6999740" y="2951462"/>
            <a:ext cx="0" cy="58865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BB3CFC2-FCB1-1C4F-85A5-E0DAF40F5577}"/>
              </a:ext>
            </a:extLst>
          </p:cNvPr>
          <p:cNvSpPr/>
          <p:nvPr/>
        </p:nvSpPr>
        <p:spPr>
          <a:xfrm>
            <a:off x="6385149" y="4789665"/>
            <a:ext cx="1229182" cy="6623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FileScan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1A219A-08A6-7B46-A088-04C6A2698A74}"/>
              </a:ext>
            </a:extLst>
          </p:cNvPr>
          <p:cNvSpPr/>
          <p:nvPr/>
        </p:nvSpPr>
        <p:spPr>
          <a:xfrm>
            <a:off x="6338303" y="2353973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DC122F3F-0A52-AC48-A62D-CE620AE3E2AE}"/>
              </a:ext>
            </a:extLst>
          </p:cNvPr>
          <p:cNvSpPr/>
          <p:nvPr/>
        </p:nvSpPr>
        <p:spPr>
          <a:xfrm>
            <a:off x="5721420" y="5805262"/>
            <a:ext cx="2609779" cy="949474"/>
          </a:xfrm>
          <a:prstGeom prst="can">
            <a:avLst>
              <a:gd name="adj" fmla="val 19640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 descr="Document outline">
            <a:extLst>
              <a:ext uri="{FF2B5EF4-FFF2-40B4-BE49-F238E27FC236}">
                <a16:creationId xmlns:a16="http://schemas.microsoft.com/office/drawing/2014/main" id="{6517C940-F95B-C946-BA44-D3014CBE0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90" y="5965494"/>
            <a:ext cx="649800" cy="649800"/>
          </a:xfrm>
          <a:prstGeom prst="rect">
            <a:avLst/>
          </a:prstGeom>
        </p:spPr>
      </p:pic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9A22D5A3-67D9-AA43-B694-38C00DF98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1192" y="6099144"/>
            <a:ext cx="649800" cy="6498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79BAF2-8353-F74D-A0BD-FD501BAE640F}"/>
              </a:ext>
            </a:extLst>
          </p:cNvPr>
          <p:cNvCxnSpPr>
            <a:cxnSpLocks/>
            <a:stCxn id="28" idx="2"/>
            <a:endCxn id="23" idx="1"/>
          </p:cNvCxnSpPr>
          <p:nvPr/>
        </p:nvCxnSpPr>
        <p:spPr>
          <a:xfrm>
            <a:off x="6999740" y="5451995"/>
            <a:ext cx="0" cy="35326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2837B55-4673-5843-805D-3C63BF0395E6}"/>
              </a:ext>
            </a:extLst>
          </p:cNvPr>
          <p:cNvSpPr txBox="1"/>
          <p:nvPr/>
        </p:nvSpPr>
        <p:spPr>
          <a:xfrm>
            <a:off x="106924" y="770444"/>
            <a:ext cx="6410268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Materialized: All ops are “blocking”, i.e. materialize all their inputs to disk or temp. memory buffers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Simple to implement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Earlier DBMSs adopted materialization but now obsolete</a:t>
            </a:r>
          </a:p>
        </p:txBody>
      </p:sp>
      <p:graphicFrame>
        <p:nvGraphicFramePr>
          <p:cNvPr id="47" name="Table 21">
            <a:extLst>
              <a:ext uri="{FF2B5EF4-FFF2-40B4-BE49-F238E27FC236}">
                <a16:creationId xmlns:a16="http://schemas.microsoft.com/office/drawing/2014/main" id="{ABE7563E-7747-2E45-BD76-F27F26CBC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443562"/>
              </p:ext>
            </p:extLst>
          </p:nvPr>
        </p:nvGraphicFramePr>
        <p:xfrm>
          <a:off x="7614331" y="4619115"/>
          <a:ext cx="894398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662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74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65349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5DF6592-EF33-514C-9382-3EA282F1AF2A}"/>
              </a:ext>
            </a:extLst>
          </p:cNvPr>
          <p:cNvSpPr txBox="1"/>
          <p:nvPr/>
        </p:nvSpPr>
        <p:spPr>
          <a:xfrm>
            <a:off x="5634242" y="6379612"/>
            <a:ext cx="64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</a:p>
        </p:txBody>
      </p:sp>
      <p:pic>
        <p:nvPicPr>
          <p:cNvPr id="40" name="Graphic 39" descr="Document outline">
            <a:extLst>
              <a:ext uri="{FF2B5EF4-FFF2-40B4-BE49-F238E27FC236}">
                <a16:creationId xmlns:a16="http://schemas.microsoft.com/office/drawing/2014/main" id="{B98CAE2E-1019-E04D-831E-9D4006CD4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1939" y="5969706"/>
            <a:ext cx="543891" cy="5438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33E392-FF5C-DD42-8077-FFADF15E93B9}"/>
              </a:ext>
            </a:extLst>
          </p:cNvPr>
          <p:cNvSpPr txBox="1"/>
          <p:nvPr/>
        </p:nvSpPr>
        <p:spPr>
          <a:xfrm>
            <a:off x="7471811" y="6409188"/>
            <a:ext cx="80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tmp</a:t>
            </a:r>
            <a:endParaRPr lang="en-US" dirty="0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0255DEA-4E16-D84D-8639-67212ACBB001}"/>
              </a:ext>
            </a:extLst>
          </p:cNvPr>
          <p:cNvCxnSpPr>
            <a:stCxn id="16" idx="3"/>
          </p:cNvCxnSpPr>
          <p:nvPr/>
        </p:nvCxnSpPr>
        <p:spPr>
          <a:xfrm>
            <a:off x="7661177" y="3838865"/>
            <a:ext cx="337182" cy="223079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21">
            <a:extLst>
              <a:ext uri="{FF2B5EF4-FFF2-40B4-BE49-F238E27FC236}">
                <a16:creationId xmlns:a16="http://schemas.microsoft.com/office/drawing/2014/main" id="{E9451B2C-1509-104F-B4AD-26D27076E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06232"/>
              </p:ext>
            </p:extLst>
          </p:nvPr>
        </p:nvGraphicFramePr>
        <p:xfrm>
          <a:off x="7561458" y="3440448"/>
          <a:ext cx="894398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653490"/>
                  </a:ext>
                </a:extLst>
              </a:tr>
            </a:tbl>
          </a:graphicData>
        </a:graphic>
      </p:graphicFrame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454F5BF-9C91-FF4C-B89B-84ECA56A8149}"/>
              </a:ext>
            </a:extLst>
          </p:cNvPr>
          <p:cNvSpPr/>
          <p:nvPr/>
        </p:nvSpPr>
        <p:spPr>
          <a:xfrm>
            <a:off x="6338303" y="1176951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408832-1936-A14C-9CE4-1F596C11AB4D}"/>
              </a:ext>
            </a:extLst>
          </p:cNvPr>
          <p:cNvCxnSpPr>
            <a:cxnSpLocks/>
            <a:stCxn id="43" idx="2"/>
            <a:endCxn id="29" idx="0"/>
          </p:cNvCxnSpPr>
          <p:nvPr/>
        </p:nvCxnSpPr>
        <p:spPr>
          <a:xfrm>
            <a:off x="6999740" y="1774440"/>
            <a:ext cx="0" cy="57953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847CB0F7-3D95-694C-BA0F-5B396FFD2752}"/>
              </a:ext>
            </a:extLst>
          </p:cNvPr>
          <p:cNvCxnSpPr>
            <a:cxnSpLocks/>
          </p:cNvCxnSpPr>
          <p:nvPr/>
        </p:nvCxnSpPr>
        <p:spPr>
          <a:xfrm>
            <a:off x="7671475" y="2652716"/>
            <a:ext cx="337182" cy="34747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21">
            <a:extLst>
              <a:ext uri="{FF2B5EF4-FFF2-40B4-BE49-F238E27FC236}">
                <a16:creationId xmlns:a16="http://schemas.microsoft.com/office/drawing/2014/main" id="{E07B9B4F-3B08-8E4C-81B8-0F0F592FB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575408"/>
              </p:ext>
            </p:extLst>
          </p:nvPr>
        </p:nvGraphicFramePr>
        <p:xfrm>
          <a:off x="7611784" y="1873589"/>
          <a:ext cx="376555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65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29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5509 L -0.01719 -0.20717 " pathEditMode="relative" ptsTypes="AA">
                                      <p:cBhvr>
                                        <p:cTn id="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0.01621 L -0.00122 -0.16922 " pathEditMode="relative" ptsTypes="AA">
                                      <p:cBhvr>
                                        <p:cTn id="2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-1.38889E-6 -0.13078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Materialized vs Pipelined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544051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22</a:t>
            </a:fld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327E4E-3922-7746-8F74-69955608C4CA}"/>
              </a:ext>
            </a:extLst>
          </p:cNvPr>
          <p:cNvSpPr/>
          <p:nvPr/>
        </p:nvSpPr>
        <p:spPr>
          <a:xfrm>
            <a:off x="6871703" y="3540120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name=Alice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31C955-5605-7944-8A16-DBD0589A92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>
            <a:off x="7533140" y="4137609"/>
            <a:ext cx="0" cy="652056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B5727F-8F93-C841-93F7-E3E05C6B216A}"/>
              </a:ext>
            </a:extLst>
          </p:cNvPr>
          <p:cNvCxnSpPr>
            <a:cxnSpLocks/>
            <a:stCxn id="29" idx="2"/>
            <a:endCxn id="16" idx="0"/>
          </p:cNvCxnSpPr>
          <p:nvPr/>
        </p:nvCxnSpPr>
        <p:spPr>
          <a:xfrm>
            <a:off x="7533140" y="2951462"/>
            <a:ext cx="0" cy="58865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BB3CFC2-FCB1-1C4F-85A5-E0DAF40F5577}"/>
              </a:ext>
            </a:extLst>
          </p:cNvPr>
          <p:cNvSpPr/>
          <p:nvPr/>
        </p:nvSpPr>
        <p:spPr>
          <a:xfrm>
            <a:off x="6918549" y="4789665"/>
            <a:ext cx="1229182" cy="6623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FileScan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1A219A-08A6-7B46-A088-04C6A2698A74}"/>
              </a:ext>
            </a:extLst>
          </p:cNvPr>
          <p:cNvSpPr/>
          <p:nvPr/>
        </p:nvSpPr>
        <p:spPr>
          <a:xfrm>
            <a:off x="6871703" y="2353973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algn="ctr"/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DC122F3F-0A52-AC48-A62D-CE620AE3E2AE}"/>
              </a:ext>
            </a:extLst>
          </p:cNvPr>
          <p:cNvSpPr/>
          <p:nvPr/>
        </p:nvSpPr>
        <p:spPr>
          <a:xfrm>
            <a:off x="6254820" y="5805262"/>
            <a:ext cx="2609779" cy="949474"/>
          </a:xfrm>
          <a:prstGeom prst="can">
            <a:avLst>
              <a:gd name="adj" fmla="val 19640"/>
            </a:avLst>
          </a:prstGeom>
          <a:noFill/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 descr="Document outline">
            <a:extLst>
              <a:ext uri="{FF2B5EF4-FFF2-40B4-BE49-F238E27FC236}">
                <a16:creationId xmlns:a16="http://schemas.microsoft.com/office/drawing/2014/main" id="{6517C940-F95B-C946-BA44-D3014CBE0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990" y="5965494"/>
            <a:ext cx="649800" cy="649800"/>
          </a:xfrm>
          <a:prstGeom prst="rect">
            <a:avLst/>
          </a:prstGeom>
        </p:spPr>
      </p:pic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9A22D5A3-67D9-AA43-B694-38C00DF98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4592" y="6099144"/>
            <a:ext cx="649800" cy="6498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79BAF2-8353-F74D-A0BD-FD501BAE640F}"/>
              </a:ext>
            </a:extLst>
          </p:cNvPr>
          <p:cNvCxnSpPr>
            <a:cxnSpLocks/>
            <a:stCxn id="28" idx="2"/>
            <a:endCxn id="23" idx="1"/>
          </p:cNvCxnSpPr>
          <p:nvPr/>
        </p:nvCxnSpPr>
        <p:spPr>
          <a:xfrm>
            <a:off x="7533140" y="5451995"/>
            <a:ext cx="0" cy="35326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2837B55-4673-5843-805D-3C63BF0395E6}"/>
              </a:ext>
            </a:extLst>
          </p:cNvPr>
          <p:cNvSpPr txBox="1"/>
          <p:nvPr/>
        </p:nvSpPr>
        <p:spPr>
          <a:xfrm>
            <a:off x="106922" y="745044"/>
            <a:ext cx="6964655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Pipelined: When possible, ops take 1 or more tuples-at-a-time, process, and pass to parent ops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More efficient (avoids temp file writing, reading)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 always possible: e.g., ORDER BY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sort a table, cannot pipeline tuples. need to see all tuples before computing the order.</a:t>
            </a:r>
          </a:p>
        </p:txBody>
      </p:sp>
      <p:graphicFrame>
        <p:nvGraphicFramePr>
          <p:cNvPr id="47" name="Table 21">
            <a:extLst>
              <a:ext uri="{FF2B5EF4-FFF2-40B4-BE49-F238E27FC236}">
                <a16:creationId xmlns:a16="http://schemas.microsoft.com/office/drawing/2014/main" id="{ABE7563E-7747-2E45-BD76-F27F26CBC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61713"/>
              </p:ext>
            </p:extLst>
          </p:nvPr>
        </p:nvGraphicFramePr>
        <p:xfrm>
          <a:off x="8147731" y="4619115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5DF6592-EF33-514C-9382-3EA282F1AF2A}"/>
              </a:ext>
            </a:extLst>
          </p:cNvPr>
          <p:cNvSpPr txBox="1"/>
          <p:nvPr/>
        </p:nvSpPr>
        <p:spPr>
          <a:xfrm>
            <a:off x="6167642" y="6379612"/>
            <a:ext cx="64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</a:p>
        </p:txBody>
      </p:sp>
      <p:graphicFrame>
        <p:nvGraphicFramePr>
          <p:cNvPr id="42" name="Table 21">
            <a:extLst>
              <a:ext uri="{FF2B5EF4-FFF2-40B4-BE49-F238E27FC236}">
                <a16:creationId xmlns:a16="http://schemas.microsoft.com/office/drawing/2014/main" id="{E9451B2C-1509-104F-B4AD-26D27076E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522457"/>
              </p:ext>
            </p:extLst>
          </p:nvPr>
        </p:nvGraphicFramePr>
        <p:xfrm>
          <a:off x="8094858" y="3440448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454F5BF-9C91-FF4C-B89B-84ECA56A8149}"/>
              </a:ext>
            </a:extLst>
          </p:cNvPr>
          <p:cNvSpPr/>
          <p:nvPr/>
        </p:nvSpPr>
        <p:spPr>
          <a:xfrm>
            <a:off x="6871703" y="1176951"/>
            <a:ext cx="1322874" cy="59748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408832-1936-A14C-9CE4-1F596C11AB4D}"/>
              </a:ext>
            </a:extLst>
          </p:cNvPr>
          <p:cNvCxnSpPr>
            <a:cxnSpLocks/>
            <a:stCxn id="43" idx="2"/>
            <a:endCxn id="29" idx="0"/>
          </p:cNvCxnSpPr>
          <p:nvPr/>
        </p:nvCxnSpPr>
        <p:spPr>
          <a:xfrm>
            <a:off x="7533140" y="1774440"/>
            <a:ext cx="0" cy="57953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21">
            <a:extLst>
              <a:ext uri="{FF2B5EF4-FFF2-40B4-BE49-F238E27FC236}">
                <a16:creationId xmlns:a16="http://schemas.microsoft.com/office/drawing/2014/main" id="{E07B9B4F-3B08-8E4C-81B8-0F0F592FB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22865"/>
              </p:ext>
            </p:extLst>
          </p:nvPr>
        </p:nvGraphicFramePr>
        <p:xfrm>
          <a:off x="8142680" y="2191210"/>
          <a:ext cx="376555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30" name="Table 21">
            <a:extLst>
              <a:ext uri="{FF2B5EF4-FFF2-40B4-BE49-F238E27FC236}">
                <a16:creationId xmlns:a16="http://schemas.microsoft.com/office/drawing/2014/main" id="{0921E308-135E-3343-A72F-FB80DC37A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45287"/>
              </p:ext>
            </p:extLst>
          </p:nvPr>
        </p:nvGraphicFramePr>
        <p:xfrm>
          <a:off x="8142680" y="4620610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31" name="Table 21">
            <a:extLst>
              <a:ext uri="{FF2B5EF4-FFF2-40B4-BE49-F238E27FC236}">
                <a16:creationId xmlns:a16="http://schemas.microsoft.com/office/drawing/2014/main" id="{53BD808E-56B6-8C49-8AED-C86D779ED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80943"/>
              </p:ext>
            </p:extLst>
          </p:nvPr>
        </p:nvGraphicFramePr>
        <p:xfrm>
          <a:off x="8142680" y="4620856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385AA7A5-E48A-BE4D-A4FE-E7A49240C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15218"/>
              </p:ext>
            </p:extLst>
          </p:nvPr>
        </p:nvGraphicFramePr>
        <p:xfrm>
          <a:off x="8132997" y="4627207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33" name="Table 21">
            <a:extLst>
              <a:ext uri="{FF2B5EF4-FFF2-40B4-BE49-F238E27FC236}">
                <a16:creationId xmlns:a16="http://schemas.microsoft.com/office/drawing/2014/main" id="{13274814-DC98-FF4B-9150-0027E81A7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595796"/>
              </p:ext>
            </p:extLst>
          </p:nvPr>
        </p:nvGraphicFramePr>
        <p:xfrm>
          <a:off x="8094858" y="3446799"/>
          <a:ext cx="89439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graphicFrame>
        <p:nvGraphicFramePr>
          <p:cNvPr id="39" name="Table 21">
            <a:extLst>
              <a:ext uri="{FF2B5EF4-FFF2-40B4-BE49-F238E27FC236}">
                <a16:creationId xmlns:a16="http://schemas.microsoft.com/office/drawing/2014/main" id="{58DA4067-60E4-BF44-ACCF-0AACE9E3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44054"/>
              </p:ext>
            </p:extLst>
          </p:nvPr>
        </p:nvGraphicFramePr>
        <p:xfrm>
          <a:off x="8142680" y="2178510"/>
          <a:ext cx="376555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57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865 0.00486 L -0.02865 -0.1507 " pathEditMode="relative" ptsTypes="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0023 L -0.00625 -0.15486 " pathEditMode="relative" ptsTypes="AA">
                                      <p:cBhvr>
                                        <p:cTn id="1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85185E-6 L 2.5E-6 -0.1009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4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882 2.22045E-16 L -0.02882 -0.18218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12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83 2.22045E-16 L -0.0283 -0.1784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93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83 0.00023 L -0.0283 -0.1923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3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0.00024 L -0.00781 -0.19514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76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-0.00764 L 0.00399 -0.1224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741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Iterator Model vs Block-at-a-time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73685" y="6588363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23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DB9FE1-26C6-8747-819E-AD41E903E169}"/>
              </a:ext>
            </a:extLst>
          </p:cNvPr>
          <p:cNvGrpSpPr/>
          <p:nvPr/>
        </p:nvGrpSpPr>
        <p:grpSpPr>
          <a:xfrm>
            <a:off x="4781550" y="823810"/>
            <a:ext cx="4248390" cy="5947115"/>
            <a:chOff x="4029075" y="853249"/>
            <a:chExt cx="4248390" cy="594711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7CE1167-C2E8-6441-9976-ACA2614269E2}"/>
                </a:ext>
              </a:extLst>
            </p:cNvPr>
            <p:cNvGrpSpPr/>
            <p:nvPr/>
          </p:nvGrpSpPr>
          <p:grpSpPr>
            <a:xfrm>
              <a:off x="4029075" y="853249"/>
              <a:ext cx="4248390" cy="4641525"/>
              <a:chOff x="4279307" y="1902822"/>
              <a:chExt cx="4666351" cy="5172942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8327E4E-3922-7746-8F74-69955608C4CA}"/>
                  </a:ext>
                </a:extLst>
              </p:cNvPr>
              <p:cNvSpPr/>
              <p:nvPr/>
            </p:nvSpPr>
            <p:spPr>
              <a:xfrm>
                <a:off x="5119424" y="4930130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L.cid</a:t>
                </a:r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R.cid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C6A6EBA5-90C6-4A45-81A6-0C556E1A93D2}"/>
                  </a:ext>
                </a:extLst>
              </p:cNvPr>
              <p:cNvSpPr/>
              <p:nvPr/>
            </p:nvSpPr>
            <p:spPr>
              <a:xfrm>
                <a:off x="4279307" y="6337598"/>
                <a:ext cx="1350113" cy="73816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FileScan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3912510-4A01-464A-82AC-3303BD719B1F}"/>
                  </a:ext>
                </a:extLst>
              </p:cNvPr>
              <p:cNvCxnSpPr>
                <a:cxnSpLocks/>
                <a:stCxn id="16" idx="2"/>
                <a:endCxn id="17" idx="0"/>
              </p:cNvCxnSpPr>
              <p:nvPr/>
            </p:nvCxnSpPr>
            <p:spPr>
              <a:xfrm flipH="1">
                <a:off x="4954364" y="5596026"/>
                <a:ext cx="891571" cy="74157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F31C955-5605-7944-8A16-DBD0589A9266}"/>
                  </a:ext>
                </a:extLst>
              </p:cNvPr>
              <p:cNvCxnSpPr>
                <a:cxnSpLocks/>
                <a:stCxn id="16" idx="2"/>
                <a:endCxn id="28" idx="0"/>
              </p:cNvCxnSpPr>
              <p:nvPr/>
            </p:nvCxnSpPr>
            <p:spPr>
              <a:xfrm>
                <a:off x="5845936" y="5596027"/>
                <a:ext cx="726513" cy="72671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7B5727F-8F93-C841-93F7-E3E05C6B216A}"/>
                  </a:ext>
                </a:extLst>
              </p:cNvPr>
              <p:cNvCxnSpPr>
                <a:cxnSpLocks/>
                <a:stCxn id="29" idx="2"/>
                <a:endCxn id="16" idx="0"/>
              </p:cNvCxnSpPr>
              <p:nvPr/>
            </p:nvCxnSpPr>
            <p:spPr>
              <a:xfrm flipH="1">
                <a:off x="5845936" y="3840779"/>
                <a:ext cx="1066282" cy="108935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BB3CFC2-FCB1-1C4F-85A5-E0DAF40F5577}"/>
                  </a:ext>
                </a:extLst>
              </p:cNvPr>
              <p:cNvSpPr/>
              <p:nvPr/>
            </p:nvSpPr>
            <p:spPr>
              <a:xfrm>
                <a:off x="5897391" y="6322737"/>
                <a:ext cx="1350113" cy="73816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FileScan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681A219A-08A6-7B46-A088-04C6A2698A74}"/>
                  </a:ext>
                </a:extLst>
              </p:cNvPr>
              <p:cNvSpPr/>
              <p:nvPr/>
            </p:nvSpPr>
            <p:spPr>
              <a:xfrm>
                <a:off x="6185706" y="3174882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87C9040-AA18-4840-A9B3-3CF80E4D8A51}"/>
                  </a:ext>
                </a:extLst>
              </p:cNvPr>
              <p:cNvSpPr/>
              <p:nvPr/>
            </p:nvSpPr>
            <p:spPr>
              <a:xfrm>
                <a:off x="7362461" y="6305264"/>
                <a:ext cx="1583197" cy="73816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IndexScan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9D0BA37B-52EF-7144-8804-857D93FCA538}"/>
                  </a:ext>
                </a:extLst>
              </p:cNvPr>
              <p:cNvSpPr/>
              <p:nvPr/>
            </p:nvSpPr>
            <p:spPr>
              <a:xfrm>
                <a:off x="6128881" y="1902822"/>
                <a:ext cx="1559235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5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F4E3DD-F142-F047-8093-81913B8A825A}"/>
                  </a:ext>
                </a:extLst>
              </p:cNvPr>
              <p:cNvCxnSpPr>
                <a:cxnSpLocks/>
                <a:stCxn id="31" idx="2"/>
                <a:endCxn id="29" idx="0"/>
              </p:cNvCxnSpPr>
              <p:nvPr/>
            </p:nvCxnSpPr>
            <p:spPr>
              <a:xfrm>
                <a:off x="6908499" y="2568719"/>
                <a:ext cx="3719" cy="606163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94F08E7-6429-AE4E-BE55-C70AAB0EDAAB}"/>
                  </a:ext>
                </a:extLst>
              </p:cNvPr>
              <p:cNvCxnSpPr>
                <a:cxnSpLocks/>
                <a:stCxn id="29" idx="2"/>
                <a:endCxn id="30" idx="0"/>
              </p:cNvCxnSpPr>
              <p:nvPr/>
            </p:nvCxnSpPr>
            <p:spPr>
              <a:xfrm>
                <a:off x="6912218" y="3840779"/>
                <a:ext cx="1241843" cy="246448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Can 22">
              <a:extLst>
                <a:ext uri="{FF2B5EF4-FFF2-40B4-BE49-F238E27FC236}">
                  <a16:creationId xmlns:a16="http://schemas.microsoft.com/office/drawing/2014/main" id="{DC122F3F-0A52-AC48-A62D-CE620AE3E2AE}"/>
                </a:ext>
              </a:extLst>
            </p:cNvPr>
            <p:cNvSpPr/>
            <p:nvPr/>
          </p:nvSpPr>
          <p:spPr>
            <a:xfrm>
              <a:off x="4156131" y="5834701"/>
              <a:ext cx="4121334" cy="949474"/>
            </a:xfrm>
            <a:prstGeom prst="can">
              <a:avLst>
                <a:gd name="adj" fmla="val 20978"/>
              </a:avLst>
            </a:prstGeom>
            <a:noFill/>
            <a:ln w="349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8256BC-4A89-DF48-8DC8-286C097C9C3D}"/>
                </a:ext>
              </a:extLst>
            </p:cNvPr>
            <p:cNvSpPr txBox="1"/>
            <p:nvPr/>
          </p:nvSpPr>
          <p:spPr>
            <a:xfrm>
              <a:off x="5227298" y="6070929"/>
              <a:ext cx="28159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Table files, index files organized into pages/blocks </a:t>
              </a:r>
            </a:p>
          </p:txBody>
        </p:sp>
        <p:pic>
          <p:nvPicPr>
            <p:cNvPr id="25" name="Graphic 24" descr="Document outline">
              <a:extLst>
                <a:ext uri="{FF2B5EF4-FFF2-40B4-BE49-F238E27FC236}">
                  <a16:creationId xmlns:a16="http://schemas.microsoft.com/office/drawing/2014/main" id="{6517C940-F95B-C946-BA44-D3014CBE0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1544" y="5972032"/>
              <a:ext cx="649800" cy="649800"/>
            </a:xfrm>
            <a:prstGeom prst="rect">
              <a:avLst/>
            </a:prstGeom>
          </p:spPr>
        </p:pic>
        <p:pic>
          <p:nvPicPr>
            <p:cNvPr id="36" name="Graphic 35" descr="Document outline">
              <a:extLst>
                <a:ext uri="{FF2B5EF4-FFF2-40B4-BE49-F238E27FC236}">
                  <a16:creationId xmlns:a16="http://schemas.microsoft.com/office/drawing/2014/main" id="{9A22D5A3-67D9-AA43-B694-38C00DF98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0146" y="6105682"/>
              <a:ext cx="649800" cy="649800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79BAF2-8353-F74D-A0BD-FD501BAE640F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6116822" y="5481437"/>
              <a:ext cx="0" cy="429581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3490A5C-6BDE-E94C-9F0E-B07266243D94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4643667" y="5494774"/>
              <a:ext cx="1" cy="435911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AC5C2C-2EAD-4A4C-AFAD-1B60D34BD54B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7556769" y="5465758"/>
              <a:ext cx="1" cy="44526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928C64-EFC7-CA44-8C61-C3D4607255BD}"/>
                </a:ext>
              </a:extLst>
            </p:cNvPr>
            <p:cNvSpPr txBox="1"/>
            <p:nvPr/>
          </p:nvSpPr>
          <p:spPr>
            <a:xfrm>
              <a:off x="4071582" y="6431032"/>
              <a:ext cx="649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Disk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2837B55-4673-5843-805D-3C63BF0395E6}"/>
              </a:ext>
            </a:extLst>
          </p:cNvPr>
          <p:cNvSpPr txBox="1"/>
          <p:nvPr/>
        </p:nvSpPr>
        <p:spPr>
          <a:xfrm>
            <a:off x="106924" y="770444"/>
            <a:ext cx="6502793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Iterator Model (by Goetz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Graefe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1990)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Pull data from children “one tuple a a time”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E.g.: PostgreSQL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Block-at-a-time: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Pull data many, e.g., 1024, tuples at a time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CPU utilization b/c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fewer function calls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66B3F7-6343-B040-A2FC-0ACB1193DCC3}"/>
              </a:ext>
            </a:extLst>
          </p:cNvPr>
          <p:cNvSpPr txBox="1"/>
          <p:nvPr/>
        </p:nvSpPr>
        <p:spPr>
          <a:xfrm>
            <a:off x="0" y="6058502"/>
            <a:ext cx="38217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Main architect of first version of MS SQL Server</a:t>
            </a:r>
          </a:p>
        </p:txBody>
      </p:sp>
      <p:pic>
        <p:nvPicPr>
          <p:cNvPr id="6" name="Picture 5" descr="A picture containing person, person, indoor, standing&#10;&#10;Description automatically generated">
            <a:extLst>
              <a:ext uri="{FF2B5EF4-FFF2-40B4-BE49-F238E27FC236}">
                <a16:creationId xmlns:a16="http://schemas.microsoft.com/office/drawing/2014/main" id="{74D35935-1B7F-D440-B7F6-CFE0B2D9C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824" y="4352739"/>
            <a:ext cx="1229186" cy="161137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73A7F44-8650-4848-9494-7782C30638C6}"/>
              </a:ext>
            </a:extLst>
          </p:cNvPr>
          <p:cNvSpPr txBox="1"/>
          <p:nvPr/>
        </p:nvSpPr>
        <p:spPr>
          <a:xfrm>
            <a:off x="9276" y="4793365"/>
            <a:ext cx="16026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Goetz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Graefe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15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Costs of Query Processing Algorithms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algorithm analysis often “runtime”, i.e., # CPU cycles is the metric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DBMSs, most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(but not all) are linear time or almost-linear time (i.e., with O(log(|R|)) factors) in terms of runtime.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Will use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cost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analyze the main algorithms because DBMSs are disk-based systems.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Disclaimer 1: Simplification to study the general behavior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Disclaimer 2: All of the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we describe are integrated in many systems and have scenarios when one is used over the other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5624659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Given operator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processing 1 or 2 tables (e.g., scan or join)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Recall: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runs in memory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64C444-3B3A-D147-A3C7-A57640F310A3}"/>
              </a:ext>
            </a:extLst>
          </p:cNvPr>
          <p:cNvSpPr txBox="1">
            <a:spLocks/>
          </p:cNvSpPr>
          <p:nvPr/>
        </p:nvSpPr>
        <p:spPr>
          <a:xfrm>
            <a:off x="6629400" y="684968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C99FA5-7995-46A9-A97E-16E38AD5895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F4D2F8-6CD9-8D4E-B5E9-963FD3F1F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17" y="1949719"/>
            <a:ext cx="2743200" cy="1586531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2A452FC1-2724-8142-BBBC-A36557D2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317" y="3764850"/>
            <a:ext cx="3657600" cy="2015095"/>
          </a:xfrm>
          <a:prstGeom prst="can">
            <a:avLst>
              <a:gd name="adj" fmla="val 25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/>
              <a:t>Disk</a:t>
            </a:r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5689CB35-2025-A647-A492-B9D6A783B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0117" y="3536251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27736-3CFF-0E4D-9D40-290A6AB938FC}"/>
              </a:ext>
            </a:extLst>
          </p:cNvPr>
          <p:cNvSpPr txBox="1"/>
          <p:nvPr/>
        </p:nvSpPr>
        <p:spPr>
          <a:xfrm>
            <a:off x="5070863" y="4542117"/>
            <a:ext cx="648395" cy="9233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en-US" sz="1800" dirty="0"/>
              <a:t>1</a:t>
            </a:r>
          </a:p>
          <a:p>
            <a:r>
              <a:rPr lang="en-US" dirty="0"/>
              <a:t>c</a:t>
            </a:r>
            <a:r>
              <a:rPr lang="en-US" sz="1800" dirty="0"/>
              <a:t>2</a:t>
            </a:r>
          </a:p>
          <a:p>
            <a:r>
              <a:rPr lang="en-US" dirty="0"/>
              <a:t>…</a:t>
            </a:r>
            <a:r>
              <a:rPr lang="en-US" sz="1800" dirty="0"/>
              <a:t> </a:t>
            </a:r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C9ED7-A952-4344-AC6D-E795F815EE28}"/>
              </a:ext>
            </a:extLst>
          </p:cNvPr>
          <p:cNvSpPr txBox="1"/>
          <p:nvPr/>
        </p:nvSpPr>
        <p:spPr>
          <a:xfrm>
            <a:off x="7041551" y="4542117"/>
            <a:ext cx="1022459" cy="9233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o</a:t>
            </a:r>
            <a:r>
              <a:rPr lang="en-US" sz="1800" dirty="0"/>
              <a:t>1</a:t>
            </a:r>
            <a:br>
              <a:rPr lang="en-US" sz="1800" dirty="0"/>
            </a:br>
            <a:r>
              <a:rPr lang="en-US" dirty="0"/>
              <a:t>o</a:t>
            </a:r>
            <a:r>
              <a:rPr lang="en-US" sz="1800" dirty="0"/>
              <a:t>2</a:t>
            </a:r>
          </a:p>
          <a:p>
            <a:r>
              <a:rPr lang="en-US" sz="1800" dirty="0"/>
              <a:t>…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F61F793-C248-F94E-B482-422A949432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058035"/>
              </p:ext>
            </p:extLst>
          </p:nvPr>
        </p:nvGraphicFramePr>
        <p:xfrm>
          <a:off x="6879679" y="2075575"/>
          <a:ext cx="772279" cy="13747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72279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c1, 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c3,c4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445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29A9AC8-8CFA-1848-AEDB-62B1FB1F2DE2}"/>
              </a:ext>
            </a:extLst>
          </p:cNvPr>
          <p:cNvSpPr txBox="1"/>
          <p:nvPr/>
        </p:nvSpPr>
        <p:spPr>
          <a:xfrm>
            <a:off x="7045704" y="4243151"/>
            <a:ext cx="1014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A7EC4-F8FD-1348-9868-CA20461DD0A3}"/>
              </a:ext>
            </a:extLst>
          </p:cNvPr>
          <p:cNvSpPr txBox="1"/>
          <p:nvPr/>
        </p:nvSpPr>
        <p:spPr>
          <a:xfrm>
            <a:off x="5070863" y="4243151"/>
            <a:ext cx="71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AA225-4E2B-EE4A-9508-6B1DA6A1DF8A}"/>
              </a:ext>
            </a:extLst>
          </p:cNvPr>
          <p:cNvSpPr txBox="1"/>
          <p:nvPr/>
        </p:nvSpPr>
        <p:spPr>
          <a:xfrm>
            <a:off x="1170884" y="2738087"/>
            <a:ext cx="417420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Customer, Order where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Customer.cid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Order.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peech Bubble: Rectangle 25">
                <a:extLst>
                  <a:ext uri="{FF2B5EF4-FFF2-40B4-BE49-F238E27FC236}">
                    <a16:creationId xmlns:a16="http://schemas.microsoft.com/office/drawing/2014/main" id="{520DD17C-3A23-474A-ADA2-764E2FAF9750}"/>
                  </a:ext>
                </a:extLst>
              </p:cNvPr>
              <p:cNvSpPr/>
              <p:nvPr/>
            </p:nvSpPr>
            <p:spPr>
              <a:xfrm>
                <a:off x="5953433" y="1039808"/>
                <a:ext cx="2423155" cy="760428"/>
              </a:xfrm>
              <a:prstGeom prst="wedgeRectCallout">
                <a:avLst>
                  <a:gd name="adj1" fmla="val 2838"/>
                  <a:gd name="adj2" fmla="val 94027"/>
                </a:avLst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# memory blocks (frames) available: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𝑀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Speech Bubble: Rectangle 25">
                <a:extLst>
                  <a:ext uri="{FF2B5EF4-FFF2-40B4-BE49-F238E27FC236}">
                    <a16:creationId xmlns:a16="http://schemas.microsoft.com/office/drawing/2014/main" id="{520DD17C-3A23-474A-ADA2-764E2FAF9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433" y="1039808"/>
                <a:ext cx="2423155" cy="760428"/>
              </a:xfrm>
              <a:prstGeom prst="wedgeRectCallout">
                <a:avLst>
                  <a:gd name="adj1" fmla="val 2838"/>
                  <a:gd name="adj2" fmla="val 9402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26">
                <a:extLst>
                  <a:ext uri="{FF2B5EF4-FFF2-40B4-BE49-F238E27FC236}">
                    <a16:creationId xmlns:a16="http://schemas.microsoft.com/office/drawing/2014/main" id="{00CC649A-C9C6-3849-9383-6E07E66EAF19}"/>
                  </a:ext>
                </a:extLst>
              </p:cNvPr>
              <p:cNvSpPr/>
              <p:nvPr/>
            </p:nvSpPr>
            <p:spPr>
              <a:xfrm>
                <a:off x="391567" y="5313614"/>
                <a:ext cx="4174202" cy="1379912"/>
              </a:xfrm>
              <a:prstGeom prst="wedgeRectCallout">
                <a:avLst>
                  <a:gd name="adj1" fmla="val 56245"/>
                  <a:gd name="adj2" fmla="val -52312"/>
                </a:avLst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rows for a table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𝐶𝑢𝑠𝑡𝑜𝑚𝑒𝑟</m:t>
                        </m:r>
                      </m:e>
                    </m: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disk blocks for a table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/>
                        </a:rPr>
                        <m:t>𝐵</m:t>
                      </m:r>
                      <m:d>
                        <m:dPr>
                          <m:ctrlP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𝐶𝑢𝑠𝑡𝑜𝑚𝑒𝑟</m:t>
                          </m:r>
                        </m:e>
                      </m:d>
                      <m:r>
                        <a:rPr lang="en-CA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CA" b="0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𝐶𝑢𝑠𝑡𝑜𝑚𝑒𝑟</m:t>
                              </m:r>
                            </m:e>
                          </m:d>
                        </m:num>
                        <m:den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𝑟𝑜𝑤𝑠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𝑝𝑒𝑟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𝑏𝑙𝑜𝑐𝑘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Speech Bubble: Rectangle 26">
                <a:extLst>
                  <a:ext uri="{FF2B5EF4-FFF2-40B4-BE49-F238E27FC236}">
                    <a16:creationId xmlns:a16="http://schemas.microsoft.com/office/drawing/2014/main" id="{00CC649A-C9C6-3849-9383-6E07E66EA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7" y="5313614"/>
                <a:ext cx="4174202" cy="1379912"/>
              </a:xfrm>
              <a:prstGeom prst="wedgeRectCallout">
                <a:avLst>
                  <a:gd name="adj1" fmla="val 56245"/>
                  <a:gd name="adj2" fmla="val -52312"/>
                </a:avLst>
              </a:prstGeom>
              <a:blipFill>
                <a:blip r:embed="rId4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67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4" grpId="0"/>
      <p:bldP spid="15" grpId="0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78" y="758856"/>
                <a:ext cx="9127921" cy="559749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Relations: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200" i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Tuples: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sz="2200" i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tuples: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disk blocks: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row-oriented physical design (i.e., all column values of tuples are in the page/block)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memory blocks available: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2"/>
                        </a:solidFill>
                        <a:latin typeface="Cambria Math"/>
                      </a:rPr>
                      <m:t>𝑀</m:t>
                    </m:r>
                  </m:oMath>
                </a14:m>
                <a:endParaRPr lang="en-US" sz="2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Cost metric: # I/O’s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sometimes # memory blocks required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78" y="758856"/>
                <a:ext cx="9127921" cy="5597493"/>
              </a:xfrm>
              <a:blipFill>
                <a:blip r:embed="rId4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5F2FA-A7B4-E744-8321-2485E0F51338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D6045E-90CD-6F43-95C3-439F303CE3FD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9901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6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79" y="807082"/>
                <a:ext cx="7191054" cy="4525963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Scan table </a:t>
                </a:r>
                <a:r>
                  <a:rPr lang="en-US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optionally perform a: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Selection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over 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Projection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without duplicate elimination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6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6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Optimization for selection: 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Stop early if it is a lookup by key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requirement: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(blocks)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1 for input, 1 for buffer output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Increasing memory does not improve I/O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Not counting I/O cost (if any), of writing the result out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Same for any algorithm!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79" y="807082"/>
                <a:ext cx="7191054" cy="4525963"/>
              </a:xfrm>
              <a:blipFill>
                <a:blip r:embed="rId4"/>
                <a:stretch>
                  <a:fillRect l="-1235" t="-1117" b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27B97FE-4E6C-4201-B756-96E0BC857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7753" y="2745970"/>
            <a:ext cx="2011681" cy="2015095"/>
          </a:xfrm>
          <a:prstGeom prst="can">
            <a:avLst>
              <a:gd name="adj" fmla="val 25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/>
              <a:t>Disk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dirty="0"/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dirty="0"/>
          </a:p>
          <a:p>
            <a:pPr algn="ctr">
              <a:spcBef>
                <a:spcPct val="0"/>
              </a:spcBef>
              <a:buFontTx/>
              <a:buNone/>
            </a:pPr>
            <a:endParaRPr lang="en-US" dirty="0"/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dirty="0"/>
          </a:p>
          <a:p>
            <a:pPr algn="ctr">
              <a:spcBef>
                <a:spcPct val="0"/>
              </a:spcBef>
              <a:buFontTx/>
              <a:buNone/>
            </a:pPr>
            <a:endParaRPr lang="en-US" dirty="0"/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dirty="0"/>
          </a:p>
        </p:txBody>
      </p:sp>
      <p:sp>
        <p:nvSpPr>
          <p:cNvPr id="6" name="Line 17">
            <a:extLst>
              <a:ext uri="{FF2B5EF4-FFF2-40B4-BE49-F238E27FC236}">
                <a16:creationId xmlns:a16="http://schemas.microsoft.com/office/drawing/2014/main" id="{F0A0290C-43E9-4222-A29E-0B6670FC6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1784" y="235804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AD933-8F2D-4AF4-BBC4-1CEFE140E10A}"/>
              </a:ext>
            </a:extLst>
          </p:cNvPr>
          <p:cNvSpPr txBox="1"/>
          <p:nvPr/>
        </p:nvSpPr>
        <p:spPr>
          <a:xfrm>
            <a:off x="7697586" y="3408937"/>
            <a:ext cx="64839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sz="1800" dirty="0"/>
              <a:t>1 r2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8D3B4-490E-4108-A1B5-00AAA676D2BE}"/>
              </a:ext>
            </a:extLst>
          </p:cNvPr>
          <p:cNvSpPr txBox="1"/>
          <p:nvPr/>
        </p:nvSpPr>
        <p:spPr>
          <a:xfrm>
            <a:off x="8302338" y="3368958"/>
            <a:ext cx="71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C9D11-47B9-4E69-8E55-184625D93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829" y="1456854"/>
            <a:ext cx="1047405" cy="106051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/>
              <a:t>Memory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dirty="0"/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dirty="0"/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5620D4-68A2-4D57-A227-A6BAC8EC3584}"/>
              </a:ext>
            </a:extLst>
          </p:cNvPr>
          <p:cNvSpPr txBox="1"/>
          <p:nvPr/>
        </p:nvSpPr>
        <p:spPr>
          <a:xfrm>
            <a:off x="7697586" y="3802130"/>
            <a:ext cx="64839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r3 r4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AD80D8-6F30-47D6-B674-F877AA6528DE}"/>
              </a:ext>
            </a:extLst>
          </p:cNvPr>
          <p:cNvSpPr txBox="1"/>
          <p:nvPr/>
        </p:nvSpPr>
        <p:spPr>
          <a:xfrm>
            <a:off x="7697585" y="4187010"/>
            <a:ext cx="648395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….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29E32C-E0B6-41B3-ACAD-F2ABF73C6BED}"/>
              </a:ext>
            </a:extLst>
          </p:cNvPr>
          <p:cNvSpPr txBox="1"/>
          <p:nvPr/>
        </p:nvSpPr>
        <p:spPr>
          <a:xfrm>
            <a:off x="7697584" y="1691864"/>
            <a:ext cx="6483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sz="1800" dirty="0"/>
              <a:t>1 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6562B0-8A5D-40F4-88B7-82EEEB86FE20}"/>
              </a:ext>
            </a:extLst>
          </p:cNvPr>
          <p:cNvSpPr txBox="1"/>
          <p:nvPr/>
        </p:nvSpPr>
        <p:spPr>
          <a:xfrm>
            <a:off x="7697583" y="2045155"/>
            <a:ext cx="648395" cy="369332"/>
          </a:xfrm>
          <a:prstGeom prst="rect">
            <a:avLst/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sz="1800" dirty="0"/>
              <a:t>1 r2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ED14E574-66F6-4C7D-B51D-C6BD568BBA85}"/>
              </a:ext>
            </a:extLst>
          </p:cNvPr>
          <p:cNvSpPr/>
          <p:nvPr/>
        </p:nvSpPr>
        <p:spPr>
          <a:xfrm>
            <a:off x="5925934" y="1064029"/>
            <a:ext cx="1535779" cy="448640"/>
          </a:xfrm>
          <a:prstGeom prst="wedgeRectCallout">
            <a:avLst>
              <a:gd name="adj1" fmla="val 60213"/>
              <a:gd name="adj2" fmla="val 10699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Buffer output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16EC0D54-1D0F-4D8C-BE4F-A3CF2E13FF38}"/>
              </a:ext>
            </a:extLst>
          </p:cNvPr>
          <p:cNvSpPr/>
          <p:nvPr/>
        </p:nvSpPr>
        <p:spPr>
          <a:xfrm>
            <a:off x="5925933" y="1836876"/>
            <a:ext cx="1535779" cy="448640"/>
          </a:xfrm>
          <a:prstGeom prst="wedgeRectCallout">
            <a:avLst>
              <a:gd name="adj1" fmla="val 64002"/>
              <a:gd name="adj2" fmla="val 3658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 for input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35074-135A-A642-9109-3E7D4C4B9CA8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Table Scan Operators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256DA3-80C9-A94C-AE87-6AB2CE0D9713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8505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79" y="758856"/>
                <a:ext cx="9250584" cy="6099144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Takes 2 tables as inputs and implements: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Basic/Naive version: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for each block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and </a:t>
                </a:r>
                <a:r>
                  <a:rPr lang="en-US" sz="22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in the block:</a:t>
                </a:r>
                <a:b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en-US" sz="22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for each block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, and for each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in the block:</a:t>
                </a:r>
                <a:br>
                  <a:rPr lang="en-US" sz="22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  output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𝑟𝑠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evaluates to true over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𝑠</m:t>
                    </m:r>
                  </m:oMath>
                </a14:m>
                <a:endParaRPr lang="en-US" sz="2200" i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the </a:t>
                </a:r>
                <a:r>
                  <a:rPr lang="en-US" sz="2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outer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table;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the </a:t>
                </a:r>
                <a:r>
                  <a:rPr lang="en-US" sz="2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inner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table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600" i="1" dirty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600" i="1" dirty="0">
                        <a:solidFill>
                          <a:srgbClr val="C00000"/>
                        </a:solidFill>
                        <a:latin typeface="Cambria Math"/>
                      </a:rPr>
                      <m:t>⋅</m:t>
                    </m:r>
                    <m:r>
                      <a:rPr lang="en-US" sz="2600" i="1" dirty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6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endParaRPr lang="en-US" sz="26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requirement: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This is a terribly slow algorithm: has quadratic runtime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But when is it necessary?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doing Cartesian product-like operations, e.g., “difficult” join conditions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 * FROM R, P WHERE sqrt(R.A * S.B) &gt; 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79" y="758856"/>
                <a:ext cx="9250584" cy="6099144"/>
              </a:xfrm>
              <a:blipFill>
                <a:blip r:embed="rId4"/>
                <a:stretch>
                  <a:fillRect l="-1097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C44F2FF-C64D-4054-8F30-56AB4A58BAB4}"/>
              </a:ext>
            </a:extLst>
          </p:cNvPr>
          <p:cNvSpPr/>
          <p:nvPr/>
        </p:nvSpPr>
        <p:spPr>
          <a:xfrm>
            <a:off x="580503" y="3667043"/>
            <a:ext cx="2677739" cy="806335"/>
          </a:xfrm>
          <a:prstGeom prst="wedgeRectCallout">
            <a:avLst>
              <a:gd name="adj1" fmla="val -5496"/>
              <a:gd name="adj2" fmla="val -6345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Blocks of R are moved into memory only once</a:t>
            </a: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9E80371D-F5DF-4D5F-BA12-E6371939F88A}"/>
              </a:ext>
            </a:extLst>
          </p:cNvPr>
          <p:cNvSpPr/>
          <p:nvPr/>
        </p:nvSpPr>
        <p:spPr>
          <a:xfrm>
            <a:off x="3584499" y="3667043"/>
            <a:ext cx="3666431" cy="806335"/>
          </a:xfrm>
          <a:prstGeom prst="wedgeRectCallout">
            <a:avLst>
              <a:gd name="adj1" fmla="val -56718"/>
              <a:gd name="adj2" fmla="val -665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Blocks of S are moved into memory with |R| number of times</a:t>
            </a: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D3E59-CF86-AB4F-8AE4-B25D42194C50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Nested-loop Join Operator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143DA4-79E6-4049-ADFC-F8CC795E3681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AE5B254-BC67-D241-9081-35C26D020C4C}"/>
              </a:ext>
            </a:extLst>
          </p:cNvPr>
          <p:cNvSpPr txBox="1"/>
          <p:nvPr/>
        </p:nvSpPr>
        <p:spPr>
          <a:xfrm>
            <a:off x="6847272" y="2885098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Note: No other operation except table scan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26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A577-F527-4BA9-9BDE-534E3FBD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7566D1-44EA-4C61-AC0B-26153693E1B0}"/>
              </a:ext>
            </a:extLst>
          </p:cNvPr>
          <p:cNvGraphicFramePr>
            <a:graphicFrameLocks/>
          </p:cNvGraphicFramePr>
          <p:nvPr/>
        </p:nvGraphicFramePr>
        <p:xfrm>
          <a:off x="1078936" y="2014244"/>
          <a:ext cx="673100" cy="91651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FFE64-D933-473D-BD90-FA51145300C5}"/>
              </a:ext>
            </a:extLst>
          </p:cNvPr>
          <p:cNvGraphicFramePr>
            <a:graphicFrameLocks/>
          </p:cNvGraphicFramePr>
          <p:nvPr/>
        </p:nvGraphicFramePr>
        <p:xfrm>
          <a:off x="1034486" y="3540125"/>
          <a:ext cx="673100" cy="13747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445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32D329-F098-45E9-8E74-C7B97064E9D0}"/>
              </a:ext>
            </a:extLst>
          </p:cNvPr>
          <p:cNvGraphicFramePr>
            <a:graphicFrameLocks/>
          </p:cNvGraphicFramePr>
          <p:nvPr/>
        </p:nvGraphicFramePr>
        <p:xfrm>
          <a:off x="22493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</a:t>
                      </a:r>
                      <a:r>
                        <a:rPr lang="en-CA" b="0" dirty="0"/>
                        <a:t>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EDE64C4-3B58-4D9B-B95B-649CB0DDBE68}"/>
              </a:ext>
            </a:extLst>
          </p:cNvPr>
          <p:cNvSpPr/>
          <p:nvPr/>
        </p:nvSpPr>
        <p:spPr>
          <a:xfrm>
            <a:off x="2070100" y="1955800"/>
            <a:ext cx="45719" cy="2959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359BAB-2875-48C4-86F5-8D32A3D34CD9}"/>
              </a:ext>
            </a:extLst>
          </p:cNvPr>
          <p:cNvGraphicFramePr>
            <a:graphicFrameLocks/>
          </p:cNvGraphicFramePr>
          <p:nvPr/>
        </p:nvGraphicFramePr>
        <p:xfrm>
          <a:off x="2268396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5F7F62-6AA9-492C-833D-DAF0D10E7ED5}"/>
              </a:ext>
            </a:extLst>
          </p:cNvPr>
          <p:cNvGraphicFramePr>
            <a:graphicFrameLocks/>
          </p:cNvGraphicFramePr>
          <p:nvPr/>
        </p:nvGraphicFramePr>
        <p:xfrm>
          <a:off x="2268396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2C86CCC-8350-42EE-811F-6D03433C596E}"/>
              </a:ext>
            </a:extLst>
          </p:cNvPr>
          <p:cNvGraphicFramePr>
            <a:graphicFrameLocks/>
          </p:cNvGraphicFramePr>
          <p:nvPr/>
        </p:nvGraphicFramePr>
        <p:xfrm>
          <a:off x="29986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</a:t>
                      </a:r>
                      <a:r>
                        <a:rPr lang="en-CA" b="0" dirty="0"/>
                        <a:t>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31BC575-8ABF-47EE-B04D-4DD8CDED61DC}"/>
              </a:ext>
            </a:extLst>
          </p:cNvPr>
          <p:cNvGraphicFramePr>
            <a:graphicFrameLocks/>
          </p:cNvGraphicFramePr>
          <p:nvPr/>
        </p:nvGraphicFramePr>
        <p:xfrm>
          <a:off x="3017696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F0C82C9-BDAA-4BC3-B321-90AB35EFD2FA}"/>
              </a:ext>
            </a:extLst>
          </p:cNvPr>
          <p:cNvGraphicFramePr>
            <a:graphicFrameLocks/>
          </p:cNvGraphicFramePr>
          <p:nvPr/>
        </p:nvGraphicFramePr>
        <p:xfrm>
          <a:off x="3017696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6A307DB-E658-4578-A3CA-839650D73A5B}"/>
              </a:ext>
            </a:extLst>
          </p:cNvPr>
          <p:cNvGraphicFramePr>
            <a:graphicFrameLocks/>
          </p:cNvGraphicFramePr>
          <p:nvPr/>
        </p:nvGraphicFramePr>
        <p:xfrm>
          <a:off x="3809683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</a:t>
                      </a:r>
                      <a:r>
                        <a:rPr lang="en-CA" b="0" dirty="0"/>
                        <a:t>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EDB30A-007A-46FB-8CAD-C8DBBBECB2F4}"/>
              </a:ext>
            </a:extLst>
          </p:cNvPr>
          <p:cNvGraphicFramePr>
            <a:graphicFrameLocks/>
          </p:cNvGraphicFramePr>
          <p:nvPr/>
        </p:nvGraphicFramePr>
        <p:xfrm>
          <a:off x="3828733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71A6ED2-EF9B-4370-9D0B-D49A3BC12440}"/>
              </a:ext>
            </a:extLst>
          </p:cNvPr>
          <p:cNvGraphicFramePr>
            <a:graphicFrameLocks/>
          </p:cNvGraphicFramePr>
          <p:nvPr/>
        </p:nvGraphicFramePr>
        <p:xfrm>
          <a:off x="3828733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645DAA2-28B1-44F1-BDF6-D0A43F3D7CEE}"/>
              </a:ext>
            </a:extLst>
          </p:cNvPr>
          <p:cNvGraphicFramePr>
            <a:graphicFrameLocks/>
          </p:cNvGraphicFramePr>
          <p:nvPr/>
        </p:nvGraphicFramePr>
        <p:xfrm>
          <a:off x="4639770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r1</a:t>
                      </a:r>
                      <a:r>
                        <a:rPr lang="en-CA" b="0" dirty="0"/>
                        <a:t>,</a:t>
                      </a:r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96B7B96-1515-4756-ABCC-CB530DE892CE}"/>
              </a:ext>
            </a:extLst>
          </p:cNvPr>
          <p:cNvGraphicFramePr>
            <a:graphicFrameLocks/>
          </p:cNvGraphicFramePr>
          <p:nvPr/>
        </p:nvGraphicFramePr>
        <p:xfrm>
          <a:off x="4658820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E1B8E5F-9542-4BDD-A20A-243221499EE8}"/>
              </a:ext>
            </a:extLst>
          </p:cNvPr>
          <p:cNvGraphicFramePr>
            <a:graphicFrameLocks/>
          </p:cNvGraphicFramePr>
          <p:nvPr/>
        </p:nvGraphicFramePr>
        <p:xfrm>
          <a:off x="4658820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8F0AB63-FC76-4DCC-8374-549805AF0E1D}"/>
              </a:ext>
            </a:extLst>
          </p:cNvPr>
          <p:cNvGraphicFramePr>
            <a:graphicFrameLocks/>
          </p:cNvGraphicFramePr>
          <p:nvPr/>
        </p:nvGraphicFramePr>
        <p:xfrm>
          <a:off x="5389070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r1</a:t>
                      </a:r>
                      <a:r>
                        <a:rPr lang="en-CA" b="0" dirty="0"/>
                        <a:t>,</a:t>
                      </a:r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205CE65-3E60-450F-BBF6-82810B35C763}"/>
              </a:ext>
            </a:extLst>
          </p:cNvPr>
          <p:cNvGraphicFramePr>
            <a:graphicFrameLocks/>
          </p:cNvGraphicFramePr>
          <p:nvPr/>
        </p:nvGraphicFramePr>
        <p:xfrm>
          <a:off x="5408120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48CB0BF-AF60-4589-98D9-7262AC995E56}"/>
              </a:ext>
            </a:extLst>
          </p:cNvPr>
          <p:cNvGraphicFramePr>
            <a:graphicFrameLocks/>
          </p:cNvGraphicFramePr>
          <p:nvPr/>
        </p:nvGraphicFramePr>
        <p:xfrm>
          <a:off x="5408120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8A5C6CB-7307-4FE5-BE0B-A1EB40653856}"/>
              </a:ext>
            </a:extLst>
          </p:cNvPr>
          <p:cNvGraphicFramePr>
            <a:graphicFrameLocks/>
          </p:cNvGraphicFramePr>
          <p:nvPr/>
        </p:nvGraphicFramePr>
        <p:xfrm>
          <a:off x="6200107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r1</a:t>
                      </a:r>
                      <a:r>
                        <a:rPr lang="en-CA" b="0" dirty="0"/>
                        <a:t>,</a:t>
                      </a:r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44D534C-3109-4FC1-9C72-B4D175132D62}"/>
              </a:ext>
            </a:extLst>
          </p:cNvPr>
          <p:cNvGraphicFramePr>
            <a:graphicFrameLocks/>
          </p:cNvGraphicFramePr>
          <p:nvPr/>
        </p:nvGraphicFramePr>
        <p:xfrm>
          <a:off x="6219157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08CEFFB-5833-4C09-8722-0C9FD5C3558B}"/>
              </a:ext>
            </a:extLst>
          </p:cNvPr>
          <p:cNvGraphicFramePr>
            <a:graphicFrameLocks/>
          </p:cNvGraphicFramePr>
          <p:nvPr/>
        </p:nvGraphicFramePr>
        <p:xfrm>
          <a:off x="6219157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94DF8585-497F-497C-BE51-A4B5FAFFC995}"/>
              </a:ext>
            </a:extLst>
          </p:cNvPr>
          <p:cNvSpPr/>
          <p:nvPr/>
        </p:nvSpPr>
        <p:spPr>
          <a:xfrm>
            <a:off x="2922446" y="29307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BD74D15-4D4A-455C-A481-64FA45CD741B}"/>
              </a:ext>
            </a:extLst>
          </p:cNvPr>
          <p:cNvSpPr/>
          <p:nvPr/>
        </p:nvSpPr>
        <p:spPr>
          <a:xfrm>
            <a:off x="3703496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4B2756B-0148-4863-9514-77AC2753B2C6}"/>
              </a:ext>
            </a:extLst>
          </p:cNvPr>
          <p:cNvSpPr/>
          <p:nvPr/>
        </p:nvSpPr>
        <p:spPr>
          <a:xfrm>
            <a:off x="4541696" y="292441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257D30B-03AA-46D4-BAEB-28AA8DD5B08C}"/>
              </a:ext>
            </a:extLst>
          </p:cNvPr>
          <p:cNvSpPr/>
          <p:nvPr/>
        </p:nvSpPr>
        <p:spPr>
          <a:xfrm>
            <a:off x="5335446" y="29307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84539B6-48D2-4B28-8BBC-350943EC1149}"/>
              </a:ext>
            </a:extLst>
          </p:cNvPr>
          <p:cNvSpPr/>
          <p:nvPr/>
        </p:nvSpPr>
        <p:spPr>
          <a:xfrm>
            <a:off x="6097446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0E9D63E-129B-4731-85D5-B7EB7FD3B086}"/>
              </a:ext>
            </a:extLst>
          </p:cNvPr>
          <p:cNvGraphicFramePr>
            <a:graphicFrameLocks/>
          </p:cNvGraphicFramePr>
          <p:nvPr/>
        </p:nvGraphicFramePr>
        <p:xfrm>
          <a:off x="6951884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</a:t>
                      </a:r>
                      <a:r>
                        <a:rPr lang="en-CA" b="0" dirty="0"/>
                        <a:t>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8D4EA34-CC93-410B-8C71-E0136CF5DB95}"/>
              </a:ext>
            </a:extLst>
          </p:cNvPr>
          <p:cNvGraphicFramePr>
            <a:graphicFrameLocks/>
          </p:cNvGraphicFramePr>
          <p:nvPr/>
        </p:nvGraphicFramePr>
        <p:xfrm>
          <a:off x="6970934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BCA71DA-6145-488A-8724-BDB779C23755}"/>
              </a:ext>
            </a:extLst>
          </p:cNvPr>
          <p:cNvGraphicFramePr>
            <a:graphicFrameLocks/>
          </p:cNvGraphicFramePr>
          <p:nvPr/>
        </p:nvGraphicFramePr>
        <p:xfrm>
          <a:off x="6970934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D421B01-CC75-4E76-A4F4-176A0C7FCD81}"/>
              </a:ext>
            </a:extLst>
          </p:cNvPr>
          <p:cNvGraphicFramePr>
            <a:graphicFrameLocks/>
          </p:cNvGraphicFramePr>
          <p:nvPr/>
        </p:nvGraphicFramePr>
        <p:xfrm>
          <a:off x="7701184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</a:t>
                      </a:r>
                      <a:r>
                        <a:rPr lang="en-CA" b="0" dirty="0"/>
                        <a:t>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EB19101-216C-4A24-AF13-9F3D18E4ABFD}"/>
              </a:ext>
            </a:extLst>
          </p:cNvPr>
          <p:cNvGraphicFramePr>
            <a:graphicFrameLocks/>
          </p:cNvGraphicFramePr>
          <p:nvPr/>
        </p:nvGraphicFramePr>
        <p:xfrm>
          <a:off x="7720234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BA8E26A-3C9C-4D58-9CAC-C851AFFABDBF}"/>
              </a:ext>
            </a:extLst>
          </p:cNvPr>
          <p:cNvGraphicFramePr>
            <a:graphicFrameLocks/>
          </p:cNvGraphicFramePr>
          <p:nvPr/>
        </p:nvGraphicFramePr>
        <p:xfrm>
          <a:off x="7720234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EAAB461-289E-4FDA-A3BA-4C37DF1839FA}"/>
              </a:ext>
            </a:extLst>
          </p:cNvPr>
          <p:cNvGraphicFramePr>
            <a:graphicFrameLocks/>
          </p:cNvGraphicFramePr>
          <p:nvPr/>
        </p:nvGraphicFramePr>
        <p:xfrm>
          <a:off x="8512221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</a:t>
                      </a:r>
                      <a:r>
                        <a:rPr lang="en-CA" b="0" dirty="0"/>
                        <a:t>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F2D0FD0-58C2-4E08-B7D9-4F3944DED210}"/>
              </a:ext>
            </a:extLst>
          </p:cNvPr>
          <p:cNvGraphicFramePr>
            <a:graphicFrameLocks/>
          </p:cNvGraphicFramePr>
          <p:nvPr/>
        </p:nvGraphicFramePr>
        <p:xfrm>
          <a:off x="8531271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BF03955-A280-4539-8B04-A202D2096C1D}"/>
              </a:ext>
            </a:extLst>
          </p:cNvPr>
          <p:cNvGraphicFramePr>
            <a:graphicFrameLocks/>
          </p:cNvGraphicFramePr>
          <p:nvPr/>
        </p:nvGraphicFramePr>
        <p:xfrm>
          <a:off x="8531271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45" name="Arrow: Right 44">
            <a:extLst>
              <a:ext uri="{FF2B5EF4-FFF2-40B4-BE49-F238E27FC236}">
                <a16:creationId xmlns:a16="http://schemas.microsoft.com/office/drawing/2014/main" id="{D8C82E79-9939-4442-94F0-BA86ECE32CAD}"/>
              </a:ext>
            </a:extLst>
          </p:cNvPr>
          <p:cNvSpPr/>
          <p:nvPr/>
        </p:nvSpPr>
        <p:spPr>
          <a:xfrm>
            <a:off x="7624984" y="29307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3180DE57-A18D-4F95-9BB6-49AA04BF642C}"/>
              </a:ext>
            </a:extLst>
          </p:cNvPr>
          <p:cNvSpPr/>
          <p:nvPr/>
        </p:nvSpPr>
        <p:spPr>
          <a:xfrm>
            <a:off x="8406034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C8E2DEA-13B5-4C18-8673-80948332C300}"/>
              </a:ext>
            </a:extLst>
          </p:cNvPr>
          <p:cNvSpPr/>
          <p:nvPr/>
        </p:nvSpPr>
        <p:spPr>
          <a:xfrm>
            <a:off x="6891196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EAE12AFE-975E-4539-9EB2-0C4C36389F22}"/>
              </a:ext>
            </a:extLst>
          </p:cNvPr>
          <p:cNvSpPr/>
          <p:nvPr/>
        </p:nvSpPr>
        <p:spPr>
          <a:xfrm>
            <a:off x="6878813" y="2256483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0" name="Callout: Line 49">
            <a:extLst>
              <a:ext uri="{FF2B5EF4-FFF2-40B4-BE49-F238E27FC236}">
                <a16:creationId xmlns:a16="http://schemas.microsoft.com/office/drawing/2014/main" id="{4E5D93E1-9B6D-498C-AD0B-6B9C03ED83B9}"/>
              </a:ext>
            </a:extLst>
          </p:cNvPr>
          <p:cNvSpPr/>
          <p:nvPr/>
        </p:nvSpPr>
        <p:spPr>
          <a:xfrm>
            <a:off x="2755845" y="4528258"/>
            <a:ext cx="3054349" cy="687325"/>
          </a:xfrm>
          <a:prstGeom prst="borderCallout1">
            <a:avLst>
              <a:gd name="adj1" fmla="val 6740"/>
              <a:gd name="adj2" fmla="val 3102"/>
              <a:gd name="adj3" fmla="val -143880"/>
              <a:gd name="adj4" fmla="val -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Only compares (r1,s1), (r1,s2) </a:t>
            </a:r>
          </a:p>
        </p:txBody>
      </p:sp>
      <p:sp>
        <p:nvSpPr>
          <p:cNvPr id="47" name="AutoShape 7">
            <a:extLst>
              <a:ext uri="{FF2B5EF4-FFF2-40B4-BE49-F238E27FC236}">
                <a16:creationId xmlns:a16="http://schemas.microsoft.com/office/drawing/2014/main" id="{7BA815EA-0185-4AA0-A320-0C7A6118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82" y="1831111"/>
            <a:ext cx="1391761" cy="3418027"/>
          </a:xfrm>
          <a:prstGeom prst="can">
            <a:avLst>
              <a:gd name="adj" fmla="val 945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2F9D9A5-1926-4EEC-B216-8F8B8CD1C960}"/>
              </a:ext>
            </a:extLst>
          </p:cNvPr>
          <p:cNvSpPr/>
          <p:nvPr/>
        </p:nvSpPr>
        <p:spPr>
          <a:xfrm>
            <a:off x="2359593" y="3816351"/>
            <a:ext cx="6921572" cy="3566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Time 1       2              3               4               5             6             7             8         9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CE5820-C2CE-7D43-8F13-25AA6EF3BE4E}"/>
              </a:ext>
            </a:extLst>
          </p:cNvPr>
          <p:cNvSpPr txBox="1"/>
          <p:nvPr/>
        </p:nvSpPr>
        <p:spPr>
          <a:xfrm>
            <a:off x="16079" y="64300"/>
            <a:ext cx="768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Simulation of Basic Nested-loop Join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A41082-A179-7747-830E-77F1734ACBCE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1771066-BCD9-8E42-8708-2C28AE4D52E5}"/>
              </a:ext>
            </a:extLst>
          </p:cNvPr>
          <p:cNvSpPr txBox="1"/>
          <p:nvPr/>
        </p:nvSpPr>
        <p:spPr>
          <a:xfrm>
            <a:off x="83452" y="773927"/>
            <a:ext cx="90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1 block = 2 tuples, 3 blocks of memory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E8426A-2B15-BF41-B387-42533A243525}"/>
              </a:ext>
            </a:extLst>
          </p:cNvPr>
          <p:cNvSpPr txBox="1"/>
          <p:nvPr/>
        </p:nvSpPr>
        <p:spPr>
          <a:xfrm>
            <a:off x="101813" y="5509417"/>
            <a:ext cx="9060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Number of I/O:  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	B(R) + |R| </a:t>
            </a:r>
            <a:r>
              <a:rPr lang="en-CA" sz="2400">
                <a:latin typeface="Arial" panose="020B0604020202020204" pitchFamily="34" charset="0"/>
                <a:cs typeface="Arial" panose="020B0604020202020204" pitchFamily="34" charset="0"/>
              </a:rPr>
              <a:t>* B(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CA" sz="24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= 2 blocks + 4 * 3 blocks = 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6BF484-9DCC-F241-8F3A-8F978F103F3C}"/>
              </a:ext>
            </a:extLst>
          </p:cNvPr>
          <p:cNvSpPr txBox="1"/>
          <p:nvPr/>
        </p:nvSpPr>
        <p:spPr>
          <a:xfrm>
            <a:off x="550388" y="1922961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A18DEF-B147-0E40-B4D1-8F8E9E5803BD}"/>
              </a:ext>
            </a:extLst>
          </p:cNvPr>
          <p:cNvSpPr txBox="1"/>
          <p:nvPr/>
        </p:nvSpPr>
        <p:spPr>
          <a:xfrm>
            <a:off x="507268" y="3485356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527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867859"/>
            <a:ext cx="90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Improvement: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block-based nested-loop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Block-Nested-loop join Operator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2E0116-D91F-0D45-ACB1-A61E9AF64622}"/>
                  </a:ext>
                </a:extLst>
              </p:cNvPr>
              <p:cNvSpPr txBox="1"/>
              <p:nvPr/>
            </p:nvSpPr>
            <p:spPr>
              <a:xfrm>
                <a:off x="41726" y="1562477"/>
                <a:ext cx="906054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for </a:t>
                </a:r>
                <a:r>
                  <a:rPr lang="en-US" sz="22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each block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, for each block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:</a:t>
                </a:r>
                <a:br>
                  <a:rPr lang="en-US" sz="220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for each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in the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block, for each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in the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block:  </a:t>
                </a:r>
              </a:p>
              <a:p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2E0116-D91F-0D45-ACB1-A61E9AF64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6" y="1562477"/>
                <a:ext cx="9060548" cy="1107996"/>
              </a:xfrm>
              <a:prstGeom prst="rect">
                <a:avLst/>
              </a:prstGeom>
              <a:blipFill>
                <a:blip r:embed="rId4"/>
                <a:stretch>
                  <a:fillRect l="-840" t="-2247" r="-1401" b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0DD0C-5A62-FB4E-9AFD-0788E9442ED0}"/>
                  </a:ext>
                </a:extLst>
              </p:cNvPr>
              <p:cNvSpPr txBox="1"/>
              <p:nvPr/>
            </p:nvSpPr>
            <p:spPr>
              <a:xfrm>
                <a:off x="0" y="2868690"/>
                <a:ext cx="9060548" cy="1131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requirement: same as before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40DD0C-5A62-FB4E-9AFD-0788E9442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68690"/>
                <a:ext cx="9060548" cy="1131848"/>
              </a:xfrm>
              <a:prstGeom prst="rect">
                <a:avLst/>
              </a:prstGeom>
              <a:blipFill>
                <a:blip r:embed="rId5"/>
                <a:stretch>
                  <a:fillRect l="-980" b="-12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49166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A577-F527-4BA9-9BDE-534E3FBD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7566D1-44EA-4C61-AC0B-26153693E1B0}"/>
              </a:ext>
            </a:extLst>
          </p:cNvPr>
          <p:cNvGraphicFramePr>
            <a:graphicFrameLocks/>
          </p:cNvGraphicFramePr>
          <p:nvPr/>
        </p:nvGraphicFramePr>
        <p:xfrm>
          <a:off x="1078936" y="2014244"/>
          <a:ext cx="673100" cy="91651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FFE64-D933-473D-BD90-FA51145300C5}"/>
              </a:ext>
            </a:extLst>
          </p:cNvPr>
          <p:cNvGraphicFramePr>
            <a:graphicFrameLocks/>
          </p:cNvGraphicFramePr>
          <p:nvPr/>
        </p:nvGraphicFramePr>
        <p:xfrm>
          <a:off x="1034486" y="3540125"/>
          <a:ext cx="673100" cy="13747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445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32D329-F098-45E9-8E74-C7B97064E9D0}"/>
              </a:ext>
            </a:extLst>
          </p:cNvPr>
          <p:cNvGraphicFramePr>
            <a:graphicFrameLocks/>
          </p:cNvGraphicFramePr>
          <p:nvPr/>
        </p:nvGraphicFramePr>
        <p:xfrm>
          <a:off x="22493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EDE64C4-3B58-4D9B-B95B-649CB0DDBE68}"/>
              </a:ext>
            </a:extLst>
          </p:cNvPr>
          <p:cNvSpPr/>
          <p:nvPr/>
        </p:nvSpPr>
        <p:spPr>
          <a:xfrm>
            <a:off x="2070100" y="1955800"/>
            <a:ext cx="45719" cy="2959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359BAB-2875-48C4-86F5-8D32A3D34CD9}"/>
              </a:ext>
            </a:extLst>
          </p:cNvPr>
          <p:cNvGraphicFramePr>
            <a:graphicFrameLocks/>
          </p:cNvGraphicFramePr>
          <p:nvPr/>
        </p:nvGraphicFramePr>
        <p:xfrm>
          <a:off x="2268396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5F7F62-6AA9-492C-833D-DAF0D10E7ED5}"/>
              </a:ext>
            </a:extLst>
          </p:cNvPr>
          <p:cNvGraphicFramePr>
            <a:graphicFrameLocks/>
          </p:cNvGraphicFramePr>
          <p:nvPr/>
        </p:nvGraphicFramePr>
        <p:xfrm>
          <a:off x="2268396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2C86CCC-8350-42EE-811F-6D03433C596E}"/>
              </a:ext>
            </a:extLst>
          </p:cNvPr>
          <p:cNvGraphicFramePr>
            <a:graphicFrameLocks/>
          </p:cNvGraphicFramePr>
          <p:nvPr/>
        </p:nvGraphicFramePr>
        <p:xfrm>
          <a:off x="29986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31BC575-8ABF-47EE-B04D-4DD8CDED61DC}"/>
              </a:ext>
            </a:extLst>
          </p:cNvPr>
          <p:cNvGraphicFramePr>
            <a:graphicFrameLocks/>
          </p:cNvGraphicFramePr>
          <p:nvPr/>
        </p:nvGraphicFramePr>
        <p:xfrm>
          <a:off x="3017696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F0C82C9-BDAA-4BC3-B321-90AB35EFD2FA}"/>
              </a:ext>
            </a:extLst>
          </p:cNvPr>
          <p:cNvGraphicFramePr>
            <a:graphicFrameLocks/>
          </p:cNvGraphicFramePr>
          <p:nvPr/>
        </p:nvGraphicFramePr>
        <p:xfrm>
          <a:off x="3017696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6A307DB-E658-4578-A3CA-839650D73A5B}"/>
              </a:ext>
            </a:extLst>
          </p:cNvPr>
          <p:cNvGraphicFramePr>
            <a:graphicFrameLocks/>
          </p:cNvGraphicFramePr>
          <p:nvPr/>
        </p:nvGraphicFramePr>
        <p:xfrm>
          <a:off x="3809683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EDB30A-007A-46FB-8CAD-C8DBBBECB2F4}"/>
              </a:ext>
            </a:extLst>
          </p:cNvPr>
          <p:cNvGraphicFramePr>
            <a:graphicFrameLocks/>
          </p:cNvGraphicFramePr>
          <p:nvPr/>
        </p:nvGraphicFramePr>
        <p:xfrm>
          <a:off x="3828733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71A6ED2-EF9B-4370-9D0B-D49A3BC12440}"/>
              </a:ext>
            </a:extLst>
          </p:cNvPr>
          <p:cNvGraphicFramePr>
            <a:graphicFrameLocks/>
          </p:cNvGraphicFramePr>
          <p:nvPr/>
        </p:nvGraphicFramePr>
        <p:xfrm>
          <a:off x="3828733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645DAA2-28B1-44F1-BDF6-D0A43F3D7CEE}"/>
              </a:ext>
            </a:extLst>
          </p:cNvPr>
          <p:cNvGraphicFramePr>
            <a:graphicFrameLocks/>
          </p:cNvGraphicFramePr>
          <p:nvPr/>
        </p:nvGraphicFramePr>
        <p:xfrm>
          <a:off x="4639770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96B7B96-1515-4756-ABCC-CB530DE892CE}"/>
              </a:ext>
            </a:extLst>
          </p:cNvPr>
          <p:cNvGraphicFramePr>
            <a:graphicFrameLocks/>
          </p:cNvGraphicFramePr>
          <p:nvPr/>
        </p:nvGraphicFramePr>
        <p:xfrm>
          <a:off x="4658820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E1B8E5F-9542-4BDD-A20A-243221499EE8}"/>
              </a:ext>
            </a:extLst>
          </p:cNvPr>
          <p:cNvGraphicFramePr>
            <a:graphicFrameLocks/>
          </p:cNvGraphicFramePr>
          <p:nvPr/>
        </p:nvGraphicFramePr>
        <p:xfrm>
          <a:off x="4658820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8F0AB63-FC76-4DCC-8374-549805AF0E1D}"/>
              </a:ext>
            </a:extLst>
          </p:cNvPr>
          <p:cNvGraphicFramePr>
            <a:graphicFrameLocks/>
          </p:cNvGraphicFramePr>
          <p:nvPr/>
        </p:nvGraphicFramePr>
        <p:xfrm>
          <a:off x="5389070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205CE65-3E60-450F-BBF6-82810B35C763}"/>
              </a:ext>
            </a:extLst>
          </p:cNvPr>
          <p:cNvGraphicFramePr>
            <a:graphicFrameLocks/>
          </p:cNvGraphicFramePr>
          <p:nvPr/>
        </p:nvGraphicFramePr>
        <p:xfrm>
          <a:off x="5408120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48CB0BF-AF60-4589-98D9-7262AC995E56}"/>
              </a:ext>
            </a:extLst>
          </p:cNvPr>
          <p:cNvGraphicFramePr>
            <a:graphicFrameLocks/>
          </p:cNvGraphicFramePr>
          <p:nvPr/>
        </p:nvGraphicFramePr>
        <p:xfrm>
          <a:off x="5408120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8A5C6CB-7307-4FE5-BE0B-A1EB40653856}"/>
              </a:ext>
            </a:extLst>
          </p:cNvPr>
          <p:cNvGraphicFramePr>
            <a:graphicFrameLocks/>
          </p:cNvGraphicFramePr>
          <p:nvPr/>
        </p:nvGraphicFramePr>
        <p:xfrm>
          <a:off x="6200107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44D534C-3109-4FC1-9C72-B4D175132D62}"/>
              </a:ext>
            </a:extLst>
          </p:cNvPr>
          <p:cNvGraphicFramePr>
            <a:graphicFrameLocks/>
          </p:cNvGraphicFramePr>
          <p:nvPr/>
        </p:nvGraphicFramePr>
        <p:xfrm>
          <a:off x="6219157" y="266194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08CEFFB-5833-4C09-8722-0C9FD5C3558B}"/>
              </a:ext>
            </a:extLst>
          </p:cNvPr>
          <p:cNvGraphicFramePr>
            <a:graphicFrameLocks/>
          </p:cNvGraphicFramePr>
          <p:nvPr/>
        </p:nvGraphicFramePr>
        <p:xfrm>
          <a:off x="6219157" y="3251136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94DF8585-497F-497C-BE51-A4B5FAFFC995}"/>
              </a:ext>
            </a:extLst>
          </p:cNvPr>
          <p:cNvSpPr/>
          <p:nvPr/>
        </p:nvSpPr>
        <p:spPr>
          <a:xfrm>
            <a:off x="2922446" y="29307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BD74D15-4D4A-455C-A481-64FA45CD741B}"/>
              </a:ext>
            </a:extLst>
          </p:cNvPr>
          <p:cNvSpPr/>
          <p:nvPr/>
        </p:nvSpPr>
        <p:spPr>
          <a:xfrm>
            <a:off x="3703496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4B2756B-0148-4863-9514-77AC2753B2C6}"/>
              </a:ext>
            </a:extLst>
          </p:cNvPr>
          <p:cNvSpPr/>
          <p:nvPr/>
        </p:nvSpPr>
        <p:spPr>
          <a:xfrm>
            <a:off x="4541696" y="292441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257D30B-03AA-46D4-BAEB-28AA8DD5B08C}"/>
              </a:ext>
            </a:extLst>
          </p:cNvPr>
          <p:cNvSpPr/>
          <p:nvPr/>
        </p:nvSpPr>
        <p:spPr>
          <a:xfrm>
            <a:off x="5335446" y="29307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84539B6-48D2-4B28-8BBC-350943EC1149}"/>
              </a:ext>
            </a:extLst>
          </p:cNvPr>
          <p:cNvSpPr/>
          <p:nvPr/>
        </p:nvSpPr>
        <p:spPr>
          <a:xfrm>
            <a:off x="6097446" y="291806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9" name="Callout: Line 48">
            <a:extLst>
              <a:ext uri="{FF2B5EF4-FFF2-40B4-BE49-F238E27FC236}">
                <a16:creationId xmlns:a16="http://schemas.microsoft.com/office/drawing/2014/main" id="{F9CE58BC-4F4B-47D9-84A1-88807D122A8A}"/>
              </a:ext>
            </a:extLst>
          </p:cNvPr>
          <p:cNvSpPr/>
          <p:nvPr/>
        </p:nvSpPr>
        <p:spPr>
          <a:xfrm>
            <a:off x="2394378" y="4279945"/>
            <a:ext cx="3054349" cy="687325"/>
          </a:xfrm>
          <a:prstGeom prst="borderCallout1">
            <a:avLst>
              <a:gd name="adj1" fmla="val 6740"/>
              <a:gd name="adj2" fmla="val 3102"/>
              <a:gd name="adj3" fmla="val -186210"/>
              <a:gd name="adj4" fmla="val 1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Compares (r1,s1), (r2,s1), (r1,s2),(r2,s2)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7D68120-B49B-436B-A555-44DC0FA422BE}"/>
              </a:ext>
            </a:extLst>
          </p:cNvPr>
          <p:cNvSpPr/>
          <p:nvPr/>
        </p:nvSpPr>
        <p:spPr>
          <a:xfrm>
            <a:off x="2359593" y="3816351"/>
            <a:ext cx="5181483" cy="3566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Time 1       2              3               4               5             6      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A539BB-4020-304C-9036-EE1A4387E3BE}"/>
              </a:ext>
            </a:extLst>
          </p:cNvPr>
          <p:cNvSpPr txBox="1"/>
          <p:nvPr/>
        </p:nvSpPr>
        <p:spPr>
          <a:xfrm>
            <a:off x="16079" y="64300"/>
            <a:ext cx="768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Simulation of Block Nested-loop Join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2ED6C5-1A91-5849-8345-7C9630476F7D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F971017-E546-DD4A-82C5-AF721D610DBC}"/>
              </a:ext>
            </a:extLst>
          </p:cNvPr>
          <p:cNvSpPr txBox="1"/>
          <p:nvPr/>
        </p:nvSpPr>
        <p:spPr>
          <a:xfrm>
            <a:off x="83452" y="773927"/>
            <a:ext cx="90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1 block = 2 tuples, 3 blocks of memory</a:t>
            </a:r>
          </a:p>
        </p:txBody>
      </p:sp>
      <p:sp>
        <p:nvSpPr>
          <p:cNvPr id="40" name="AutoShape 7">
            <a:extLst>
              <a:ext uri="{FF2B5EF4-FFF2-40B4-BE49-F238E27FC236}">
                <a16:creationId xmlns:a16="http://schemas.microsoft.com/office/drawing/2014/main" id="{A558A7AB-D8F2-B24B-8AA3-3BFD1F1A6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82" y="1831111"/>
            <a:ext cx="1391761" cy="3418027"/>
          </a:xfrm>
          <a:prstGeom prst="can">
            <a:avLst>
              <a:gd name="adj" fmla="val 945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839536-6B0A-4B47-869E-228DA2FD77A5}"/>
              </a:ext>
            </a:extLst>
          </p:cNvPr>
          <p:cNvSpPr txBox="1"/>
          <p:nvPr/>
        </p:nvSpPr>
        <p:spPr>
          <a:xfrm>
            <a:off x="550388" y="1922961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631625-265B-5347-9AC3-FAC579BCFC78}"/>
              </a:ext>
            </a:extLst>
          </p:cNvPr>
          <p:cNvSpPr txBox="1"/>
          <p:nvPr/>
        </p:nvSpPr>
        <p:spPr>
          <a:xfrm>
            <a:off x="507268" y="3485356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E22245-7D90-9844-A6B4-012BAE7ACF8C}"/>
              </a:ext>
            </a:extLst>
          </p:cNvPr>
          <p:cNvSpPr txBox="1"/>
          <p:nvPr/>
        </p:nvSpPr>
        <p:spPr>
          <a:xfrm>
            <a:off x="101813" y="5509417"/>
            <a:ext cx="9060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Number of I/O:  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	 B(R) + B(R)* B(S) = 2 blocks + 2 * 3 blocks =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000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A7C86D-2655-E74A-9735-E00E0931BABC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3844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Make use of available memory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Read into memory as many blocks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possible, stream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by one-block at a time &amp; join every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tuple w/ all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tuples in memory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en-US" sz="2200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solidFill>
                                      <a:schemeClr val="accent2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num>
                          <m:den>
                            <m:r>
                              <a:rPr lang="en-US" sz="2200" i="1" dirty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𝑀</m:t>
                            </m:r>
                            <m:r>
                              <a:rPr lang="en-US" sz="2200" i="1" dirty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−2</m:t>
                            </m:r>
                          </m:den>
                        </m:f>
                      </m:e>
                    </m:d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⋅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Or, roughly: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(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)⋅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𝐵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(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)/</m:t>
                    </m:r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𝑀</m:t>
                    </m:r>
                  </m:oMath>
                </a14:m>
                <a:endParaRPr lang="en-US" sz="2200" i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requirement: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accent2"/>
                        </a:solidFill>
                        <a:latin typeface="Cambria Math"/>
                      </a:rPr>
                      <m:t>𝑀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(as much as possible)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Which table would you pick as the outer? (exercise)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A7C86D-2655-E74A-9735-E00E0931B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3844066"/>
              </a:xfrm>
              <a:prstGeom prst="rect">
                <a:avLst/>
              </a:prstGeom>
              <a:blipFill>
                <a:blip r:embed="rId4"/>
                <a:stretch>
                  <a:fillRect l="-700" b="-2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Improvement to Block Nested Loop Join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88676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9A577-F527-4BA9-9BDE-534E3FBD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7566D1-44EA-4C61-AC0B-26153693E1B0}"/>
              </a:ext>
            </a:extLst>
          </p:cNvPr>
          <p:cNvGraphicFramePr>
            <a:graphicFrameLocks/>
          </p:cNvGraphicFramePr>
          <p:nvPr/>
        </p:nvGraphicFramePr>
        <p:xfrm>
          <a:off x="1078936" y="2014244"/>
          <a:ext cx="673100" cy="91651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FFFE64-D933-473D-BD90-FA51145300C5}"/>
              </a:ext>
            </a:extLst>
          </p:cNvPr>
          <p:cNvGraphicFramePr>
            <a:graphicFrameLocks/>
          </p:cNvGraphicFramePr>
          <p:nvPr/>
        </p:nvGraphicFramePr>
        <p:xfrm>
          <a:off x="1034486" y="3540125"/>
          <a:ext cx="673100" cy="13747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74528"/>
                  </a:ext>
                </a:extLst>
              </a:tr>
              <a:tr h="458259">
                <a:tc>
                  <a:txBody>
                    <a:bodyPr/>
                    <a:lstStyle/>
                    <a:p>
                      <a:r>
                        <a:rPr lang="en-CA" b="0" dirty="0"/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445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32D329-F098-45E9-8E74-C7B97064E9D0}"/>
              </a:ext>
            </a:extLst>
          </p:cNvPr>
          <p:cNvGraphicFramePr>
            <a:graphicFrameLocks/>
          </p:cNvGraphicFramePr>
          <p:nvPr/>
        </p:nvGraphicFramePr>
        <p:xfrm>
          <a:off x="22493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EDE64C4-3B58-4D9B-B95B-649CB0DDBE68}"/>
              </a:ext>
            </a:extLst>
          </p:cNvPr>
          <p:cNvSpPr/>
          <p:nvPr/>
        </p:nvSpPr>
        <p:spPr>
          <a:xfrm>
            <a:off x="2070100" y="1955800"/>
            <a:ext cx="45719" cy="2959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359BAB-2875-48C4-86F5-8D32A3D34CD9}"/>
              </a:ext>
            </a:extLst>
          </p:cNvPr>
          <p:cNvGraphicFramePr>
            <a:graphicFrameLocks/>
          </p:cNvGraphicFramePr>
          <p:nvPr/>
        </p:nvGraphicFramePr>
        <p:xfrm>
          <a:off x="2268396" y="319987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s1,s2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2C86CCC-8350-42EE-811F-6D03433C596E}"/>
              </a:ext>
            </a:extLst>
          </p:cNvPr>
          <p:cNvGraphicFramePr>
            <a:graphicFrameLocks/>
          </p:cNvGraphicFramePr>
          <p:nvPr/>
        </p:nvGraphicFramePr>
        <p:xfrm>
          <a:off x="2998646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31BC575-8ABF-47EE-B04D-4DD8CDED61DC}"/>
              </a:ext>
            </a:extLst>
          </p:cNvPr>
          <p:cNvGraphicFramePr>
            <a:graphicFrameLocks/>
          </p:cNvGraphicFramePr>
          <p:nvPr/>
        </p:nvGraphicFramePr>
        <p:xfrm>
          <a:off x="3017696" y="319987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s3,s4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6A307DB-E658-4578-A3CA-839650D73A5B}"/>
              </a:ext>
            </a:extLst>
          </p:cNvPr>
          <p:cNvGraphicFramePr>
            <a:graphicFrameLocks/>
          </p:cNvGraphicFramePr>
          <p:nvPr/>
        </p:nvGraphicFramePr>
        <p:xfrm>
          <a:off x="3809683" y="2089148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r1,r2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EDB30A-007A-46FB-8CAD-C8DBBBECB2F4}"/>
              </a:ext>
            </a:extLst>
          </p:cNvPr>
          <p:cNvGraphicFramePr>
            <a:graphicFrameLocks/>
          </p:cNvGraphicFramePr>
          <p:nvPr/>
        </p:nvGraphicFramePr>
        <p:xfrm>
          <a:off x="3828733" y="319987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s5,s6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645DAA2-28B1-44F1-BDF6-D0A43F3D7CEE}"/>
              </a:ext>
            </a:extLst>
          </p:cNvPr>
          <p:cNvGraphicFramePr>
            <a:graphicFrameLocks/>
          </p:cNvGraphicFramePr>
          <p:nvPr/>
        </p:nvGraphicFramePr>
        <p:xfrm>
          <a:off x="2249346" y="265925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8F0AB63-FC76-4DCC-8374-549805AF0E1D}"/>
              </a:ext>
            </a:extLst>
          </p:cNvPr>
          <p:cNvGraphicFramePr>
            <a:graphicFrameLocks/>
          </p:cNvGraphicFramePr>
          <p:nvPr/>
        </p:nvGraphicFramePr>
        <p:xfrm>
          <a:off x="2998646" y="265925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8A5C6CB-7307-4FE5-BE0B-A1EB40653856}"/>
              </a:ext>
            </a:extLst>
          </p:cNvPr>
          <p:cNvGraphicFramePr>
            <a:graphicFrameLocks/>
          </p:cNvGraphicFramePr>
          <p:nvPr/>
        </p:nvGraphicFramePr>
        <p:xfrm>
          <a:off x="3809683" y="2659250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accent2"/>
                          </a:solidFill>
                        </a:rPr>
                        <a:t>r3,r4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94DF8585-497F-497C-BE51-A4B5FAFFC995}"/>
              </a:ext>
            </a:extLst>
          </p:cNvPr>
          <p:cNvSpPr/>
          <p:nvPr/>
        </p:nvSpPr>
        <p:spPr>
          <a:xfrm>
            <a:off x="2929828" y="345599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BD74D15-4D4A-455C-A481-64FA45CD741B}"/>
              </a:ext>
            </a:extLst>
          </p:cNvPr>
          <p:cNvSpPr/>
          <p:nvPr/>
        </p:nvSpPr>
        <p:spPr>
          <a:xfrm>
            <a:off x="3703496" y="3455992"/>
            <a:ext cx="113281" cy="123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49" name="Callout: Line 48">
            <a:extLst>
              <a:ext uri="{FF2B5EF4-FFF2-40B4-BE49-F238E27FC236}">
                <a16:creationId xmlns:a16="http://schemas.microsoft.com/office/drawing/2014/main" id="{F9CE58BC-4F4B-47D9-84A1-88807D122A8A}"/>
              </a:ext>
            </a:extLst>
          </p:cNvPr>
          <p:cNvSpPr/>
          <p:nvPr/>
        </p:nvSpPr>
        <p:spPr>
          <a:xfrm>
            <a:off x="2801229" y="4657418"/>
            <a:ext cx="5417012" cy="687325"/>
          </a:xfrm>
          <a:prstGeom prst="borderCallout1">
            <a:avLst>
              <a:gd name="adj1" fmla="val 6740"/>
              <a:gd name="adj2" fmla="val 3102"/>
              <a:gd name="adj3" fmla="val -143880"/>
              <a:gd name="adj4" fmla="val -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Compares (r1,s1), (r2,s1), (r1,s2),(r2,s2), (r3,s1),(r3,s2),(r4,s1),(r4,s2)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0D0F0A0-D2C5-FC46-8CCD-BE5091283EE4}"/>
              </a:ext>
            </a:extLst>
          </p:cNvPr>
          <p:cNvGraphicFramePr>
            <a:graphicFrameLocks/>
          </p:cNvGraphicFramePr>
          <p:nvPr/>
        </p:nvGraphicFramePr>
        <p:xfrm>
          <a:off x="2268396" y="3816742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925BE09-9398-3A4E-A5F2-419F3B23CBA4}"/>
              </a:ext>
            </a:extLst>
          </p:cNvPr>
          <p:cNvGraphicFramePr>
            <a:graphicFrameLocks/>
          </p:cNvGraphicFramePr>
          <p:nvPr/>
        </p:nvGraphicFramePr>
        <p:xfrm>
          <a:off x="3017696" y="3816742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91F90AA-E6C9-634F-BB57-B30ACE355E28}"/>
              </a:ext>
            </a:extLst>
          </p:cNvPr>
          <p:cNvGraphicFramePr>
            <a:graphicFrameLocks/>
          </p:cNvGraphicFramePr>
          <p:nvPr/>
        </p:nvGraphicFramePr>
        <p:xfrm>
          <a:off x="3828733" y="3816742"/>
          <a:ext cx="673100" cy="4582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467253593"/>
                    </a:ext>
                  </a:extLst>
                </a:gridCol>
              </a:tblGrid>
              <a:tr h="458259">
                <a:tc>
                  <a:txBody>
                    <a:bodyPr/>
                    <a:lstStyle/>
                    <a:p>
                      <a:r>
                        <a:rPr lang="en-CA" sz="1200" dirty="0"/>
                        <a:t>output</a:t>
                      </a:r>
                      <a:endParaRPr lang="en-CA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57592"/>
                  </a:ext>
                </a:extLst>
              </a:tr>
            </a:tbl>
          </a:graphicData>
        </a:graphic>
      </p:graphicFrame>
      <p:sp>
        <p:nvSpPr>
          <p:cNvPr id="23" name="Arrow: Right 22">
            <a:extLst>
              <a:ext uri="{FF2B5EF4-FFF2-40B4-BE49-F238E27FC236}">
                <a16:creationId xmlns:a16="http://schemas.microsoft.com/office/drawing/2014/main" id="{4D0DA01C-4E5D-4E4D-BE5C-9A5E920D9B43}"/>
              </a:ext>
            </a:extLst>
          </p:cNvPr>
          <p:cNvSpPr/>
          <p:nvPr/>
        </p:nvSpPr>
        <p:spPr>
          <a:xfrm>
            <a:off x="2249347" y="4287890"/>
            <a:ext cx="3093628" cy="3566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Time 1       2             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28E7CA-D39F-A74F-BC00-0272AFCB4DA5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Simulation After Improvement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572B27-CBDD-7740-8D3F-7094283A7669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7">
            <a:extLst>
              <a:ext uri="{FF2B5EF4-FFF2-40B4-BE49-F238E27FC236}">
                <a16:creationId xmlns:a16="http://schemas.microsoft.com/office/drawing/2014/main" id="{400EF272-91D4-1B4E-BC07-85AE3FC55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82" y="1831111"/>
            <a:ext cx="1391761" cy="3418027"/>
          </a:xfrm>
          <a:prstGeom prst="can">
            <a:avLst>
              <a:gd name="adj" fmla="val 945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Disk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922D28-E1EB-6444-90D8-DAC608D2F9E7}"/>
              </a:ext>
            </a:extLst>
          </p:cNvPr>
          <p:cNvSpPr txBox="1"/>
          <p:nvPr/>
        </p:nvSpPr>
        <p:spPr>
          <a:xfrm>
            <a:off x="550388" y="1922961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31158-5E57-BF4F-8A08-F319267D749C}"/>
              </a:ext>
            </a:extLst>
          </p:cNvPr>
          <p:cNvSpPr txBox="1"/>
          <p:nvPr/>
        </p:nvSpPr>
        <p:spPr>
          <a:xfrm>
            <a:off x="507268" y="3485356"/>
            <a:ext cx="576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81778A-F593-854A-81E2-06AC29AC0A08}"/>
              </a:ext>
            </a:extLst>
          </p:cNvPr>
          <p:cNvSpPr txBox="1"/>
          <p:nvPr/>
        </p:nvSpPr>
        <p:spPr>
          <a:xfrm>
            <a:off x="83452" y="773927"/>
            <a:ext cx="90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1 block = 2 tuples, 4 blocks of 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AE7BBC-145F-E844-A6D1-F639C4A94322}"/>
              </a:ext>
            </a:extLst>
          </p:cNvPr>
          <p:cNvSpPr txBox="1"/>
          <p:nvPr/>
        </p:nvSpPr>
        <p:spPr>
          <a:xfrm>
            <a:off x="101813" y="5509417"/>
            <a:ext cx="9060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Number of I/O:  </a:t>
            </a:r>
          </a:p>
          <a:p>
            <a:pPr lvl="1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B(R) + B(R)/(M-2)* S(R) = 2 blocks + 1 * 3blocks = 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848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49" grpId="0" animBg="1"/>
      <p:bldP spid="3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36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867859"/>
            <a:ext cx="9060548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a high-level majority of DBMS operators require: (1) sorting; or (2) hashing of input tables.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you have a DBMS that has these core operators implemented in a very performant, robust, and scalable manner, you have a solid query processing foundation.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Key point: Keep optimizing these core algorithms!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Two Core DBMS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7871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867859"/>
            <a:ext cx="9060548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robust DBMS has solutions to the following problem: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Consider an operator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that needs to sort a table R, maybe a base table or an intermediate table (e.g., implementing ORDER BY clause)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given M blocks of memory by system’s memory manager but M &lt;&lt; B(R). (Not an infrequent scenario)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How can we sort if data does not fit into system’s memory?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Sorting Under Limited Memory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9677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079" y="807082"/>
                <a:ext cx="8499271" cy="591439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Recall in-memory merge sort: Sort progressively larger runs, 2, 4, 8, …, |R|, by merging consecutive “runs”.</a:t>
                </a:r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𝑀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blocks </a:t>
                </a:r>
                <a:b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a time, </a:t>
                </a: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sort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them, </a:t>
                </a:r>
                <a:b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write out a </a:t>
                </a: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level-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</a:t>
                </a:r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merge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𝑀</m:t>
                        </m:r>
                        <m:r>
                          <a:rPr lang="en-US" sz="2400" i="1" dirty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level-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runs at a time, </a:t>
                </a:r>
                <a:b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write out a </a:t>
                </a: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level-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</a:t>
                </a:r>
                <a:endParaRPr lang="en-US" sz="2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endParaRPr lang="en-US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merge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𝑀</m:t>
                        </m:r>
                        <m:r>
                          <a:rPr lang="en-US" sz="2400" i="1" dirty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level-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runs at a time, and write out a </a:t>
                </a: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level-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Final phase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produces one sorted run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79" y="807082"/>
                <a:ext cx="8499271" cy="5914393"/>
              </a:xfrm>
              <a:blipFill>
                <a:blip r:embed="rId4"/>
                <a:stretch>
                  <a:fillRect l="-1194" t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39</a:t>
            </a:fld>
            <a:endParaRPr lang="en-US"/>
          </a:p>
        </p:txBody>
      </p:sp>
      <p:sp>
        <p:nvSpPr>
          <p:cNvPr id="21" name="Can 20"/>
          <p:cNvSpPr/>
          <p:nvPr/>
        </p:nvSpPr>
        <p:spPr>
          <a:xfrm>
            <a:off x="6951585" y="1456854"/>
            <a:ext cx="1762927" cy="33700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298581" y="2558610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0757" y="3002595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bg1">
                  <a:lumMod val="75000"/>
                </a:schemeClr>
              </a:gs>
              <a:gs pos="77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86614" y="1751213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7286614" y="1939137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Picture 45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89088" y="2134498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7" name="Rectangle 46"/>
          <p:cNvSpPr/>
          <p:nvPr/>
        </p:nvSpPr>
        <p:spPr>
          <a:xfrm>
            <a:off x="7111912" y="3369948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3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110757" y="3188385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bg1">
                  <a:lumMod val="75000"/>
                </a:schemeClr>
              </a:gs>
              <a:gs pos="77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110757" y="4047330"/>
            <a:ext cx="109728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bg1">
                  <a:lumMod val="75000"/>
                </a:schemeClr>
              </a:gs>
              <a:gs pos="77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Brace 49"/>
          <p:cNvSpPr/>
          <p:nvPr/>
        </p:nvSpPr>
        <p:spPr>
          <a:xfrm>
            <a:off x="7714211" y="1934093"/>
            <a:ext cx="166254" cy="737962"/>
          </a:xfrm>
          <a:prstGeom prst="rightBrace">
            <a:avLst>
              <a:gd name="adj1" fmla="val 7500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7850916" y="2113403"/>
                <a:ext cx="3885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16" y="2113403"/>
                <a:ext cx="388568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36569" y="2489175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5" name="Straight Arrow Connector 54"/>
          <p:cNvCxnSpPr>
            <a:stCxn id="43" idx="2"/>
            <a:endCxn id="53" idx="0"/>
          </p:cNvCxnSpPr>
          <p:nvPr/>
        </p:nvCxnSpPr>
        <p:spPr>
          <a:xfrm flipH="1">
            <a:off x="5902329" y="2025533"/>
            <a:ext cx="1201405" cy="737962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354567" y="2670409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bg1">
                  <a:lumMod val="75000"/>
                </a:schemeClr>
              </a:gs>
              <a:gs pos="77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3"/>
            <a:endCxn id="25" idx="1"/>
          </p:cNvCxnSpPr>
          <p:nvPr/>
        </p:nvCxnSpPr>
        <p:spPr>
          <a:xfrm>
            <a:off x="5903207" y="2761849"/>
            <a:ext cx="1207550" cy="332186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4" idx="0"/>
            <a:endCxn id="56" idx="3"/>
          </p:cNvCxnSpPr>
          <p:nvPr/>
        </p:nvCxnSpPr>
        <p:spPr>
          <a:xfrm flipH="1">
            <a:off x="5903207" y="2213457"/>
            <a:ext cx="1200527" cy="548392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533058" y="2489941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" name="Rectangle 63"/>
          <p:cNvSpPr/>
          <p:nvPr/>
        </p:nvSpPr>
        <p:spPr>
          <a:xfrm>
            <a:off x="5352208" y="2669434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45000">
                <a:schemeClr val="bg1">
                  <a:lumMod val="75000"/>
                </a:schemeClr>
              </a:gs>
              <a:gs pos="77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/>
          <p:cNvCxnSpPr>
            <a:stCxn id="64" idx="3"/>
            <a:endCxn id="48" idx="1"/>
          </p:cNvCxnSpPr>
          <p:nvPr/>
        </p:nvCxnSpPr>
        <p:spPr>
          <a:xfrm>
            <a:off x="5900848" y="2760874"/>
            <a:ext cx="1209909" cy="518951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6" idx="0"/>
            <a:endCxn id="64" idx="3"/>
          </p:cNvCxnSpPr>
          <p:nvPr/>
        </p:nvCxnSpPr>
        <p:spPr>
          <a:xfrm flipH="1">
            <a:off x="5900848" y="2408818"/>
            <a:ext cx="1205360" cy="352056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29546" y="2490869"/>
            <a:ext cx="182880" cy="548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2" name="Rectangle 71"/>
          <p:cNvSpPr/>
          <p:nvPr/>
        </p:nvSpPr>
        <p:spPr>
          <a:xfrm>
            <a:off x="5354265" y="2668709"/>
            <a:ext cx="548640" cy="182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3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>
            <a:stCxn id="72" idx="3"/>
            <a:endCxn id="47" idx="1"/>
          </p:cNvCxnSpPr>
          <p:nvPr/>
        </p:nvCxnSpPr>
        <p:spPr>
          <a:xfrm>
            <a:off x="5902905" y="2760149"/>
            <a:ext cx="1209007" cy="701239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ight Brace 75"/>
          <p:cNvSpPr/>
          <p:nvPr/>
        </p:nvSpPr>
        <p:spPr>
          <a:xfrm>
            <a:off x="7714211" y="2984144"/>
            <a:ext cx="166254" cy="737962"/>
          </a:xfrm>
          <a:prstGeom prst="rightBrace">
            <a:avLst>
              <a:gd name="adj1" fmla="val 7500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7850916" y="3163454"/>
                <a:ext cx="911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Level-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16" y="3163454"/>
                <a:ext cx="911147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604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7186931" y="23753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8865" y="34140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21967" y="3498516"/>
            <a:ext cx="182880" cy="18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721967" y="3711119"/>
            <a:ext cx="182880" cy="18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238782" y="3715596"/>
            <a:ext cx="182880" cy="18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25" idx="1"/>
            <a:endCxn id="80" idx="3"/>
          </p:cNvCxnSpPr>
          <p:nvPr/>
        </p:nvCxnSpPr>
        <p:spPr>
          <a:xfrm flipH="1">
            <a:off x="5904847" y="3094035"/>
            <a:ext cx="1205910" cy="495921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48" idx="1"/>
            <a:endCxn id="81" idx="3"/>
          </p:cNvCxnSpPr>
          <p:nvPr/>
        </p:nvCxnSpPr>
        <p:spPr>
          <a:xfrm flipH="1">
            <a:off x="5904847" y="3279825"/>
            <a:ext cx="1205910" cy="522734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0" idx="1"/>
            <a:endCxn id="82" idx="3"/>
          </p:cNvCxnSpPr>
          <p:nvPr/>
        </p:nvCxnSpPr>
        <p:spPr>
          <a:xfrm flipH="1">
            <a:off x="5421662" y="3589956"/>
            <a:ext cx="300305" cy="217080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81" idx="1"/>
            <a:endCxn id="82" idx="3"/>
          </p:cNvCxnSpPr>
          <p:nvPr/>
        </p:nvCxnSpPr>
        <p:spPr>
          <a:xfrm flipH="1">
            <a:off x="5421662" y="3802559"/>
            <a:ext cx="300305" cy="4477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5009804" y="3801687"/>
            <a:ext cx="2083723" cy="354677"/>
          </a:xfrm>
          <a:custGeom>
            <a:avLst/>
            <a:gdLst>
              <a:gd name="connsiteX0" fmla="*/ 221672 w 2083723"/>
              <a:gd name="connsiteY0" fmla="*/ 0 h 354677"/>
              <a:gd name="connsiteX1" fmla="*/ 0 w 2083723"/>
              <a:gd name="connsiteY1" fmla="*/ 0 h 354677"/>
              <a:gd name="connsiteX2" fmla="*/ 0 w 2083723"/>
              <a:gd name="connsiteY2" fmla="*/ 354677 h 354677"/>
              <a:gd name="connsiteX3" fmla="*/ 2083723 w 2083723"/>
              <a:gd name="connsiteY3" fmla="*/ 354677 h 354677"/>
              <a:gd name="connsiteX0" fmla="*/ 221672 w 2083723"/>
              <a:gd name="connsiteY0" fmla="*/ 0 h 354677"/>
              <a:gd name="connsiteX1" fmla="*/ 0 w 2083723"/>
              <a:gd name="connsiteY1" fmla="*/ 0 h 354677"/>
              <a:gd name="connsiteX2" fmla="*/ 0 w 2083723"/>
              <a:gd name="connsiteY2" fmla="*/ 354677 h 354677"/>
              <a:gd name="connsiteX3" fmla="*/ 2083723 w 2083723"/>
              <a:gd name="connsiteY3" fmla="*/ 354677 h 354677"/>
              <a:gd name="connsiteX4" fmla="*/ 2083723 w 2083723"/>
              <a:gd name="connsiteY4" fmla="*/ 354677 h 35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3723" h="354677">
                <a:moveTo>
                  <a:pt x="221672" y="0"/>
                </a:moveTo>
                <a:lnTo>
                  <a:pt x="0" y="0"/>
                </a:lnTo>
                <a:lnTo>
                  <a:pt x="0" y="354677"/>
                </a:lnTo>
                <a:lnTo>
                  <a:pt x="2083723" y="354677"/>
                </a:lnTo>
                <a:lnTo>
                  <a:pt x="2083723" y="354677"/>
                </a:lnTo>
              </a:path>
            </a:pathLst>
          </a:custGeom>
          <a:noFill/>
          <a:ln>
            <a:solidFill>
              <a:schemeClr val="accent2"/>
            </a:solidFill>
            <a:prstDash val="sysDash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7506462" y="40819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98" name="Right Brace 97"/>
          <p:cNvSpPr/>
          <p:nvPr/>
        </p:nvSpPr>
        <p:spPr>
          <a:xfrm>
            <a:off x="8208037" y="4020474"/>
            <a:ext cx="109628" cy="430815"/>
          </a:xfrm>
          <a:prstGeom prst="rightBrace">
            <a:avLst>
              <a:gd name="adj1" fmla="val 7500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8302825" y="4041630"/>
                <a:ext cx="911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Level-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825" y="4041630"/>
                <a:ext cx="911147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5369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ectangle 102"/>
          <p:cNvSpPr/>
          <p:nvPr/>
        </p:nvSpPr>
        <p:spPr>
          <a:xfrm>
            <a:off x="5721967" y="3929034"/>
            <a:ext cx="182880" cy="18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/>
          <p:cNvCxnSpPr>
            <a:stCxn id="47" idx="1"/>
            <a:endCxn id="103" idx="3"/>
          </p:cNvCxnSpPr>
          <p:nvPr/>
        </p:nvCxnSpPr>
        <p:spPr>
          <a:xfrm flipH="1">
            <a:off x="5904847" y="3461388"/>
            <a:ext cx="1207065" cy="559086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103" idx="1"/>
            <a:endCxn id="82" idx="3"/>
          </p:cNvCxnSpPr>
          <p:nvPr/>
        </p:nvCxnSpPr>
        <p:spPr>
          <a:xfrm flipH="1" flipV="1">
            <a:off x="5421662" y="3807036"/>
            <a:ext cx="300305" cy="213438"/>
          </a:xfrm>
          <a:prstGeom prst="straightConnector1">
            <a:avLst/>
          </a:prstGeom>
          <a:ln w="12700">
            <a:solidFill>
              <a:schemeClr val="accent2"/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453371" y="1439591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7FC496-F247-6542-8E64-68BBD29F4EEE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(External) Merge Sort Operator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EBEEDCD-7324-2F46-8C28-526EC310C0C4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2352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  <p:bldP spid="48" grpId="0" animBg="1"/>
      <p:bldP spid="49" grpId="0" animBg="1"/>
      <p:bldP spid="56" grpId="0" animBg="1"/>
      <p:bldP spid="64" grpId="0" animBg="1"/>
      <p:bldP spid="72" grpId="0" animBg="1"/>
      <p:bldP spid="76" grpId="0" animBg="1"/>
      <p:bldP spid="77" grpId="0"/>
      <p:bldP spid="79" grpId="0"/>
      <p:bldP spid="80" grpId="0" animBg="1"/>
      <p:bldP spid="81" grpId="0" animBg="1"/>
      <p:bldP spid="82" grpId="0" animBg="1"/>
      <p:bldP spid="96" grpId="0" animBg="1"/>
      <p:bldP spid="97" grpId="0"/>
      <p:bldP spid="98" grpId="0" animBg="1"/>
      <p:bldP spid="99" grpId="0"/>
      <p:bldP spid="10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08431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200929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644711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7638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08431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200929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644711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10893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6665681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958179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720436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80688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6665681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958179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720436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221421"/>
              </p:ext>
            </p:extLst>
          </p:nvPr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9155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7365775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765827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7904457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35293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7365775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7658273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25AFE-77D9-CC4B-B0DA-49F71C3A57E1}"/>
              </a:ext>
            </a:extLst>
          </p:cNvPr>
          <p:cNvCxnSpPr>
            <a:cxnSpLocks/>
          </p:cNvCxnSpPr>
          <p:nvPr/>
        </p:nvCxnSpPr>
        <p:spPr>
          <a:xfrm>
            <a:off x="7904457" y="209665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245961"/>
              </p:ext>
            </p:extLst>
          </p:nvPr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87935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522687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44383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6167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522687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44383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6F6AC15B-2008-284D-BA3A-2DA8FF649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46795"/>
              </p:ext>
            </p:extLst>
          </p:nvPr>
        </p:nvGraphicFramePr>
        <p:xfrm>
          <a:off x="5377852" y="3873019"/>
          <a:ext cx="2361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90655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76557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44383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6F6AC15B-2008-284D-BA3A-2DA8FF649F31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2361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459801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76557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44383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204439"/>
              </p:ext>
            </p:extLst>
          </p:nvPr>
        </p:nvGraphicFramePr>
        <p:xfrm>
          <a:off x="5377852" y="3873019"/>
          <a:ext cx="47220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598607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76557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672443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47220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30379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765575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672443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506686"/>
              </p:ext>
            </p:extLst>
          </p:nvPr>
        </p:nvGraphicFramePr>
        <p:xfrm>
          <a:off x="5377852" y="3873019"/>
          <a:ext cx="62484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87011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79891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672443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62484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026342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79891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672443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75132"/>
              </p:ext>
            </p:extLst>
          </p:nvPr>
        </p:nvGraphicFramePr>
        <p:xfrm>
          <a:off x="5377852" y="3873019"/>
          <a:ext cx="8331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8849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73931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79891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886759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8331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8849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612062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979891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6886759" y="280939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56036"/>
              </p:ext>
            </p:extLst>
          </p:nvPr>
        </p:nvGraphicFramePr>
        <p:xfrm>
          <a:off x="5377852" y="3873019"/>
          <a:ext cx="12496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8849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844693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41285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62432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2 (final)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5463951" y="361107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7207859" y="361944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12496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8849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844693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41285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07E17DBC-1CF4-C84F-94D2-5421814A4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73009"/>
              </p:ext>
            </p:extLst>
          </p:nvPr>
        </p:nvGraphicFramePr>
        <p:xfrm>
          <a:off x="7062315" y="388138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117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689443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memory blocks available; each holds one number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1, 7, 4, 5, 2, 8, 9, 6, 3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0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Phase 2 (final)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8BA37682-066C-B24A-82BC-2A35BA14595D}"/>
              </a:ext>
            </a:extLst>
          </p:cNvPr>
          <p:cNvSpPr/>
          <p:nvPr/>
        </p:nvSpPr>
        <p:spPr>
          <a:xfrm>
            <a:off x="5238764" y="1381430"/>
            <a:ext cx="3763581" cy="4803269"/>
          </a:xfrm>
          <a:prstGeom prst="can">
            <a:avLst>
              <a:gd name="adj" fmla="val 1875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36F20B3-F1D2-9046-9F6B-309CCEE6D365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2388599"/>
          <a:ext cx="255227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3805983338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6740637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175689461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874992332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18900680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61177885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374830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B1E19D25-555E-1748-B9E3-9A2A109E9090}"/>
              </a:ext>
            </a:extLst>
          </p:cNvPr>
          <p:cNvGraphicFramePr>
            <a:graphicFrameLocks noGrp="1"/>
          </p:cNvGraphicFramePr>
          <p:nvPr/>
        </p:nvGraphicFramePr>
        <p:xfrm>
          <a:off x="5413373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6BA1A5-78A6-984D-9D11-0F60EB25EFBE}"/>
              </a:ext>
            </a:extLst>
          </p:cNvPr>
          <p:cNvSpPr txBox="1"/>
          <p:nvPr/>
        </p:nvSpPr>
        <p:spPr>
          <a:xfrm>
            <a:off x="2999044" y="1757872"/>
            <a:ext cx="209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Arrows indicate the blocks in memory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862F-E7D9-6F4E-B12B-56A3274FA7E5}"/>
              </a:ext>
            </a:extLst>
          </p:cNvPr>
          <p:cNvSpPr txBox="1"/>
          <p:nvPr/>
        </p:nvSpPr>
        <p:spPr>
          <a:xfrm>
            <a:off x="6824639" y="1474067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304B4-3FCB-F547-B280-8D102C9E9D2A}"/>
              </a:ext>
            </a:extLst>
          </p:cNvPr>
          <p:cNvCxnSpPr>
            <a:cxnSpLocks/>
          </p:cNvCxnSpPr>
          <p:nvPr/>
        </p:nvCxnSpPr>
        <p:spPr>
          <a:xfrm>
            <a:off x="6521227" y="3611075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3633C1-5881-7D48-8FF7-74B53272F310}"/>
              </a:ext>
            </a:extLst>
          </p:cNvPr>
          <p:cNvCxnSpPr>
            <a:cxnSpLocks/>
          </p:cNvCxnSpPr>
          <p:nvPr/>
        </p:nvCxnSpPr>
        <p:spPr>
          <a:xfrm>
            <a:off x="7636484" y="3619444"/>
            <a:ext cx="0" cy="261944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B3A6289E-E5E5-954A-9F06-04780BA260CC}"/>
              </a:ext>
            </a:extLst>
          </p:cNvPr>
          <p:cNvGraphicFramePr>
            <a:graphicFrameLocks noGrp="1"/>
          </p:cNvGraphicFramePr>
          <p:nvPr/>
        </p:nvGraphicFramePr>
        <p:xfrm>
          <a:off x="6310616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1C55626-6019-9149-892D-766679CB11ED}"/>
              </a:ext>
            </a:extLst>
          </p:cNvPr>
          <p:cNvGraphicFramePr>
            <a:graphicFrameLocks noGrp="1"/>
          </p:cNvGraphicFramePr>
          <p:nvPr/>
        </p:nvGraphicFramePr>
        <p:xfrm>
          <a:off x="7207859" y="307133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2D83F014-8118-6942-B826-9D895025B2D9}"/>
              </a:ext>
            </a:extLst>
          </p:cNvPr>
          <p:cNvGraphicFramePr>
            <a:graphicFrameLocks noGrp="1"/>
          </p:cNvGraphicFramePr>
          <p:nvPr/>
        </p:nvGraphicFramePr>
        <p:xfrm>
          <a:off x="5377852" y="3873019"/>
          <a:ext cx="12496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474238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8849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844693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41285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07E17DBC-1CF4-C84F-94D2-5421814A4D01}"/>
              </a:ext>
            </a:extLst>
          </p:cNvPr>
          <p:cNvGraphicFramePr>
            <a:graphicFrameLocks noGrp="1"/>
          </p:cNvGraphicFramePr>
          <p:nvPr/>
        </p:nvGraphicFramePr>
        <p:xfrm>
          <a:off x="7062315" y="3881388"/>
          <a:ext cx="70830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102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36102">
                  <a:extLst>
                    <a:ext uri="{9D8B030D-6E8A-4147-A177-3AD203B41FA5}">
                      <a16:colId xmlns:a16="http://schemas.microsoft.com/office/drawing/2014/main" val="200430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6B92A7A5-17AD-E94E-80FD-D8500B8D3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269329"/>
              </p:ext>
            </p:extLst>
          </p:nvPr>
        </p:nvGraphicFramePr>
        <p:xfrm>
          <a:off x="5377852" y="4674700"/>
          <a:ext cx="18745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588839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9245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561018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60746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370089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571205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797974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393408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304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219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39987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" y="807082"/>
                <a:ext cx="9001124" cy="5914394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read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𝑀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blocks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a time, sort them, and </a:t>
                </a:r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write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out a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level-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run: 2*B(R) I/</a:t>
                </a:r>
                <a:r>
                  <a:rPr lang="en-US" sz="24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level-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rted runs</a:t>
                </a:r>
              </a:p>
              <a:p>
                <a:pPr lvl="1">
                  <a:buFont typeface="Wingdings" pitchFamily="2" charset="2"/>
                  <a:buChar char="Ø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Phase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merge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level-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runs at a time, and write out a level-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run: 2* B(R) I/</a:t>
                </a:r>
                <a:r>
                  <a:rPr lang="en-US" sz="24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well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Total I/O: 2B(R) * Num phases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# phases: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+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𝑀</m:t>
                            </m:r>
                            <m:r>
                              <a:rPr lang="en-US" sz="2400" b="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begChr m:val="⌈"/>
                            <m:endChr m:val="⌉"/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  <m:d>
                                  <m:dPr>
                                    <m:ctrlP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2400" b="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CA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Total I/O: </a:t>
                </a:r>
                <a14:m>
                  <m:oMath xmlns:m="http://schemas.openxmlformats.org/officeDocument/2006/math">
                    <m:r>
                      <a:rPr lang="en-CA" sz="24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CA" sz="24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CA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 sz="24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CA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CA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  <m:d>
                                      <m:dPr>
                                        <m:ctrlPr>
                                          <a:rPr lang="en-US" sz="24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𝑀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Observe: As M increases cost decreases.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when M is B(r) cost is 2B(R) as expected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07082"/>
                <a:ext cx="9001124" cy="5914394"/>
              </a:xfrm>
              <a:blipFill>
                <a:blip r:embed="rId4"/>
                <a:stretch>
                  <a:fillRect l="-987" t="-1499" r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2BE03A-CA7B-4449-B149-F362E3CE4376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I/O Cost 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5B958A-FBEA-394E-B2F9-1AF8767C7029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1755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7C86D-2655-E74A-9735-E00E0931BABC}"/>
              </a:ext>
            </a:extLst>
          </p:cNvPr>
          <p:cNvSpPr txBox="1"/>
          <p:nvPr/>
        </p:nvSpPr>
        <p:spPr>
          <a:xfrm>
            <a:off x="0" y="867859"/>
            <a:ext cx="9060548" cy="4092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Pure Sort: e.g., ORDER BY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Set Union, Difference, Intersection, or Join or R and S (next slide): When the join condition is an equality condition e.g., R.A = S.B,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can be implemented by walking relations “in tandem” as in the merge step of merge sort.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Group-By-and-Aggregate: Exercise: Think about how you can implement group-by-and-aggregate with sorting?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DISTINCT (Related to group-by-and-aggregate)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ED87-21C6-BA4D-8046-23C332C07F6D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Operators That Use Sorting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ABD88B-29A8-8345-A537-F2FB5E3324F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4683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15" y="834522"/>
                <a:ext cx="9033485" cy="5264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𝑅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𝑅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Sort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by their join attributes;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hen merge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= the first tuples in sorted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Repeat until one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is exhausted:</a:t>
                </a:r>
                <a:b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  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𝑟</m:t>
                    </m:r>
                    <m:r>
                      <a:rPr lang="en-US" sz="2000" i="1" dirty="0">
                        <a:latin typeface="Cambria Math"/>
                      </a:rPr>
                      <m:t>.</m:t>
                    </m:r>
                    <m:r>
                      <a:rPr lang="en-US" sz="2000" i="1" dirty="0">
                        <a:latin typeface="Cambria Math"/>
                      </a:rPr>
                      <m:t>𝐴</m:t>
                    </m:r>
                    <m:r>
                      <a:rPr lang="en-US" sz="2000" i="1" dirty="0">
                        <a:latin typeface="Cambria Math"/>
                      </a:rPr>
                      <m:t>&gt;</m:t>
                    </m:r>
                    <m:r>
                      <a:rPr lang="en-US" sz="2000" i="1" dirty="0" err="1">
                        <a:latin typeface="Cambria Math"/>
                      </a:rPr>
                      <m:t>𝑠</m:t>
                    </m:r>
                    <m:r>
                      <a:rPr lang="en-US" sz="2000" i="1" dirty="0" err="1">
                        <a:latin typeface="Cambria Math"/>
                      </a:rPr>
                      <m:t>.</m:t>
                    </m:r>
                    <m:r>
                      <a:rPr lang="en-US" sz="2000" i="1" dirty="0" err="1"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next tuple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b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    else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𝑟</m:t>
                    </m:r>
                    <m:r>
                      <a:rPr lang="en-US" sz="2000" i="1" dirty="0">
                        <a:latin typeface="Cambria Math"/>
                      </a:rPr>
                      <m:t>.</m:t>
                    </m:r>
                    <m:r>
                      <a:rPr lang="en-US" sz="2000" i="1" dirty="0">
                        <a:latin typeface="Cambria Math"/>
                      </a:rPr>
                      <m:t>𝐴</m:t>
                    </m:r>
                    <m:r>
                      <a:rPr lang="en-US" sz="2000" i="1" dirty="0">
                        <a:latin typeface="Cambria Math"/>
                      </a:rPr>
                      <m:t>&lt;</m:t>
                    </m:r>
                    <m:r>
                      <a:rPr lang="en-US" sz="2000" i="1" dirty="0" err="1">
                        <a:latin typeface="Cambria Math"/>
                      </a:rPr>
                      <m:t>𝑠</m:t>
                    </m:r>
                    <m:r>
                      <a:rPr lang="en-US" sz="2000" i="1" dirty="0" err="1">
                        <a:latin typeface="Cambria Math"/>
                      </a:rPr>
                      <m:t>.</m:t>
                    </m:r>
                    <m:r>
                      <a:rPr lang="en-US" sz="2000" i="1" dirty="0" err="1"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next tuple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br>
                  <a:rPr lang="en-US" sz="2000" i="1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000" i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   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else output all matching tuples, and</a:t>
                </a:r>
                <a:b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	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next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endParaRPr lang="en-US" sz="2000" i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Depends on how many tuples match.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 case each r matches 1 s: 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sorting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CA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every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r,s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join (worst-case)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⋅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15" y="834522"/>
                <a:ext cx="9033485" cy="5264622"/>
              </a:xfrm>
              <a:blipFill>
                <a:blip r:embed="rId4"/>
                <a:stretch>
                  <a:fillRect l="-1124" r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2C861-F4F2-C446-A75A-81F7D7E137F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Sort-merge Join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70646D-D1F3-C245-9A99-2DDF88AC88E7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6472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61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493372" y="202268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69" y="202268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232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62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493372" y="202268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69" y="202268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5821F0A-1E00-9541-8B85-439077C03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204" y="240690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5610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63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493372" y="202268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69" y="240690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5821F0A-1E00-9541-8B85-439077C03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204" y="2406909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86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64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240905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91" y="240905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27519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65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91" y="240905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1131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66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200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91" y="240905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296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67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564353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91" y="240905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7076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68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564353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88" y="277098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5776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69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177984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88" y="277098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8017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70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88" y="277098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967067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71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88" y="3141664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0">
            <a:extLst>
              <a:ext uri="{FF2B5EF4-FFF2-40B4-BE49-F238E27FC236}">
                <a16:creationId xmlns:a16="http://schemas.microsoft.com/office/drawing/2014/main" id="{856A723C-0131-BC4F-AECF-C352DAA1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130" y="2782542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724767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72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888" y="3141664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215679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73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63" y="356385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876979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74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06" y="3931524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44706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		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=2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=3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=7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=8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75</a:t>
            </a:fld>
            <a:endParaRPr lang="en-US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3519130" y="348708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5" y="1782763"/>
                <a:ext cx="842154" cy="5132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2F0664-8F65-564C-AA87-98B41E6031E4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3926D0-6B50-B74F-82D7-33A742CB3B5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119DB447-1CA2-1842-910F-C5E04709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06" y="4246564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8C999A-D63A-8048-B3C5-67FA4BD3F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265363"/>
                <a:ext cx="858838" cy="512763"/>
              </a:xfrm>
              <a:prstGeom prst="rect">
                <a:avLst/>
              </a:prstGeom>
              <a:blipFill>
                <a:blip r:embed="rId8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D02577-CE5A-1344-9932-88F2D6463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2743201"/>
                <a:ext cx="852488" cy="512763"/>
              </a:xfrm>
              <a:prstGeom prst="rect">
                <a:avLst/>
              </a:prstGeom>
              <a:blipFill>
                <a:blip r:embed="rId9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3F33DC-55C6-E344-83C7-3684BB1AE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197" y="3243263"/>
                <a:ext cx="858838" cy="512763"/>
              </a:xfrm>
              <a:prstGeom prst="rect">
                <a:avLst/>
              </a:prstGeom>
              <a:blipFill>
                <a:blip r:embed="rId10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54E82C-CDE8-CA48-ACAF-17A54C4E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6372" y="3733801"/>
                <a:ext cx="852488" cy="512763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6686D74-607B-DF43-957E-9BFFC063F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221163"/>
                <a:ext cx="858697" cy="5132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6686D74-607B-DF43-957E-9BFFC063F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200" y="4221163"/>
                <a:ext cx="858697" cy="513282"/>
              </a:xfrm>
              <a:prstGeom prst="rect">
                <a:avLst/>
              </a:prstGeom>
              <a:blipFill>
                <a:blip r:embed="rId12"/>
                <a:stretch>
                  <a:fillRect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586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116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77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Hash Join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0718A4-7FF3-AD42-B6A2-5A4C9296143B}"/>
              </a:ext>
            </a:extLst>
          </p:cNvPr>
          <p:cNvSpPr txBox="1"/>
          <p:nvPr/>
        </p:nvSpPr>
        <p:spPr>
          <a:xfrm>
            <a:off x="0" y="867859"/>
            <a:ext cx="9060548" cy="5107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Consider an equality join, e.g., join of R(X, A) ⋈ S(B, Y) where A=B.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Let h be hash function hashing A or B values to 1, …, k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r ∈ R and s ∈ S “join”, i.e., r[A] = s[B] then: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h(r[A]) = h(s[B])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Question: Why is this a useful observation?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Answer: We can: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partition R by hashing its tuples on A into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partition S by hashing its tuples on B into 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2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where each partitions are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much smaller tables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(e.g., they may fit in memory) &amp; (ii)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tuples in R</a:t>
            </a:r>
            <a:r>
              <a:rPr lang="en-US" sz="22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 can only join with tuples in S</a:t>
            </a:r>
            <a:r>
              <a:rPr lang="en-US" sz="22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8193CC-7867-F448-96E1-06C58A7882B3}"/>
              </a:ext>
            </a:extLst>
          </p:cNvPr>
          <p:cNvSpPr txBox="1"/>
          <p:nvPr/>
        </p:nvSpPr>
        <p:spPr>
          <a:xfrm>
            <a:off x="16079" y="6038984"/>
            <a:ext cx="9127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join will be computed externally, i.e., using disk, hash join can be an efficient algorithm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39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78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Hash Join vs Nested Loop Join Pictorially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1142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400" i="1" dirty="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𝑟</m:t>
                    </m:r>
                    <m:r>
                      <a:rPr lang="en-US" sz="2400" i="1" dirty="0">
                        <a:latin typeface="Cambria Math"/>
                      </a:rPr>
                      <m:t>.</m:t>
                    </m:r>
                    <m:r>
                      <a:rPr lang="en-US" sz="2400" i="1" dirty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𝑠</m:t>
                    </m:r>
                    <m:r>
                      <a:rPr lang="en-US" sz="2400" i="1" dirty="0">
                        <a:latin typeface="Cambria Math"/>
                      </a:rPr>
                      <m:t>.</m:t>
                    </m:r>
                    <m:r>
                      <a:rPr lang="en-US" sz="2400" i="1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 hashed to different partitions, they don’t join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1142108"/>
              </a:xfrm>
              <a:prstGeom prst="rect">
                <a:avLst/>
              </a:prstGeom>
              <a:blipFill>
                <a:blip r:embed="rId4"/>
                <a:stretch>
                  <a:fillRect l="-980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6">
            <a:extLst>
              <a:ext uri="{FF2B5EF4-FFF2-40B4-BE49-F238E27FC236}">
                <a16:creationId xmlns:a16="http://schemas.microsoft.com/office/drawing/2014/main" id="{CA25FDD2-11A4-5844-8A92-9D6C1F041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575" y="2668120"/>
            <a:ext cx="35925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dirty="0">
                <a:latin typeface="+mn-lt"/>
              </a:rPr>
              <a:t>Nested-loop join </a:t>
            </a:r>
            <a:br>
              <a:rPr kumimoji="0" lang="en-US" dirty="0">
                <a:latin typeface="+mn-lt"/>
              </a:rPr>
            </a:br>
            <a:r>
              <a:rPr kumimoji="0" lang="en-US" dirty="0">
                <a:latin typeface="+mn-lt"/>
              </a:rPr>
              <a:t>considers all slots</a:t>
            </a:r>
          </a:p>
        </p:txBody>
      </p:sp>
      <p:sp>
        <p:nvSpPr>
          <p:cNvPr id="8" name="Text Box 26">
            <a:extLst>
              <a:ext uri="{FF2B5EF4-FFF2-40B4-BE49-F238E27FC236}">
                <a16:creationId xmlns:a16="http://schemas.microsoft.com/office/drawing/2014/main" id="{64A62144-A655-3545-BC6E-580EED812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339" y="2768132"/>
            <a:ext cx="257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1</a:t>
            </a:r>
          </a:p>
        </p:txBody>
      </p:sp>
      <p:sp>
        <p:nvSpPr>
          <p:cNvPr id="9" name="Text Box 27">
            <a:extLst>
              <a:ext uri="{FF2B5EF4-FFF2-40B4-BE49-F238E27FC236}">
                <a16:creationId xmlns:a16="http://schemas.microsoft.com/office/drawing/2014/main" id="{0EA44B3D-AD41-DC45-954D-E9F21B674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702" y="314913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2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id="{0A9980D6-828C-0C41-86E6-BD7F81A5D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102" y="2514132"/>
            <a:ext cx="257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1</a:t>
            </a:r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511C2AA1-C3FD-E240-884F-DD237A8D6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4339" y="251413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2</a:t>
            </a:r>
          </a:p>
        </p:txBody>
      </p:sp>
      <p:sp>
        <p:nvSpPr>
          <p:cNvPr id="12" name="Text Box 39">
            <a:extLst>
              <a:ext uri="{FF2B5EF4-FFF2-40B4-BE49-F238E27FC236}">
                <a16:creationId xmlns:a16="http://schemas.microsoft.com/office/drawing/2014/main" id="{9D131E5B-96BD-4B4B-918B-46E9F77C2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939" y="251413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3</a:t>
            </a:r>
          </a:p>
        </p:txBody>
      </p:sp>
      <p:sp>
        <p:nvSpPr>
          <p:cNvPr id="13" name="Text Box 40">
            <a:extLst>
              <a:ext uri="{FF2B5EF4-FFF2-40B4-BE49-F238E27FC236}">
                <a16:creationId xmlns:a16="http://schemas.microsoft.com/office/drawing/2014/main" id="{B5169CC3-DA8D-5B47-886E-A0BBCD2F3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139" y="2514132"/>
            <a:ext cx="2936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4</a:t>
            </a:r>
          </a:p>
        </p:txBody>
      </p:sp>
      <p:sp>
        <p:nvSpPr>
          <p:cNvPr id="14" name="Text Box 41">
            <a:extLst>
              <a:ext uri="{FF2B5EF4-FFF2-40B4-BE49-F238E27FC236}">
                <a16:creationId xmlns:a16="http://schemas.microsoft.com/office/drawing/2014/main" id="{42EC6F39-F221-A14F-807D-B216D5413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739" y="251413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5</a:t>
            </a:r>
          </a:p>
        </p:txBody>
      </p:sp>
      <p:sp>
        <p:nvSpPr>
          <p:cNvPr id="15" name="Rectangle 42">
            <a:extLst>
              <a:ext uri="{FF2B5EF4-FFF2-40B4-BE49-F238E27FC236}">
                <a16:creationId xmlns:a16="http://schemas.microsoft.com/office/drawing/2014/main" id="{8A5A54F0-48BE-9E4B-9A5E-164A0B532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777" y="2799882"/>
            <a:ext cx="3200400" cy="1981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43">
            <a:extLst>
              <a:ext uri="{FF2B5EF4-FFF2-40B4-BE49-F238E27FC236}">
                <a16:creationId xmlns:a16="http://schemas.microsoft.com/office/drawing/2014/main" id="{B98D707A-BE81-4C42-B015-14A24F550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3377" y="2799882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44">
            <a:extLst>
              <a:ext uri="{FF2B5EF4-FFF2-40B4-BE49-F238E27FC236}">
                <a16:creationId xmlns:a16="http://schemas.microsoft.com/office/drawing/2014/main" id="{FBEF6B26-E121-0B44-A7A9-9B72845E4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6777" y="2799882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5">
            <a:extLst>
              <a:ext uri="{FF2B5EF4-FFF2-40B4-BE49-F238E27FC236}">
                <a16:creationId xmlns:a16="http://schemas.microsoft.com/office/drawing/2014/main" id="{81B32945-73DC-2B4D-86C0-ECCFFE4F9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4977" y="2799882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46">
            <a:extLst>
              <a:ext uri="{FF2B5EF4-FFF2-40B4-BE49-F238E27FC236}">
                <a16:creationId xmlns:a16="http://schemas.microsoft.com/office/drawing/2014/main" id="{C5D8FFB5-6C85-E343-A5A9-B897CE62D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777" y="2799882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7">
            <a:extLst>
              <a:ext uri="{FF2B5EF4-FFF2-40B4-BE49-F238E27FC236}">
                <a16:creationId xmlns:a16="http://schemas.microsoft.com/office/drawing/2014/main" id="{072D7DBE-CE1B-104F-A380-0187F9CC7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777" y="3180882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8">
            <a:extLst>
              <a:ext uri="{FF2B5EF4-FFF2-40B4-BE49-F238E27FC236}">
                <a16:creationId xmlns:a16="http://schemas.microsoft.com/office/drawing/2014/main" id="{E795810E-4A64-1B48-93F8-CDB6B162E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777" y="3485682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9">
            <a:extLst>
              <a:ext uri="{FF2B5EF4-FFF2-40B4-BE49-F238E27FC236}">
                <a16:creationId xmlns:a16="http://schemas.microsoft.com/office/drawing/2014/main" id="{23DA87D0-ADBC-9743-8569-F5F3046BA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777" y="4019082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50">
            <a:extLst>
              <a:ext uri="{FF2B5EF4-FFF2-40B4-BE49-F238E27FC236}">
                <a16:creationId xmlns:a16="http://schemas.microsoft.com/office/drawing/2014/main" id="{DFC533CD-B3DC-C74D-99ED-887941A22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777" y="4400082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51">
                <a:extLst>
                  <a:ext uri="{FF2B5EF4-FFF2-40B4-BE49-F238E27FC236}">
                    <a16:creationId xmlns:a16="http://schemas.microsoft.com/office/drawing/2014/main" id="{1E153383-CCCE-D64C-B80E-CFB7EE366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1577" y="2352207"/>
                <a:ext cx="44450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kumimoji="0" lang="en-US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24" name="Text Box 51">
                <a:extLst>
                  <a:ext uri="{FF2B5EF4-FFF2-40B4-BE49-F238E27FC236}">
                    <a16:creationId xmlns:a16="http://schemas.microsoft.com/office/drawing/2014/main" id="{1E153383-CCCE-D64C-B80E-CFB7EE366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1577" y="2352207"/>
                <a:ext cx="444500" cy="4619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52">
                <a:extLst>
                  <a:ext uri="{FF2B5EF4-FFF2-40B4-BE49-F238E27FC236}">
                    <a16:creationId xmlns:a16="http://schemas.microsoft.com/office/drawing/2014/main" id="{7EDEA060-F5A5-EF49-9112-C51B2FE551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2289" y="3333282"/>
                <a:ext cx="4127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kumimoji="0" lang="en-US" i="1" dirty="0">
                  <a:latin typeface="+mn-lt"/>
                </a:endParaRPr>
              </a:p>
            </p:txBody>
          </p:sp>
        </mc:Choice>
        <mc:Fallback xmlns="">
          <p:sp>
            <p:nvSpPr>
              <p:cNvPr id="25" name="Text Box 52">
                <a:extLst>
                  <a:ext uri="{FF2B5EF4-FFF2-40B4-BE49-F238E27FC236}">
                    <a16:creationId xmlns:a16="http://schemas.microsoft.com/office/drawing/2014/main" id="{7EDEA060-F5A5-EF49-9112-C51B2FE55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289" y="3333282"/>
                <a:ext cx="412750" cy="461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53">
            <a:extLst>
              <a:ext uri="{FF2B5EF4-FFF2-40B4-BE49-F238E27FC236}">
                <a16:creationId xmlns:a16="http://schemas.microsoft.com/office/drawing/2014/main" id="{5BAAA935-0643-1647-90E1-B99859E99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702" y="363808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dirty="0">
                <a:latin typeface="+mn-lt"/>
              </a:rPr>
              <a:t>3</a:t>
            </a:r>
          </a:p>
        </p:txBody>
      </p:sp>
      <p:sp>
        <p:nvSpPr>
          <p:cNvPr id="27" name="Text Box 54">
            <a:extLst>
              <a:ext uri="{FF2B5EF4-FFF2-40B4-BE49-F238E27FC236}">
                <a16:creationId xmlns:a16="http://schemas.microsoft.com/office/drawing/2014/main" id="{7544AC01-B6E2-E44D-A2B5-95CCF6363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702" y="3987332"/>
            <a:ext cx="2936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4</a:t>
            </a:r>
          </a:p>
        </p:txBody>
      </p:sp>
      <p:sp>
        <p:nvSpPr>
          <p:cNvPr id="28" name="Text Box 55">
            <a:extLst>
              <a:ext uri="{FF2B5EF4-FFF2-40B4-BE49-F238E27FC236}">
                <a16:creationId xmlns:a16="http://schemas.microsoft.com/office/drawing/2014/main" id="{1834384F-886D-764D-8F50-4607D0436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339" y="4368332"/>
            <a:ext cx="284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>
                <a:latin typeface="+mn-lt"/>
              </a:rPr>
              <a:t>5</a:t>
            </a:r>
          </a:p>
        </p:txBody>
      </p:sp>
      <p:grpSp>
        <p:nvGrpSpPr>
          <p:cNvPr id="29" name="Group 60">
            <a:extLst>
              <a:ext uri="{FF2B5EF4-FFF2-40B4-BE49-F238E27FC236}">
                <a16:creationId xmlns:a16="http://schemas.microsoft.com/office/drawing/2014/main" id="{F92CE7A3-D0AF-2E4A-A555-F37AF71BD5BD}"/>
              </a:ext>
            </a:extLst>
          </p:cNvPr>
          <p:cNvGrpSpPr>
            <a:grpSpLocks/>
          </p:cNvGrpSpPr>
          <p:nvPr/>
        </p:nvGrpSpPr>
        <p:grpSpPr bwMode="auto">
          <a:xfrm>
            <a:off x="1403776" y="2799882"/>
            <a:ext cx="6827838" cy="1981200"/>
            <a:chOff x="1296" y="2880"/>
            <a:chExt cx="4301" cy="1248"/>
          </a:xfrm>
        </p:grpSpPr>
        <p:sp>
          <p:nvSpPr>
            <p:cNvPr id="30" name="Text Box 61">
              <a:extLst>
                <a:ext uri="{FF2B5EF4-FFF2-40B4-BE49-F238E27FC236}">
                  <a16:creationId xmlns:a16="http://schemas.microsoft.com/office/drawing/2014/main" id="{85933F29-4906-4746-B6E2-79817CB1B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396"/>
              <a:ext cx="218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Hash join considers only</a:t>
              </a:r>
              <a:br>
                <a:rPr kumimoji="0" lang="en-US" dirty="0">
                  <a:solidFill>
                    <a:schemeClr val="accent2"/>
                  </a:solidFill>
                  <a:latin typeface="+mn-lt"/>
                </a:rPr>
              </a:b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those along the diagonal!</a:t>
              </a:r>
            </a:p>
          </p:txBody>
        </p:sp>
        <p:sp>
          <p:nvSpPr>
            <p:cNvPr id="31" name="Rectangle 62">
              <a:extLst>
                <a:ext uri="{FF2B5EF4-FFF2-40B4-BE49-F238E27FC236}">
                  <a16:creationId xmlns:a16="http://schemas.microsoft.com/office/drawing/2014/main" id="{0AC8A85C-9FBE-A747-85C6-DC9F62F8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80"/>
              <a:ext cx="384" cy="2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63">
              <a:extLst>
                <a:ext uri="{FF2B5EF4-FFF2-40B4-BE49-F238E27FC236}">
                  <a16:creationId xmlns:a16="http://schemas.microsoft.com/office/drawing/2014/main" id="{26B0D154-C56B-3843-A481-AF9A7ACE1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120"/>
              <a:ext cx="336" cy="19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DC24403C-3686-1946-8831-B2B864B74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528" cy="336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65">
              <a:extLst>
                <a:ext uri="{FF2B5EF4-FFF2-40B4-BE49-F238E27FC236}">
                  <a16:creationId xmlns:a16="http://schemas.microsoft.com/office/drawing/2014/main" id="{673267BB-CF3F-DD46-BF6C-977657C2E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648"/>
              <a:ext cx="432" cy="2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39893713-F4C4-BE44-8260-201FAA846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888"/>
              <a:ext cx="336" cy="2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" name="Oval 29">
            <a:extLst>
              <a:ext uri="{FF2B5EF4-FFF2-40B4-BE49-F238E27FC236}">
                <a16:creationId xmlns:a16="http://schemas.microsoft.com/office/drawing/2014/main" id="{4C8633DD-871D-EE4E-89D6-D1D023AE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302" y="2768132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7" name="Oval 30">
            <a:extLst>
              <a:ext uri="{FF2B5EF4-FFF2-40B4-BE49-F238E27FC236}">
                <a16:creationId xmlns:a16="http://schemas.microsoft.com/office/drawing/2014/main" id="{6F1EB923-BB03-2240-B492-115F1EF7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577" y="2768132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DE45ACDA-6058-0142-981C-670C53198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614" y="2764957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9" name="Oval 32">
            <a:extLst>
              <a:ext uri="{FF2B5EF4-FFF2-40B4-BE49-F238E27FC236}">
                <a16:creationId xmlns:a16="http://schemas.microsoft.com/office/drawing/2014/main" id="{55F918E1-1CED-6742-86A6-AD985B5B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902" y="2761782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id="{B5602ECE-839F-EA42-A6FD-8B8B1B72D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302" y="2769720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1" name="Oval 34">
            <a:extLst>
              <a:ext uri="{FF2B5EF4-FFF2-40B4-BE49-F238E27FC236}">
                <a16:creationId xmlns:a16="http://schemas.microsoft.com/office/drawing/2014/main" id="{874932AD-7700-F14D-9FEA-E10658B71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29522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2" name="Oval 35">
            <a:extLst>
              <a:ext uri="{FF2B5EF4-FFF2-40B4-BE49-F238E27FC236}">
                <a16:creationId xmlns:a16="http://schemas.microsoft.com/office/drawing/2014/main" id="{5462E9AF-C8A2-0148-A253-063A507BF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32570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3" name="Oval 36">
            <a:extLst>
              <a:ext uri="{FF2B5EF4-FFF2-40B4-BE49-F238E27FC236}">
                <a16:creationId xmlns:a16="http://schemas.microsoft.com/office/drawing/2014/main" id="{8B2FD642-7C00-CB4A-AACA-47C0B77B2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33332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4" name="Oval 56">
            <a:extLst>
              <a:ext uri="{FF2B5EF4-FFF2-40B4-BE49-F238E27FC236}">
                <a16:creationId xmlns:a16="http://schemas.microsoft.com/office/drawing/2014/main" id="{2A404186-3BB6-4D43-8267-C2E94BD44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36380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5" name="Oval 57">
            <a:extLst>
              <a:ext uri="{FF2B5EF4-FFF2-40B4-BE49-F238E27FC236}">
                <a16:creationId xmlns:a16="http://schemas.microsoft.com/office/drawing/2014/main" id="{AB91A060-60A2-8A4D-8DB8-DDCA166FA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37142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6" name="Oval 58">
            <a:extLst>
              <a:ext uri="{FF2B5EF4-FFF2-40B4-BE49-F238E27FC236}">
                <a16:creationId xmlns:a16="http://schemas.microsoft.com/office/drawing/2014/main" id="{C5E25FE6-CF75-5A43-ACD5-AA278108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3877795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7" name="Oval 59">
            <a:extLst>
              <a:ext uri="{FF2B5EF4-FFF2-40B4-BE49-F238E27FC236}">
                <a16:creationId xmlns:a16="http://schemas.microsoft.com/office/drawing/2014/main" id="{FF1AD277-0B07-774F-8DC3-8F5FD4BC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502" y="4171482"/>
            <a:ext cx="76200" cy="76200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8" name="Oval 28">
            <a:extLst>
              <a:ext uri="{FF2B5EF4-FFF2-40B4-BE49-F238E27FC236}">
                <a16:creationId xmlns:a16="http://schemas.microsoft.com/office/drawing/2014/main" id="{CC6D333C-7B51-224B-8DFF-5DC8EB588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902" y="2766545"/>
            <a:ext cx="76200" cy="76200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066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79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(External) Hash Join Algorithm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D6B081-057B-8643-8848-DF764627FF70}"/>
              </a:ext>
            </a:extLst>
          </p:cNvPr>
          <p:cNvSpPr txBox="1"/>
          <p:nvPr/>
        </p:nvSpPr>
        <p:spPr>
          <a:xfrm>
            <a:off x="0" y="867859"/>
            <a:ext cx="9060548" cy="3459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h be a hash function mapping A or B columns into 1, …, k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Pick k &lt; M (why?)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Phase 1: partition R and S into k partitions using h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Phase 2: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1, …, k: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read R</a:t>
            </a:r>
            <a:r>
              <a:rPr lang="en-US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and S</a:t>
            </a:r>
            <a:r>
              <a:rPr lang="en-US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into memory and use in-memory hash-join alg.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(i.e.,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 a hash tabl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 of R</a:t>
            </a:r>
            <a:r>
              <a:rPr lang="en-US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</a:t>
            </a:r>
            <a:r>
              <a:rPr lang="en-US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tuples)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C5B5C1-0F3D-BE48-89B0-1F88BD3C594D}"/>
              </a:ext>
            </a:extLst>
          </p:cNvPr>
          <p:cNvGrpSpPr/>
          <p:nvPr/>
        </p:nvGrpSpPr>
        <p:grpSpPr>
          <a:xfrm>
            <a:off x="273512" y="4557933"/>
            <a:ext cx="3833311" cy="2005431"/>
            <a:chOff x="3552465" y="4547971"/>
            <a:chExt cx="4210439" cy="2235043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1226E27A-9E77-3D41-9ADD-354AFFD57B87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R.A = S.B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2F71F036-A26A-1B4C-99C6-CBFE8DFFCE2A}"/>
                </a:ext>
              </a:extLst>
            </p:cNvPr>
            <p:cNvSpPr/>
            <p:nvPr/>
          </p:nvSpPr>
          <p:spPr>
            <a:xfrm>
              <a:off x="3552465" y="6044848"/>
              <a:ext cx="1350111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7CE0686-B9EE-A444-87FE-B5A6258485D1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 flipH="1">
              <a:off x="4227521" y="5213868"/>
              <a:ext cx="1618415" cy="83098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1D301DB-9B1B-D048-A905-8DD9E7B91366}"/>
                </a:ext>
              </a:extLst>
            </p:cNvPr>
            <p:cNvCxnSpPr>
              <a:cxnSpLocks/>
              <a:stCxn id="52" idx="2"/>
              <a:endCxn id="57" idx="0"/>
            </p:cNvCxnSpPr>
            <p:nvPr/>
          </p:nvCxnSpPr>
          <p:spPr>
            <a:xfrm>
              <a:off x="5845936" y="5213868"/>
              <a:ext cx="1241913" cy="81612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3D967D03-9AFC-214B-A89A-203D4A6C0B85}"/>
                </a:ext>
              </a:extLst>
            </p:cNvPr>
            <p:cNvSpPr/>
            <p:nvPr/>
          </p:nvSpPr>
          <p:spPr>
            <a:xfrm>
              <a:off x="6412792" y="6029989"/>
              <a:ext cx="1350112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767C79-B820-D741-A8C2-04AC9E9D9A70}"/>
              </a:ext>
            </a:extLst>
          </p:cNvPr>
          <p:cNvSpPr txBox="1"/>
          <p:nvPr/>
        </p:nvSpPr>
        <p:spPr>
          <a:xfrm>
            <a:off x="133020" y="5428917"/>
            <a:ext cx="142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probe side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EB9F8-2336-2B4B-BB7A-F23DE9870EC4}"/>
              </a:ext>
            </a:extLst>
          </p:cNvPr>
          <p:cNvSpPr txBox="1"/>
          <p:nvPr/>
        </p:nvSpPr>
        <p:spPr>
          <a:xfrm>
            <a:off x="3116640" y="5428917"/>
            <a:ext cx="119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side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33F93-843E-3241-88C1-9DA44EECD7CB}"/>
              </a:ext>
            </a:extLst>
          </p:cNvPr>
          <p:cNvSpPr/>
          <p:nvPr/>
        </p:nvSpPr>
        <p:spPr>
          <a:xfrm>
            <a:off x="4397941" y="4431566"/>
            <a:ext cx="4572000" cy="21184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Q: Systems make the smaller (estimated) relation the build side? Why?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Quicker to build &amp; search in hash table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Note: do not have to use any memory for probe side, e.g., can just stream 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07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80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Phase 1: Partitioning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/>
                  <a:t>Partition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400" dirty="0"/>
                  <a:t> according to the same hash function on their join attributes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830997"/>
              </a:xfrm>
              <a:prstGeom prst="rect">
                <a:avLst/>
              </a:prstGeom>
              <a:blipFill>
                <a:blip r:embed="rId4"/>
                <a:stretch>
                  <a:fillRect l="-980" t="-4545" r="-168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393564C-65B4-A24F-8F7B-B66B0AC4590D}"/>
              </a:ext>
            </a:extLst>
          </p:cNvPr>
          <p:cNvGrpSpPr>
            <a:grpSpLocks/>
          </p:cNvGrpSpPr>
          <p:nvPr/>
        </p:nvGrpSpPr>
        <p:grpSpPr bwMode="auto">
          <a:xfrm>
            <a:off x="1082993" y="2067243"/>
            <a:ext cx="6465887" cy="3041649"/>
            <a:chOff x="439" y="1827"/>
            <a:chExt cx="4073" cy="1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D5EC77D-A885-1944-A93D-D5C362D18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8" y="3354"/>
                  <a:ext cx="121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sz="2000" dirty="0"/>
                    <a:t>k partitions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D5EC77D-A885-1944-A93D-D5C362D185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88" y="3354"/>
                  <a:ext cx="1212" cy="252"/>
                </a:xfrm>
                <a:prstGeom prst="rect">
                  <a:avLst/>
                </a:prstGeom>
                <a:blipFill>
                  <a:blip r:embed="rId5"/>
                  <a:stretch>
                    <a:fillRect l="-2632" t="-9375" b="-2812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8CFA21-1A5E-014E-9ABE-51F50F581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2160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DFA6FC5-16AD-C948-B758-6A4D5D2A0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235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9C783F-3B9B-D949-83AF-E36CB6390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2544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17A5BE45-1F0F-EC4A-A908-24C06FDCC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10">
              <a:extLst>
                <a:ext uri="{FF2B5EF4-FFF2-40B4-BE49-F238E27FC236}">
                  <a16:creationId xmlns:a16="http://schemas.microsoft.com/office/drawing/2014/main" id="{35B72162-469D-5640-A6F0-035AB8F65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872"/>
              <a:ext cx="1632" cy="1776"/>
            </a:xfrm>
            <a:prstGeom prst="can">
              <a:avLst>
                <a:gd name="adj" fmla="val 13825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C5A12A-B4D4-8F43-BA0C-41BACD842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160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5B32CB-FD57-E541-B7F3-84E6B357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352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2E49E-998D-FA48-BDEA-2F0E19982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544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784CD03-052D-E443-A780-6644ACA16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36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87C5FCC3-EA18-6142-BE79-2F9E717AD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1835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E82EFD-2859-4749-90E6-AE9A016D4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1584" cy="134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AC2A67D2-F0A6-0442-A4C7-CC1C40AE5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827"/>
              <a:ext cx="8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E020EE90-A9AC-F04F-8F49-F5907599F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424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39E06E20-F332-5C40-AD33-ED6754EAC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616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AF5181D-4F9C-F548-B1A9-B45854104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2736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AD3FEEFC-EDD3-9D40-A176-75C260A18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0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351807-BEDC-6646-B609-377B9B8F4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48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A2714BB7-EAFD-7C4C-9B6B-DABDC689D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0" y="2240"/>
              <a:ext cx="91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C0A2E350-7E00-0648-B020-FACABD998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0" y="2432"/>
              <a:ext cx="912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5">
              <a:extLst>
                <a:ext uri="{FF2B5EF4-FFF2-40B4-BE49-F238E27FC236}">
                  <a16:creationId xmlns:a16="http://schemas.microsoft.com/office/drawing/2014/main" id="{EE0CA2A8-24C0-394D-A9AB-CD91ACC25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2544"/>
              <a:ext cx="912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B6AE6740-BDCB-AC45-8483-54771515A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2576"/>
              <a:ext cx="91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D3BB1274-137B-1F4A-874E-3A60FAADC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52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28">
                  <a:extLst>
                    <a:ext uri="{FF2B5EF4-FFF2-40B4-BE49-F238E27FC236}">
                      <a16:creationId xmlns:a16="http://schemas.microsoft.com/office/drawing/2014/main" id="{8C09D8C9-E4A0-AD40-8C90-BFCE92D9E3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" y="2374"/>
                  <a:ext cx="280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0" lang="en-US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509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" y="2374"/>
                  <a:ext cx="293" cy="29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8A63D53A-DD10-9748-B2CE-AAB0CED70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1" y="3510"/>
                  <a:ext cx="778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dirty="0"/>
                    <a:t>Same for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2051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2" y="3510"/>
                  <a:ext cx="915" cy="29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6303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2FACA01-A1BE-2948-B00A-EE728776F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168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64B3A3D-799D-9E49-AA85-DF468560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168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DC43881A-7999-E84A-87BA-8C6C6F15D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33">
              <a:extLst>
                <a:ext uri="{FF2B5EF4-FFF2-40B4-BE49-F238E27FC236}">
                  <a16:creationId xmlns:a16="http://schemas.microsoft.com/office/drawing/2014/main" id="{66176FF9-EA0F-9F41-8E74-F4F778CF4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015" y="285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b="1">
                  <a:latin typeface="+mn-lt"/>
                </a:rPr>
                <a:t>…</a:t>
              </a:r>
            </a:p>
          </p:txBody>
        </p:sp>
        <p:sp>
          <p:nvSpPr>
            <p:cNvPr id="45" name="Text Box 34">
              <a:extLst>
                <a:ext uri="{FF2B5EF4-FFF2-40B4-BE49-F238E27FC236}">
                  <a16:creationId xmlns:a16="http://schemas.microsoft.com/office/drawing/2014/main" id="{8453D52D-BC61-7148-BE09-ADF65ECE1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495" y="2873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b="1" dirty="0">
                  <a:latin typeface="+mn-lt"/>
                </a:rPr>
                <a:t>…</a:t>
              </a:r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356DCA78-C279-A542-A260-3AB96FB71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84"/>
              <a:ext cx="912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551B1B3-2B1E-FC49-B7B1-799D99E1FDED}"/>
              </a:ext>
            </a:extLst>
          </p:cNvPr>
          <p:cNvSpPr/>
          <p:nvPr/>
        </p:nvSpPr>
        <p:spPr>
          <a:xfrm>
            <a:off x="4814923" y="5113972"/>
            <a:ext cx="3026692" cy="787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Each partition takes ~ B(R)/k blocks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88348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81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Phase 2: Probing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D6B081-057B-8643-8848-DF764627FF70}"/>
              </a:ext>
            </a:extLst>
          </p:cNvPr>
          <p:cNvSpPr txBox="1"/>
          <p:nvPr/>
        </p:nvSpPr>
        <p:spPr>
          <a:xfrm>
            <a:off x="0" y="867859"/>
            <a:ext cx="90605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Read in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stream in the corresponding partition S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join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Typically use in-memory hash join: build a hash table of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often use a different hash function for in-memory hash join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8851232-E9FA-2A4A-9E7F-B6AF02F18408}"/>
              </a:ext>
            </a:extLst>
          </p:cNvPr>
          <p:cNvGrpSpPr>
            <a:grpSpLocks/>
          </p:cNvGrpSpPr>
          <p:nvPr/>
        </p:nvGrpSpPr>
        <p:grpSpPr bwMode="auto">
          <a:xfrm>
            <a:off x="663225" y="2524443"/>
            <a:ext cx="7750175" cy="3195637"/>
            <a:chOff x="14" y="2211"/>
            <a:chExt cx="4882" cy="201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45B13D5-6D96-054D-B9E9-C6EE472B3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59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336231-6BBB-0E4A-95A9-7B312CF6F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59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AutoShape 7">
              <a:extLst>
                <a:ext uri="{FF2B5EF4-FFF2-40B4-BE49-F238E27FC236}">
                  <a16:creationId xmlns:a16="http://schemas.microsoft.com/office/drawing/2014/main" id="{0B963CEA-5391-0742-9BE9-676D30C3C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256"/>
              <a:ext cx="1632" cy="1968"/>
            </a:xfrm>
            <a:prstGeom prst="can">
              <a:avLst>
                <a:gd name="adj" fmla="val 12868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DAB5C28-B389-EB42-97E2-5F1E8D6F0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04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3B1DA0-6945-1846-989F-5C2EDD8D6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96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FA41F7D-2E51-2647-A488-BBFF92BDA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080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Text Box 11">
              <a:extLst>
                <a:ext uri="{FF2B5EF4-FFF2-40B4-BE49-F238E27FC236}">
                  <a16:creationId xmlns:a16="http://schemas.microsoft.com/office/drawing/2014/main" id="{78E49FDA-DA1D-834B-9EBE-70D51A615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9" y="2219"/>
              <a:ext cx="4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Disk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4ACED3-7EE0-1543-AB8B-E317F71E9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496"/>
              <a:ext cx="1584" cy="134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Text Box 13">
              <a:extLst>
                <a:ext uri="{FF2B5EF4-FFF2-40B4-BE49-F238E27FC236}">
                  <a16:creationId xmlns:a16="http://schemas.microsoft.com/office/drawing/2014/main" id="{66B6060B-B05B-6740-8E59-75EAF7DD1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211"/>
              <a:ext cx="8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>
                  <a:latin typeface="+mn-lt"/>
                </a:rPr>
                <a:t>Memory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138B08F-9672-C148-83A0-D6D9302EA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55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1D56E86-8449-1C4E-8270-CA187F494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408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8148B55-5BFA-2F44-8DE1-326E1922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600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6F5A4AE-C5C4-3145-B107-489086851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984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8">
                  <a:extLst>
                    <a:ext uri="{FF2B5EF4-FFF2-40B4-BE49-F238E27FC236}">
                      <a16:creationId xmlns:a16="http://schemas.microsoft.com/office/drawing/2014/main" id="{3296BB86-D8ED-FC4A-8F90-FE631EDFD6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147" y="2558"/>
                  <a:ext cx="582" cy="8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br>
                    <a:rPr kumimoji="0" lang="en-US" dirty="0">
                      <a:latin typeface="+mn-lt"/>
                    </a:rPr>
                  </a:br>
                  <a:r>
                    <a:rPr kumimoji="0" lang="en-US" dirty="0">
                      <a:latin typeface="+mn-lt"/>
                    </a:rPr>
                    <a:t>partitions</a:t>
                  </a:r>
                </a:p>
              </p:txBody>
            </p:sp>
          </mc:Choice>
          <mc:Fallback xmlns="">
            <p:sp>
              <p:nvSpPr>
                <p:cNvPr id="21523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rot="16200000">
                  <a:off x="147" y="2600"/>
                  <a:ext cx="582" cy="76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1055" r="-11055" b="-927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AutoShape 19">
              <a:extLst>
                <a:ext uri="{FF2B5EF4-FFF2-40B4-BE49-F238E27FC236}">
                  <a16:creationId xmlns:a16="http://schemas.microsoft.com/office/drawing/2014/main" id="{37F4DF90-89B5-5642-B633-1897BC25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496"/>
              <a:ext cx="144" cy="72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 Box 20">
                  <a:extLst>
                    <a:ext uri="{FF2B5EF4-FFF2-40B4-BE49-F238E27FC236}">
                      <a16:creationId xmlns:a16="http://schemas.microsoft.com/office/drawing/2014/main" id="{6C3B7A7B-0C91-174C-A4D0-026896FB04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147" y="3470"/>
                  <a:ext cx="582" cy="8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vert="eaVert"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br>
                    <a:rPr kumimoji="0" lang="en-US" dirty="0">
                      <a:latin typeface="+mn-lt"/>
                    </a:rPr>
                  </a:br>
                  <a:r>
                    <a:rPr kumimoji="0" lang="en-US" dirty="0">
                      <a:latin typeface="+mn-lt"/>
                    </a:rPr>
                    <a:t>partitions</a:t>
                  </a:r>
                </a:p>
              </p:txBody>
            </p:sp>
          </mc:Choice>
          <mc:Fallback xmlns="">
            <p:sp>
              <p:nvSpPr>
                <p:cNvPr id="21525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rot="16200000">
                  <a:off x="147" y="3512"/>
                  <a:ext cx="582" cy="76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1055" r="-11055" b="-921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AutoShape 21">
              <a:extLst>
                <a:ext uri="{FF2B5EF4-FFF2-40B4-BE49-F238E27FC236}">
                  <a16:creationId xmlns:a16="http://schemas.microsoft.com/office/drawing/2014/main" id="{A27B2FDA-C4E2-064F-89F8-23F7395C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408"/>
              <a:ext cx="144" cy="72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7F03144-8F06-7B4F-A274-B86ABC633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9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2EC211D-6FF9-B841-8A87-948CDF712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59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5BC8356-30AB-F843-86E8-EFDC91B918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646" y="2849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b="1"/>
                <a:t>…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789D7D4-120B-A944-BECE-17E07B858C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646" y="3761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b="1"/>
                <a:t>…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94F002A-F0DC-3943-BD90-54D9D9CB2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98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b="1"/>
                <a:t>…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9A148DD-9870-1549-A32B-5BBB07668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592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EADF987-2A79-FC48-BEBA-F5D5F6420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20"/>
              <a:ext cx="144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29">
              <a:extLst>
                <a:ext uri="{FF2B5EF4-FFF2-40B4-BE49-F238E27FC236}">
                  <a16:creationId xmlns:a16="http://schemas.microsoft.com/office/drawing/2014/main" id="{C37D404F-CE1D-5943-B39F-185C65A32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688"/>
              <a:ext cx="624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30">
              <a:extLst>
                <a:ext uri="{FF2B5EF4-FFF2-40B4-BE49-F238E27FC236}">
                  <a16:creationId xmlns:a16="http://schemas.microsoft.com/office/drawing/2014/main" id="{9CBA658B-FFE6-AF47-BDAD-77D4318F00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3600"/>
              <a:ext cx="672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Box 31">
              <a:extLst>
                <a:ext uri="{FF2B5EF4-FFF2-40B4-BE49-F238E27FC236}">
                  <a16:creationId xmlns:a16="http://schemas.microsoft.com/office/drawing/2014/main" id="{F367A889-ACD5-5343-BFE8-C48F2ECA5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1" y="2460"/>
              <a:ext cx="4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load</a:t>
              </a:r>
            </a:p>
          </p:txBody>
        </p:sp>
        <p:sp>
          <p:nvSpPr>
            <p:cNvPr id="78" name="Text Box 32">
              <a:extLst>
                <a:ext uri="{FF2B5EF4-FFF2-40B4-BE49-F238E27FC236}">
                  <a16:creationId xmlns:a16="http://schemas.microsoft.com/office/drawing/2014/main" id="{88D84F0A-629C-EF4C-9756-B8DFA2177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" y="3363"/>
              <a:ext cx="5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>
                  <a:latin typeface="+mn-lt"/>
                </a:rPr>
                <a:t>stream</a:t>
              </a: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F105A1C-D18B-9B4F-84E3-B0E7052F3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2784"/>
              <a:ext cx="336" cy="720"/>
            </a:xfrm>
            <a:custGeom>
              <a:avLst/>
              <a:gdLst>
                <a:gd name="T0" fmla="*/ 0 w 288"/>
                <a:gd name="T1" fmla="*/ 720 h 720"/>
                <a:gd name="T2" fmla="*/ 1120 w 288"/>
                <a:gd name="T3" fmla="*/ 336 h 720"/>
                <a:gd name="T4" fmla="*/ 1345 w 288"/>
                <a:gd name="T5" fmla="*/ 0 h 720"/>
                <a:gd name="T6" fmla="*/ 0 60000 65536"/>
                <a:gd name="T7" fmla="*/ 0 60000 65536"/>
                <a:gd name="T8" fmla="*/ 0 60000 65536"/>
                <a:gd name="T9" fmla="*/ 0 w 288"/>
                <a:gd name="T10" fmla="*/ 0 h 720"/>
                <a:gd name="T11" fmla="*/ 288 w 288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720">
                  <a:moveTo>
                    <a:pt x="0" y="720"/>
                  </a:moveTo>
                  <a:cubicBezTo>
                    <a:pt x="96" y="588"/>
                    <a:pt x="192" y="456"/>
                    <a:pt x="240" y="336"/>
                  </a:cubicBezTo>
                  <a:cubicBezTo>
                    <a:pt x="288" y="216"/>
                    <a:pt x="288" y="108"/>
                    <a:pt x="288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365882D-EF47-2449-A8CF-0DBF3498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64"/>
              <a:ext cx="672" cy="336"/>
            </a:xfrm>
            <a:custGeom>
              <a:avLst/>
              <a:gdLst>
                <a:gd name="T0" fmla="*/ 0 w 672"/>
                <a:gd name="T1" fmla="*/ 0 h 336"/>
                <a:gd name="T2" fmla="*/ 192 w 672"/>
                <a:gd name="T3" fmla="*/ 240 h 336"/>
                <a:gd name="T4" fmla="*/ 672 w 672"/>
                <a:gd name="T5" fmla="*/ 336 h 336"/>
                <a:gd name="T6" fmla="*/ 0 60000 65536"/>
                <a:gd name="T7" fmla="*/ 0 60000 65536"/>
                <a:gd name="T8" fmla="*/ 0 60000 65536"/>
                <a:gd name="T9" fmla="*/ 0 w 672"/>
                <a:gd name="T10" fmla="*/ 0 h 336"/>
                <a:gd name="T11" fmla="*/ 672 w 672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336">
                  <a:moveTo>
                    <a:pt x="0" y="0"/>
                  </a:moveTo>
                  <a:cubicBezTo>
                    <a:pt x="40" y="92"/>
                    <a:pt x="80" y="184"/>
                    <a:pt x="192" y="240"/>
                  </a:cubicBezTo>
                  <a:cubicBezTo>
                    <a:pt x="304" y="296"/>
                    <a:pt x="488" y="316"/>
                    <a:pt x="672" y="33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 Box 35">
                  <a:extLst>
                    <a:ext uri="{FF2B5EF4-FFF2-40B4-BE49-F238E27FC236}">
                      <a16:creationId xmlns:a16="http://schemas.microsoft.com/office/drawing/2014/main" id="{EAC61FCF-0E90-0F4D-B8AB-B3982B06E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3" y="3305"/>
                  <a:ext cx="1252" cy="4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en-US" sz="2000" dirty="0">
                      <a:latin typeface="+mn-lt"/>
                    </a:rPr>
                    <a:t>For each </a:t>
                  </a:r>
                  <a14:m>
                    <m:oMath xmlns:m="http://schemas.openxmlformats.org/officeDocument/2006/math">
                      <m:r>
                        <a:rPr kumimoji="0"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kumimoji="0" lang="en-US" sz="2000" dirty="0">
                      <a:latin typeface="+mn-lt"/>
                    </a:rPr>
                    <a:t> tuple,</a:t>
                  </a:r>
                  <a:br>
                    <a:rPr kumimoji="0" lang="en-US" sz="2000" dirty="0">
                      <a:latin typeface="+mn-lt"/>
                    </a:rPr>
                  </a:br>
                  <a:r>
                    <a:rPr kumimoji="0" lang="en-US" sz="2000" dirty="0">
                      <a:latin typeface="+mn-lt"/>
                    </a:rPr>
                    <a:t>probe and join</a:t>
                  </a:r>
                </a:p>
              </p:txBody>
            </p:sp>
          </mc:Choice>
          <mc:Fallback xmlns="">
            <p:sp>
              <p:nvSpPr>
                <p:cNvPr id="21540" name="Text 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53" y="3305"/>
                  <a:ext cx="1159" cy="446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3642" t="-3448" r="-2980" b="-1465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Line 36">
              <a:extLst>
                <a:ext uri="{FF2B5EF4-FFF2-40B4-BE49-F238E27FC236}">
                  <a16:creationId xmlns:a16="http://schemas.microsoft.com/office/drawing/2014/main" id="{35EC89DD-C6A1-FB42-AFEF-16B1ED082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19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15753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82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I/O Cost of Hash Join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244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Assuming no edges cases (e.g., a very large hash partition) and hash join completes in two phases:</a:t>
                </a:r>
              </a:p>
              <a:p>
                <a:pPr lvl="1"/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3⋅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hase 1: read B(R) + B(S) into memory to partition and write partitioned B(R) +B(S) to disk </a:t>
                </a:r>
              </a:p>
              <a:p>
                <a:pPr lvl="2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hase 2: read B(R) + B(S) into memory to perform the join 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2444259"/>
              </a:xfrm>
              <a:prstGeom prst="rect">
                <a:avLst/>
              </a:prstGeom>
              <a:blipFill>
                <a:blip r:embed="rId4"/>
                <a:stretch>
                  <a:fillRect l="-700" t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7366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83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What if R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Does Not Fit In Memory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D6B081-057B-8643-8848-DF764627FF70}"/>
              </a:ext>
            </a:extLst>
          </p:cNvPr>
          <p:cNvSpPr txBox="1"/>
          <p:nvPr/>
        </p:nvSpPr>
        <p:spPr>
          <a:xfrm>
            <a:off x="0" y="867859"/>
            <a:ext cx="8851900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Read it back in and partition it again!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 however, in the worst-case all A or B values could be the same and one simply cannot generate useful partitions.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Systems either fail in such cases or fall back to alternative slower solutions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4C981F1-F467-DD4D-94F3-CBC88B8FCC0A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3429000"/>
            <a:ext cx="7848600" cy="2819400"/>
            <a:chOff x="336" y="2016"/>
            <a:chExt cx="4944" cy="17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094883C-0B05-8C40-BE68-1763E3C96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976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A111220-BED6-0B49-9150-19E463229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544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9C4CA48-CE9F-8E4D-A27E-BADD1A230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736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CB59123-4625-9848-BE33-C57F0F520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81EF8CE-EB2C-0846-9DF9-9F20E3C13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20"/>
              <a:ext cx="1440" cy="14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08C8B8E-DB22-8147-96F5-CDD125AA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592"/>
              <a:ext cx="1440" cy="62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18BA142-6700-CC44-A397-916326B6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072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488F42E-BD41-A74D-9B38-7DE9A1515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68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6059DCA-077A-5B4C-9EC4-702394935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264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DFFD9CD-C72A-2242-A63E-D5D3112C4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016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0FD9F24-EDEA-DD48-9293-26F981A7F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112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BB91245-9DE1-7748-8296-01E977BF0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208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F0F3064-B8D7-344D-AC17-FCE44D509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04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9ECF097-1F63-1447-A332-D1B04E2B6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96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A469B6A-D3A4-9944-8741-5D31EC8F2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592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611C2A3-D58A-F54B-8B5B-3F7640150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88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7835EDE-8CD7-1D4B-B94C-16FBC0395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784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684A50A-08F4-C742-A749-AA1AEA712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456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A782F65-0DC0-BE48-BF0E-7AC1D841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552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CD7A96B-C874-2745-8FE4-480DC5AF5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648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FB105E4-7002-A642-B51B-6ABB6F5F7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744"/>
              <a:ext cx="1440" cy="4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26">
              <a:extLst>
                <a:ext uri="{FF2B5EF4-FFF2-40B4-BE49-F238E27FC236}">
                  <a16:creationId xmlns:a16="http://schemas.microsoft.com/office/drawing/2014/main" id="{B92C82E7-CF77-5240-8F0D-A014082D8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52C9A841-2F56-ED48-9865-DBF625BCB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29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5519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Query Processing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Fundamental Query Processing Operators &amp; Algorithms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Hashing-based Operators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Algorithms Using Indices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897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85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Selection Using Index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4600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Equality predicate: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an ISAM, B</a:t>
                </a:r>
                <a:r>
                  <a:rPr lang="en-US" sz="2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-tree, or hash index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Range predicate: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&gt;</m:t>
                        </m:r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an </a:t>
                </a:r>
                <a:r>
                  <a:rPr lang="en-US" sz="22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ordered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index (e.g., ISAM or B</a:t>
                </a:r>
                <a:r>
                  <a:rPr lang="en-US" sz="2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-tree)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r>
                      <a:rPr lang="en-US" sz="2200" i="1" dirty="0">
                        <a:latin typeface="Cambria Math"/>
                      </a:rPr>
                      <m:t>(</m:t>
                    </m:r>
                    <m:r>
                      <a:rPr lang="en-US" sz="2200" i="1" dirty="0">
                        <a:latin typeface="Cambria Math"/>
                      </a:rPr>
                      <m:t>𝐴</m:t>
                    </m:r>
                    <m:r>
                      <a:rPr lang="en-US" sz="2200" i="1" dirty="0">
                        <a:latin typeface="Cambria Math"/>
                      </a:rPr>
                      <m:t>)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Hash index is not applicable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Indexes other than those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r>
                      <a:rPr lang="en-US" sz="2200" i="1" dirty="0">
                        <a:latin typeface="Cambria Math"/>
                      </a:rPr>
                      <m:t>(</m:t>
                    </m:r>
                    <m:r>
                      <a:rPr lang="en-US" sz="2200" i="1" dirty="0">
                        <a:latin typeface="Cambria Math"/>
                      </a:rPr>
                      <m:t>𝐴</m:t>
                    </m:r>
                    <m:r>
                      <a:rPr lang="en-US" sz="22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may be useful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B</a:t>
                </a:r>
                <a:r>
                  <a:rPr lang="en-US" sz="2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-tree index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latin typeface="Cambria Math"/>
                          </a:rPr>
                          <m:t>,</m:t>
                        </m:r>
                        <m:r>
                          <a:rPr lang="en-US" sz="2200" i="1" dirty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about B</a:t>
                </a:r>
                <a:r>
                  <a:rPr lang="en-US" sz="2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-tree index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𝐵</m:t>
                        </m:r>
                        <m:r>
                          <a:rPr lang="en-US" sz="2200" i="1" dirty="0">
                            <a:latin typeface="Cambria Math"/>
                          </a:rPr>
                          <m:t>, </m:t>
                        </m:r>
                        <m:r>
                          <a:rPr lang="en-US" sz="2200" i="1" dirty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Not useful because A values will be scattered.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4600042"/>
              </a:xfrm>
              <a:prstGeom prst="rect">
                <a:avLst/>
              </a:prstGeom>
              <a:blipFill>
                <a:blip r:embed="rId4"/>
                <a:stretch>
                  <a:fillRect l="-700" b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1932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86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Index vs Table Scan (1)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3584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Situations where index clearly is the better choice: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Index-only equality queries on a unique column (e.g., primary key)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where A is a unique column and has an index.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 guarantees 1 I/O. Table scan can lead up to B(R) I/</a:t>
                </a:r>
                <a:r>
                  <a:rPr lang="en-US" sz="2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Index-only range queries on clustered indices: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guarantee that only the blocks that contain answers are read (aside from blocks of the index)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3584379"/>
              </a:xfrm>
              <a:prstGeom prst="rect">
                <a:avLst/>
              </a:prstGeom>
              <a:blipFill>
                <a:blip r:embed="rId4"/>
                <a:stretch>
                  <a:fillRect l="-700" b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3991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87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Index vs Table Scan (2)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439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BUT(!): Consider</a:t>
                </a:r>
                <a:r>
                  <a:rPr lang="en-US" sz="21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&gt;</m:t>
                        </m:r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a secondary, non-clustered index on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Need to follow pointers to get the actual result tuples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Say that 20% of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𝑣</m:t>
                    </m:r>
                  </m:oMath>
                </a14:m>
                <a:endParaRPr lang="en-US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Could happen even for equality predicates</a:t>
                </a:r>
                <a:endParaRPr lang="en-US" sz="21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Back-of-the-envelope calculation: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I/O’s for table scan: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I/O’s for index scan up to: lookup + 20%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(assume no cache hits)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Table scan is faster if a block contains more than 5 tuples!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B(R) = |R|/5 &lt; 20%|R|+lookup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4395178"/>
              </a:xfrm>
              <a:prstGeom prst="rect">
                <a:avLst/>
              </a:prstGeom>
              <a:blipFill>
                <a:blip r:embed="rId4"/>
                <a:stretch>
                  <a:fillRect l="-700" b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973511F-0A40-3946-B41B-CC168FC0D5C9}"/>
              </a:ext>
            </a:extLst>
          </p:cNvPr>
          <p:cNvSpPr/>
          <p:nvPr/>
        </p:nvSpPr>
        <p:spPr>
          <a:xfrm>
            <a:off x="16078" y="5417175"/>
            <a:ext cx="9144000" cy="1001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should not do this to be safe. Table scan might be slow but its slowness is bounded by B(R) and not a function of 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431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88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Index Nested-loop Join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𝑅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𝑅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Idea: use a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  <m:r>
                      <a:rPr lang="en-US" sz="2400" i="1" dirty="0">
                        <a:latin typeface="Cambria Math"/>
                      </a:rPr>
                      <m:t>.</m:t>
                    </m:r>
                    <m:r>
                      <a:rPr lang="en-US" sz="2400" i="1" dirty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probe the index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𝑆</m:t>
                    </m:r>
                    <m:r>
                      <a:rPr lang="en-CA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for each block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and for each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in the block:</a:t>
                </a:r>
                <a:b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use the index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to retrieve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𝑠</m:t>
                    </m:r>
                    <m:r>
                      <a:rPr lang="en-US" sz="2000" i="1" dirty="0">
                        <a:latin typeface="Cambria Math"/>
                      </a:rPr>
                      <m:t>.</m:t>
                    </m:r>
                    <m:r>
                      <a:rPr lang="en-US" sz="2000" i="1" dirty="0">
                        <a:latin typeface="Cambria Math"/>
                      </a:rPr>
                      <m:t>𝐵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 err="1">
                        <a:latin typeface="Cambria Math"/>
                      </a:rPr>
                      <m:t>𝑟</m:t>
                    </m:r>
                    <m:r>
                      <a:rPr lang="en-US" sz="2000" i="1" dirty="0" err="1">
                        <a:latin typeface="Cambria Math"/>
                      </a:rPr>
                      <m:t>.</m:t>
                    </m:r>
                    <m:r>
                      <a:rPr lang="en-US" sz="2000" i="1" dirty="0" err="1">
                        <a:latin typeface="Cambria Math"/>
                      </a:rPr>
                      <m:t>𝐴</m:t>
                    </m:r>
                  </m:oMath>
                </a14:m>
                <a:b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output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𝑟𝑠</m:t>
                    </m:r>
                  </m:oMath>
                </a14:m>
                <a:endParaRPr lang="en-US" sz="2400" i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I/O’s: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index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lookup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Let’s assume the cost of an index lookup is 2-4 I/O’s (depends on the index tree height if B+ tree)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takeaway 1: Can be faster than hash/sort-merge join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small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Key takeaway 2: Better pick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be the smaller relation</a:t>
                </a:r>
              </a:p>
              <a:p>
                <a:pPr lvl="1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requirement: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(extra memory can be used to cache index, e.g. root of B+ tree).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4955203"/>
              </a:xfrm>
              <a:prstGeom prst="rect">
                <a:avLst/>
              </a:prstGeom>
              <a:blipFill>
                <a:blip r:embed="rId4"/>
                <a:stretch>
                  <a:fillRect l="-1120" b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5883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89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32B39B-997D-054D-BE36-05F4B074DC8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Zig-zag Join Using Ordered Indexes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305ECC-607D-F94E-BACC-A7637F977255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256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2"/>
                          </a:solidFill>
                          <a:latin typeface="Cambria Math"/>
                        </a:rPr>
                        <m:t>𝑅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𝑅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accent2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US" sz="2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Idea: use the ordering provided by the indexes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eliminate the sorting step of sort-merge join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the larger key to probe the other index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	Possibly skipping many keys that don’t match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B081-057B-8643-8848-DF764627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2568717"/>
              </a:xfrm>
              <a:prstGeom prst="rect">
                <a:avLst/>
              </a:prstGeom>
              <a:blipFill>
                <a:blip r:embed="rId4"/>
                <a:stretch>
                  <a:fillRect l="-700" b="-3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181881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1752600" y="4038600"/>
            <a:ext cx="5638800" cy="2590800"/>
            <a:chOff x="1104" y="2544"/>
            <a:chExt cx="3552" cy="1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utoShape 5"/>
                <p:cNvSpPr>
                  <a:spLocks noChangeArrowheads="1"/>
                </p:cNvSpPr>
                <p:nvPr/>
              </p:nvSpPr>
              <p:spPr bwMode="auto">
                <a:xfrm>
                  <a:off x="1104" y="2544"/>
                  <a:ext cx="3552" cy="43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6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B</a:t>
                  </a:r>
                  <a:r>
                    <a:rPr kumimoji="0" lang="en-US" sz="1800" b="0" i="0" u="none" strike="noStrike" kern="1200" cap="none" spc="0" normalizeH="0" baseline="30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+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-tree on 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</m:d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" name="AutoShap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4" y="2544"/>
                  <a:ext cx="3552" cy="432"/>
                </a:xfrm>
                <a:prstGeom prst="triangle">
                  <a:avLst>
                    <a:gd name="adj" fmla="val 50000"/>
                  </a:avLst>
                </a:prstGeom>
                <a:blipFill rotWithShape="0">
                  <a:blip r:embed="rId5"/>
                  <a:stretch>
                    <a:fillRect b="-13675"/>
                  </a:stretch>
                </a:blip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utoShape 6"/>
                <p:cNvSpPr>
                  <a:spLocks noChangeArrowheads="1"/>
                </p:cNvSpPr>
                <p:nvPr/>
              </p:nvSpPr>
              <p:spPr bwMode="auto">
                <a:xfrm flipV="1">
                  <a:off x="1104" y="3744"/>
                  <a:ext cx="3552" cy="43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6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rot="10800000"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B</a:t>
                  </a:r>
                  <a:r>
                    <a:rPr kumimoji="0" lang="en-US" sz="1800" b="0" i="0" u="none" strike="noStrike" kern="1200" cap="none" spc="0" normalizeH="0" baseline="30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+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-tree on 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e>
                      </m:d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AutoShap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flipV="1">
                  <a:off x="1104" y="3744"/>
                  <a:ext cx="3552" cy="432"/>
                </a:xfrm>
                <a:prstGeom prst="triangle">
                  <a:avLst>
                    <a:gd name="adj" fmla="val 50000"/>
                  </a:avLst>
                </a:prstGeom>
                <a:blipFill rotWithShape="0">
                  <a:blip r:embed="rId6"/>
                  <a:stretch>
                    <a:fillRect t="-4237"/>
                  </a:stretch>
                </a:blip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644650" y="4729163"/>
            <a:ext cx="597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1	2	3	4	7	9	18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644650" y="5491163"/>
            <a:ext cx="597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1	7	9	11	12	17	19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295400" y="4800600"/>
            <a:ext cx="381000" cy="990600"/>
            <a:chOff x="816" y="3024"/>
            <a:chExt cx="240" cy="624"/>
          </a:xfrm>
          <a:solidFill>
            <a:schemeClr val="accent2"/>
          </a:solidFill>
        </p:grpSpPr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816" y="302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grpFill/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816" y="350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grpFill/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2209800" y="4800600"/>
            <a:ext cx="381000" cy="990600"/>
            <a:chOff x="1392" y="3024"/>
            <a:chExt cx="240" cy="624"/>
          </a:xfrm>
          <a:solidFill>
            <a:schemeClr val="accent2"/>
          </a:solidFill>
        </p:grpSpPr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1392" y="350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grpFill/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5" name="AutoShape 14"/>
            <p:cNvSpPr>
              <a:spLocks noChangeArrowheads="1"/>
            </p:cNvSpPr>
            <p:nvPr/>
          </p:nvSpPr>
          <p:spPr bwMode="auto">
            <a:xfrm>
              <a:off x="1392" y="302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grpFill/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4953000" y="4800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3124200" y="4800600"/>
            <a:ext cx="3124200" cy="990600"/>
            <a:chOff x="1968" y="3024"/>
            <a:chExt cx="1968" cy="624"/>
          </a:xfrm>
        </p:grpSpPr>
        <p:sp>
          <p:nvSpPr>
            <p:cNvPr id="18" name="AutoShape 17"/>
            <p:cNvSpPr>
              <a:spLocks noChangeArrowheads="1"/>
            </p:cNvSpPr>
            <p:nvPr/>
          </p:nvSpPr>
          <p:spPr bwMode="auto">
            <a:xfrm>
              <a:off x="1968" y="350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9" name="AutoShape 18"/>
            <p:cNvSpPr>
              <a:spLocks noChangeArrowheads="1"/>
            </p:cNvSpPr>
            <p:nvPr/>
          </p:nvSpPr>
          <p:spPr bwMode="auto">
            <a:xfrm>
              <a:off x="3696" y="302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4038600" y="4800600"/>
            <a:ext cx="3124200" cy="990600"/>
            <a:chOff x="2544" y="3024"/>
            <a:chExt cx="1968" cy="624"/>
          </a:xfrm>
        </p:grpSpPr>
        <p:sp>
          <p:nvSpPr>
            <p:cNvPr id="21" name="AutoShape 20"/>
            <p:cNvSpPr>
              <a:spLocks noChangeArrowheads="1"/>
            </p:cNvSpPr>
            <p:nvPr/>
          </p:nvSpPr>
          <p:spPr bwMode="auto">
            <a:xfrm>
              <a:off x="4272" y="302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2" name="AutoShape 21"/>
            <p:cNvSpPr>
              <a:spLocks noChangeArrowheads="1"/>
            </p:cNvSpPr>
            <p:nvPr/>
          </p:nvSpPr>
          <p:spPr bwMode="auto">
            <a:xfrm>
              <a:off x="2544" y="3504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accent2"/>
            </a:solidFill>
            <a:ln w="381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sp>
        <p:nvSpPr>
          <p:cNvPr id="23" name="AutoShape 22"/>
          <p:cNvSpPr>
            <a:spLocks noChangeArrowheads="1"/>
          </p:cNvSpPr>
          <p:nvPr/>
        </p:nvSpPr>
        <p:spPr bwMode="auto">
          <a:xfrm>
            <a:off x="6781800" y="5562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 w="381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FA9A16-5935-AE46-A58D-C668C8BC22DB}"/>
              </a:ext>
            </a:extLst>
          </p:cNvPr>
          <p:cNvSpPr txBox="1"/>
          <p:nvPr/>
        </p:nvSpPr>
        <p:spPr>
          <a:xfrm>
            <a:off x="16079" y="64300"/>
            <a:ext cx="783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Zig-zag Join Using Ordered Indexes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41751C-5064-764E-B585-2E9271CF8D12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81875A-9097-084E-BE83-2DBF1644EF49}"/>
                  </a:ext>
                </a:extLst>
              </p:cNvPr>
              <p:cNvSpPr txBox="1"/>
              <p:nvPr/>
            </p:nvSpPr>
            <p:spPr>
              <a:xfrm>
                <a:off x="0" y="867859"/>
                <a:ext cx="9060548" cy="256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accent2"/>
                          </a:solidFill>
                          <a:latin typeface="Cambria Math"/>
                        </a:rPr>
                        <m:t>𝑅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𝑅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sz="2200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accent2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US" sz="2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Idea: use the ordering provided by the indexes 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eliminate the sorting step of sort-merge join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the larger key to probe the other index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	Possibly skipping many keys that don’t match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81875A-9097-084E-BE83-2DBF1644E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67859"/>
                <a:ext cx="9060548" cy="2568717"/>
              </a:xfrm>
              <a:prstGeom prst="rect">
                <a:avLst/>
              </a:prstGeom>
              <a:blipFill>
                <a:blip r:embed="rId7"/>
                <a:stretch>
                  <a:fillRect l="-700" b="-3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193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Note on Role of (I/O) Costs Of Operators For Picking Physical Plans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126462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1385395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systems use estimated I/O costs of core ops to pick how to translate logical to physical plans, i.e., logical-physical plan translation is a cost-based optimization: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91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4F85-9E21-EB4C-A230-38059B6C6BAE}"/>
              </a:ext>
            </a:extLst>
          </p:cNvPr>
          <p:cNvCxnSpPr>
            <a:cxnSpLocks/>
          </p:cNvCxnSpPr>
          <p:nvPr/>
        </p:nvCxnSpPr>
        <p:spPr>
          <a:xfrm flipH="1" flipV="1">
            <a:off x="5469230" y="4411782"/>
            <a:ext cx="788695" cy="540444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AABF426-25AE-A44A-A4EA-6A6B73D09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700" y="3959177"/>
            <a:ext cx="2841938" cy="2579735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C17FC54-DC04-0243-B65D-7ADB81486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94" y="3123245"/>
            <a:ext cx="2543190" cy="2298063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7AB5ED6-8052-B848-B837-23EA04C83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24" y="3959177"/>
            <a:ext cx="2840696" cy="257860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0611DE-E928-5648-A2A3-8FCA53B2096F}"/>
              </a:ext>
            </a:extLst>
          </p:cNvPr>
          <p:cNvCxnSpPr>
            <a:cxnSpLocks/>
          </p:cNvCxnSpPr>
          <p:nvPr/>
        </p:nvCxnSpPr>
        <p:spPr>
          <a:xfrm flipV="1">
            <a:off x="2822688" y="4411782"/>
            <a:ext cx="813153" cy="61223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499A85-CCD6-C54E-84A0-1B9A6C19778D}"/>
              </a:ext>
            </a:extLst>
          </p:cNvPr>
          <p:cNvSpPr txBox="1"/>
          <p:nvPr/>
        </p:nvSpPr>
        <p:spPr>
          <a:xfrm>
            <a:off x="3415987" y="2669818"/>
            <a:ext cx="2247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3CD65-4B75-6845-847F-0D60FCDEA1BC}"/>
              </a:ext>
            </a:extLst>
          </p:cNvPr>
          <p:cNvSpPr txBox="1"/>
          <p:nvPr/>
        </p:nvSpPr>
        <p:spPr>
          <a:xfrm>
            <a:off x="575291" y="3277741"/>
            <a:ext cx="2247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Plan 1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(cost = C1)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5C907-5716-894A-A9D0-A590FEAC2676}"/>
              </a:ext>
            </a:extLst>
          </p:cNvPr>
          <p:cNvSpPr txBox="1"/>
          <p:nvPr/>
        </p:nvSpPr>
        <p:spPr>
          <a:xfrm>
            <a:off x="6398259" y="3277741"/>
            <a:ext cx="2247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Plan 2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(cost = C2)</a:t>
            </a:r>
          </a:p>
        </p:txBody>
      </p:sp>
    </p:spTree>
    <p:extLst>
      <p:ext uri="{BB962C8B-B14F-4D97-AF65-F5344CB8AC3E}">
        <p14:creationId xmlns:p14="http://schemas.microsoft.com/office/powerpoint/2010/main" val="370952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Note on Role of (I/O) Costs Of Operators For Picking Physical Plans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126462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1385395"/>
            <a:ext cx="9144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systems use estimated I/O costs of core ops to pick how to translate logical to physical plans, i.e., logical-physical plan translation is a cost-based optimization: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Enumerate different physical plan translations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Estimate the cost of each physical plan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Pick the minimum cost estimated plan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 lecture on cost-based optimization at logical plan picking level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Others pick physical operators in a rule-based manner, so the I/O costs are there to determine these rules.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Always make scans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IndexScans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if possible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equality joins should be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HashJoins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except if the tables are already sorted, in which case use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SortMerge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Join.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other types of joins should be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NesteLoopJoins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6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14.7|9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6|15.3|12.4|14|13.6|1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|5|28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1|19|12.3|18.7|10|2.7|13.5|8.5|3|3.9|4.3|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|4.4|8.7|4.9|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|10|2.1|1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|11.2|10.5|1.7|6.3|9.5|1.5|0.9|0.7|2.6|1.3|3.8|16.6|36.5|15.4|2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7.2|1.8|17.7|22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4.5|21.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.7|13.9|31.9|11.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6.3|7.8|10.1|10.8|10.8|16.7|6.2|6.4|6.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|17.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9|20.6|2|19.7|7.3|9.6|1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41813</TotalTime>
  <Words>8176</Words>
  <Application>Microsoft Macintosh PowerPoint</Application>
  <PresentationFormat>On-screen Show (4:3)</PresentationFormat>
  <Paragraphs>1671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92</vt:i4>
      </vt:variant>
    </vt:vector>
  </HeadingPairs>
  <TitlesOfParts>
    <vt:vector size="101" baseType="lpstr">
      <vt:lpstr>Arial</vt:lpstr>
      <vt:lpstr>Calibri</vt:lpstr>
      <vt:lpstr>Cambria Math</vt:lpstr>
      <vt:lpstr>Candara</vt:lpstr>
      <vt:lpstr>Consolas</vt:lpstr>
      <vt:lpstr>Prestige12 BT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Halloween Problem: An Interesting Note On Challenging Problems a DBMS has to solve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1990</cp:revision>
  <dcterms:created xsi:type="dcterms:W3CDTF">2016-04-06T14:30:24Z</dcterms:created>
  <dcterms:modified xsi:type="dcterms:W3CDTF">2022-03-01T05:17:56Z</dcterms:modified>
</cp:coreProperties>
</file>