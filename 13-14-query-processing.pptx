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2.xml" ContentType="application/vnd.openxmlformats-officedocument.presentationml.tags+xml"/>
  <Override PartName="/ppt/notesSlides/notesSlide15.xml" ContentType="application/vnd.openxmlformats-officedocument.presentationml.notesSlide+xml"/>
  <Override PartName="/ppt/tags/tag3.xml" ContentType="application/vnd.openxmlformats-officedocument.presentationml.tags+xml"/>
  <Override PartName="/ppt/notesSlides/notesSlide16.xml" ContentType="application/vnd.openxmlformats-officedocument.presentationml.notesSlide+xml"/>
  <Override PartName="/ppt/tags/tag4.xml" ContentType="application/vnd.openxmlformats-officedocument.presentationml.tags+xml"/>
  <Override PartName="/ppt/notesSlides/notesSlide17.xml" ContentType="application/vnd.openxmlformats-officedocument.presentationml.notesSlide+xml"/>
  <Override PartName="/ppt/tags/tag5.xml" ContentType="application/vnd.openxmlformats-officedocument.presentationml.tags+xml"/>
  <Override PartName="/ppt/notesSlides/notesSlide18.xml" ContentType="application/vnd.openxmlformats-officedocument.presentationml.notesSlide+xml"/>
  <Override PartName="/ppt/tags/tag6.xml" ContentType="application/vnd.openxmlformats-officedocument.presentationml.tags+xml"/>
  <Override PartName="/ppt/notesSlides/notesSlide19.xml" ContentType="application/vnd.openxmlformats-officedocument.presentationml.notesSlide+xml"/>
  <Override PartName="/ppt/tags/tag7.xml" ContentType="application/vnd.openxmlformats-officedocument.presentationml.tags+xml"/>
  <Override PartName="/ppt/notesSlides/notesSlide20.xml" ContentType="application/vnd.openxmlformats-officedocument.presentationml.notesSlide+xml"/>
  <Override PartName="/ppt/tags/tag8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9.xml" ContentType="application/vnd.openxmlformats-officedocument.presentationml.tags+xml"/>
  <Override PartName="/ppt/notesSlides/notesSlide23.xml" ContentType="application/vnd.openxmlformats-officedocument.presentationml.notesSlide+xml"/>
  <Override PartName="/ppt/tags/tag10.xml" ContentType="application/vnd.openxmlformats-officedocument.presentationml.tags+xml"/>
  <Override PartName="/ppt/notesSlides/notesSlide24.xml" ContentType="application/vnd.openxmlformats-officedocument.presentationml.notesSlide+xml"/>
  <Override PartName="/ppt/tags/tag11.xml" ContentType="application/vnd.openxmlformats-officedocument.presentationml.tags+xml"/>
  <Override PartName="/ppt/notesSlides/notesSlide25.xml" ContentType="application/vnd.openxmlformats-officedocument.presentationml.notesSlide+xml"/>
  <Override PartName="/ppt/tags/tag12.xml" ContentType="application/vnd.openxmlformats-officedocument.presentationml.tags+xml"/>
  <Override PartName="/ppt/notesSlides/notesSlide26.xml" ContentType="application/vnd.openxmlformats-officedocument.presentationml.notesSlide+xml"/>
  <Override PartName="/ppt/tags/tag13.xml" ContentType="application/vnd.openxmlformats-officedocument.presentationml.tags+xml"/>
  <Override PartName="/ppt/notesSlides/notesSlide27.xml" ContentType="application/vnd.openxmlformats-officedocument.presentationml.notesSlide+xml"/>
  <Override PartName="/ppt/tags/tag14.xml" ContentType="application/vnd.openxmlformats-officedocument.presentationml.tags+xml"/>
  <Override PartName="/ppt/notesSlides/notesSlide28.xml" ContentType="application/vnd.openxmlformats-officedocument.presentationml.notesSlide+xml"/>
  <Override PartName="/ppt/tags/tag15.xml" ContentType="application/vnd.openxmlformats-officedocument.presentationml.tags+xml"/>
  <Override PartName="/ppt/notesSlides/notesSlide29.xml" ContentType="application/vnd.openxmlformats-officedocument.presentationml.notesSlide+xml"/>
  <Override PartName="/ppt/tags/tag16.xml" ContentType="application/vnd.openxmlformats-officedocument.presentationml.tags+xml"/>
  <Override PartName="/ppt/notesSlides/notesSlide30.xml" ContentType="application/vnd.openxmlformats-officedocument.presentationml.notesSlide+xml"/>
  <Override PartName="/ppt/tags/tag17.xml" ContentType="application/vnd.openxmlformats-officedocument.presentationml.tags+xml"/>
  <Override PartName="/ppt/notesSlides/notesSlide31.xml" ContentType="application/vnd.openxmlformats-officedocument.presentationml.notesSlide+xml"/>
  <Override PartName="/ppt/tags/tag18.xml" ContentType="application/vnd.openxmlformats-officedocument.presentationml.tags+xml"/>
  <Override PartName="/ppt/notesSlides/notesSlide32.xml" ContentType="application/vnd.openxmlformats-officedocument.presentationml.notesSlide+xml"/>
  <Override PartName="/ppt/tags/tag19.xml" ContentType="application/vnd.openxmlformats-officedocument.presentationml.tags+xml"/>
  <Override PartName="/ppt/notesSlides/notesSlide33.xml" ContentType="application/vnd.openxmlformats-officedocument.presentationml.notesSlide+xml"/>
  <Override PartName="/ppt/tags/tag20.xml" ContentType="application/vnd.openxmlformats-officedocument.presentationml.tags+xml"/>
  <Override PartName="/ppt/notesSlides/notesSlide34.xml" ContentType="application/vnd.openxmlformats-officedocument.presentationml.notesSlide+xml"/>
  <Override PartName="/ppt/tags/tag21.xml" ContentType="application/vnd.openxmlformats-officedocument.presentationml.tags+xml"/>
  <Override PartName="/ppt/notesSlides/notesSlide35.xml" ContentType="application/vnd.openxmlformats-officedocument.presentationml.notesSlide+xml"/>
  <Override PartName="/ppt/tags/tag22.xml" ContentType="application/vnd.openxmlformats-officedocument.presentationml.tags+xml"/>
  <Override PartName="/ppt/notesSlides/notesSlide36.xml" ContentType="application/vnd.openxmlformats-officedocument.presentationml.notesSlide+xml"/>
  <Override PartName="/ppt/tags/tag23.xml" ContentType="application/vnd.openxmlformats-officedocument.presentationml.tags+xml"/>
  <Override PartName="/ppt/notesSlides/notesSlide37.xml" ContentType="application/vnd.openxmlformats-officedocument.presentationml.notesSlide+xml"/>
  <Override PartName="/ppt/tags/tag24.xml" ContentType="application/vnd.openxmlformats-officedocument.presentationml.tags+xml"/>
  <Override PartName="/ppt/notesSlides/notesSlide38.xml" ContentType="application/vnd.openxmlformats-officedocument.presentationml.notesSlide+xml"/>
  <Override PartName="/ppt/tags/tag25.xml" ContentType="application/vnd.openxmlformats-officedocument.presentationml.tags+xml"/>
  <Override PartName="/ppt/notesSlides/notesSlide39.xml" ContentType="application/vnd.openxmlformats-officedocument.presentationml.notesSlide+xml"/>
  <Override PartName="/ppt/tags/tag26.xml" ContentType="application/vnd.openxmlformats-officedocument.presentationml.tags+xml"/>
  <Override PartName="/ppt/notesSlides/notesSlide40.xml" ContentType="application/vnd.openxmlformats-officedocument.presentationml.notesSlide+xml"/>
  <Override PartName="/ppt/tags/tag27.xml" ContentType="application/vnd.openxmlformats-officedocument.presentationml.tags+xml"/>
  <Override PartName="/ppt/notesSlides/notesSlide41.xml" ContentType="application/vnd.openxmlformats-officedocument.presentationml.notesSlide+xml"/>
  <Override PartName="/ppt/tags/tag28.xml" ContentType="application/vnd.openxmlformats-officedocument.presentationml.tags+xml"/>
  <Override PartName="/ppt/notesSlides/notesSlide42.xml" ContentType="application/vnd.openxmlformats-officedocument.presentationml.notesSlide+xml"/>
  <Override PartName="/ppt/tags/tag29.xml" ContentType="application/vnd.openxmlformats-officedocument.presentationml.tags+xml"/>
  <Override PartName="/ppt/notesSlides/notesSlide43.xml" ContentType="application/vnd.openxmlformats-officedocument.presentationml.notesSlide+xml"/>
  <Override PartName="/ppt/tags/tag30.xml" ContentType="application/vnd.openxmlformats-officedocument.presentationml.tags+xml"/>
  <Override PartName="/ppt/notesSlides/notesSlide44.xml" ContentType="application/vnd.openxmlformats-officedocument.presentationml.notesSlide+xml"/>
  <Override PartName="/ppt/tags/tag31.xml" ContentType="application/vnd.openxmlformats-officedocument.presentationml.tags+xml"/>
  <Override PartName="/ppt/notesSlides/notesSlide45.xml" ContentType="application/vnd.openxmlformats-officedocument.presentationml.notesSlide+xml"/>
  <Override PartName="/ppt/tags/tag32.xml" ContentType="application/vnd.openxmlformats-officedocument.presentationml.tags+xml"/>
  <Override PartName="/ppt/notesSlides/notesSlide46.xml" ContentType="application/vnd.openxmlformats-officedocument.presentationml.notesSlide+xml"/>
  <Override PartName="/ppt/tags/tag33.xml" ContentType="application/vnd.openxmlformats-officedocument.presentationml.tags+xml"/>
  <Override PartName="/ppt/notesSlides/notesSlide47.xml" ContentType="application/vnd.openxmlformats-officedocument.presentationml.notesSlide+xml"/>
  <Override PartName="/ppt/tags/tag34.xml" ContentType="application/vnd.openxmlformats-officedocument.presentationml.tags+xml"/>
  <Override PartName="/ppt/notesSlides/notesSlide48.xml" ContentType="application/vnd.openxmlformats-officedocument.presentationml.notesSlide+xml"/>
  <Override PartName="/ppt/tags/tag35.xml" ContentType="application/vnd.openxmlformats-officedocument.presentationml.tags+xml"/>
  <Override PartName="/ppt/notesSlides/notesSlide49.xml" ContentType="application/vnd.openxmlformats-officedocument.presentationml.notesSlide+xml"/>
  <Override PartName="/ppt/tags/tag36.xml" ContentType="application/vnd.openxmlformats-officedocument.presentationml.tags+xml"/>
  <Override PartName="/ppt/notesSlides/notesSlide50.xml" ContentType="application/vnd.openxmlformats-officedocument.presentationml.notesSlide+xml"/>
  <Override PartName="/ppt/tags/tag37.xml" ContentType="application/vnd.openxmlformats-officedocument.presentationml.tags+xml"/>
  <Override PartName="/ppt/notesSlides/notesSlide51.xml" ContentType="application/vnd.openxmlformats-officedocument.presentationml.notesSlide+xml"/>
  <Override PartName="/ppt/tags/tag38.xml" ContentType="application/vnd.openxmlformats-officedocument.presentationml.tags+xml"/>
  <Override PartName="/ppt/notesSlides/notesSlide52.xml" ContentType="application/vnd.openxmlformats-officedocument.presentationml.notesSlide+xml"/>
  <Override PartName="/ppt/tags/tag39.xml" ContentType="application/vnd.openxmlformats-officedocument.presentationml.tags+xml"/>
  <Override PartName="/ppt/notesSlides/notesSlide53.xml" ContentType="application/vnd.openxmlformats-officedocument.presentationml.notesSlide+xml"/>
  <Override PartName="/ppt/tags/tag40.xml" ContentType="application/vnd.openxmlformats-officedocument.presentationml.tags+xml"/>
  <Override PartName="/ppt/notesSlides/notesSlide54.xml" ContentType="application/vnd.openxmlformats-officedocument.presentationml.notesSlide+xml"/>
  <Override PartName="/ppt/tags/tag41.xml" ContentType="application/vnd.openxmlformats-officedocument.presentationml.tags+xml"/>
  <Override PartName="/ppt/notesSlides/notesSlide55.xml" ContentType="application/vnd.openxmlformats-officedocument.presentationml.notesSlide+xml"/>
  <Override PartName="/ppt/tags/tag42.xml" ContentType="application/vnd.openxmlformats-officedocument.presentationml.tags+xml"/>
  <Override PartName="/ppt/notesSlides/notesSlide56.xml" ContentType="application/vnd.openxmlformats-officedocument.presentationml.notesSlide+xml"/>
  <Override PartName="/ppt/tags/tag43.xml" ContentType="application/vnd.openxmlformats-officedocument.presentationml.tags+xml"/>
  <Override PartName="/ppt/notesSlides/notesSlide57.xml" ContentType="application/vnd.openxmlformats-officedocument.presentationml.notesSlide+xml"/>
  <Override PartName="/ppt/tags/tag44.xml" ContentType="application/vnd.openxmlformats-officedocument.presentationml.tags+xml"/>
  <Override PartName="/ppt/notesSlides/notesSlide58.xml" ContentType="application/vnd.openxmlformats-officedocument.presentationml.notesSlide+xml"/>
  <Override PartName="/ppt/tags/tag45.xml" ContentType="application/vnd.openxmlformats-officedocument.presentationml.tags+xml"/>
  <Override PartName="/ppt/notesSlides/notesSlide59.xml" ContentType="application/vnd.openxmlformats-officedocument.presentationml.notesSlide+xml"/>
  <Override PartName="/ppt/tags/tag46.xml" ContentType="application/vnd.openxmlformats-officedocument.presentationml.tags+xml"/>
  <Override PartName="/ppt/notesSlides/notesSlide60.xml" ContentType="application/vnd.openxmlformats-officedocument.presentationml.notesSlide+xml"/>
  <Override PartName="/ppt/tags/tag47.xml" ContentType="application/vnd.openxmlformats-officedocument.presentationml.tags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tags/tag48.xml" ContentType="application/vnd.openxmlformats-officedocument.presentationml.tags+xml"/>
  <Override PartName="/ppt/notesSlides/notesSlide63.xml" ContentType="application/vnd.openxmlformats-officedocument.presentationml.notesSlide+xml"/>
  <Override PartName="/ppt/tags/tag49.xml" ContentType="application/vnd.openxmlformats-officedocument.presentationml.tags+xml"/>
  <Override PartName="/ppt/notesSlides/notesSlide64.xml" ContentType="application/vnd.openxmlformats-officedocument.presentationml.notesSlide+xml"/>
  <Override PartName="/ppt/tags/tag50.xml" ContentType="application/vnd.openxmlformats-officedocument.presentationml.tags+xml"/>
  <Override PartName="/ppt/notesSlides/notesSlide65.xml" ContentType="application/vnd.openxmlformats-officedocument.presentationml.notesSlide+xml"/>
  <Override PartName="/ppt/tags/tag51.xml" ContentType="application/vnd.openxmlformats-officedocument.presentationml.tags+xml"/>
  <Override PartName="/ppt/notesSlides/notesSlide66.xml" ContentType="application/vnd.openxmlformats-officedocument.presentationml.notesSlide+xml"/>
  <Override PartName="/ppt/tags/tag52.xml" ContentType="application/vnd.openxmlformats-officedocument.presentationml.tags+xml"/>
  <Override PartName="/ppt/notesSlides/notesSlide67.xml" ContentType="application/vnd.openxmlformats-officedocument.presentationml.notesSlide+xml"/>
  <Override PartName="/ppt/tags/tag53.xml" ContentType="application/vnd.openxmlformats-officedocument.presentationml.tags+xml"/>
  <Override PartName="/ppt/notesSlides/notesSlide68.xml" ContentType="application/vnd.openxmlformats-officedocument.presentationml.notesSlide+xml"/>
  <Override PartName="/ppt/tags/tag54.xml" ContentType="application/vnd.openxmlformats-officedocument.presentationml.tags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tags/tag55.xml" ContentType="application/vnd.openxmlformats-officedocument.presentationml.tags+xml"/>
  <Override PartName="/ppt/notesSlides/notesSlide71.xml" ContentType="application/vnd.openxmlformats-officedocument.presentationml.notesSlide+xml"/>
  <Override PartName="/ppt/tags/tag56.xml" ContentType="application/vnd.openxmlformats-officedocument.presentationml.tags+xml"/>
  <Override PartName="/ppt/notesSlides/notesSlide72.xml" ContentType="application/vnd.openxmlformats-officedocument.presentationml.notesSlide+xml"/>
  <Override PartName="/ppt/tags/tag57.xml" ContentType="application/vnd.openxmlformats-officedocument.presentationml.tags+xml"/>
  <Override PartName="/ppt/notesSlides/notesSlide73.xml" ContentType="application/vnd.openxmlformats-officedocument.presentationml.notesSlide+xml"/>
  <Override PartName="/ppt/tags/tag58.xml" ContentType="application/vnd.openxmlformats-officedocument.presentationml.tags+xml"/>
  <Override PartName="/ppt/notesSlides/notesSlide74.xml" ContentType="application/vnd.openxmlformats-officedocument.presentationml.notesSlide+xml"/>
  <Override PartName="/ppt/tags/tag59.xml" ContentType="application/vnd.openxmlformats-officedocument.presentationml.tags+xml"/>
  <Override PartName="/ppt/notesSlides/notesSlide75.xml" ContentType="application/vnd.openxmlformats-officedocument.presentationml.notesSlide+xml"/>
  <Override PartName="/ppt/tags/tag60.xml" ContentType="application/vnd.openxmlformats-officedocument.presentationml.tags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81"/>
  </p:notesMasterIdLst>
  <p:sldIdLst>
    <p:sldId id="320" r:id="rId3"/>
    <p:sldId id="401" r:id="rId4"/>
    <p:sldId id="449" r:id="rId5"/>
    <p:sldId id="410" r:id="rId6"/>
    <p:sldId id="327" r:id="rId7"/>
    <p:sldId id="455" r:id="rId8"/>
    <p:sldId id="457" r:id="rId9"/>
    <p:sldId id="458" r:id="rId10"/>
    <p:sldId id="456" r:id="rId11"/>
    <p:sldId id="459" r:id="rId12"/>
    <p:sldId id="460" r:id="rId13"/>
    <p:sldId id="461" r:id="rId14"/>
    <p:sldId id="260" r:id="rId15"/>
    <p:sldId id="462" r:id="rId16"/>
    <p:sldId id="261" r:id="rId17"/>
    <p:sldId id="262" r:id="rId18"/>
    <p:sldId id="463" r:id="rId19"/>
    <p:sldId id="311" r:id="rId20"/>
    <p:sldId id="464" r:id="rId21"/>
    <p:sldId id="465" r:id="rId22"/>
    <p:sldId id="466" r:id="rId23"/>
    <p:sldId id="467" r:id="rId24"/>
    <p:sldId id="469" r:id="rId25"/>
    <p:sldId id="468" r:id="rId26"/>
    <p:sldId id="266" r:id="rId27"/>
    <p:sldId id="473" r:id="rId28"/>
    <p:sldId id="471" r:id="rId29"/>
    <p:sldId id="474" r:id="rId30"/>
    <p:sldId id="475" r:id="rId31"/>
    <p:sldId id="476" r:id="rId32"/>
    <p:sldId id="477" r:id="rId33"/>
    <p:sldId id="478" r:id="rId34"/>
    <p:sldId id="479" r:id="rId35"/>
    <p:sldId id="480" r:id="rId36"/>
    <p:sldId id="481" r:id="rId37"/>
    <p:sldId id="492" r:id="rId38"/>
    <p:sldId id="493" r:id="rId39"/>
    <p:sldId id="494" r:id="rId40"/>
    <p:sldId id="495" r:id="rId41"/>
    <p:sldId id="496" r:id="rId42"/>
    <p:sldId id="497" r:id="rId43"/>
    <p:sldId id="498" r:id="rId44"/>
    <p:sldId id="499" r:id="rId45"/>
    <p:sldId id="269" r:id="rId46"/>
    <p:sldId id="500" r:id="rId47"/>
    <p:sldId id="272" r:id="rId48"/>
    <p:sldId id="273" r:id="rId49"/>
    <p:sldId id="508" r:id="rId50"/>
    <p:sldId id="509" r:id="rId51"/>
    <p:sldId id="504" r:id="rId52"/>
    <p:sldId id="505" r:id="rId53"/>
    <p:sldId id="506" r:id="rId54"/>
    <p:sldId id="507" r:id="rId55"/>
    <p:sldId id="510" r:id="rId56"/>
    <p:sldId id="511" r:id="rId57"/>
    <p:sldId id="512" r:id="rId58"/>
    <p:sldId id="513" r:id="rId59"/>
    <p:sldId id="514" r:id="rId60"/>
    <p:sldId id="515" r:id="rId61"/>
    <p:sldId id="516" r:id="rId62"/>
    <p:sldId id="517" r:id="rId63"/>
    <p:sldId id="518" r:id="rId64"/>
    <p:sldId id="522" r:id="rId65"/>
    <p:sldId id="523" r:id="rId66"/>
    <p:sldId id="524" r:id="rId67"/>
    <p:sldId id="525" r:id="rId68"/>
    <p:sldId id="526" r:id="rId69"/>
    <p:sldId id="528" r:id="rId70"/>
    <p:sldId id="527" r:id="rId71"/>
    <p:sldId id="529" r:id="rId72"/>
    <p:sldId id="530" r:id="rId73"/>
    <p:sldId id="532" r:id="rId74"/>
    <p:sldId id="533" r:id="rId75"/>
    <p:sldId id="534" r:id="rId76"/>
    <p:sldId id="535" r:id="rId77"/>
    <p:sldId id="536" r:id="rId78"/>
    <p:sldId id="521" r:id="rId79"/>
    <p:sldId id="520" r:id="rId8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928"/>
    <p:restoredTop sz="82053" autoAdjust="0"/>
  </p:normalViewPr>
  <p:slideViewPr>
    <p:cSldViewPr snapToGrid="0" snapToObjects="1">
      <p:cViewPr varScale="1">
        <p:scale>
          <a:sx n="100" d="100"/>
          <a:sy n="100" d="100"/>
        </p:scale>
        <p:origin x="184" y="6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61" Type="http://schemas.openxmlformats.org/officeDocument/2006/relationships/slide" Target="slides/slide59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E5BFF4-16CE-FF42-8F98-AF276FA50BA1}" type="datetimeFigureOut">
              <a:rPr lang="en-US" smtClean="0"/>
              <a:t>11/2/21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3E036-A4CB-E845-BE6C-EA1CA9E24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04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2054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6520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3789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420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4496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44186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43607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50951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3022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03102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84661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99222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9163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061748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071752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14381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7920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7731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937983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738094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820691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72256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87068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350573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18250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5613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42590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8210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255723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598877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003898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096179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93400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55443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13237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41246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1337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62640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757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5330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6302450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916402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371229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4626948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315327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003132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180786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974606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41741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789894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88113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790926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740652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374328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27841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549124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84002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9085173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8952328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8246291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662267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481701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55293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570959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6336630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851120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443151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3996698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275371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692201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063765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9143461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687206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333362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81173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165104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954274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55266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18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43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50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39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5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5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172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67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454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7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731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F85E7-7033-4BD1-A625-C36166465D72}" type="datetime1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819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336" y="162161"/>
            <a:ext cx="8801664" cy="118016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4"/>
            <a:ext cx="8173014" cy="5264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68C2A-DC08-4D71-B5BC-A571B022E25E}" type="datetime1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86600" y="6470884"/>
            <a:ext cx="2057400" cy="365125"/>
          </a:xfrm>
        </p:spPr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6931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9DCD6-3D10-40FA-A88B-E0AD5136A360}" type="datetime1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959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D43D1-D08D-4D7D-B4AB-E82156BEAC2C}" type="datetime1">
              <a:rPr lang="en-US" smtClean="0"/>
              <a:t>11/2/21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054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8F3BF-3FC2-4600-9976-243D0786F5BB}" type="datetime1">
              <a:rPr lang="en-US" smtClean="0"/>
              <a:t>11/2/21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8609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5E7219-C430-46CE-85B9-30B4F0CA56AD}" type="datetime1">
              <a:rPr lang="en-US" smtClean="0"/>
              <a:t>11/2/21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99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6457F-C273-4FC9-8FE1-6D874FEF83EF}" type="datetime1">
              <a:rPr lang="en-US" smtClean="0"/>
              <a:t>11/2/21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816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3ADF5-D710-4EBB-AA69-2A818CDF92E1}" type="datetime1">
              <a:rPr lang="en-US" smtClean="0"/>
              <a:t>11/2/21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0299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EE3B-FC30-46DA-98F7-BE80A4010F5D}" type="datetime1">
              <a:rPr lang="en-US" smtClean="0"/>
              <a:t>11/2/21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840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61231-A0A7-4403-8B90-83ED4F249362}" type="datetime1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058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661F2-D403-4BA1-A95E-62DE29B59CB4}" type="datetime1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23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A6A743-70A3-BB43-8075-433ED5A57AC5}" type="datetimeFigureOut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522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7D50E-B569-40DB-B6B5-FEED8173E279}" type="datetime1">
              <a:rPr lang="en-US" smtClean="0"/>
              <a:t>11/2/21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641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7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1.xml"/><Relationship Id="rId6" Type="http://schemas.openxmlformats.org/officeDocument/2006/relationships/image" Target="../media/image15.png"/><Relationship Id="rId11" Type="http://schemas.openxmlformats.org/officeDocument/2006/relationships/image" Target="../media/image130.png"/><Relationship Id="rId5" Type="http://schemas.openxmlformats.org/officeDocument/2006/relationships/image" Target="../media/image14.png"/><Relationship Id="rId10" Type="http://schemas.openxmlformats.org/officeDocument/2006/relationships/image" Target="../media/image120.png"/><Relationship Id="rId4" Type="http://schemas.openxmlformats.org/officeDocument/2006/relationships/image" Target="../media/image13.png"/><Relationship Id="rId9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0.xml"/><Relationship Id="rId4" Type="http://schemas.openxmlformats.org/officeDocument/2006/relationships/image" Target="../media/image1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2.xml"/><Relationship Id="rId4" Type="http://schemas.openxmlformats.org/officeDocument/2006/relationships/image" Target="../media/image1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3.xml"/><Relationship Id="rId4" Type="http://schemas.openxmlformats.org/officeDocument/2006/relationships/image" Target="../media/image1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4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5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6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1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7.xml"/><Relationship Id="rId4" Type="http://schemas.openxmlformats.org/officeDocument/2006/relationships/image" Target="../media/image18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2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8.xml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3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9.xml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4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0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5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1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6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2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7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3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8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4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59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5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60.xml"/><Relationship Id="rId7" Type="http://schemas.openxmlformats.org/officeDocument/2006/relationships/image" Target="../media/image19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6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notesSlide" Target="../notesSlides/notesSlide61.xml"/><Relationship Id="rId7" Type="http://schemas.openxmlformats.org/officeDocument/2006/relationships/image" Target="../media/image190.png"/><Relationship Id="rId12" Type="http://schemas.openxmlformats.org/officeDocument/2006/relationships/image" Target="../media/image23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7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9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0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7" Type="http://schemas.openxmlformats.org/officeDocument/2006/relationships/image" Target="../media/image26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1.xml"/><Relationship Id="rId6" Type="http://schemas.openxmlformats.org/officeDocument/2006/relationships/image" Target="../media/image250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3.xml"/><Relationship Id="rId4" Type="http://schemas.openxmlformats.org/officeDocument/2006/relationships/image" Target="../media/image3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5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6.xml"/><Relationship Id="rId4" Type="http://schemas.openxmlformats.org/officeDocument/2006/relationships/image" Target="../media/image3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7.xml"/><Relationship Id="rId4" Type="http://schemas.openxmlformats.org/officeDocument/2006/relationships/image" Target="../media/image34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8.xml"/><Relationship Id="rId4" Type="http://schemas.openxmlformats.org/officeDocument/2006/relationships/image" Target="../media/image35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9.xml"/><Relationship Id="rId4" Type="http://schemas.openxmlformats.org/officeDocument/2006/relationships/image" Target="../media/image3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7" Type="http://schemas.openxmlformats.org/officeDocument/2006/relationships/image" Target="../media/image36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0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943" y="4068781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-14565"/>
            <a:ext cx="9144001" cy="2549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CS 348 Lectures 13-14</a:t>
            </a:r>
          </a:p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Query Processing Architecture and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277" y="2551191"/>
            <a:ext cx="7716204" cy="1448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 defTabSz="914400">
              <a:lnSpc>
                <a:spcPct val="150000"/>
              </a:lnSpc>
              <a:spcAft>
                <a:spcPts val="300"/>
              </a:spcAft>
            </a:pP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Semih </a:t>
            </a:r>
            <a:r>
              <a:rPr lang="en-US" sz="30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Salihoğlu</a:t>
            </a:r>
            <a:endParaRPr lang="en-US" sz="30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ctr" defTabSz="914400">
              <a:lnSpc>
                <a:spcPct val="150000"/>
              </a:lnSpc>
              <a:spcAft>
                <a:spcPts val="300"/>
              </a:spcAft>
            </a:pPr>
            <a:r>
              <a:rPr lang="en-US" sz="3000" kern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Nov 2</a:t>
            </a:r>
            <a:r>
              <a:rPr lang="en-US" sz="3000" kern="0" baseline="30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 </a:t>
            </a: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C13EC-677E-384F-B278-2939878C589F}" type="slidenum">
              <a:rPr lang="en-US" smtClean="0"/>
              <a:t>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ACA9E7-4B07-304C-A86C-AE26580E1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679" y="4395915"/>
            <a:ext cx="6800643" cy="92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17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xmlns:p14="http://schemas.microsoft.com/office/powerpoint/2010/main"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8925" y="93523"/>
            <a:ext cx="78788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Announcements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8925" y="807197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F7A96B-031C-8D48-8710-7302C726A66B}"/>
              </a:ext>
            </a:extLst>
          </p:cNvPr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Assignment 4: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Out Nov 5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night.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Due Nov 19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midnight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For the programming question, you need to wait for next week’s lecture on Tuesday but can get started in written part for sure (or even the programming part)</a:t>
            </a:r>
          </a:p>
        </p:txBody>
      </p:sp>
    </p:spTree>
    <p:extLst>
      <p:ext uri="{BB962C8B-B14F-4D97-AF65-F5344CB8AC3E}">
        <p14:creationId xmlns:p14="http://schemas.microsoft.com/office/powerpoint/2010/main" val="3911164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DBMS Query Processing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Fundamental Query Processing Operators &amp; Algorithms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Scan-based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Sort-based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Hashing-based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Algorithms Using Indices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010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Recall: 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297286"/>
              </p:ext>
            </p:extLst>
          </p:nvPr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AE18236F-8A40-7F4D-9C88-0E8F9F7EF85E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4BDE5981-F42E-E843-892A-50BCACD01E72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225" name="Rounded Rectangle 224">
                <a:extLst>
                  <a:ext uri="{FF2B5EF4-FFF2-40B4-BE49-F238E27FC236}">
                    <a16:creationId xmlns:a16="http://schemas.microsoft.com/office/drawing/2014/main" id="{24248049-F0AE-7A4F-B958-9C6F54273656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6" name="Rounded Rectangle 225">
                <a:extLst>
                  <a:ext uri="{FF2B5EF4-FFF2-40B4-BE49-F238E27FC236}">
                    <a16:creationId xmlns:a16="http://schemas.microsoft.com/office/drawing/2014/main" id="{AB785425-B0CF-6A4A-8DEE-62C8E3529AAC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FE0A2D00-03E1-7741-9081-84915034887B}"/>
                  </a:ext>
                </a:extLst>
              </p:cNvPr>
              <p:cNvCxnSpPr>
                <a:cxnSpLocks/>
                <a:stCxn id="225" idx="2"/>
                <a:endCxn id="226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B8DF3779-49CD-204A-BBF2-DA4403C08452}"/>
                  </a:ext>
                </a:extLst>
              </p:cNvPr>
              <p:cNvCxnSpPr>
                <a:cxnSpLocks/>
                <a:stCxn id="225" idx="2"/>
                <a:endCxn id="224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Rounded Rectangle 228">
                <a:extLst>
                  <a:ext uri="{FF2B5EF4-FFF2-40B4-BE49-F238E27FC236}">
                    <a16:creationId xmlns:a16="http://schemas.microsoft.com/office/drawing/2014/main" id="{5D3B7EFB-E733-0A43-B8BC-9CCF463712D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9B0071DE-CA7F-8544-8592-2CBAFB2F3EB5}"/>
                  </a:ext>
                </a:extLst>
              </p:cNvPr>
              <p:cNvCxnSpPr>
                <a:cxnSpLocks/>
                <a:stCxn id="229" idx="2"/>
                <a:endCxn id="225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ounded Rectangle 223">
              <a:extLst>
                <a:ext uri="{FF2B5EF4-FFF2-40B4-BE49-F238E27FC236}">
                  <a16:creationId xmlns:a16="http://schemas.microsoft.com/office/drawing/2014/main" id="{8EF8B94D-4D03-344C-842F-73A07E96EE8B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0896CEE8-40AC-F44C-97E7-B40E8FC9209C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232" name="Rounded Rectangle 231">
              <a:extLst>
                <a:ext uri="{FF2B5EF4-FFF2-40B4-BE49-F238E27FC236}">
                  <a16:creationId xmlns:a16="http://schemas.microsoft.com/office/drawing/2014/main" id="{209776B4-59D8-1048-ADE8-E466C20EF3D5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38597988-22E3-7641-9E95-66785425FCF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234" name="Rounded Rectangle 233">
              <a:extLst>
                <a:ext uri="{FF2B5EF4-FFF2-40B4-BE49-F238E27FC236}">
                  <a16:creationId xmlns:a16="http://schemas.microsoft.com/office/drawing/2014/main" id="{7419D018-C279-5646-B981-77230E34F615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5" name="Rounded Rectangle 234">
              <a:extLst>
                <a:ext uri="{FF2B5EF4-FFF2-40B4-BE49-F238E27FC236}">
                  <a16:creationId xmlns:a16="http://schemas.microsoft.com/office/drawing/2014/main" id="{8CD00AED-46A7-E14B-A190-95CAFCC12177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AD8AC49C-2D4D-4246-B2CE-6019F38D2C69}"/>
                </a:ext>
              </a:extLst>
            </p:cNvPr>
            <p:cNvCxnSpPr>
              <a:cxnSpLocks/>
              <a:stCxn id="232" idx="2"/>
              <a:endCxn id="233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E816DA63-9FD5-424D-B52C-2ECD77EC653E}"/>
                </a:ext>
              </a:extLst>
            </p:cNvPr>
            <p:cNvCxnSpPr>
              <a:cxnSpLocks/>
              <a:stCxn id="233" idx="2"/>
              <a:endCxn id="234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473E14BB-92D9-B44B-A530-6AC601DA3F6A}"/>
                </a:ext>
              </a:extLst>
            </p:cNvPr>
            <p:cNvCxnSpPr>
              <a:cxnSpLocks/>
              <a:stCxn id="232" idx="2"/>
              <a:endCxn id="235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Rounded Rectangle 238">
              <a:extLst>
                <a:ext uri="{FF2B5EF4-FFF2-40B4-BE49-F238E27FC236}">
                  <a16:creationId xmlns:a16="http://schemas.microsoft.com/office/drawing/2014/main" id="{D7D531F4-1EEA-704C-B987-1B97673E42C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ECDFA83F-8485-B342-9F94-40EFC29AA3C4}"/>
                </a:ext>
              </a:extLst>
            </p:cNvPr>
            <p:cNvCxnSpPr>
              <a:cxnSpLocks/>
              <a:stCxn id="239" idx="2"/>
              <a:endCxn id="232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2825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Query Processor of DBMSs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5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25050A-6CD8-5B40-B8D0-060192FCCA21}"/>
              </a:ext>
            </a:extLst>
          </p:cNvPr>
          <p:cNvSpPr txBox="1"/>
          <p:nvPr/>
        </p:nvSpPr>
        <p:spPr>
          <a:xfrm>
            <a:off x="106924" y="770444"/>
            <a:ext cx="906054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The component that executes a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physical plan: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 tree of operators that manipulate files and tuples to produce the output asked in a query.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Operators implement core: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data access methods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query processing algorithms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00BE05-4CAF-844A-812C-7BE6F7CFA8D2}"/>
              </a:ext>
            </a:extLst>
          </p:cNvPr>
          <p:cNvSpPr txBox="1"/>
          <p:nvPr/>
        </p:nvSpPr>
        <p:spPr>
          <a:xfrm>
            <a:off x="-90742" y="3482941"/>
            <a:ext cx="4155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CE1167-C2E8-6441-9976-ACA2614269E2}"/>
              </a:ext>
            </a:extLst>
          </p:cNvPr>
          <p:cNvGrpSpPr/>
          <p:nvPr/>
        </p:nvGrpSpPr>
        <p:grpSpPr>
          <a:xfrm>
            <a:off x="4648200" y="1744072"/>
            <a:ext cx="4248390" cy="3765231"/>
            <a:chOff x="4279307" y="1902822"/>
            <a:chExt cx="4666351" cy="41963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F8327E4E-3922-7746-8F74-69955608C4CA}"/>
                </a:ext>
              </a:extLst>
            </p:cNvPr>
            <p:cNvSpPr/>
            <p:nvPr/>
          </p:nvSpPr>
          <p:spPr>
            <a:xfrm>
              <a:off x="5119424" y="4547971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L.cid</a:t>
              </a:r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R.cid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C6A6EBA5-90C6-4A45-81A6-0C556E1A93D2}"/>
                </a:ext>
              </a:extLst>
            </p:cNvPr>
            <p:cNvSpPr/>
            <p:nvPr/>
          </p:nvSpPr>
          <p:spPr>
            <a:xfrm>
              <a:off x="4279307" y="5360978"/>
              <a:ext cx="1350114" cy="7381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3912510-4A01-464A-82AC-3303BD719B1F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flipH="1">
              <a:off x="4954364" y="5213868"/>
              <a:ext cx="891572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F31C955-5605-7944-8A16-DBD0589A9266}"/>
                </a:ext>
              </a:extLst>
            </p:cNvPr>
            <p:cNvCxnSpPr>
              <a:cxnSpLocks/>
              <a:stCxn id="16" idx="2"/>
              <a:endCxn id="28" idx="0"/>
            </p:cNvCxnSpPr>
            <p:nvPr/>
          </p:nvCxnSpPr>
          <p:spPr>
            <a:xfrm>
              <a:off x="5845936" y="5213868"/>
              <a:ext cx="726512" cy="13224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B5727F-8F93-C841-93F7-E3E05C6B216A}"/>
                </a:ext>
              </a:extLst>
            </p:cNvPr>
            <p:cNvCxnSpPr>
              <a:cxnSpLocks/>
              <a:stCxn id="29" idx="2"/>
              <a:endCxn id="16" idx="0"/>
            </p:cNvCxnSpPr>
            <p:nvPr/>
          </p:nvCxnSpPr>
          <p:spPr>
            <a:xfrm flipH="1">
              <a:off x="5845936" y="3840779"/>
              <a:ext cx="1066282" cy="70719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BB3CFC2-FCB1-1C4F-85A5-E0DAF40F5577}"/>
                </a:ext>
              </a:extLst>
            </p:cNvPr>
            <p:cNvSpPr/>
            <p:nvPr/>
          </p:nvSpPr>
          <p:spPr>
            <a:xfrm>
              <a:off x="5897391" y="5346110"/>
              <a:ext cx="1350113" cy="7381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681A219A-08A6-7B46-A088-04C6A2698A74}"/>
                </a:ext>
              </a:extLst>
            </p:cNvPr>
            <p:cNvSpPr/>
            <p:nvPr/>
          </p:nvSpPr>
          <p:spPr>
            <a:xfrm>
              <a:off x="6185706" y="3174882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87C9040-AA18-4840-A9B3-3CF80E4D8A51}"/>
                </a:ext>
              </a:extLst>
            </p:cNvPr>
            <p:cNvSpPr/>
            <p:nvPr/>
          </p:nvSpPr>
          <p:spPr>
            <a:xfrm>
              <a:off x="7362462" y="5328635"/>
              <a:ext cx="1583196" cy="7381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9D0BA37B-52EF-7144-8804-857D93FCA538}"/>
                </a:ext>
              </a:extLst>
            </p:cNvPr>
            <p:cNvSpPr/>
            <p:nvPr/>
          </p:nvSpPr>
          <p:spPr>
            <a:xfrm>
              <a:off x="6128881" y="1902822"/>
              <a:ext cx="1559235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F4E3DD-F142-F047-8093-81913B8A825A}"/>
                </a:ext>
              </a:extLst>
            </p:cNvPr>
            <p:cNvCxnSpPr>
              <a:cxnSpLocks/>
              <a:stCxn id="31" idx="2"/>
              <a:endCxn id="29" idx="0"/>
            </p:cNvCxnSpPr>
            <p:nvPr/>
          </p:nvCxnSpPr>
          <p:spPr>
            <a:xfrm>
              <a:off x="6908499" y="2568719"/>
              <a:ext cx="3719" cy="6061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94F08E7-6429-AE4E-BE55-C70AAB0EDAAB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6912218" y="3840779"/>
              <a:ext cx="1241843" cy="14878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E0E420-841C-A640-81DB-C36333387A03}"/>
              </a:ext>
            </a:extLst>
          </p:cNvPr>
          <p:cNvCxnSpPr>
            <a:cxnSpLocks/>
          </p:cNvCxnSpPr>
          <p:nvPr/>
        </p:nvCxnSpPr>
        <p:spPr>
          <a:xfrm flipH="1">
            <a:off x="4216467" y="3777909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A4069B2-DAED-B547-A689-0F3450CAF94E}"/>
              </a:ext>
            </a:extLst>
          </p:cNvPr>
          <p:cNvSpPr/>
          <p:nvPr/>
        </p:nvSpPr>
        <p:spPr>
          <a:xfrm>
            <a:off x="16078" y="6011871"/>
            <a:ext cx="9127922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Note: the more operators a system has, the larger set of query plans (i.e., algorithms) it can stich together to evaluate queries</a:t>
            </a:r>
          </a:p>
        </p:txBody>
      </p:sp>
    </p:spTree>
    <p:extLst>
      <p:ext uri="{BB962C8B-B14F-4D97-AF65-F5344CB8AC3E}">
        <p14:creationId xmlns:p14="http://schemas.microsoft.com/office/powerpoint/2010/main" val="127402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(Simplified) Physical Plan Architecture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73685" y="6588363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6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DB9FE1-26C6-8747-819E-AD41E903E169}"/>
              </a:ext>
            </a:extLst>
          </p:cNvPr>
          <p:cNvGrpSpPr/>
          <p:nvPr/>
        </p:nvGrpSpPr>
        <p:grpSpPr>
          <a:xfrm>
            <a:off x="4781550" y="823810"/>
            <a:ext cx="4248390" cy="5947115"/>
            <a:chOff x="4029075" y="853249"/>
            <a:chExt cx="4248390" cy="594711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7CE1167-C2E8-6441-9976-ACA2614269E2}"/>
                </a:ext>
              </a:extLst>
            </p:cNvPr>
            <p:cNvGrpSpPr/>
            <p:nvPr/>
          </p:nvGrpSpPr>
          <p:grpSpPr>
            <a:xfrm>
              <a:off x="4029075" y="853249"/>
              <a:ext cx="4248390" cy="4641525"/>
              <a:chOff x="4279307" y="1902822"/>
              <a:chExt cx="4666351" cy="5172942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8327E4E-3922-7746-8F74-69955608C4CA}"/>
                  </a:ext>
                </a:extLst>
              </p:cNvPr>
              <p:cNvSpPr/>
              <p:nvPr/>
            </p:nvSpPr>
            <p:spPr>
              <a:xfrm>
                <a:off x="5119424" y="4930130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HashJoin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C6A6EBA5-90C6-4A45-81A6-0C556E1A93D2}"/>
                  </a:ext>
                </a:extLst>
              </p:cNvPr>
              <p:cNvSpPr/>
              <p:nvPr/>
            </p:nvSpPr>
            <p:spPr>
              <a:xfrm>
                <a:off x="4279307" y="6337598"/>
                <a:ext cx="1350113" cy="73816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FileScan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3912510-4A01-464A-82AC-3303BD719B1F}"/>
                  </a:ext>
                </a:extLst>
              </p:cNvPr>
              <p:cNvCxnSpPr>
                <a:cxnSpLocks/>
                <a:stCxn id="16" idx="2"/>
                <a:endCxn id="17" idx="0"/>
              </p:cNvCxnSpPr>
              <p:nvPr/>
            </p:nvCxnSpPr>
            <p:spPr>
              <a:xfrm flipH="1">
                <a:off x="4954364" y="5596026"/>
                <a:ext cx="891571" cy="74157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F31C955-5605-7944-8A16-DBD0589A9266}"/>
                  </a:ext>
                </a:extLst>
              </p:cNvPr>
              <p:cNvCxnSpPr>
                <a:cxnSpLocks/>
                <a:stCxn id="16" idx="2"/>
                <a:endCxn id="28" idx="0"/>
              </p:cNvCxnSpPr>
              <p:nvPr/>
            </p:nvCxnSpPr>
            <p:spPr>
              <a:xfrm>
                <a:off x="5845936" y="5596027"/>
                <a:ext cx="726513" cy="72671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7B5727F-8F93-C841-93F7-E3E05C6B216A}"/>
                  </a:ext>
                </a:extLst>
              </p:cNvPr>
              <p:cNvCxnSpPr>
                <a:cxnSpLocks/>
                <a:stCxn id="29" idx="2"/>
                <a:endCxn id="16" idx="0"/>
              </p:cNvCxnSpPr>
              <p:nvPr/>
            </p:nvCxnSpPr>
            <p:spPr>
              <a:xfrm flipH="1">
                <a:off x="5845936" y="3946934"/>
                <a:ext cx="1066282" cy="983196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arrow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2BB3CFC2-FCB1-1C4F-85A5-E0DAF40F5577}"/>
                  </a:ext>
                </a:extLst>
              </p:cNvPr>
              <p:cNvSpPr/>
              <p:nvPr/>
            </p:nvSpPr>
            <p:spPr>
              <a:xfrm>
                <a:off x="5897391" y="6322737"/>
                <a:ext cx="1350113" cy="73816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FileScan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Customer</a:t>
                </a: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81A219A-08A6-7B46-A088-04C6A2698A74}"/>
                  </a:ext>
                </a:extLst>
              </p:cNvPr>
              <p:cNvSpPr/>
              <p:nvPr/>
            </p:nvSpPr>
            <p:spPr>
              <a:xfrm>
                <a:off x="6185705" y="3281037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HashJoin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P.pid</a:t>
                </a:r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O.pid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87C9040-AA18-4840-A9B3-3CF80E4D8A51}"/>
                  </a:ext>
                </a:extLst>
              </p:cNvPr>
              <p:cNvSpPr/>
              <p:nvPr/>
            </p:nvSpPr>
            <p:spPr>
              <a:xfrm>
                <a:off x="7362461" y="6305264"/>
                <a:ext cx="1583197" cy="738161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IndexScan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</a:t>
                </a: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name=</a:t>
                </a:r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BookA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9D0BA37B-52EF-7144-8804-857D93FCA538}"/>
                  </a:ext>
                </a:extLst>
              </p:cNvPr>
              <p:cNvSpPr/>
              <p:nvPr/>
            </p:nvSpPr>
            <p:spPr>
              <a:xfrm>
                <a:off x="6128881" y="1902822"/>
                <a:ext cx="1559235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cid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6FF4E3DD-F142-F047-8093-81913B8A825A}"/>
                  </a:ext>
                </a:extLst>
              </p:cNvPr>
              <p:cNvCxnSpPr>
                <a:cxnSpLocks/>
                <a:stCxn id="31" idx="2"/>
                <a:endCxn id="29" idx="0"/>
              </p:cNvCxnSpPr>
              <p:nvPr/>
            </p:nvCxnSpPr>
            <p:spPr>
              <a:xfrm>
                <a:off x="6908498" y="2568719"/>
                <a:ext cx="3719" cy="712319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arrow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394F08E7-6429-AE4E-BE55-C70AAB0EDAAB}"/>
                  </a:ext>
                </a:extLst>
              </p:cNvPr>
              <p:cNvCxnSpPr>
                <a:cxnSpLocks/>
                <a:stCxn id="29" idx="2"/>
                <a:endCxn id="30" idx="0"/>
              </p:cNvCxnSpPr>
              <p:nvPr/>
            </p:nvCxnSpPr>
            <p:spPr>
              <a:xfrm>
                <a:off x="6912218" y="3946934"/>
                <a:ext cx="1241843" cy="2358331"/>
              </a:xfrm>
              <a:prstGeom prst="line">
                <a:avLst/>
              </a:prstGeom>
              <a:ln w="19050">
                <a:solidFill>
                  <a:schemeClr val="tx1"/>
                </a:solidFill>
                <a:headEnd type="arrow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Can 22">
              <a:extLst>
                <a:ext uri="{FF2B5EF4-FFF2-40B4-BE49-F238E27FC236}">
                  <a16:creationId xmlns:a16="http://schemas.microsoft.com/office/drawing/2014/main" id="{DC122F3F-0A52-AC48-A62D-CE620AE3E2AE}"/>
                </a:ext>
              </a:extLst>
            </p:cNvPr>
            <p:cNvSpPr/>
            <p:nvPr/>
          </p:nvSpPr>
          <p:spPr>
            <a:xfrm>
              <a:off x="4156131" y="5834701"/>
              <a:ext cx="4121334" cy="949474"/>
            </a:xfrm>
            <a:prstGeom prst="can">
              <a:avLst>
                <a:gd name="adj" fmla="val 20978"/>
              </a:avLst>
            </a:prstGeom>
            <a:noFill/>
            <a:ln w="349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F8256BC-4A89-DF48-8DC8-286C097C9C3D}"/>
                </a:ext>
              </a:extLst>
            </p:cNvPr>
            <p:cNvSpPr txBox="1"/>
            <p:nvPr/>
          </p:nvSpPr>
          <p:spPr>
            <a:xfrm>
              <a:off x="5227298" y="6070929"/>
              <a:ext cx="28159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Table files, index files organized into pages/blocks </a:t>
              </a:r>
            </a:p>
          </p:txBody>
        </p:sp>
        <p:pic>
          <p:nvPicPr>
            <p:cNvPr id="25" name="Graphic 24" descr="Document outline">
              <a:extLst>
                <a:ext uri="{FF2B5EF4-FFF2-40B4-BE49-F238E27FC236}">
                  <a16:creationId xmlns:a16="http://schemas.microsoft.com/office/drawing/2014/main" id="{6517C940-F95B-C946-BA44-D3014CBE0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51544" y="5972032"/>
              <a:ext cx="649800" cy="649800"/>
            </a:xfrm>
            <a:prstGeom prst="rect">
              <a:avLst/>
            </a:prstGeom>
          </p:spPr>
        </p:pic>
        <p:pic>
          <p:nvPicPr>
            <p:cNvPr id="36" name="Graphic 35" descr="Document outline">
              <a:extLst>
                <a:ext uri="{FF2B5EF4-FFF2-40B4-BE49-F238E27FC236}">
                  <a16:creationId xmlns:a16="http://schemas.microsoft.com/office/drawing/2014/main" id="{9A22D5A3-67D9-AA43-B694-38C00DF98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00146" y="6105682"/>
              <a:ext cx="649800" cy="649800"/>
            </a:xfrm>
            <a:prstGeom prst="rect">
              <a:avLst/>
            </a:prstGeom>
          </p:spPr>
        </p:pic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D79BAF2-8353-F74D-A0BD-FD501BAE640F}"/>
                </a:ext>
              </a:extLst>
            </p:cNvPr>
            <p:cNvCxnSpPr>
              <a:cxnSpLocks/>
              <a:stCxn id="28" idx="2"/>
            </p:cNvCxnSpPr>
            <p:nvPr/>
          </p:nvCxnSpPr>
          <p:spPr>
            <a:xfrm>
              <a:off x="6116822" y="5481437"/>
              <a:ext cx="0" cy="429581"/>
            </a:xfrm>
            <a:prstGeom prst="line">
              <a:avLst/>
            </a:prstGeom>
            <a:ln w="19050">
              <a:solidFill>
                <a:schemeClr val="tx1"/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3490A5C-6BDE-E94C-9F0E-B07266243D94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>
              <a:off x="4643667" y="5494774"/>
              <a:ext cx="1" cy="435911"/>
            </a:xfrm>
            <a:prstGeom prst="line">
              <a:avLst/>
            </a:prstGeom>
            <a:ln w="19050">
              <a:solidFill>
                <a:schemeClr val="tx1"/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3AC5C2C-2EAD-4A4C-AFAD-1B60D34BD54B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flipH="1">
              <a:off x="7556769" y="5465758"/>
              <a:ext cx="1" cy="445260"/>
            </a:xfrm>
            <a:prstGeom prst="line">
              <a:avLst/>
            </a:prstGeom>
            <a:ln w="19050">
              <a:solidFill>
                <a:schemeClr val="tx1"/>
              </a:solidFill>
              <a:headEnd type="arrow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0928C64-EFC7-CA44-8C61-C3D4607255BD}"/>
                </a:ext>
              </a:extLst>
            </p:cNvPr>
            <p:cNvSpPr txBox="1"/>
            <p:nvPr/>
          </p:nvSpPr>
          <p:spPr>
            <a:xfrm>
              <a:off x="4071582" y="6431032"/>
              <a:ext cx="6498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Disk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2837B55-4673-5843-805D-3C63BF0395E6}"/>
              </a:ext>
            </a:extLst>
          </p:cNvPr>
          <p:cNvSpPr txBox="1"/>
          <p:nvPr/>
        </p:nvSpPr>
        <p:spPr>
          <a:xfrm>
            <a:off x="106924" y="770444"/>
            <a:ext cx="6410268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Tuples flow from leaves to root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Operators produce tables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not necessarily in full; can be in pieces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Several designs exist. Most popular choices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push vs pull (will not simulate)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materialized vs pipelined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iterator model (Volcano) vs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    block-at-a-time</a:t>
            </a:r>
          </a:p>
        </p:txBody>
      </p:sp>
      <p:graphicFrame>
        <p:nvGraphicFramePr>
          <p:cNvPr id="46" name="Table 21">
            <a:extLst>
              <a:ext uri="{FF2B5EF4-FFF2-40B4-BE49-F238E27FC236}">
                <a16:creationId xmlns:a16="http://schemas.microsoft.com/office/drawing/2014/main" id="{8CDA752F-E7BC-C745-9EC4-17A63254E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5206408"/>
              </p:ext>
            </p:extLst>
          </p:nvPr>
        </p:nvGraphicFramePr>
        <p:xfrm>
          <a:off x="3293373" y="5024839"/>
          <a:ext cx="1599884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19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74968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  <a:gridCol w="451168">
                  <a:extLst>
                    <a:ext uri="{9D8B030D-6E8A-4147-A177-3AD203B41FA5}">
                      <a16:colId xmlns:a16="http://schemas.microsoft.com/office/drawing/2014/main" val="26509602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O1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$20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O2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$30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5150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1512859"/>
                  </a:ext>
                </a:extLst>
              </a:tr>
            </a:tbl>
          </a:graphicData>
        </a:graphic>
      </p:graphicFrame>
      <p:graphicFrame>
        <p:nvGraphicFramePr>
          <p:cNvPr id="47" name="Table 21">
            <a:extLst>
              <a:ext uri="{FF2B5EF4-FFF2-40B4-BE49-F238E27FC236}">
                <a16:creationId xmlns:a16="http://schemas.microsoft.com/office/drawing/2014/main" id="{ABE7563E-7747-2E45-BD76-F27F26CBC0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058395"/>
              </p:ext>
            </p:extLst>
          </p:nvPr>
        </p:nvGraphicFramePr>
        <p:xfrm>
          <a:off x="6887652" y="5424538"/>
          <a:ext cx="894398" cy="548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662506"/>
                  </a:ext>
                </a:extLst>
              </a:tr>
            </a:tbl>
          </a:graphicData>
        </a:graphic>
      </p:graphicFrame>
      <p:graphicFrame>
        <p:nvGraphicFramePr>
          <p:cNvPr id="48" name="Table 21">
            <a:extLst>
              <a:ext uri="{FF2B5EF4-FFF2-40B4-BE49-F238E27FC236}">
                <a16:creationId xmlns:a16="http://schemas.microsoft.com/office/drawing/2014/main" id="{EB994D90-0B1D-1049-8B95-79D5810AF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65769"/>
              </p:ext>
            </p:extLst>
          </p:nvPr>
        </p:nvGraphicFramePr>
        <p:xfrm>
          <a:off x="8136591" y="5539591"/>
          <a:ext cx="997585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621030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P1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BookA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graphicFrame>
        <p:nvGraphicFramePr>
          <p:cNvPr id="50" name="Table 21">
            <a:extLst>
              <a:ext uri="{FF2B5EF4-FFF2-40B4-BE49-F238E27FC236}">
                <a16:creationId xmlns:a16="http://schemas.microsoft.com/office/drawing/2014/main" id="{D0EE61DF-DD75-304C-9AAD-E448EB6B9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321110"/>
              </p:ext>
            </p:extLst>
          </p:nvPr>
        </p:nvGraphicFramePr>
        <p:xfrm>
          <a:off x="4955958" y="2945942"/>
          <a:ext cx="2117727" cy="548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19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74968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  <a:gridCol w="451168">
                  <a:extLst>
                    <a:ext uri="{9D8B030D-6E8A-4147-A177-3AD203B41FA5}">
                      <a16:colId xmlns:a16="http://schemas.microsoft.com/office/drawing/2014/main" val="2650960286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264152578"/>
                    </a:ext>
                  </a:extLst>
                </a:gridCol>
              </a:tblGrid>
              <a:tr h="12063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O1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$20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12063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3664068"/>
                  </a:ext>
                </a:extLst>
              </a:tr>
            </a:tbl>
          </a:graphicData>
        </a:graphic>
      </p:graphicFrame>
      <p:graphicFrame>
        <p:nvGraphicFramePr>
          <p:cNvPr id="51" name="Table 21">
            <a:extLst>
              <a:ext uri="{FF2B5EF4-FFF2-40B4-BE49-F238E27FC236}">
                <a16:creationId xmlns:a16="http://schemas.microsoft.com/office/drawing/2014/main" id="{4A1155CC-64AB-F145-97F6-DFCE6F6C89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434736"/>
              </p:ext>
            </p:extLst>
          </p:nvPr>
        </p:nvGraphicFramePr>
        <p:xfrm>
          <a:off x="5599894" y="1414113"/>
          <a:ext cx="2738757" cy="548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19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74968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  <a:gridCol w="451168">
                  <a:extLst>
                    <a:ext uri="{9D8B030D-6E8A-4147-A177-3AD203B41FA5}">
                      <a16:colId xmlns:a16="http://schemas.microsoft.com/office/drawing/2014/main" val="2650960286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264152578"/>
                    </a:ext>
                  </a:extLst>
                </a:gridCol>
                <a:gridCol w="621030">
                  <a:extLst>
                    <a:ext uri="{9D8B030D-6E8A-4147-A177-3AD203B41FA5}">
                      <a16:colId xmlns:a16="http://schemas.microsoft.com/office/drawing/2014/main" val="10600640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O1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$20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/>
                        <a:t>BookA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383375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832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274 -0.00255 L -0.14826 -0.4923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59" y="-24491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73 -0.01134 L -0.10312 -0.25695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2292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264 -0.03078 L 0.19253 -0.2206 " pathEditMode="relative" ptsTypes="AA">
                                      <p:cBhvr>
                                        <p:cTn id="36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3 0.02871 L 0.07865 -0.13472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097" y="-8171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302 -4.81481E-6 L -0.00989 -0.12962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-648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Materialized vs Pipelined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73685" y="6588363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8327E4E-3922-7746-8F74-69955608C4CA}"/>
              </a:ext>
            </a:extLst>
          </p:cNvPr>
          <p:cNvSpPr/>
          <p:nvPr/>
        </p:nvSpPr>
        <p:spPr>
          <a:xfrm>
            <a:off x="6338303" y="3540120"/>
            <a:ext cx="1322874" cy="5974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</a:t>
            </a:r>
          </a:p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name=Alice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31C955-5605-7944-8A16-DBD0589A9266}"/>
              </a:ext>
            </a:extLst>
          </p:cNvPr>
          <p:cNvCxnSpPr>
            <a:cxnSpLocks/>
            <a:stCxn id="16" idx="2"/>
            <a:endCxn id="28" idx="0"/>
          </p:cNvCxnSpPr>
          <p:nvPr/>
        </p:nvCxnSpPr>
        <p:spPr>
          <a:xfrm>
            <a:off x="6999740" y="4137609"/>
            <a:ext cx="0" cy="65205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B5727F-8F93-C841-93F7-E3E05C6B216A}"/>
              </a:ext>
            </a:extLst>
          </p:cNvPr>
          <p:cNvCxnSpPr>
            <a:cxnSpLocks/>
            <a:stCxn id="29" idx="2"/>
            <a:endCxn id="16" idx="0"/>
          </p:cNvCxnSpPr>
          <p:nvPr/>
        </p:nvCxnSpPr>
        <p:spPr>
          <a:xfrm>
            <a:off x="6999740" y="2951462"/>
            <a:ext cx="0" cy="58865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BB3CFC2-FCB1-1C4F-85A5-E0DAF40F5577}"/>
              </a:ext>
            </a:extLst>
          </p:cNvPr>
          <p:cNvSpPr/>
          <p:nvPr/>
        </p:nvSpPr>
        <p:spPr>
          <a:xfrm>
            <a:off x="6385149" y="4789665"/>
            <a:ext cx="1229182" cy="6623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FileScan</a:t>
            </a:r>
            <a:endParaRPr lang="en-US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81A219A-08A6-7B46-A088-04C6A2698A74}"/>
              </a:ext>
            </a:extLst>
          </p:cNvPr>
          <p:cNvSpPr/>
          <p:nvPr/>
        </p:nvSpPr>
        <p:spPr>
          <a:xfrm>
            <a:off x="6338303" y="2353973"/>
            <a:ext cx="1322874" cy="5974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</a:p>
          <a:p>
            <a:pPr algn="ctr"/>
            <a:r>
              <a:rPr lang="en-US" sz="15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cid</a:t>
            </a:r>
            <a:endParaRPr lang="en-US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Can 22">
            <a:extLst>
              <a:ext uri="{FF2B5EF4-FFF2-40B4-BE49-F238E27FC236}">
                <a16:creationId xmlns:a16="http://schemas.microsoft.com/office/drawing/2014/main" id="{DC122F3F-0A52-AC48-A62D-CE620AE3E2AE}"/>
              </a:ext>
            </a:extLst>
          </p:cNvPr>
          <p:cNvSpPr/>
          <p:nvPr/>
        </p:nvSpPr>
        <p:spPr>
          <a:xfrm>
            <a:off x="5721420" y="5805262"/>
            <a:ext cx="2609779" cy="949474"/>
          </a:xfrm>
          <a:prstGeom prst="can">
            <a:avLst>
              <a:gd name="adj" fmla="val 19640"/>
            </a:avLst>
          </a:prstGeom>
          <a:noFill/>
          <a:ln w="349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phic 24" descr="Document outline">
            <a:extLst>
              <a:ext uri="{FF2B5EF4-FFF2-40B4-BE49-F238E27FC236}">
                <a16:creationId xmlns:a16="http://schemas.microsoft.com/office/drawing/2014/main" id="{6517C940-F95B-C946-BA44-D3014CBE0A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2590" y="5965494"/>
            <a:ext cx="649800" cy="649800"/>
          </a:xfrm>
          <a:prstGeom prst="rect">
            <a:avLst/>
          </a:prstGeom>
        </p:spPr>
      </p:pic>
      <p:pic>
        <p:nvPicPr>
          <p:cNvPr id="36" name="Graphic 35" descr="Document outline">
            <a:extLst>
              <a:ext uri="{FF2B5EF4-FFF2-40B4-BE49-F238E27FC236}">
                <a16:creationId xmlns:a16="http://schemas.microsoft.com/office/drawing/2014/main" id="{9A22D5A3-67D9-AA43-B694-38C00DF98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1192" y="6099144"/>
            <a:ext cx="649800" cy="64980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D79BAF2-8353-F74D-A0BD-FD501BAE640F}"/>
              </a:ext>
            </a:extLst>
          </p:cNvPr>
          <p:cNvCxnSpPr>
            <a:cxnSpLocks/>
            <a:stCxn id="28" idx="2"/>
            <a:endCxn id="23" idx="1"/>
          </p:cNvCxnSpPr>
          <p:nvPr/>
        </p:nvCxnSpPr>
        <p:spPr>
          <a:xfrm>
            <a:off x="6999740" y="5451995"/>
            <a:ext cx="0" cy="353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2837B55-4673-5843-805D-3C63BF0395E6}"/>
              </a:ext>
            </a:extLst>
          </p:cNvPr>
          <p:cNvSpPr txBox="1"/>
          <p:nvPr/>
        </p:nvSpPr>
        <p:spPr>
          <a:xfrm>
            <a:off x="106924" y="770444"/>
            <a:ext cx="6410268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Materialized: All ops are “blocking”, i.e. materialize all their inputs to disk or temp. memory buffers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Simple to implement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Earlier DBMSs adopted materialization but now obsolete</a:t>
            </a:r>
          </a:p>
        </p:txBody>
      </p:sp>
      <p:graphicFrame>
        <p:nvGraphicFramePr>
          <p:cNvPr id="47" name="Table 21">
            <a:extLst>
              <a:ext uri="{FF2B5EF4-FFF2-40B4-BE49-F238E27FC236}">
                <a16:creationId xmlns:a16="http://schemas.microsoft.com/office/drawing/2014/main" id="{ABE7563E-7747-2E45-BD76-F27F26CBC0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443562"/>
              </p:ext>
            </p:extLst>
          </p:nvPr>
        </p:nvGraphicFramePr>
        <p:xfrm>
          <a:off x="7614331" y="4619115"/>
          <a:ext cx="894398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Carl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662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Bob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745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9653490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5DF6592-EF33-514C-9382-3EA282F1AF2A}"/>
              </a:ext>
            </a:extLst>
          </p:cNvPr>
          <p:cNvSpPr txBox="1"/>
          <p:nvPr/>
        </p:nvSpPr>
        <p:spPr>
          <a:xfrm>
            <a:off x="5634242" y="6379612"/>
            <a:ext cx="64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Disk</a:t>
            </a:r>
          </a:p>
        </p:txBody>
      </p:sp>
      <p:pic>
        <p:nvPicPr>
          <p:cNvPr id="40" name="Graphic 39" descr="Document outline">
            <a:extLst>
              <a:ext uri="{FF2B5EF4-FFF2-40B4-BE49-F238E27FC236}">
                <a16:creationId xmlns:a16="http://schemas.microsoft.com/office/drawing/2014/main" id="{B98CAE2E-1019-E04D-831E-9D4006CD4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31939" y="5969706"/>
            <a:ext cx="543891" cy="5438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833E392-FF5C-DD42-8077-FFADF15E93B9}"/>
              </a:ext>
            </a:extLst>
          </p:cNvPr>
          <p:cNvSpPr txBox="1"/>
          <p:nvPr/>
        </p:nvSpPr>
        <p:spPr>
          <a:xfrm>
            <a:off x="7471811" y="6409188"/>
            <a:ext cx="808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tmp</a:t>
            </a:r>
            <a:endParaRPr lang="en-US" dirty="0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10255DEA-4E16-D84D-8639-67212ACBB001}"/>
              </a:ext>
            </a:extLst>
          </p:cNvPr>
          <p:cNvCxnSpPr>
            <a:stCxn id="16" idx="3"/>
          </p:cNvCxnSpPr>
          <p:nvPr/>
        </p:nvCxnSpPr>
        <p:spPr>
          <a:xfrm>
            <a:off x="7661177" y="3838865"/>
            <a:ext cx="337182" cy="223079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Table 21">
            <a:extLst>
              <a:ext uri="{FF2B5EF4-FFF2-40B4-BE49-F238E27FC236}">
                <a16:creationId xmlns:a16="http://schemas.microsoft.com/office/drawing/2014/main" id="{E9451B2C-1509-104F-B4AD-26D27076E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206232"/>
              </p:ext>
            </p:extLst>
          </p:nvPr>
        </p:nvGraphicFramePr>
        <p:xfrm>
          <a:off x="7561458" y="3440448"/>
          <a:ext cx="894398" cy="548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9653490"/>
                  </a:ext>
                </a:extLst>
              </a:tr>
            </a:tbl>
          </a:graphicData>
        </a:graphic>
      </p:graphicFrame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4454F5BF-9C91-FF4C-B89B-84ECA56A8149}"/>
              </a:ext>
            </a:extLst>
          </p:cNvPr>
          <p:cNvSpPr/>
          <p:nvPr/>
        </p:nvSpPr>
        <p:spPr>
          <a:xfrm>
            <a:off x="6338303" y="1176951"/>
            <a:ext cx="1322874" cy="5974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C408832-1936-A14C-9CE4-1F596C11AB4D}"/>
              </a:ext>
            </a:extLst>
          </p:cNvPr>
          <p:cNvCxnSpPr>
            <a:cxnSpLocks/>
            <a:stCxn id="43" idx="2"/>
            <a:endCxn id="29" idx="0"/>
          </p:cNvCxnSpPr>
          <p:nvPr/>
        </p:nvCxnSpPr>
        <p:spPr>
          <a:xfrm>
            <a:off x="6999740" y="1774440"/>
            <a:ext cx="0" cy="57953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847CB0F7-3D95-694C-BA0F-5B396FFD2752}"/>
              </a:ext>
            </a:extLst>
          </p:cNvPr>
          <p:cNvCxnSpPr>
            <a:cxnSpLocks/>
          </p:cNvCxnSpPr>
          <p:nvPr/>
        </p:nvCxnSpPr>
        <p:spPr>
          <a:xfrm>
            <a:off x="7671475" y="2652716"/>
            <a:ext cx="337182" cy="347472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le 21">
            <a:extLst>
              <a:ext uri="{FF2B5EF4-FFF2-40B4-BE49-F238E27FC236}">
                <a16:creationId xmlns:a16="http://schemas.microsoft.com/office/drawing/2014/main" id="{E07B9B4F-3B08-8E4C-81B8-0F0F592FB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575408"/>
              </p:ext>
            </p:extLst>
          </p:nvPr>
        </p:nvGraphicFramePr>
        <p:xfrm>
          <a:off x="7611784" y="1873589"/>
          <a:ext cx="376555" cy="548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96534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029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1719 -0.05509 L -0.01719 -0.20717 " pathEditMode="relative" ptsTypes="AA">
                                      <p:cBhvr>
                                        <p:cTn id="6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-0.01621 L -0.00122 -0.16922 " pathEditMode="relative" ptsTypes="AA">
                                      <p:cBhvr>
                                        <p:cTn id="28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4.44444E-6 L -1.38889E-6 -0.13078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6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8" grpId="2"/>
      <p:bldP spid="8" grpId="3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Materialized vs Pipelined (2)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6544051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8327E4E-3922-7746-8F74-69955608C4CA}"/>
              </a:ext>
            </a:extLst>
          </p:cNvPr>
          <p:cNvSpPr/>
          <p:nvPr/>
        </p:nvSpPr>
        <p:spPr>
          <a:xfrm>
            <a:off x="6871703" y="3540120"/>
            <a:ext cx="1322874" cy="5974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</a:t>
            </a:r>
          </a:p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name=Alice 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31C955-5605-7944-8A16-DBD0589A9266}"/>
              </a:ext>
            </a:extLst>
          </p:cNvPr>
          <p:cNvCxnSpPr>
            <a:cxnSpLocks/>
            <a:stCxn id="16" idx="2"/>
            <a:endCxn id="28" idx="0"/>
          </p:cNvCxnSpPr>
          <p:nvPr/>
        </p:nvCxnSpPr>
        <p:spPr>
          <a:xfrm>
            <a:off x="7533140" y="4137609"/>
            <a:ext cx="0" cy="65205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B5727F-8F93-C841-93F7-E3E05C6B216A}"/>
              </a:ext>
            </a:extLst>
          </p:cNvPr>
          <p:cNvCxnSpPr>
            <a:cxnSpLocks/>
            <a:stCxn id="29" idx="2"/>
            <a:endCxn id="16" idx="0"/>
          </p:cNvCxnSpPr>
          <p:nvPr/>
        </p:nvCxnSpPr>
        <p:spPr>
          <a:xfrm>
            <a:off x="7533140" y="2951462"/>
            <a:ext cx="0" cy="58865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BB3CFC2-FCB1-1C4F-85A5-E0DAF40F5577}"/>
              </a:ext>
            </a:extLst>
          </p:cNvPr>
          <p:cNvSpPr/>
          <p:nvPr/>
        </p:nvSpPr>
        <p:spPr>
          <a:xfrm>
            <a:off x="6918549" y="4789665"/>
            <a:ext cx="1229182" cy="6623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FileScan</a:t>
            </a:r>
            <a:endParaRPr lang="en-US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81A219A-08A6-7B46-A088-04C6A2698A74}"/>
              </a:ext>
            </a:extLst>
          </p:cNvPr>
          <p:cNvSpPr/>
          <p:nvPr/>
        </p:nvSpPr>
        <p:spPr>
          <a:xfrm>
            <a:off x="6871703" y="2353973"/>
            <a:ext cx="1322874" cy="5974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</a:p>
          <a:p>
            <a:pPr algn="ctr"/>
            <a:r>
              <a:rPr lang="en-US" sz="15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cid</a:t>
            </a:r>
            <a:endParaRPr lang="en-US" sz="15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Can 22">
            <a:extLst>
              <a:ext uri="{FF2B5EF4-FFF2-40B4-BE49-F238E27FC236}">
                <a16:creationId xmlns:a16="http://schemas.microsoft.com/office/drawing/2014/main" id="{DC122F3F-0A52-AC48-A62D-CE620AE3E2AE}"/>
              </a:ext>
            </a:extLst>
          </p:cNvPr>
          <p:cNvSpPr/>
          <p:nvPr/>
        </p:nvSpPr>
        <p:spPr>
          <a:xfrm>
            <a:off x="6254820" y="5805262"/>
            <a:ext cx="2609779" cy="949474"/>
          </a:xfrm>
          <a:prstGeom prst="can">
            <a:avLst>
              <a:gd name="adj" fmla="val 19640"/>
            </a:avLst>
          </a:prstGeom>
          <a:noFill/>
          <a:ln w="349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phic 24" descr="Document outline">
            <a:extLst>
              <a:ext uri="{FF2B5EF4-FFF2-40B4-BE49-F238E27FC236}">
                <a16:creationId xmlns:a16="http://schemas.microsoft.com/office/drawing/2014/main" id="{6517C940-F95B-C946-BA44-D3014CBE0A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65990" y="5965494"/>
            <a:ext cx="649800" cy="649800"/>
          </a:xfrm>
          <a:prstGeom prst="rect">
            <a:avLst/>
          </a:prstGeom>
        </p:spPr>
      </p:pic>
      <p:pic>
        <p:nvPicPr>
          <p:cNvPr id="36" name="Graphic 35" descr="Document outline">
            <a:extLst>
              <a:ext uri="{FF2B5EF4-FFF2-40B4-BE49-F238E27FC236}">
                <a16:creationId xmlns:a16="http://schemas.microsoft.com/office/drawing/2014/main" id="{9A22D5A3-67D9-AA43-B694-38C00DF98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14592" y="6099144"/>
            <a:ext cx="649800" cy="64980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D79BAF2-8353-F74D-A0BD-FD501BAE640F}"/>
              </a:ext>
            </a:extLst>
          </p:cNvPr>
          <p:cNvCxnSpPr>
            <a:cxnSpLocks/>
            <a:stCxn id="28" idx="2"/>
            <a:endCxn id="23" idx="1"/>
          </p:cNvCxnSpPr>
          <p:nvPr/>
        </p:nvCxnSpPr>
        <p:spPr>
          <a:xfrm>
            <a:off x="7533140" y="5451995"/>
            <a:ext cx="0" cy="353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2837B55-4673-5843-805D-3C63BF0395E6}"/>
              </a:ext>
            </a:extLst>
          </p:cNvPr>
          <p:cNvSpPr txBox="1"/>
          <p:nvPr/>
        </p:nvSpPr>
        <p:spPr>
          <a:xfrm>
            <a:off x="106922" y="745044"/>
            <a:ext cx="6964655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Pipelined: When possible, ops take 1 or more tuples-at-a-time, process, and pass to parent ops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More efficient (avoids temp file writing, reading)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Not always possible: e.g., ORDER BY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to sort a table, cannot pipeline tuples. need to see all tuples before computing the order.</a:t>
            </a:r>
          </a:p>
        </p:txBody>
      </p:sp>
      <p:graphicFrame>
        <p:nvGraphicFramePr>
          <p:cNvPr id="47" name="Table 21">
            <a:extLst>
              <a:ext uri="{FF2B5EF4-FFF2-40B4-BE49-F238E27FC236}">
                <a16:creationId xmlns:a16="http://schemas.microsoft.com/office/drawing/2014/main" id="{ABE7563E-7747-2E45-BD76-F27F26CBC0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261713"/>
              </p:ext>
            </p:extLst>
          </p:nvPr>
        </p:nvGraphicFramePr>
        <p:xfrm>
          <a:off x="8147731" y="4619115"/>
          <a:ext cx="894398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5DF6592-EF33-514C-9382-3EA282F1AF2A}"/>
              </a:ext>
            </a:extLst>
          </p:cNvPr>
          <p:cNvSpPr txBox="1"/>
          <p:nvPr/>
        </p:nvSpPr>
        <p:spPr>
          <a:xfrm>
            <a:off x="6167642" y="6379612"/>
            <a:ext cx="649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Disk</a:t>
            </a:r>
          </a:p>
        </p:txBody>
      </p:sp>
      <p:graphicFrame>
        <p:nvGraphicFramePr>
          <p:cNvPr id="42" name="Table 21">
            <a:extLst>
              <a:ext uri="{FF2B5EF4-FFF2-40B4-BE49-F238E27FC236}">
                <a16:creationId xmlns:a16="http://schemas.microsoft.com/office/drawing/2014/main" id="{E9451B2C-1509-104F-B4AD-26D27076E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522457"/>
              </p:ext>
            </p:extLst>
          </p:nvPr>
        </p:nvGraphicFramePr>
        <p:xfrm>
          <a:off x="8094858" y="3440448"/>
          <a:ext cx="894398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4454F5BF-9C91-FF4C-B89B-84ECA56A8149}"/>
              </a:ext>
            </a:extLst>
          </p:cNvPr>
          <p:cNvSpPr/>
          <p:nvPr/>
        </p:nvSpPr>
        <p:spPr>
          <a:xfrm>
            <a:off x="6871703" y="1176951"/>
            <a:ext cx="1322874" cy="59748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C408832-1936-A14C-9CE4-1F596C11AB4D}"/>
              </a:ext>
            </a:extLst>
          </p:cNvPr>
          <p:cNvCxnSpPr>
            <a:cxnSpLocks/>
            <a:stCxn id="43" idx="2"/>
            <a:endCxn id="29" idx="0"/>
          </p:cNvCxnSpPr>
          <p:nvPr/>
        </p:nvCxnSpPr>
        <p:spPr>
          <a:xfrm>
            <a:off x="7533140" y="1774440"/>
            <a:ext cx="0" cy="57953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le 21">
            <a:extLst>
              <a:ext uri="{FF2B5EF4-FFF2-40B4-BE49-F238E27FC236}">
                <a16:creationId xmlns:a16="http://schemas.microsoft.com/office/drawing/2014/main" id="{E07B9B4F-3B08-8E4C-81B8-0F0F592FB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522865"/>
              </p:ext>
            </p:extLst>
          </p:nvPr>
        </p:nvGraphicFramePr>
        <p:xfrm>
          <a:off x="8142680" y="2191210"/>
          <a:ext cx="376555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graphicFrame>
        <p:nvGraphicFramePr>
          <p:cNvPr id="30" name="Table 21">
            <a:extLst>
              <a:ext uri="{FF2B5EF4-FFF2-40B4-BE49-F238E27FC236}">
                <a16:creationId xmlns:a16="http://schemas.microsoft.com/office/drawing/2014/main" id="{0921E308-135E-3343-A72F-FB80DC37A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945287"/>
              </p:ext>
            </p:extLst>
          </p:nvPr>
        </p:nvGraphicFramePr>
        <p:xfrm>
          <a:off x="8142680" y="4620610"/>
          <a:ext cx="894398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Carl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graphicFrame>
        <p:nvGraphicFramePr>
          <p:cNvPr id="31" name="Table 21">
            <a:extLst>
              <a:ext uri="{FF2B5EF4-FFF2-40B4-BE49-F238E27FC236}">
                <a16:creationId xmlns:a16="http://schemas.microsoft.com/office/drawing/2014/main" id="{53BD808E-56B6-8C49-8AED-C86D779E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380943"/>
              </p:ext>
            </p:extLst>
          </p:nvPr>
        </p:nvGraphicFramePr>
        <p:xfrm>
          <a:off x="8142680" y="4620856"/>
          <a:ext cx="894398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Bob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graphicFrame>
        <p:nvGraphicFramePr>
          <p:cNvPr id="32" name="Table 21">
            <a:extLst>
              <a:ext uri="{FF2B5EF4-FFF2-40B4-BE49-F238E27FC236}">
                <a16:creationId xmlns:a16="http://schemas.microsoft.com/office/drawing/2014/main" id="{385AA7A5-E48A-BE4D-A4FE-E7A49240C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15218"/>
              </p:ext>
            </p:extLst>
          </p:nvPr>
        </p:nvGraphicFramePr>
        <p:xfrm>
          <a:off x="8132997" y="4627207"/>
          <a:ext cx="894398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graphicFrame>
        <p:nvGraphicFramePr>
          <p:cNvPr id="33" name="Table 21">
            <a:extLst>
              <a:ext uri="{FF2B5EF4-FFF2-40B4-BE49-F238E27FC236}">
                <a16:creationId xmlns:a16="http://schemas.microsoft.com/office/drawing/2014/main" id="{13274814-DC98-FF4B-9150-0027E81A7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595796"/>
              </p:ext>
            </p:extLst>
          </p:nvPr>
        </p:nvGraphicFramePr>
        <p:xfrm>
          <a:off x="8094858" y="3446799"/>
          <a:ext cx="894398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17843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graphicFrame>
        <p:nvGraphicFramePr>
          <p:cNvPr id="39" name="Table 21">
            <a:extLst>
              <a:ext uri="{FF2B5EF4-FFF2-40B4-BE49-F238E27FC236}">
                <a16:creationId xmlns:a16="http://schemas.microsoft.com/office/drawing/2014/main" id="{58DA4067-60E4-BF44-ACCF-0AACE9E39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644054"/>
              </p:ext>
            </p:extLst>
          </p:nvPr>
        </p:nvGraphicFramePr>
        <p:xfrm>
          <a:off x="8142680" y="2178510"/>
          <a:ext cx="376555" cy="274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55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577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865 0.00486 L -0.02865 -0.1507 " pathEditMode="relative" ptsTypes="AA">
                                      <p:cBhvr>
                                        <p:cTn id="8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25 0.00023 L -0.00625 -0.15486 " pathEditMode="relative" ptsTypes="AA">
                                      <p:cBhvr>
                                        <p:cTn id="16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1.85185E-6 L 2.5E-6 -0.10092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4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882 2.22045E-16 L -0.02882 -0.18218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12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83 2.22045E-16 L -0.0283 -0.17847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935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83 0.00023 L -0.0283 -0.19237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63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781 0.00024 L -0.00781 -0.19514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769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99 -0.00764 L 0.00399 -0.12245 " pathEditMode="relative" rAng="0" ptsTypes="AA">
                                      <p:cBhvr>
                                        <p:cTn id="64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741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Iterator Model vs Block-at-a-time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73685" y="6588363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9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DB9FE1-26C6-8747-819E-AD41E903E169}"/>
              </a:ext>
            </a:extLst>
          </p:cNvPr>
          <p:cNvGrpSpPr/>
          <p:nvPr/>
        </p:nvGrpSpPr>
        <p:grpSpPr>
          <a:xfrm>
            <a:off x="4781550" y="823810"/>
            <a:ext cx="4248390" cy="5947115"/>
            <a:chOff x="4029075" y="853249"/>
            <a:chExt cx="4248390" cy="594711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7CE1167-C2E8-6441-9976-ACA2614269E2}"/>
                </a:ext>
              </a:extLst>
            </p:cNvPr>
            <p:cNvGrpSpPr/>
            <p:nvPr/>
          </p:nvGrpSpPr>
          <p:grpSpPr>
            <a:xfrm>
              <a:off x="4029075" y="853249"/>
              <a:ext cx="4248390" cy="4641525"/>
              <a:chOff x="4279307" y="1902822"/>
              <a:chExt cx="4666351" cy="5172942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8327E4E-3922-7746-8F74-69955608C4CA}"/>
                  </a:ext>
                </a:extLst>
              </p:cNvPr>
              <p:cNvSpPr/>
              <p:nvPr/>
            </p:nvSpPr>
            <p:spPr>
              <a:xfrm>
                <a:off x="5119424" y="4930130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HashJoin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L.cid</a:t>
                </a:r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R.cid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C6A6EBA5-90C6-4A45-81A6-0C556E1A93D2}"/>
                  </a:ext>
                </a:extLst>
              </p:cNvPr>
              <p:cNvSpPr/>
              <p:nvPr/>
            </p:nvSpPr>
            <p:spPr>
              <a:xfrm>
                <a:off x="4279307" y="6337598"/>
                <a:ext cx="1350113" cy="73816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FileScan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3912510-4A01-464A-82AC-3303BD719B1F}"/>
                  </a:ext>
                </a:extLst>
              </p:cNvPr>
              <p:cNvCxnSpPr>
                <a:cxnSpLocks/>
                <a:stCxn id="16" idx="2"/>
                <a:endCxn id="17" idx="0"/>
              </p:cNvCxnSpPr>
              <p:nvPr/>
            </p:nvCxnSpPr>
            <p:spPr>
              <a:xfrm flipH="1">
                <a:off x="4954364" y="5596026"/>
                <a:ext cx="891571" cy="74157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F31C955-5605-7944-8A16-DBD0589A9266}"/>
                  </a:ext>
                </a:extLst>
              </p:cNvPr>
              <p:cNvCxnSpPr>
                <a:cxnSpLocks/>
                <a:stCxn id="16" idx="2"/>
                <a:endCxn id="28" idx="0"/>
              </p:cNvCxnSpPr>
              <p:nvPr/>
            </p:nvCxnSpPr>
            <p:spPr>
              <a:xfrm>
                <a:off x="5845936" y="5596027"/>
                <a:ext cx="726513" cy="72671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7B5727F-8F93-C841-93F7-E3E05C6B216A}"/>
                  </a:ext>
                </a:extLst>
              </p:cNvPr>
              <p:cNvCxnSpPr>
                <a:cxnSpLocks/>
                <a:stCxn id="29" idx="2"/>
                <a:endCxn id="16" idx="0"/>
              </p:cNvCxnSpPr>
              <p:nvPr/>
            </p:nvCxnSpPr>
            <p:spPr>
              <a:xfrm flipH="1">
                <a:off x="5845936" y="3840779"/>
                <a:ext cx="1066282" cy="1089351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2BB3CFC2-FCB1-1C4F-85A5-E0DAF40F5577}"/>
                  </a:ext>
                </a:extLst>
              </p:cNvPr>
              <p:cNvSpPr/>
              <p:nvPr/>
            </p:nvSpPr>
            <p:spPr>
              <a:xfrm>
                <a:off x="5897391" y="6322737"/>
                <a:ext cx="1350113" cy="73816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FileScan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Customer</a:t>
                </a: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81A219A-08A6-7B46-A088-04C6A2698A74}"/>
                  </a:ext>
                </a:extLst>
              </p:cNvPr>
              <p:cNvSpPr/>
              <p:nvPr/>
            </p:nvSpPr>
            <p:spPr>
              <a:xfrm>
                <a:off x="6185706" y="3174882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HashJoin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P.pid</a:t>
                </a:r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O.pid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87C9040-AA18-4840-A9B3-3CF80E4D8A51}"/>
                  </a:ext>
                </a:extLst>
              </p:cNvPr>
              <p:cNvSpPr/>
              <p:nvPr/>
            </p:nvSpPr>
            <p:spPr>
              <a:xfrm>
                <a:off x="7362461" y="6305264"/>
                <a:ext cx="1583197" cy="738161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IndexScan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</a:t>
                </a:r>
              </a:p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name=</a:t>
                </a:r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BookA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9D0BA37B-52EF-7144-8804-857D93FCA538}"/>
                  </a:ext>
                </a:extLst>
              </p:cNvPr>
              <p:cNvSpPr/>
              <p:nvPr/>
            </p:nvSpPr>
            <p:spPr>
              <a:xfrm>
                <a:off x="6128881" y="1902822"/>
                <a:ext cx="1559235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5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cid</a:t>
                </a:r>
                <a:endPara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6FF4E3DD-F142-F047-8093-81913B8A825A}"/>
                  </a:ext>
                </a:extLst>
              </p:cNvPr>
              <p:cNvCxnSpPr>
                <a:cxnSpLocks/>
                <a:stCxn id="31" idx="2"/>
                <a:endCxn id="29" idx="0"/>
              </p:cNvCxnSpPr>
              <p:nvPr/>
            </p:nvCxnSpPr>
            <p:spPr>
              <a:xfrm>
                <a:off x="6908499" y="2568719"/>
                <a:ext cx="3719" cy="60616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394F08E7-6429-AE4E-BE55-C70AAB0EDAAB}"/>
                  </a:ext>
                </a:extLst>
              </p:cNvPr>
              <p:cNvCxnSpPr>
                <a:cxnSpLocks/>
                <a:stCxn id="29" idx="2"/>
                <a:endCxn id="30" idx="0"/>
              </p:cNvCxnSpPr>
              <p:nvPr/>
            </p:nvCxnSpPr>
            <p:spPr>
              <a:xfrm>
                <a:off x="6912218" y="3840779"/>
                <a:ext cx="1241843" cy="2464486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Can 22">
              <a:extLst>
                <a:ext uri="{FF2B5EF4-FFF2-40B4-BE49-F238E27FC236}">
                  <a16:creationId xmlns:a16="http://schemas.microsoft.com/office/drawing/2014/main" id="{DC122F3F-0A52-AC48-A62D-CE620AE3E2AE}"/>
                </a:ext>
              </a:extLst>
            </p:cNvPr>
            <p:cNvSpPr/>
            <p:nvPr/>
          </p:nvSpPr>
          <p:spPr>
            <a:xfrm>
              <a:off x="4156131" y="5834701"/>
              <a:ext cx="4121334" cy="949474"/>
            </a:xfrm>
            <a:prstGeom prst="can">
              <a:avLst>
                <a:gd name="adj" fmla="val 20978"/>
              </a:avLst>
            </a:prstGeom>
            <a:noFill/>
            <a:ln w="349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F8256BC-4A89-DF48-8DC8-286C097C9C3D}"/>
                </a:ext>
              </a:extLst>
            </p:cNvPr>
            <p:cNvSpPr txBox="1"/>
            <p:nvPr/>
          </p:nvSpPr>
          <p:spPr>
            <a:xfrm>
              <a:off x="5227298" y="6070929"/>
              <a:ext cx="28159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Table files, index files organized into pages/blocks </a:t>
              </a:r>
            </a:p>
          </p:txBody>
        </p:sp>
        <p:pic>
          <p:nvPicPr>
            <p:cNvPr id="25" name="Graphic 24" descr="Document outline">
              <a:extLst>
                <a:ext uri="{FF2B5EF4-FFF2-40B4-BE49-F238E27FC236}">
                  <a16:creationId xmlns:a16="http://schemas.microsoft.com/office/drawing/2014/main" id="{6517C940-F95B-C946-BA44-D3014CBE0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51544" y="5972032"/>
              <a:ext cx="649800" cy="649800"/>
            </a:xfrm>
            <a:prstGeom prst="rect">
              <a:avLst/>
            </a:prstGeom>
          </p:spPr>
        </p:pic>
        <p:pic>
          <p:nvPicPr>
            <p:cNvPr id="36" name="Graphic 35" descr="Document outline">
              <a:extLst>
                <a:ext uri="{FF2B5EF4-FFF2-40B4-BE49-F238E27FC236}">
                  <a16:creationId xmlns:a16="http://schemas.microsoft.com/office/drawing/2014/main" id="{9A22D5A3-67D9-AA43-B694-38C00DF98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00146" y="6105682"/>
              <a:ext cx="649800" cy="649800"/>
            </a:xfrm>
            <a:prstGeom prst="rect">
              <a:avLst/>
            </a:prstGeom>
          </p:spPr>
        </p:pic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D79BAF2-8353-F74D-A0BD-FD501BAE640F}"/>
                </a:ext>
              </a:extLst>
            </p:cNvPr>
            <p:cNvCxnSpPr>
              <a:cxnSpLocks/>
              <a:stCxn id="28" idx="2"/>
            </p:cNvCxnSpPr>
            <p:nvPr/>
          </p:nvCxnSpPr>
          <p:spPr>
            <a:xfrm>
              <a:off x="6116822" y="5481437"/>
              <a:ext cx="0" cy="429581"/>
            </a:xfrm>
            <a:prstGeom prst="line">
              <a:avLst/>
            </a:prstGeom>
            <a:ln w="19050">
              <a:solidFill>
                <a:schemeClr val="tx1"/>
              </a:solidFill>
              <a:headEnd type="non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3490A5C-6BDE-E94C-9F0E-B07266243D94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>
              <a:off x="4643667" y="5494774"/>
              <a:ext cx="1" cy="435911"/>
            </a:xfrm>
            <a:prstGeom prst="line">
              <a:avLst/>
            </a:prstGeom>
            <a:ln w="19050">
              <a:solidFill>
                <a:schemeClr val="tx1"/>
              </a:solidFill>
              <a:headEnd type="non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3AC5C2C-2EAD-4A4C-AFAD-1B60D34BD54B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flipH="1">
              <a:off x="7556769" y="5465758"/>
              <a:ext cx="1" cy="445260"/>
            </a:xfrm>
            <a:prstGeom prst="line">
              <a:avLst/>
            </a:prstGeom>
            <a:ln w="19050">
              <a:solidFill>
                <a:schemeClr val="tx1"/>
              </a:solidFill>
              <a:headEnd type="non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0928C64-EFC7-CA44-8C61-C3D4607255BD}"/>
                </a:ext>
              </a:extLst>
            </p:cNvPr>
            <p:cNvSpPr txBox="1"/>
            <p:nvPr/>
          </p:nvSpPr>
          <p:spPr>
            <a:xfrm>
              <a:off x="4071582" y="6431032"/>
              <a:ext cx="6498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Disk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2837B55-4673-5843-805D-3C63BF0395E6}"/>
              </a:ext>
            </a:extLst>
          </p:cNvPr>
          <p:cNvSpPr txBox="1"/>
          <p:nvPr/>
        </p:nvSpPr>
        <p:spPr>
          <a:xfrm>
            <a:off x="106924" y="770444"/>
            <a:ext cx="6502793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Iterator Model (by Goetz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Graefe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1990)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Pull data from children “one tuple a a time”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E.g.: PostgreSQL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Block-at-a-time: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Pull data many, e.g., 1024, tuples at a time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Better CPU utilization b/c 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   fewer function calls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66B3F7-6343-B040-A2FC-0ACB1193DCC3}"/>
              </a:ext>
            </a:extLst>
          </p:cNvPr>
          <p:cNvSpPr txBox="1"/>
          <p:nvPr/>
        </p:nvSpPr>
        <p:spPr>
          <a:xfrm>
            <a:off x="0" y="6058502"/>
            <a:ext cx="382177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Main architect of first version of MS SQL Server</a:t>
            </a:r>
          </a:p>
        </p:txBody>
      </p:sp>
      <p:pic>
        <p:nvPicPr>
          <p:cNvPr id="6" name="Picture 5" descr="A picture containing person, person, indoor, standing&#10;&#10;Description automatically generated">
            <a:extLst>
              <a:ext uri="{FF2B5EF4-FFF2-40B4-BE49-F238E27FC236}">
                <a16:creationId xmlns:a16="http://schemas.microsoft.com/office/drawing/2014/main" id="{74D35935-1B7F-D440-B7F6-CFE0B2D9CA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4824" y="4352739"/>
            <a:ext cx="1229186" cy="161137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73A7F44-8650-4848-9494-7782C30638C6}"/>
              </a:ext>
            </a:extLst>
          </p:cNvPr>
          <p:cNvSpPr txBox="1"/>
          <p:nvPr/>
        </p:nvSpPr>
        <p:spPr>
          <a:xfrm>
            <a:off x="9276" y="4793365"/>
            <a:ext cx="16026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Goetz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Graefe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3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DBMS Query Processing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Fundamental Query Processing Operators &amp; Algorithms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Hashing-based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Algorithms Using Indices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15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Costs of Query Processing Algorithms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algorithm analysis often “runtime”, i.e., # CPU cycles is the metric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DBMSs, most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algs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(but not all) are linear time or almost-linear time (i.e., with O(log(|R|)) factors) in terms of runtime.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Will use </a:t>
            </a:r>
            <a:r>
              <a:rPr lang="en-US" sz="2200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I/O cost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to analyze the main algorithms because DBMSs are disk-based systems.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Disclaimer 1: Simplification to study the general behavior of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algs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Disclaimer 2: All of the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algs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we describe are integrated in many systems and have scenarios when one is used over the other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Setting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5624659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Given operator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processing 1 or 2 tables (e.g., scan or join)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Recall: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runs in memory</a:t>
            </a:r>
            <a:endParaRPr lang="en-US" sz="2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12</a:t>
            </a:fld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DC64C444-3B3A-D147-A3C7-A57640F310A3}"/>
              </a:ext>
            </a:extLst>
          </p:cNvPr>
          <p:cNvSpPr txBox="1">
            <a:spLocks/>
          </p:cNvSpPr>
          <p:nvPr/>
        </p:nvSpPr>
        <p:spPr>
          <a:xfrm>
            <a:off x="6629400" y="684968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4C99FA5-7995-46A9-A97E-16E38AD58950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F4D2F8-6CD9-8D4E-B5E9-963FD3F1F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8517" y="1949719"/>
            <a:ext cx="2743200" cy="1586531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kumimoji="0" lang="en-US" dirty="0">
                <a:latin typeface="Arial" panose="020B0604020202020204" pitchFamily="34" charset="0"/>
                <a:cs typeface="Arial" panose="020B0604020202020204" pitchFamily="34" charset="0"/>
              </a:rPr>
              <a:t>Memory</a:t>
            </a:r>
          </a:p>
        </p:txBody>
      </p:sp>
      <p:sp>
        <p:nvSpPr>
          <p:cNvPr id="8" name="AutoShape 7">
            <a:extLst>
              <a:ext uri="{FF2B5EF4-FFF2-40B4-BE49-F238E27FC236}">
                <a16:creationId xmlns:a16="http://schemas.microsoft.com/office/drawing/2014/main" id="{2A452FC1-2724-8142-BBBC-A36557D26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317" y="3764850"/>
            <a:ext cx="3657600" cy="2015095"/>
          </a:xfrm>
          <a:prstGeom prst="can">
            <a:avLst>
              <a:gd name="adj" fmla="val 25000"/>
            </a:avLst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kumimoji="0" lang="en-US"/>
              <a:t>Disk</a:t>
            </a:r>
          </a:p>
        </p:txBody>
      </p:sp>
      <p:sp>
        <p:nvSpPr>
          <p:cNvPr id="9" name="Line 17">
            <a:extLst>
              <a:ext uri="{FF2B5EF4-FFF2-40B4-BE49-F238E27FC236}">
                <a16:creationId xmlns:a16="http://schemas.microsoft.com/office/drawing/2014/main" id="{5689CB35-2025-A647-A492-B9D6A783B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0117" y="3536251"/>
            <a:ext cx="0" cy="457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127736-3CFF-0E4D-9D40-290A6AB938FC}"/>
              </a:ext>
            </a:extLst>
          </p:cNvPr>
          <p:cNvSpPr txBox="1"/>
          <p:nvPr/>
        </p:nvSpPr>
        <p:spPr>
          <a:xfrm>
            <a:off x="5070863" y="4542117"/>
            <a:ext cx="648395" cy="92333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c</a:t>
            </a:r>
            <a:r>
              <a:rPr lang="en-US" sz="1800" dirty="0"/>
              <a:t>1</a:t>
            </a:r>
          </a:p>
          <a:p>
            <a:r>
              <a:rPr lang="en-US" dirty="0"/>
              <a:t>c</a:t>
            </a:r>
            <a:r>
              <a:rPr lang="en-US" sz="1800" dirty="0"/>
              <a:t>2</a:t>
            </a:r>
          </a:p>
          <a:p>
            <a:r>
              <a:rPr lang="en-US" dirty="0"/>
              <a:t>…</a:t>
            </a:r>
            <a:r>
              <a:rPr lang="en-US" sz="1800" dirty="0"/>
              <a:t> </a:t>
            </a:r>
            <a:endParaRPr lang="en-C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5C9ED7-A952-4344-AC6D-E795F815EE28}"/>
              </a:ext>
            </a:extLst>
          </p:cNvPr>
          <p:cNvSpPr txBox="1"/>
          <p:nvPr/>
        </p:nvSpPr>
        <p:spPr>
          <a:xfrm>
            <a:off x="7041551" y="4542117"/>
            <a:ext cx="1022459" cy="92333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o</a:t>
            </a:r>
            <a:r>
              <a:rPr lang="en-US" sz="1800" dirty="0"/>
              <a:t>1</a:t>
            </a:r>
            <a:br>
              <a:rPr lang="en-US" sz="1800" dirty="0"/>
            </a:br>
            <a:r>
              <a:rPr lang="en-US" dirty="0"/>
              <a:t>o</a:t>
            </a:r>
            <a:r>
              <a:rPr lang="en-US" sz="1800" dirty="0"/>
              <a:t>2</a:t>
            </a:r>
          </a:p>
          <a:p>
            <a:r>
              <a:rPr lang="en-US" sz="1800" dirty="0"/>
              <a:t>…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F61F793-C248-F94E-B482-422A949432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99058035"/>
              </p:ext>
            </p:extLst>
          </p:nvPr>
        </p:nvGraphicFramePr>
        <p:xfrm>
          <a:off x="6879679" y="2075575"/>
          <a:ext cx="772279" cy="1374777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72279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c1, 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c3,c4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34456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29A9AC8-8CFA-1848-AEDB-62B1FB1F2DE2}"/>
              </a:ext>
            </a:extLst>
          </p:cNvPr>
          <p:cNvSpPr txBox="1"/>
          <p:nvPr/>
        </p:nvSpPr>
        <p:spPr>
          <a:xfrm>
            <a:off x="7045704" y="4243151"/>
            <a:ext cx="101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3A7EC4-F8FD-1348-9868-CA20461DD0A3}"/>
              </a:ext>
            </a:extLst>
          </p:cNvPr>
          <p:cNvSpPr txBox="1"/>
          <p:nvPr/>
        </p:nvSpPr>
        <p:spPr>
          <a:xfrm>
            <a:off x="5070863" y="4243151"/>
            <a:ext cx="710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Cust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1AA225-4E2B-EE4A-9508-6B1DA6A1DF8A}"/>
              </a:ext>
            </a:extLst>
          </p:cNvPr>
          <p:cNvSpPr txBox="1"/>
          <p:nvPr/>
        </p:nvSpPr>
        <p:spPr>
          <a:xfrm>
            <a:off x="1170884" y="2738087"/>
            <a:ext cx="4174202" cy="64633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select * from Customer, Order where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Customer.cid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Order.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id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peech Bubble: Rectangle 25">
                <a:extLst>
                  <a:ext uri="{FF2B5EF4-FFF2-40B4-BE49-F238E27FC236}">
                    <a16:creationId xmlns:a16="http://schemas.microsoft.com/office/drawing/2014/main" id="{520DD17C-3A23-474A-ADA2-764E2FAF9750}"/>
                  </a:ext>
                </a:extLst>
              </p:cNvPr>
              <p:cNvSpPr/>
              <p:nvPr/>
            </p:nvSpPr>
            <p:spPr>
              <a:xfrm>
                <a:off x="5953433" y="1039808"/>
                <a:ext cx="2423155" cy="760428"/>
              </a:xfrm>
              <a:prstGeom prst="wedgeRectCallout">
                <a:avLst>
                  <a:gd name="adj1" fmla="val 2838"/>
                  <a:gd name="adj2" fmla="val 94027"/>
                </a:avLst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# memory blocks (frames) available: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𝑀</m:t>
                    </m:r>
                  </m:oMath>
                </a14:m>
                <a:endParaRPr lang="en-US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7" name="Speech Bubble: Rectangle 25">
                <a:extLst>
                  <a:ext uri="{FF2B5EF4-FFF2-40B4-BE49-F238E27FC236}">
                    <a16:creationId xmlns:a16="http://schemas.microsoft.com/office/drawing/2014/main" id="{520DD17C-3A23-474A-ADA2-764E2FAF97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433" y="1039808"/>
                <a:ext cx="2423155" cy="760428"/>
              </a:xfrm>
              <a:prstGeom prst="wedgeRectCallout">
                <a:avLst>
                  <a:gd name="adj1" fmla="val 2838"/>
                  <a:gd name="adj2" fmla="val 9402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peech Bubble: Rectangle 26">
                <a:extLst>
                  <a:ext uri="{FF2B5EF4-FFF2-40B4-BE49-F238E27FC236}">
                    <a16:creationId xmlns:a16="http://schemas.microsoft.com/office/drawing/2014/main" id="{00CC649A-C9C6-3849-9383-6E07E66EAF19}"/>
                  </a:ext>
                </a:extLst>
              </p:cNvPr>
              <p:cNvSpPr/>
              <p:nvPr/>
            </p:nvSpPr>
            <p:spPr>
              <a:xfrm>
                <a:off x="391567" y="5313614"/>
                <a:ext cx="4174202" cy="1379912"/>
              </a:xfrm>
              <a:prstGeom prst="wedgeRectCallout">
                <a:avLst>
                  <a:gd name="adj1" fmla="val 56245"/>
                  <a:gd name="adj2" fmla="val -52312"/>
                </a:avLst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Number of rows for a table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CA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𝐶𝑢𝑠𝑡𝑜𝑚𝑒𝑟</m:t>
                        </m:r>
                      </m:e>
                    </m:d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Number of disk blocks for a table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2"/>
                          </a:solidFill>
                          <a:latin typeface="Cambria Math"/>
                        </a:rPr>
                        <m:t>𝐵</m:t>
                      </m:r>
                      <m:d>
                        <m:dPr>
                          <m:ctrlP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𝐶𝑢𝑠𝑡𝑜𝑚𝑒𝑟</m:t>
                          </m:r>
                        </m:e>
                      </m:d>
                      <m:r>
                        <a:rPr lang="en-CA" b="0" i="1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CA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𝐶𝑢𝑠𝑡𝑜𝑚𝑒𝑟</m:t>
                              </m:r>
                            </m:e>
                          </m:d>
                        </m:num>
                        <m:den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𝑟𝑜𝑤𝑠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𝑝𝑒𝑟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CA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𝑏𝑙𝑜𝑐𝑘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8" name="Speech Bubble: Rectangle 26">
                <a:extLst>
                  <a:ext uri="{FF2B5EF4-FFF2-40B4-BE49-F238E27FC236}">
                    <a16:creationId xmlns:a16="http://schemas.microsoft.com/office/drawing/2014/main" id="{00CC649A-C9C6-3849-9383-6E07E66EA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67" y="5313614"/>
                <a:ext cx="4174202" cy="1379912"/>
              </a:xfrm>
              <a:prstGeom prst="wedgeRectCallout">
                <a:avLst>
                  <a:gd name="adj1" fmla="val 56245"/>
                  <a:gd name="adj2" fmla="val -52312"/>
                </a:avLst>
              </a:prstGeom>
              <a:blipFill>
                <a:blip r:embed="rId4"/>
                <a:stretch>
                  <a:fillRect l="-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4679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2" grpId="0" animBg="1"/>
      <p:bldP spid="14" grpId="0"/>
      <p:bldP spid="15" grpId="0"/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078" y="758856"/>
                <a:ext cx="9127921" cy="559749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Relations: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lang="en-US" sz="2200" i="1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Tuples: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𝑟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𝑠</m:t>
                    </m:r>
                  </m:oMath>
                </a14:m>
                <a:endParaRPr lang="en-US" sz="2200" i="1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Number of tuples: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Number of disk blocks: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Assume row-oriented physical design (i.e., all column values of tuples are in the page/block)</a:t>
                </a: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Number of memory blocks available: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accent2"/>
                        </a:solidFill>
                        <a:latin typeface="Cambria Math"/>
                      </a:rPr>
                      <m:t>𝑀</m:t>
                    </m:r>
                  </m:oMath>
                </a14:m>
                <a:endParaRPr lang="en-US" sz="22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Cost metric: # I/O’s</a:t>
                </a:r>
              </a:p>
              <a:p>
                <a:pPr lvl="1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sometimes # memory blocks required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78" y="758856"/>
                <a:ext cx="9127921" cy="5597493"/>
              </a:xfrm>
              <a:blipFill>
                <a:blip r:embed="rId4"/>
                <a:stretch>
                  <a:fillRect l="-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25F2FA-A7B4-E744-8321-2485E0F51338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Notation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D6045E-90CD-6F43-95C3-439F303CE3FD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89901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DBMS Query Processing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Fundamental Query Processing Operators &amp; Algorithms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Scan-based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Hashing-based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Algorithms Using Indices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6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079" y="807082"/>
                <a:ext cx="7191054" cy="4525963"/>
              </a:xfrm>
            </p:spPr>
            <p:txBody>
              <a:bodyPr>
                <a:normAutofit fontScale="92500"/>
              </a:bodyPr>
              <a:lstStyle/>
              <a:p>
                <a:pPr>
                  <a:buFont typeface="Wingdings" pitchFamily="2" charset="2"/>
                  <a:buChar char="Ø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Scan table </a:t>
                </a:r>
                <a:r>
                  <a:rPr lang="en-US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optionally perform a: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chemeClr val="accent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Selection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over </a:t>
                </a:r>
                <a:r>
                  <a:rPr lang="en-US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chemeClr val="accent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Projection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en-US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without duplicate elimination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I/O’s: </a:t>
                </a:r>
                <a14:m>
                  <m:oMath xmlns:m="http://schemas.openxmlformats.org/officeDocument/2006/math">
                    <m:r>
                      <a:rPr lang="en-US" sz="2600" i="1" dirty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6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6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Optimization for selection: </a:t>
                </a:r>
              </a:p>
              <a:p>
                <a:pPr lvl="2">
                  <a:buFont typeface="Wingdings" pitchFamily="2" charset="2"/>
                  <a:buChar char="Ø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Stop early if it is a lookup by key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Memory requirement: </a:t>
                </a:r>
                <a14:m>
                  <m:oMath xmlns:m="http://schemas.openxmlformats.org/officeDocument/2006/math">
                    <m:r>
                      <a:rPr lang="en-US" sz="26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(blocks)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1 for input, 1 for buffer output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Increasing memory does not improve I/O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Not counting I/O cost (if any), of writing the result out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Same for any algorithm!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79" y="807082"/>
                <a:ext cx="7191054" cy="4525963"/>
              </a:xfrm>
              <a:blipFill>
                <a:blip r:embed="rId4"/>
                <a:stretch>
                  <a:fillRect l="-1235" t="-1117" b="-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15</a:t>
            </a:fld>
            <a:endParaRPr lang="en-US"/>
          </a:p>
        </p:txBody>
      </p:sp>
      <p:sp>
        <p:nvSpPr>
          <p:cNvPr id="5" name="AutoShape 7">
            <a:extLst>
              <a:ext uri="{FF2B5EF4-FFF2-40B4-BE49-F238E27FC236}">
                <a16:creationId xmlns:a16="http://schemas.microsoft.com/office/drawing/2014/main" id="{527B97FE-4E6C-4201-B756-96E0BC8577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7753" y="2745970"/>
            <a:ext cx="2011681" cy="2015095"/>
          </a:xfrm>
          <a:prstGeom prst="can">
            <a:avLst>
              <a:gd name="adj" fmla="val 25000"/>
            </a:avLst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kumimoji="0" lang="en-US" dirty="0"/>
              <a:t>Disk</a:t>
            </a:r>
          </a:p>
          <a:p>
            <a:pPr algn="ctr">
              <a:spcBef>
                <a:spcPct val="0"/>
              </a:spcBef>
              <a:buFontTx/>
              <a:buNone/>
            </a:pPr>
            <a:endParaRPr lang="en-US" dirty="0"/>
          </a:p>
          <a:p>
            <a:pPr algn="ctr">
              <a:spcBef>
                <a:spcPct val="0"/>
              </a:spcBef>
              <a:buFontTx/>
              <a:buNone/>
            </a:pPr>
            <a:endParaRPr kumimoji="0" lang="en-US" dirty="0"/>
          </a:p>
          <a:p>
            <a:pPr algn="ctr">
              <a:spcBef>
                <a:spcPct val="0"/>
              </a:spcBef>
              <a:buFontTx/>
              <a:buNone/>
            </a:pPr>
            <a:endParaRPr lang="en-US" dirty="0"/>
          </a:p>
          <a:p>
            <a:pPr algn="ctr">
              <a:spcBef>
                <a:spcPct val="0"/>
              </a:spcBef>
              <a:buFontTx/>
              <a:buNone/>
            </a:pPr>
            <a:endParaRPr kumimoji="0" lang="en-US" dirty="0"/>
          </a:p>
          <a:p>
            <a:pPr algn="ctr">
              <a:spcBef>
                <a:spcPct val="0"/>
              </a:spcBef>
              <a:buFontTx/>
              <a:buNone/>
            </a:pPr>
            <a:endParaRPr lang="en-US" dirty="0"/>
          </a:p>
          <a:p>
            <a:pPr algn="ctr">
              <a:spcBef>
                <a:spcPct val="0"/>
              </a:spcBef>
              <a:buFontTx/>
              <a:buNone/>
            </a:pPr>
            <a:endParaRPr kumimoji="0" lang="en-US" dirty="0"/>
          </a:p>
        </p:txBody>
      </p:sp>
      <p:sp>
        <p:nvSpPr>
          <p:cNvPr id="6" name="Line 17">
            <a:extLst>
              <a:ext uri="{FF2B5EF4-FFF2-40B4-BE49-F238E27FC236}">
                <a16:creationId xmlns:a16="http://schemas.microsoft.com/office/drawing/2014/main" id="{F0A0290C-43E9-4222-A29E-0B6670FC6A92}"/>
              </a:ext>
            </a:extLst>
          </p:cNvPr>
          <p:cNvSpPr>
            <a:spLocks noChangeShapeType="1"/>
          </p:cNvSpPr>
          <p:nvPr/>
        </p:nvSpPr>
        <p:spPr bwMode="auto">
          <a:xfrm>
            <a:off x="8021784" y="2358043"/>
            <a:ext cx="0" cy="457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4AD933-8F2D-4AF4-BBC4-1CEFE140E10A}"/>
              </a:ext>
            </a:extLst>
          </p:cNvPr>
          <p:cNvSpPr txBox="1"/>
          <p:nvPr/>
        </p:nvSpPr>
        <p:spPr>
          <a:xfrm>
            <a:off x="7697586" y="3408937"/>
            <a:ext cx="648395" cy="36933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r</a:t>
            </a:r>
            <a:r>
              <a:rPr lang="en-US" sz="1800" dirty="0"/>
              <a:t>1 r2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E8D3B4-490E-4108-A1B5-00AAA676D2BE}"/>
              </a:ext>
            </a:extLst>
          </p:cNvPr>
          <p:cNvSpPr txBox="1"/>
          <p:nvPr/>
        </p:nvSpPr>
        <p:spPr>
          <a:xfrm>
            <a:off x="8302338" y="3368958"/>
            <a:ext cx="710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0C9D11-47B9-4E69-8E55-184625D93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4829" y="1456854"/>
            <a:ext cx="1047405" cy="1060516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kumimoji="0" lang="en-US" dirty="0"/>
              <a:t>Memory</a:t>
            </a:r>
          </a:p>
          <a:p>
            <a:pPr algn="ctr">
              <a:spcBef>
                <a:spcPct val="0"/>
              </a:spcBef>
              <a:buFontTx/>
              <a:buNone/>
            </a:pPr>
            <a:endParaRPr lang="en-US" dirty="0"/>
          </a:p>
          <a:p>
            <a:pPr algn="ctr">
              <a:spcBef>
                <a:spcPct val="0"/>
              </a:spcBef>
              <a:buFontTx/>
              <a:buNone/>
            </a:pPr>
            <a:endParaRPr kumimoji="0" lang="en-US" dirty="0"/>
          </a:p>
          <a:p>
            <a:pPr algn="ctr">
              <a:spcBef>
                <a:spcPct val="0"/>
              </a:spcBef>
              <a:buFontTx/>
              <a:buNone/>
            </a:pPr>
            <a:endParaRPr kumimoji="0"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5620D4-68A2-4D57-A227-A6BAC8EC3584}"/>
              </a:ext>
            </a:extLst>
          </p:cNvPr>
          <p:cNvSpPr txBox="1"/>
          <p:nvPr/>
        </p:nvSpPr>
        <p:spPr>
          <a:xfrm>
            <a:off x="7697586" y="3802130"/>
            <a:ext cx="648395" cy="36933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r3 r4</a:t>
            </a:r>
            <a:endParaRPr lang="en-US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AD80D8-6F30-47D6-B674-F877AA6528DE}"/>
              </a:ext>
            </a:extLst>
          </p:cNvPr>
          <p:cNvSpPr txBox="1"/>
          <p:nvPr/>
        </p:nvSpPr>
        <p:spPr>
          <a:xfrm>
            <a:off x="7697585" y="4187010"/>
            <a:ext cx="648395" cy="36933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800" dirty="0"/>
              <a:t>….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29E32C-E0B6-41B3-ACAD-F2ABF73C6BED}"/>
              </a:ext>
            </a:extLst>
          </p:cNvPr>
          <p:cNvSpPr txBox="1"/>
          <p:nvPr/>
        </p:nvSpPr>
        <p:spPr>
          <a:xfrm>
            <a:off x="7697584" y="1691864"/>
            <a:ext cx="648395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r</a:t>
            </a:r>
            <a:r>
              <a:rPr lang="en-US" sz="1800" dirty="0"/>
              <a:t>1 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6562B0-8A5D-40F4-88B7-82EEEB86FE20}"/>
              </a:ext>
            </a:extLst>
          </p:cNvPr>
          <p:cNvSpPr txBox="1"/>
          <p:nvPr/>
        </p:nvSpPr>
        <p:spPr>
          <a:xfrm>
            <a:off x="7697583" y="2045155"/>
            <a:ext cx="648395" cy="369332"/>
          </a:xfrm>
          <a:prstGeom prst="rect">
            <a:avLst/>
          </a:prstGeom>
          <a:solidFill>
            <a:schemeClr val="accent2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r</a:t>
            </a:r>
            <a:r>
              <a:rPr lang="en-US" sz="1800" dirty="0"/>
              <a:t>1 r2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ED14E574-66F6-4C7D-B51D-C6BD568BBA85}"/>
              </a:ext>
            </a:extLst>
          </p:cNvPr>
          <p:cNvSpPr/>
          <p:nvPr/>
        </p:nvSpPr>
        <p:spPr>
          <a:xfrm>
            <a:off x="5925934" y="1064029"/>
            <a:ext cx="1535779" cy="448640"/>
          </a:xfrm>
          <a:prstGeom prst="wedgeRectCallout">
            <a:avLst>
              <a:gd name="adj1" fmla="val 60213"/>
              <a:gd name="adj2" fmla="val 106997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Buffer output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16EC0D54-1D0F-4D8C-BE4F-A3CF2E13FF38}"/>
              </a:ext>
            </a:extLst>
          </p:cNvPr>
          <p:cNvSpPr/>
          <p:nvPr/>
        </p:nvSpPr>
        <p:spPr>
          <a:xfrm>
            <a:off x="5925933" y="1836876"/>
            <a:ext cx="1535779" cy="448640"/>
          </a:xfrm>
          <a:prstGeom prst="wedgeRectCallout">
            <a:avLst>
              <a:gd name="adj1" fmla="val 64002"/>
              <a:gd name="adj2" fmla="val 36588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1 for input 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C35074-135A-A642-9109-3E7D4C4B9CA8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Table Scan Operators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9256DA3-80C9-A94C-AE87-6AB2CE0D9713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385051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079" y="758856"/>
                <a:ext cx="9250584" cy="6099144"/>
              </a:xfrm>
            </p:spPr>
            <p:txBody>
              <a:bodyPr>
                <a:normAutofit lnSpcReduction="10000"/>
              </a:bodyPr>
              <a:lstStyle/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Takes 2 tables as inputs and implements: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</m:sub>
                    </m:sSub>
                    <m:r>
                      <a:rPr lang="en-US" sz="2400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Basic/Naive version: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for each block of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and </a:t>
                </a:r>
                <a:r>
                  <a:rPr lang="en-US" sz="2200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/>
                      </a:rPr>
                      <m:t>𝑟</m:t>
                    </m:r>
                  </m:oMath>
                </a14:m>
                <a:r>
                  <a:rPr lang="en-US" sz="2200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in the block:</a:t>
                </a:r>
                <a:b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</a:t>
                </a:r>
                <a:r>
                  <a:rPr lang="en-US" sz="2200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for each block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, and for each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C00000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sz="2200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in the block:</a:t>
                </a:r>
                <a:br>
                  <a:rPr lang="en-US" sz="22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  output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𝑟𝑠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𝑝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evaluates to true over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𝑟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𝑠</m:t>
                    </m:r>
                  </m:oMath>
                </a14:m>
                <a:endParaRPr lang="en-US" sz="2200" i="1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6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called the </a:t>
                </a:r>
                <a:r>
                  <a:rPr lang="en-US" sz="26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outer</a:t>
                </a: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table; </a:t>
                </a:r>
                <a14:m>
                  <m:oMath xmlns:m="http://schemas.openxmlformats.org/officeDocument/2006/math">
                    <m:r>
                      <a:rPr lang="en-US" sz="26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called the </a:t>
                </a:r>
                <a:r>
                  <a:rPr lang="en-US" sz="26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inner</a:t>
                </a: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table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I/O’s: </a:t>
                </a:r>
                <a14:m>
                  <m:oMath xmlns:m="http://schemas.openxmlformats.org/officeDocument/2006/math">
                    <m:r>
                      <a:rPr lang="en-US" sz="2600" i="1" dirty="0" smtClean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6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600" i="1" dirty="0">
                        <a:solidFill>
                          <a:srgbClr val="C00000"/>
                        </a:solidFill>
                        <a:latin typeface="Cambria Math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sz="26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600" i="1" dirty="0">
                        <a:solidFill>
                          <a:srgbClr val="C00000"/>
                        </a:solidFill>
                        <a:latin typeface="Cambria Math"/>
                      </a:rPr>
                      <m:t>⋅</m:t>
                    </m:r>
                    <m:r>
                      <a:rPr lang="en-US" sz="2600" i="1" dirty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6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endParaRPr lang="en-US" sz="26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buFont typeface="Wingdings" pitchFamily="2" charset="2"/>
                  <a:buChar char="Ø"/>
                </a:pP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buFont typeface="Wingdings" pitchFamily="2" charset="2"/>
                  <a:buChar char="Ø"/>
                </a:pP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buFont typeface="Wingdings" pitchFamily="2" charset="2"/>
                  <a:buChar char="Ø"/>
                </a:pP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Memory requirement: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400" dirty="0">
                  <a:solidFill>
                    <a:schemeClr val="accent2"/>
                  </a:solidFill>
                  <a:latin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This is a terribly slow algorithm: has quadratic runtime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But when is it necessary?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doing Cartesian product-like operations, e.g., “difficult” join conditions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SELECT * FROM R, P WHERE sqrt(R.A * S.B) &gt; 5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79" y="758856"/>
                <a:ext cx="9250584" cy="6099144"/>
              </a:xfrm>
              <a:blipFill>
                <a:blip r:embed="rId4"/>
                <a:stretch>
                  <a:fillRect l="-1097" t="-12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16</a:t>
            </a:fld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7C44F2FF-C64D-4054-8F30-56AB4A58BAB4}"/>
              </a:ext>
            </a:extLst>
          </p:cNvPr>
          <p:cNvSpPr/>
          <p:nvPr/>
        </p:nvSpPr>
        <p:spPr>
          <a:xfrm>
            <a:off x="580503" y="3667043"/>
            <a:ext cx="2677739" cy="806335"/>
          </a:xfrm>
          <a:prstGeom prst="wedgeRectCallout">
            <a:avLst>
              <a:gd name="adj1" fmla="val -5496"/>
              <a:gd name="adj2" fmla="val -63452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Blocks of R are moved into memory only once</a:t>
            </a: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9E80371D-F5DF-4D5F-BA12-E6371939F88A}"/>
              </a:ext>
            </a:extLst>
          </p:cNvPr>
          <p:cNvSpPr/>
          <p:nvPr/>
        </p:nvSpPr>
        <p:spPr>
          <a:xfrm>
            <a:off x="3584499" y="3667043"/>
            <a:ext cx="3666431" cy="806335"/>
          </a:xfrm>
          <a:prstGeom prst="wedgeRectCallout">
            <a:avLst>
              <a:gd name="adj1" fmla="val -56718"/>
              <a:gd name="adj2" fmla="val -66545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Blocks of S are moved into memory with |R| number of times</a:t>
            </a: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AD3E59-CF86-AB4F-8AE4-B25D42194C50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Nested-loop Join Operator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8143DA4-79E6-4049-ADFC-F8CC795E3681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AE5B254-BC67-D241-9081-35C26D020C4C}"/>
              </a:ext>
            </a:extLst>
          </p:cNvPr>
          <p:cNvSpPr txBox="1"/>
          <p:nvPr/>
        </p:nvSpPr>
        <p:spPr>
          <a:xfrm>
            <a:off x="6847272" y="2885098"/>
            <a:ext cx="2133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Note: No other operation except table scan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5266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9A577-F527-4BA9-9BDE-534E3FBD8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C99FA5-7995-46A9-A97E-16E38AD589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17566D1-44EA-4C61-AC0B-26153693E1B0}"/>
              </a:ext>
            </a:extLst>
          </p:cNvPr>
          <p:cNvGraphicFramePr>
            <a:graphicFrameLocks/>
          </p:cNvGraphicFramePr>
          <p:nvPr/>
        </p:nvGraphicFramePr>
        <p:xfrm>
          <a:off x="1078936" y="2014244"/>
          <a:ext cx="673100" cy="91651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FFFE64-D933-473D-BD90-FA51145300C5}"/>
              </a:ext>
            </a:extLst>
          </p:cNvPr>
          <p:cNvGraphicFramePr>
            <a:graphicFrameLocks/>
          </p:cNvGraphicFramePr>
          <p:nvPr/>
        </p:nvGraphicFramePr>
        <p:xfrm>
          <a:off x="1034486" y="3540125"/>
          <a:ext cx="673100" cy="1374777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3445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932D329-F098-45E9-8E74-C7B97064E9D0}"/>
              </a:ext>
            </a:extLst>
          </p:cNvPr>
          <p:cNvGraphicFramePr>
            <a:graphicFrameLocks/>
          </p:cNvGraphicFramePr>
          <p:nvPr/>
        </p:nvGraphicFramePr>
        <p:xfrm>
          <a:off x="2249346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</a:t>
                      </a:r>
                      <a:r>
                        <a:rPr lang="en-CA" b="0" dirty="0"/>
                        <a:t>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EDE64C4-3B58-4D9B-B95B-649CB0DDBE68}"/>
              </a:ext>
            </a:extLst>
          </p:cNvPr>
          <p:cNvSpPr/>
          <p:nvPr/>
        </p:nvSpPr>
        <p:spPr>
          <a:xfrm>
            <a:off x="2070100" y="1955800"/>
            <a:ext cx="45719" cy="29591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2359BAB-2875-48C4-86F5-8D32A3D34CD9}"/>
              </a:ext>
            </a:extLst>
          </p:cNvPr>
          <p:cNvGraphicFramePr>
            <a:graphicFrameLocks/>
          </p:cNvGraphicFramePr>
          <p:nvPr/>
        </p:nvGraphicFramePr>
        <p:xfrm>
          <a:off x="2268396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F5F7F62-6AA9-492C-833D-DAF0D10E7ED5}"/>
              </a:ext>
            </a:extLst>
          </p:cNvPr>
          <p:cNvGraphicFramePr>
            <a:graphicFrameLocks/>
          </p:cNvGraphicFramePr>
          <p:nvPr/>
        </p:nvGraphicFramePr>
        <p:xfrm>
          <a:off x="2268396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2C86CCC-8350-42EE-811F-6D03433C596E}"/>
              </a:ext>
            </a:extLst>
          </p:cNvPr>
          <p:cNvGraphicFramePr>
            <a:graphicFrameLocks/>
          </p:cNvGraphicFramePr>
          <p:nvPr/>
        </p:nvGraphicFramePr>
        <p:xfrm>
          <a:off x="2998646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</a:t>
                      </a:r>
                      <a:r>
                        <a:rPr lang="en-CA" b="0" dirty="0"/>
                        <a:t>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B31BC575-8ABF-47EE-B04D-4DD8CDED61DC}"/>
              </a:ext>
            </a:extLst>
          </p:cNvPr>
          <p:cNvGraphicFramePr>
            <a:graphicFrameLocks/>
          </p:cNvGraphicFramePr>
          <p:nvPr/>
        </p:nvGraphicFramePr>
        <p:xfrm>
          <a:off x="3017696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F0C82C9-BDAA-4BC3-B321-90AB35EFD2FA}"/>
              </a:ext>
            </a:extLst>
          </p:cNvPr>
          <p:cNvGraphicFramePr>
            <a:graphicFrameLocks/>
          </p:cNvGraphicFramePr>
          <p:nvPr/>
        </p:nvGraphicFramePr>
        <p:xfrm>
          <a:off x="3017696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6A307DB-E658-4578-A3CA-839650D73A5B}"/>
              </a:ext>
            </a:extLst>
          </p:cNvPr>
          <p:cNvGraphicFramePr>
            <a:graphicFrameLocks/>
          </p:cNvGraphicFramePr>
          <p:nvPr/>
        </p:nvGraphicFramePr>
        <p:xfrm>
          <a:off x="3809683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</a:t>
                      </a:r>
                      <a:r>
                        <a:rPr lang="en-CA" b="0" dirty="0"/>
                        <a:t>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2CEDB30A-007A-46FB-8CAD-C8DBBBECB2F4}"/>
              </a:ext>
            </a:extLst>
          </p:cNvPr>
          <p:cNvGraphicFramePr>
            <a:graphicFrameLocks/>
          </p:cNvGraphicFramePr>
          <p:nvPr/>
        </p:nvGraphicFramePr>
        <p:xfrm>
          <a:off x="3828733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71A6ED2-EF9B-4370-9D0B-D49A3BC12440}"/>
              </a:ext>
            </a:extLst>
          </p:cNvPr>
          <p:cNvGraphicFramePr>
            <a:graphicFrameLocks/>
          </p:cNvGraphicFramePr>
          <p:nvPr/>
        </p:nvGraphicFramePr>
        <p:xfrm>
          <a:off x="3828733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9645DAA2-28B1-44F1-BDF6-D0A43F3D7CEE}"/>
              </a:ext>
            </a:extLst>
          </p:cNvPr>
          <p:cNvGraphicFramePr>
            <a:graphicFrameLocks/>
          </p:cNvGraphicFramePr>
          <p:nvPr/>
        </p:nvGraphicFramePr>
        <p:xfrm>
          <a:off x="4639770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tx1"/>
                          </a:solidFill>
                        </a:rPr>
                        <a:t>r1</a:t>
                      </a:r>
                      <a:r>
                        <a:rPr lang="en-CA" b="0" dirty="0"/>
                        <a:t>,</a:t>
                      </a:r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96B7B96-1515-4756-ABCC-CB530DE892CE}"/>
              </a:ext>
            </a:extLst>
          </p:cNvPr>
          <p:cNvGraphicFramePr>
            <a:graphicFrameLocks/>
          </p:cNvGraphicFramePr>
          <p:nvPr/>
        </p:nvGraphicFramePr>
        <p:xfrm>
          <a:off x="4658820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9E1B8E5F-9542-4BDD-A20A-243221499EE8}"/>
              </a:ext>
            </a:extLst>
          </p:cNvPr>
          <p:cNvGraphicFramePr>
            <a:graphicFrameLocks/>
          </p:cNvGraphicFramePr>
          <p:nvPr/>
        </p:nvGraphicFramePr>
        <p:xfrm>
          <a:off x="4658820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8F0AB63-FC76-4DCC-8374-549805AF0E1D}"/>
              </a:ext>
            </a:extLst>
          </p:cNvPr>
          <p:cNvGraphicFramePr>
            <a:graphicFrameLocks/>
          </p:cNvGraphicFramePr>
          <p:nvPr/>
        </p:nvGraphicFramePr>
        <p:xfrm>
          <a:off x="5389070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tx1"/>
                          </a:solidFill>
                        </a:rPr>
                        <a:t>r1</a:t>
                      </a:r>
                      <a:r>
                        <a:rPr lang="en-CA" b="0" dirty="0"/>
                        <a:t>,</a:t>
                      </a:r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A205CE65-3E60-450F-BBF6-82810B35C763}"/>
              </a:ext>
            </a:extLst>
          </p:cNvPr>
          <p:cNvGraphicFramePr>
            <a:graphicFrameLocks/>
          </p:cNvGraphicFramePr>
          <p:nvPr/>
        </p:nvGraphicFramePr>
        <p:xfrm>
          <a:off x="5408120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148CB0BF-AF60-4589-98D9-7262AC995E56}"/>
              </a:ext>
            </a:extLst>
          </p:cNvPr>
          <p:cNvGraphicFramePr>
            <a:graphicFrameLocks/>
          </p:cNvGraphicFramePr>
          <p:nvPr/>
        </p:nvGraphicFramePr>
        <p:xfrm>
          <a:off x="5408120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88A5C6CB-7307-4FE5-BE0B-A1EB40653856}"/>
              </a:ext>
            </a:extLst>
          </p:cNvPr>
          <p:cNvGraphicFramePr>
            <a:graphicFrameLocks/>
          </p:cNvGraphicFramePr>
          <p:nvPr/>
        </p:nvGraphicFramePr>
        <p:xfrm>
          <a:off x="6200107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tx1"/>
                          </a:solidFill>
                        </a:rPr>
                        <a:t>r1</a:t>
                      </a:r>
                      <a:r>
                        <a:rPr lang="en-CA" b="0" dirty="0"/>
                        <a:t>,</a:t>
                      </a:r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44D534C-3109-4FC1-9C72-B4D175132D62}"/>
              </a:ext>
            </a:extLst>
          </p:cNvPr>
          <p:cNvGraphicFramePr>
            <a:graphicFrameLocks/>
          </p:cNvGraphicFramePr>
          <p:nvPr/>
        </p:nvGraphicFramePr>
        <p:xfrm>
          <a:off x="6219157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08CEFFB-5833-4C09-8722-0C9FD5C3558B}"/>
              </a:ext>
            </a:extLst>
          </p:cNvPr>
          <p:cNvGraphicFramePr>
            <a:graphicFrameLocks/>
          </p:cNvGraphicFramePr>
          <p:nvPr/>
        </p:nvGraphicFramePr>
        <p:xfrm>
          <a:off x="6219157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94DF8585-497F-497C-BE51-A4B5FAFFC995}"/>
              </a:ext>
            </a:extLst>
          </p:cNvPr>
          <p:cNvSpPr/>
          <p:nvPr/>
        </p:nvSpPr>
        <p:spPr>
          <a:xfrm>
            <a:off x="2922446" y="29307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3BD74D15-4D4A-455C-A481-64FA45CD741B}"/>
              </a:ext>
            </a:extLst>
          </p:cNvPr>
          <p:cNvSpPr/>
          <p:nvPr/>
        </p:nvSpPr>
        <p:spPr>
          <a:xfrm>
            <a:off x="3703496" y="29180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B4B2756B-0148-4863-9514-77AC2753B2C6}"/>
              </a:ext>
            </a:extLst>
          </p:cNvPr>
          <p:cNvSpPr/>
          <p:nvPr/>
        </p:nvSpPr>
        <p:spPr>
          <a:xfrm>
            <a:off x="4541696" y="292441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F257D30B-03AA-46D4-BAEB-28AA8DD5B08C}"/>
              </a:ext>
            </a:extLst>
          </p:cNvPr>
          <p:cNvSpPr/>
          <p:nvPr/>
        </p:nvSpPr>
        <p:spPr>
          <a:xfrm>
            <a:off x="5335446" y="29307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184539B6-48D2-4B28-8BBC-350943EC1149}"/>
              </a:ext>
            </a:extLst>
          </p:cNvPr>
          <p:cNvSpPr/>
          <p:nvPr/>
        </p:nvSpPr>
        <p:spPr>
          <a:xfrm>
            <a:off x="6097446" y="29180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F0E9D63E-129B-4731-85D5-B7EB7FD3B086}"/>
              </a:ext>
            </a:extLst>
          </p:cNvPr>
          <p:cNvGraphicFramePr>
            <a:graphicFrameLocks/>
          </p:cNvGraphicFramePr>
          <p:nvPr/>
        </p:nvGraphicFramePr>
        <p:xfrm>
          <a:off x="6951884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</a:t>
                      </a:r>
                      <a:r>
                        <a:rPr lang="en-CA" b="0" dirty="0"/>
                        <a:t>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88D4EA34-CC93-410B-8C71-E0136CF5DB95}"/>
              </a:ext>
            </a:extLst>
          </p:cNvPr>
          <p:cNvGraphicFramePr>
            <a:graphicFrameLocks/>
          </p:cNvGraphicFramePr>
          <p:nvPr/>
        </p:nvGraphicFramePr>
        <p:xfrm>
          <a:off x="6970934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6BCA71DA-6145-488A-8724-BDB779C23755}"/>
              </a:ext>
            </a:extLst>
          </p:cNvPr>
          <p:cNvGraphicFramePr>
            <a:graphicFrameLocks/>
          </p:cNvGraphicFramePr>
          <p:nvPr/>
        </p:nvGraphicFramePr>
        <p:xfrm>
          <a:off x="6970934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1D421B01-CC75-4E76-A4F4-176A0C7FCD81}"/>
              </a:ext>
            </a:extLst>
          </p:cNvPr>
          <p:cNvGraphicFramePr>
            <a:graphicFrameLocks/>
          </p:cNvGraphicFramePr>
          <p:nvPr/>
        </p:nvGraphicFramePr>
        <p:xfrm>
          <a:off x="7701184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</a:t>
                      </a:r>
                      <a:r>
                        <a:rPr lang="en-CA" b="0" dirty="0"/>
                        <a:t>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5EB19101-216C-4A24-AF13-9F3D18E4ABFD}"/>
              </a:ext>
            </a:extLst>
          </p:cNvPr>
          <p:cNvGraphicFramePr>
            <a:graphicFrameLocks/>
          </p:cNvGraphicFramePr>
          <p:nvPr/>
        </p:nvGraphicFramePr>
        <p:xfrm>
          <a:off x="7720234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7BA8E26A-3C9C-4D58-9CAC-C851AFFABDBF}"/>
              </a:ext>
            </a:extLst>
          </p:cNvPr>
          <p:cNvGraphicFramePr>
            <a:graphicFrameLocks/>
          </p:cNvGraphicFramePr>
          <p:nvPr/>
        </p:nvGraphicFramePr>
        <p:xfrm>
          <a:off x="7720234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EAAB461-289E-4FDA-A3BA-4C37DF1839FA}"/>
              </a:ext>
            </a:extLst>
          </p:cNvPr>
          <p:cNvGraphicFramePr>
            <a:graphicFrameLocks/>
          </p:cNvGraphicFramePr>
          <p:nvPr/>
        </p:nvGraphicFramePr>
        <p:xfrm>
          <a:off x="8512221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</a:t>
                      </a:r>
                      <a:r>
                        <a:rPr lang="en-CA" b="0" dirty="0"/>
                        <a:t>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2F2D0FD0-58C2-4E08-B7D9-4F3944DED210}"/>
              </a:ext>
            </a:extLst>
          </p:cNvPr>
          <p:cNvGraphicFramePr>
            <a:graphicFrameLocks/>
          </p:cNvGraphicFramePr>
          <p:nvPr/>
        </p:nvGraphicFramePr>
        <p:xfrm>
          <a:off x="8531271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4BF03955-A280-4539-8B04-A202D2096C1D}"/>
              </a:ext>
            </a:extLst>
          </p:cNvPr>
          <p:cNvGraphicFramePr>
            <a:graphicFrameLocks/>
          </p:cNvGraphicFramePr>
          <p:nvPr/>
        </p:nvGraphicFramePr>
        <p:xfrm>
          <a:off x="8531271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45" name="Arrow: Right 44">
            <a:extLst>
              <a:ext uri="{FF2B5EF4-FFF2-40B4-BE49-F238E27FC236}">
                <a16:creationId xmlns:a16="http://schemas.microsoft.com/office/drawing/2014/main" id="{D8C82E79-9939-4442-94F0-BA86ECE32CAD}"/>
              </a:ext>
            </a:extLst>
          </p:cNvPr>
          <p:cNvSpPr/>
          <p:nvPr/>
        </p:nvSpPr>
        <p:spPr>
          <a:xfrm>
            <a:off x="7624984" y="29307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3180DE57-A18D-4F95-9BB6-49AA04BF642C}"/>
              </a:ext>
            </a:extLst>
          </p:cNvPr>
          <p:cNvSpPr/>
          <p:nvPr/>
        </p:nvSpPr>
        <p:spPr>
          <a:xfrm>
            <a:off x="8406034" y="29180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7C8E2DEA-13B5-4C18-8673-80948332C300}"/>
              </a:ext>
            </a:extLst>
          </p:cNvPr>
          <p:cNvSpPr/>
          <p:nvPr/>
        </p:nvSpPr>
        <p:spPr>
          <a:xfrm>
            <a:off x="6891196" y="29180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EAE12AFE-975E-4539-9EB2-0C4C36389F22}"/>
              </a:ext>
            </a:extLst>
          </p:cNvPr>
          <p:cNvSpPr/>
          <p:nvPr/>
        </p:nvSpPr>
        <p:spPr>
          <a:xfrm>
            <a:off x="6878813" y="2256483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50" name="Callout: Line 49">
            <a:extLst>
              <a:ext uri="{FF2B5EF4-FFF2-40B4-BE49-F238E27FC236}">
                <a16:creationId xmlns:a16="http://schemas.microsoft.com/office/drawing/2014/main" id="{4E5D93E1-9B6D-498C-AD0B-6B9C03ED83B9}"/>
              </a:ext>
            </a:extLst>
          </p:cNvPr>
          <p:cNvSpPr/>
          <p:nvPr/>
        </p:nvSpPr>
        <p:spPr>
          <a:xfrm>
            <a:off x="2755845" y="4528258"/>
            <a:ext cx="3054349" cy="687325"/>
          </a:xfrm>
          <a:prstGeom prst="borderCallout1">
            <a:avLst>
              <a:gd name="adj1" fmla="val 6740"/>
              <a:gd name="adj2" fmla="val 3102"/>
              <a:gd name="adj3" fmla="val -143880"/>
              <a:gd name="adj4" fmla="val -6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Only compares (r1,s1), (r1,s2) </a:t>
            </a:r>
          </a:p>
        </p:txBody>
      </p:sp>
      <p:sp>
        <p:nvSpPr>
          <p:cNvPr id="47" name="AutoShape 7">
            <a:extLst>
              <a:ext uri="{FF2B5EF4-FFF2-40B4-BE49-F238E27FC236}">
                <a16:creationId xmlns:a16="http://schemas.microsoft.com/office/drawing/2014/main" id="{7BA815EA-0185-4AA0-A320-0C7A61185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282" y="1831111"/>
            <a:ext cx="1391761" cy="3418027"/>
          </a:xfrm>
          <a:prstGeom prst="can">
            <a:avLst>
              <a:gd name="adj" fmla="val 9459"/>
            </a:avLst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Disk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2F9D9A5-1926-4EEC-B216-8F8B8CD1C960}"/>
              </a:ext>
            </a:extLst>
          </p:cNvPr>
          <p:cNvSpPr/>
          <p:nvPr/>
        </p:nvSpPr>
        <p:spPr>
          <a:xfrm>
            <a:off x="2359593" y="3816351"/>
            <a:ext cx="6921572" cy="3566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Time 1       2              3               4               5             6             7             8         9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CE5820-C2CE-7D43-8F13-25AA6EF3BE4E}"/>
              </a:ext>
            </a:extLst>
          </p:cNvPr>
          <p:cNvSpPr txBox="1"/>
          <p:nvPr/>
        </p:nvSpPr>
        <p:spPr>
          <a:xfrm>
            <a:off x="16079" y="64300"/>
            <a:ext cx="7685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Simulation of Basic Nested-loop Join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5A41082-A179-7747-830E-77F1734ACBCE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1771066-BCD9-8E42-8708-2C28AE4D52E5}"/>
              </a:ext>
            </a:extLst>
          </p:cNvPr>
          <p:cNvSpPr txBox="1"/>
          <p:nvPr/>
        </p:nvSpPr>
        <p:spPr>
          <a:xfrm>
            <a:off x="83452" y="773927"/>
            <a:ext cx="9060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1 block = 2 tuples, 3 blocks of memory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FE8426A-2B15-BF41-B387-42533A243525}"/>
              </a:ext>
            </a:extLst>
          </p:cNvPr>
          <p:cNvSpPr txBox="1"/>
          <p:nvPr/>
        </p:nvSpPr>
        <p:spPr>
          <a:xfrm>
            <a:off x="101813" y="5509417"/>
            <a:ext cx="90605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 Number of I/O:  </a:t>
            </a:r>
            <a:b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	B(R) + |R| * S(R) = 2 blocks + 4 * 3 blocks = 14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6BF484-9DCC-F241-8F3A-8F978F103F3C}"/>
              </a:ext>
            </a:extLst>
          </p:cNvPr>
          <p:cNvSpPr txBox="1"/>
          <p:nvPr/>
        </p:nvSpPr>
        <p:spPr>
          <a:xfrm>
            <a:off x="550388" y="1922961"/>
            <a:ext cx="576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BA18DEF-B147-0E40-B4D1-8F8E9E5803BD}"/>
              </a:ext>
            </a:extLst>
          </p:cNvPr>
          <p:cNvSpPr txBox="1"/>
          <p:nvPr/>
        </p:nvSpPr>
        <p:spPr>
          <a:xfrm>
            <a:off x="507268" y="3485356"/>
            <a:ext cx="576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52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867859"/>
            <a:ext cx="9060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Improvement: </a:t>
            </a:r>
            <a:r>
              <a:rPr lang="en-US" sz="2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block-based nested-loop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Block-Nested-loop join Operator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2E0116-D91F-0D45-ACB1-A61E9AF64622}"/>
                  </a:ext>
                </a:extLst>
              </p:cNvPr>
              <p:cNvSpPr txBox="1"/>
              <p:nvPr/>
            </p:nvSpPr>
            <p:spPr>
              <a:xfrm>
                <a:off x="41726" y="1562477"/>
                <a:ext cx="9060548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for </a:t>
                </a:r>
                <a:r>
                  <a:rPr lang="en-US" sz="22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each block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FF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, for each block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FF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:</a:t>
                </a:r>
                <a:br>
                  <a:rPr lang="en-US" sz="22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for each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𝑟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in the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block, for each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𝑠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in the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block:  </a:t>
                </a:r>
              </a:p>
              <a:p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…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2E0116-D91F-0D45-ACB1-A61E9AF64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6" y="1562477"/>
                <a:ext cx="9060548" cy="1107996"/>
              </a:xfrm>
              <a:prstGeom prst="rect">
                <a:avLst/>
              </a:prstGeom>
              <a:blipFill>
                <a:blip r:embed="rId4"/>
                <a:stretch>
                  <a:fillRect l="-840" t="-2247" r="-1401" b="-101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40DD0C-5A62-FB4E-9AFD-0788E9442ED0}"/>
                  </a:ext>
                </a:extLst>
              </p:cNvPr>
              <p:cNvSpPr txBox="1"/>
              <p:nvPr/>
            </p:nvSpPr>
            <p:spPr>
              <a:xfrm>
                <a:off x="0" y="2868690"/>
                <a:ext cx="9060548" cy="1131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I/O’s: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Memory requirement: same as before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940DD0C-5A62-FB4E-9AFD-0788E9442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68690"/>
                <a:ext cx="9060548" cy="1131848"/>
              </a:xfrm>
              <a:prstGeom prst="rect">
                <a:avLst/>
              </a:prstGeom>
              <a:blipFill>
                <a:blip r:embed="rId5"/>
                <a:stretch>
                  <a:fillRect l="-980" b="-12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4491661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9A577-F527-4BA9-9BDE-534E3FBD8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C99FA5-7995-46A9-A97E-16E38AD589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17566D1-44EA-4C61-AC0B-26153693E1B0}"/>
              </a:ext>
            </a:extLst>
          </p:cNvPr>
          <p:cNvGraphicFramePr>
            <a:graphicFrameLocks/>
          </p:cNvGraphicFramePr>
          <p:nvPr/>
        </p:nvGraphicFramePr>
        <p:xfrm>
          <a:off x="1078936" y="2014244"/>
          <a:ext cx="673100" cy="91651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FFFE64-D933-473D-BD90-FA51145300C5}"/>
              </a:ext>
            </a:extLst>
          </p:cNvPr>
          <p:cNvGraphicFramePr>
            <a:graphicFrameLocks/>
          </p:cNvGraphicFramePr>
          <p:nvPr/>
        </p:nvGraphicFramePr>
        <p:xfrm>
          <a:off x="1034486" y="3540125"/>
          <a:ext cx="673100" cy="1374777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3445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932D329-F098-45E9-8E74-C7B97064E9D0}"/>
              </a:ext>
            </a:extLst>
          </p:cNvPr>
          <p:cNvGraphicFramePr>
            <a:graphicFrameLocks/>
          </p:cNvGraphicFramePr>
          <p:nvPr/>
        </p:nvGraphicFramePr>
        <p:xfrm>
          <a:off x="2249346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EDE64C4-3B58-4D9B-B95B-649CB0DDBE68}"/>
              </a:ext>
            </a:extLst>
          </p:cNvPr>
          <p:cNvSpPr/>
          <p:nvPr/>
        </p:nvSpPr>
        <p:spPr>
          <a:xfrm>
            <a:off x="2070100" y="1955800"/>
            <a:ext cx="45719" cy="29591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2359BAB-2875-48C4-86F5-8D32A3D34CD9}"/>
              </a:ext>
            </a:extLst>
          </p:cNvPr>
          <p:cNvGraphicFramePr>
            <a:graphicFrameLocks/>
          </p:cNvGraphicFramePr>
          <p:nvPr/>
        </p:nvGraphicFramePr>
        <p:xfrm>
          <a:off x="2268396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F5F7F62-6AA9-492C-833D-DAF0D10E7ED5}"/>
              </a:ext>
            </a:extLst>
          </p:cNvPr>
          <p:cNvGraphicFramePr>
            <a:graphicFrameLocks/>
          </p:cNvGraphicFramePr>
          <p:nvPr/>
        </p:nvGraphicFramePr>
        <p:xfrm>
          <a:off x="2268396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2C86CCC-8350-42EE-811F-6D03433C596E}"/>
              </a:ext>
            </a:extLst>
          </p:cNvPr>
          <p:cNvGraphicFramePr>
            <a:graphicFrameLocks/>
          </p:cNvGraphicFramePr>
          <p:nvPr/>
        </p:nvGraphicFramePr>
        <p:xfrm>
          <a:off x="2998646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B31BC575-8ABF-47EE-B04D-4DD8CDED61DC}"/>
              </a:ext>
            </a:extLst>
          </p:cNvPr>
          <p:cNvGraphicFramePr>
            <a:graphicFrameLocks/>
          </p:cNvGraphicFramePr>
          <p:nvPr/>
        </p:nvGraphicFramePr>
        <p:xfrm>
          <a:off x="3017696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F0C82C9-BDAA-4BC3-B321-90AB35EFD2FA}"/>
              </a:ext>
            </a:extLst>
          </p:cNvPr>
          <p:cNvGraphicFramePr>
            <a:graphicFrameLocks/>
          </p:cNvGraphicFramePr>
          <p:nvPr/>
        </p:nvGraphicFramePr>
        <p:xfrm>
          <a:off x="3017696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6A307DB-E658-4578-A3CA-839650D73A5B}"/>
              </a:ext>
            </a:extLst>
          </p:cNvPr>
          <p:cNvGraphicFramePr>
            <a:graphicFrameLocks/>
          </p:cNvGraphicFramePr>
          <p:nvPr/>
        </p:nvGraphicFramePr>
        <p:xfrm>
          <a:off x="3809683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2CEDB30A-007A-46FB-8CAD-C8DBBBECB2F4}"/>
              </a:ext>
            </a:extLst>
          </p:cNvPr>
          <p:cNvGraphicFramePr>
            <a:graphicFrameLocks/>
          </p:cNvGraphicFramePr>
          <p:nvPr/>
        </p:nvGraphicFramePr>
        <p:xfrm>
          <a:off x="3828733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71A6ED2-EF9B-4370-9D0B-D49A3BC12440}"/>
              </a:ext>
            </a:extLst>
          </p:cNvPr>
          <p:cNvGraphicFramePr>
            <a:graphicFrameLocks/>
          </p:cNvGraphicFramePr>
          <p:nvPr/>
        </p:nvGraphicFramePr>
        <p:xfrm>
          <a:off x="3828733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9645DAA2-28B1-44F1-BDF6-D0A43F3D7CEE}"/>
              </a:ext>
            </a:extLst>
          </p:cNvPr>
          <p:cNvGraphicFramePr>
            <a:graphicFrameLocks/>
          </p:cNvGraphicFramePr>
          <p:nvPr/>
        </p:nvGraphicFramePr>
        <p:xfrm>
          <a:off x="4639770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96B7B96-1515-4756-ABCC-CB530DE892CE}"/>
              </a:ext>
            </a:extLst>
          </p:cNvPr>
          <p:cNvGraphicFramePr>
            <a:graphicFrameLocks/>
          </p:cNvGraphicFramePr>
          <p:nvPr/>
        </p:nvGraphicFramePr>
        <p:xfrm>
          <a:off x="4658820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9E1B8E5F-9542-4BDD-A20A-243221499EE8}"/>
              </a:ext>
            </a:extLst>
          </p:cNvPr>
          <p:cNvGraphicFramePr>
            <a:graphicFrameLocks/>
          </p:cNvGraphicFramePr>
          <p:nvPr/>
        </p:nvGraphicFramePr>
        <p:xfrm>
          <a:off x="4658820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8F0AB63-FC76-4DCC-8374-549805AF0E1D}"/>
              </a:ext>
            </a:extLst>
          </p:cNvPr>
          <p:cNvGraphicFramePr>
            <a:graphicFrameLocks/>
          </p:cNvGraphicFramePr>
          <p:nvPr/>
        </p:nvGraphicFramePr>
        <p:xfrm>
          <a:off x="5389070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A205CE65-3E60-450F-BBF6-82810B35C763}"/>
              </a:ext>
            </a:extLst>
          </p:cNvPr>
          <p:cNvGraphicFramePr>
            <a:graphicFrameLocks/>
          </p:cNvGraphicFramePr>
          <p:nvPr/>
        </p:nvGraphicFramePr>
        <p:xfrm>
          <a:off x="5408120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148CB0BF-AF60-4589-98D9-7262AC995E56}"/>
              </a:ext>
            </a:extLst>
          </p:cNvPr>
          <p:cNvGraphicFramePr>
            <a:graphicFrameLocks/>
          </p:cNvGraphicFramePr>
          <p:nvPr/>
        </p:nvGraphicFramePr>
        <p:xfrm>
          <a:off x="5408120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88A5C6CB-7307-4FE5-BE0B-A1EB40653856}"/>
              </a:ext>
            </a:extLst>
          </p:cNvPr>
          <p:cNvGraphicFramePr>
            <a:graphicFrameLocks/>
          </p:cNvGraphicFramePr>
          <p:nvPr/>
        </p:nvGraphicFramePr>
        <p:xfrm>
          <a:off x="6200107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44D534C-3109-4FC1-9C72-B4D175132D62}"/>
              </a:ext>
            </a:extLst>
          </p:cNvPr>
          <p:cNvGraphicFramePr>
            <a:graphicFrameLocks/>
          </p:cNvGraphicFramePr>
          <p:nvPr/>
        </p:nvGraphicFramePr>
        <p:xfrm>
          <a:off x="6219157" y="266194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08CEFFB-5833-4C09-8722-0C9FD5C3558B}"/>
              </a:ext>
            </a:extLst>
          </p:cNvPr>
          <p:cNvGraphicFramePr>
            <a:graphicFrameLocks/>
          </p:cNvGraphicFramePr>
          <p:nvPr/>
        </p:nvGraphicFramePr>
        <p:xfrm>
          <a:off x="6219157" y="3251136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94DF8585-497F-497C-BE51-A4B5FAFFC995}"/>
              </a:ext>
            </a:extLst>
          </p:cNvPr>
          <p:cNvSpPr/>
          <p:nvPr/>
        </p:nvSpPr>
        <p:spPr>
          <a:xfrm>
            <a:off x="2922446" y="29307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3BD74D15-4D4A-455C-A481-64FA45CD741B}"/>
              </a:ext>
            </a:extLst>
          </p:cNvPr>
          <p:cNvSpPr/>
          <p:nvPr/>
        </p:nvSpPr>
        <p:spPr>
          <a:xfrm>
            <a:off x="3703496" y="29180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B4B2756B-0148-4863-9514-77AC2753B2C6}"/>
              </a:ext>
            </a:extLst>
          </p:cNvPr>
          <p:cNvSpPr/>
          <p:nvPr/>
        </p:nvSpPr>
        <p:spPr>
          <a:xfrm>
            <a:off x="4541696" y="292441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F257D30B-03AA-46D4-BAEB-28AA8DD5B08C}"/>
              </a:ext>
            </a:extLst>
          </p:cNvPr>
          <p:cNvSpPr/>
          <p:nvPr/>
        </p:nvSpPr>
        <p:spPr>
          <a:xfrm>
            <a:off x="5335446" y="29307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184539B6-48D2-4B28-8BBC-350943EC1149}"/>
              </a:ext>
            </a:extLst>
          </p:cNvPr>
          <p:cNvSpPr/>
          <p:nvPr/>
        </p:nvSpPr>
        <p:spPr>
          <a:xfrm>
            <a:off x="6097446" y="291806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49" name="Callout: Line 48">
            <a:extLst>
              <a:ext uri="{FF2B5EF4-FFF2-40B4-BE49-F238E27FC236}">
                <a16:creationId xmlns:a16="http://schemas.microsoft.com/office/drawing/2014/main" id="{F9CE58BC-4F4B-47D9-84A1-88807D122A8A}"/>
              </a:ext>
            </a:extLst>
          </p:cNvPr>
          <p:cNvSpPr/>
          <p:nvPr/>
        </p:nvSpPr>
        <p:spPr>
          <a:xfrm>
            <a:off x="2394378" y="4279945"/>
            <a:ext cx="3054349" cy="687325"/>
          </a:xfrm>
          <a:prstGeom prst="borderCallout1">
            <a:avLst>
              <a:gd name="adj1" fmla="val 6740"/>
              <a:gd name="adj2" fmla="val 3102"/>
              <a:gd name="adj3" fmla="val -186210"/>
              <a:gd name="adj4" fmla="val 15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Compares (r1,s1), (r2,s1), (r1,s2),(r2,s2)</a:t>
            </a: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37D68120-B49B-436B-A555-44DC0FA422BE}"/>
              </a:ext>
            </a:extLst>
          </p:cNvPr>
          <p:cNvSpPr/>
          <p:nvPr/>
        </p:nvSpPr>
        <p:spPr>
          <a:xfrm>
            <a:off x="2359593" y="3816351"/>
            <a:ext cx="5181483" cy="3566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Time 1       2              3               4               5             6           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A539BB-4020-304C-9036-EE1A4387E3BE}"/>
              </a:ext>
            </a:extLst>
          </p:cNvPr>
          <p:cNvSpPr txBox="1"/>
          <p:nvPr/>
        </p:nvSpPr>
        <p:spPr>
          <a:xfrm>
            <a:off x="16079" y="64300"/>
            <a:ext cx="7685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Simulation of Block Nested-loop Join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92ED6C5-1A91-5849-8345-7C9630476F7D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F971017-E546-DD4A-82C5-AF721D610DBC}"/>
              </a:ext>
            </a:extLst>
          </p:cNvPr>
          <p:cNvSpPr txBox="1"/>
          <p:nvPr/>
        </p:nvSpPr>
        <p:spPr>
          <a:xfrm>
            <a:off x="83452" y="773927"/>
            <a:ext cx="9060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1 block = 2 tuples, 3 blocks of memory</a:t>
            </a:r>
          </a:p>
        </p:txBody>
      </p:sp>
      <p:sp>
        <p:nvSpPr>
          <p:cNvPr id="40" name="AutoShape 7">
            <a:extLst>
              <a:ext uri="{FF2B5EF4-FFF2-40B4-BE49-F238E27FC236}">
                <a16:creationId xmlns:a16="http://schemas.microsoft.com/office/drawing/2014/main" id="{A558A7AB-D8F2-B24B-8AA3-3BFD1F1A6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282" y="1831111"/>
            <a:ext cx="1391761" cy="3418027"/>
          </a:xfrm>
          <a:prstGeom prst="can">
            <a:avLst>
              <a:gd name="adj" fmla="val 9459"/>
            </a:avLst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Disk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839536-6B0A-4B47-869E-228DA2FD77A5}"/>
              </a:ext>
            </a:extLst>
          </p:cNvPr>
          <p:cNvSpPr txBox="1"/>
          <p:nvPr/>
        </p:nvSpPr>
        <p:spPr>
          <a:xfrm>
            <a:off x="550388" y="1922961"/>
            <a:ext cx="576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631625-265B-5347-9AC3-FAC579BCFC78}"/>
              </a:ext>
            </a:extLst>
          </p:cNvPr>
          <p:cNvSpPr txBox="1"/>
          <p:nvPr/>
        </p:nvSpPr>
        <p:spPr>
          <a:xfrm>
            <a:off x="507268" y="3485356"/>
            <a:ext cx="576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FE22245-7D90-9844-A6B4-012BAE7ACF8C}"/>
              </a:ext>
            </a:extLst>
          </p:cNvPr>
          <p:cNvSpPr txBox="1"/>
          <p:nvPr/>
        </p:nvSpPr>
        <p:spPr>
          <a:xfrm>
            <a:off x="101813" y="5509417"/>
            <a:ext cx="90605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 Number of I/O:  </a:t>
            </a:r>
            <a:b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	 B(R) + B(R)* B(S) = 2 blocks + 2 * 3 blocks = 8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000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4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A7C86D-2655-E74A-9735-E00E0931BABC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38440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Make use of available memory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Read into memory as many blocks of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as possible, stream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by one-block at a time &amp; join every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tuple w/ all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tuples in memory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I/O’s: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200" i="1" dirty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accent2"/>
                                </a:solidFill>
                                <a:latin typeface="Cambria Math"/>
                              </a:rPr>
                              <m:t>𝐵</m:t>
                            </m:r>
                            <m:d>
                              <m:dPr>
                                <m:ctrlPr>
                                  <a:rPr lang="en-US" sz="2200" i="1" dirty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i="1" dirty="0">
                                    <a:solidFill>
                                      <a:schemeClr val="accent2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num>
                          <m:den>
                            <m:r>
                              <a:rPr lang="en-US" sz="2200" i="1" dirty="0">
                                <a:solidFill>
                                  <a:schemeClr val="accent2"/>
                                </a:solidFill>
                                <a:latin typeface="Cambria Math"/>
                              </a:rPr>
                              <m:t>𝑀</m:t>
                            </m:r>
                            <m:r>
                              <a:rPr lang="en-US" sz="2200" i="1" dirty="0">
                                <a:solidFill>
                                  <a:schemeClr val="accent2"/>
                                </a:solidFill>
                                <a:latin typeface="Cambria Math"/>
                              </a:rPr>
                              <m:t>−2</m:t>
                            </m:r>
                          </m:den>
                        </m:f>
                      </m:e>
                    </m:d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⋅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Or, roughly: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(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)⋅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𝐵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(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)/</m:t>
                    </m:r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𝑀</m:t>
                    </m:r>
                  </m:oMath>
                </a14:m>
                <a:endParaRPr lang="en-US" sz="2200" i="1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Memory requirement: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accent2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(as much as possible)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Which table would you pick as the outer? (exercise)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A7C86D-2655-E74A-9735-E00E0931B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3844066"/>
              </a:xfrm>
              <a:prstGeom prst="rect">
                <a:avLst/>
              </a:prstGeom>
              <a:blipFill>
                <a:blip r:embed="rId4"/>
                <a:stretch>
                  <a:fillRect l="-700" b="-2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Improvement to Block Nested Loop Join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886761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9A577-F527-4BA9-9BDE-534E3FBD8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C99FA5-7995-46A9-A97E-16E38AD589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17566D1-44EA-4C61-AC0B-26153693E1B0}"/>
              </a:ext>
            </a:extLst>
          </p:cNvPr>
          <p:cNvGraphicFramePr>
            <a:graphicFrameLocks/>
          </p:cNvGraphicFramePr>
          <p:nvPr/>
        </p:nvGraphicFramePr>
        <p:xfrm>
          <a:off x="1078936" y="2014244"/>
          <a:ext cx="673100" cy="91651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FFFE64-D933-473D-BD90-FA51145300C5}"/>
              </a:ext>
            </a:extLst>
          </p:cNvPr>
          <p:cNvGraphicFramePr>
            <a:graphicFrameLocks/>
          </p:cNvGraphicFramePr>
          <p:nvPr/>
        </p:nvGraphicFramePr>
        <p:xfrm>
          <a:off x="1034486" y="3540125"/>
          <a:ext cx="673100" cy="1374777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474528"/>
                  </a:ext>
                </a:extLst>
              </a:tr>
              <a:tr h="458259">
                <a:tc>
                  <a:txBody>
                    <a:bodyPr/>
                    <a:lstStyle/>
                    <a:p>
                      <a:r>
                        <a:rPr lang="en-CA" b="0" dirty="0"/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3445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932D329-F098-45E9-8E74-C7B97064E9D0}"/>
              </a:ext>
            </a:extLst>
          </p:cNvPr>
          <p:cNvGraphicFramePr>
            <a:graphicFrameLocks/>
          </p:cNvGraphicFramePr>
          <p:nvPr/>
        </p:nvGraphicFramePr>
        <p:xfrm>
          <a:off x="2249346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EDE64C4-3B58-4D9B-B95B-649CB0DDBE68}"/>
              </a:ext>
            </a:extLst>
          </p:cNvPr>
          <p:cNvSpPr/>
          <p:nvPr/>
        </p:nvSpPr>
        <p:spPr>
          <a:xfrm>
            <a:off x="2070100" y="1955800"/>
            <a:ext cx="45719" cy="29591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2359BAB-2875-48C4-86F5-8D32A3D34CD9}"/>
              </a:ext>
            </a:extLst>
          </p:cNvPr>
          <p:cNvGraphicFramePr>
            <a:graphicFrameLocks/>
          </p:cNvGraphicFramePr>
          <p:nvPr/>
        </p:nvGraphicFramePr>
        <p:xfrm>
          <a:off x="2268396" y="319987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s1,s2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2C86CCC-8350-42EE-811F-6D03433C596E}"/>
              </a:ext>
            </a:extLst>
          </p:cNvPr>
          <p:cNvGraphicFramePr>
            <a:graphicFrameLocks/>
          </p:cNvGraphicFramePr>
          <p:nvPr/>
        </p:nvGraphicFramePr>
        <p:xfrm>
          <a:off x="2998646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B31BC575-8ABF-47EE-B04D-4DD8CDED61DC}"/>
              </a:ext>
            </a:extLst>
          </p:cNvPr>
          <p:cNvGraphicFramePr>
            <a:graphicFrameLocks/>
          </p:cNvGraphicFramePr>
          <p:nvPr/>
        </p:nvGraphicFramePr>
        <p:xfrm>
          <a:off x="3017696" y="319987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s3,s4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6A307DB-E658-4578-A3CA-839650D73A5B}"/>
              </a:ext>
            </a:extLst>
          </p:cNvPr>
          <p:cNvGraphicFramePr>
            <a:graphicFrameLocks/>
          </p:cNvGraphicFramePr>
          <p:nvPr/>
        </p:nvGraphicFramePr>
        <p:xfrm>
          <a:off x="3809683" y="2089148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r1,r2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2CEDB30A-007A-46FB-8CAD-C8DBBBECB2F4}"/>
              </a:ext>
            </a:extLst>
          </p:cNvPr>
          <p:cNvGraphicFramePr>
            <a:graphicFrameLocks/>
          </p:cNvGraphicFramePr>
          <p:nvPr/>
        </p:nvGraphicFramePr>
        <p:xfrm>
          <a:off x="3828733" y="319987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s5,s6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9645DAA2-28B1-44F1-BDF6-D0A43F3D7CEE}"/>
              </a:ext>
            </a:extLst>
          </p:cNvPr>
          <p:cNvGraphicFramePr>
            <a:graphicFrameLocks/>
          </p:cNvGraphicFramePr>
          <p:nvPr/>
        </p:nvGraphicFramePr>
        <p:xfrm>
          <a:off x="2249346" y="265925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8F0AB63-FC76-4DCC-8374-549805AF0E1D}"/>
              </a:ext>
            </a:extLst>
          </p:cNvPr>
          <p:cNvGraphicFramePr>
            <a:graphicFrameLocks/>
          </p:cNvGraphicFramePr>
          <p:nvPr/>
        </p:nvGraphicFramePr>
        <p:xfrm>
          <a:off x="2998646" y="265925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88A5C6CB-7307-4FE5-BE0B-A1EB40653856}"/>
              </a:ext>
            </a:extLst>
          </p:cNvPr>
          <p:cNvGraphicFramePr>
            <a:graphicFrameLocks/>
          </p:cNvGraphicFramePr>
          <p:nvPr/>
        </p:nvGraphicFramePr>
        <p:xfrm>
          <a:off x="3809683" y="2659250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b="0" dirty="0">
                          <a:solidFill>
                            <a:schemeClr val="accent2"/>
                          </a:solidFill>
                        </a:rPr>
                        <a:t>r3,r4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94DF8585-497F-497C-BE51-A4B5FAFFC995}"/>
              </a:ext>
            </a:extLst>
          </p:cNvPr>
          <p:cNvSpPr/>
          <p:nvPr/>
        </p:nvSpPr>
        <p:spPr>
          <a:xfrm>
            <a:off x="2929828" y="345599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3BD74D15-4D4A-455C-A481-64FA45CD741B}"/>
              </a:ext>
            </a:extLst>
          </p:cNvPr>
          <p:cNvSpPr/>
          <p:nvPr/>
        </p:nvSpPr>
        <p:spPr>
          <a:xfrm>
            <a:off x="3703496" y="3455992"/>
            <a:ext cx="113281" cy="1235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49" name="Callout: Line 48">
            <a:extLst>
              <a:ext uri="{FF2B5EF4-FFF2-40B4-BE49-F238E27FC236}">
                <a16:creationId xmlns:a16="http://schemas.microsoft.com/office/drawing/2014/main" id="{F9CE58BC-4F4B-47D9-84A1-88807D122A8A}"/>
              </a:ext>
            </a:extLst>
          </p:cNvPr>
          <p:cNvSpPr/>
          <p:nvPr/>
        </p:nvSpPr>
        <p:spPr>
          <a:xfrm>
            <a:off x="2801229" y="4657418"/>
            <a:ext cx="5417012" cy="687325"/>
          </a:xfrm>
          <a:prstGeom prst="borderCallout1">
            <a:avLst>
              <a:gd name="adj1" fmla="val 6740"/>
              <a:gd name="adj2" fmla="val 3102"/>
              <a:gd name="adj3" fmla="val -143880"/>
              <a:gd name="adj4" fmla="val -6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Compares (r1,s1), (r2,s1), (r1,s2),(r2,s2), (r3,s1),(r3,s2),(r4,s1),(r4,s2)</a:t>
            </a: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80D0F0A0-D2C5-FC46-8CCD-BE5091283EE4}"/>
              </a:ext>
            </a:extLst>
          </p:cNvPr>
          <p:cNvGraphicFramePr>
            <a:graphicFrameLocks/>
          </p:cNvGraphicFramePr>
          <p:nvPr/>
        </p:nvGraphicFramePr>
        <p:xfrm>
          <a:off x="2268396" y="3816742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925BE09-9398-3A4E-A5F2-419F3B23CBA4}"/>
              </a:ext>
            </a:extLst>
          </p:cNvPr>
          <p:cNvGraphicFramePr>
            <a:graphicFrameLocks/>
          </p:cNvGraphicFramePr>
          <p:nvPr/>
        </p:nvGraphicFramePr>
        <p:xfrm>
          <a:off x="3017696" y="3816742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A91F90AA-E6C9-634F-BB57-B30ACE355E28}"/>
              </a:ext>
            </a:extLst>
          </p:cNvPr>
          <p:cNvGraphicFramePr>
            <a:graphicFrameLocks/>
          </p:cNvGraphicFramePr>
          <p:nvPr/>
        </p:nvGraphicFramePr>
        <p:xfrm>
          <a:off x="3828733" y="3816742"/>
          <a:ext cx="673100" cy="458259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467253593"/>
                    </a:ext>
                  </a:extLst>
                </a:gridCol>
              </a:tblGrid>
              <a:tr h="458259">
                <a:tc>
                  <a:txBody>
                    <a:bodyPr/>
                    <a:lstStyle/>
                    <a:p>
                      <a:r>
                        <a:rPr lang="en-CA" sz="1200" dirty="0"/>
                        <a:t>output</a:t>
                      </a:r>
                      <a:endParaRPr lang="en-CA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257592"/>
                  </a:ext>
                </a:extLst>
              </a:tr>
            </a:tbl>
          </a:graphicData>
        </a:graphic>
      </p:graphicFrame>
      <p:sp>
        <p:nvSpPr>
          <p:cNvPr id="23" name="Arrow: Right 22">
            <a:extLst>
              <a:ext uri="{FF2B5EF4-FFF2-40B4-BE49-F238E27FC236}">
                <a16:creationId xmlns:a16="http://schemas.microsoft.com/office/drawing/2014/main" id="{4D0DA01C-4E5D-4E4D-BE5C-9A5E920D9B43}"/>
              </a:ext>
            </a:extLst>
          </p:cNvPr>
          <p:cNvSpPr/>
          <p:nvPr/>
        </p:nvSpPr>
        <p:spPr>
          <a:xfrm>
            <a:off x="2249347" y="4287890"/>
            <a:ext cx="3093628" cy="3566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Time 1       2              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28E7CA-D39F-A74F-BC00-0272AFCB4DA5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Simulation After Improvement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0572B27-CBDD-7740-8D3F-7094283A7669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7">
            <a:extLst>
              <a:ext uri="{FF2B5EF4-FFF2-40B4-BE49-F238E27FC236}">
                <a16:creationId xmlns:a16="http://schemas.microsoft.com/office/drawing/2014/main" id="{400EF272-91D4-1B4E-BC07-85AE3FC55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282" y="1831111"/>
            <a:ext cx="1391761" cy="3418027"/>
          </a:xfrm>
          <a:prstGeom prst="can">
            <a:avLst>
              <a:gd name="adj" fmla="val 9459"/>
            </a:avLst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Disk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922D28-E1EB-6444-90D8-DAC608D2F9E7}"/>
              </a:ext>
            </a:extLst>
          </p:cNvPr>
          <p:cNvSpPr txBox="1"/>
          <p:nvPr/>
        </p:nvSpPr>
        <p:spPr>
          <a:xfrm>
            <a:off x="550388" y="1922961"/>
            <a:ext cx="576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231158-5E57-BF4F-8A08-F319267D749C}"/>
              </a:ext>
            </a:extLst>
          </p:cNvPr>
          <p:cNvSpPr txBox="1"/>
          <p:nvPr/>
        </p:nvSpPr>
        <p:spPr>
          <a:xfrm>
            <a:off x="507268" y="3485356"/>
            <a:ext cx="576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81778A-F593-854A-81E2-06AC29AC0A08}"/>
              </a:ext>
            </a:extLst>
          </p:cNvPr>
          <p:cNvSpPr txBox="1"/>
          <p:nvPr/>
        </p:nvSpPr>
        <p:spPr>
          <a:xfrm>
            <a:off x="83452" y="773927"/>
            <a:ext cx="9060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1 block = 2 tuples, 4 blocks of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AE7BBC-145F-E844-A6D1-F639C4A94322}"/>
              </a:ext>
            </a:extLst>
          </p:cNvPr>
          <p:cNvSpPr txBox="1"/>
          <p:nvPr/>
        </p:nvSpPr>
        <p:spPr>
          <a:xfrm>
            <a:off x="101813" y="5509417"/>
            <a:ext cx="90605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 Number of I/O:  </a:t>
            </a:r>
          </a:p>
          <a:p>
            <a:pPr lvl="1"/>
            <a:r>
              <a:rPr lang="en-CA" sz="2400" dirty="0">
                <a:latin typeface="Arial" panose="020B0604020202020204" pitchFamily="34" charset="0"/>
                <a:cs typeface="Arial" panose="020B0604020202020204" pitchFamily="34" charset="0"/>
              </a:rPr>
              <a:t>B(R) + B(R)/(M-2)* S(R) = 2 blocks + 1 * 3blocks = 5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8848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49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DBMS Query Processing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Fundamental Query Processing Operators &amp; Algorithms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Sort-based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Hashing-based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Algorithms Using Indices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36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867859"/>
            <a:ext cx="9060548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At a high-level majority of DBMS operators require: (1) sorting; or (2) hashing of input tables.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If you have a DBMS that has these core operators implemented in a very performant, robust, and scalable manner, you have a solid query processing foundation.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Key point: Keep optimizing these core algorithms!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Two Core DBMS Operations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578717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867859"/>
            <a:ext cx="9060548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 robust DBMS has solutions to the following problem: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Consider an operator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that needs to sort a table R, maybe a base table or an intermediate table (e.g., implementing ORDER BY clause)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Assume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is given M blocks of memory by system’s memory manager but M &lt;&lt; B(R). (Not an infrequent scenario)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How can we sort if data does not fit into system’s memory?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Sorting Under Limited Memory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796777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079" y="807082"/>
                <a:ext cx="8499271" cy="591439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Recall in-memory merge sort: Sort progressively larger runs, 2, 4, 8, …, |R|, by merging consecutive “runs”.</a:t>
                </a:r>
                <a:endPara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Phase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𝑀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blocks </a:t>
                </a:r>
                <a:b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at a time, </a:t>
                </a: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sort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them, </a:t>
                </a:r>
                <a:b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write out a </a:t>
                </a: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level-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run</a:t>
                </a:r>
                <a:endPara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endPara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Phase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merge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/>
                          </a:rPr>
                          <m:t>𝑀</m:t>
                        </m:r>
                        <m:r>
                          <a:rPr lang="en-US" sz="2400" i="1" dirty="0">
                            <a:latin typeface="Cambria Math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b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level-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runs at a time, </a:t>
                </a:r>
                <a:b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write out a </a:t>
                </a: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level-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run</a:t>
                </a:r>
                <a:endPara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endParaRPr lang="en-US" sz="24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Phase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merge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/>
                          </a:rPr>
                          <m:t>𝑀</m:t>
                        </m:r>
                        <m:r>
                          <a:rPr lang="en-US" sz="2400" i="1" dirty="0">
                            <a:latin typeface="Cambria Math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level-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runs at a time, and write out a </a:t>
                </a: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level-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run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…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Final phase 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produces one sorted run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79" y="807082"/>
                <a:ext cx="8499271" cy="5914393"/>
              </a:xfrm>
              <a:blipFill>
                <a:blip r:embed="rId4"/>
                <a:stretch>
                  <a:fillRect l="-1194" t="-14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25</a:t>
            </a:fld>
            <a:endParaRPr lang="en-US"/>
          </a:p>
        </p:txBody>
      </p:sp>
      <p:sp>
        <p:nvSpPr>
          <p:cNvPr id="21" name="Can 20"/>
          <p:cNvSpPr/>
          <p:nvPr/>
        </p:nvSpPr>
        <p:spPr>
          <a:xfrm>
            <a:off x="6951585" y="1456854"/>
            <a:ext cx="1762927" cy="33700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298581" y="2558610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Memory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0757" y="3002595"/>
            <a:ext cx="54864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45000">
                <a:schemeClr val="bg1">
                  <a:lumMod val="75000"/>
                </a:schemeClr>
              </a:gs>
              <a:gs pos="77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/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286614" y="1751213"/>
            <a:ext cx="182880" cy="54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/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7286614" y="1939137"/>
            <a:ext cx="182880" cy="5486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/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289088" y="2134498"/>
            <a:ext cx="182880" cy="548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7" name="Rectangle 46"/>
          <p:cNvSpPr/>
          <p:nvPr/>
        </p:nvSpPr>
        <p:spPr>
          <a:xfrm>
            <a:off x="7111912" y="3369948"/>
            <a:ext cx="54864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33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7110757" y="3188385"/>
            <a:ext cx="54864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45000">
                <a:schemeClr val="bg1">
                  <a:lumMod val="75000"/>
                </a:schemeClr>
              </a:gs>
              <a:gs pos="77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110757" y="4047330"/>
            <a:ext cx="109728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45000">
                <a:schemeClr val="bg1">
                  <a:lumMod val="75000"/>
                </a:schemeClr>
              </a:gs>
              <a:gs pos="77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ight Brace 49"/>
          <p:cNvSpPr/>
          <p:nvPr/>
        </p:nvSpPr>
        <p:spPr>
          <a:xfrm>
            <a:off x="7714211" y="1934093"/>
            <a:ext cx="166254" cy="737962"/>
          </a:xfrm>
          <a:prstGeom prst="rightBrace">
            <a:avLst>
              <a:gd name="adj1" fmla="val 75000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/>
              <p:cNvSpPr/>
              <p:nvPr/>
            </p:nvSpPr>
            <p:spPr>
              <a:xfrm>
                <a:off x="7850916" y="2113403"/>
                <a:ext cx="38856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Rectangle 5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0916" y="2113403"/>
                <a:ext cx="388568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3" name="Picture 52"/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536569" y="2489175"/>
            <a:ext cx="182880" cy="54864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55" name="Straight Arrow Connector 54"/>
          <p:cNvCxnSpPr>
            <a:stCxn id="43" idx="2"/>
            <a:endCxn id="53" idx="0"/>
          </p:cNvCxnSpPr>
          <p:nvPr/>
        </p:nvCxnSpPr>
        <p:spPr>
          <a:xfrm flipH="1">
            <a:off x="5902329" y="2025533"/>
            <a:ext cx="1201405" cy="737962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5354567" y="2670409"/>
            <a:ext cx="54864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45000">
                <a:schemeClr val="bg1">
                  <a:lumMod val="75000"/>
                </a:schemeClr>
              </a:gs>
              <a:gs pos="77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56" idx="3"/>
            <a:endCxn id="25" idx="1"/>
          </p:cNvCxnSpPr>
          <p:nvPr/>
        </p:nvCxnSpPr>
        <p:spPr>
          <a:xfrm>
            <a:off x="5903207" y="2761849"/>
            <a:ext cx="1207550" cy="332186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44" idx="0"/>
            <a:endCxn id="56" idx="3"/>
          </p:cNvCxnSpPr>
          <p:nvPr/>
        </p:nvCxnSpPr>
        <p:spPr>
          <a:xfrm flipH="1">
            <a:off x="5903207" y="2213457"/>
            <a:ext cx="1200527" cy="548392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/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5533058" y="2489941"/>
            <a:ext cx="182880" cy="548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4" name="Rectangle 63"/>
          <p:cNvSpPr/>
          <p:nvPr/>
        </p:nvSpPr>
        <p:spPr>
          <a:xfrm>
            <a:off x="5352208" y="2669434"/>
            <a:ext cx="54864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45000">
                <a:schemeClr val="bg1">
                  <a:lumMod val="75000"/>
                </a:schemeClr>
              </a:gs>
              <a:gs pos="77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/>
          <p:cNvCxnSpPr>
            <a:stCxn id="64" idx="3"/>
            <a:endCxn id="48" idx="1"/>
          </p:cNvCxnSpPr>
          <p:nvPr/>
        </p:nvCxnSpPr>
        <p:spPr>
          <a:xfrm>
            <a:off x="5900848" y="2760874"/>
            <a:ext cx="1209909" cy="518951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46" idx="0"/>
            <a:endCxn id="64" idx="3"/>
          </p:cNvCxnSpPr>
          <p:nvPr/>
        </p:nvCxnSpPr>
        <p:spPr>
          <a:xfrm flipH="1">
            <a:off x="5900848" y="2408818"/>
            <a:ext cx="1205360" cy="352056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/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529546" y="2490869"/>
            <a:ext cx="182880" cy="548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2" name="Rectangle 71"/>
          <p:cNvSpPr/>
          <p:nvPr/>
        </p:nvSpPr>
        <p:spPr>
          <a:xfrm>
            <a:off x="5354265" y="2668709"/>
            <a:ext cx="548640" cy="18288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33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Arrow Connector 72"/>
          <p:cNvCxnSpPr>
            <a:stCxn id="72" idx="3"/>
            <a:endCxn id="47" idx="1"/>
          </p:cNvCxnSpPr>
          <p:nvPr/>
        </p:nvCxnSpPr>
        <p:spPr>
          <a:xfrm>
            <a:off x="5902905" y="2760149"/>
            <a:ext cx="1209007" cy="701239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ight Brace 75"/>
          <p:cNvSpPr/>
          <p:nvPr/>
        </p:nvSpPr>
        <p:spPr>
          <a:xfrm>
            <a:off x="7714211" y="2984144"/>
            <a:ext cx="166254" cy="737962"/>
          </a:xfrm>
          <a:prstGeom prst="rightBrace">
            <a:avLst>
              <a:gd name="adj1" fmla="val 75000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Rectangle 76"/>
              <p:cNvSpPr/>
              <p:nvPr/>
            </p:nvSpPr>
            <p:spPr>
              <a:xfrm>
                <a:off x="7850916" y="3163454"/>
                <a:ext cx="91114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Level-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7" name="Rectangle 7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0916" y="3163454"/>
                <a:ext cx="911147" cy="369332"/>
              </a:xfrm>
              <a:prstGeom prst="rect">
                <a:avLst/>
              </a:prstGeom>
              <a:blipFill rotWithShape="0">
                <a:blip r:embed="rId10"/>
                <a:stretch>
                  <a:fillRect l="-6040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TextBox 77"/>
          <p:cNvSpPr txBox="1"/>
          <p:nvPr/>
        </p:nvSpPr>
        <p:spPr>
          <a:xfrm>
            <a:off x="7186931" y="237535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08865" y="341406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21967" y="3498516"/>
            <a:ext cx="182880" cy="182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5721967" y="3711119"/>
            <a:ext cx="182880" cy="182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5238782" y="3715596"/>
            <a:ext cx="182880" cy="182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Arrow Connector 82"/>
          <p:cNvCxnSpPr>
            <a:stCxn id="25" idx="1"/>
            <a:endCxn id="80" idx="3"/>
          </p:cNvCxnSpPr>
          <p:nvPr/>
        </p:nvCxnSpPr>
        <p:spPr>
          <a:xfrm flipH="1">
            <a:off x="5904847" y="3094035"/>
            <a:ext cx="1205910" cy="495921"/>
          </a:xfrm>
          <a:prstGeom prst="straightConnector1">
            <a:avLst/>
          </a:prstGeom>
          <a:ln w="12700">
            <a:solidFill>
              <a:schemeClr val="accent2"/>
            </a:solidFill>
            <a:prstDash val="sysDash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>
            <a:stCxn id="48" idx="1"/>
            <a:endCxn id="81" idx="3"/>
          </p:cNvCxnSpPr>
          <p:nvPr/>
        </p:nvCxnSpPr>
        <p:spPr>
          <a:xfrm flipH="1">
            <a:off x="5904847" y="3279825"/>
            <a:ext cx="1205910" cy="522734"/>
          </a:xfrm>
          <a:prstGeom prst="straightConnector1">
            <a:avLst/>
          </a:prstGeom>
          <a:ln w="12700">
            <a:solidFill>
              <a:schemeClr val="accent2"/>
            </a:solidFill>
            <a:prstDash val="sysDash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stCxn id="80" idx="1"/>
            <a:endCxn id="82" idx="3"/>
          </p:cNvCxnSpPr>
          <p:nvPr/>
        </p:nvCxnSpPr>
        <p:spPr>
          <a:xfrm flipH="1">
            <a:off x="5421662" y="3589956"/>
            <a:ext cx="300305" cy="217080"/>
          </a:xfrm>
          <a:prstGeom prst="straightConnector1">
            <a:avLst/>
          </a:prstGeom>
          <a:ln w="12700">
            <a:solidFill>
              <a:schemeClr val="accent2"/>
            </a:solidFill>
            <a:prstDash val="sysDash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81" idx="1"/>
            <a:endCxn id="82" idx="3"/>
          </p:cNvCxnSpPr>
          <p:nvPr/>
        </p:nvCxnSpPr>
        <p:spPr>
          <a:xfrm flipH="1">
            <a:off x="5421662" y="3802559"/>
            <a:ext cx="300305" cy="4477"/>
          </a:xfrm>
          <a:prstGeom prst="straightConnector1">
            <a:avLst/>
          </a:prstGeom>
          <a:ln w="12700">
            <a:solidFill>
              <a:schemeClr val="accent2"/>
            </a:solidFill>
            <a:prstDash val="sysDash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Freeform 95"/>
          <p:cNvSpPr/>
          <p:nvPr/>
        </p:nvSpPr>
        <p:spPr>
          <a:xfrm>
            <a:off x="5009804" y="3801687"/>
            <a:ext cx="2083723" cy="354677"/>
          </a:xfrm>
          <a:custGeom>
            <a:avLst/>
            <a:gdLst>
              <a:gd name="connsiteX0" fmla="*/ 221672 w 2083723"/>
              <a:gd name="connsiteY0" fmla="*/ 0 h 354677"/>
              <a:gd name="connsiteX1" fmla="*/ 0 w 2083723"/>
              <a:gd name="connsiteY1" fmla="*/ 0 h 354677"/>
              <a:gd name="connsiteX2" fmla="*/ 0 w 2083723"/>
              <a:gd name="connsiteY2" fmla="*/ 354677 h 354677"/>
              <a:gd name="connsiteX3" fmla="*/ 2083723 w 2083723"/>
              <a:gd name="connsiteY3" fmla="*/ 354677 h 354677"/>
              <a:gd name="connsiteX0" fmla="*/ 221672 w 2083723"/>
              <a:gd name="connsiteY0" fmla="*/ 0 h 354677"/>
              <a:gd name="connsiteX1" fmla="*/ 0 w 2083723"/>
              <a:gd name="connsiteY1" fmla="*/ 0 h 354677"/>
              <a:gd name="connsiteX2" fmla="*/ 0 w 2083723"/>
              <a:gd name="connsiteY2" fmla="*/ 354677 h 354677"/>
              <a:gd name="connsiteX3" fmla="*/ 2083723 w 2083723"/>
              <a:gd name="connsiteY3" fmla="*/ 354677 h 354677"/>
              <a:gd name="connsiteX4" fmla="*/ 2083723 w 2083723"/>
              <a:gd name="connsiteY4" fmla="*/ 354677 h 354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3723" h="354677">
                <a:moveTo>
                  <a:pt x="221672" y="0"/>
                </a:moveTo>
                <a:lnTo>
                  <a:pt x="0" y="0"/>
                </a:lnTo>
                <a:lnTo>
                  <a:pt x="0" y="354677"/>
                </a:lnTo>
                <a:lnTo>
                  <a:pt x="2083723" y="354677"/>
                </a:lnTo>
                <a:lnTo>
                  <a:pt x="2083723" y="354677"/>
                </a:lnTo>
              </a:path>
            </a:pathLst>
          </a:custGeom>
          <a:noFill/>
          <a:ln>
            <a:solidFill>
              <a:schemeClr val="accent2"/>
            </a:solidFill>
            <a:prstDash val="sysDash"/>
            <a:tailEnd type="stealth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7506462" y="408195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8" name="Right Brace 97"/>
          <p:cNvSpPr/>
          <p:nvPr/>
        </p:nvSpPr>
        <p:spPr>
          <a:xfrm>
            <a:off x="8208037" y="4020474"/>
            <a:ext cx="109628" cy="430815"/>
          </a:xfrm>
          <a:prstGeom prst="rightBrace">
            <a:avLst>
              <a:gd name="adj1" fmla="val 75000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Rectangle 98"/>
              <p:cNvSpPr/>
              <p:nvPr/>
            </p:nvSpPr>
            <p:spPr>
              <a:xfrm>
                <a:off x="8302825" y="4041630"/>
                <a:ext cx="91114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Level-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9" name="Rectangle 9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2825" y="4041630"/>
                <a:ext cx="911147" cy="369332"/>
              </a:xfrm>
              <a:prstGeom prst="rect">
                <a:avLst/>
              </a:prstGeom>
              <a:blipFill rotWithShape="0">
                <a:blip r:embed="rId11"/>
                <a:stretch>
                  <a:fillRect l="-5369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Rectangle 102"/>
          <p:cNvSpPr/>
          <p:nvPr/>
        </p:nvSpPr>
        <p:spPr>
          <a:xfrm>
            <a:off x="5721967" y="3929034"/>
            <a:ext cx="182880" cy="182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Straight Arrow Connector 103"/>
          <p:cNvCxnSpPr>
            <a:stCxn id="47" idx="1"/>
            <a:endCxn id="103" idx="3"/>
          </p:cNvCxnSpPr>
          <p:nvPr/>
        </p:nvCxnSpPr>
        <p:spPr>
          <a:xfrm flipH="1">
            <a:off x="5904847" y="3461388"/>
            <a:ext cx="1207065" cy="559086"/>
          </a:xfrm>
          <a:prstGeom prst="straightConnector1">
            <a:avLst/>
          </a:prstGeom>
          <a:ln w="12700">
            <a:solidFill>
              <a:schemeClr val="accent2"/>
            </a:solidFill>
            <a:prstDash val="sysDash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>
            <a:stCxn id="103" idx="1"/>
            <a:endCxn id="82" idx="3"/>
          </p:cNvCxnSpPr>
          <p:nvPr/>
        </p:nvCxnSpPr>
        <p:spPr>
          <a:xfrm flipH="1" flipV="1">
            <a:off x="5421662" y="3807036"/>
            <a:ext cx="300305" cy="213438"/>
          </a:xfrm>
          <a:prstGeom prst="straightConnector1">
            <a:avLst/>
          </a:prstGeom>
          <a:ln w="12700">
            <a:solidFill>
              <a:schemeClr val="accent2"/>
            </a:solidFill>
            <a:prstDash val="sysDash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7453371" y="1439591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7FC496-F247-6542-8E64-68BBD29F4EEE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(External) Merge Sort Operator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EBEEDCD-7324-2F46-8C28-526EC310C0C4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323523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7" grpId="0" animBg="1"/>
      <p:bldP spid="48" grpId="0" animBg="1"/>
      <p:bldP spid="49" grpId="0" animBg="1"/>
      <p:bldP spid="56" grpId="0" animBg="1"/>
      <p:bldP spid="64" grpId="0" animBg="1"/>
      <p:bldP spid="72" grpId="0" animBg="1"/>
      <p:bldP spid="76" grpId="0" animBg="1"/>
      <p:bldP spid="77" grpId="0"/>
      <p:bldP spid="79" grpId="0"/>
      <p:bldP spid="80" grpId="0" animBg="1"/>
      <p:bldP spid="81" grpId="0" animBg="1"/>
      <p:bldP spid="82" grpId="0" animBg="1"/>
      <p:bldP spid="96" grpId="0" animBg="1"/>
      <p:bldP spid="97" grpId="0"/>
      <p:bldP spid="98" grpId="0" animBg="1"/>
      <p:bldP spid="99" grpId="0"/>
      <p:bldP spid="10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908431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200929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925AFE-77D9-CC4B-B0DA-49F71C3A57E1}"/>
              </a:ext>
            </a:extLst>
          </p:cNvPr>
          <p:cNvCxnSpPr>
            <a:cxnSpLocks/>
          </p:cNvCxnSpPr>
          <p:nvPr/>
        </p:nvCxnSpPr>
        <p:spPr>
          <a:xfrm>
            <a:off x="6447113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576381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908431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200929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925AFE-77D9-CC4B-B0DA-49F71C3A57E1}"/>
              </a:ext>
            </a:extLst>
          </p:cNvPr>
          <p:cNvCxnSpPr>
            <a:cxnSpLocks/>
          </p:cNvCxnSpPr>
          <p:nvPr/>
        </p:nvCxnSpPr>
        <p:spPr>
          <a:xfrm>
            <a:off x="6447113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310893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6665681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958179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925AFE-77D9-CC4B-B0DA-49F71C3A57E1}"/>
              </a:ext>
            </a:extLst>
          </p:cNvPr>
          <p:cNvCxnSpPr>
            <a:cxnSpLocks/>
          </p:cNvCxnSpPr>
          <p:nvPr/>
        </p:nvCxnSpPr>
        <p:spPr>
          <a:xfrm>
            <a:off x="7204363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7806889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6665681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958179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925AFE-77D9-CC4B-B0DA-49F71C3A57E1}"/>
              </a:ext>
            </a:extLst>
          </p:cNvPr>
          <p:cNvCxnSpPr>
            <a:cxnSpLocks/>
          </p:cNvCxnSpPr>
          <p:nvPr/>
        </p:nvCxnSpPr>
        <p:spPr>
          <a:xfrm>
            <a:off x="7204363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221421"/>
              </p:ext>
            </p:extLst>
          </p:nvPr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549155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7365775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7658273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925AFE-77D9-CC4B-B0DA-49F71C3A57E1}"/>
              </a:ext>
            </a:extLst>
          </p:cNvPr>
          <p:cNvCxnSpPr>
            <a:cxnSpLocks/>
          </p:cNvCxnSpPr>
          <p:nvPr/>
        </p:nvCxnSpPr>
        <p:spPr>
          <a:xfrm>
            <a:off x="7904457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435293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7365775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7658273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4925AFE-77D9-CC4B-B0DA-49F71C3A57E1}"/>
              </a:ext>
            </a:extLst>
          </p:cNvPr>
          <p:cNvCxnSpPr>
            <a:cxnSpLocks/>
          </p:cNvCxnSpPr>
          <p:nvPr/>
        </p:nvCxnSpPr>
        <p:spPr>
          <a:xfrm>
            <a:off x="7904457" y="209665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245961"/>
              </p:ext>
            </p:extLst>
          </p:nvPr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1879353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522687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44383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461673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522687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44383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3" name="Table 2">
            <a:extLst>
              <a:ext uri="{FF2B5EF4-FFF2-40B4-BE49-F238E27FC236}">
                <a16:creationId xmlns:a16="http://schemas.microsoft.com/office/drawing/2014/main" id="{6F6AC15B-2008-284D-BA3A-2DA8FF649F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346795"/>
              </p:ext>
            </p:extLst>
          </p:nvPr>
        </p:nvGraphicFramePr>
        <p:xfrm>
          <a:off x="5377852" y="3873019"/>
          <a:ext cx="2361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5906554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76557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44383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3" name="Table 2">
            <a:extLst>
              <a:ext uri="{FF2B5EF4-FFF2-40B4-BE49-F238E27FC236}">
                <a16:creationId xmlns:a16="http://schemas.microsoft.com/office/drawing/2014/main" id="{6F6AC15B-2008-284D-BA3A-2DA8FF649F31}"/>
              </a:ext>
            </a:extLst>
          </p:cNvPr>
          <p:cNvGraphicFramePr>
            <a:graphicFrameLocks noGrp="1"/>
          </p:cNvGraphicFramePr>
          <p:nvPr/>
        </p:nvGraphicFramePr>
        <p:xfrm>
          <a:off x="5377852" y="3873019"/>
          <a:ext cx="2361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5459801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76557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44383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204439"/>
              </p:ext>
            </p:extLst>
          </p:nvPr>
        </p:nvGraphicFramePr>
        <p:xfrm>
          <a:off x="5377852" y="3873019"/>
          <a:ext cx="472204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9598607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76557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672443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/>
        </p:nvGraphicFramePr>
        <p:xfrm>
          <a:off x="5377852" y="3873019"/>
          <a:ext cx="472204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9303790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765575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672443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506686"/>
              </p:ext>
            </p:extLst>
          </p:nvPr>
        </p:nvGraphicFramePr>
        <p:xfrm>
          <a:off x="5377852" y="3873019"/>
          <a:ext cx="62484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687011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979891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672443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/>
        </p:nvGraphicFramePr>
        <p:xfrm>
          <a:off x="5377852" y="3873019"/>
          <a:ext cx="62484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602634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979891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672443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75132"/>
              </p:ext>
            </p:extLst>
          </p:nvPr>
        </p:nvGraphicFramePr>
        <p:xfrm>
          <a:off x="5377852" y="3873019"/>
          <a:ext cx="83312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188490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5739317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979891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886759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/>
        </p:nvGraphicFramePr>
        <p:xfrm>
          <a:off x="5377852" y="3873019"/>
          <a:ext cx="83312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188490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4612062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979891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6886759" y="280939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356036"/>
              </p:ext>
            </p:extLst>
          </p:nvPr>
        </p:nvGraphicFramePr>
        <p:xfrm>
          <a:off x="5377852" y="3873019"/>
          <a:ext cx="124968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188490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844693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41285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662432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2 (final)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5463951" y="361107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7207859" y="361944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/>
        </p:nvGraphicFramePr>
        <p:xfrm>
          <a:off x="5377852" y="3873019"/>
          <a:ext cx="124968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188490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844693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41285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2" name="Table 2">
            <a:extLst>
              <a:ext uri="{FF2B5EF4-FFF2-40B4-BE49-F238E27FC236}">
                <a16:creationId xmlns:a16="http://schemas.microsoft.com/office/drawing/2014/main" id="{07E17DBC-1CF4-C84F-94D2-5421814A4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6773009"/>
              </p:ext>
            </p:extLst>
          </p:nvPr>
        </p:nvGraphicFramePr>
        <p:xfrm>
          <a:off x="7062315" y="388138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4191170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689443"/>
            <a:ext cx="9060548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3 memory blocks available; each holds one number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Input: 1, 7, 4, 5, 2, 8, 9, 6, 3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0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1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Phase 2 (final)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8BA37682-066C-B24A-82BC-2A35BA14595D}"/>
              </a:ext>
            </a:extLst>
          </p:cNvPr>
          <p:cNvSpPr/>
          <p:nvPr/>
        </p:nvSpPr>
        <p:spPr>
          <a:xfrm>
            <a:off x="5238764" y="1381430"/>
            <a:ext cx="3763581" cy="4803269"/>
          </a:xfrm>
          <a:prstGeom prst="can">
            <a:avLst>
              <a:gd name="adj" fmla="val 1875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936F20B3-F1D2-9046-9F6B-309CCEE6D365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2388599"/>
          <a:ext cx="255227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7355">
                  <a:extLst>
                    <a:ext uri="{9D8B030D-6E8A-4147-A177-3AD203B41FA5}">
                      <a16:colId xmlns:a16="http://schemas.microsoft.com/office/drawing/2014/main" val="3805983338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6740637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175689461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874992332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18900680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61177885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37483077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5" name="Table 2">
            <a:extLst>
              <a:ext uri="{FF2B5EF4-FFF2-40B4-BE49-F238E27FC236}">
                <a16:creationId xmlns:a16="http://schemas.microsoft.com/office/drawing/2014/main" id="{B1E19D25-555E-1748-B9E3-9A2A109E9090}"/>
              </a:ext>
            </a:extLst>
          </p:cNvPr>
          <p:cNvGraphicFramePr>
            <a:graphicFrameLocks noGrp="1"/>
          </p:cNvGraphicFramePr>
          <p:nvPr/>
        </p:nvGraphicFramePr>
        <p:xfrm>
          <a:off x="5413373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96BA1A5-78A6-984D-9D11-0F60EB25EFBE}"/>
              </a:ext>
            </a:extLst>
          </p:cNvPr>
          <p:cNvSpPr txBox="1"/>
          <p:nvPr/>
        </p:nvSpPr>
        <p:spPr>
          <a:xfrm>
            <a:off x="2999044" y="1757872"/>
            <a:ext cx="2090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Arrows indicate the blocks in memory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78862F-E7D9-6F4E-B12B-56A3274FA7E5}"/>
              </a:ext>
            </a:extLst>
          </p:cNvPr>
          <p:cNvSpPr txBox="1"/>
          <p:nvPr/>
        </p:nvSpPr>
        <p:spPr>
          <a:xfrm>
            <a:off x="6824639" y="1474067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Disk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1304B4-3FCB-F547-B280-8D102C9E9D2A}"/>
              </a:ext>
            </a:extLst>
          </p:cNvPr>
          <p:cNvCxnSpPr>
            <a:cxnSpLocks/>
          </p:cNvCxnSpPr>
          <p:nvPr/>
        </p:nvCxnSpPr>
        <p:spPr>
          <a:xfrm>
            <a:off x="6521227" y="3611075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3633C1-5881-7D48-8FF7-74B53272F310}"/>
              </a:ext>
            </a:extLst>
          </p:cNvPr>
          <p:cNvCxnSpPr>
            <a:cxnSpLocks/>
          </p:cNvCxnSpPr>
          <p:nvPr/>
        </p:nvCxnSpPr>
        <p:spPr>
          <a:xfrm>
            <a:off x="7636484" y="3619444"/>
            <a:ext cx="0" cy="26194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2">
            <a:extLst>
              <a:ext uri="{FF2B5EF4-FFF2-40B4-BE49-F238E27FC236}">
                <a16:creationId xmlns:a16="http://schemas.microsoft.com/office/drawing/2014/main" id="{B3A6289E-E5E5-954A-9F06-04780BA260CC}"/>
              </a:ext>
            </a:extLst>
          </p:cNvPr>
          <p:cNvGraphicFramePr>
            <a:graphicFrameLocks noGrp="1"/>
          </p:cNvGraphicFramePr>
          <p:nvPr/>
        </p:nvGraphicFramePr>
        <p:xfrm>
          <a:off x="6310616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1C55626-6019-9149-892D-766679CB11ED}"/>
              </a:ext>
            </a:extLst>
          </p:cNvPr>
          <p:cNvGraphicFramePr>
            <a:graphicFrameLocks noGrp="1"/>
          </p:cNvGraphicFramePr>
          <p:nvPr/>
        </p:nvGraphicFramePr>
        <p:xfrm>
          <a:off x="7207859" y="307133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4" name="Table 2">
            <a:extLst>
              <a:ext uri="{FF2B5EF4-FFF2-40B4-BE49-F238E27FC236}">
                <a16:creationId xmlns:a16="http://schemas.microsoft.com/office/drawing/2014/main" id="{2D83F014-8118-6942-B826-9D895025B2D9}"/>
              </a:ext>
            </a:extLst>
          </p:cNvPr>
          <p:cNvGraphicFramePr>
            <a:graphicFrameLocks noGrp="1"/>
          </p:cNvGraphicFramePr>
          <p:nvPr/>
        </p:nvGraphicFramePr>
        <p:xfrm>
          <a:off x="5377852" y="3873019"/>
          <a:ext cx="124968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14742382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8188490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844693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41285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2" name="Table 2">
            <a:extLst>
              <a:ext uri="{FF2B5EF4-FFF2-40B4-BE49-F238E27FC236}">
                <a16:creationId xmlns:a16="http://schemas.microsoft.com/office/drawing/2014/main" id="{07E17DBC-1CF4-C84F-94D2-5421814A4D01}"/>
              </a:ext>
            </a:extLst>
          </p:cNvPr>
          <p:cNvGraphicFramePr>
            <a:graphicFrameLocks noGrp="1"/>
          </p:cNvGraphicFramePr>
          <p:nvPr/>
        </p:nvGraphicFramePr>
        <p:xfrm>
          <a:off x="7062315" y="3881388"/>
          <a:ext cx="70830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102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36102">
                  <a:extLst>
                    <a:ext uri="{9D8B030D-6E8A-4147-A177-3AD203B41FA5}">
                      <a16:colId xmlns:a16="http://schemas.microsoft.com/office/drawing/2014/main" val="20043041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  <p:graphicFrame>
        <p:nvGraphicFramePr>
          <p:cNvPr id="23" name="Table 2">
            <a:extLst>
              <a:ext uri="{FF2B5EF4-FFF2-40B4-BE49-F238E27FC236}">
                <a16:creationId xmlns:a16="http://schemas.microsoft.com/office/drawing/2014/main" id="{6B92A7A5-17AD-E94E-80FD-D8500B8D3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269329"/>
              </p:ext>
            </p:extLst>
          </p:nvPr>
        </p:nvGraphicFramePr>
        <p:xfrm>
          <a:off x="5377852" y="4674700"/>
          <a:ext cx="187452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55888391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999245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8561018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9860746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3700898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5712055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17979741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3934083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630475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921972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6399879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" y="807082"/>
                <a:ext cx="9001124" cy="5914394"/>
              </a:xfrm>
            </p:spPr>
            <p:txBody>
              <a:bodyPr>
                <a:normAutofit/>
              </a:bodyPr>
              <a:lstStyle/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Phase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read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𝑀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blocks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at a time, sort them, and </a:t>
                </a:r>
                <a:r>
                  <a:rPr lang="en-US" sz="2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write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out a</a:t>
                </a: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level-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run: 2*B(R) I/</a:t>
                </a:r>
                <a:r>
                  <a:rPr lang="en-US" sz="24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There are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𝐵</m:t>
                            </m:r>
                            <m:d>
                              <m:dPr>
                                <m:ctrlP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num>
                          <m:den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𝑀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level-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so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rted runs</a:t>
                </a:r>
              </a:p>
              <a:p>
                <a:pPr lvl="1">
                  <a:buFont typeface="Wingdings" pitchFamily="2" charset="2"/>
                  <a:buChar char="Ø"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Phase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merge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𝑀</m:t>
                        </m:r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level-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runs at a time, and write out a level-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1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run: 2* B(R) I/</a:t>
                </a:r>
                <a:r>
                  <a:rPr lang="en-US" sz="24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</a:t>
                </a: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as well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Total I/O: 2B(R) * Num phases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# phases: </a:t>
                </a: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 +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sz="24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sz="2400" b="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𝑀</m:t>
                            </m:r>
                            <m:r>
                              <a:rPr lang="en-US" sz="2400" b="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−1</m:t>
                            </m:r>
                          </m:sub>
                        </m:sSub>
                        <m:d>
                          <m:dPr>
                            <m:begChr m:val="⌈"/>
                            <m:endChr m:val="⌉"/>
                            <m:ctrlPr>
                              <a:rPr lang="en-US" sz="24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𝐵</m:t>
                                </m:r>
                                <m:d>
                                  <m:dPr>
                                    <m:ctrlPr>
                                      <a:rPr lang="en-US" sz="24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𝑅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2400" b="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>
                  <a:buFont typeface="Wingdings" pitchFamily="2" charset="2"/>
                  <a:buChar char="Ø"/>
                </a:pPr>
                <a:r>
                  <a:rPr lang="en-CA" sz="24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Total I/O: </a:t>
                </a:r>
                <a14:m>
                  <m:oMath xmlns:m="http://schemas.openxmlformats.org/officeDocument/2006/math">
                    <m:r>
                      <a:rPr lang="en-CA" sz="2400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CA" sz="2400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B</m:t>
                    </m:r>
                    <m:d>
                      <m:dPr>
                        <m:ctrlPr>
                          <a:rPr lang="en-CA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 sz="2400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</m:d>
                    <m:r>
                      <a:rPr lang="en-CA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CA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d>
                          <m:dPr>
                            <m:begChr m:val="⌈"/>
                            <m:endChr m:val="⌉"/>
                            <m:ctrlP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dirty="0">
                                    <a:solidFill>
                                      <a:srgbClr val="C00000"/>
                                    </a:solidFill>
                                    <a:latin typeface="Cambria Math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2400" i="1" dirty="0">
                                    <a:solidFill>
                                      <a:srgbClr val="C00000"/>
                                    </a:solidFill>
                                    <a:latin typeface="Cambria Math"/>
                                  </a:rPr>
                                  <m:t>𝑀</m:t>
                                </m:r>
                                <m:r>
                                  <a:rPr lang="en-US" sz="2400" i="1" dirty="0">
                                    <a:solidFill>
                                      <a:srgbClr val="C00000"/>
                                    </a:solidFill>
                                    <a:latin typeface="Cambria Math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begChr m:val="⌈"/>
                                <m:endChr m:val="⌉"/>
                                <m:ctrlPr>
                                  <a:rPr lang="en-US" sz="24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𝐵</m:t>
                                    </m:r>
                                    <m:d>
                                      <m:dPr>
                                        <m:ctrlPr>
                                          <a:rPr lang="en-US" sz="24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400" i="1" dirty="0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𝑀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≈2</m:t>
                    </m:r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𝑀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Observe: As M increases cost decreases. </a:t>
                </a:r>
                <a:r>
                  <a:rPr lang="en-US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E.g</a:t>
                </a: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when M is B(r) cost is 2B(R) as expected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807082"/>
                <a:ext cx="9001124" cy="5914394"/>
              </a:xfrm>
              <a:blipFill>
                <a:blip r:embed="rId4"/>
                <a:stretch>
                  <a:fillRect l="-987" t="-1499" r="-1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2BE03A-CA7B-4449-B149-F362E3CE4376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I/O Cost Analysis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A5B958A-FBEA-394E-B2F9-1AF8767C7029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317556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7C86D-2655-E74A-9735-E00E0931BABC}"/>
              </a:ext>
            </a:extLst>
          </p:cNvPr>
          <p:cNvSpPr txBox="1"/>
          <p:nvPr/>
        </p:nvSpPr>
        <p:spPr>
          <a:xfrm>
            <a:off x="0" y="867859"/>
            <a:ext cx="9060548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Pure Sort: e.g., ORDER BY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Set Union, Difference, Intersection, or Join or R and S (next slide): When the join condition is an equality condition e.g., R.A = S.B,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All can be implemented by walking relations “in tandem” as in the merge step of merge sort.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Group-By-and-Aggregate: Exercise: Think about how you can implement group-by-and-aggregate with sorting?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DISTINCT (Related to group-by-and-aggregate)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ED87-21C6-BA4D-8046-23C332C07F6D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Operators That Use Sorting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ABD88B-29A8-8345-A537-F2FB5E3324F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946835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10515" y="834522"/>
                <a:ext cx="9033485" cy="526462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/>
                        </a:rPr>
                        <m:t>𝑅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⋈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𝑅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𝑆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rgbClr val="C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US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Sort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by their join attributes;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hen merge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/>
                      </a:rPr>
                      <m:t>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= the first tuples in sorted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	</a:t>
                </a:r>
              </a:p>
              <a:p>
                <a:pPr marL="457200" lvl="1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Repeat until one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is exhausted:</a:t>
                </a:r>
                <a:b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    If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𝑟</m:t>
                    </m:r>
                    <m:r>
                      <a:rPr lang="en-US" sz="2000" i="1" dirty="0">
                        <a:latin typeface="Cambria Math"/>
                      </a:rPr>
                      <m:t>.</m:t>
                    </m:r>
                    <m:r>
                      <a:rPr lang="en-US" sz="2000" i="1" dirty="0">
                        <a:latin typeface="Cambria Math"/>
                      </a:rPr>
                      <m:t>𝐴</m:t>
                    </m:r>
                    <m:r>
                      <a:rPr lang="en-US" sz="2000" i="1" dirty="0">
                        <a:latin typeface="Cambria Math"/>
                      </a:rPr>
                      <m:t>&gt;</m:t>
                    </m:r>
                    <m:r>
                      <a:rPr lang="en-US" sz="2000" i="1" dirty="0" err="1">
                        <a:latin typeface="Cambria Math"/>
                      </a:rPr>
                      <m:t>𝑠</m:t>
                    </m:r>
                    <m:r>
                      <a:rPr lang="en-US" sz="2000" i="1" dirty="0" err="1">
                        <a:latin typeface="Cambria Math"/>
                      </a:rPr>
                      <m:t>.</m:t>
                    </m:r>
                    <m:r>
                      <a:rPr lang="en-US" sz="2000" i="1" dirty="0" err="1">
                        <a:latin typeface="Cambria Math"/>
                      </a:rPr>
                      <m:t>𝐵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then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𝑠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= next tuple in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𝑆</m:t>
                    </m:r>
                  </m:oMath>
                </a14:m>
                <a:b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    else if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𝑟</m:t>
                    </m:r>
                    <m:r>
                      <a:rPr lang="en-US" sz="2000" i="1" dirty="0">
                        <a:latin typeface="Cambria Math"/>
                      </a:rPr>
                      <m:t>.</m:t>
                    </m:r>
                    <m:r>
                      <a:rPr lang="en-US" sz="2000" i="1" dirty="0">
                        <a:latin typeface="Cambria Math"/>
                      </a:rPr>
                      <m:t>𝐴</m:t>
                    </m:r>
                    <m:r>
                      <a:rPr lang="en-US" sz="2000" i="1" dirty="0">
                        <a:latin typeface="Cambria Math"/>
                      </a:rPr>
                      <m:t>&lt;</m:t>
                    </m:r>
                    <m:r>
                      <a:rPr lang="en-US" sz="2000" i="1" dirty="0" err="1">
                        <a:latin typeface="Cambria Math"/>
                      </a:rPr>
                      <m:t>𝑠</m:t>
                    </m:r>
                    <m:r>
                      <a:rPr lang="en-US" sz="2000" i="1" dirty="0" err="1">
                        <a:latin typeface="Cambria Math"/>
                      </a:rPr>
                      <m:t>.</m:t>
                    </m:r>
                    <m:r>
                      <a:rPr lang="en-US" sz="2000" i="1" dirty="0" err="1">
                        <a:latin typeface="Cambria Math"/>
                      </a:rPr>
                      <m:t>𝐵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then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𝑟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= next tuple in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𝑅</m:t>
                    </m:r>
                  </m:oMath>
                </a14:m>
                <a:br>
                  <a:rPr lang="en-US" sz="2000" i="1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000" i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   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else output all matching tuples, and</a:t>
                </a:r>
                <a:b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 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𝑟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𝑠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= next in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𝑆</m:t>
                    </m:r>
                  </m:oMath>
                </a14:m>
                <a:endParaRPr lang="en-US" sz="2000" i="1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buFont typeface="Wingdings" pitchFamily="2" charset="2"/>
                  <a:buChar char="Ø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I/O’s: Depends on how many tuples match.</a:t>
                </a: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Common case each r matches 1 s:  </a:t>
                </a:r>
                <a:r>
                  <a:rPr lang="en-US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sorting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/>
                      </a:rPr>
                      <m:t>+</m:t>
                    </m:r>
                    <m:r>
                      <a:rPr lang="en-CA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/>
                      </a:rPr>
                      <m:t>+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CA" b="0" i="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buFont typeface="Wingdings" pitchFamily="2" charset="2"/>
                  <a:buChar char="Ø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If every 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r,s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join (worst-case)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i="1" dirty="0">
                        <a:solidFill>
                          <a:srgbClr val="C00000"/>
                        </a:solidFill>
                        <a:latin typeface="Cambria Math"/>
                      </a:rPr>
                      <m:t>⋅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0515" y="834522"/>
                <a:ext cx="9033485" cy="5264622"/>
              </a:xfrm>
              <a:blipFill>
                <a:blip r:embed="rId4"/>
                <a:stretch>
                  <a:fillRect l="-1124" r="-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2C861-F4F2-C446-A75A-81F7D7E137F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Sort-merge Join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E70646D-D1F3-C245-9A99-2DDF88AC88E7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664720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47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493372" y="202268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369" y="202268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0232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8" grpId="0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48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493372" y="202268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369" y="202268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B5821F0A-1E00-9541-8B85-439077C036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1204" y="240690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115610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49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493372" y="202268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369" y="240690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B5821F0A-1E00-9541-8B85-439077C036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1204" y="2406909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986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50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2409055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491" y="2409055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27519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51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491" y="2409055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711315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52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20040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491" y="2409055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10">
            <a:extLst>
              <a:ext uri="{FF2B5EF4-FFF2-40B4-BE49-F238E27FC236}">
                <a16:creationId xmlns:a16="http://schemas.microsoft.com/office/drawing/2014/main" id="{856A723C-0131-BC4F-AECF-C352DAA1C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3296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53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564353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491" y="2409055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10">
            <a:extLst>
              <a:ext uri="{FF2B5EF4-FFF2-40B4-BE49-F238E27FC236}">
                <a16:creationId xmlns:a16="http://schemas.microsoft.com/office/drawing/2014/main" id="{856A723C-0131-BC4F-AECF-C352DAA1C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807076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54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564353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888" y="277098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10">
            <a:extLst>
              <a:ext uri="{FF2B5EF4-FFF2-40B4-BE49-F238E27FC236}">
                <a16:creationId xmlns:a16="http://schemas.microsoft.com/office/drawing/2014/main" id="{856A723C-0131-BC4F-AECF-C352DAA1C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405776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55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177984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888" y="277098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10">
            <a:extLst>
              <a:ext uri="{FF2B5EF4-FFF2-40B4-BE49-F238E27FC236}">
                <a16:creationId xmlns:a16="http://schemas.microsoft.com/office/drawing/2014/main" id="{856A723C-0131-BC4F-AECF-C352DAA1C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38017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56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48708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888" y="277098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10">
            <a:extLst>
              <a:ext uri="{FF2B5EF4-FFF2-40B4-BE49-F238E27FC236}">
                <a16:creationId xmlns:a16="http://schemas.microsoft.com/office/drawing/2014/main" id="{856A723C-0131-BC4F-AECF-C352DAA1C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096706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57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48708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888" y="3141664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utoShape 10">
            <a:extLst>
              <a:ext uri="{FF2B5EF4-FFF2-40B4-BE49-F238E27FC236}">
                <a16:creationId xmlns:a16="http://schemas.microsoft.com/office/drawing/2014/main" id="{856A723C-0131-BC4F-AECF-C352DAA1C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9130" y="2782542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4724767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58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48708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888" y="3141664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7215679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59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48708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6063" y="356385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42876979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60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48708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306" y="3931524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924470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dirty="0"/>
                  <a:t>:</a:t>
                </a:r>
                <a:r>
                  <a:rPr lang="en-US" i="1" dirty="0"/>
                  <a:t>			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		</a:t>
                </a:r>
                <a:r>
                  <a:rPr lang="en-US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accent2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=1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=2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=5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=3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r>
                  <a:rPr lang="en-US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𝐵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6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=7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/>
                      </a:rPr>
                      <m:t>.</m:t>
                    </m:r>
                    <m:r>
                      <a:rPr lang="en-US" i="1" dirty="0">
                        <a:latin typeface="Cambria Math"/>
                      </a:rPr>
                      <m:t>𝐴</m:t>
                    </m:r>
                    <m:r>
                      <a:rPr lang="en-US" i="1" dirty="0">
                        <a:latin typeface="Cambria Math"/>
                      </a:rPr>
                      <m:t>=8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61</a:t>
            </a:fld>
            <a:endParaRPr lang="en-US" dirty="0"/>
          </a:p>
        </p:txBody>
      </p:sp>
      <p:sp>
        <p:nvSpPr>
          <p:cNvPr id="11" name="AutoShape 10"/>
          <p:cNvSpPr>
            <a:spLocks noChangeArrowheads="1"/>
          </p:cNvSpPr>
          <p:nvPr/>
        </p:nvSpPr>
        <p:spPr bwMode="auto">
          <a:xfrm>
            <a:off x="3519130" y="348708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>
                <a:spLocks noChangeArrowheads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5" y="1782763"/>
                <a:ext cx="842154" cy="51328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D2F0664-8F65-564C-AA87-98B41E6031E4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3926D0-6B50-B74F-82D7-33A742CB3B5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utoShape 10">
            <a:extLst>
              <a:ext uri="{FF2B5EF4-FFF2-40B4-BE49-F238E27FC236}">
                <a16:creationId xmlns:a16="http://schemas.microsoft.com/office/drawing/2014/main" id="{119DB447-1CA2-1842-910F-C5E04709F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0306" y="4246564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88C999A-D63A-8048-B3C5-67FA4BD3F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265363"/>
                <a:ext cx="858838" cy="512763"/>
              </a:xfrm>
              <a:prstGeom prst="rect">
                <a:avLst/>
              </a:prstGeom>
              <a:blipFill>
                <a:blip r:embed="rId8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1D02577-CE5A-1344-9932-88F2D64635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2743201"/>
                <a:ext cx="852488" cy="512763"/>
              </a:xfrm>
              <a:prstGeom prst="rect">
                <a:avLst/>
              </a:prstGeom>
              <a:blipFill>
                <a:blip r:embed="rId9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F3F33DC-55C6-E344-83C7-3684BB1AE4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197" y="3243263"/>
                <a:ext cx="858838" cy="512763"/>
              </a:xfrm>
              <a:prstGeom prst="rect">
                <a:avLst/>
              </a:prstGeom>
              <a:blipFill>
                <a:blip r:embed="rId10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54E82C-CDE8-CA48-ACAF-17A54C4E5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6372" y="3733801"/>
                <a:ext cx="852488" cy="512763"/>
              </a:xfrm>
              <a:prstGeom prst="rect">
                <a:avLst/>
              </a:prstGeom>
              <a:blipFill>
                <a:blip r:embed="rId11"/>
                <a:stretch>
                  <a:fillRect b="-487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6686D74-607B-DF43-957E-9BFFC063F4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53200" y="4221163"/>
                <a:ext cx="858697" cy="5132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dirty="0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2800" b="0" i="1" dirty="0" smtClean="0">
                              <a:latin typeface="Cambria Math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800" baseline="-25000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6686D74-607B-DF43-957E-9BFFC063F4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53200" y="4221163"/>
                <a:ext cx="858697" cy="513282"/>
              </a:xfrm>
              <a:prstGeom prst="rect">
                <a:avLst/>
              </a:prstGeom>
              <a:blipFill>
                <a:blip r:embed="rId12"/>
                <a:stretch>
                  <a:fillRect b="-731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45869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DBMS Query Processing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Fundamental Query Processing Operators &amp; Algorithms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Hashing-based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Algorithms Using Indices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5116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63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Hash Join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70718A4-7FF3-AD42-B6A2-5A4C9296143B}"/>
              </a:ext>
            </a:extLst>
          </p:cNvPr>
          <p:cNvSpPr txBox="1"/>
          <p:nvPr/>
        </p:nvSpPr>
        <p:spPr>
          <a:xfrm>
            <a:off x="0" y="867859"/>
            <a:ext cx="9060548" cy="5107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Consider an equality join, e.g., join of R(X, A) ⋈ S(B, Y) where A=B.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Let h be hash function hashing A or B values to 1, …, k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If r ∈ R and s ∈ S “join”, i.e., r[A] = s[B] then: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h(r[A]) = h(s[B])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Question: Why is this a useful observation?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Answer: We can: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partition R by hashing its tuples on A into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…,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partition S by hashing its tuples on B into S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…,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US" sz="22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where each partitions are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)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much smaller tables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(e.g., they may fit in memory) &amp; (ii)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tuples in R</a:t>
            </a:r>
            <a:r>
              <a:rPr lang="en-US" sz="2200" i="1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 can only join with tuples in S</a:t>
            </a:r>
            <a:r>
              <a:rPr lang="en-US" sz="2200" i="1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en-US" sz="2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8193CC-7867-F448-96E1-06C58A7882B3}"/>
              </a:ext>
            </a:extLst>
          </p:cNvPr>
          <p:cNvSpPr txBox="1"/>
          <p:nvPr/>
        </p:nvSpPr>
        <p:spPr>
          <a:xfrm>
            <a:off x="16079" y="6038984"/>
            <a:ext cx="9127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the join will be computed externally, i.e., using disk, hash join can be an efficient algorithm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939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64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Hash Join vs Nested Loop Join Pictorially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1142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𝑆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𝐵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lang="en-US" sz="2400" i="1" dirty="0">
                  <a:solidFill>
                    <a:schemeClr val="tx1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𝑟</m:t>
                    </m:r>
                    <m:r>
                      <a:rPr lang="en-US" sz="2400" i="1" dirty="0">
                        <a:latin typeface="Cambria Math"/>
                      </a:rPr>
                      <m:t>.</m:t>
                    </m:r>
                    <m:r>
                      <a:rPr lang="en-US" sz="2400" i="1" dirty="0">
                        <a:latin typeface="Cambria Math"/>
                      </a:rPr>
                      <m:t>𝐴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𝑠</m:t>
                    </m:r>
                    <m:r>
                      <a:rPr lang="en-US" sz="2400" i="1" dirty="0">
                        <a:latin typeface="Cambria Math"/>
                      </a:rPr>
                      <m:t>.</m:t>
                    </m:r>
                    <m:r>
                      <a:rPr lang="en-US" sz="2400" i="1" dirty="0">
                        <a:latin typeface="Cambria Math"/>
                      </a:rPr>
                      <m:t>𝐵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get hashed to different partitions, they don’t join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1142108"/>
              </a:xfrm>
              <a:prstGeom prst="rect">
                <a:avLst/>
              </a:prstGeom>
              <a:blipFill>
                <a:blip r:embed="rId4"/>
                <a:stretch>
                  <a:fillRect l="-980" b="-98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Box 16">
            <a:extLst>
              <a:ext uri="{FF2B5EF4-FFF2-40B4-BE49-F238E27FC236}">
                <a16:creationId xmlns:a16="http://schemas.microsoft.com/office/drawing/2014/main" id="{CA25FDD2-11A4-5844-8A92-9D6C1F0415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575" y="2668120"/>
            <a:ext cx="359251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latin typeface="+mn-lt"/>
              </a:rPr>
              <a:t>Nested-loop join </a:t>
            </a:r>
            <a:br>
              <a:rPr kumimoji="0" lang="en-US" dirty="0">
                <a:latin typeface="+mn-lt"/>
              </a:rPr>
            </a:br>
            <a:r>
              <a:rPr kumimoji="0" lang="en-US" dirty="0">
                <a:latin typeface="+mn-lt"/>
              </a:rPr>
              <a:t>considers all slots</a:t>
            </a:r>
          </a:p>
        </p:txBody>
      </p:sp>
      <p:sp>
        <p:nvSpPr>
          <p:cNvPr id="8" name="Text Box 26">
            <a:extLst>
              <a:ext uri="{FF2B5EF4-FFF2-40B4-BE49-F238E27FC236}">
                <a16:creationId xmlns:a16="http://schemas.microsoft.com/office/drawing/2014/main" id="{64A62144-A655-3545-BC6E-580EED8120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8339" y="2768132"/>
            <a:ext cx="2571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1</a:t>
            </a:r>
          </a:p>
        </p:txBody>
      </p:sp>
      <p:sp>
        <p:nvSpPr>
          <p:cNvPr id="9" name="Text Box 27">
            <a:extLst>
              <a:ext uri="{FF2B5EF4-FFF2-40B4-BE49-F238E27FC236}">
                <a16:creationId xmlns:a16="http://schemas.microsoft.com/office/drawing/2014/main" id="{0EA44B3D-AD41-DC45-954D-E9F21B674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7702" y="3149132"/>
            <a:ext cx="284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2</a:t>
            </a:r>
          </a:p>
        </p:txBody>
      </p:sp>
      <p:sp>
        <p:nvSpPr>
          <p:cNvPr id="10" name="Text Box 37">
            <a:extLst>
              <a:ext uri="{FF2B5EF4-FFF2-40B4-BE49-F238E27FC236}">
                <a16:creationId xmlns:a16="http://schemas.microsoft.com/office/drawing/2014/main" id="{0A9980D6-828C-0C41-86E6-BD7F81A5DF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1102" y="2514132"/>
            <a:ext cx="2571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1</a:t>
            </a:r>
          </a:p>
        </p:txBody>
      </p:sp>
      <p:sp>
        <p:nvSpPr>
          <p:cNvPr id="11" name="Text Box 38">
            <a:extLst>
              <a:ext uri="{FF2B5EF4-FFF2-40B4-BE49-F238E27FC236}">
                <a16:creationId xmlns:a16="http://schemas.microsoft.com/office/drawing/2014/main" id="{511C2AA1-C3FD-E240-884F-DD237A8D60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94339" y="2514132"/>
            <a:ext cx="284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2</a:t>
            </a:r>
          </a:p>
        </p:txBody>
      </p:sp>
      <p:sp>
        <p:nvSpPr>
          <p:cNvPr id="12" name="Text Box 39">
            <a:extLst>
              <a:ext uri="{FF2B5EF4-FFF2-40B4-BE49-F238E27FC236}">
                <a16:creationId xmlns:a16="http://schemas.microsoft.com/office/drawing/2014/main" id="{9D131E5B-96BD-4B4B-918B-46E9F77C24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3939" y="2514132"/>
            <a:ext cx="284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3</a:t>
            </a:r>
          </a:p>
        </p:txBody>
      </p:sp>
      <p:sp>
        <p:nvSpPr>
          <p:cNvPr id="13" name="Text Box 40">
            <a:extLst>
              <a:ext uri="{FF2B5EF4-FFF2-40B4-BE49-F238E27FC236}">
                <a16:creationId xmlns:a16="http://schemas.microsoft.com/office/drawing/2014/main" id="{B5169CC3-DA8D-5B47-886E-A0BBCD2F3A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2139" y="2514132"/>
            <a:ext cx="2936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4</a:t>
            </a:r>
          </a:p>
        </p:txBody>
      </p:sp>
      <p:sp>
        <p:nvSpPr>
          <p:cNvPr id="14" name="Text Box 41">
            <a:extLst>
              <a:ext uri="{FF2B5EF4-FFF2-40B4-BE49-F238E27FC236}">
                <a16:creationId xmlns:a16="http://schemas.microsoft.com/office/drawing/2014/main" id="{42EC6F39-F221-A14F-807D-B216D5413F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1739" y="2514132"/>
            <a:ext cx="284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5</a:t>
            </a:r>
          </a:p>
        </p:txBody>
      </p:sp>
      <p:sp>
        <p:nvSpPr>
          <p:cNvPr id="15" name="Rectangle 42">
            <a:extLst>
              <a:ext uri="{FF2B5EF4-FFF2-40B4-BE49-F238E27FC236}">
                <a16:creationId xmlns:a16="http://schemas.microsoft.com/office/drawing/2014/main" id="{8A5A54F0-48BE-9E4B-9A5E-164A0B532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777" y="2799882"/>
            <a:ext cx="3200400" cy="19812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6" name="Line 43">
            <a:extLst>
              <a:ext uri="{FF2B5EF4-FFF2-40B4-BE49-F238E27FC236}">
                <a16:creationId xmlns:a16="http://schemas.microsoft.com/office/drawing/2014/main" id="{B98D707A-BE81-4C42-B015-14A24F5509D8}"/>
              </a:ext>
            </a:extLst>
          </p:cNvPr>
          <p:cNvSpPr>
            <a:spLocks noChangeShapeType="1"/>
          </p:cNvSpPr>
          <p:nvPr/>
        </p:nvSpPr>
        <p:spPr bwMode="auto">
          <a:xfrm>
            <a:off x="2013377" y="2799882"/>
            <a:ext cx="0" cy="1981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Line 44">
            <a:extLst>
              <a:ext uri="{FF2B5EF4-FFF2-40B4-BE49-F238E27FC236}">
                <a16:creationId xmlns:a16="http://schemas.microsoft.com/office/drawing/2014/main" id="{FBEF6B26-E121-0B44-A7A9-9B72845E41D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46777" y="2799882"/>
            <a:ext cx="0" cy="1981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" name="Line 45">
            <a:extLst>
              <a:ext uri="{FF2B5EF4-FFF2-40B4-BE49-F238E27FC236}">
                <a16:creationId xmlns:a16="http://schemas.microsoft.com/office/drawing/2014/main" id="{81B32945-73DC-2B4D-86C0-ECCFFE4F9B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384977" y="2799882"/>
            <a:ext cx="0" cy="1981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" name="Line 46">
            <a:extLst>
              <a:ext uri="{FF2B5EF4-FFF2-40B4-BE49-F238E27FC236}">
                <a16:creationId xmlns:a16="http://schemas.microsoft.com/office/drawing/2014/main" id="{C5D8FFB5-6C85-E343-A5A9-B897CE62DB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070777" y="2799882"/>
            <a:ext cx="0" cy="1981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" name="Line 47">
            <a:extLst>
              <a:ext uri="{FF2B5EF4-FFF2-40B4-BE49-F238E27FC236}">
                <a16:creationId xmlns:a16="http://schemas.microsoft.com/office/drawing/2014/main" id="{072D7DBE-CE1B-104F-A380-0187F9CC7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03777" y="3180882"/>
            <a:ext cx="3200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Line 48">
            <a:extLst>
              <a:ext uri="{FF2B5EF4-FFF2-40B4-BE49-F238E27FC236}">
                <a16:creationId xmlns:a16="http://schemas.microsoft.com/office/drawing/2014/main" id="{E795810E-4A64-1B48-93F8-CDB6B162E0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403777" y="3485682"/>
            <a:ext cx="3200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" name="Line 49">
            <a:extLst>
              <a:ext uri="{FF2B5EF4-FFF2-40B4-BE49-F238E27FC236}">
                <a16:creationId xmlns:a16="http://schemas.microsoft.com/office/drawing/2014/main" id="{23DA87D0-ADBC-9743-8569-F5F3046BA02E}"/>
              </a:ext>
            </a:extLst>
          </p:cNvPr>
          <p:cNvSpPr>
            <a:spLocks noChangeShapeType="1"/>
          </p:cNvSpPr>
          <p:nvPr/>
        </p:nvSpPr>
        <p:spPr bwMode="auto">
          <a:xfrm>
            <a:off x="1403777" y="4019082"/>
            <a:ext cx="3200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" name="Line 50">
            <a:extLst>
              <a:ext uri="{FF2B5EF4-FFF2-40B4-BE49-F238E27FC236}">
                <a16:creationId xmlns:a16="http://schemas.microsoft.com/office/drawing/2014/main" id="{DFC533CD-B3DC-C74D-99ED-887941A22A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403777" y="4400082"/>
            <a:ext cx="3200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51">
                <a:extLst>
                  <a:ext uri="{FF2B5EF4-FFF2-40B4-BE49-F238E27FC236}">
                    <a16:creationId xmlns:a16="http://schemas.microsoft.com/office/drawing/2014/main" id="{1E153383-CCCE-D64C-B80E-CFB7EE366E2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51577" y="2352207"/>
                <a:ext cx="444500" cy="4619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kumimoji="0" lang="en-US" i="1" dirty="0">
                  <a:latin typeface="+mn-lt"/>
                </a:endParaRPr>
              </a:p>
            </p:txBody>
          </p:sp>
        </mc:Choice>
        <mc:Fallback xmlns="">
          <p:sp>
            <p:nvSpPr>
              <p:cNvPr id="24" name="Text Box 51">
                <a:extLst>
                  <a:ext uri="{FF2B5EF4-FFF2-40B4-BE49-F238E27FC236}">
                    <a16:creationId xmlns:a16="http://schemas.microsoft.com/office/drawing/2014/main" id="{1E153383-CCCE-D64C-B80E-CFB7EE366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51577" y="2352207"/>
                <a:ext cx="444500" cy="4619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52">
                <a:extLst>
                  <a:ext uri="{FF2B5EF4-FFF2-40B4-BE49-F238E27FC236}">
                    <a16:creationId xmlns:a16="http://schemas.microsoft.com/office/drawing/2014/main" id="{7EDEA060-F5A5-EF49-9112-C51B2FE551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32289" y="3333282"/>
                <a:ext cx="412750" cy="4619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kumimoji="0" lang="en-US" i="1" dirty="0">
                  <a:latin typeface="+mn-lt"/>
                </a:endParaRPr>
              </a:p>
            </p:txBody>
          </p:sp>
        </mc:Choice>
        <mc:Fallback xmlns="">
          <p:sp>
            <p:nvSpPr>
              <p:cNvPr id="25" name="Text Box 52">
                <a:extLst>
                  <a:ext uri="{FF2B5EF4-FFF2-40B4-BE49-F238E27FC236}">
                    <a16:creationId xmlns:a16="http://schemas.microsoft.com/office/drawing/2014/main" id="{7EDEA060-F5A5-EF49-9112-C51B2FE55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32289" y="3333282"/>
                <a:ext cx="412750" cy="4619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 Box 53">
            <a:extLst>
              <a:ext uri="{FF2B5EF4-FFF2-40B4-BE49-F238E27FC236}">
                <a16:creationId xmlns:a16="http://schemas.microsoft.com/office/drawing/2014/main" id="{5BAAA935-0643-1647-90E1-B99859E993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7702" y="3638082"/>
            <a:ext cx="284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 dirty="0">
                <a:latin typeface="+mn-lt"/>
              </a:rPr>
              <a:t>3</a:t>
            </a:r>
          </a:p>
        </p:txBody>
      </p:sp>
      <p:sp>
        <p:nvSpPr>
          <p:cNvPr id="27" name="Text Box 54">
            <a:extLst>
              <a:ext uri="{FF2B5EF4-FFF2-40B4-BE49-F238E27FC236}">
                <a16:creationId xmlns:a16="http://schemas.microsoft.com/office/drawing/2014/main" id="{7544AC01-B6E2-E44D-A2B5-95CCF6363E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7702" y="3987332"/>
            <a:ext cx="2936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4</a:t>
            </a:r>
          </a:p>
        </p:txBody>
      </p:sp>
      <p:sp>
        <p:nvSpPr>
          <p:cNvPr id="28" name="Text Box 55">
            <a:extLst>
              <a:ext uri="{FF2B5EF4-FFF2-40B4-BE49-F238E27FC236}">
                <a16:creationId xmlns:a16="http://schemas.microsoft.com/office/drawing/2014/main" id="{1834384F-886D-764D-8F50-4607D04369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8339" y="4368332"/>
            <a:ext cx="284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1600">
                <a:latin typeface="+mn-lt"/>
              </a:rPr>
              <a:t>5</a:t>
            </a:r>
          </a:p>
        </p:txBody>
      </p:sp>
      <p:grpSp>
        <p:nvGrpSpPr>
          <p:cNvPr id="29" name="Group 60">
            <a:extLst>
              <a:ext uri="{FF2B5EF4-FFF2-40B4-BE49-F238E27FC236}">
                <a16:creationId xmlns:a16="http://schemas.microsoft.com/office/drawing/2014/main" id="{F92CE7A3-D0AF-2E4A-A555-F37AF71BD5BD}"/>
              </a:ext>
            </a:extLst>
          </p:cNvPr>
          <p:cNvGrpSpPr>
            <a:grpSpLocks/>
          </p:cNvGrpSpPr>
          <p:nvPr/>
        </p:nvGrpSpPr>
        <p:grpSpPr bwMode="auto">
          <a:xfrm>
            <a:off x="1403776" y="2799882"/>
            <a:ext cx="6827838" cy="1981200"/>
            <a:chOff x="1296" y="2880"/>
            <a:chExt cx="4301" cy="1248"/>
          </a:xfrm>
        </p:grpSpPr>
        <p:sp>
          <p:nvSpPr>
            <p:cNvPr id="30" name="Text Box 61">
              <a:extLst>
                <a:ext uri="{FF2B5EF4-FFF2-40B4-BE49-F238E27FC236}">
                  <a16:creationId xmlns:a16="http://schemas.microsoft.com/office/drawing/2014/main" id="{85933F29-4906-4746-B6E2-79817CB1B1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8" y="3396"/>
              <a:ext cx="2189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dirty="0">
                  <a:solidFill>
                    <a:schemeClr val="accent2"/>
                  </a:solidFill>
                  <a:latin typeface="+mn-lt"/>
                </a:rPr>
                <a:t>Hash join considers only</a:t>
              </a:r>
              <a:br>
                <a:rPr kumimoji="0" lang="en-US" dirty="0">
                  <a:solidFill>
                    <a:schemeClr val="accent2"/>
                  </a:solidFill>
                  <a:latin typeface="+mn-lt"/>
                </a:rPr>
              </a:br>
              <a:r>
                <a:rPr kumimoji="0" lang="en-US" dirty="0">
                  <a:solidFill>
                    <a:schemeClr val="accent2"/>
                  </a:solidFill>
                  <a:latin typeface="+mn-lt"/>
                </a:rPr>
                <a:t>those along the diagonal!</a:t>
              </a:r>
            </a:p>
          </p:txBody>
        </p:sp>
        <p:sp>
          <p:nvSpPr>
            <p:cNvPr id="31" name="Rectangle 62">
              <a:extLst>
                <a:ext uri="{FF2B5EF4-FFF2-40B4-BE49-F238E27FC236}">
                  <a16:creationId xmlns:a16="http://schemas.microsoft.com/office/drawing/2014/main" id="{0AC8A85C-9FBE-A747-85C6-DC9F62F8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6" y="2880"/>
              <a:ext cx="384" cy="240"/>
            </a:xfrm>
            <a:prstGeom prst="rect">
              <a:avLst/>
            </a:prstGeom>
            <a:solidFill>
              <a:schemeClr val="accent1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" name="Rectangle 63">
              <a:extLst>
                <a:ext uri="{FF2B5EF4-FFF2-40B4-BE49-F238E27FC236}">
                  <a16:creationId xmlns:a16="http://schemas.microsoft.com/office/drawing/2014/main" id="{26B0D154-C56B-3843-A481-AF9A7ACE1F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3120"/>
              <a:ext cx="336" cy="192"/>
            </a:xfrm>
            <a:prstGeom prst="rect">
              <a:avLst/>
            </a:prstGeom>
            <a:solidFill>
              <a:schemeClr val="accent1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Rectangle 64">
              <a:extLst>
                <a:ext uri="{FF2B5EF4-FFF2-40B4-BE49-F238E27FC236}">
                  <a16:creationId xmlns:a16="http://schemas.microsoft.com/office/drawing/2014/main" id="{DC24403C-3686-1946-8831-B2B864B74A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3312"/>
              <a:ext cx="528" cy="336"/>
            </a:xfrm>
            <a:prstGeom prst="rect">
              <a:avLst/>
            </a:prstGeom>
            <a:solidFill>
              <a:schemeClr val="accent1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Rectangle 65">
              <a:extLst>
                <a:ext uri="{FF2B5EF4-FFF2-40B4-BE49-F238E27FC236}">
                  <a16:creationId xmlns:a16="http://schemas.microsoft.com/office/drawing/2014/main" id="{673267BB-CF3F-DD46-BF6C-977657C2ED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4" y="3648"/>
              <a:ext cx="432" cy="240"/>
            </a:xfrm>
            <a:prstGeom prst="rect">
              <a:avLst/>
            </a:prstGeom>
            <a:solidFill>
              <a:schemeClr val="accent1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Rectangle 66">
              <a:extLst>
                <a:ext uri="{FF2B5EF4-FFF2-40B4-BE49-F238E27FC236}">
                  <a16:creationId xmlns:a16="http://schemas.microsoft.com/office/drawing/2014/main" id="{39893713-F4C4-BE44-8260-201FAA8462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3888"/>
              <a:ext cx="336" cy="240"/>
            </a:xfrm>
            <a:prstGeom prst="rect">
              <a:avLst/>
            </a:prstGeom>
            <a:solidFill>
              <a:schemeClr val="accent1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36" name="Oval 29">
            <a:extLst>
              <a:ext uri="{FF2B5EF4-FFF2-40B4-BE49-F238E27FC236}">
                <a16:creationId xmlns:a16="http://schemas.microsoft.com/office/drawing/2014/main" id="{4C8633DD-871D-EE4E-89D6-D1D023AEF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7302" y="2768132"/>
            <a:ext cx="76200" cy="76200"/>
          </a:xfrm>
          <a:prstGeom prst="ellipse">
            <a:avLst/>
          </a:prstGeom>
          <a:solidFill>
            <a:schemeClr val="accent6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7" name="Oval 30">
            <a:extLst>
              <a:ext uri="{FF2B5EF4-FFF2-40B4-BE49-F238E27FC236}">
                <a16:creationId xmlns:a16="http://schemas.microsoft.com/office/drawing/2014/main" id="{6F1EB923-BB03-2240-B492-115F1EF71D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9577" y="2768132"/>
            <a:ext cx="76200" cy="76200"/>
          </a:xfrm>
          <a:prstGeom prst="ellipse">
            <a:avLst/>
          </a:prstGeom>
          <a:solidFill>
            <a:schemeClr val="accent6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8" name="Oval 31">
            <a:extLst>
              <a:ext uri="{FF2B5EF4-FFF2-40B4-BE49-F238E27FC236}">
                <a16:creationId xmlns:a16="http://schemas.microsoft.com/office/drawing/2014/main" id="{DE45ACDA-6058-0142-981C-670C531980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7614" y="2764957"/>
            <a:ext cx="76200" cy="76200"/>
          </a:xfrm>
          <a:prstGeom prst="ellipse">
            <a:avLst/>
          </a:prstGeom>
          <a:solidFill>
            <a:schemeClr val="accent6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9" name="Oval 32">
            <a:extLst>
              <a:ext uri="{FF2B5EF4-FFF2-40B4-BE49-F238E27FC236}">
                <a16:creationId xmlns:a16="http://schemas.microsoft.com/office/drawing/2014/main" id="{55F918E1-1CED-6742-86A6-AD985B5B98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902" y="2761782"/>
            <a:ext cx="76200" cy="76200"/>
          </a:xfrm>
          <a:prstGeom prst="ellipse">
            <a:avLst/>
          </a:prstGeom>
          <a:solidFill>
            <a:schemeClr val="accent6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0" name="Oval 33">
            <a:extLst>
              <a:ext uri="{FF2B5EF4-FFF2-40B4-BE49-F238E27FC236}">
                <a16:creationId xmlns:a16="http://schemas.microsoft.com/office/drawing/2014/main" id="{B5602ECE-839F-EA42-A6FD-8B8B1B72D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4302" y="2769720"/>
            <a:ext cx="76200" cy="76200"/>
          </a:xfrm>
          <a:prstGeom prst="ellipse">
            <a:avLst/>
          </a:prstGeom>
          <a:solidFill>
            <a:schemeClr val="accent6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1" name="Oval 34">
            <a:extLst>
              <a:ext uri="{FF2B5EF4-FFF2-40B4-BE49-F238E27FC236}">
                <a16:creationId xmlns:a16="http://schemas.microsoft.com/office/drawing/2014/main" id="{874932AD-7700-F14D-9FEA-E10658B71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2952282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2" name="Oval 35">
            <a:extLst>
              <a:ext uri="{FF2B5EF4-FFF2-40B4-BE49-F238E27FC236}">
                <a16:creationId xmlns:a16="http://schemas.microsoft.com/office/drawing/2014/main" id="{5462E9AF-C8A2-0148-A253-063A507BF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3257082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3" name="Oval 36">
            <a:extLst>
              <a:ext uri="{FF2B5EF4-FFF2-40B4-BE49-F238E27FC236}">
                <a16:creationId xmlns:a16="http://schemas.microsoft.com/office/drawing/2014/main" id="{8B2FD642-7C00-CB4A-AACA-47C0B77B2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3333282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4" name="Oval 56">
            <a:extLst>
              <a:ext uri="{FF2B5EF4-FFF2-40B4-BE49-F238E27FC236}">
                <a16:creationId xmlns:a16="http://schemas.microsoft.com/office/drawing/2014/main" id="{2A404186-3BB6-4D43-8267-C2E94BD447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3638082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5" name="Oval 57">
            <a:extLst>
              <a:ext uri="{FF2B5EF4-FFF2-40B4-BE49-F238E27FC236}">
                <a16:creationId xmlns:a16="http://schemas.microsoft.com/office/drawing/2014/main" id="{AB91A060-60A2-8A4D-8DB8-DDCA166FA0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3714282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6" name="Oval 58">
            <a:extLst>
              <a:ext uri="{FF2B5EF4-FFF2-40B4-BE49-F238E27FC236}">
                <a16:creationId xmlns:a16="http://schemas.microsoft.com/office/drawing/2014/main" id="{C5E25FE6-CF75-5A43-ACD5-AA278108B4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3877795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7" name="Oval 59">
            <a:extLst>
              <a:ext uri="{FF2B5EF4-FFF2-40B4-BE49-F238E27FC236}">
                <a16:creationId xmlns:a16="http://schemas.microsoft.com/office/drawing/2014/main" id="{FF1AD277-0B07-774F-8DC3-8F5FD4BC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502" y="4171482"/>
            <a:ext cx="76200" cy="76200"/>
          </a:xfrm>
          <a:prstGeom prst="ellipse">
            <a:avLst/>
          </a:prstGeom>
          <a:solidFill>
            <a:schemeClr val="accent2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48" name="Oval 28">
            <a:extLst>
              <a:ext uri="{FF2B5EF4-FFF2-40B4-BE49-F238E27FC236}">
                <a16:creationId xmlns:a16="http://schemas.microsoft.com/office/drawing/2014/main" id="{CC6D333C-7B51-224B-8DFF-5DC8EB588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4902" y="2766545"/>
            <a:ext cx="76200" cy="76200"/>
          </a:xfrm>
          <a:prstGeom prst="ellipse">
            <a:avLst/>
          </a:prstGeom>
          <a:solidFill>
            <a:schemeClr val="accent6"/>
          </a:solidFill>
          <a:ln w="25400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20662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utoUpdateAnimBg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65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(External) Hash Join Algorithm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D6B081-057B-8643-8848-DF764627FF70}"/>
              </a:ext>
            </a:extLst>
          </p:cNvPr>
          <p:cNvSpPr txBox="1"/>
          <p:nvPr/>
        </p:nvSpPr>
        <p:spPr>
          <a:xfrm>
            <a:off x="0" y="867859"/>
            <a:ext cx="9060548" cy="3459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let h be a hash function mapping A or B columns into 1, …, k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Pick k &lt; M (why?) 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Phase 1: partition R and S into k partitions using h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Phase 2: 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for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1, …, k: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read R</a:t>
            </a:r>
            <a:r>
              <a:rPr lang="en-US" sz="20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and S</a:t>
            </a:r>
            <a:r>
              <a:rPr lang="en-US" sz="20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i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into memory and use in-memory hash-join alg.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(i.e.,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 a hash tabl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 of R</a:t>
            </a:r>
            <a:r>
              <a:rPr lang="en-US" sz="20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probe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S</a:t>
            </a:r>
            <a:r>
              <a:rPr lang="en-US" sz="20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tuples)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C5B5C1-0F3D-BE48-89B0-1F88BD3C594D}"/>
              </a:ext>
            </a:extLst>
          </p:cNvPr>
          <p:cNvGrpSpPr/>
          <p:nvPr/>
        </p:nvGrpSpPr>
        <p:grpSpPr>
          <a:xfrm>
            <a:off x="273512" y="4557933"/>
            <a:ext cx="3833311" cy="2005431"/>
            <a:chOff x="3552465" y="4547971"/>
            <a:chExt cx="4210439" cy="2235043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1226E27A-9E77-3D41-9ADD-354AFFD57B87}"/>
                </a:ext>
              </a:extLst>
            </p:cNvPr>
            <p:cNvSpPr/>
            <p:nvPr/>
          </p:nvSpPr>
          <p:spPr>
            <a:xfrm>
              <a:off x="5119424" y="4547971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R.A = S.B</a:t>
              </a:r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2F71F036-A26A-1B4C-99C6-CBFE8DFFCE2A}"/>
                </a:ext>
              </a:extLst>
            </p:cNvPr>
            <p:cNvSpPr/>
            <p:nvPr/>
          </p:nvSpPr>
          <p:spPr>
            <a:xfrm>
              <a:off x="3552465" y="6044848"/>
              <a:ext cx="1350111" cy="7381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7CE0686-B9EE-A444-87FE-B5A6258485D1}"/>
                </a:ext>
              </a:extLst>
            </p:cNvPr>
            <p:cNvCxnSpPr>
              <a:cxnSpLocks/>
              <a:stCxn id="52" idx="2"/>
              <a:endCxn id="53" idx="0"/>
            </p:cNvCxnSpPr>
            <p:nvPr/>
          </p:nvCxnSpPr>
          <p:spPr>
            <a:xfrm flipH="1">
              <a:off x="4227521" y="5213868"/>
              <a:ext cx="1618415" cy="83098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51D301DB-9B1B-D048-A905-8DD9E7B91366}"/>
                </a:ext>
              </a:extLst>
            </p:cNvPr>
            <p:cNvCxnSpPr>
              <a:cxnSpLocks/>
              <a:stCxn id="52" idx="2"/>
              <a:endCxn id="57" idx="0"/>
            </p:cNvCxnSpPr>
            <p:nvPr/>
          </p:nvCxnSpPr>
          <p:spPr>
            <a:xfrm>
              <a:off x="5845936" y="5213868"/>
              <a:ext cx="1241913" cy="81612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3D967D03-9AFC-214B-A89A-203D4A6C0B85}"/>
                </a:ext>
              </a:extLst>
            </p:cNvPr>
            <p:cNvSpPr/>
            <p:nvPr/>
          </p:nvSpPr>
          <p:spPr>
            <a:xfrm>
              <a:off x="6412792" y="6029989"/>
              <a:ext cx="1350112" cy="7381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E767C79-B820-D741-A8C2-04AC9E9D9A70}"/>
              </a:ext>
            </a:extLst>
          </p:cNvPr>
          <p:cNvSpPr txBox="1"/>
          <p:nvPr/>
        </p:nvSpPr>
        <p:spPr>
          <a:xfrm>
            <a:off x="133020" y="5428917"/>
            <a:ext cx="1420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probe side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6EB9F8-2336-2B4B-BB7A-F23DE9870EC4}"/>
              </a:ext>
            </a:extLst>
          </p:cNvPr>
          <p:cNvSpPr txBox="1"/>
          <p:nvPr/>
        </p:nvSpPr>
        <p:spPr>
          <a:xfrm>
            <a:off x="3116640" y="5428917"/>
            <a:ext cx="119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side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133F93-843E-3241-88C1-9DA44EECD7CB}"/>
              </a:ext>
            </a:extLst>
          </p:cNvPr>
          <p:cNvSpPr/>
          <p:nvPr/>
        </p:nvSpPr>
        <p:spPr>
          <a:xfrm>
            <a:off x="4397941" y="4431566"/>
            <a:ext cx="4572000" cy="211846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Q: Systems make the smaller (estimated) relation the build side? Why?</a:t>
            </a:r>
          </a:p>
          <a:p>
            <a:pPr marL="342900" indent="-342900" algn="ctr">
              <a:lnSpc>
                <a:spcPct val="150000"/>
              </a:lnSpc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Quicker to build &amp; search in hash table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Note: do not have to use any memory for probe side, e.g., can just stream 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90743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66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Phase 1: Partitioning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400" dirty="0"/>
                  <a:t>Partition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400" dirty="0"/>
                  <a:t> according to the same hash function on their join attributes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830997"/>
              </a:xfrm>
              <a:prstGeom prst="rect">
                <a:avLst/>
              </a:prstGeom>
              <a:blipFill>
                <a:blip r:embed="rId4"/>
                <a:stretch>
                  <a:fillRect l="-980" t="-4545" r="-1681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C393564C-65B4-A24F-8F7B-B66B0AC4590D}"/>
              </a:ext>
            </a:extLst>
          </p:cNvPr>
          <p:cNvGrpSpPr>
            <a:grpSpLocks/>
          </p:cNvGrpSpPr>
          <p:nvPr/>
        </p:nvGrpSpPr>
        <p:grpSpPr bwMode="auto">
          <a:xfrm>
            <a:off x="1082993" y="2067243"/>
            <a:ext cx="6465887" cy="3041649"/>
            <a:chOff x="439" y="1827"/>
            <a:chExt cx="4073" cy="19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6D5EC77D-A885-1944-A93D-D5C362D185A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088" y="3354"/>
                  <a:ext cx="1212" cy="2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algn="ctr">
                    <a:spcBef>
                      <a:spcPct val="0"/>
                    </a:spcBef>
                    <a:buFontTx/>
                    <a:buNone/>
                  </a:pPr>
                  <a:r>
                    <a:rPr lang="en-US" sz="2000" dirty="0"/>
                    <a:t>k partitions of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a14:m>
                  <a:endParaRPr lang="en-US" sz="2000" i="1" dirty="0"/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6D5EC77D-A885-1944-A93D-D5C362D185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088" y="3354"/>
                  <a:ext cx="1212" cy="252"/>
                </a:xfrm>
                <a:prstGeom prst="rect">
                  <a:avLst/>
                </a:prstGeom>
                <a:blipFill>
                  <a:blip r:embed="rId5"/>
                  <a:stretch>
                    <a:fillRect l="-2632" t="-9375" b="-2812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08CFA21-1A5E-014E-9ABE-51F50F5815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" y="2160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DFA6FC5-16AD-C948-B758-6A4D5D2A01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" y="235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79C783F-3B9B-D949-83AF-E36CB6390E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" y="2544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9">
              <a:extLst>
                <a:ext uri="{FF2B5EF4-FFF2-40B4-BE49-F238E27FC236}">
                  <a16:creationId xmlns:a16="http://schemas.microsoft.com/office/drawing/2014/main" id="{17A5BE45-1F0F-EC4A-A908-24C06FDCC7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2240"/>
              <a:ext cx="5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AutoShape 10">
              <a:extLst>
                <a:ext uri="{FF2B5EF4-FFF2-40B4-BE49-F238E27FC236}">
                  <a16:creationId xmlns:a16="http://schemas.microsoft.com/office/drawing/2014/main" id="{35B72162-469D-5640-A6F0-035AB8F653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872"/>
              <a:ext cx="1632" cy="1776"/>
            </a:xfrm>
            <a:prstGeom prst="can">
              <a:avLst>
                <a:gd name="adj" fmla="val 13825"/>
              </a:avLst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4C5A12A-B4D4-8F43-BA0C-41BACD842A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2160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5B32CB-FD57-E541-B7F3-84E6B3578D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2352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A2E49E-998D-FA48-BDEA-2F0E199825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2544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784CD03-052D-E443-A780-6644ACA164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2736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Text Box 15">
              <a:extLst>
                <a:ext uri="{FF2B5EF4-FFF2-40B4-BE49-F238E27FC236}">
                  <a16:creationId xmlns:a16="http://schemas.microsoft.com/office/drawing/2014/main" id="{87C5FCC3-EA18-6142-BE79-2F9E717ADA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41" y="1835"/>
              <a:ext cx="494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dirty="0">
                  <a:latin typeface="Arial" panose="020B0604020202020204" pitchFamily="34" charset="0"/>
                  <a:cs typeface="Arial" panose="020B0604020202020204" pitchFamily="34" charset="0"/>
                </a:rPr>
                <a:t>Disk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9E82EFD-2859-4749-90E6-AE9A016D4B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4" y="2112"/>
              <a:ext cx="1584" cy="134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" name="Text Box 17">
              <a:extLst>
                <a:ext uri="{FF2B5EF4-FFF2-40B4-BE49-F238E27FC236}">
                  <a16:creationId xmlns:a16="http://schemas.microsoft.com/office/drawing/2014/main" id="{AC2A67D2-F0A6-0442-A4C7-CC1C40AE56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1827"/>
              <a:ext cx="817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dirty="0">
                  <a:latin typeface="Arial" panose="020B0604020202020204" pitchFamily="34" charset="0"/>
                  <a:cs typeface="Arial" panose="020B0604020202020204" pitchFamily="34" charset="0"/>
                </a:rPr>
                <a:t>Memory</a:t>
              </a:r>
            </a:p>
          </p:txBody>
        </p:sp>
        <p:sp>
          <p:nvSpPr>
            <p:cNvPr id="29" name="Line 18">
              <a:extLst>
                <a:ext uri="{FF2B5EF4-FFF2-40B4-BE49-F238E27FC236}">
                  <a16:creationId xmlns:a16="http://schemas.microsoft.com/office/drawing/2014/main" id="{E020EE90-A9AC-F04F-8F49-F5907599F2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2424"/>
              <a:ext cx="5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19">
              <a:extLst>
                <a:ext uri="{FF2B5EF4-FFF2-40B4-BE49-F238E27FC236}">
                  <a16:creationId xmlns:a16="http://schemas.microsoft.com/office/drawing/2014/main" id="{39E06E20-F332-5C40-AD33-ED6754EAC6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2616"/>
              <a:ext cx="5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AF5181D-4F9C-F548-B1A9-B458541049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" y="2736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" name="Line 21">
              <a:extLst>
                <a:ext uri="{FF2B5EF4-FFF2-40B4-BE49-F238E27FC236}">
                  <a16:creationId xmlns:a16="http://schemas.microsoft.com/office/drawing/2014/main" id="{AD3FEEFC-EDD3-9D40-A176-75C260A188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2808"/>
              <a:ext cx="5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2351807-BEDC-6646-B609-377B9B8F4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2448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Line 23">
              <a:extLst>
                <a:ext uri="{FF2B5EF4-FFF2-40B4-BE49-F238E27FC236}">
                  <a16:creationId xmlns:a16="http://schemas.microsoft.com/office/drawing/2014/main" id="{A2714BB7-EAFD-7C4C-9B6B-DABDC689D5C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60" y="2240"/>
              <a:ext cx="91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4">
              <a:extLst>
                <a:ext uri="{FF2B5EF4-FFF2-40B4-BE49-F238E27FC236}">
                  <a16:creationId xmlns:a16="http://schemas.microsoft.com/office/drawing/2014/main" id="{C0A2E350-7E00-0648-B020-FACABD998B2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60" y="2432"/>
              <a:ext cx="912" cy="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5">
              <a:extLst>
                <a:ext uri="{FF2B5EF4-FFF2-40B4-BE49-F238E27FC236}">
                  <a16:creationId xmlns:a16="http://schemas.microsoft.com/office/drawing/2014/main" id="{EE0CA2A8-24C0-394D-A9AB-CD91ACC259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" y="2544"/>
              <a:ext cx="912" cy="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6">
              <a:extLst>
                <a:ext uri="{FF2B5EF4-FFF2-40B4-BE49-F238E27FC236}">
                  <a16:creationId xmlns:a16="http://schemas.microsoft.com/office/drawing/2014/main" id="{B6AE6740-BDCB-AC45-8483-54771515A1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0" y="2576"/>
              <a:ext cx="912" cy="24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27">
              <a:extLst>
                <a:ext uri="{FF2B5EF4-FFF2-40B4-BE49-F238E27FC236}">
                  <a16:creationId xmlns:a16="http://schemas.microsoft.com/office/drawing/2014/main" id="{D3BB1274-137B-1F4A-874E-3A60FAADC3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" y="2520"/>
              <a:ext cx="2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 Box 28">
                  <a:extLst>
                    <a:ext uri="{FF2B5EF4-FFF2-40B4-BE49-F238E27FC236}">
                      <a16:creationId xmlns:a16="http://schemas.microsoft.com/office/drawing/2014/main" id="{8C09D8C9-E4A0-AD40-8C90-BFCE92D9E32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9" y="2374"/>
                  <a:ext cx="280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1pPr>
                  <a:lvl2pPr marL="742950" indent="-28575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2pPr>
                  <a:lvl3pPr marL="11430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3pPr>
                  <a:lvl4pPr marL="16002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4pPr>
                  <a:lvl5pPr marL="20574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kumimoji="0" lang="en-US" i="1" dirty="0">
                    <a:latin typeface="+mn-lt"/>
                  </a:endParaRPr>
                </a:p>
              </p:txBody>
            </p:sp>
          </mc:Choice>
          <mc:Fallback xmlns="">
            <p:sp>
              <p:nvSpPr>
                <p:cNvPr id="20509" name="Text 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9" y="2374"/>
                  <a:ext cx="293" cy="291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A63D53A-DD10-9748-B2CE-AAB0CED700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71" y="3510"/>
                  <a:ext cx="778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 wrap="none">
                  <a:spAutoFit/>
                </a:bodyPr>
                <a:lstStyle/>
                <a:p>
                  <a:pPr algn="ctr">
                    <a:spcBef>
                      <a:spcPct val="0"/>
                    </a:spcBef>
                    <a:buFontTx/>
                    <a:buNone/>
                  </a:pPr>
                  <a:r>
                    <a:rPr lang="en-US" dirty="0"/>
                    <a:t>Same for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20510" name="Rectangle 2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02" y="3510"/>
                  <a:ext cx="915" cy="291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 l="-6303" t="-10526" b="-2894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2FACA01-A1BE-2948-B00A-EE728776F8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6" y="3168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364B3A3D-799D-9E49-AA85-DF46856052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" y="3168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Line 32">
              <a:extLst>
                <a:ext uri="{FF2B5EF4-FFF2-40B4-BE49-F238E27FC236}">
                  <a16:creationId xmlns:a16="http://schemas.microsoft.com/office/drawing/2014/main" id="{DC43881A-7999-E84A-87BA-8C6C6F15D1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3240"/>
              <a:ext cx="5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Box 33">
              <a:extLst>
                <a:ext uri="{FF2B5EF4-FFF2-40B4-BE49-F238E27FC236}">
                  <a16:creationId xmlns:a16="http://schemas.microsoft.com/office/drawing/2014/main" id="{66176FF9-EA0F-9F41-8E74-F4F778CF46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2015" y="2857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b="1">
                  <a:latin typeface="+mn-lt"/>
                </a:rPr>
                <a:t>…</a:t>
              </a:r>
            </a:p>
          </p:txBody>
        </p:sp>
        <p:sp>
          <p:nvSpPr>
            <p:cNvPr id="45" name="Text Box 34">
              <a:extLst>
                <a:ext uri="{FF2B5EF4-FFF2-40B4-BE49-F238E27FC236}">
                  <a16:creationId xmlns:a16="http://schemas.microsoft.com/office/drawing/2014/main" id="{8453D52D-BC61-7148-BE09-ADF65ECE1A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5400000">
              <a:off x="3495" y="2873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b="1" dirty="0">
                  <a:latin typeface="+mn-lt"/>
                </a:rPr>
                <a:t>…</a:t>
              </a:r>
            </a:p>
          </p:txBody>
        </p:sp>
        <p:sp>
          <p:nvSpPr>
            <p:cNvPr id="46" name="Line 35">
              <a:extLst>
                <a:ext uri="{FF2B5EF4-FFF2-40B4-BE49-F238E27FC236}">
                  <a16:creationId xmlns:a16="http://schemas.microsoft.com/office/drawing/2014/main" id="{356DCA78-C279-A542-A260-3AB96FB71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2" y="2584"/>
              <a:ext cx="912" cy="6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3551B1B3-2B1E-FC49-B7B1-799D99E1FDED}"/>
              </a:ext>
            </a:extLst>
          </p:cNvPr>
          <p:cNvSpPr/>
          <p:nvPr/>
        </p:nvSpPr>
        <p:spPr>
          <a:xfrm>
            <a:off x="4814923" y="5113972"/>
            <a:ext cx="3026692" cy="7870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Each partition takes ~ B(R)/k blocks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6883484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67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Phase 2: Probing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D6B081-057B-8643-8848-DF764627FF70}"/>
              </a:ext>
            </a:extLst>
          </p:cNvPr>
          <p:cNvSpPr txBox="1"/>
          <p:nvPr/>
        </p:nvSpPr>
        <p:spPr>
          <a:xfrm>
            <a:off x="0" y="867859"/>
            <a:ext cx="90605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Read in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stream in the corresponding partition S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and join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Typically use in-memory hash join: build a hash table of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57300" lvl="2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often use a different hash function for in-memory hash join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8851232-E9FA-2A4A-9E7F-B6AF02F18408}"/>
              </a:ext>
            </a:extLst>
          </p:cNvPr>
          <p:cNvGrpSpPr>
            <a:grpSpLocks/>
          </p:cNvGrpSpPr>
          <p:nvPr/>
        </p:nvGrpSpPr>
        <p:grpSpPr bwMode="auto">
          <a:xfrm>
            <a:off x="663225" y="2524443"/>
            <a:ext cx="7750175" cy="3195637"/>
            <a:chOff x="14" y="2211"/>
            <a:chExt cx="4882" cy="2013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45B13D5-6D96-054D-B9E9-C6EE472B3E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4" y="259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F336231-6BBB-0E4A-95A9-7B312CF6F0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6" y="259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AutoShape 7">
              <a:extLst>
                <a:ext uri="{FF2B5EF4-FFF2-40B4-BE49-F238E27FC236}">
                  <a16:creationId xmlns:a16="http://schemas.microsoft.com/office/drawing/2014/main" id="{0B963CEA-5391-0742-9BE9-676D30C3CE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2256"/>
              <a:ext cx="1632" cy="1968"/>
            </a:xfrm>
            <a:prstGeom prst="can">
              <a:avLst>
                <a:gd name="adj" fmla="val 12868"/>
              </a:avLst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DAB5C28-B389-EB42-97E2-5F1E8D6F0A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2504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73B1DA0-6945-1846-989F-5C2EDD8D69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2696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FA41F7D-2E51-2647-A488-BBFF92BDA7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3080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Text Box 11">
              <a:extLst>
                <a:ext uri="{FF2B5EF4-FFF2-40B4-BE49-F238E27FC236}">
                  <a16:creationId xmlns:a16="http://schemas.microsoft.com/office/drawing/2014/main" id="{78E49FDA-DA1D-834B-9EBE-70D51A6157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9" y="2219"/>
              <a:ext cx="46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>
                  <a:latin typeface="+mn-lt"/>
                </a:rPr>
                <a:t>Disk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4ACED3-7EE0-1543-AB8B-E317F71E96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68" y="2496"/>
              <a:ext cx="1584" cy="134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" name="Text Box 13">
              <a:extLst>
                <a:ext uri="{FF2B5EF4-FFF2-40B4-BE49-F238E27FC236}">
                  <a16:creationId xmlns:a16="http://schemas.microsoft.com/office/drawing/2014/main" id="{66B6060B-B05B-6740-8E59-75EAF7DD18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0" y="2211"/>
              <a:ext cx="807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>
                  <a:latin typeface="+mn-lt"/>
                </a:rPr>
                <a:t>Memory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138B08F-9672-C148-83A0-D6D9302EA0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355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41D56E86-8449-1C4E-8270-CA187F4944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3408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8148B55-5BFA-2F44-8DE1-326E19226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3600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6F5A4AE-C5C4-3145-B107-489086851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3984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 Box 18">
                  <a:extLst>
                    <a:ext uri="{FF2B5EF4-FFF2-40B4-BE49-F238E27FC236}">
                      <a16:creationId xmlns:a16="http://schemas.microsoft.com/office/drawing/2014/main" id="{3296BB86-D8ED-FC4A-8F90-FE631EDFD6A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 rot="16200000">
                  <a:off x="147" y="2558"/>
                  <a:ext cx="582" cy="8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 vert="eaVert" wrap="none">
                  <a:spAutoFit/>
                </a:bodyPr>
                <a:lstStyle>
                  <a:lvl1pPr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1pPr>
                  <a:lvl2pPr marL="742950" indent="-28575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2pPr>
                  <a:lvl3pPr marL="11430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3pPr>
                  <a:lvl4pPr marL="16002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4pPr>
                  <a:lvl5pPr marL="20574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9pPr>
                </a:lstStyle>
                <a:p>
                  <a:pPr algn="ctr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br>
                    <a:rPr kumimoji="0" lang="en-US" dirty="0">
                      <a:latin typeface="+mn-lt"/>
                    </a:rPr>
                  </a:br>
                  <a:r>
                    <a:rPr kumimoji="0" lang="en-US" dirty="0">
                      <a:latin typeface="+mn-lt"/>
                    </a:rPr>
                    <a:t>partitions</a:t>
                  </a:r>
                </a:p>
              </p:txBody>
            </p:sp>
          </mc:Choice>
          <mc:Fallback xmlns="">
            <p:sp>
              <p:nvSpPr>
                <p:cNvPr id="21523" name="Text 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 rot="16200000">
                  <a:off x="147" y="2600"/>
                  <a:ext cx="582" cy="763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 l="-11055" r="-11055" b="-9272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AutoShape 19">
              <a:extLst>
                <a:ext uri="{FF2B5EF4-FFF2-40B4-BE49-F238E27FC236}">
                  <a16:creationId xmlns:a16="http://schemas.microsoft.com/office/drawing/2014/main" id="{37F4DF90-89B5-5642-B633-1897BC25B14D}"/>
                </a:ext>
              </a:extLst>
            </p:cNvPr>
            <p:cNvSpPr>
              <a:spLocks/>
            </p:cNvSpPr>
            <p:nvPr/>
          </p:nvSpPr>
          <p:spPr bwMode="auto">
            <a:xfrm>
              <a:off x="816" y="2496"/>
              <a:ext cx="144" cy="720"/>
            </a:xfrm>
            <a:prstGeom prst="leftBrace">
              <a:avLst>
                <a:gd name="adj1" fmla="val 41667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 Box 20">
                  <a:extLst>
                    <a:ext uri="{FF2B5EF4-FFF2-40B4-BE49-F238E27FC236}">
                      <a16:creationId xmlns:a16="http://schemas.microsoft.com/office/drawing/2014/main" id="{6C3B7A7B-0C91-174C-A4D0-026896FB04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 rot="16200000">
                  <a:off x="147" y="3470"/>
                  <a:ext cx="582" cy="8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 vert="eaVert" wrap="none">
                  <a:spAutoFit/>
                </a:bodyPr>
                <a:lstStyle>
                  <a:lvl1pPr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1pPr>
                  <a:lvl2pPr marL="742950" indent="-28575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2pPr>
                  <a:lvl3pPr marL="11430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3pPr>
                  <a:lvl4pPr marL="16002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4pPr>
                  <a:lvl5pPr marL="20574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9pPr>
                </a:lstStyle>
                <a:p>
                  <a:pPr algn="ctr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br>
                    <a:rPr kumimoji="0" lang="en-US" dirty="0">
                      <a:latin typeface="+mn-lt"/>
                    </a:rPr>
                  </a:br>
                  <a:r>
                    <a:rPr kumimoji="0" lang="en-US" dirty="0">
                      <a:latin typeface="+mn-lt"/>
                    </a:rPr>
                    <a:t>partitions</a:t>
                  </a:r>
                </a:p>
              </p:txBody>
            </p:sp>
          </mc:Choice>
          <mc:Fallback xmlns="">
            <p:sp>
              <p:nvSpPr>
                <p:cNvPr id="21525" name="Text 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 rot="16200000">
                  <a:off x="147" y="3512"/>
                  <a:ext cx="582" cy="763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 l="-11055" r="-11055" b="-9211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AutoShape 21">
              <a:extLst>
                <a:ext uri="{FF2B5EF4-FFF2-40B4-BE49-F238E27FC236}">
                  <a16:creationId xmlns:a16="http://schemas.microsoft.com/office/drawing/2014/main" id="{A27B2FDA-C4E2-064F-89F8-23F7395C4F68}"/>
                </a:ext>
              </a:extLst>
            </p:cNvPr>
            <p:cNvSpPr>
              <a:spLocks/>
            </p:cNvSpPr>
            <p:nvPr/>
          </p:nvSpPr>
          <p:spPr bwMode="auto">
            <a:xfrm>
              <a:off x="816" y="3408"/>
              <a:ext cx="144" cy="720"/>
            </a:xfrm>
            <a:prstGeom prst="leftBrace">
              <a:avLst>
                <a:gd name="adj1" fmla="val 41667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7F03144-8F06-7B4F-A274-B86ABC633C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259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2EC211D-6FF9-B841-8A87-948CDF712A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59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5BC8356-30AB-F843-86E8-EFDC91B918D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646" y="2849"/>
              <a:ext cx="262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b="1"/>
                <a:t>…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789D7D4-120B-A944-BECE-17E07B858C8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646" y="3761"/>
              <a:ext cx="262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b="1"/>
                <a:t>…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94F002A-F0DC-3943-BD90-54D9D9CB2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4" y="2498"/>
              <a:ext cx="262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b="1"/>
                <a:t>…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9A148DD-9870-1549-A32B-5BBB076681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72" y="2592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EADF987-2A79-FC48-BEBA-F5D5F6420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4" y="3120"/>
              <a:ext cx="144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5" name="Line 29">
              <a:extLst>
                <a:ext uri="{FF2B5EF4-FFF2-40B4-BE49-F238E27FC236}">
                  <a16:creationId xmlns:a16="http://schemas.microsoft.com/office/drawing/2014/main" id="{C37D404F-CE1D-5943-B39F-185C65A32B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92" y="2688"/>
              <a:ext cx="624" cy="7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30">
              <a:extLst>
                <a:ext uri="{FF2B5EF4-FFF2-40B4-BE49-F238E27FC236}">
                  <a16:creationId xmlns:a16="http://schemas.microsoft.com/office/drawing/2014/main" id="{9CBA658B-FFE6-AF47-BDAD-77D4318F00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92" y="3600"/>
              <a:ext cx="672" cy="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Text Box 31">
              <a:extLst>
                <a:ext uri="{FF2B5EF4-FFF2-40B4-BE49-F238E27FC236}">
                  <a16:creationId xmlns:a16="http://schemas.microsoft.com/office/drawing/2014/main" id="{F367A889-ACD5-5343-BFE8-C48F2ECA5F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81" y="2460"/>
              <a:ext cx="41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>
                  <a:latin typeface="+mn-lt"/>
                </a:rPr>
                <a:t>load</a:t>
              </a:r>
            </a:p>
          </p:txBody>
        </p:sp>
        <p:sp>
          <p:nvSpPr>
            <p:cNvPr id="78" name="Text Box 32">
              <a:extLst>
                <a:ext uri="{FF2B5EF4-FFF2-40B4-BE49-F238E27FC236}">
                  <a16:creationId xmlns:a16="http://schemas.microsoft.com/office/drawing/2014/main" id="{88D84F0A-629C-EF4C-9756-B8DFA21774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7" y="3363"/>
              <a:ext cx="594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>
                  <a:latin typeface="+mn-lt"/>
                </a:rPr>
                <a:t>stream</a:t>
              </a:r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5F105A1C-D18B-9B4F-84E3-B0E7052F301D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6" y="2784"/>
              <a:ext cx="336" cy="720"/>
            </a:xfrm>
            <a:custGeom>
              <a:avLst/>
              <a:gdLst>
                <a:gd name="T0" fmla="*/ 0 w 288"/>
                <a:gd name="T1" fmla="*/ 720 h 720"/>
                <a:gd name="T2" fmla="*/ 1120 w 288"/>
                <a:gd name="T3" fmla="*/ 336 h 720"/>
                <a:gd name="T4" fmla="*/ 1345 w 288"/>
                <a:gd name="T5" fmla="*/ 0 h 720"/>
                <a:gd name="T6" fmla="*/ 0 60000 65536"/>
                <a:gd name="T7" fmla="*/ 0 60000 65536"/>
                <a:gd name="T8" fmla="*/ 0 60000 65536"/>
                <a:gd name="T9" fmla="*/ 0 w 288"/>
                <a:gd name="T10" fmla="*/ 0 h 720"/>
                <a:gd name="T11" fmla="*/ 288 w 288"/>
                <a:gd name="T12" fmla="*/ 720 h 72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88" h="720">
                  <a:moveTo>
                    <a:pt x="0" y="720"/>
                  </a:moveTo>
                  <a:cubicBezTo>
                    <a:pt x="96" y="588"/>
                    <a:pt x="192" y="456"/>
                    <a:pt x="240" y="336"/>
                  </a:cubicBezTo>
                  <a:cubicBezTo>
                    <a:pt x="288" y="216"/>
                    <a:pt x="288" y="108"/>
                    <a:pt x="288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2365882D-EF47-2449-A8CF-0DBF3498F1B6}"/>
                </a:ext>
              </a:extLst>
            </p:cNvPr>
            <p:cNvSpPr>
              <a:spLocks/>
            </p:cNvSpPr>
            <p:nvPr/>
          </p:nvSpPr>
          <p:spPr bwMode="auto">
            <a:xfrm>
              <a:off x="3744" y="2864"/>
              <a:ext cx="672" cy="336"/>
            </a:xfrm>
            <a:custGeom>
              <a:avLst/>
              <a:gdLst>
                <a:gd name="T0" fmla="*/ 0 w 672"/>
                <a:gd name="T1" fmla="*/ 0 h 336"/>
                <a:gd name="T2" fmla="*/ 192 w 672"/>
                <a:gd name="T3" fmla="*/ 240 h 336"/>
                <a:gd name="T4" fmla="*/ 672 w 672"/>
                <a:gd name="T5" fmla="*/ 336 h 336"/>
                <a:gd name="T6" fmla="*/ 0 60000 65536"/>
                <a:gd name="T7" fmla="*/ 0 60000 65536"/>
                <a:gd name="T8" fmla="*/ 0 60000 65536"/>
                <a:gd name="T9" fmla="*/ 0 w 672"/>
                <a:gd name="T10" fmla="*/ 0 h 336"/>
                <a:gd name="T11" fmla="*/ 672 w 672"/>
                <a:gd name="T12" fmla="*/ 336 h 3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672" h="336">
                  <a:moveTo>
                    <a:pt x="0" y="0"/>
                  </a:moveTo>
                  <a:cubicBezTo>
                    <a:pt x="40" y="92"/>
                    <a:pt x="80" y="184"/>
                    <a:pt x="192" y="240"/>
                  </a:cubicBezTo>
                  <a:cubicBezTo>
                    <a:pt x="304" y="296"/>
                    <a:pt x="488" y="316"/>
                    <a:pt x="672" y="336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 Box 35">
                  <a:extLst>
                    <a:ext uri="{FF2B5EF4-FFF2-40B4-BE49-F238E27FC236}">
                      <a16:creationId xmlns:a16="http://schemas.microsoft.com/office/drawing/2014/main" id="{EAC61FCF-0E90-0F4D-B8AB-B3982B06EE6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53" y="3305"/>
                  <a:ext cx="1252" cy="44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1pPr>
                  <a:lvl2pPr marL="742950" indent="-28575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2pPr>
                  <a:lvl3pPr marL="11430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3pPr>
                  <a:lvl4pPr marL="16002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4pPr>
                  <a:lvl5pPr marL="2057400" indent="-228600"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Wingdings" pitchFamily="2" charset="2"/>
                    <a:buChar char="•"/>
                    <a:defRPr kumimoji="1" sz="2400">
                      <a:solidFill>
                        <a:schemeClr val="tx1"/>
                      </a:solidFill>
                      <a:latin typeface="AmeriGarmnd BT" pitchFamily="18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r>
                    <a:rPr kumimoji="0" lang="en-US" sz="2000" dirty="0">
                      <a:latin typeface="+mn-lt"/>
                    </a:rPr>
                    <a:t>For each </a:t>
                  </a:r>
                  <a14:m>
                    <m:oMath xmlns:m="http://schemas.openxmlformats.org/officeDocument/2006/math"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kumimoji="0" lang="en-US" sz="2000" dirty="0">
                      <a:latin typeface="+mn-lt"/>
                    </a:rPr>
                    <a:t> tuple,</a:t>
                  </a:r>
                  <a:br>
                    <a:rPr kumimoji="0" lang="en-US" sz="2000" dirty="0">
                      <a:latin typeface="+mn-lt"/>
                    </a:rPr>
                  </a:br>
                  <a:r>
                    <a:rPr kumimoji="0" lang="en-US" sz="2000" dirty="0">
                      <a:latin typeface="+mn-lt"/>
                    </a:rPr>
                    <a:t>probe and join</a:t>
                  </a:r>
                </a:p>
              </p:txBody>
            </p:sp>
          </mc:Choice>
          <mc:Fallback xmlns="">
            <p:sp>
              <p:nvSpPr>
                <p:cNvPr id="21540" name="Text Box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553" y="3305"/>
                  <a:ext cx="1159" cy="446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 l="-3642" t="-3448" r="-2980" b="-1465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38100">
                      <a:solidFill>
                        <a:srgbClr val="000000"/>
                      </a:solidFill>
                      <a:miter lim="800000"/>
                      <a:headEnd type="none" w="sm" len="sm"/>
                      <a:tailEnd type="none" w="sm" len="sm"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Line 36">
              <a:extLst>
                <a:ext uri="{FF2B5EF4-FFF2-40B4-BE49-F238E27FC236}">
                  <a16:creationId xmlns:a16="http://schemas.microsoft.com/office/drawing/2014/main" id="{35EC89DD-C6A1-FB42-AFEF-16B1ED0829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6" y="3192"/>
              <a:ext cx="24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8315753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68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I/O Cost of Hash Join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24442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Assuming no edges cases (e.g., a very large hash partition) and hash join completes in two phases:</a:t>
                </a:r>
              </a:p>
              <a:p>
                <a:pPr lvl="1"/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I/O’s: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C00000"/>
                        </a:solidFill>
                        <a:latin typeface="Cambria Math"/>
                      </a:rPr>
                      <m:t>3⋅</m:t>
                    </m:r>
                    <m:d>
                      <m:dPr>
                        <m:ctrlPr>
                          <a:rPr lang="en-US" sz="22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𝐵</m:t>
                        </m:r>
                        <m:d>
                          <m:dPr>
                            <m:ctrlPr>
                              <a:rPr lang="en-US" sz="22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  <m:r>
                          <a:rPr lang="en-US" sz="22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+</m:t>
                        </m:r>
                        <m:r>
                          <a:rPr lang="en-US" sz="22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𝐵</m:t>
                        </m:r>
                        <m:d>
                          <m:dPr>
                            <m:ctrlPr>
                              <a:rPr lang="en-US" sz="22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</m:d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2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hase 1: read B(R) + B(S) into memory to partition and write partitioned B(R) +B(S) to disk </a:t>
                </a:r>
              </a:p>
              <a:p>
                <a:pPr lvl="2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hase 2: read B(R) + B(S) into memory to perform the join 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2444259"/>
              </a:xfrm>
              <a:prstGeom prst="rect">
                <a:avLst/>
              </a:prstGeom>
              <a:blipFill>
                <a:blip r:embed="rId4"/>
                <a:stretch>
                  <a:fillRect l="-700" t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673663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69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What if R</a:t>
            </a:r>
            <a:r>
              <a:rPr lang="en-US" sz="36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Does Not Fit In Memory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D6B081-057B-8643-8848-DF764627FF70}"/>
              </a:ext>
            </a:extLst>
          </p:cNvPr>
          <p:cNvSpPr txBox="1"/>
          <p:nvPr/>
        </p:nvSpPr>
        <p:spPr>
          <a:xfrm>
            <a:off x="0" y="867859"/>
            <a:ext cx="8851900" cy="18819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Read it back in and partition it again!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Note however, in the worst-case all A or B values could be the same and one simply cannot generate useful partitions.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Systems either fail in such cases or fall back to alternative slower solutions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4C981F1-F467-DD4D-94F3-CBC88B8FCC0A}"/>
              </a:ext>
            </a:extLst>
          </p:cNvPr>
          <p:cNvGrpSpPr>
            <a:grpSpLocks/>
          </p:cNvGrpSpPr>
          <p:nvPr/>
        </p:nvGrpSpPr>
        <p:grpSpPr bwMode="auto">
          <a:xfrm>
            <a:off x="647700" y="3429000"/>
            <a:ext cx="7848600" cy="2819400"/>
            <a:chOff x="336" y="2016"/>
            <a:chExt cx="4944" cy="1776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94883C-0B05-8C40-BE68-1763E3C966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976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4A111220-BED6-0B49-9150-19E463229F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2544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79C4CA48-CE9F-8E4D-A27E-BADD1A2301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2736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CB59123-4625-9848-BE33-C57F0F520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2928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81EF8CE-EB2C-0846-9DF9-9F20E3C13F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3120"/>
              <a:ext cx="1440" cy="14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08C8B8E-DB22-8147-96F5-CDD125AA1D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" y="2592"/>
              <a:ext cx="1440" cy="624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18BA142-6700-CC44-A397-916326B6EE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072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488F42E-BD41-A74D-9B38-7DE9A1515A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168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6059DCA-077A-5B4C-9EC4-7023949350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264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DFFD9CD-C72A-2242-A63E-D5D3112C4F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016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0FD9F24-EDEA-DD48-9293-26F981A7F4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112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BB91245-9DE1-7748-8296-01E977BF0C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208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F0F3064-B8D7-344D-AC17-FCE44D509C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304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9ECF097-1F63-1447-A332-D1B04E2B64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496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A469B6A-D3A4-9944-8741-5D31EC8F24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592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5611C2A3-D58A-F54B-8B5B-3F76401506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688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7835EDE-8CD7-1D4B-B94C-16FBC0395C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2784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B684A50A-08F4-C742-A749-AA1AEA712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456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A782F65-0DC0-BE48-BF0E-7AC1D841BC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552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0CD7A96B-C874-2745-8FE4-480DC5AF58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648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FB105E4-7002-A642-B51B-6ABB6F5F74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0" y="3744"/>
              <a:ext cx="1440" cy="48"/>
            </a:xfrm>
            <a:prstGeom prst="rect">
              <a:avLst/>
            </a:prstGeom>
            <a:solidFill>
              <a:schemeClr val="accent1"/>
            </a:solidFill>
            <a:ln w="1905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6" name="Line 26">
              <a:extLst>
                <a:ext uri="{FF2B5EF4-FFF2-40B4-BE49-F238E27FC236}">
                  <a16:creationId xmlns:a16="http://schemas.microsoft.com/office/drawing/2014/main" id="{B92C82E7-CF77-5240-8F0D-A014082D85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2912"/>
              <a:ext cx="24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27">
              <a:extLst>
                <a:ext uri="{FF2B5EF4-FFF2-40B4-BE49-F238E27FC236}">
                  <a16:creationId xmlns:a16="http://schemas.microsoft.com/office/drawing/2014/main" id="{52C9A841-2F56-ED48-9865-DBF625BCB3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44" y="2912"/>
              <a:ext cx="24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355198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DBMS Query Processing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Fundamental Query Processing Operators &amp; Algorithms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Assumptions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Hashing-based Operators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Algorithms Using Indices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3897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71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7837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Selection Using Index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46000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Equality predicate: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Use an ISAM, B</a:t>
                </a:r>
                <a:r>
                  <a:rPr lang="en-US" sz="2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-tree, or hash index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𝐴</m:t>
                        </m:r>
                      </m:e>
                    </m:d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Range predicate: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&gt;</m:t>
                        </m:r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chemeClr val="accent2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Use an </a:t>
                </a:r>
                <a:r>
                  <a:rPr lang="en-US" sz="2200" dirty="0">
                    <a:solidFill>
                      <a:schemeClr val="accent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ordered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index (e.g., ISAM or B</a:t>
                </a:r>
                <a:r>
                  <a:rPr lang="en-US" sz="2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-tree)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r>
                      <a:rPr lang="en-US" sz="2200" i="1" dirty="0">
                        <a:latin typeface="Cambria Math"/>
                      </a:rPr>
                      <m:t>(</m:t>
                    </m:r>
                    <m:r>
                      <a:rPr lang="en-US" sz="2200" i="1" dirty="0">
                        <a:latin typeface="Cambria Math"/>
                      </a:rPr>
                      <m:t>𝐴</m:t>
                    </m:r>
                    <m:r>
                      <a:rPr lang="en-US" sz="2200" i="1" dirty="0">
                        <a:latin typeface="Cambria Math"/>
                      </a:rPr>
                      <m:t>)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Hash index is not applicable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Indexes other than those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r>
                      <a:rPr lang="en-US" sz="2200" i="1" dirty="0">
                        <a:latin typeface="Cambria Math"/>
                      </a:rPr>
                      <m:t>(</m:t>
                    </m:r>
                    <m:r>
                      <a:rPr lang="en-US" sz="2200" i="1" dirty="0">
                        <a:latin typeface="Cambria Math"/>
                      </a:rPr>
                      <m:t>𝐴</m:t>
                    </m:r>
                    <m:r>
                      <a:rPr lang="en-US" sz="2200" i="1" dirty="0">
                        <a:latin typeface="Cambria Math"/>
                      </a:rPr>
                      <m:t>)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may be useful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B</a:t>
                </a:r>
                <a:r>
                  <a:rPr lang="en-US" sz="2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-tree index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𝐴</m:t>
                        </m:r>
                        <m:r>
                          <a:rPr lang="en-US" sz="2200" i="1" dirty="0">
                            <a:latin typeface="Cambria Math"/>
                          </a:rPr>
                          <m:t>,</m:t>
                        </m:r>
                        <m:r>
                          <a:rPr lang="en-US" sz="2200" i="1" dirty="0">
                            <a:latin typeface="Cambria Math"/>
                          </a:rPr>
                          <m:t>𝐵</m:t>
                        </m:r>
                      </m:e>
                    </m:d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How about B</a:t>
                </a:r>
                <a:r>
                  <a:rPr lang="en-US" sz="2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-tree index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𝐵</m:t>
                        </m:r>
                        <m:r>
                          <a:rPr lang="en-US" sz="2200" i="1" dirty="0">
                            <a:latin typeface="Cambria Math"/>
                          </a:rPr>
                          <m:t>, </m:t>
                        </m:r>
                        <m:r>
                          <a:rPr lang="en-US" sz="2200" i="1" dirty="0">
                            <a:latin typeface="Cambria Math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Not useful because A values will be scattered.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4600042"/>
              </a:xfrm>
              <a:prstGeom prst="rect">
                <a:avLst/>
              </a:prstGeom>
              <a:blipFill>
                <a:blip r:embed="rId4"/>
                <a:stretch>
                  <a:fillRect l="-700" b="-1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51932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72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7837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Index vs Table Scan (1)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3584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Situations where index clearly is the better choice: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Index-only equality queries on a unique column (e.g., primary key)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where A is a unique column and has an index.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Index guarantees 1 I/O. Table scan can lead up to B(R) I/</a:t>
                </a:r>
                <a:r>
                  <a:rPr lang="en-US" sz="2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Index-only range queries on clustered indices: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guarantee that only the blocks that contain answers are read (aside from blocks of the index)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3584379"/>
              </a:xfrm>
              <a:prstGeom prst="rect">
                <a:avLst/>
              </a:prstGeom>
              <a:blipFill>
                <a:blip r:embed="rId4"/>
                <a:stretch>
                  <a:fillRect l="-700" b="-2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539912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73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7837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Index vs Table Scan (2)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439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BUT(!): Consider</a:t>
                </a:r>
                <a:r>
                  <a:rPr lang="en-US" sz="21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&gt;</m:t>
                        </m:r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d>
                      <m:dPr>
                        <m:ctrlPr>
                          <a:rPr lang="en-US" sz="21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a secondary, non-clustered index on </a:t>
                </a:r>
                <a14:m>
                  <m:oMath xmlns:m="http://schemas.openxmlformats.org/officeDocument/2006/math"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(</m:t>
                    </m:r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𝐴</m:t>
                    </m:r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)</m:t>
                    </m:r>
                  </m:oMath>
                </a14:m>
                <a:endParaRPr lang="en-US" sz="2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Need to follow pointers to get the actual result tuples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Say that 20% of </a:t>
                </a:r>
                <a14:m>
                  <m:oMath xmlns:m="http://schemas.openxmlformats.org/officeDocument/2006/math"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satisfies </a:t>
                </a:r>
                <a14:m>
                  <m:oMath xmlns:m="http://schemas.openxmlformats.org/officeDocument/2006/math"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𝐴</m:t>
                    </m:r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&gt;</m:t>
                    </m:r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𝑣</m:t>
                    </m:r>
                  </m:oMath>
                </a14:m>
                <a:endParaRPr lang="en-US" sz="2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Could happen even for equality predicates</a:t>
                </a:r>
                <a:endParaRPr lang="en-US" sz="21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Back-of-the-envelope calculation: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I/O’s for table scan: </a:t>
                </a:r>
                <a14:m>
                  <m:oMath xmlns:m="http://schemas.openxmlformats.org/officeDocument/2006/math">
                    <m:r>
                      <a:rPr lang="en-US" sz="2100" i="1" dirty="0">
                        <a:solidFill>
                          <a:schemeClr val="tx1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1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I/O’s for index scan up to: lookup + 20%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1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(assume no cache hits)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Table scan is faster if a block contains more than 5 tuples!</a:t>
                </a:r>
              </a:p>
              <a:p>
                <a:pPr lvl="2">
                  <a:lnSpc>
                    <a:spcPct val="150000"/>
                  </a:lnSpc>
                </a:pPr>
                <a:r>
                  <a:rPr lang="en-US" sz="2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B(R) = |R|/5 &lt; 20%|R|+lookup</a:t>
                </a:r>
                <a:endParaRPr lang="en-US" sz="21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4395178"/>
              </a:xfrm>
              <a:prstGeom prst="rect">
                <a:avLst/>
              </a:prstGeom>
              <a:blipFill>
                <a:blip r:embed="rId4"/>
                <a:stretch>
                  <a:fillRect l="-700" b="-1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973511F-0A40-3946-B41B-CC168FC0D5C9}"/>
              </a:ext>
            </a:extLst>
          </p:cNvPr>
          <p:cNvSpPr/>
          <p:nvPr/>
        </p:nvSpPr>
        <p:spPr>
          <a:xfrm>
            <a:off x="16078" y="5417175"/>
            <a:ext cx="9144000" cy="10019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100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Systems should not do this to be safe. Table scan might be slow but its slowness is bounded by B(R) and not a function of 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24319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74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7837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Index Nested-loop Join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4955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C00000"/>
                          </a:solidFill>
                          <a:latin typeface="Cambria Math"/>
                        </a:rPr>
                        <m:t>𝑅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⋈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𝑅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=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𝑆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Idea: use a value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𝑅</m:t>
                    </m:r>
                    <m:r>
                      <a:rPr lang="en-US" sz="2400" i="1" dirty="0">
                        <a:latin typeface="Cambria Math"/>
                      </a:rPr>
                      <m:t>.</m:t>
                    </m:r>
                    <m:r>
                      <a:rPr lang="en-US" sz="2400" i="1" dirty="0">
                        <a:latin typeface="Cambria Math"/>
                      </a:rPr>
                      <m:t>𝐴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probe the index on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𝑆</m:t>
                    </m:r>
                    <m:r>
                      <a:rPr lang="en-CA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sz="24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CA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for each block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and for each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𝑟</m:t>
                    </m:r>
                  </m:oMath>
                </a14:m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in the block:</a:t>
                </a:r>
                <a:b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use the index on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to retrieve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𝑠</m:t>
                    </m:r>
                  </m:oMath>
                </a14:m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𝑠</m:t>
                    </m:r>
                    <m:r>
                      <a:rPr lang="en-US" sz="2000" i="1" dirty="0">
                        <a:latin typeface="Cambria Math"/>
                      </a:rPr>
                      <m:t>.</m:t>
                    </m:r>
                    <m:r>
                      <a:rPr lang="en-US" sz="2000" i="1" dirty="0">
                        <a:latin typeface="Cambria Math"/>
                      </a:rPr>
                      <m:t>𝐵</m:t>
                    </m:r>
                    <m:r>
                      <a:rPr lang="en-US" sz="2000" i="1" dirty="0">
                        <a:latin typeface="Cambria Math"/>
                      </a:rPr>
                      <m:t>=</m:t>
                    </m:r>
                    <m:r>
                      <a:rPr lang="en-US" sz="2000" i="1" dirty="0" err="1">
                        <a:latin typeface="Cambria Math"/>
                      </a:rPr>
                      <m:t>𝑟</m:t>
                    </m:r>
                    <m:r>
                      <a:rPr lang="en-US" sz="2000" i="1" dirty="0" err="1">
                        <a:latin typeface="Cambria Math"/>
                      </a:rPr>
                      <m:t>.</m:t>
                    </m:r>
                    <m:r>
                      <a:rPr lang="en-US" sz="2000" i="1" dirty="0" err="1">
                        <a:latin typeface="Cambria Math"/>
                      </a:rPr>
                      <m:t>𝐴</m:t>
                    </m:r>
                  </m:oMath>
                </a14:m>
                <a:b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</a:b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output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𝑟𝑠</m:t>
                    </m:r>
                  </m:oMath>
                </a14:m>
                <a:endParaRPr lang="en-US" sz="2400" i="1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I/O’s: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C00000"/>
                        </a:solidFill>
                        <a:latin typeface="Cambria Math"/>
                      </a:rPr>
                      <m:t>𝐵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/>
                      </a:rPr>
                      <m:t>⋅</m:t>
                    </m:r>
                    <m:d>
                      <m:d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C00000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index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C00000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rgbClr val="C00000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lookup</m:t>
                        </m:r>
                      </m:e>
                    </m:d>
                  </m:oMath>
                </a14:m>
                <a:endParaRPr lang="en-US" sz="2400" dirty="0">
                  <a:solidFill>
                    <a:schemeClr val="tx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buFont typeface="Wingdings" pitchFamily="2" charset="2"/>
                  <a:buChar char="Ø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Let’s assume the cost of an index lookup is 2-4 I/O’s (depends on the index tree height if B+ tree)</a:t>
                </a:r>
              </a:p>
              <a:p>
                <a:pPr marL="800100" lvl="1" indent="-342900">
                  <a:buFont typeface="Wingdings" pitchFamily="2" charset="2"/>
                  <a:buChar char="Ø"/>
                </a:pPr>
                <a:r>
                  <a:rPr lang="en-US" sz="20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Key takeaway 1: Can be faster than hash/sort-merge join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rgbClr val="C00000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small</a:t>
                </a:r>
              </a:p>
              <a:p>
                <a:pPr marL="800100" lvl="1" indent="-342900">
                  <a:buFont typeface="Wingdings" pitchFamily="2" charset="2"/>
                  <a:buChar char="Ø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Key takeaway 2: Better pick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be the smaller relation</a:t>
                </a:r>
              </a:p>
              <a:p>
                <a:pPr lvl="1"/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buFont typeface="Wingdings" pitchFamily="2" charset="2"/>
                  <a:buChar char="Ø"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Memory requirement: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(extra memory can be used to cache index, e.g. root of B+ tree).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4955203"/>
              </a:xfrm>
              <a:prstGeom prst="rect">
                <a:avLst/>
              </a:prstGeom>
              <a:blipFill>
                <a:blip r:embed="rId4"/>
                <a:stretch>
                  <a:fillRect l="-1120" b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958833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75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32B39B-997D-054D-BE36-05F4B074DC8B}"/>
              </a:ext>
            </a:extLst>
          </p:cNvPr>
          <p:cNvSpPr txBox="1"/>
          <p:nvPr/>
        </p:nvSpPr>
        <p:spPr>
          <a:xfrm>
            <a:off x="16079" y="64300"/>
            <a:ext cx="7837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Zig-zag Join Using Ordered Indexes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1305ECC-607D-F94E-BACC-A7637F977255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25687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200" i="1">
                          <a:solidFill>
                            <a:schemeClr val="accent2"/>
                          </a:solidFill>
                          <a:latin typeface="Cambria Math"/>
                        </a:rPr>
                        <m:t>𝑅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⋈</m:t>
                          </m:r>
                        </m:e>
                        <m:sub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𝑅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=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𝑆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𝐵</m:t>
                          </m:r>
                        </m:sub>
                      </m:sSub>
                      <m:r>
                        <a:rPr lang="en-US" sz="2200" i="1">
                          <a:solidFill>
                            <a:schemeClr val="accent2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US" sz="2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Idea: use the ordering provided by the indexes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eliminate the sorting step of sort-merge join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Use the larger key to probe the other index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	Possibly skipping many keys that don’t match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D6B081-057B-8643-8848-DF764627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2568717"/>
              </a:xfrm>
              <a:prstGeom prst="rect">
                <a:avLst/>
              </a:prstGeom>
              <a:blipFill>
                <a:blip r:embed="rId4"/>
                <a:stretch>
                  <a:fillRect l="-700" b="-3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31818812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C99FA5-7995-46A9-A97E-16E38AD589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pSp>
        <p:nvGrpSpPr>
          <p:cNvPr id="5" name="Group 23"/>
          <p:cNvGrpSpPr>
            <a:grpSpLocks/>
          </p:cNvGrpSpPr>
          <p:nvPr/>
        </p:nvGrpSpPr>
        <p:grpSpPr bwMode="auto">
          <a:xfrm>
            <a:off x="1752600" y="4038600"/>
            <a:ext cx="5638800" cy="2590800"/>
            <a:chOff x="1104" y="2544"/>
            <a:chExt cx="3552" cy="16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utoShape 5"/>
                <p:cNvSpPr>
                  <a:spLocks noChangeArrowheads="1"/>
                </p:cNvSpPr>
                <p:nvPr/>
              </p:nvSpPr>
              <p:spPr bwMode="auto">
                <a:xfrm>
                  <a:off x="1104" y="2544"/>
                  <a:ext cx="3552" cy="43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6"/>
                </a:solidFill>
                <a:ln w="254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 wrap="none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ndara" panose="020E0502030303020204"/>
                      <a:ea typeface="+mn-ea"/>
                      <a:cs typeface="+mn-cs"/>
                    </a:rPr>
                    <a:t>B</a:t>
                  </a:r>
                  <a:r>
                    <a:rPr kumimoji="0" lang="en-US" sz="1800" b="0" i="0" u="none" strike="noStrike" kern="1200" cap="none" spc="0" normalizeH="0" baseline="30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ndara" panose="020E0502030303020204"/>
                      <a:ea typeface="+mn-ea"/>
                      <a:cs typeface="+mn-cs"/>
                    </a:rPr>
                    <a:t>+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ndara" panose="020E0502030303020204"/>
                      <a:ea typeface="+mn-ea"/>
                      <a:cs typeface="+mn-cs"/>
                    </a:rPr>
                    <a:t>-tree on </a:t>
                  </a:r>
                  <a14:m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d>
                        <m:dPr>
                          <m:ctrlP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𝐴</m:t>
                          </m:r>
                        </m:e>
                      </m:d>
                    </m:oMath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ndara" panose="020E050203030302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6" name="AutoShap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104" y="2544"/>
                  <a:ext cx="3552" cy="432"/>
                </a:xfrm>
                <a:prstGeom prst="triangle">
                  <a:avLst>
                    <a:gd name="adj" fmla="val 50000"/>
                  </a:avLst>
                </a:prstGeom>
                <a:blipFill rotWithShape="0">
                  <a:blip r:embed="rId5"/>
                  <a:stretch>
                    <a:fillRect b="-13675"/>
                  </a:stretch>
                </a:blipFill>
                <a:ln w="254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  <a:ex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utoShape 6"/>
                <p:cNvSpPr>
                  <a:spLocks noChangeArrowheads="1"/>
                </p:cNvSpPr>
                <p:nvPr/>
              </p:nvSpPr>
              <p:spPr bwMode="auto">
                <a:xfrm flipV="1">
                  <a:off x="1104" y="3744"/>
                  <a:ext cx="3552" cy="43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6"/>
                </a:solidFill>
                <a:ln w="254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</p:spPr>
              <p:txBody>
                <a:bodyPr rot="10800000" wrap="none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ndara" panose="020E0502030303020204"/>
                      <a:ea typeface="+mn-ea"/>
                      <a:cs typeface="+mn-cs"/>
                    </a:rPr>
                    <a:t>B</a:t>
                  </a:r>
                  <a:r>
                    <a:rPr kumimoji="0" lang="en-US" sz="1800" b="0" i="0" u="none" strike="noStrike" kern="1200" cap="none" spc="0" normalizeH="0" baseline="30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ndara" panose="020E0502030303020204"/>
                      <a:ea typeface="+mn-ea"/>
                      <a:cs typeface="+mn-cs"/>
                    </a:rPr>
                    <a:t>+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ndara" panose="020E0502030303020204"/>
                      <a:ea typeface="+mn-ea"/>
                      <a:cs typeface="+mn-cs"/>
                    </a:rPr>
                    <a:t>-tree on </a:t>
                  </a:r>
                  <a14:m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</m:t>
                      </m:r>
                      <m:d>
                        <m:dPr>
                          <m:ctrlP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𝐵</m:t>
                          </m:r>
                        </m:e>
                      </m:d>
                    </m:oMath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ndara" panose="020E050203030302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" name="AutoShape 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 flipV="1">
                  <a:off x="1104" y="3744"/>
                  <a:ext cx="3552" cy="432"/>
                </a:xfrm>
                <a:prstGeom prst="triangle">
                  <a:avLst>
                    <a:gd name="adj" fmla="val 50000"/>
                  </a:avLst>
                </a:prstGeom>
                <a:blipFill rotWithShape="0">
                  <a:blip r:embed="rId6"/>
                  <a:stretch>
                    <a:fillRect t="-4237"/>
                  </a:stretch>
                </a:blipFill>
                <a:ln w="254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:ln>
                <a:ex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644650" y="4729163"/>
            <a:ext cx="59721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1	2	3	4	7	9	18</a:t>
            </a:r>
          </a:p>
        </p:txBody>
      </p:sp>
      <p:sp>
        <p:nvSpPr>
          <p:cNvPr id="9" name="Text Box 8"/>
          <p:cNvSpPr txBox="1">
            <a:spLocks noChangeArrowheads="1"/>
          </p:cNvSpPr>
          <p:nvPr/>
        </p:nvSpPr>
        <p:spPr bwMode="auto">
          <a:xfrm>
            <a:off x="1644650" y="5491163"/>
            <a:ext cx="59721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1	7	9	11	12	17	19</a:t>
            </a:r>
          </a:p>
        </p:txBody>
      </p:sp>
      <p:grpSp>
        <p:nvGrpSpPr>
          <p:cNvPr id="10" name="Group 9"/>
          <p:cNvGrpSpPr>
            <a:grpSpLocks/>
          </p:cNvGrpSpPr>
          <p:nvPr/>
        </p:nvGrpSpPr>
        <p:grpSpPr bwMode="auto">
          <a:xfrm>
            <a:off x="1295400" y="4800600"/>
            <a:ext cx="381000" cy="990600"/>
            <a:chOff x="816" y="3024"/>
            <a:chExt cx="240" cy="624"/>
          </a:xfrm>
          <a:solidFill>
            <a:schemeClr val="accent2"/>
          </a:solidFill>
        </p:grpSpPr>
        <p:sp>
          <p:nvSpPr>
            <p:cNvPr id="11" name="AutoShape 10"/>
            <p:cNvSpPr>
              <a:spLocks noChangeArrowheads="1"/>
            </p:cNvSpPr>
            <p:nvPr/>
          </p:nvSpPr>
          <p:spPr bwMode="auto">
            <a:xfrm>
              <a:off x="816" y="302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grpFill/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  <p:sp>
          <p:nvSpPr>
            <p:cNvPr id="12" name="AutoShape 11"/>
            <p:cNvSpPr>
              <a:spLocks noChangeArrowheads="1"/>
            </p:cNvSpPr>
            <p:nvPr/>
          </p:nvSpPr>
          <p:spPr bwMode="auto">
            <a:xfrm>
              <a:off x="816" y="350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grpFill/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</p:grp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2209800" y="4800600"/>
            <a:ext cx="381000" cy="990600"/>
            <a:chOff x="1392" y="3024"/>
            <a:chExt cx="240" cy="624"/>
          </a:xfrm>
          <a:solidFill>
            <a:schemeClr val="accent2"/>
          </a:solidFill>
        </p:grpSpPr>
        <p:sp>
          <p:nvSpPr>
            <p:cNvPr id="14" name="AutoShape 13"/>
            <p:cNvSpPr>
              <a:spLocks noChangeArrowheads="1"/>
            </p:cNvSpPr>
            <p:nvPr/>
          </p:nvSpPr>
          <p:spPr bwMode="auto">
            <a:xfrm>
              <a:off x="1392" y="350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grpFill/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  <p:sp>
          <p:nvSpPr>
            <p:cNvPr id="15" name="AutoShape 14"/>
            <p:cNvSpPr>
              <a:spLocks noChangeArrowheads="1"/>
            </p:cNvSpPr>
            <p:nvPr/>
          </p:nvSpPr>
          <p:spPr bwMode="auto">
            <a:xfrm>
              <a:off x="1392" y="302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grpFill/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</p:grpSp>
      <p:sp>
        <p:nvSpPr>
          <p:cNvPr id="16" name="AutoShape 15"/>
          <p:cNvSpPr>
            <a:spLocks noChangeArrowheads="1"/>
          </p:cNvSpPr>
          <p:nvPr/>
        </p:nvSpPr>
        <p:spPr bwMode="auto">
          <a:xfrm>
            <a:off x="4953000" y="480060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grpSp>
        <p:nvGrpSpPr>
          <p:cNvPr id="17" name="Group 16"/>
          <p:cNvGrpSpPr>
            <a:grpSpLocks/>
          </p:cNvGrpSpPr>
          <p:nvPr/>
        </p:nvGrpSpPr>
        <p:grpSpPr bwMode="auto">
          <a:xfrm>
            <a:off x="3124200" y="4800600"/>
            <a:ext cx="3124200" cy="990600"/>
            <a:chOff x="1968" y="3024"/>
            <a:chExt cx="1968" cy="624"/>
          </a:xfrm>
        </p:grpSpPr>
        <p:sp>
          <p:nvSpPr>
            <p:cNvPr id="18" name="AutoShape 17"/>
            <p:cNvSpPr>
              <a:spLocks noChangeArrowheads="1"/>
            </p:cNvSpPr>
            <p:nvPr/>
          </p:nvSpPr>
          <p:spPr bwMode="auto">
            <a:xfrm>
              <a:off x="1968" y="350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solidFill>
              <a:schemeClr val="accent2"/>
            </a:solidFill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  <p:sp>
          <p:nvSpPr>
            <p:cNvPr id="19" name="AutoShape 18"/>
            <p:cNvSpPr>
              <a:spLocks noChangeArrowheads="1"/>
            </p:cNvSpPr>
            <p:nvPr/>
          </p:nvSpPr>
          <p:spPr bwMode="auto">
            <a:xfrm>
              <a:off x="3696" y="302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solidFill>
              <a:schemeClr val="accent2"/>
            </a:solidFill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</p:grpSp>
      <p:grpSp>
        <p:nvGrpSpPr>
          <p:cNvPr id="20" name="Group 19"/>
          <p:cNvGrpSpPr>
            <a:grpSpLocks/>
          </p:cNvGrpSpPr>
          <p:nvPr/>
        </p:nvGrpSpPr>
        <p:grpSpPr bwMode="auto">
          <a:xfrm>
            <a:off x="4038600" y="4800600"/>
            <a:ext cx="3124200" cy="990600"/>
            <a:chOff x="2544" y="3024"/>
            <a:chExt cx="1968" cy="624"/>
          </a:xfrm>
        </p:grpSpPr>
        <p:sp>
          <p:nvSpPr>
            <p:cNvPr id="21" name="AutoShape 20"/>
            <p:cNvSpPr>
              <a:spLocks noChangeArrowheads="1"/>
            </p:cNvSpPr>
            <p:nvPr/>
          </p:nvSpPr>
          <p:spPr bwMode="auto">
            <a:xfrm>
              <a:off x="4272" y="302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solidFill>
              <a:schemeClr val="accent2"/>
            </a:solidFill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  <p:sp>
          <p:nvSpPr>
            <p:cNvPr id="22" name="AutoShape 21"/>
            <p:cNvSpPr>
              <a:spLocks noChangeArrowheads="1"/>
            </p:cNvSpPr>
            <p:nvPr/>
          </p:nvSpPr>
          <p:spPr bwMode="auto">
            <a:xfrm>
              <a:off x="2544" y="3504"/>
              <a:ext cx="240" cy="144"/>
            </a:xfrm>
            <a:prstGeom prst="rightArrow">
              <a:avLst>
                <a:gd name="adj1" fmla="val 50000"/>
                <a:gd name="adj2" fmla="val 41667"/>
              </a:avLst>
            </a:prstGeom>
            <a:solidFill>
              <a:schemeClr val="accent2"/>
            </a:solidFill>
            <a:ln w="38100">
              <a:noFill/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endParaRPr>
            </a:p>
          </p:txBody>
        </p:sp>
      </p:grpSp>
      <p:sp>
        <p:nvSpPr>
          <p:cNvPr id="23" name="AutoShape 22"/>
          <p:cNvSpPr>
            <a:spLocks noChangeArrowheads="1"/>
          </p:cNvSpPr>
          <p:nvPr/>
        </p:nvSpPr>
        <p:spPr bwMode="auto">
          <a:xfrm>
            <a:off x="6781800" y="5562600"/>
            <a:ext cx="381000" cy="228600"/>
          </a:xfrm>
          <a:prstGeom prst="rightArrow">
            <a:avLst>
              <a:gd name="adj1" fmla="val 50000"/>
              <a:gd name="adj2" fmla="val 41667"/>
            </a:avLst>
          </a:prstGeom>
          <a:solidFill>
            <a:schemeClr val="accent2"/>
          </a:solidFill>
          <a:ln w="38100">
            <a:noFill/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FA9A16-5935-AE46-A58D-C668C8BC22DB}"/>
              </a:ext>
            </a:extLst>
          </p:cNvPr>
          <p:cNvSpPr txBox="1"/>
          <p:nvPr/>
        </p:nvSpPr>
        <p:spPr>
          <a:xfrm>
            <a:off x="16079" y="64300"/>
            <a:ext cx="78376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Zig-zag Join Using Ordered Indexes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41751C-5064-764E-B585-2E9271CF8D12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081875A-9097-084E-BE83-2DBF1644EF49}"/>
                  </a:ext>
                </a:extLst>
              </p:cNvPr>
              <p:cNvSpPr txBox="1"/>
              <p:nvPr/>
            </p:nvSpPr>
            <p:spPr>
              <a:xfrm>
                <a:off x="0" y="867859"/>
                <a:ext cx="9060548" cy="25687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200" i="1">
                          <a:solidFill>
                            <a:schemeClr val="accent2"/>
                          </a:solidFill>
                          <a:latin typeface="Cambria Math"/>
                        </a:rPr>
                        <m:t>𝑅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⋈</m:t>
                          </m:r>
                        </m:e>
                        <m:sub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𝑅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=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𝑆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.</m:t>
                          </m:r>
                          <m:r>
                            <a:rPr lang="en-US" sz="2200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𝐵</m:t>
                          </m:r>
                        </m:sub>
                      </m:sSub>
                      <m:r>
                        <a:rPr lang="en-US" sz="2200" i="1">
                          <a:solidFill>
                            <a:schemeClr val="accent2"/>
                          </a:solidFill>
                          <a:latin typeface="Cambria Math"/>
                        </a:rPr>
                        <m:t>𝑆</m:t>
                      </m:r>
                    </m:oMath>
                  </m:oMathPara>
                </a14:m>
                <a:endParaRPr lang="en-US" sz="2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Idea: use the ordering provided by the indexes on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eliminate the sorting step of sort-merge join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Use the larger key to probe the other index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	Possibly skipping many keys that don’t match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081875A-9097-084E-BE83-2DBF1644E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67859"/>
                <a:ext cx="9060548" cy="2568717"/>
              </a:xfrm>
              <a:prstGeom prst="rect">
                <a:avLst/>
              </a:prstGeom>
              <a:blipFill>
                <a:blip r:embed="rId7"/>
                <a:stretch>
                  <a:fillRect l="-700" b="-3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0193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Note on Role of (I/O) Costs Of Operators For Picking Physical Plans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1264629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1385395"/>
            <a:ext cx="9144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Some systems use estimated I/O costs of core ops to pick how to translate logical to physical plans, i.e., logical-physical plan translation is a cost-based optimization: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77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574F85-9E21-EB4C-A230-38059B6C6BAE}"/>
              </a:ext>
            </a:extLst>
          </p:cNvPr>
          <p:cNvCxnSpPr>
            <a:cxnSpLocks/>
          </p:cNvCxnSpPr>
          <p:nvPr/>
        </p:nvCxnSpPr>
        <p:spPr>
          <a:xfrm flipH="1" flipV="1">
            <a:off x="5469230" y="4411782"/>
            <a:ext cx="788695" cy="54044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1AABF426-25AE-A44A-A4EA-6A6B73D09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700" y="3959177"/>
            <a:ext cx="2841938" cy="2579735"/>
          </a:xfrm>
          <a:prstGeom prst="rect">
            <a:avLst/>
          </a:prstGeom>
        </p:spPr>
      </p:pic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2C17FC54-DC04-0243-B65D-7ADB81486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194" y="3123245"/>
            <a:ext cx="2543190" cy="2298063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B7AB5ED6-8052-B848-B837-23EA04C83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324" y="3959177"/>
            <a:ext cx="2840696" cy="257860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0611DE-E928-5648-A2A3-8FCA53B2096F}"/>
              </a:ext>
            </a:extLst>
          </p:cNvPr>
          <p:cNvCxnSpPr>
            <a:cxnSpLocks/>
          </p:cNvCxnSpPr>
          <p:nvPr/>
        </p:nvCxnSpPr>
        <p:spPr>
          <a:xfrm flipV="1">
            <a:off x="2822688" y="4411782"/>
            <a:ext cx="813153" cy="61223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1499A85-CCD6-C54E-84A0-1B9A6C19778D}"/>
              </a:ext>
            </a:extLst>
          </p:cNvPr>
          <p:cNvSpPr txBox="1"/>
          <p:nvPr/>
        </p:nvSpPr>
        <p:spPr>
          <a:xfrm>
            <a:off x="3415987" y="2669818"/>
            <a:ext cx="2247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03CD65-4B75-6845-847F-0D60FCDEA1BC}"/>
              </a:ext>
            </a:extLst>
          </p:cNvPr>
          <p:cNvSpPr txBox="1"/>
          <p:nvPr/>
        </p:nvSpPr>
        <p:spPr>
          <a:xfrm>
            <a:off x="575291" y="3277741"/>
            <a:ext cx="22473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Physical Plan 1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(cost = C1)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55C907-5716-894A-A9D0-A590FEAC2676}"/>
              </a:ext>
            </a:extLst>
          </p:cNvPr>
          <p:cNvSpPr txBox="1"/>
          <p:nvPr/>
        </p:nvSpPr>
        <p:spPr>
          <a:xfrm>
            <a:off x="6398259" y="3277741"/>
            <a:ext cx="22473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Physical Plan 2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(cost = C2)</a:t>
            </a:r>
          </a:p>
        </p:txBody>
      </p:sp>
    </p:spTree>
    <p:extLst>
      <p:ext uri="{BB962C8B-B14F-4D97-AF65-F5344CB8AC3E}">
        <p14:creationId xmlns:p14="http://schemas.microsoft.com/office/powerpoint/2010/main" val="3709525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  <p:bldP spid="13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Note on Role of (I/O) Costs Of Operators For Picking Physical Plans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1264629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1385395"/>
            <a:ext cx="914400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Some systems use estimated I/O costs of core ops to pick how to translate logical to physical plans, i.e., logical-physical plan translation is a cost-based optimization: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Enumerate different physical plan translations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Estimate the cost of each physical plan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Pick the minimum cost estimated plan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Next lecture on cost-based optimization at logical plan picking level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Others pick physical operators in a rule-based manner, so the I/O costs are there to determine these rules.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Always make scans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IndexScans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if possible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All equality joins should be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HashJoins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except if the tables are already sorted, in which case use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SortMerge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Join.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All other types of joins should be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NesteLoopJoins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etc.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65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|14.7|9.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3.6|15.3|12.4|14|13.6|12.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0|5|28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9.1|19|12.3|18.7|10|2.7|13.5|8.5|3|3.9|4.3|2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1.3|4.4|8.7|4.9|1.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5.2|10|2.1|10.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4|11.2|10.5|1.7|6.3|9.5|1.5|0.9|0.7|2.6|1.3|3.8|16.6|36.5|15.4|2.7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7.2|1.8|17.7|22.9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24.5|21.9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4.7|1.7|13.9|31.9|11.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6.3|7.8|10.1|10.8|10.8|16.7|6.2|6.4|6.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5|17.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.9|20.6|2|19.7|7.3|9.6|1.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40983</TotalTime>
  <Words>7381</Words>
  <Application>Microsoft Macintosh PowerPoint</Application>
  <PresentationFormat>On-screen Show (4:3)</PresentationFormat>
  <Paragraphs>1463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78</vt:i4>
      </vt:variant>
    </vt:vector>
  </HeadingPairs>
  <TitlesOfParts>
    <vt:vector size="86" baseType="lpstr">
      <vt:lpstr>Arial</vt:lpstr>
      <vt:lpstr>Calibri</vt:lpstr>
      <vt:lpstr>Cambria Math</vt:lpstr>
      <vt:lpstr>Candara</vt:lpstr>
      <vt:lpstr>Consolas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Semih Salihoglu</dc:creator>
  <cp:lastModifiedBy>Semih Salihoglu</cp:lastModifiedBy>
  <cp:revision>1981</cp:revision>
  <dcterms:created xsi:type="dcterms:W3CDTF">2016-04-06T14:30:24Z</dcterms:created>
  <dcterms:modified xsi:type="dcterms:W3CDTF">2021-11-03T01:25:34Z</dcterms:modified>
</cp:coreProperties>
</file>