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tags/tag1.xml" ContentType="application/vnd.openxmlformats-officedocument.presentationml.tags+xml"/>
  <Override PartName="/ppt/notesSlides/notesSlide45.xml" ContentType="application/vnd.openxmlformats-officedocument.presentationml.notesSlide+xml"/>
  <Override PartName="/ppt/tags/tag2.xml" ContentType="application/vnd.openxmlformats-officedocument.presentationml.tags+xml"/>
  <Override PartName="/ppt/notesSlides/notesSlide46.xml" ContentType="application/vnd.openxmlformats-officedocument.presentationml.notesSlide+xml"/>
  <Override PartName="/ppt/tags/tag3.xml" ContentType="application/vnd.openxmlformats-officedocument.presentationml.tags+xml"/>
  <Override PartName="/ppt/notesSlides/notesSlide47.xml" ContentType="application/vnd.openxmlformats-officedocument.presentationml.notesSlide+xml"/>
  <Override PartName="/ppt/tags/tag4.xml" ContentType="application/vnd.openxmlformats-officedocument.presentationml.tags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51"/>
  </p:notesMasterIdLst>
  <p:sldIdLst>
    <p:sldId id="320" r:id="rId3"/>
    <p:sldId id="401" r:id="rId4"/>
    <p:sldId id="258" r:id="rId5"/>
    <p:sldId id="581" r:id="rId6"/>
    <p:sldId id="582" r:id="rId7"/>
    <p:sldId id="583" r:id="rId8"/>
    <p:sldId id="329" r:id="rId9"/>
    <p:sldId id="584" r:id="rId10"/>
    <p:sldId id="585" r:id="rId11"/>
    <p:sldId id="586" r:id="rId12"/>
    <p:sldId id="587" r:id="rId13"/>
    <p:sldId id="588" r:id="rId14"/>
    <p:sldId id="379" r:id="rId15"/>
    <p:sldId id="380" r:id="rId16"/>
    <p:sldId id="589" r:id="rId17"/>
    <p:sldId id="590" r:id="rId18"/>
    <p:sldId id="591" r:id="rId19"/>
    <p:sldId id="603" r:id="rId20"/>
    <p:sldId id="592" r:id="rId21"/>
    <p:sldId id="594" r:id="rId22"/>
    <p:sldId id="595" r:id="rId23"/>
    <p:sldId id="596" r:id="rId24"/>
    <p:sldId id="597" r:id="rId25"/>
    <p:sldId id="598" r:id="rId26"/>
    <p:sldId id="599" r:id="rId27"/>
    <p:sldId id="600" r:id="rId28"/>
    <p:sldId id="601" r:id="rId29"/>
    <p:sldId id="602" r:id="rId30"/>
    <p:sldId id="604" r:id="rId31"/>
    <p:sldId id="605" r:id="rId32"/>
    <p:sldId id="606" r:id="rId33"/>
    <p:sldId id="607" r:id="rId34"/>
    <p:sldId id="608" r:id="rId35"/>
    <p:sldId id="609" r:id="rId36"/>
    <p:sldId id="610" r:id="rId37"/>
    <p:sldId id="611" r:id="rId38"/>
    <p:sldId id="612" r:id="rId39"/>
    <p:sldId id="614" r:id="rId40"/>
    <p:sldId id="615" r:id="rId41"/>
    <p:sldId id="621" r:id="rId42"/>
    <p:sldId id="616" r:id="rId43"/>
    <p:sldId id="620" r:id="rId44"/>
    <p:sldId id="619" r:id="rId45"/>
    <p:sldId id="618" r:id="rId46"/>
    <p:sldId id="617" r:id="rId47"/>
    <p:sldId id="317" r:id="rId48"/>
    <p:sldId id="318" r:id="rId49"/>
    <p:sldId id="321" r:id="rId5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00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/>
    <p:restoredTop sz="83810" autoAdjust="0"/>
  </p:normalViewPr>
  <p:slideViewPr>
    <p:cSldViewPr snapToGrid="0" snapToObjects="1">
      <p:cViewPr varScale="1">
        <p:scale>
          <a:sx n="106" d="100"/>
          <a:sy n="106" d="100"/>
        </p:scale>
        <p:origin x="133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8" Type="http://schemas.openxmlformats.org/officeDocument/2006/relationships/slide" Target="slides/slide6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E5BFF4-16CE-FF42-8F98-AF276FA50BA1}" type="datetimeFigureOut">
              <a:rPr lang="en-US" smtClean="0"/>
              <a:t>11/16/21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B3E036-A4CB-E845-BE6C-EA1CA9E24F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0047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820545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765200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693050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585713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050703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99878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660385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750282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823801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808247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703997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999992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94078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605003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928567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8234258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1808648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2843937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9103946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2666635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2498039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0576532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2303163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3418756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4230372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2034750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6520662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0220097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8962475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0138258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1304962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5538347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7720410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4991172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8253688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0885608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8615333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I’m not a big fan of repeatable read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3741961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I’m not a big fan of repeatable read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2870271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I’m not a big fan of repeatable read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5868355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I’m not a big fan of repeatable read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7939071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I’m not a big fan of repeatable read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4422892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I’m not a big fan of repeatable read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9246480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I’m not a big fan of repeatable read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224555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B470F9-3B63-4A29-A4D2-E4DBA5B3258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629516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B470F9-3B63-4A29-A4D2-E4DBA5B3258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698844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B470F9-3B63-4A29-A4D2-E4DBA5B3258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9685066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B470F9-3B63-4A29-A4D2-E4DBA5B3258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253760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6A743-70A3-BB43-8075-433ED5A57AC5}" type="datetimeFigureOut">
              <a:rPr lang="en-US" smtClean="0"/>
              <a:t>11/16/21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B8E4-41A5-2D47-BA37-EFABE5CAB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018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6A743-70A3-BB43-8075-433ED5A57AC5}" type="datetimeFigureOut">
              <a:rPr lang="en-US" smtClean="0"/>
              <a:t>11/16/21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B8E4-41A5-2D47-BA37-EFABE5CAB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5436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6A743-70A3-BB43-8075-433ED5A57AC5}" type="datetimeFigureOut">
              <a:rPr lang="en-US" smtClean="0"/>
              <a:t>11/16/21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B8E4-41A5-2D47-BA37-EFABE5CAB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650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6A743-70A3-BB43-8075-433ED5A57AC5}" type="datetimeFigureOut">
              <a:rPr lang="en-US" smtClean="0"/>
              <a:t>11/16/21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B8E4-41A5-2D47-BA37-EFABE5CAB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8396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6A743-70A3-BB43-8075-433ED5A57AC5}" type="datetimeFigureOut">
              <a:rPr lang="en-US" smtClean="0"/>
              <a:t>11/16/21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B8E4-41A5-2D47-BA37-EFABE5CAB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530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6A743-70A3-BB43-8075-433ED5A57AC5}" type="datetimeFigureOut">
              <a:rPr lang="en-US" smtClean="0"/>
              <a:t>11/16/21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B8E4-41A5-2D47-BA37-EFABE5CAB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205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6A743-70A3-BB43-8075-433ED5A57AC5}" type="datetimeFigureOut">
              <a:rPr lang="en-US" smtClean="0"/>
              <a:t>11/16/21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B8E4-41A5-2D47-BA37-EFABE5CAB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1722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6A743-70A3-BB43-8075-433ED5A57AC5}" type="datetimeFigureOut">
              <a:rPr lang="en-US" smtClean="0"/>
              <a:t>11/16/21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B8E4-41A5-2D47-BA37-EFABE5CAB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167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6A743-70A3-BB43-8075-433ED5A57AC5}" type="datetimeFigureOut">
              <a:rPr lang="en-US" smtClean="0"/>
              <a:t>11/16/21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B8E4-41A5-2D47-BA37-EFABE5CAB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454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6A743-70A3-BB43-8075-433ED5A57AC5}" type="datetimeFigureOut">
              <a:rPr lang="en-US" smtClean="0"/>
              <a:t>11/16/21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B8E4-41A5-2D47-BA37-EFABE5CAB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76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6A743-70A3-BB43-8075-433ED5A57AC5}" type="datetimeFigureOut">
              <a:rPr lang="en-US" smtClean="0"/>
              <a:t>11/16/21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B8E4-41A5-2D47-BA37-EFABE5CAB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5731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F85E7-7033-4BD1-A625-C36166465D72}" type="datetime1">
              <a:rPr lang="en-US" smtClean="0"/>
              <a:t>11/16/21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7630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336" y="162161"/>
            <a:ext cx="8801664" cy="118016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336" y="1456854"/>
            <a:ext cx="8173014" cy="526462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68C2A-DC08-4D71-B5BC-A571B022E25E}" type="datetime1">
              <a:rPr lang="en-US" smtClean="0"/>
              <a:t>11/16/21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86600" y="6470884"/>
            <a:ext cx="2057400" cy="365125"/>
          </a:xfrm>
        </p:spPr>
        <p:txBody>
          <a:bodyPr/>
          <a:lstStyle/>
          <a:p>
            <a:fld id="{44C99FA5-7995-46A9-A97E-16E38AD5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1157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9DCD6-3D10-40FA-A88B-E0AD5136A360}" type="datetime1">
              <a:rPr lang="en-US" smtClean="0"/>
              <a:t>11/16/21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5775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D43D1-D08D-4D7D-B4AB-E82156BEAC2C}" type="datetime1">
              <a:rPr lang="en-US" smtClean="0"/>
              <a:t>11/16/21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8362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8F3BF-3FC2-4600-9976-243D0786F5BB}" type="datetime1">
              <a:rPr lang="en-US" smtClean="0"/>
              <a:t>11/16/21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9005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E7219-C430-46CE-85B9-30B4F0CA56AD}" type="datetime1">
              <a:rPr lang="en-US" smtClean="0"/>
              <a:t>11/16/21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91249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6457F-C273-4FC9-8FE1-6D874FEF83EF}" type="datetime1">
              <a:rPr lang="en-US" smtClean="0"/>
              <a:t>11/16/21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9287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3ADF5-D710-4EBB-AA69-2A818CDF92E1}" type="datetime1">
              <a:rPr lang="en-US" smtClean="0"/>
              <a:t>11/16/21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9596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7EE3B-FC30-46DA-98F7-BE80A4010F5D}" type="datetime1">
              <a:rPr lang="en-US" smtClean="0"/>
              <a:t>11/16/21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24864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61231-A0A7-4403-8B90-83ED4F249362}" type="datetime1">
              <a:rPr lang="en-US" smtClean="0"/>
              <a:t>11/16/21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84212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661F2-D403-4BA1-A95E-62DE29B59CB4}" type="datetime1">
              <a:rPr lang="en-US" smtClean="0"/>
              <a:t>11/16/21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261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A6A743-70A3-BB43-8075-433ED5A57AC5}" type="datetimeFigureOut">
              <a:rPr lang="en-US" smtClean="0"/>
              <a:t>11/16/21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ACB8E4-41A5-2D47-BA37-EFABE5CAB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522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D7D50E-B569-40DB-B6B5-FEED8173E279}" type="datetime1">
              <a:rPr lang="en-US" smtClean="0"/>
              <a:t>11/16/21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C99FA5-7995-46A9-A97E-16E38AD5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871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5.svg"/><Relationship Id="rId20" Type="http://schemas.openxmlformats.org/officeDocument/2006/relationships/image" Target="../media/image19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svg"/><Relationship Id="rId19" Type="http://schemas.openxmlformats.org/officeDocument/2006/relationships/image" Target="../media/image18.png"/><Relationship Id="rId4" Type="http://schemas.openxmlformats.org/officeDocument/2006/relationships/image" Target="../media/image3.sv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11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0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11.sv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sv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13" Type="http://schemas.openxmlformats.org/officeDocument/2006/relationships/image" Target="../media/image6.png"/><Relationship Id="rId3" Type="http://schemas.openxmlformats.org/officeDocument/2006/relationships/image" Target="../media/image4.png"/><Relationship Id="rId7" Type="http://schemas.openxmlformats.org/officeDocument/2006/relationships/image" Target="../media/image14.png"/><Relationship Id="rId12" Type="http://schemas.openxmlformats.org/officeDocument/2006/relationships/image" Target="../media/image19.svg"/><Relationship Id="rId2" Type="http://schemas.openxmlformats.org/officeDocument/2006/relationships/notesSlide" Target="../notesSlides/notesSlide20.xml"/><Relationship Id="rId16" Type="http://schemas.openxmlformats.org/officeDocument/2006/relationships/image" Target="../media/image1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svg"/><Relationship Id="rId11" Type="http://schemas.openxmlformats.org/officeDocument/2006/relationships/image" Target="../media/image18.png"/><Relationship Id="rId5" Type="http://schemas.openxmlformats.org/officeDocument/2006/relationships/image" Target="../media/image8.png"/><Relationship Id="rId15" Type="http://schemas.openxmlformats.org/officeDocument/2006/relationships/image" Target="../media/image10.png"/><Relationship Id="rId10" Type="http://schemas.openxmlformats.org/officeDocument/2006/relationships/image" Target="../media/image17.svg"/><Relationship Id="rId4" Type="http://schemas.openxmlformats.org/officeDocument/2006/relationships/image" Target="../media/image5.svg"/><Relationship Id="rId9" Type="http://schemas.openxmlformats.org/officeDocument/2006/relationships/image" Target="../media/image16.png"/><Relationship Id="rId14" Type="http://schemas.openxmlformats.org/officeDocument/2006/relationships/image" Target="../media/image7.sv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sv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13" Type="http://schemas.openxmlformats.org/officeDocument/2006/relationships/image" Target="../media/image6.png"/><Relationship Id="rId3" Type="http://schemas.openxmlformats.org/officeDocument/2006/relationships/image" Target="../media/image4.png"/><Relationship Id="rId7" Type="http://schemas.openxmlformats.org/officeDocument/2006/relationships/image" Target="../media/image14.png"/><Relationship Id="rId12" Type="http://schemas.openxmlformats.org/officeDocument/2006/relationships/image" Target="../media/image19.svg"/><Relationship Id="rId2" Type="http://schemas.openxmlformats.org/officeDocument/2006/relationships/notesSlide" Target="../notesSlides/notesSlide28.xml"/><Relationship Id="rId16" Type="http://schemas.openxmlformats.org/officeDocument/2006/relationships/image" Target="../media/image1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svg"/><Relationship Id="rId11" Type="http://schemas.openxmlformats.org/officeDocument/2006/relationships/image" Target="../media/image18.png"/><Relationship Id="rId5" Type="http://schemas.openxmlformats.org/officeDocument/2006/relationships/image" Target="../media/image8.png"/><Relationship Id="rId15" Type="http://schemas.openxmlformats.org/officeDocument/2006/relationships/image" Target="../media/image10.png"/><Relationship Id="rId10" Type="http://schemas.openxmlformats.org/officeDocument/2006/relationships/image" Target="../media/image17.svg"/><Relationship Id="rId4" Type="http://schemas.openxmlformats.org/officeDocument/2006/relationships/image" Target="../media/image5.svg"/><Relationship Id="rId9" Type="http://schemas.openxmlformats.org/officeDocument/2006/relationships/image" Target="../media/image16.png"/><Relationship Id="rId14" Type="http://schemas.openxmlformats.org/officeDocument/2006/relationships/image" Target="../media/image7.sv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13" Type="http://schemas.openxmlformats.org/officeDocument/2006/relationships/image" Target="../media/image6.png"/><Relationship Id="rId3" Type="http://schemas.openxmlformats.org/officeDocument/2006/relationships/image" Target="../media/image4.png"/><Relationship Id="rId7" Type="http://schemas.openxmlformats.org/officeDocument/2006/relationships/image" Target="../media/image14.png"/><Relationship Id="rId12" Type="http://schemas.openxmlformats.org/officeDocument/2006/relationships/image" Target="../media/image19.svg"/><Relationship Id="rId2" Type="http://schemas.openxmlformats.org/officeDocument/2006/relationships/notesSlide" Target="../notesSlides/notesSlide30.xml"/><Relationship Id="rId16" Type="http://schemas.openxmlformats.org/officeDocument/2006/relationships/image" Target="../media/image1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svg"/><Relationship Id="rId11" Type="http://schemas.openxmlformats.org/officeDocument/2006/relationships/image" Target="../media/image18.png"/><Relationship Id="rId5" Type="http://schemas.openxmlformats.org/officeDocument/2006/relationships/image" Target="../media/image8.png"/><Relationship Id="rId15" Type="http://schemas.openxmlformats.org/officeDocument/2006/relationships/image" Target="../media/image10.png"/><Relationship Id="rId10" Type="http://schemas.openxmlformats.org/officeDocument/2006/relationships/image" Target="../media/image17.svg"/><Relationship Id="rId4" Type="http://schemas.openxmlformats.org/officeDocument/2006/relationships/image" Target="../media/image5.svg"/><Relationship Id="rId9" Type="http://schemas.openxmlformats.org/officeDocument/2006/relationships/image" Target="../media/image16.png"/><Relationship Id="rId14" Type="http://schemas.openxmlformats.org/officeDocument/2006/relationships/image" Target="../media/image7.sv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13" Type="http://schemas.openxmlformats.org/officeDocument/2006/relationships/image" Target="../media/image6.png"/><Relationship Id="rId3" Type="http://schemas.openxmlformats.org/officeDocument/2006/relationships/image" Target="../media/image4.png"/><Relationship Id="rId7" Type="http://schemas.openxmlformats.org/officeDocument/2006/relationships/image" Target="../media/image14.png"/><Relationship Id="rId12" Type="http://schemas.openxmlformats.org/officeDocument/2006/relationships/image" Target="../media/image19.svg"/><Relationship Id="rId2" Type="http://schemas.openxmlformats.org/officeDocument/2006/relationships/notesSlide" Target="../notesSlides/notesSlide32.xml"/><Relationship Id="rId16" Type="http://schemas.openxmlformats.org/officeDocument/2006/relationships/image" Target="../media/image1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svg"/><Relationship Id="rId11" Type="http://schemas.openxmlformats.org/officeDocument/2006/relationships/image" Target="../media/image18.png"/><Relationship Id="rId5" Type="http://schemas.openxmlformats.org/officeDocument/2006/relationships/image" Target="../media/image8.png"/><Relationship Id="rId15" Type="http://schemas.openxmlformats.org/officeDocument/2006/relationships/image" Target="../media/image10.png"/><Relationship Id="rId10" Type="http://schemas.openxmlformats.org/officeDocument/2006/relationships/image" Target="../media/image17.svg"/><Relationship Id="rId4" Type="http://schemas.openxmlformats.org/officeDocument/2006/relationships/image" Target="../media/image5.svg"/><Relationship Id="rId9" Type="http://schemas.openxmlformats.org/officeDocument/2006/relationships/image" Target="../media/image16.png"/><Relationship Id="rId14" Type="http://schemas.openxmlformats.org/officeDocument/2006/relationships/image" Target="../media/image7.sv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6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7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8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4943" y="4068781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713303"/>
            <a:ext cx="9144001" cy="16949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700" kern="0" dirty="0">
                <a:latin typeface="Arial" panose="020B0604020202020204" pitchFamily="34" charset="0"/>
                <a:cs typeface="Arial" panose="020B0604020202020204" pitchFamily="34" charset="0"/>
              </a:rPr>
              <a:t>CS 348 Lecture 17</a:t>
            </a:r>
          </a:p>
          <a:p>
            <a:pPr algn="ctr">
              <a:lnSpc>
                <a:spcPct val="150000"/>
              </a:lnSpc>
            </a:pPr>
            <a:r>
              <a:rPr lang="en-US" sz="3700" kern="0" dirty="0">
                <a:latin typeface="Arial" panose="020B0604020202020204" pitchFamily="34" charset="0"/>
                <a:cs typeface="Arial" panose="020B0604020202020204" pitchFamily="34" charset="0"/>
              </a:rPr>
              <a:t>Transactions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277" y="2551191"/>
            <a:ext cx="7716204" cy="14487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 defTabSz="914400">
              <a:lnSpc>
                <a:spcPct val="150000"/>
              </a:lnSpc>
              <a:spcAft>
                <a:spcPts val="300"/>
              </a:spcAft>
            </a:pPr>
            <a:r>
              <a:rPr lang="en-US" sz="30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Semih </a:t>
            </a:r>
            <a:r>
              <a:rPr lang="en-US" sz="30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Salihoğlu</a:t>
            </a:r>
            <a:endParaRPr lang="en-US" sz="3000" kern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ctr" defTabSz="914400">
              <a:lnSpc>
                <a:spcPct val="150000"/>
              </a:lnSpc>
              <a:spcAft>
                <a:spcPts val="300"/>
              </a:spcAft>
            </a:pPr>
            <a:r>
              <a:rPr lang="en-US" sz="30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Nov 16,</a:t>
            </a:r>
            <a:r>
              <a:rPr lang="en-US" sz="3000" kern="0" baseline="30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C13EC-677E-384F-B278-2939878C589F}" type="slidenum">
              <a:rPr lang="en-US" smtClean="0"/>
              <a:t>1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3ACA9E7-4B07-304C-A86C-AE26580E18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679" y="4395915"/>
            <a:ext cx="6800643" cy="925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9617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xmlns:p14="http://schemas.microsoft.com/office/powerpoint/2010/main" spd="slow"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/>
          <p:cNvSpPr txBox="1"/>
          <p:nvPr/>
        </p:nvSpPr>
        <p:spPr>
          <a:xfrm>
            <a:off x="8925" y="93523"/>
            <a:ext cx="78788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Announcements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8925" y="807197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A1F7A96B-031C-8D48-8710-7302C726A66B}"/>
              </a:ext>
            </a:extLst>
          </p:cNvPr>
          <p:cNvSpPr txBox="1"/>
          <p:nvPr/>
        </p:nvSpPr>
        <p:spPr>
          <a:xfrm>
            <a:off x="83452" y="773927"/>
            <a:ext cx="9060548" cy="1131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A4 due on Nov 19</a:t>
            </a:r>
            <a:r>
              <a:rPr lang="en-US" sz="2400" baseline="30000" dirty="0"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midnight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A5 will be released on Nov 19</a:t>
            </a:r>
            <a:r>
              <a:rPr lang="en-US" sz="2400" baseline="30000" dirty="0"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1164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716691" y="1137154"/>
            <a:ext cx="8007179" cy="2877155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16691" y="4087284"/>
            <a:ext cx="3990463" cy="1777367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491339" y="1210129"/>
            <a:ext cx="55369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latin typeface="Chalkboard"/>
                <a:cs typeface="Chalkboard"/>
              </a:rPr>
              <a:t>User/Administrator Perspective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5657" y="4122965"/>
            <a:ext cx="35471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latin typeface="Chalkboard"/>
                <a:cs typeface="Chalkboard"/>
              </a:rPr>
              <a:t>DBMS Architect/Implementer Perspective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929" y="1579461"/>
            <a:ext cx="377439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3726" algn="ctr"/>
            <a:r>
              <a:rPr lang="en-US" dirty="0">
                <a:solidFill>
                  <a:srgbClr val="FF0000"/>
                </a:solidFill>
                <a:latin typeface="Chalkboard"/>
                <a:cs typeface="Chalkboard"/>
              </a:rPr>
              <a:t>Primary Database Management System Features</a:t>
            </a:r>
            <a:endParaRPr lang="en-US" dirty="0"/>
          </a:p>
          <a:p>
            <a:pPr marL="285750" indent="-192024">
              <a:buFont typeface="Arial"/>
              <a:buChar char="•"/>
            </a:pPr>
            <a:r>
              <a:rPr lang="en-US" dirty="0"/>
              <a:t>Data Model: Relational Model</a:t>
            </a:r>
          </a:p>
          <a:p>
            <a:pPr marL="285750" indent="-192024">
              <a:buFont typeface="Arial"/>
              <a:buChar char="•"/>
            </a:pPr>
            <a:r>
              <a:rPr lang="en-US" dirty="0"/>
              <a:t>High Level Query Language: Relational Algebra &amp; SQL</a:t>
            </a:r>
          </a:p>
          <a:p>
            <a:pPr marL="285750" indent="-192024">
              <a:buFont typeface="Arial"/>
              <a:buChar char="•"/>
            </a:pPr>
            <a:r>
              <a:rPr lang="en-US" dirty="0"/>
              <a:t>Integrity Constraints</a:t>
            </a:r>
          </a:p>
          <a:p>
            <a:pPr marL="285750" indent="-192024">
              <a:buFont typeface="Arial"/>
              <a:buChar char="•"/>
            </a:pPr>
            <a:r>
              <a:rPr lang="en-US" dirty="0"/>
              <a:t>Indexes/Views</a:t>
            </a:r>
          </a:p>
          <a:p>
            <a:pPr marL="285750" indent="-192024">
              <a:buFont typeface="Arial"/>
              <a:buChar char="•"/>
            </a:pPr>
            <a:r>
              <a:rPr lang="en-US" dirty="0"/>
              <a:t>Transactions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180" y="4638050"/>
            <a:ext cx="39169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192024">
              <a:buFont typeface="Arial"/>
              <a:buChar char="•"/>
            </a:pPr>
            <a:r>
              <a:rPr lang="en-US" dirty="0"/>
              <a:t>Physical Record Design</a:t>
            </a:r>
          </a:p>
          <a:p>
            <a:pPr marL="285750" indent="-192024">
              <a:buFont typeface="Arial"/>
              <a:buChar char="•"/>
            </a:pPr>
            <a:r>
              <a:rPr lang="en-US" dirty="0"/>
              <a:t>Query Planning and Optimization</a:t>
            </a:r>
          </a:p>
          <a:p>
            <a:pPr marL="285750" indent="-192024">
              <a:buFont typeface="Arial"/>
              <a:buChar char="•"/>
            </a:pPr>
            <a:r>
              <a:rPr lang="en-US" dirty="0"/>
              <a:t>Indexes</a:t>
            </a:r>
          </a:p>
          <a:p>
            <a:pPr marL="285750" indent="-192024">
              <a:buFont typeface="Arial"/>
              <a:buChar char="•"/>
            </a:pPr>
            <a:r>
              <a:rPr lang="en-US" dirty="0"/>
              <a:t>Transactions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01157" y="4079018"/>
            <a:ext cx="3725004" cy="1474095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4940417" y="4101391"/>
            <a:ext cx="3147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halkboard"/>
                <a:cs typeface="Chalkboard"/>
              </a:rPr>
              <a:t>Other (Last 1/2 Lectures)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39077" y="4414571"/>
            <a:ext cx="36741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192024">
              <a:buFont typeface="Arial"/>
              <a:buChar char="•"/>
            </a:pPr>
            <a:r>
              <a:rPr lang="en-US" dirty="0"/>
              <a:t>Graph DBMSs</a:t>
            </a:r>
          </a:p>
          <a:p>
            <a:pPr marL="285750" indent="-192024">
              <a:buFont typeface="Arial"/>
              <a:buChar char="•"/>
            </a:pPr>
            <a:r>
              <a:rPr lang="en-US" dirty="0"/>
              <a:t>MapReduce: Distributed Data Processing Systems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25" y="93523"/>
            <a:ext cx="78788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CS 348 Diagram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8925" y="807197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06C098F-ABA0-EE4A-9035-553F708C2449}"/>
              </a:ext>
            </a:extLst>
          </p:cNvPr>
          <p:cNvSpPr txBox="1"/>
          <p:nvPr/>
        </p:nvSpPr>
        <p:spPr>
          <a:xfrm>
            <a:off x="4618323" y="1592745"/>
            <a:ext cx="37743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3726" algn="ctr"/>
            <a:r>
              <a:rPr lang="en-US" dirty="0">
                <a:solidFill>
                  <a:srgbClr val="FF0000"/>
                </a:solidFill>
                <a:latin typeface="Chalkboard"/>
                <a:cs typeface="Chalkboard"/>
              </a:rPr>
              <a:t>Relational Database Design</a:t>
            </a:r>
            <a:endParaRPr lang="en-US" dirty="0"/>
          </a:p>
          <a:p>
            <a:pPr marL="285750" indent="-192024">
              <a:buFont typeface="Arial"/>
              <a:buChar char="•"/>
            </a:pPr>
            <a:r>
              <a:rPr lang="en-US" dirty="0"/>
              <a:t>E/R Models</a:t>
            </a:r>
          </a:p>
          <a:p>
            <a:pPr marL="285750" indent="-192024">
              <a:buFont typeface="Arial"/>
              <a:buChar char="•"/>
            </a:pPr>
            <a:r>
              <a:rPr lang="en-US" dirty="0"/>
              <a:t>Normal Forms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557804-943E-4144-8C4C-1CEA51607891}"/>
              </a:ext>
            </a:extLst>
          </p:cNvPr>
          <p:cNvSpPr txBox="1"/>
          <p:nvPr/>
        </p:nvSpPr>
        <p:spPr>
          <a:xfrm>
            <a:off x="4261751" y="2928263"/>
            <a:ext cx="44180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3726" algn="ctr"/>
            <a:r>
              <a:rPr lang="en-US" dirty="0">
                <a:solidFill>
                  <a:srgbClr val="FF0000"/>
                </a:solidFill>
                <a:latin typeface="Chalkboard"/>
                <a:cs typeface="Chalkboard"/>
              </a:rPr>
              <a:t>How To Program A DBMS (0.5-1 lecture)</a:t>
            </a:r>
            <a:endParaRPr lang="en-US" dirty="0"/>
          </a:p>
          <a:p>
            <a:pPr marL="285750" indent="-192024">
              <a:buFont typeface="Arial"/>
              <a:buChar char="•"/>
            </a:pPr>
            <a:r>
              <a:rPr lang="en-US" dirty="0"/>
              <a:t>Embedded vs Dynamic SQL</a:t>
            </a:r>
          </a:p>
          <a:p>
            <a:pPr marL="285750" indent="-192024">
              <a:buFont typeface="Arial"/>
              <a:buChar char="•"/>
            </a:pPr>
            <a:r>
              <a:rPr lang="en-US" dirty="0"/>
              <a:t>Frameworks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B81C197F-51EC-AA48-9552-46171120C222}"/>
              </a:ext>
            </a:extLst>
          </p:cNvPr>
          <p:cNvSpPr/>
          <p:nvPr/>
        </p:nvSpPr>
        <p:spPr>
          <a:xfrm>
            <a:off x="895657" y="3537922"/>
            <a:ext cx="1699263" cy="338386"/>
          </a:xfrm>
          <a:prstGeom prst="roundRect">
            <a:avLst/>
          </a:prstGeom>
          <a:noFill/>
          <a:ln w="349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A73EC0D8-8790-6C47-8A00-B1E3BBAD63A5}"/>
              </a:ext>
            </a:extLst>
          </p:cNvPr>
          <p:cNvSpPr/>
          <p:nvPr/>
        </p:nvSpPr>
        <p:spPr>
          <a:xfrm>
            <a:off x="895658" y="5516041"/>
            <a:ext cx="1699262" cy="305489"/>
          </a:xfrm>
          <a:prstGeom prst="roundRect">
            <a:avLst/>
          </a:prstGeom>
          <a:noFill/>
          <a:ln w="349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8629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Outline For Today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3452" y="773927"/>
            <a:ext cx="9060548" cy="39018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Motivation For Transactions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ACID Properties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Different Levels of Isolation Beyond Serializability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Serializability: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Execution Histories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Conflict Equivalence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Checking For Conflict Equivalence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D4509-1FB2-2540-A246-CEF93BA68631}" type="slidenum">
              <a:rPr lang="en-US" smtClean="0"/>
              <a:t>4</a:t>
            </a:fld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717EAA1-F60E-1041-BF12-94370D258D39}"/>
              </a:ext>
            </a:extLst>
          </p:cNvPr>
          <p:cNvSpPr/>
          <p:nvPr/>
        </p:nvSpPr>
        <p:spPr>
          <a:xfrm>
            <a:off x="83452" y="952821"/>
            <a:ext cx="8562204" cy="1456746"/>
          </a:xfrm>
          <a:prstGeom prst="roundRect">
            <a:avLst/>
          </a:prstGeom>
          <a:noFill/>
          <a:ln w="349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0F82D8A-2C56-8C42-8CAE-A1A9CD66B632}"/>
              </a:ext>
            </a:extLst>
          </p:cNvPr>
          <p:cNvSpPr/>
          <p:nvPr/>
        </p:nvSpPr>
        <p:spPr>
          <a:xfrm>
            <a:off x="83452" y="2588460"/>
            <a:ext cx="8603348" cy="2102373"/>
          </a:xfrm>
          <a:prstGeom prst="roundRect">
            <a:avLst/>
          </a:prstGeom>
          <a:noFill/>
          <a:ln w="349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DCA9A4-94AC-074F-A82F-C4D592B3B98F}"/>
              </a:ext>
            </a:extLst>
          </p:cNvPr>
          <p:cNvSpPr txBox="1"/>
          <p:nvPr/>
        </p:nvSpPr>
        <p:spPr>
          <a:xfrm>
            <a:off x="6553200" y="986184"/>
            <a:ext cx="2030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User’s Perspective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7D5421-0B4E-CF40-B2D7-B8AB5D044D9E}"/>
              </a:ext>
            </a:extLst>
          </p:cNvPr>
          <p:cNvSpPr txBox="1"/>
          <p:nvPr/>
        </p:nvSpPr>
        <p:spPr>
          <a:xfrm>
            <a:off x="6231879" y="2611823"/>
            <a:ext cx="24549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System’s Perspective</a:t>
            </a:r>
          </a:p>
          <a:p>
            <a:pPr algn="ctr"/>
            <a:r>
              <a:rPr lang="en-US" dirty="0"/>
              <a:t>(and more next 2 lectures)</a:t>
            </a:r>
          </a:p>
        </p:txBody>
      </p:sp>
    </p:spTree>
    <p:extLst>
      <p:ext uri="{BB962C8B-B14F-4D97-AF65-F5344CB8AC3E}">
        <p14:creationId xmlns:p14="http://schemas.microsoft.com/office/powerpoint/2010/main" val="527104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4" grpId="0"/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/>
          <p:cNvSpPr txBox="1"/>
          <p:nvPr/>
        </p:nvSpPr>
        <p:spPr>
          <a:xfrm>
            <a:off x="8925" y="93523"/>
            <a:ext cx="78788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Motivation For Transactions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8925" y="807197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478C6E16-13FA-DF4B-A0C5-DC0962C1E633}"/>
              </a:ext>
            </a:extLst>
          </p:cNvPr>
          <p:cNvSpPr txBox="1"/>
          <p:nvPr/>
        </p:nvSpPr>
        <p:spPr>
          <a:xfrm>
            <a:off x="83452" y="773927"/>
            <a:ext cx="9060548" cy="28777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Transactions: one or more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dbms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operations that appear as a unit 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Select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…;</a:t>
            </a:r>
          </a:p>
          <a:p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Insert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…;</a:t>
            </a:r>
          </a:p>
          <a:p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Update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Customer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Set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GoldMember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True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WHERE CID IN (SELECT … );</a:t>
            </a:r>
          </a:p>
          <a:p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Delete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…;</a:t>
            </a:r>
          </a:p>
          <a:p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9094D55B-23E2-F246-92A8-06C7F2E9B7B2}"/>
              </a:ext>
            </a:extLst>
          </p:cNvPr>
          <p:cNvCxnSpPr>
            <a:cxnSpLocks/>
            <a:stCxn id="32" idx="1"/>
          </p:cNvCxnSpPr>
          <p:nvPr/>
        </p:nvCxnSpPr>
        <p:spPr>
          <a:xfrm flipH="1" flipV="1">
            <a:off x="2310714" y="1773644"/>
            <a:ext cx="2607276" cy="3172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1273784-5722-C94A-8D3D-9429EDFD1B34}"/>
              </a:ext>
            </a:extLst>
          </p:cNvPr>
          <p:cNvCxnSpPr>
            <a:cxnSpLocks/>
            <a:stCxn id="32" idx="1"/>
          </p:cNvCxnSpPr>
          <p:nvPr/>
        </p:nvCxnSpPr>
        <p:spPr>
          <a:xfrm flipH="1" flipV="1">
            <a:off x="2310714" y="1959414"/>
            <a:ext cx="2607276" cy="13150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ECE435B-978E-A74D-A8B3-35BBF27C8558}"/>
              </a:ext>
            </a:extLst>
          </p:cNvPr>
          <p:cNvCxnSpPr>
            <a:cxnSpLocks/>
            <a:stCxn id="32" idx="1"/>
          </p:cNvCxnSpPr>
          <p:nvPr/>
        </p:nvCxnSpPr>
        <p:spPr>
          <a:xfrm flipH="1">
            <a:off x="3719384" y="2090919"/>
            <a:ext cx="1198606" cy="3344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BAA83D8-9C89-C341-8B46-B4EC17D1A963}"/>
              </a:ext>
            </a:extLst>
          </p:cNvPr>
          <p:cNvCxnSpPr>
            <a:cxnSpLocks/>
            <a:stCxn id="32" idx="1"/>
          </p:cNvCxnSpPr>
          <p:nvPr/>
        </p:nvCxnSpPr>
        <p:spPr>
          <a:xfrm flipH="1">
            <a:off x="3145148" y="2090919"/>
            <a:ext cx="1772842" cy="9141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64844B7D-1BE3-AD47-9492-E7B7F7A9E020}"/>
              </a:ext>
            </a:extLst>
          </p:cNvPr>
          <p:cNvSpPr txBox="1"/>
          <p:nvPr/>
        </p:nvSpPr>
        <p:spPr>
          <a:xfrm>
            <a:off x="4917990" y="1490754"/>
            <a:ext cx="41024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Each can succeed or fail independently </a:t>
            </a:r>
          </a:p>
          <a:p>
            <a:r>
              <a:rPr lang="en-US" dirty="0"/>
              <a:t>(</a:t>
            </a:r>
            <a:r>
              <a:rPr lang="en-US" dirty="0" err="1"/>
              <a:t>e.g</a:t>
            </a:r>
            <a:r>
              <a:rPr lang="en-US" dirty="0"/>
              <a:t>, if the insert succeeds and inserts 10 tuples, but update fails, those 10 records will be persisted in the </a:t>
            </a:r>
            <a:r>
              <a:rPr lang="en-US" dirty="0" err="1"/>
              <a:t>db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056275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/>
          <p:cNvSpPr txBox="1"/>
          <p:nvPr/>
        </p:nvSpPr>
        <p:spPr>
          <a:xfrm>
            <a:off x="8925" y="93523"/>
            <a:ext cx="78788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Motivation For Transactions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8925" y="807197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478C6E16-13FA-DF4B-A0C5-DC0962C1E633}"/>
              </a:ext>
            </a:extLst>
          </p:cNvPr>
          <p:cNvSpPr txBox="1"/>
          <p:nvPr/>
        </p:nvSpPr>
        <p:spPr>
          <a:xfrm>
            <a:off x="83452" y="773927"/>
            <a:ext cx="9060548" cy="5292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Transactions: one or more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dbms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operations that appear as a unit </a:t>
            </a:r>
          </a:p>
          <a:p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Begin </a:t>
            </a:r>
            <a:r>
              <a:rPr lang="en-US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Trx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Select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…;</a:t>
            </a:r>
          </a:p>
          <a:p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Insert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…;</a:t>
            </a:r>
          </a:p>
          <a:p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Update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Customer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Set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GoldMember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True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WHERE CID IN (SELECT … );</a:t>
            </a:r>
          </a:p>
          <a:p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Delete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…;</a:t>
            </a:r>
          </a:p>
          <a:p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Commit;</a:t>
            </a:r>
            <a:endParaRPr lang="en-US" sz="22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As such, transactions are the solution to: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200" dirty="0">
                <a:solidFill>
                  <a:srgbClr val="99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Resilience to system failures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solidFill>
                  <a:srgbClr val="99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Independently, they are also the solution to:</a:t>
            </a:r>
          </a:p>
          <a:p>
            <a:pPr lvl="1">
              <a:lnSpc>
                <a:spcPct val="150000"/>
              </a:lnSpc>
            </a:pPr>
            <a:r>
              <a:rPr lang="en-US" sz="2200" dirty="0">
                <a:solidFill>
                  <a:srgbClr val="99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Safe </a:t>
            </a:r>
            <a:r>
              <a:rPr lang="en-US" sz="2200" dirty="0">
                <a:solidFill>
                  <a:srgbClr val="99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concurrent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>
                <a:solidFill>
                  <a:srgbClr val="99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access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to the DBMS (Isolation)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2268FD14-459E-6C4D-9B7A-B69E92634F59}"/>
              </a:ext>
            </a:extLst>
          </p:cNvPr>
          <p:cNvSpPr/>
          <p:nvPr/>
        </p:nvSpPr>
        <p:spPr>
          <a:xfrm>
            <a:off x="83451" y="1214366"/>
            <a:ext cx="3228160" cy="2406154"/>
          </a:xfrm>
          <a:prstGeom prst="roundRect">
            <a:avLst/>
          </a:prstGeom>
          <a:noFill/>
          <a:ln w="349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BAA83D8-9C89-C341-8B46-B4EC17D1A963}"/>
              </a:ext>
            </a:extLst>
          </p:cNvPr>
          <p:cNvCxnSpPr>
            <a:cxnSpLocks/>
            <a:stCxn id="32" idx="1"/>
            <a:endCxn id="25" idx="3"/>
          </p:cNvCxnSpPr>
          <p:nvPr/>
        </p:nvCxnSpPr>
        <p:spPr>
          <a:xfrm flipH="1" flipV="1">
            <a:off x="3311611" y="2417443"/>
            <a:ext cx="840644" cy="1330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64844B7D-1BE3-AD47-9492-E7B7F7A9E020}"/>
              </a:ext>
            </a:extLst>
          </p:cNvPr>
          <p:cNvSpPr txBox="1"/>
          <p:nvPr/>
        </p:nvSpPr>
        <p:spPr>
          <a:xfrm>
            <a:off x="4152255" y="1811821"/>
            <a:ext cx="48187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All of the operations is 1 unit of work. </a:t>
            </a:r>
          </a:p>
          <a:p>
            <a:r>
              <a:rPr lang="en-US" dirty="0"/>
              <a:t>So they fail or succeed together. </a:t>
            </a:r>
          </a:p>
          <a:p>
            <a:r>
              <a:rPr lang="en-US" dirty="0"/>
              <a:t>E.g., if update fails now, it is as if none of the operations in the </a:t>
            </a:r>
            <a:r>
              <a:rPr lang="en-US" dirty="0" err="1"/>
              <a:t>trx</a:t>
            </a:r>
            <a:r>
              <a:rPr lang="en-US" dirty="0"/>
              <a:t> executed, so the 10 tuples will not  be persistent.</a:t>
            </a:r>
          </a:p>
        </p:txBody>
      </p:sp>
    </p:spTree>
    <p:extLst>
      <p:ext uri="{BB962C8B-B14F-4D97-AF65-F5344CB8AC3E}">
        <p14:creationId xmlns:p14="http://schemas.microsoft.com/office/powerpoint/2010/main" val="414447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91279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Concurrent Access to the DBMS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3452" y="773927"/>
            <a:ext cx="9060548" cy="577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997408" y="6428575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7</a:t>
            </a:fld>
            <a:endParaRPr lang="en-US"/>
          </a:p>
        </p:txBody>
      </p:sp>
      <p:pic>
        <p:nvPicPr>
          <p:cNvPr id="16" name="Graphic 15" descr="Server outline">
            <a:extLst>
              <a:ext uri="{FF2B5EF4-FFF2-40B4-BE49-F238E27FC236}">
                <a16:creationId xmlns:a16="http://schemas.microsoft.com/office/drawing/2014/main" id="{4D4E4DBA-BA96-AA4E-9B68-CA66B53B00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05893" y="3632488"/>
            <a:ext cx="777240" cy="777240"/>
          </a:xfrm>
          <a:prstGeom prst="rect">
            <a:avLst/>
          </a:prstGeom>
        </p:spPr>
      </p:pic>
      <p:pic>
        <p:nvPicPr>
          <p:cNvPr id="19" name="Graphic 18" descr="Server outline">
            <a:extLst>
              <a:ext uri="{FF2B5EF4-FFF2-40B4-BE49-F238E27FC236}">
                <a16:creationId xmlns:a16="http://schemas.microsoft.com/office/drawing/2014/main" id="{11CDA1BE-B461-4D4D-B3DE-8B9A70BC2B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41762" y="3660350"/>
            <a:ext cx="777240" cy="777240"/>
          </a:xfrm>
          <a:prstGeom prst="rect">
            <a:avLst/>
          </a:prstGeom>
        </p:spPr>
      </p:pic>
      <p:pic>
        <p:nvPicPr>
          <p:cNvPr id="31" name="Graphic 30" descr="Server outline">
            <a:extLst>
              <a:ext uri="{FF2B5EF4-FFF2-40B4-BE49-F238E27FC236}">
                <a16:creationId xmlns:a16="http://schemas.microsoft.com/office/drawing/2014/main" id="{3DAB3D00-F85B-D64D-8EC6-B006F03282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24999" y="3632488"/>
            <a:ext cx="777240" cy="777240"/>
          </a:xfrm>
          <a:prstGeom prst="rect">
            <a:avLst/>
          </a:prstGeom>
        </p:spPr>
      </p:pic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E9C5A079-912F-2146-9755-1AC82BD70B4C}"/>
              </a:ext>
            </a:extLst>
          </p:cNvPr>
          <p:cNvCxnSpPr>
            <a:cxnSpLocks/>
            <a:stCxn id="16" idx="2"/>
            <a:endCxn id="13" idx="1"/>
          </p:cNvCxnSpPr>
          <p:nvPr/>
        </p:nvCxnSpPr>
        <p:spPr>
          <a:xfrm>
            <a:off x="2594513" y="4409728"/>
            <a:ext cx="2134394" cy="41325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685EF95C-9D36-1A48-9310-DD284AEA299E}"/>
              </a:ext>
            </a:extLst>
          </p:cNvPr>
          <p:cNvCxnSpPr>
            <a:cxnSpLocks/>
            <a:stCxn id="19" idx="2"/>
            <a:endCxn id="13" idx="1"/>
          </p:cNvCxnSpPr>
          <p:nvPr/>
        </p:nvCxnSpPr>
        <p:spPr>
          <a:xfrm>
            <a:off x="3630382" y="4437590"/>
            <a:ext cx="1098525" cy="38539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0939A27E-1555-6248-B249-692779C08BAC}"/>
              </a:ext>
            </a:extLst>
          </p:cNvPr>
          <p:cNvCxnSpPr>
            <a:cxnSpLocks/>
            <a:stCxn id="31" idx="2"/>
            <a:endCxn id="13" idx="1"/>
          </p:cNvCxnSpPr>
          <p:nvPr/>
        </p:nvCxnSpPr>
        <p:spPr>
          <a:xfrm flipH="1">
            <a:off x="4728907" y="4409728"/>
            <a:ext cx="784712" cy="41325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1" name="Group 80">
            <a:extLst>
              <a:ext uri="{FF2B5EF4-FFF2-40B4-BE49-F238E27FC236}">
                <a16:creationId xmlns:a16="http://schemas.microsoft.com/office/drawing/2014/main" id="{AA6E4DCB-0667-404B-881B-9142596308D0}"/>
              </a:ext>
            </a:extLst>
          </p:cNvPr>
          <p:cNvGrpSpPr/>
          <p:nvPr/>
        </p:nvGrpSpPr>
        <p:grpSpPr>
          <a:xfrm>
            <a:off x="1331907" y="1848747"/>
            <a:ext cx="2703368" cy="1506730"/>
            <a:chOff x="520754" y="1848747"/>
            <a:chExt cx="2703368" cy="1506730"/>
          </a:xfrm>
        </p:grpSpPr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A1C24D6F-417D-6940-8480-D4FED059AB62}"/>
                </a:ext>
              </a:extLst>
            </p:cNvPr>
            <p:cNvGrpSpPr/>
            <p:nvPr/>
          </p:nvGrpSpPr>
          <p:grpSpPr>
            <a:xfrm>
              <a:off x="520754" y="2623957"/>
              <a:ext cx="2703368" cy="731520"/>
              <a:chOff x="933708" y="2623957"/>
              <a:chExt cx="2703368" cy="731520"/>
            </a:xfrm>
          </p:grpSpPr>
          <p:pic>
            <p:nvPicPr>
              <p:cNvPr id="4" name="Graphic 3" descr="Smart Phone with solid fill">
                <a:extLst>
                  <a:ext uri="{FF2B5EF4-FFF2-40B4-BE49-F238E27FC236}">
                    <a16:creationId xmlns:a16="http://schemas.microsoft.com/office/drawing/2014/main" id="{215F9B6D-7B78-064D-B469-6A19830218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1427030" y="2623957"/>
                <a:ext cx="731520" cy="731520"/>
              </a:xfrm>
              <a:prstGeom prst="rect">
                <a:avLst/>
              </a:prstGeom>
            </p:spPr>
          </p:pic>
          <p:pic>
            <p:nvPicPr>
              <p:cNvPr id="12" name="Graphic 11" descr="Browser window with solid fill">
                <a:extLst>
                  <a:ext uri="{FF2B5EF4-FFF2-40B4-BE49-F238E27FC236}">
                    <a16:creationId xmlns:a16="http://schemas.microsoft.com/office/drawing/2014/main" id="{E82ABC20-D0D5-FF4F-AF0B-0101F1CF94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2905556" y="2623957"/>
                <a:ext cx="731520" cy="731520"/>
              </a:xfrm>
              <a:prstGeom prst="rect">
                <a:avLst/>
              </a:prstGeom>
            </p:spPr>
          </p:pic>
          <p:pic>
            <p:nvPicPr>
              <p:cNvPr id="22" name="Graphic 21" descr="Male profile with solid fill">
                <a:extLst>
                  <a:ext uri="{FF2B5EF4-FFF2-40B4-BE49-F238E27FC236}">
                    <a16:creationId xmlns:a16="http://schemas.microsoft.com/office/drawing/2014/main" id="{516BCC28-4E92-7646-B3D5-B9AEC62F8B1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933708" y="2623957"/>
                <a:ext cx="731520" cy="731520"/>
              </a:xfrm>
              <a:prstGeom prst="rect">
                <a:avLst/>
              </a:prstGeom>
            </p:spPr>
          </p:pic>
          <p:pic>
            <p:nvPicPr>
              <p:cNvPr id="43" name="Graphic 42" descr="Female Profile with solid fill">
                <a:extLst>
                  <a:ext uri="{FF2B5EF4-FFF2-40B4-BE49-F238E27FC236}">
                    <a16:creationId xmlns:a16="http://schemas.microsoft.com/office/drawing/2014/main" id="{7E0514BB-034B-6E4B-A440-B90EC0FDDC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2174036" y="2623957"/>
                <a:ext cx="731520" cy="731520"/>
              </a:xfrm>
              <a:prstGeom prst="rect">
                <a:avLst/>
              </a:prstGeom>
            </p:spPr>
          </p:pic>
        </p:grp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7C77A655-6A12-B242-AA52-130DAF466D94}"/>
                </a:ext>
              </a:extLst>
            </p:cNvPr>
            <p:cNvSpPr/>
            <p:nvPr/>
          </p:nvSpPr>
          <p:spPr>
            <a:xfrm>
              <a:off x="1042809" y="1848747"/>
              <a:ext cx="1704158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Customers &amp;</a:t>
              </a:r>
            </a:p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End Devices</a:t>
              </a:r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4BC7D8EB-AED6-CC4F-8C1B-4008E5B8D971}"/>
              </a:ext>
            </a:extLst>
          </p:cNvPr>
          <p:cNvGrpSpPr/>
          <p:nvPr/>
        </p:nvGrpSpPr>
        <p:grpSpPr>
          <a:xfrm>
            <a:off x="4131075" y="1863495"/>
            <a:ext cx="2316278" cy="1491982"/>
            <a:chOff x="3398723" y="1863495"/>
            <a:chExt cx="2316278" cy="1491982"/>
          </a:xfrm>
        </p:grpSpPr>
        <p:pic>
          <p:nvPicPr>
            <p:cNvPr id="38" name="Graphic 37" descr="Delivery with solid fill">
              <a:extLst>
                <a:ext uri="{FF2B5EF4-FFF2-40B4-BE49-F238E27FC236}">
                  <a16:creationId xmlns:a16="http://schemas.microsoft.com/office/drawing/2014/main" id="{EA855CFE-18A7-F748-801C-3EDC1BFF3350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4348276" y="2623957"/>
              <a:ext cx="731520" cy="731520"/>
            </a:xfrm>
            <a:prstGeom prst="rect">
              <a:avLst/>
            </a:prstGeom>
          </p:spPr>
        </p:pic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073F40D1-0557-2849-9B5C-96B849CF9AED}"/>
                </a:ext>
              </a:extLst>
            </p:cNvPr>
            <p:cNvSpPr/>
            <p:nvPr/>
          </p:nvSpPr>
          <p:spPr>
            <a:xfrm>
              <a:off x="3398723" y="1863495"/>
              <a:ext cx="2316278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Product</a:t>
              </a:r>
            </a:p>
            <a:p>
              <a:pPr algn="ctr"/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Shipments &amp; Arrivals</a:t>
              </a:r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C64FAAE1-22F3-A74E-84F1-FFE47D5BBBEE}"/>
              </a:ext>
            </a:extLst>
          </p:cNvPr>
          <p:cNvGrpSpPr/>
          <p:nvPr/>
        </p:nvGrpSpPr>
        <p:grpSpPr>
          <a:xfrm>
            <a:off x="6631648" y="1848747"/>
            <a:ext cx="2236057" cy="1506730"/>
            <a:chOff x="6203951" y="1848747"/>
            <a:chExt cx="2236057" cy="1506730"/>
          </a:xfrm>
        </p:grpSpPr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081B79C3-D3A7-3342-83D6-BCA824B5B24F}"/>
                </a:ext>
              </a:extLst>
            </p:cNvPr>
            <p:cNvGrpSpPr/>
            <p:nvPr/>
          </p:nvGrpSpPr>
          <p:grpSpPr>
            <a:xfrm>
              <a:off x="6203951" y="2623957"/>
              <a:ext cx="2236057" cy="731520"/>
              <a:chOff x="6115463" y="2623957"/>
              <a:chExt cx="2236057" cy="731520"/>
            </a:xfrm>
          </p:grpSpPr>
          <p:pic>
            <p:nvPicPr>
              <p:cNvPr id="29" name="Graphic 28" descr="Scatterplot with solid fill">
                <a:extLst>
                  <a:ext uri="{FF2B5EF4-FFF2-40B4-BE49-F238E27FC236}">
                    <a16:creationId xmlns:a16="http://schemas.microsoft.com/office/drawing/2014/main" id="{66F8B0AF-109A-AF4C-8572-70DED319CF8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p:blipFill>
            <p:spPr>
              <a:xfrm>
                <a:off x="6867731" y="2623957"/>
                <a:ext cx="731520" cy="731520"/>
              </a:xfrm>
              <a:prstGeom prst="rect">
                <a:avLst/>
              </a:prstGeom>
            </p:spPr>
          </p:pic>
          <p:pic>
            <p:nvPicPr>
              <p:cNvPr id="34" name="Graphic 33" descr="Gauge outline">
                <a:extLst>
                  <a:ext uri="{FF2B5EF4-FFF2-40B4-BE49-F238E27FC236}">
                    <a16:creationId xmlns:a16="http://schemas.microsoft.com/office/drawing/2014/main" id="{A43E6F9D-0A27-4B43-B74E-3BB169FBF9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p:blipFill>
            <p:spPr>
              <a:xfrm>
                <a:off x="7620000" y="2623957"/>
                <a:ext cx="731520" cy="731520"/>
              </a:xfrm>
              <a:prstGeom prst="rect">
                <a:avLst/>
              </a:prstGeom>
            </p:spPr>
          </p:pic>
          <p:pic>
            <p:nvPicPr>
              <p:cNvPr id="40" name="Graphic 39" descr="Office worker female outline">
                <a:extLst>
                  <a:ext uri="{FF2B5EF4-FFF2-40B4-BE49-F238E27FC236}">
                    <a16:creationId xmlns:a16="http://schemas.microsoft.com/office/drawing/2014/main" id="{E3615978-00CA-7B45-90A4-AFA81F6EED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/>
              </a:stretch>
            </p:blipFill>
            <p:spPr>
              <a:xfrm>
                <a:off x="6115463" y="2623957"/>
                <a:ext cx="731520" cy="731520"/>
              </a:xfrm>
              <a:prstGeom prst="rect">
                <a:avLst/>
              </a:prstGeom>
            </p:spPr>
          </p:pic>
        </p:grp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2DCDBC73-9378-A448-96B6-F0CCF73CCBEB}"/>
                </a:ext>
              </a:extLst>
            </p:cNvPr>
            <p:cNvSpPr/>
            <p:nvPr/>
          </p:nvSpPr>
          <p:spPr>
            <a:xfrm>
              <a:off x="6278270" y="1848747"/>
              <a:ext cx="1803844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Managers &amp; Analytics Apps</a:t>
              </a:r>
            </a:p>
          </p:txBody>
        </p:sp>
      </p:grpSp>
      <p:pic>
        <p:nvPicPr>
          <p:cNvPr id="74" name="Graphic 73" descr="Server outline">
            <a:extLst>
              <a:ext uri="{FF2B5EF4-FFF2-40B4-BE49-F238E27FC236}">
                <a16:creationId xmlns:a16="http://schemas.microsoft.com/office/drawing/2014/main" id="{5E85B0F8-5E7E-9949-B418-19685B5992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50081" y="3632488"/>
            <a:ext cx="777240" cy="777240"/>
          </a:xfrm>
          <a:prstGeom prst="rect">
            <a:avLst/>
          </a:prstGeom>
        </p:spPr>
      </p:pic>
      <p:sp>
        <p:nvSpPr>
          <p:cNvPr id="82" name="Rectangle 81">
            <a:extLst>
              <a:ext uri="{FF2B5EF4-FFF2-40B4-BE49-F238E27FC236}">
                <a16:creationId xmlns:a16="http://schemas.microsoft.com/office/drawing/2014/main" id="{00DBA2CD-FDA1-334D-9675-D5ED0A996E8E}"/>
              </a:ext>
            </a:extLst>
          </p:cNvPr>
          <p:cNvSpPr/>
          <p:nvPr/>
        </p:nvSpPr>
        <p:spPr>
          <a:xfrm>
            <a:off x="203753" y="3660350"/>
            <a:ext cx="170415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App Software/</a:t>
            </a:r>
          </a:p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Servers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6C50EEF1-FAE1-D446-950E-3EF945458364}"/>
              </a:ext>
            </a:extLst>
          </p:cNvPr>
          <p:cNvSpPr/>
          <p:nvPr/>
        </p:nvSpPr>
        <p:spPr>
          <a:xfrm>
            <a:off x="203753" y="4851561"/>
            <a:ext cx="242121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DBMS/Storage Software Server &amp; Device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314B6E6E-F3C0-8E46-B4F4-F5273E94589C}"/>
              </a:ext>
            </a:extLst>
          </p:cNvPr>
          <p:cNvCxnSpPr>
            <a:cxnSpLocks/>
            <a:stCxn id="74" idx="2"/>
            <a:endCxn id="13" idx="1"/>
          </p:cNvCxnSpPr>
          <p:nvPr/>
        </p:nvCxnSpPr>
        <p:spPr>
          <a:xfrm flipH="1">
            <a:off x="4728907" y="4409728"/>
            <a:ext cx="2709794" cy="41325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n 12">
            <a:extLst>
              <a:ext uri="{FF2B5EF4-FFF2-40B4-BE49-F238E27FC236}">
                <a16:creationId xmlns:a16="http://schemas.microsoft.com/office/drawing/2014/main" id="{59B5402B-5DFA-3744-873A-621111C23590}"/>
              </a:ext>
            </a:extLst>
          </p:cNvPr>
          <p:cNvSpPr/>
          <p:nvPr/>
        </p:nvSpPr>
        <p:spPr>
          <a:xfrm>
            <a:off x="3719406" y="4822985"/>
            <a:ext cx="2019002" cy="999504"/>
          </a:xfrm>
          <a:prstGeom prst="can">
            <a:avLst>
              <a:gd name="adj" fmla="val 25000"/>
            </a:avLst>
          </a:prstGeom>
          <a:noFill/>
          <a:ln w="349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2826D630-DEE4-134C-9A7E-ECA989B0B250}"/>
              </a:ext>
            </a:extLst>
          </p:cNvPr>
          <p:cNvCxnSpPr>
            <a:cxnSpLocks/>
          </p:cNvCxnSpPr>
          <p:nvPr/>
        </p:nvCxnSpPr>
        <p:spPr>
          <a:xfrm>
            <a:off x="5513619" y="3383339"/>
            <a:ext cx="0" cy="27701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BCAA34EB-572C-164E-A3C3-F70C233581C8}"/>
              </a:ext>
            </a:extLst>
          </p:cNvPr>
          <p:cNvCxnSpPr>
            <a:cxnSpLocks/>
          </p:cNvCxnSpPr>
          <p:nvPr/>
        </p:nvCxnSpPr>
        <p:spPr>
          <a:xfrm>
            <a:off x="7441339" y="3383339"/>
            <a:ext cx="0" cy="27701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DD154A4-CBAE-CA4C-BA46-2DC6980D2CE0}"/>
              </a:ext>
            </a:extLst>
          </p:cNvPr>
          <p:cNvCxnSpPr>
            <a:cxnSpLocks/>
          </p:cNvCxnSpPr>
          <p:nvPr/>
        </p:nvCxnSpPr>
        <p:spPr>
          <a:xfrm>
            <a:off x="3630382" y="3383339"/>
            <a:ext cx="0" cy="27701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C6FC520A-5B35-7141-80EC-5185873D2D34}"/>
              </a:ext>
            </a:extLst>
          </p:cNvPr>
          <p:cNvCxnSpPr>
            <a:cxnSpLocks/>
          </p:cNvCxnSpPr>
          <p:nvPr/>
        </p:nvCxnSpPr>
        <p:spPr>
          <a:xfrm>
            <a:off x="2594513" y="3383339"/>
            <a:ext cx="0" cy="27701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394239CD-5251-7F4E-8795-9241BB87E204}"/>
              </a:ext>
            </a:extLst>
          </p:cNvPr>
          <p:cNvSpPr txBox="1"/>
          <p:nvPr/>
        </p:nvSpPr>
        <p:spPr>
          <a:xfrm>
            <a:off x="0" y="792411"/>
            <a:ext cx="9144000" cy="577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Ex Application: Order &amp; Inventory Management in E-commerce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420CF967-6FBC-AE4A-BB0F-B5D57BE30A66}"/>
              </a:ext>
            </a:extLst>
          </p:cNvPr>
          <p:cNvCxnSpPr>
            <a:cxnSpLocks/>
          </p:cNvCxnSpPr>
          <p:nvPr/>
        </p:nvCxnSpPr>
        <p:spPr>
          <a:xfrm>
            <a:off x="1158151" y="2046455"/>
            <a:ext cx="53951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C8F54E2-08CE-5D48-864A-2FFE0EDBCD0A}"/>
              </a:ext>
            </a:extLst>
          </p:cNvPr>
          <p:cNvSpPr txBox="1"/>
          <p:nvPr/>
        </p:nvSpPr>
        <p:spPr>
          <a:xfrm>
            <a:off x="59216" y="1656650"/>
            <a:ext cx="12658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SELECT …</a:t>
            </a:r>
          </a:p>
          <a:p>
            <a:r>
              <a:rPr lang="en-US" dirty="0"/>
              <a:t>INSERT …</a:t>
            </a:r>
          </a:p>
          <a:p>
            <a:r>
              <a:rPr lang="en-US" dirty="0"/>
              <a:t>UPDATE …</a:t>
            </a:r>
          </a:p>
          <a:p>
            <a:r>
              <a:rPr lang="en-US" dirty="0"/>
              <a:t>DELETE …</a:t>
            </a:r>
          </a:p>
        </p:txBody>
      </p:sp>
    </p:spTree>
    <p:extLst>
      <p:ext uri="{BB962C8B-B14F-4D97-AF65-F5344CB8AC3E}">
        <p14:creationId xmlns:p14="http://schemas.microsoft.com/office/powerpoint/2010/main" val="174304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/>
      <p:bldP spid="83" grpId="0"/>
      <p:bldP spid="13" grpId="0" animBg="1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91279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Example Problems With Concurrency (1)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3452" y="773927"/>
            <a:ext cx="9060548" cy="577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505121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8</a:t>
            </a:fld>
            <a:endParaRPr lang="en-U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94239CD-5251-7F4E-8795-9241BB87E204}"/>
              </a:ext>
            </a:extLst>
          </p:cNvPr>
          <p:cNvSpPr txBox="1"/>
          <p:nvPr/>
        </p:nvSpPr>
        <p:spPr>
          <a:xfrm>
            <a:off x="0" y="792411"/>
            <a:ext cx="9144000" cy="1045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Read-only queries are simple to execute concurrently.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Ex: Two clients concurrently update the same relation in DBMS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FBB8A0E-C312-6C46-A0EA-C76C0B198967}"/>
              </a:ext>
            </a:extLst>
          </p:cNvPr>
          <p:cNvGrpSpPr/>
          <p:nvPr/>
        </p:nvGrpSpPr>
        <p:grpSpPr>
          <a:xfrm>
            <a:off x="512805" y="1867021"/>
            <a:ext cx="3008870" cy="923330"/>
            <a:chOff x="451022" y="1562952"/>
            <a:chExt cx="8241956" cy="92333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A566D91C-4C0D-5C45-AFA4-E7A5496FF667}"/>
                </a:ext>
              </a:extLst>
            </p:cNvPr>
            <p:cNvSpPr/>
            <p:nvPr/>
          </p:nvSpPr>
          <p:spPr>
            <a:xfrm>
              <a:off x="451022" y="1562952"/>
              <a:ext cx="8241956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UPDATE Order </a:t>
              </a:r>
            </a:p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SET price = price + 5</a:t>
              </a:r>
            </a:p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WHERE </a:t>
              </a:r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oid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 = o1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C1B0A86-2592-1045-AF04-784B15D63C0A}"/>
                </a:ext>
              </a:extLst>
            </p:cNvPr>
            <p:cNvSpPr/>
            <p:nvPr/>
          </p:nvSpPr>
          <p:spPr>
            <a:xfrm>
              <a:off x="451022" y="1562952"/>
              <a:ext cx="8241956" cy="92333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9E91C83C-B408-AC46-BE03-D6B02F0BE0FF}"/>
              </a:ext>
            </a:extLst>
          </p:cNvPr>
          <p:cNvGrpSpPr/>
          <p:nvPr/>
        </p:nvGrpSpPr>
        <p:grpSpPr>
          <a:xfrm>
            <a:off x="5158947" y="1872118"/>
            <a:ext cx="3008870" cy="923330"/>
            <a:chOff x="451022" y="1562952"/>
            <a:chExt cx="8241956" cy="923330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FE16775A-BCAD-6A45-AA5C-0A9BE9459D89}"/>
                </a:ext>
              </a:extLst>
            </p:cNvPr>
            <p:cNvSpPr/>
            <p:nvPr/>
          </p:nvSpPr>
          <p:spPr>
            <a:xfrm>
              <a:off x="451022" y="1562952"/>
              <a:ext cx="8241956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UPDATE Order </a:t>
              </a:r>
            </a:p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SET price = price + 10</a:t>
              </a:r>
            </a:p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WHERE </a:t>
              </a:r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oid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 = o1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EB8E5CCD-B7EE-CD40-A4C9-AEBFB727B06F}"/>
                </a:ext>
              </a:extLst>
            </p:cNvPr>
            <p:cNvSpPr/>
            <p:nvPr/>
          </p:nvSpPr>
          <p:spPr>
            <a:xfrm>
              <a:off x="451022" y="1562952"/>
              <a:ext cx="8241956" cy="92333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dirty="0">
                <a:solidFill>
                  <a:schemeClr val="tx1"/>
                </a:solidFill>
              </a:endParaRPr>
            </a:p>
          </p:txBody>
        </p:sp>
      </p:grpSp>
      <p:graphicFrame>
        <p:nvGraphicFramePr>
          <p:cNvPr id="55" name="Table 21">
            <a:extLst>
              <a:ext uri="{FF2B5EF4-FFF2-40B4-BE49-F238E27FC236}">
                <a16:creationId xmlns:a16="http://schemas.microsoft.com/office/drawing/2014/main" id="{CB87AB4B-68CC-DB4F-88F2-CD58E96755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4952254"/>
              </p:ext>
            </p:extLst>
          </p:nvPr>
        </p:nvGraphicFramePr>
        <p:xfrm>
          <a:off x="2861315" y="2859498"/>
          <a:ext cx="3226309" cy="1112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1968">
                  <a:extLst>
                    <a:ext uri="{9D8B030D-6E8A-4147-A177-3AD203B41FA5}">
                      <a16:colId xmlns:a16="http://schemas.microsoft.com/office/drawing/2014/main" val="1219927245"/>
                    </a:ext>
                  </a:extLst>
                </a:gridCol>
                <a:gridCol w="963930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  <a:gridCol w="1061593">
                  <a:extLst>
                    <a:ext uri="{9D8B030D-6E8A-4147-A177-3AD203B41FA5}">
                      <a16:colId xmlns:a16="http://schemas.microsoft.com/office/drawing/2014/main" val="3729982082"/>
                    </a:ext>
                  </a:extLst>
                </a:gridCol>
                <a:gridCol w="698818">
                  <a:extLst>
                    <a:ext uri="{9D8B030D-6E8A-4147-A177-3AD203B41FA5}">
                      <a16:colId xmlns:a16="http://schemas.microsoft.com/office/drawing/2014/main" val="2650960286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en-US" dirty="0"/>
                        <a:t>Order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29962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bust1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bookA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88821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63016266"/>
                  </a:ext>
                </a:extLst>
              </a:tr>
            </a:tbl>
          </a:graphicData>
        </a:graphic>
      </p:graphicFrame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D5569DA9-B71A-A34F-B5B8-7C2636FE569D}"/>
              </a:ext>
            </a:extLst>
          </p:cNvPr>
          <p:cNvSpPr/>
          <p:nvPr/>
        </p:nvSpPr>
        <p:spPr>
          <a:xfrm>
            <a:off x="5373338" y="3218931"/>
            <a:ext cx="714286" cy="364524"/>
          </a:xfrm>
          <a:prstGeom prst="roundRect">
            <a:avLst/>
          </a:prstGeom>
          <a:noFill/>
          <a:ln w="349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C1E889A-22D0-7240-99A8-5007E85622AE}"/>
              </a:ext>
            </a:extLst>
          </p:cNvPr>
          <p:cNvSpPr txBox="1"/>
          <p:nvPr/>
        </p:nvSpPr>
        <p:spPr>
          <a:xfrm>
            <a:off x="0" y="3863931"/>
            <a:ext cx="9144000" cy="1045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Query processor will read; modify; write same attrib./row/page twice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Attribute-level inconsistency. In absence of safe concurrency: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3642B233-C774-5941-B19C-856B44A57DF8}"/>
              </a:ext>
            </a:extLst>
          </p:cNvPr>
          <p:cNvSpPr/>
          <p:nvPr/>
        </p:nvSpPr>
        <p:spPr>
          <a:xfrm>
            <a:off x="8332796" y="5430123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674E13F-DDA1-784F-978F-D11BF58069DA}"/>
              </a:ext>
            </a:extLst>
          </p:cNvPr>
          <p:cNvGrpSpPr/>
          <p:nvPr/>
        </p:nvGrpSpPr>
        <p:grpSpPr>
          <a:xfrm>
            <a:off x="-161537" y="4884584"/>
            <a:ext cx="2866127" cy="1835205"/>
            <a:chOff x="-161537" y="4884584"/>
            <a:chExt cx="2866127" cy="1835205"/>
          </a:xfrm>
        </p:grpSpPr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D4C64FF4-9CD0-0E4E-8335-043B2189E5FD}"/>
                </a:ext>
              </a:extLst>
            </p:cNvPr>
            <p:cNvGrpSpPr/>
            <p:nvPr/>
          </p:nvGrpSpPr>
          <p:grpSpPr>
            <a:xfrm>
              <a:off x="-161537" y="4969054"/>
              <a:ext cx="742137" cy="1557002"/>
              <a:chOff x="1848913" y="2405125"/>
              <a:chExt cx="456472" cy="2047749"/>
            </a:xfrm>
          </p:grpSpPr>
          <p:cxnSp>
            <p:nvCxnSpPr>
              <p:cNvPr id="71" name="Straight Arrow Connector 70">
                <a:extLst>
                  <a:ext uri="{FF2B5EF4-FFF2-40B4-BE49-F238E27FC236}">
                    <a16:creationId xmlns:a16="http://schemas.microsoft.com/office/drawing/2014/main" id="{17A0BACC-EED4-7B46-BEBC-95067DC3717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84976" y="2405125"/>
                <a:ext cx="1" cy="2047749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48D0C19F-371E-044F-8854-0F6982166A1E}"/>
                  </a:ext>
                </a:extLst>
              </p:cNvPr>
              <p:cNvSpPr txBox="1"/>
              <p:nvPr/>
            </p:nvSpPr>
            <p:spPr>
              <a:xfrm rot="16200000">
                <a:off x="1645739" y="3127972"/>
                <a:ext cx="862819" cy="4564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time</a:t>
                </a:r>
              </a:p>
            </p:txBody>
          </p:sp>
        </p:grp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76F44644-59E8-5E4C-8ED3-756D7FE36D12}"/>
                </a:ext>
              </a:extLst>
            </p:cNvPr>
            <p:cNvSpPr/>
            <p:nvPr/>
          </p:nvSpPr>
          <p:spPr>
            <a:xfrm>
              <a:off x="308756" y="4884584"/>
              <a:ext cx="122341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>
                <a:defRPr/>
              </a:pP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r:(…,$20) </a:t>
              </a:r>
              <a:endParaRPr lang="en-US" dirty="0">
                <a:solidFill>
                  <a:srgbClr val="00B050"/>
                </a:solidFill>
              </a:endParaRPr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530D59BF-7599-1F4B-81B1-F42EECEEEEDE}"/>
                </a:ext>
              </a:extLst>
            </p:cNvPr>
            <p:cNvSpPr/>
            <p:nvPr/>
          </p:nvSpPr>
          <p:spPr>
            <a:xfrm>
              <a:off x="1391410" y="5221811"/>
              <a:ext cx="128753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>
                <a:defRPr/>
              </a:pP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r:(…, $20) </a:t>
              </a:r>
              <a:endParaRPr lang="en-US" dirty="0">
                <a:solidFill>
                  <a:srgbClr val="00B050"/>
                </a:solidFill>
              </a:endParaRPr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6C41EDC0-84F2-9043-8EB7-EBD6186EF497}"/>
                </a:ext>
              </a:extLst>
            </p:cNvPr>
            <p:cNvSpPr/>
            <p:nvPr/>
          </p:nvSpPr>
          <p:spPr>
            <a:xfrm>
              <a:off x="308756" y="5601468"/>
              <a:ext cx="124906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>
                <a:defRPr/>
              </a:pP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w:(…,$25)</a:t>
              </a: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BEB1030B-0368-6243-90EE-6DB15CB7F2C5}"/>
                </a:ext>
              </a:extLst>
            </p:cNvPr>
            <p:cNvSpPr/>
            <p:nvPr/>
          </p:nvSpPr>
          <p:spPr>
            <a:xfrm>
              <a:off x="1391410" y="5970800"/>
              <a:ext cx="131318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>
                <a:defRPr/>
              </a:pP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w:(…,$30) 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CEACC4D-221F-A445-ADF4-31614991C957}"/>
                </a:ext>
              </a:extLst>
            </p:cNvPr>
            <p:cNvSpPr txBox="1"/>
            <p:nvPr/>
          </p:nvSpPr>
          <p:spPr>
            <a:xfrm>
              <a:off x="596048" y="6350457"/>
              <a:ext cx="15324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Possibility 1</a:t>
              </a:r>
            </a:p>
          </p:txBody>
        </p:sp>
      </p:grpSp>
      <p:sp>
        <p:nvSpPr>
          <p:cNvPr id="114" name="TextBox 113">
            <a:extLst>
              <a:ext uri="{FF2B5EF4-FFF2-40B4-BE49-F238E27FC236}">
                <a16:creationId xmlns:a16="http://schemas.microsoft.com/office/drawing/2014/main" id="{47C00F18-F4AF-9B49-862C-848C35E471C6}"/>
              </a:ext>
            </a:extLst>
          </p:cNvPr>
          <p:cNvSpPr txBox="1"/>
          <p:nvPr/>
        </p:nvSpPr>
        <p:spPr>
          <a:xfrm>
            <a:off x="7779408" y="6323818"/>
            <a:ext cx="15324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140B30D-B32E-7440-953E-9C836DA832A6}"/>
              </a:ext>
            </a:extLst>
          </p:cNvPr>
          <p:cNvGrpSpPr/>
          <p:nvPr/>
        </p:nvGrpSpPr>
        <p:grpSpPr>
          <a:xfrm>
            <a:off x="2645864" y="4884584"/>
            <a:ext cx="2457617" cy="1824880"/>
            <a:chOff x="2645864" y="4884584"/>
            <a:chExt cx="2457617" cy="1824880"/>
          </a:xfrm>
        </p:grpSpPr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EB124DC6-DE64-B744-B3FA-E6F8FBEBF0D9}"/>
                </a:ext>
              </a:extLst>
            </p:cNvPr>
            <p:cNvSpPr/>
            <p:nvPr/>
          </p:nvSpPr>
          <p:spPr>
            <a:xfrm>
              <a:off x="2645864" y="4884584"/>
              <a:ext cx="122341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>
                <a:defRPr/>
              </a:pP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r:(…,$20) </a:t>
              </a:r>
              <a:endParaRPr lang="en-US" dirty="0">
                <a:solidFill>
                  <a:srgbClr val="00B050"/>
                </a:solidFill>
              </a:endParaRPr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E7F55094-693A-2344-A757-7F8C8055B677}"/>
                </a:ext>
              </a:extLst>
            </p:cNvPr>
            <p:cNvSpPr/>
            <p:nvPr/>
          </p:nvSpPr>
          <p:spPr>
            <a:xfrm>
              <a:off x="3801552" y="5601468"/>
              <a:ext cx="128753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>
                <a:defRPr/>
              </a:pP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r:(…, $25) </a:t>
              </a:r>
              <a:endParaRPr lang="en-US" dirty="0">
                <a:solidFill>
                  <a:srgbClr val="00B050"/>
                </a:solidFill>
              </a:endParaRP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DB48B3C5-2F2C-F543-B6D5-CE3CD1AF2153}"/>
                </a:ext>
              </a:extLst>
            </p:cNvPr>
            <p:cNvSpPr/>
            <p:nvPr/>
          </p:nvSpPr>
          <p:spPr>
            <a:xfrm>
              <a:off x="2664194" y="5221811"/>
              <a:ext cx="124906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>
                <a:defRPr/>
              </a:pP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w:(…,$25)</a:t>
              </a:r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8BFC46F0-7D49-684C-B54C-21E5F23CBFD8}"/>
                </a:ext>
              </a:extLst>
            </p:cNvPr>
            <p:cNvSpPr/>
            <p:nvPr/>
          </p:nvSpPr>
          <p:spPr>
            <a:xfrm>
              <a:off x="3790301" y="5970800"/>
              <a:ext cx="131318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>
                <a:defRPr/>
              </a:pP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w:(…,$35) </a:t>
              </a: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1C1608FC-D856-4F46-94BE-84BF1CEB1B23}"/>
                </a:ext>
              </a:extLst>
            </p:cNvPr>
            <p:cNvSpPr txBox="1"/>
            <p:nvPr/>
          </p:nvSpPr>
          <p:spPr>
            <a:xfrm>
              <a:off x="2912913" y="6340132"/>
              <a:ext cx="15324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Possibility 2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89B7711-C171-AE4F-A26B-EF68BC53EA9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83869" y="4940218"/>
              <a:ext cx="6956" cy="1718475"/>
            </a:xfrm>
            <a:prstGeom prst="line">
              <a:avLst/>
            </a:prstGeom>
            <a:ln>
              <a:solidFill>
                <a:srgbClr val="C00000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D6136847-263C-7A4E-9985-3DEDFF0049AF}"/>
              </a:ext>
            </a:extLst>
          </p:cNvPr>
          <p:cNvGrpSpPr/>
          <p:nvPr/>
        </p:nvGrpSpPr>
        <p:grpSpPr>
          <a:xfrm>
            <a:off x="5161253" y="4884584"/>
            <a:ext cx="2660997" cy="1840672"/>
            <a:chOff x="5161253" y="4884584"/>
            <a:chExt cx="2660997" cy="1840672"/>
          </a:xfrm>
        </p:grpSpPr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CFAE2326-E513-6F41-87F2-F9801861427C}"/>
                </a:ext>
              </a:extLst>
            </p:cNvPr>
            <p:cNvSpPr/>
            <p:nvPr/>
          </p:nvSpPr>
          <p:spPr>
            <a:xfrm>
              <a:off x="5304570" y="5216344"/>
              <a:ext cx="122341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>
                <a:defRPr/>
              </a:pP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r:(…,$20) </a:t>
              </a:r>
              <a:endParaRPr lang="en-US" dirty="0">
                <a:solidFill>
                  <a:srgbClr val="00B050"/>
                </a:solidFill>
              </a:endParaRP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77744985-07B7-9B4F-BDCF-4886752C21DB}"/>
                </a:ext>
              </a:extLst>
            </p:cNvPr>
            <p:cNvSpPr/>
            <p:nvPr/>
          </p:nvSpPr>
          <p:spPr>
            <a:xfrm>
              <a:off x="6534718" y="4884584"/>
              <a:ext cx="128753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>
                <a:defRPr/>
              </a:pP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r:(…, $20) </a:t>
              </a:r>
              <a:endParaRPr lang="en-US" dirty="0">
                <a:solidFill>
                  <a:srgbClr val="00B050"/>
                </a:solidFill>
              </a:endParaRPr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088DCF88-233A-654A-8B18-9EB933AE304E}"/>
                </a:ext>
              </a:extLst>
            </p:cNvPr>
            <p:cNvSpPr/>
            <p:nvPr/>
          </p:nvSpPr>
          <p:spPr>
            <a:xfrm>
              <a:off x="5368138" y="5970800"/>
              <a:ext cx="124906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>
                <a:defRPr/>
              </a:pP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w:(…,$25)</a:t>
              </a:r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3A2FA146-14BC-6943-B26B-A02E1FEE2142}"/>
                </a:ext>
              </a:extLst>
            </p:cNvPr>
            <p:cNvSpPr/>
            <p:nvPr/>
          </p:nvSpPr>
          <p:spPr>
            <a:xfrm>
              <a:off x="6502900" y="5601468"/>
              <a:ext cx="131318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>
                <a:defRPr/>
              </a:pP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w:(…,$30) </a:t>
              </a: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A4D0F9B-08F2-9347-B098-27322B0DE5CA}"/>
                </a:ext>
              </a:extLst>
            </p:cNvPr>
            <p:cNvSpPr txBox="1"/>
            <p:nvPr/>
          </p:nvSpPr>
          <p:spPr>
            <a:xfrm>
              <a:off x="5753599" y="6355924"/>
              <a:ext cx="15324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Possibility 3</a:t>
              </a:r>
            </a:p>
          </p:txBody>
        </p: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70BA0E7F-8A1D-DD4F-AB09-B938B77F4DB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61253" y="4940218"/>
              <a:ext cx="6956" cy="1718475"/>
            </a:xfrm>
            <a:prstGeom prst="line">
              <a:avLst/>
            </a:prstGeom>
            <a:ln>
              <a:solidFill>
                <a:srgbClr val="C00000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308E142D-51F5-6745-A3DE-D06F35F58104}"/>
              </a:ext>
            </a:extLst>
          </p:cNvPr>
          <p:cNvCxnSpPr>
            <a:cxnSpLocks/>
          </p:cNvCxnSpPr>
          <p:nvPr/>
        </p:nvCxnSpPr>
        <p:spPr>
          <a:xfrm flipH="1">
            <a:off x="7808722" y="4931995"/>
            <a:ext cx="6956" cy="1718475"/>
          </a:xfrm>
          <a:prstGeom prst="line">
            <a:avLst/>
          </a:prstGeom>
          <a:ln>
            <a:solidFill>
              <a:srgbClr val="C00000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8364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111" grpId="0"/>
      <p:bldP spid="11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91279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Example Problems With Concurrency (2)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3452" y="773927"/>
            <a:ext cx="9060548" cy="577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505121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9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FBB8A0E-C312-6C46-A0EA-C76C0B198967}"/>
              </a:ext>
            </a:extLst>
          </p:cNvPr>
          <p:cNvGrpSpPr/>
          <p:nvPr/>
        </p:nvGrpSpPr>
        <p:grpSpPr>
          <a:xfrm>
            <a:off x="512805" y="1100898"/>
            <a:ext cx="3008870" cy="923330"/>
            <a:chOff x="451022" y="1562952"/>
            <a:chExt cx="8241956" cy="92333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A566D91C-4C0D-5C45-AFA4-E7A5496FF667}"/>
                </a:ext>
              </a:extLst>
            </p:cNvPr>
            <p:cNvSpPr/>
            <p:nvPr/>
          </p:nvSpPr>
          <p:spPr>
            <a:xfrm>
              <a:off x="451022" y="1562952"/>
              <a:ext cx="8241956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UPDATE Order </a:t>
              </a:r>
            </a:p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SET price = price + 5</a:t>
              </a:r>
            </a:p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WHERE </a:t>
              </a:r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oid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 = o1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C1B0A86-2592-1045-AF04-784B15D63C0A}"/>
                </a:ext>
              </a:extLst>
            </p:cNvPr>
            <p:cNvSpPr/>
            <p:nvPr/>
          </p:nvSpPr>
          <p:spPr>
            <a:xfrm>
              <a:off x="451022" y="1562952"/>
              <a:ext cx="8241956" cy="92333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9E91C83C-B408-AC46-BE03-D6B02F0BE0FF}"/>
              </a:ext>
            </a:extLst>
          </p:cNvPr>
          <p:cNvGrpSpPr/>
          <p:nvPr/>
        </p:nvGrpSpPr>
        <p:grpSpPr>
          <a:xfrm>
            <a:off x="5158947" y="1105995"/>
            <a:ext cx="3008870" cy="923330"/>
            <a:chOff x="451022" y="1562952"/>
            <a:chExt cx="8241956" cy="923330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FE16775A-BCAD-6A45-AA5C-0A9BE9459D89}"/>
                </a:ext>
              </a:extLst>
            </p:cNvPr>
            <p:cNvSpPr/>
            <p:nvPr/>
          </p:nvSpPr>
          <p:spPr>
            <a:xfrm>
              <a:off x="451022" y="1562952"/>
              <a:ext cx="8241956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UPDATE Order </a:t>
              </a:r>
            </a:p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SET </a:t>
              </a:r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pID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 = </a:t>
              </a:r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WatchA</a:t>
              </a:r>
              <a:endParaRPr lang="en-US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WHERE </a:t>
              </a:r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oid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 = o1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EB8E5CCD-B7EE-CD40-A4C9-AEBFB727B06F}"/>
                </a:ext>
              </a:extLst>
            </p:cNvPr>
            <p:cNvSpPr/>
            <p:nvPr/>
          </p:nvSpPr>
          <p:spPr>
            <a:xfrm>
              <a:off x="451022" y="1562952"/>
              <a:ext cx="8241956" cy="92333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dirty="0">
                <a:solidFill>
                  <a:schemeClr val="tx1"/>
                </a:solidFill>
              </a:endParaRPr>
            </a:p>
          </p:txBody>
        </p:sp>
      </p:grpSp>
      <p:graphicFrame>
        <p:nvGraphicFramePr>
          <p:cNvPr id="55" name="Table 21">
            <a:extLst>
              <a:ext uri="{FF2B5EF4-FFF2-40B4-BE49-F238E27FC236}">
                <a16:creationId xmlns:a16="http://schemas.microsoft.com/office/drawing/2014/main" id="{CB87AB4B-68CC-DB4F-88F2-CD58E96755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4382237"/>
              </p:ext>
            </p:extLst>
          </p:nvPr>
        </p:nvGraphicFramePr>
        <p:xfrm>
          <a:off x="2861315" y="2093375"/>
          <a:ext cx="3226309" cy="1112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1968">
                  <a:extLst>
                    <a:ext uri="{9D8B030D-6E8A-4147-A177-3AD203B41FA5}">
                      <a16:colId xmlns:a16="http://schemas.microsoft.com/office/drawing/2014/main" val="1219927245"/>
                    </a:ext>
                  </a:extLst>
                </a:gridCol>
                <a:gridCol w="963930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  <a:gridCol w="1061593">
                  <a:extLst>
                    <a:ext uri="{9D8B030D-6E8A-4147-A177-3AD203B41FA5}">
                      <a16:colId xmlns:a16="http://schemas.microsoft.com/office/drawing/2014/main" val="3729982082"/>
                    </a:ext>
                  </a:extLst>
                </a:gridCol>
                <a:gridCol w="698818">
                  <a:extLst>
                    <a:ext uri="{9D8B030D-6E8A-4147-A177-3AD203B41FA5}">
                      <a16:colId xmlns:a16="http://schemas.microsoft.com/office/drawing/2014/main" val="2650960286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en-US" dirty="0"/>
                        <a:t>Order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29962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cust1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BookA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88821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63016266"/>
                  </a:ext>
                </a:extLst>
              </a:tr>
            </a:tbl>
          </a:graphicData>
        </a:graphic>
      </p:graphicFrame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D5569DA9-B71A-A34F-B5B8-7C2636FE569D}"/>
              </a:ext>
            </a:extLst>
          </p:cNvPr>
          <p:cNvSpPr/>
          <p:nvPr/>
        </p:nvSpPr>
        <p:spPr>
          <a:xfrm>
            <a:off x="5373338" y="2452808"/>
            <a:ext cx="714286" cy="364524"/>
          </a:xfrm>
          <a:prstGeom prst="roundRect">
            <a:avLst/>
          </a:prstGeom>
          <a:noFill/>
          <a:ln w="349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C1E889A-22D0-7240-99A8-5007E85622AE}"/>
              </a:ext>
            </a:extLst>
          </p:cNvPr>
          <p:cNvSpPr txBox="1"/>
          <p:nvPr/>
        </p:nvSpPr>
        <p:spPr>
          <a:xfrm>
            <a:off x="0" y="3555010"/>
            <a:ext cx="9144000" cy="5373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Possible Tuple-level inconsistency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0E3F40AA-4CC8-7044-A205-E798F512C26D}"/>
              </a:ext>
            </a:extLst>
          </p:cNvPr>
          <p:cNvSpPr/>
          <p:nvPr/>
        </p:nvSpPr>
        <p:spPr>
          <a:xfrm>
            <a:off x="4374797" y="2481292"/>
            <a:ext cx="793411" cy="364524"/>
          </a:xfrm>
          <a:prstGeom prst="roundRect">
            <a:avLst/>
          </a:prstGeom>
          <a:noFill/>
          <a:ln w="349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0" name="Table 21">
            <a:extLst>
              <a:ext uri="{FF2B5EF4-FFF2-40B4-BE49-F238E27FC236}">
                <a16:creationId xmlns:a16="http://schemas.microsoft.com/office/drawing/2014/main" id="{106E992B-D571-D648-BDD7-A2C22A2495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4590400"/>
              </p:ext>
            </p:extLst>
          </p:nvPr>
        </p:nvGraphicFramePr>
        <p:xfrm>
          <a:off x="132880" y="4384457"/>
          <a:ext cx="2621281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1805">
                  <a:extLst>
                    <a:ext uri="{9D8B030D-6E8A-4147-A177-3AD203B41FA5}">
                      <a16:colId xmlns:a16="http://schemas.microsoft.com/office/drawing/2014/main" val="1219927245"/>
                    </a:ext>
                  </a:extLst>
                </a:gridCol>
                <a:gridCol w="731203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  <a:gridCol w="835343">
                  <a:extLst>
                    <a:ext uri="{9D8B030D-6E8A-4147-A177-3AD203B41FA5}">
                      <a16:colId xmlns:a16="http://schemas.microsoft.com/office/drawing/2014/main" val="3729982082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26509602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cust1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BookA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88821865"/>
                  </a:ext>
                </a:extLst>
              </a:tr>
            </a:tbl>
          </a:graphicData>
        </a:graphic>
      </p:graphicFrame>
      <p:graphicFrame>
        <p:nvGraphicFramePr>
          <p:cNvPr id="42" name="Table 21">
            <a:extLst>
              <a:ext uri="{FF2B5EF4-FFF2-40B4-BE49-F238E27FC236}">
                <a16:creationId xmlns:a16="http://schemas.microsoft.com/office/drawing/2014/main" id="{32413408-CD38-9740-81FF-35D7122377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2135434"/>
              </p:ext>
            </p:extLst>
          </p:nvPr>
        </p:nvGraphicFramePr>
        <p:xfrm>
          <a:off x="6267598" y="4383226"/>
          <a:ext cx="2746566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1805">
                  <a:extLst>
                    <a:ext uri="{9D8B030D-6E8A-4147-A177-3AD203B41FA5}">
                      <a16:colId xmlns:a16="http://schemas.microsoft.com/office/drawing/2014/main" val="1219927245"/>
                    </a:ext>
                  </a:extLst>
                </a:gridCol>
                <a:gridCol w="731203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  <a:gridCol w="960628">
                  <a:extLst>
                    <a:ext uri="{9D8B030D-6E8A-4147-A177-3AD203B41FA5}">
                      <a16:colId xmlns:a16="http://schemas.microsoft.com/office/drawing/2014/main" val="3729982082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26509602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cust1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WatchA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88821865"/>
                  </a:ext>
                </a:extLst>
              </a:tr>
            </a:tbl>
          </a:graphicData>
        </a:graphic>
      </p:graphicFrame>
      <p:graphicFrame>
        <p:nvGraphicFramePr>
          <p:cNvPr id="43" name="Table 21">
            <a:extLst>
              <a:ext uri="{FF2B5EF4-FFF2-40B4-BE49-F238E27FC236}">
                <a16:creationId xmlns:a16="http://schemas.microsoft.com/office/drawing/2014/main" id="{278927CB-F22F-7E46-B955-2FC4B54ECA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3164635"/>
              </p:ext>
            </p:extLst>
          </p:nvPr>
        </p:nvGraphicFramePr>
        <p:xfrm>
          <a:off x="3175525" y="4375691"/>
          <a:ext cx="2746566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1805">
                  <a:extLst>
                    <a:ext uri="{9D8B030D-6E8A-4147-A177-3AD203B41FA5}">
                      <a16:colId xmlns:a16="http://schemas.microsoft.com/office/drawing/2014/main" val="1219927245"/>
                    </a:ext>
                  </a:extLst>
                </a:gridCol>
                <a:gridCol w="731203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  <a:gridCol w="960628">
                  <a:extLst>
                    <a:ext uri="{9D8B030D-6E8A-4147-A177-3AD203B41FA5}">
                      <a16:colId xmlns:a16="http://schemas.microsoft.com/office/drawing/2014/main" val="3729982082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26509602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cust1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WatchA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888218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7058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3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91279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Example Problems With Concurrency (3)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3452" y="773927"/>
            <a:ext cx="9060548" cy="577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505121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10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FBB8A0E-C312-6C46-A0EA-C76C0B198967}"/>
              </a:ext>
            </a:extLst>
          </p:cNvPr>
          <p:cNvGrpSpPr/>
          <p:nvPr/>
        </p:nvGrpSpPr>
        <p:grpSpPr>
          <a:xfrm>
            <a:off x="389233" y="940256"/>
            <a:ext cx="5035381" cy="1804299"/>
            <a:chOff x="451020" y="1562951"/>
            <a:chExt cx="9433720" cy="180429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A566D91C-4C0D-5C45-AFA4-E7A5496FF667}"/>
                </a:ext>
              </a:extLst>
            </p:cNvPr>
            <p:cNvSpPr/>
            <p:nvPr/>
          </p:nvSpPr>
          <p:spPr>
            <a:xfrm>
              <a:off x="451022" y="1562952"/>
              <a:ext cx="9433718" cy="147732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Update Statement 1:</a:t>
              </a:r>
            </a:p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UPDATE Customer </a:t>
              </a:r>
            </a:p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SET membership = Gold</a:t>
              </a:r>
            </a:p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WHERE </a:t>
              </a:r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cid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 IN (Select </a:t>
              </a:r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cid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 FROM Orders </a:t>
              </a:r>
            </a:p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              WHERE price &gt; 20)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C1B0A86-2592-1045-AF04-784B15D63C0A}"/>
                </a:ext>
              </a:extLst>
            </p:cNvPr>
            <p:cNvSpPr/>
            <p:nvPr/>
          </p:nvSpPr>
          <p:spPr>
            <a:xfrm>
              <a:off x="451020" y="1562951"/>
              <a:ext cx="9433720" cy="1804299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9E91C83C-B408-AC46-BE03-D6B02F0BE0FF}"/>
              </a:ext>
            </a:extLst>
          </p:cNvPr>
          <p:cNvGrpSpPr/>
          <p:nvPr/>
        </p:nvGrpSpPr>
        <p:grpSpPr>
          <a:xfrm>
            <a:off x="5928108" y="945147"/>
            <a:ext cx="3008870" cy="1217075"/>
            <a:chOff x="451022" y="1562952"/>
            <a:chExt cx="8241956" cy="923330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FE16775A-BCAD-6A45-AA5C-0A9BE9459D89}"/>
                </a:ext>
              </a:extLst>
            </p:cNvPr>
            <p:cNvSpPr/>
            <p:nvPr/>
          </p:nvSpPr>
          <p:spPr>
            <a:xfrm>
              <a:off x="451022" y="1562952"/>
              <a:ext cx="8241956" cy="72141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Update Statement 2:</a:t>
              </a:r>
            </a:p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UPDATE Order </a:t>
              </a:r>
            </a:p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SET price = price*0.9</a:t>
              </a:r>
            </a:p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WHERE </a:t>
              </a:r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pid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 = </a:t>
              </a:r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BookA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EB8E5CCD-B7EE-CD40-A4C9-AEBFB727B06F}"/>
                </a:ext>
              </a:extLst>
            </p:cNvPr>
            <p:cNvSpPr/>
            <p:nvPr/>
          </p:nvSpPr>
          <p:spPr>
            <a:xfrm>
              <a:off x="451022" y="1562952"/>
              <a:ext cx="8241956" cy="92333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dirty="0">
                <a:solidFill>
                  <a:schemeClr val="tx1"/>
                </a:solidFill>
              </a:endParaRPr>
            </a:p>
          </p:txBody>
        </p:sp>
      </p:grpSp>
      <p:graphicFrame>
        <p:nvGraphicFramePr>
          <p:cNvPr id="55" name="Table 21">
            <a:extLst>
              <a:ext uri="{FF2B5EF4-FFF2-40B4-BE49-F238E27FC236}">
                <a16:creationId xmlns:a16="http://schemas.microsoft.com/office/drawing/2014/main" id="{CB87AB4B-68CC-DB4F-88F2-CD58E96755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4030286"/>
              </p:ext>
            </p:extLst>
          </p:nvPr>
        </p:nvGraphicFramePr>
        <p:xfrm>
          <a:off x="5334437" y="2856897"/>
          <a:ext cx="3226309" cy="1483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1968">
                  <a:extLst>
                    <a:ext uri="{9D8B030D-6E8A-4147-A177-3AD203B41FA5}">
                      <a16:colId xmlns:a16="http://schemas.microsoft.com/office/drawing/2014/main" val="1219927245"/>
                    </a:ext>
                  </a:extLst>
                </a:gridCol>
                <a:gridCol w="963930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  <a:gridCol w="1061593">
                  <a:extLst>
                    <a:ext uri="{9D8B030D-6E8A-4147-A177-3AD203B41FA5}">
                      <a16:colId xmlns:a16="http://schemas.microsoft.com/office/drawing/2014/main" val="3729982082"/>
                    </a:ext>
                  </a:extLst>
                </a:gridCol>
                <a:gridCol w="698818">
                  <a:extLst>
                    <a:ext uri="{9D8B030D-6E8A-4147-A177-3AD203B41FA5}">
                      <a16:colId xmlns:a16="http://schemas.microsoft.com/office/drawing/2014/main" val="2650960286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en-US" dirty="0"/>
                        <a:t>Order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29962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err="1"/>
                        <a:t>oid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err="1"/>
                        <a:t>cid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err="1"/>
                        <a:t>pid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price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398976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cust1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BookA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88821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63016266"/>
                  </a:ext>
                </a:extLst>
              </a:tr>
            </a:tbl>
          </a:graphicData>
        </a:graphic>
      </p:graphicFrame>
      <p:graphicFrame>
        <p:nvGraphicFramePr>
          <p:cNvPr id="24" name="Table 21">
            <a:extLst>
              <a:ext uri="{FF2B5EF4-FFF2-40B4-BE49-F238E27FC236}">
                <a16:creationId xmlns:a16="http://schemas.microsoft.com/office/drawing/2014/main" id="{2CAF45A7-F8FA-9C4D-91D3-1A436A9AC9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5377584"/>
              </p:ext>
            </p:extLst>
          </p:nvPr>
        </p:nvGraphicFramePr>
        <p:xfrm>
          <a:off x="797014" y="2856897"/>
          <a:ext cx="2974214" cy="1483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31203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  <a:gridCol w="835343">
                  <a:extLst>
                    <a:ext uri="{9D8B030D-6E8A-4147-A177-3AD203B41FA5}">
                      <a16:colId xmlns:a16="http://schemas.microsoft.com/office/drawing/2014/main" val="3729982082"/>
                    </a:ext>
                  </a:extLst>
                </a:gridCol>
                <a:gridCol w="1407668">
                  <a:extLst>
                    <a:ext uri="{9D8B030D-6E8A-4147-A177-3AD203B41FA5}">
                      <a16:colId xmlns:a16="http://schemas.microsoft.com/office/drawing/2014/main" val="2650960286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n-US" dirty="0"/>
                        <a:t>Customer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29962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cid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membership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604492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cust1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Alice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Silver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88821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63016266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D59BB7C2-78F0-184D-A41D-8056C739D60E}"/>
              </a:ext>
            </a:extLst>
          </p:cNvPr>
          <p:cNvSpPr txBox="1"/>
          <p:nvPr/>
        </p:nvSpPr>
        <p:spPr>
          <a:xfrm>
            <a:off x="0" y="4484355"/>
            <a:ext cx="9144000" cy="2060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Possible Relation-level inconsistency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Statement 1’s update on Customer depends on Order table, which is concurrently being updated. 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Data in Customer can be corrupted if the executions overlaps.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30FFF552-339C-5348-8F28-D9133F8AC8D8}"/>
              </a:ext>
            </a:extLst>
          </p:cNvPr>
          <p:cNvSpPr/>
          <p:nvPr/>
        </p:nvSpPr>
        <p:spPr>
          <a:xfrm>
            <a:off x="2113507" y="1823356"/>
            <a:ext cx="2940403" cy="543991"/>
          </a:xfrm>
          <a:prstGeom prst="roundRect">
            <a:avLst/>
          </a:prstGeom>
          <a:noFill/>
          <a:ln w="349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636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91279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Example Problems With Concurrency (4)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3452" y="773927"/>
            <a:ext cx="9060548" cy="577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505121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11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FBB8A0E-C312-6C46-A0EA-C76C0B198967}"/>
              </a:ext>
            </a:extLst>
          </p:cNvPr>
          <p:cNvGrpSpPr/>
          <p:nvPr/>
        </p:nvGrpSpPr>
        <p:grpSpPr>
          <a:xfrm>
            <a:off x="35873" y="916317"/>
            <a:ext cx="4853681" cy="1416763"/>
            <a:chOff x="925756" y="1537965"/>
            <a:chExt cx="9514421" cy="186212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A566D91C-4C0D-5C45-AFA4-E7A5496FF667}"/>
                </a:ext>
              </a:extLst>
            </p:cNvPr>
            <p:cNvSpPr/>
            <p:nvPr/>
          </p:nvSpPr>
          <p:spPr>
            <a:xfrm>
              <a:off x="925756" y="1559494"/>
              <a:ext cx="9433720" cy="184060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700" dirty="0">
                  <a:latin typeface="Consolas" panose="020B0609020204030204" pitchFamily="49" charset="0"/>
                  <a:cs typeface="Consolas" panose="020B0609020204030204" pitchFamily="49" charset="0"/>
                </a:rPr>
                <a:t>Client 1</a:t>
              </a:r>
            </a:p>
            <a:p>
              <a:r>
                <a:rPr lang="en-US" sz="1700" dirty="0">
                  <a:latin typeface="Consolas" panose="020B0609020204030204" pitchFamily="49" charset="0"/>
                  <a:cs typeface="Consolas" panose="020B0609020204030204" pitchFamily="49" charset="0"/>
                </a:rPr>
                <a:t>INSERT INTO 2021_Orders</a:t>
              </a:r>
            </a:p>
            <a:p>
              <a:r>
                <a:rPr lang="en-US" sz="1700" dirty="0">
                  <a:latin typeface="Consolas" panose="020B0609020204030204" pitchFamily="49" charset="0"/>
                  <a:cs typeface="Consolas" panose="020B0609020204030204" pitchFamily="49" charset="0"/>
                </a:rPr>
                <a:t>SELECT * FROM Orders WHERE year = 2021 </a:t>
              </a:r>
            </a:p>
            <a:p>
              <a:endParaRPr lang="en-US" sz="17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en-US" sz="1700" dirty="0">
                  <a:latin typeface="Consolas" panose="020B0609020204030204" pitchFamily="49" charset="0"/>
                  <a:cs typeface="Consolas" panose="020B0609020204030204" pitchFamily="49" charset="0"/>
                </a:rPr>
                <a:t>DELETE FROM Orders WHERE year = 2021</a:t>
              </a:r>
              <a:endParaRPr lang="en-US" sz="17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C1B0A86-2592-1045-AF04-784B15D63C0A}"/>
                </a:ext>
              </a:extLst>
            </p:cNvPr>
            <p:cNvSpPr/>
            <p:nvPr/>
          </p:nvSpPr>
          <p:spPr>
            <a:xfrm>
              <a:off x="1006456" y="1537965"/>
              <a:ext cx="9433721" cy="1804299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9E91C83C-B408-AC46-BE03-D6B02F0BE0FF}"/>
              </a:ext>
            </a:extLst>
          </p:cNvPr>
          <p:cNvGrpSpPr/>
          <p:nvPr/>
        </p:nvGrpSpPr>
        <p:grpSpPr>
          <a:xfrm>
            <a:off x="4976085" y="908076"/>
            <a:ext cx="4109852" cy="1217075"/>
            <a:chOff x="-222207" y="1562952"/>
            <a:chExt cx="8915187" cy="923330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FE16775A-BCAD-6A45-AA5C-0A9BE9459D89}"/>
                </a:ext>
              </a:extLst>
            </p:cNvPr>
            <p:cNvSpPr/>
            <p:nvPr/>
          </p:nvSpPr>
          <p:spPr>
            <a:xfrm>
              <a:off x="-222207" y="1562952"/>
              <a:ext cx="8915187" cy="66545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700" dirty="0">
                  <a:latin typeface="Consolas" panose="020B0609020204030204" pitchFamily="49" charset="0"/>
                  <a:cs typeface="Consolas" panose="020B0609020204030204" pitchFamily="49" charset="0"/>
                </a:rPr>
                <a:t>CLIENT 2:</a:t>
              </a:r>
            </a:p>
            <a:p>
              <a:r>
                <a:rPr lang="en-US" sz="1700" dirty="0">
                  <a:latin typeface="Consolas" panose="020B0609020204030204" pitchFamily="49" charset="0"/>
                  <a:cs typeface="Consolas" panose="020B0609020204030204" pitchFamily="49" charset="0"/>
                </a:rPr>
                <a:t>SELECT Count(*) FROM Orders</a:t>
              </a:r>
            </a:p>
            <a:p>
              <a:r>
                <a:rPr lang="en-US" sz="1700" dirty="0">
                  <a:latin typeface="Consolas" panose="020B0609020204030204" pitchFamily="49" charset="0"/>
                  <a:cs typeface="Consolas" panose="020B0609020204030204" pitchFamily="49" charset="0"/>
                </a:rPr>
                <a:t>SELECT Count(*) FROM 2021_Orders </a:t>
              </a:r>
              <a:endParaRPr lang="en-US" sz="17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EB8E5CCD-B7EE-CD40-A4C9-AEBFB727B06F}"/>
                </a:ext>
              </a:extLst>
            </p:cNvPr>
            <p:cNvSpPr/>
            <p:nvPr/>
          </p:nvSpPr>
          <p:spPr>
            <a:xfrm>
              <a:off x="-222207" y="1562952"/>
              <a:ext cx="8915187" cy="92333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070C611E-6C48-EB47-89F0-426ADCF5D0F3}"/>
              </a:ext>
            </a:extLst>
          </p:cNvPr>
          <p:cNvSpPr txBox="1"/>
          <p:nvPr/>
        </p:nvSpPr>
        <p:spPr>
          <a:xfrm>
            <a:off x="0" y="2311906"/>
            <a:ext cx="9144000" cy="3076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Possible Database-level inconsistency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Expectation: Client 1’s statements is *not meant* to change the total # orders in the enterprise (across Orders and 2021_Orders).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But Client 2 can see an inconsistent number of order counts across both databases depending on how much of the data from Orders has been moved to 2021_Orders and also deleted.</a:t>
            </a:r>
          </a:p>
        </p:txBody>
      </p:sp>
    </p:spTree>
    <p:extLst>
      <p:ext uri="{BB962C8B-B14F-4D97-AF65-F5344CB8AC3E}">
        <p14:creationId xmlns:p14="http://schemas.microsoft.com/office/powerpoint/2010/main" val="1800339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91279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Case For Isolation During Concurrent Access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3452" y="773927"/>
            <a:ext cx="9060548" cy="577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505121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12</a:t>
            </a:fld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70C611E-6C48-EB47-89F0-426ADCF5D0F3}"/>
              </a:ext>
            </a:extLst>
          </p:cNvPr>
          <p:cNvSpPr txBox="1"/>
          <p:nvPr/>
        </p:nvSpPr>
        <p:spPr>
          <a:xfrm>
            <a:off x="0" y="743786"/>
            <a:ext cx="9144000" cy="35843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Clients want: *concurrency*, because databases are designed to be used my multiple clients, and DBMSs can exploit parallelism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Clients also want: to access the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db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i="1" dirty="0">
                <a:solidFill>
                  <a:srgbClr val="99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isolation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, i.e., run a set of queries and statement as if no others are running concurrently.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All or nothing guarantee: Run the set of statements only if the DBMS can guarantee that they were </a:t>
            </a:r>
            <a:r>
              <a:rPr lang="en-US" sz="2200" i="1" dirty="0">
                <a:solidFill>
                  <a:srgbClr val="99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 running atomically as if in isolation</a:t>
            </a:r>
            <a:r>
              <a:rPr lang="en-US" sz="2200" i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Any guarantee on subsets of statements is not useful.</a:t>
            </a:r>
          </a:p>
        </p:txBody>
      </p:sp>
    </p:spTree>
    <p:extLst>
      <p:ext uri="{BB962C8B-B14F-4D97-AF65-F5344CB8AC3E}">
        <p14:creationId xmlns:p14="http://schemas.microsoft.com/office/powerpoint/2010/main" val="3253611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924" y="-30397"/>
            <a:ext cx="9143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Resilience to System Failures (Slides From Lecture 1)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8925" y="698767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01A30E2-8CE0-0947-A473-551511F82A58}"/>
              </a:ext>
            </a:extLst>
          </p:cNvPr>
          <p:cNvSpPr txBox="1"/>
          <p:nvPr/>
        </p:nvSpPr>
        <p:spPr>
          <a:xfrm>
            <a:off x="8924" y="763943"/>
            <a:ext cx="914399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What if your disk fails in the middle of an order?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What if your server software fails due to a bug?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What if there is a power outage in the machine storing files?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Suppose Alice orders both BookA and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BookB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14" name="Graphic 13" descr="Female Profile with solid fill">
            <a:extLst>
              <a:ext uri="{FF2B5EF4-FFF2-40B4-BE49-F238E27FC236}">
                <a16:creationId xmlns:a16="http://schemas.microsoft.com/office/drawing/2014/main" id="{EC17DF51-EEE8-BF4A-8FBF-7B6B06F3DF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98408" y="2278611"/>
            <a:ext cx="731520" cy="731520"/>
          </a:xfrm>
          <a:prstGeom prst="rect">
            <a:avLst/>
          </a:prstGeom>
        </p:spPr>
      </p:pic>
      <p:sp>
        <p:nvSpPr>
          <p:cNvPr id="16" name="Can 15">
            <a:extLst>
              <a:ext uri="{FF2B5EF4-FFF2-40B4-BE49-F238E27FC236}">
                <a16:creationId xmlns:a16="http://schemas.microsoft.com/office/drawing/2014/main" id="{C0533F7B-5703-B14E-BD26-A75EFB281C3B}"/>
              </a:ext>
            </a:extLst>
          </p:cNvPr>
          <p:cNvSpPr/>
          <p:nvPr/>
        </p:nvSpPr>
        <p:spPr>
          <a:xfrm>
            <a:off x="237977" y="4848124"/>
            <a:ext cx="3652382" cy="1809318"/>
          </a:xfrm>
          <a:prstGeom prst="can">
            <a:avLst>
              <a:gd name="adj" fmla="val 9274"/>
            </a:avLst>
          </a:prstGeom>
          <a:noFill/>
          <a:ln w="349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F7F7D1A-38AA-044A-9E4D-4A3A3F2D550C}"/>
              </a:ext>
            </a:extLst>
          </p:cNvPr>
          <p:cNvSpPr/>
          <p:nvPr/>
        </p:nvSpPr>
        <p:spPr>
          <a:xfrm>
            <a:off x="1507291" y="3772613"/>
            <a:ext cx="9797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 (A, 0)</a:t>
            </a:r>
          </a:p>
        </p:txBody>
      </p:sp>
      <p:pic>
        <p:nvPicPr>
          <p:cNvPr id="19" name="Graphic 18" descr="Server outline">
            <a:extLst>
              <a:ext uri="{FF2B5EF4-FFF2-40B4-BE49-F238E27FC236}">
                <a16:creationId xmlns:a16="http://schemas.microsoft.com/office/drawing/2014/main" id="{1BBB9F55-3EF1-B142-B1C2-2709E06C1E9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67571" y="3196562"/>
            <a:ext cx="793194" cy="574286"/>
          </a:xfrm>
          <a:prstGeom prst="rect">
            <a:avLst/>
          </a:prstGeom>
        </p:spPr>
      </p:pic>
      <p:graphicFrame>
        <p:nvGraphicFramePr>
          <p:cNvPr id="21" name="Table 21">
            <a:extLst>
              <a:ext uri="{FF2B5EF4-FFF2-40B4-BE49-F238E27FC236}">
                <a16:creationId xmlns:a16="http://schemas.microsoft.com/office/drawing/2014/main" id="{D80D31DE-EC0A-844B-BBC3-7393BBFACF1C}"/>
              </a:ext>
            </a:extLst>
          </p:cNvPr>
          <p:cNvGraphicFramePr>
            <a:graphicFrameLocks noGrp="1"/>
          </p:cNvGraphicFramePr>
          <p:nvPr/>
        </p:nvGraphicFramePr>
        <p:xfrm>
          <a:off x="955394" y="5103939"/>
          <a:ext cx="2217548" cy="1402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9163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  <a:gridCol w="1298385">
                  <a:extLst>
                    <a:ext uri="{9D8B030D-6E8A-4147-A177-3AD203B41FA5}">
                      <a16:colId xmlns:a16="http://schemas.microsoft.com/office/drawing/2014/main" val="3729982082"/>
                    </a:ext>
                  </a:extLst>
                </a:gridCol>
              </a:tblGrid>
              <a:tr h="289018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Product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 err="1"/>
                        <a:t>NumInStock</a:t>
                      </a:r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33988350"/>
                  </a:ext>
                </a:extLst>
              </a:tr>
              <a:tr h="289018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28834732"/>
                  </a:ext>
                </a:extLst>
              </a:tr>
              <a:tr h="289018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BookA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95358941"/>
                  </a:ext>
                </a:extLst>
              </a:tr>
              <a:tr h="289018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 err="1"/>
                        <a:t>BookB</a:t>
                      </a:r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004410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3810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924" y="26755"/>
            <a:ext cx="9143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Resilience to System Failures (Slides From Lecture 1)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8925" y="698767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01A30E2-8CE0-0947-A473-551511F82A58}"/>
              </a:ext>
            </a:extLst>
          </p:cNvPr>
          <p:cNvSpPr txBox="1"/>
          <p:nvPr/>
        </p:nvSpPr>
        <p:spPr>
          <a:xfrm>
            <a:off x="8924" y="763943"/>
            <a:ext cx="914399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What if your disk fails in the middle of an order?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What if your server software fails due to a bug?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What if there is a power outage in the machine storing files?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Suppose Alice orders both BookA and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BookB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7" name="Graphic 6" descr="Female Profile with solid fill">
            <a:extLst>
              <a:ext uri="{FF2B5EF4-FFF2-40B4-BE49-F238E27FC236}">
                <a16:creationId xmlns:a16="http://schemas.microsoft.com/office/drawing/2014/main" id="{22F3ED2C-6FF9-F649-B13F-7BEBBD1DC4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98408" y="2278611"/>
            <a:ext cx="731520" cy="731520"/>
          </a:xfrm>
          <a:prstGeom prst="rect">
            <a:avLst/>
          </a:prstGeom>
        </p:spPr>
      </p:pic>
      <p:sp>
        <p:nvSpPr>
          <p:cNvPr id="15" name="Can 14">
            <a:extLst>
              <a:ext uri="{FF2B5EF4-FFF2-40B4-BE49-F238E27FC236}">
                <a16:creationId xmlns:a16="http://schemas.microsoft.com/office/drawing/2014/main" id="{54DAD28F-940A-9948-9680-A5089857E76D}"/>
              </a:ext>
            </a:extLst>
          </p:cNvPr>
          <p:cNvSpPr/>
          <p:nvPr/>
        </p:nvSpPr>
        <p:spPr>
          <a:xfrm>
            <a:off x="237977" y="4848124"/>
            <a:ext cx="3652382" cy="1809318"/>
          </a:xfrm>
          <a:prstGeom prst="can">
            <a:avLst>
              <a:gd name="adj" fmla="val 9274"/>
            </a:avLst>
          </a:prstGeom>
          <a:noFill/>
          <a:ln w="349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1" name="Graphic 30" descr="Server outline">
            <a:extLst>
              <a:ext uri="{FF2B5EF4-FFF2-40B4-BE49-F238E27FC236}">
                <a16:creationId xmlns:a16="http://schemas.microsoft.com/office/drawing/2014/main" id="{349E109E-C592-7B41-972B-22DFFB43EBC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67571" y="3196562"/>
            <a:ext cx="793194" cy="574286"/>
          </a:xfrm>
          <a:prstGeom prst="rect">
            <a:avLst/>
          </a:prstGeom>
        </p:spPr>
      </p:pic>
      <p:pic>
        <p:nvPicPr>
          <p:cNvPr id="32" name="Graphic 31" descr="Lightning bolt with solid fill">
            <a:extLst>
              <a:ext uri="{FF2B5EF4-FFF2-40B4-BE49-F238E27FC236}">
                <a16:creationId xmlns:a16="http://schemas.microsoft.com/office/drawing/2014/main" id="{F8B31F9C-8031-9C41-B702-A793E3EE541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3993" y="5416645"/>
            <a:ext cx="914400" cy="914400"/>
          </a:xfrm>
          <a:prstGeom prst="rect">
            <a:avLst/>
          </a:prstGeom>
        </p:spPr>
      </p:pic>
      <p:graphicFrame>
        <p:nvGraphicFramePr>
          <p:cNvPr id="34" name="Table 21">
            <a:extLst>
              <a:ext uri="{FF2B5EF4-FFF2-40B4-BE49-F238E27FC236}">
                <a16:creationId xmlns:a16="http://schemas.microsoft.com/office/drawing/2014/main" id="{83C00AF3-70F9-534B-9C56-14095051898A}"/>
              </a:ext>
            </a:extLst>
          </p:cNvPr>
          <p:cNvGraphicFramePr>
            <a:graphicFrameLocks noGrp="1"/>
          </p:cNvGraphicFramePr>
          <p:nvPr/>
        </p:nvGraphicFramePr>
        <p:xfrm>
          <a:off x="955394" y="5103939"/>
          <a:ext cx="2217548" cy="1402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9163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  <a:gridCol w="1298385">
                  <a:extLst>
                    <a:ext uri="{9D8B030D-6E8A-4147-A177-3AD203B41FA5}">
                      <a16:colId xmlns:a16="http://schemas.microsoft.com/office/drawing/2014/main" val="3729982082"/>
                    </a:ext>
                  </a:extLst>
                </a:gridCol>
              </a:tblGrid>
              <a:tr h="289018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Product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 err="1"/>
                        <a:t>NumInStock</a:t>
                      </a:r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33988350"/>
                  </a:ext>
                </a:extLst>
              </a:tr>
              <a:tr h="289018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28834732"/>
                  </a:ext>
                </a:extLst>
              </a:tr>
              <a:tr h="289018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BookA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95358941"/>
                  </a:ext>
                </a:extLst>
              </a:tr>
              <a:tr h="289018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 err="1"/>
                        <a:t>BookB</a:t>
                      </a:r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00441028"/>
                  </a:ext>
                </a:extLst>
              </a:tr>
            </a:tbl>
          </a:graphicData>
        </a:graphic>
      </p:graphicFrame>
      <p:graphicFrame>
        <p:nvGraphicFramePr>
          <p:cNvPr id="16" name="Table 21">
            <a:extLst>
              <a:ext uri="{FF2B5EF4-FFF2-40B4-BE49-F238E27FC236}">
                <a16:creationId xmlns:a16="http://schemas.microsoft.com/office/drawing/2014/main" id="{2EC35A84-EF53-B949-80BC-19FAA6B0BDAA}"/>
              </a:ext>
            </a:extLst>
          </p:cNvPr>
          <p:cNvGraphicFramePr>
            <a:graphicFrameLocks noGrp="1"/>
          </p:cNvGraphicFramePr>
          <p:nvPr/>
        </p:nvGraphicFramePr>
        <p:xfrm>
          <a:off x="4077756" y="5108764"/>
          <a:ext cx="2217548" cy="1402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9163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  <a:gridCol w="1298385">
                  <a:extLst>
                    <a:ext uri="{9D8B030D-6E8A-4147-A177-3AD203B41FA5}">
                      <a16:colId xmlns:a16="http://schemas.microsoft.com/office/drawing/2014/main" val="3729982082"/>
                    </a:ext>
                  </a:extLst>
                </a:gridCol>
              </a:tblGrid>
              <a:tr h="289018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Product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 err="1"/>
                        <a:t>NumInStock</a:t>
                      </a:r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33988350"/>
                  </a:ext>
                </a:extLst>
              </a:tr>
              <a:tr h="289018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28834732"/>
                  </a:ext>
                </a:extLst>
              </a:tr>
              <a:tr h="289018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BookA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95358941"/>
                  </a:ext>
                </a:extLst>
              </a:tr>
              <a:tr h="289018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 err="1"/>
                        <a:t>BookB</a:t>
                      </a:r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00441028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29D5A2BA-2B89-7341-89D2-AC1CFBA13936}"/>
              </a:ext>
            </a:extLst>
          </p:cNvPr>
          <p:cNvSpPr/>
          <p:nvPr/>
        </p:nvSpPr>
        <p:spPr>
          <a:xfrm>
            <a:off x="4901836" y="4505396"/>
            <a:ext cx="56938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✓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11E52B0-E87B-C249-923A-D01C2F82B95F}"/>
              </a:ext>
            </a:extLst>
          </p:cNvPr>
          <p:cNvSpPr/>
          <p:nvPr/>
        </p:nvSpPr>
        <p:spPr>
          <a:xfrm>
            <a:off x="3176591" y="5519902"/>
            <a:ext cx="52610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60F86EA-35F6-0A47-B3DF-60527C9EA1E6}"/>
              </a:ext>
            </a:extLst>
          </p:cNvPr>
          <p:cNvSpPr txBox="1"/>
          <p:nvPr/>
        </p:nvSpPr>
        <p:spPr>
          <a:xfrm>
            <a:off x="2554046" y="2337748"/>
            <a:ext cx="6526336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Before (B, 6) is written, </a:t>
            </a:r>
            <a:r>
              <a:rPr kumimoji="0" lang="en-US" sz="23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ther</a:t>
            </a:r>
            <a:r>
              <a:rPr lang="en-US" sz="2300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 is a crash</a:t>
            </a:r>
            <a:r>
              <a:rPr kumimoji="0" lang="en-US" sz="23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!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Inconsistent data state!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PR: What happens when the system is back up?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How to recover from inconsistent state?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7C4062F-1CC4-0945-88F5-C3825A9C5C53}"/>
              </a:ext>
            </a:extLst>
          </p:cNvPr>
          <p:cNvSpPr/>
          <p:nvPr/>
        </p:nvSpPr>
        <p:spPr>
          <a:xfrm>
            <a:off x="1507291" y="3772613"/>
            <a:ext cx="9797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 (A, 0)</a:t>
            </a:r>
          </a:p>
        </p:txBody>
      </p:sp>
    </p:spTree>
    <p:extLst>
      <p:ext uri="{BB962C8B-B14F-4D97-AF65-F5344CB8AC3E}">
        <p14:creationId xmlns:p14="http://schemas.microsoft.com/office/powerpoint/2010/main" val="2604006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91279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Case For Atomicity For Resilience To Failures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3452" y="773927"/>
            <a:ext cx="9060548" cy="577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505121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15</a:t>
            </a:fld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70C611E-6C48-EB47-89F0-426ADCF5D0F3}"/>
              </a:ext>
            </a:extLst>
          </p:cNvPr>
          <p:cNvSpPr txBox="1"/>
          <p:nvPr/>
        </p:nvSpPr>
        <p:spPr>
          <a:xfrm>
            <a:off x="0" y="743786"/>
            <a:ext cx="9144000" cy="1553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All or nothing guarantee: Run the set of statements only if the DBMS can guarantee that they </a:t>
            </a:r>
            <a:r>
              <a:rPr lang="en-US" sz="2200" i="1" dirty="0">
                <a:solidFill>
                  <a:srgbClr val="99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will all succeed and be persistent or all will fail and no update they make will be persistent.</a:t>
            </a:r>
            <a:endParaRPr lang="en-US" sz="22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62819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912792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Transactions: Solution to Concurrency &amp; Resilience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505121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16</a:t>
            </a:fld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CC40693-D698-DA43-B3EF-1727CEBFC9BC}"/>
              </a:ext>
            </a:extLst>
          </p:cNvPr>
          <p:cNvSpPr/>
          <p:nvPr/>
        </p:nvSpPr>
        <p:spPr>
          <a:xfrm>
            <a:off x="16079" y="758856"/>
            <a:ext cx="9144000" cy="56157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solidFill>
                  <a:srgbClr val="99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Transactions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are the mechanism for both problems: a set of queries/updates that are treated as an atomic unit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Transactions (appear to) run in isolation during concurrent access (different levels of isolation exist; see later in lecture).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Transactions are atomic,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ie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., either all queries/statement will run and persist any modifications to the DBMS, or none will. 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From users’ perspective: By wrapping a set of queries/updates in one transaction, users obtain concurrency and resilience guarantees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Note: internally DBMSs use 2 completely different algorithms/protocols to provide these functionalities for transactions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E.g.: locking for concurrency; logging for resilience (lecture 19)</a:t>
            </a:r>
          </a:p>
        </p:txBody>
      </p:sp>
    </p:spTree>
    <p:extLst>
      <p:ext uri="{BB962C8B-B14F-4D97-AF65-F5344CB8AC3E}">
        <p14:creationId xmlns:p14="http://schemas.microsoft.com/office/powerpoint/2010/main" val="2485018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912792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Transactions in SQL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41868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505121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17</a:t>
            </a:fld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CC40693-D698-DA43-B3EF-1727CEBFC9BC}"/>
              </a:ext>
            </a:extLst>
          </p:cNvPr>
          <p:cNvSpPr/>
          <p:nvPr/>
        </p:nvSpPr>
        <p:spPr>
          <a:xfrm>
            <a:off x="0" y="773927"/>
            <a:ext cx="9144000" cy="2060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In SQL Standard, transactions begin when a client submits a statement or issues a “Begin Transaction” command &amp; ends with the “commit” keyword.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Autocommit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: treats each statement as a separate transaction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F26C8C5-D334-2940-902D-3DAA6367D4AF}"/>
              </a:ext>
            </a:extLst>
          </p:cNvPr>
          <p:cNvCxnSpPr>
            <a:cxnSpLocks/>
          </p:cNvCxnSpPr>
          <p:nvPr/>
        </p:nvCxnSpPr>
        <p:spPr>
          <a:xfrm rot="16200000">
            <a:off x="4479047" y="-316174"/>
            <a:ext cx="2" cy="82672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C452DFE-25AE-6544-A7D7-A3D2FF85E39A}"/>
              </a:ext>
            </a:extLst>
          </p:cNvPr>
          <p:cNvSpPr txBox="1"/>
          <p:nvPr/>
        </p:nvSpPr>
        <p:spPr>
          <a:xfrm>
            <a:off x="3806939" y="3205266"/>
            <a:ext cx="716689" cy="4564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time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98F5AB-60EB-2449-8FD3-65112449027B}"/>
              </a:ext>
            </a:extLst>
          </p:cNvPr>
          <p:cNvSpPr txBox="1"/>
          <p:nvPr/>
        </p:nvSpPr>
        <p:spPr>
          <a:xfrm>
            <a:off x="201831" y="3779168"/>
            <a:ext cx="955585" cy="395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update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CC271C-6D40-4B42-90D5-F4B4EFEE6A5D}"/>
              </a:ext>
            </a:extLst>
          </p:cNvPr>
          <p:cNvSpPr txBox="1"/>
          <p:nvPr/>
        </p:nvSpPr>
        <p:spPr>
          <a:xfrm>
            <a:off x="679623" y="4085471"/>
            <a:ext cx="955585" cy="395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select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8CD892-4FC1-F443-9880-4C1F61350B9B}"/>
              </a:ext>
            </a:extLst>
          </p:cNvPr>
          <p:cNvSpPr txBox="1"/>
          <p:nvPr/>
        </p:nvSpPr>
        <p:spPr>
          <a:xfrm>
            <a:off x="1120344" y="3779168"/>
            <a:ext cx="955585" cy="395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del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D2D9062-C444-5345-A0A1-761115355EB9}"/>
              </a:ext>
            </a:extLst>
          </p:cNvPr>
          <p:cNvCxnSpPr/>
          <p:nvPr/>
        </p:nvCxnSpPr>
        <p:spPr>
          <a:xfrm>
            <a:off x="1940011" y="3747286"/>
            <a:ext cx="0" cy="642615"/>
          </a:xfrm>
          <a:prstGeom prst="line">
            <a:avLst/>
          </a:prstGeom>
          <a:ln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BA997B0-8D1F-9B4C-8C9D-6C248D7F9DCB}"/>
              </a:ext>
            </a:extLst>
          </p:cNvPr>
          <p:cNvSpPr txBox="1"/>
          <p:nvPr/>
        </p:nvSpPr>
        <p:spPr>
          <a:xfrm>
            <a:off x="1462218" y="4369374"/>
            <a:ext cx="955585" cy="395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commit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3A7082D-C004-C947-9C1B-18F9EC08AA55}"/>
              </a:ext>
            </a:extLst>
          </p:cNvPr>
          <p:cNvSpPr txBox="1"/>
          <p:nvPr/>
        </p:nvSpPr>
        <p:spPr>
          <a:xfrm>
            <a:off x="3665840" y="3835533"/>
            <a:ext cx="955585" cy="395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insert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6296454-9DBC-0542-A8DB-432EE0AB2826}"/>
              </a:ext>
            </a:extLst>
          </p:cNvPr>
          <p:cNvSpPr txBox="1"/>
          <p:nvPr/>
        </p:nvSpPr>
        <p:spPr>
          <a:xfrm>
            <a:off x="2895595" y="3779168"/>
            <a:ext cx="955585" cy="395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select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0722C30-F180-8243-BB67-9AD087BE2A2D}"/>
              </a:ext>
            </a:extLst>
          </p:cNvPr>
          <p:cNvCxnSpPr/>
          <p:nvPr/>
        </p:nvCxnSpPr>
        <p:spPr>
          <a:xfrm>
            <a:off x="3678191" y="3627285"/>
            <a:ext cx="0" cy="642615"/>
          </a:xfrm>
          <a:prstGeom prst="line">
            <a:avLst/>
          </a:prstGeom>
          <a:ln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1782C122-BEFE-1342-9455-878BC981B8CD}"/>
              </a:ext>
            </a:extLst>
          </p:cNvPr>
          <p:cNvSpPr txBox="1"/>
          <p:nvPr/>
        </p:nvSpPr>
        <p:spPr>
          <a:xfrm>
            <a:off x="3200398" y="4249373"/>
            <a:ext cx="955585" cy="395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commit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AD8E81D-FECB-8E4E-ACDA-A092BED6073E}"/>
              </a:ext>
            </a:extLst>
          </p:cNvPr>
          <p:cNvSpPr txBox="1"/>
          <p:nvPr/>
        </p:nvSpPr>
        <p:spPr>
          <a:xfrm>
            <a:off x="1857629" y="3779168"/>
            <a:ext cx="955585" cy="395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del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C20193B-C007-6542-8379-84A621B428B7}"/>
              </a:ext>
            </a:extLst>
          </p:cNvPr>
          <p:cNvSpPr txBox="1"/>
          <p:nvPr/>
        </p:nvSpPr>
        <p:spPr>
          <a:xfrm>
            <a:off x="6042451" y="3892150"/>
            <a:ext cx="955585" cy="395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D77C6CD-7723-DE49-B066-B36A297F93F8}"/>
              </a:ext>
            </a:extLst>
          </p:cNvPr>
          <p:cNvSpPr txBox="1"/>
          <p:nvPr/>
        </p:nvSpPr>
        <p:spPr>
          <a:xfrm>
            <a:off x="2496061" y="4237871"/>
            <a:ext cx="955585" cy="395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insert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08FEEB4-0C6E-EB40-95C4-CA68AD0F956B}"/>
              </a:ext>
            </a:extLst>
          </p:cNvPr>
          <p:cNvSpPr txBox="1"/>
          <p:nvPr/>
        </p:nvSpPr>
        <p:spPr>
          <a:xfrm>
            <a:off x="4160094" y="3835533"/>
            <a:ext cx="955585" cy="395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del</a:t>
            </a:r>
          </a:p>
        </p:txBody>
      </p:sp>
      <p:pic>
        <p:nvPicPr>
          <p:cNvPr id="24" name="Graphic 23" descr="Lightning bolt with solid fill">
            <a:extLst>
              <a:ext uri="{FF2B5EF4-FFF2-40B4-BE49-F238E27FC236}">
                <a16:creationId xmlns:a16="http://schemas.microsoft.com/office/drawing/2014/main" id="{4D3EA07F-C408-1B4E-B1E7-873E03A9E8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04964" y="3633338"/>
            <a:ext cx="436775" cy="436775"/>
          </a:xfrm>
          <a:prstGeom prst="rect">
            <a:avLst/>
          </a:prstGeom>
        </p:spPr>
      </p:pic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F31BF1B0-4931-DC47-8134-DFD36468934C}"/>
              </a:ext>
            </a:extLst>
          </p:cNvPr>
          <p:cNvSpPr/>
          <p:nvPr/>
        </p:nvSpPr>
        <p:spPr>
          <a:xfrm>
            <a:off x="3838829" y="3884234"/>
            <a:ext cx="1099749" cy="385607"/>
          </a:xfrm>
          <a:prstGeom prst="roundRect">
            <a:avLst/>
          </a:prstGeom>
          <a:noFill/>
          <a:ln w="349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9EE24E0-25B3-9341-84CC-4E9FA8D18174}"/>
              </a:ext>
            </a:extLst>
          </p:cNvPr>
          <p:cNvSpPr txBox="1"/>
          <p:nvPr/>
        </p:nvSpPr>
        <p:spPr>
          <a:xfrm>
            <a:off x="4767636" y="2827442"/>
            <a:ext cx="4361936" cy="87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Will not have any effects on the database, i.e., as if they never executed.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9D4BC8D-8382-2D47-A4C9-7FAEAF1F8E3F}"/>
              </a:ext>
            </a:extLst>
          </p:cNvPr>
          <p:cNvSpPr txBox="1"/>
          <p:nvPr/>
        </p:nvSpPr>
        <p:spPr>
          <a:xfrm>
            <a:off x="-53541" y="3376258"/>
            <a:ext cx="996784" cy="395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Client 1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D27A3CE-03E4-EA4C-9584-B142394383A0}"/>
              </a:ext>
            </a:extLst>
          </p:cNvPr>
          <p:cNvCxnSpPr>
            <a:cxnSpLocks/>
          </p:cNvCxnSpPr>
          <p:nvPr/>
        </p:nvCxnSpPr>
        <p:spPr>
          <a:xfrm rot="16200000">
            <a:off x="4479047" y="923632"/>
            <a:ext cx="2" cy="82672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F6352527-D2B4-F94B-AA5C-FE1C4EC85FFC}"/>
              </a:ext>
            </a:extLst>
          </p:cNvPr>
          <p:cNvSpPr txBox="1"/>
          <p:nvPr/>
        </p:nvSpPr>
        <p:spPr>
          <a:xfrm>
            <a:off x="201831" y="5007166"/>
            <a:ext cx="955585" cy="395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select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58B2A9B-C96B-1145-BF9A-154570015D40}"/>
              </a:ext>
            </a:extLst>
          </p:cNvPr>
          <p:cNvSpPr txBox="1"/>
          <p:nvPr/>
        </p:nvSpPr>
        <p:spPr>
          <a:xfrm>
            <a:off x="679623" y="5325277"/>
            <a:ext cx="955585" cy="395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select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E922D37-4287-2C4B-A830-14F5674BC4A4}"/>
              </a:ext>
            </a:extLst>
          </p:cNvPr>
          <p:cNvSpPr txBox="1"/>
          <p:nvPr/>
        </p:nvSpPr>
        <p:spPr>
          <a:xfrm>
            <a:off x="1120344" y="5007166"/>
            <a:ext cx="955585" cy="395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del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7909754-D132-6241-BF65-4A82D65296AD}"/>
              </a:ext>
            </a:extLst>
          </p:cNvPr>
          <p:cNvSpPr txBox="1"/>
          <p:nvPr/>
        </p:nvSpPr>
        <p:spPr>
          <a:xfrm>
            <a:off x="2123292" y="5518913"/>
            <a:ext cx="955585" cy="395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commit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63608DB-1E6A-5C4F-A7D6-E8DEA22FABFE}"/>
              </a:ext>
            </a:extLst>
          </p:cNvPr>
          <p:cNvSpPr txBox="1"/>
          <p:nvPr/>
        </p:nvSpPr>
        <p:spPr>
          <a:xfrm>
            <a:off x="3665840" y="5007166"/>
            <a:ext cx="955585" cy="395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select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8B7CA5B-37D3-3C46-95BA-91EFE8DC0993}"/>
              </a:ext>
            </a:extLst>
          </p:cNvPr>
          <p:cNvSpPr txBox="1"/>
          <p:nvPr/>
        </p:nvSpPr>
        <p:spPr>
          <a:xfrm>
            <a:off x="3047976" y="5325277"/>
            <a:ext cx="955585" cy="395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del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8C84A4BB-9663-1D47-B548-B7711009B05F}"/>
              </a:ext>
            </a:extLst>
          </p:cNvPr>
          <p:cNvCxnSpPr/>
          <p:nvPr/>
        </p:nvCxnSpPr>
        <p:spPr>
          <a:xfrm>
            <a:off x="4604927" y="4863155"/>
            <a:ext cx="0" cy="642615"/>
          </a:xfrm>
          <a:prstGeom prst="line">
            <a:avLst/>
          </a:prstGeom>
          <a:ln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73215520-C679-7046-ABC4-70AD3AF0A467}"/>
              </a:ext>
            </a:extLst>
          </p:cNvPr>
          <p:cNvSpPr txBox="1"/>
          <p:nvPr/>
        </p:nvSpPr>
        <p:spPr>
          <a:xfrm>
            <a:off x="4172633" y="5474557"/>
            <a:ext cx="955585" cy="395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commit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EFFFACB-B8F1-E64A-9F92-BE2990A302DD}"/>
              </a:ext>
            </a:extLst>
          </p:cNvPr>
          <p:cNvSpPr txBox="1"/>
          <p:nvPr/>
        </p:nvSpPr>
        <p:spPr>
          <a:xfrm>
            <a:off x="2022382" y="5007166"/>
            <a:ext cx="477792" cy="395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del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CECE27B-CE00-8044-943A-26AE07C25E8A}"/>
              </a:ext>
            </a:extLst>
          </p:cNvPr>
          <p:cNvSpPr txBox="1"/>
          <p:nvPr/>
        </p:nvSpPr>
        <p:spPr>
          <a:xfrm>
            <a:off x="4852074" y="5107329"/>
            <a:ext cx="955585" cy="395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6A10867-A0DB-6F40-803B-7193031CF299}"/>
              </a:ext>
            </a:extLst>
          </p:cNvPr>
          <p:cNvSpPr txBox="1"/>
          <p:nvPr/>
        </p:nvSpPr>
        <p:spPr>
          <a:xfrm>
            <a:off x="2594939" y="5007166"/>
            <a:ext cx="729027" cy="395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insert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0E02612-A2A6-7749-BE6E-FF965E40B0A9}"/>
              </a:ext>
            </a:extLst>
          </p:cNvPr>
          <p:cNvSpPr txBox="1"/>
          <p:nvPr/>
        </p:nvSpPr>
        <p:spPr>
          <a:xfrm>
            <a:off x="-86515" y="4616064"/>
            <a:ext cx="996784" cy="395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Client 2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0A332DE6-B26C-5740-8C45-4C7671B71F92}"/>
              </a:ext>
            </a:extLst>
          </p:cNvPr>
          <p:cNvCxnSpPr/>
          <p:nvPr/>
        </p:nvCxnSpPr>
        <p:spPr>
          <a:xfrm>
            <a:off x="2586681" y="4953667"/>
            <a:ext cx="0" cy="642615"/>
          </a:xfrm>
          <a:prstGeom prst="line">
            <a:avLst/>
          </a:prstGeom>
          <a:ln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1C812664-D179-A642-988C-9DD4C2DDEA86}"/>
              </a:ext>
            </a:extLst>
          </p:cNvPr>
          <p:cNvSpPr txBox="1"/>
          <p:nvPr/>
        </p:nvSpPr>
        <p:spPr>
          <a:xfrm>
            <a:off x="-53541" y="5843366"/>
            <a:ext cx="8958649" cy="958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client statement and operations really run concurrently and overlap: What guarantees can a DBMS really give with transactions?</a:t>
            </a:r>
          </a:p>
        </p:txBody>
      </p:sp>
    </p:spTree>
    <p:extLst>
      <p:ext uri="{BB962C8B-B14F-4D97-AF65-F5344CB8AC3E}">
        <p14:creationId xmlns:p14="http://schemas.microsoft.com/office/powerpoint/2010/main" val="2523468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  <p:bldP spid="15" grpId="0"/>
      <p:bldP spid="16" grpId="0"/>
      <p:bldP spid="17" grpId="0"/>
      <p:bldP spid="19" grpId="0"/>
      <p:bldP spid="20" grpId="0"/>
      <p:bldP spid="21" grpId="0"/>
      <p:bldP spid="22" grpId="0"/>
      <p:bldP spid="23" grpId="0"/>
      <p:bldP spid="25" grpId="0" animBg="1"/>
      <p:bldP spid="26" grpId="0"/>
      <p:bldP spid="27" grpId="0"/>
      <p:bldP spid="29" grpId="0"/>
      <p:bldP spid="30" grpId="0"/>
      <p:bldP spid="31" grpId="0"/>
      <p:bldP spid="33" grpId="0"/>
      <p:bldP spid="34" grpId="0"/>
      <p:bldP spid="35" grpId="0"/>
      <p:bldP spid="37" grpId="0"/>
      <p:bldP spid="38" grpId="0"/>
      <p:bldP spid="39" grpId="0"/>
      <p:bldP spid="40" grpId="0"/>
      <p:bldP spid="44" grpId="0"/>
      <p:bldP spid="4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8629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Outline For Today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3452" y="773927"/>
            <a:ext cx="9060548" cy="16858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Motivation For Transactions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ACID Properties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Different Levels of Isolation Beyond Serializability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D4509-1FB2-2540-A246-CEF93BA6863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7701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912792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ACID Properties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505121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19</a:t>
            </a:fld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CC40693-D698-DA43-B3EF-1727CEBFC9BC}"/>
              </a:ext>
            </a:extLst>
          </p:cNvPr>
          <p:cNvSpPr/>
          <p:nvPr/>
        </p:nvSpPr>
        <p:spPr>
          <a:xfrm>
            <a:off x="0" y="773927"/>
            <a:ext cx="9144000" cy="25687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Transactions provide 4 main properties known as </a:t>
            </a:r>
            <a:r>
              <a:rPr lang="en-US" sz="2200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ACID properties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A: Atomicity</a:t>
            </a:r>
          </a:p>
          <a:p>
            <a:pPr lvl="1">
              <a:lnSpc>
                <a:spcPct val="150000"/>
              </a:lnSpc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C: Consistency</a:t>
            </a:r>
          </a:p>
          <a:p>
            <a:pPr lvl="1">
              <a:lnSpc>
                <a:spcPct val="150000"/>
              </a:lnSpc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I: Isolation</a:t>
            </a:r>
          </a:p>
          <a:p>
            <a:pPr lvl="1">
              <a:lnSpc>
                <a:spcPct val="150000"/>
              </a:lnSpc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D: Durability</a:t>
            </a:r>
          </a:p>
        </p:txBody>
      </p:sp>
    </p:spTree>
    <p:extLst>
      <p:ext uri="{BB962C8B-B14F-4D97-AF65-F5344CB8AC3E}">
        <p14:creationId xmlns:p14="http://schemas.microsoft.com/office/powerpoint/2010/main" val="504178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912792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AC</a:t>
            </a:r>
            <a:r>
              <a:rPr lang="en-US" sz="3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D: Isolation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505121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20</a:t>
            </a:fld>
            <a:endParaRPr lang="en-US" dirty="0"/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B9BA34AE-A579-2443-A130-7EE4E8B2FBB2}"/>
              </a:ext>
            </a:extLst>
          </p:cNvPr>
          <p:cNvGrpSpPr/>
          <p:nvPr/>
        </p:nvGrpSpPr>
        <p:grpSpPr>
          <a:xfrm>
            <a:off x="1848530" y="971417"/>
            <a:ext cx="5446940" cy="2569920"/>
            <a:chOff x="2502441" y="971417"/>
            <a:chExt cx="5446940" cy="2569920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7FADB867-674F-494F-8C92-A6BA91637290}"/>
                </a:ext>
              </a:extLst>
            </p:cNvPr>
            <p:cNvCxnSpPr>
              <a:cxnSpLocks/>
              <a:stCxn id="15" idx="2"/>
            </p:cNvCxnSpPr>
            <p:nvPr/>
          </p:nvCxnSpPr>
          <p:spPr>
            <a:xfrm>
              <a:off x="3361523" y="1702937"/>
              <a:ext cx="661033" cy="96125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3097F04B-D01F-AD41-A681-B6655AA1C6E3}"/>
                </a:ext>
              </a:extLst>
            </p:cNvPr>
            <p:cNvCxnSpPr>
              <a:cxnSpLocks/>
              <a:endCxn id="32" idx="1"/>
            </p:cNvCxnSpPr>
            <p:nvPr/>
          </p:nvCxnSpPr>
          <p:spPr>
            <a:xfrm>
              <a:off x="4735196" y="1203866"/>
              <a:ext cx="18881" cy="141518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BBB4396F-BA41-7447-89E6-9EFD241F1E7B}"/>
                </a:ext>
              </a:extLst>
            </p:cNvPr>
            <p:cNvGrpSpPr/>
            <p:nvPr/>
          </p:nvGrpSpPr>
          <p:grpSpPr>
            <a:xfrm>
              <a:off x="2502441" y="971417"/>
              <a:ext cx="1224842" cy="731520"/>
              <a:chOff x="933708" y="2623957"/>
              <a:chExt cx="1224842" cy="731520"/>
            </a:xfrm>
          </p:grpSpPr>
          <p:pic>
            <p:nvPicPr>
              <p:cNvPr id="15" name="Graphic 14" descr="Smart Phone with solid fill">
                <a:extLst>
                  <a:ext uri="{FF2B5EF4-FFF2-40B4-BE49-F238E27FC236}">
                    <a16:creationId xmlns:a16="http://schemas.microsoft.com/office/drawing/2014/main" id="{3929832F-9346-534D-9B6D-0B176BBCB2F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427030" y="2623957"/>
                <a:ext cx="731520" cy="731520"/>
              </a:xfrm>
              <a:prstGeom prst="rect">
                <a:avLst/>
              </a:prstGeom>
            </p:spPr>
          </p:pic>
          <p:pic>
            <p:nvPicPr>
              <p:cNvPr id="17" name="Graphic 16" descr="Male profile with solid fill">
                <a:extLst>
                  <a:ext uri="{FF2B5EF4-FFF2-40B4-BE49-F238E27FC236}">
                    <a16:creationId xmlns:a16="http://schemas.microsoft.com/office/drawing/2014/main" id="{01EC253D-84D6-2D4F-9D93-F06E40004F3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933708" y="2623957"/>
                <a:ext cx="731520" cy="731520"/>
              </a:xfrm>
              <a:prstGeom prst="rect">
                <a:avLst/>
              </a:prstGeom>
            </p:spPr>
          </p:pic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C48D6053-1A73-DA44-9D63-511C647D02F2}"/>
                </a:ext>
              </a:extLst>
            </p:cNvPr>
            <p:cNvGrpSpPr/>
            <p:nvPr/>
          </p:nvGrpSpPr>
          <p:grpSpPr>
            <a:xfrm>
              <a:off x="5713324" y="971417"/>
              <a:ext cx="2236057" cy="731520"/>
              <a:chOff x="6115463" y="2623957"/>
              <a:chExt cx="2236057" cy="731520"/>
            </a:xfrm>
          </p:grpSpPr>
          <p:pic>
            <p:nvPicPr>
              <p:cNvPr id="25" name="Graphic 24" descr="Scatterplot with solid fill">
                <a:extLst>
                  <a:ext uri="{FF2B5EF4-FFF2-40B4-BE49-F238E27FC236}">
                    <a16:creationId xmlns:a16="http://schemas.microsoft.com/office/drawing/2014/main" id="{70F5FF71-9E2B-6D43-B9D8-FA4E3F28407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6867731" y="2623957"/>
                <a:ext cx="731520" cy="731520"/>
              </a:xfrm>
              <a:prstGeom prst="rect">
                <a:avLst/>
              </a:prstGeom>
            </p:spPr>
          </p:pic>
          <p:pic>
            <p:nvPicPr>
              <p:cNvPr id="26" name="Graphic 25" descr="Gauge outline">
                <a:extLst>
                  <a:ext uri="{FF2B5EF4-FFF2-40B4-BE49-F238E27FC236}">
                    <a16:creationId xmlns:a16="http://schemas.microsoft.com/office/drawing/2014/main" id="{2F378914-2FFE-1A4A-87EA-646180CEAC4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7620000" y="2623957"/>
                <a:ext cx="731520" cy="731520"/>
              </a:xfrm>
              <a:prstGeom prst="rect">
                <a:avLst/>
              </a:prstGeom>
            </p:spPr>
          </p:pic>
          <p:pic>
            <p:nvPicPr>
              <p:cNvPr id="27" name="Graphic 26" descr="Office worker female outline">
                <a:extLst>
                  <a:ext uri="{FF2B5EF4-FFF2-40B4-BE49-F238E27FC236}">
                    <a16:creationId xmlns:a16="http://schemas.microsoft.com/office/drawing/2014/main" id="{C5DF8779-D586-F948-B7D4-C106D1DB267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6115463" y="2623957"/>
                <a:ext cx="731520" cy="731520"/>
              </a:xfrm>
              <a:prstGeom prst="rect">
                <a:avLst/>
              </a:prstGeom>
            </p:spPr>
          </p:pic>
        </p:grp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2D6DF35D-97DC-024C-B664-9749F11ACFAF}"/>
                </a:ext>
              </a:extLst>
            </p:cNvPr>
            <p:cNvCxnSpPr>
              <a:cxnSpLocks/>
              <a:stCxn id="27" idx="2"/>
            </p:cNvCxnSpPr>
            <p:nvPr/>
          </p:nvCxnSpPr>
          <p:spPr>
            <a:xfrm flipH="1">
              <a:off x="5400656" y="1702937"/>
              <a:ext cx="678428" cy="97101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Can 31">
              <a:extLst>
                <a:ext uri="{FF2B5EF4-FFF2-40B4-BE49-F238E27FC236}">
                  <a16:creationId xmlns:a16="http://schemas.microsoft.com/office/drawing/2014/main" id="{D9DA1252-763D-D44E-B1E9-A44930D5C40D}"/>
                </a:ext>
              </a:extLst>
            </p:cNvPr>
            <p:cNvSpPr/>
            <p:nvPr/>
          </p:nvSpPr>
          <p:spPr>
            <a:xfrm>
              <a:off x="3744576" y="2619046"/>
              <a:ext cx="2019002" cy="922291"/>
            </a:xfrm>
            <a:prstGeom prst="can">
              <a:avLst>
                <a:gd name="adj" fmla="val 25000"/>
              </a:avLst>
            </a:prstGeom>
            <a:noFill/>
            <a:ln w="34925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dirty="0">
                  <a:solidFill>
                    <a:schemeClr val="tx1"/>
                  </a:solidFill>
                </a:rPr>
                <a:t>DBMS</a:t>
              </a:r>
            </a:p>
          </p:txBody>
        </p: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CD0AAC5B-F611-214E-AE00-A720F9D02B74}"/>
                </a:ext>
              </a:extLst>
            </p:cNvPr>
            <p:cNvGrpSpPr/>
            <p:nvPr/>
          </p:nvGrpSpPr>
          <p:grpSpPr>
            <a:xfrm>
              <a:off x="4022557" y="993206"/>
              <a:ext cx="1463040" cy="731520"/>
              <a:chOff x="2174036" y="2623957"/>
              <a:chExt cx="1463040" cy="731520"/>
            </a:xfrm>
          </p:grpSpPr>
          <p:pic>
            <p:nvPicPr>
              <p:cNvPr id="65" name="Graphic 64" descr="Browser window with solid fill">
                <a:extLst>
                  <a:ext uri="{FF2B5EF4-FFF2-40B4-BE49-F238E27FC236}">
                    <a16:creationId xmlns:a16="http://schemas.microsoft.com/office/drawing/2014/main" id="{3FD552B9-996A-5E48-8D0D-8C072C501DB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2905556" y="2623957"/>
                <a:ext cx="731520" cy="731520"/>
              </a:xfrm>
              <a:prstGeom prst="rect">
                <a:avLst/>
              </a:prstGeom>
            </p:spPr>
          </p:pic>
          <p:pic>
            <p:nvPicPr>
              <p:cNvPr id="67" name="Graphic 66" descr="Female Profile with solid fill">
                <a:extLst>
                  <a:ext uri="{FF2B5EF4-FFF2-40B4-BE49-F238E27FC236}">
                    <a16:creationId xmlns:a16="http://schemas.microsoft.com/office/drawing/2014/main" id="{E278D308-96B0-1C47-BB25-CB0933AF018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p:blipFill>
            <p:spPr>
              <a:xfrm>
                <a:off x="2174036" y="2623957"/>
                <a:ext cx="731520" cy="731520"/>
              </a:xfrm>
              <a:prstGeom prst="rect">
                <a:avLst/>
              </a:prstGeom>
            </p:spPr>
          </p:pic>
        </p:grpSp>
      </p:grpSp>
      <p:sp>
        <p:nvSpPr>
          <p:cNvPr id="75" name="Rectangle 74">
            <a:extLst>
              <a:ext uri="{FF2B5EF4-FFF2-40B4-BE49-F238E27FC236}">
                <a16:creationId xmlns:a16="http://schemas.microsoft.com/office/drawing/2014/main" id="{24061AA1-3790-1D49-89C2-1509A8E5139B}"/>
              </a:ext>
            </a:extLst>
          </p:cNvPr>
          <p:cNvSpPr/>
          <p:nvPr/>
        </p:nvSpPr>
        <p:spPr>
          <a:xfrm>
            <a:off x="16079" y="3644619"/>
            <a:ext cx="9144000" cy="30765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solidFill>
                  <a:srgbClr val="99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Serializability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sz="2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A set of transactions 𝐓 might run concurrently and interleave but final outcome is equivalent to </a:t>
            </a:r>
            <a:r>
              <a:rPr lang="en-US" sz="2200" i="1" dirty="0">
                <a:solidFill>
                  <a:srgbClr val="99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some serial order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of executing the transactions in 𝐓. 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But DBMSs also provide lower isolation guarantees (later).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Question to ponder: How can a DBMS guarantee serializability? 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Locking or “verifying modifications at commit time” (next lecture)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95EDBB58-47C5-464F-8D7A-0D795B24ACFA}"/>
              </a:ext>
            </a:extLst>
          </p:cNvPr>
          <p:cNvSpPr txBox="1"/>
          <p:nvPr/>
        </p:nvSpPr>
        <p:spPr>
          <a:xfrm>
            <a:off x="6190140" y="1931656"/>
            <a:ext cx="152561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INSERT …</a:t>
            </a:r>
          </a:p>
          <a:p>
            <a:r>
              <a:rPr lang="en-US" dirty="0"/>
              <a:t>SELECT …</a:t>
            </a:r>
          </a:p>
          <a:p>
            <a:r>
              <a:rPr lang="en-US" dirty="0"/>
              <a:t>DELETE …</a:t>
            </a:r>
          </a:p>
          <a:p>
            <a:r>
              <a:rPr lang="en-US" dirty="0"/>
              <a:t>COMMIT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D13D068-7AAF-C944-8EA2-9194B4D2B6E0}"/>
              </a:ext>
            </a:extLst>
          </p:cNvPr>
          <p:cNvCxnSpPr>
            <a:cxnSpLocks/>
          </p:cNvCxnSpPr>
          <p:nvPr/>
        </p:nvCxnSpPr>
        <p:spPr>
          <a:xfrm flipH="1">
            <a:off x="5605911" y="2381702"/>
            <a:ext cx="64773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46CEB63A-D792-2A4C-9F0D-AF710BED4C13}"/>
              </a:ext>
            </a:extLst>
          </p:cNvPr>
          <p:cNvSpPr txBox="1"/>
          <p:nvPr/>
        </p:nvSpPr>
        <p:spPr>
          <a:xfrm>
            <a:off x="2674075" y="2006291"/>
            <a:ext cx="476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T1</a:t>
            </a:r>
          </a:p>
          <a:p>
            <a:r>
              <a:rPr lang="en-US" dirty="0"/>
              <a:t>T2</a:t>
            </a:r>
          </a:p>
          <a:p>
            <a:r>
              <a:rPr lang="en-US" dirty="0"/>
              <a:t>T3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E1DCB72-1B68-8F47-BACB-52A9A5534557}"/>
              </a:ext>
            </a:extLst>
          </p:cNvPr>
          <p:cNvSpPr txBox="1"/>
          <p:nvPr/>
        </p:nvSpPr>
        <p:spPr>
          <a:xfrm>
            <a:off x="3707565" y="1929126"/>
            <a:ext cx="4765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T4</a:t>
            </a:r>
          </a:p>
          <a:p>
            <a:r>
              <a:rPr lang="en-US" dirty="0"/>
              <a:t>T5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ED8BAB1-B82D-1F46-B99C-EFBE9CC4EA5E}"/>
              </a:ext>
            </a:extLst>
          </p:cNvPr>
          <p:cNvSpPr txBox="1"/>
          <p:nvPr/>
        </p:nvSpPr>
        <p:spPr>
          <a:xfrm>
            <a:off x="5129353" y="1920037"/>
            <a:ext cx="476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T6</a:t>
            </a:r>
          </a:p>
          <a:p>
            <a:r>
              <a:rPr lang="en-US" dirty="0"/>
              <a:t>T7</a:t>
            </a:r>
          </a:p>
          <a:p>
            <a:r>
              <a:rPr lang="en-US" dirty="0"/>
              <a:t>T8</a:t>
            </a:r>
          </a:p>
        </p:txBody>
      </p:sp>
    </p:spTree>
    <p:extLst>
      <p:ext uri="{BB962C8B-B14F-4D97-AF65-F5344CB8AC3E}">
        <p14:creationId xmlns:p14="http://schemas.microsoft.com/office/powerpoint/2010/main" val="2388749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" grpId="0"/>
      <p:bldP spid="29" grpId="0"/>
      <p:bldP spid="30" grpId="0"/>
      <p:bldP spid="3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91279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Recall Example Problems With Concurrency (1)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505121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21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FBB8A0E-C312-6C46-A0EA-C76C0B198967}"/>
              </a:ext>
            </a:extLst>
          </p:cNvPr>
          <p:cNvGrpSpPr/>
          <p:nvPr/>
        </p:nvGrpSpPr>
        <p:grpSpPr>
          <a:xfrm>
            <a:off x="512805" y="863721"/>
            <a:ext cx="3008870" cy="1200329"/>
            <a:chOff x="451022" y="1562952"/>
            <a:chExt cx="8241956" cy="97199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A566D91C-4C0D-5C45-AFA4-E7A5496FF667}"/>
                </a:ext>
              </a:extLst>
            </p:cNvPr>
            <p:cNvSpPr/>
            <p:nvPr/>
          </p:nvSpPr>
          <p:spPr>
            <a:xfrm>
              <a:off x="451022" y="1562952"/>
              <a:ext cx="8241956" cy="97199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Trx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 1:</a:t>
              </a:r>
            </a:p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UPDATE Order </a:t>
              </a:r>
            </a:p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SET price = price + 5</a:t>
              </a:r>
            </a:p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WHERE </a:t>
              </a:r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oid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 = o1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C1B0A86-2592-1045-AF04-784B15D63C0A}"/>
                </a:ext>
              </a:extLst>
            </p:cNvPr>
            <p:cNvSpPr/>
            <p:nvPr/>
          </p:nvSpPr>
          <p:spPr>
            <a:xfrm>
              <a:off x="451022" y="1562952"/>
              <a:ext cx="8241956" cy="92333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9E91C83C-B408-AC46-BE03-D6B02F0BE0FF}"/>
              </a:ext>
            </a:extLst>
          </p:cNvPr>
          <p:cNvGrpSpPr/>
          <p:nvPr/>
        </p:nvGrpSpPr>
        <p:grpSpPr>
          <a:xfrm>
            <a:off x="5158947" y="868817"/>
            <a:ext cx="3008870" cy="1166285"/>
            <a:chOff x="451022" y="1562952"/>
            <a:chExt cx="8241956" cy="923330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FE16775A-BCAD-6A45-AA5C-0A9BE9459D89}"/>
                </a:ext>
              </a:extLst>
            </p:cNvPr>
            <p:cNvSpPr/>
            <p:nvPr/>
          </p:nvSpPr>
          <p:spPr>
            <a:xfrm>
              <a:off x="451022" y="1562952"/>
              <a:ext cx="8241956" cy="7638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Trx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 2:</a:t>
              </a:r>
            </a:p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UPDATE Order </a:t>
              </a:r>
            </a:p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SET price = price + 10</a:t>
              </a:r>
            </a:p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WHERE </a:t>
              </a:r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oid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 = o1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EB8E5CCD-B7EE-CD40-A4C9-AEBFB727B06F}"/>
                </a:ext>
              </a:extLst>
            </p:cNvPr>
            <p:cNvSpPr/>
            <p:nvPr/>
          </p:nvSpPr>
          <p:spPr>
            <a:xfrm>
              <a:off x="451022" y="1562952"/>
              <a:ext cx="8241956" cy="92333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dirty="0">
                <a:solidFill>
                  <a:schemeClr val="tx1"/>
                </a:solidFill>
              </a:endParaRPr>
            </a:p>
          </p:txBody>
        </p:sp>
      </p:grpSp>
      <p:graphicFrame>
        <p:nvGraphicFramePr>
          <p:cNvPr id="55" name="Table 21">
            <a:extLst>
              <a:ext uri="{FF2B5EF4-FFF2-40B4-BE49-F238E27FC236}">
                <a16:creationId xmlns:a16="http://schemas.microsoft.com/office/drawing/2014/main" id="{CB87AB4B-68CC-DB4F-88F2-CD58E96755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9046928"/>
              </p:ext>
            </p:extLst>
          </p:nvPr>
        </p:nvGraphicFramePr>
        <p:xfrm>
          <a:off x="2766359" y="2084657"/>
          <a:ext cx="3226309" cy="741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1968">
                  <a:extLst>
                    <a:ext uri="{9D8B030D-6E8A-4147-A177-3AD203B41FA5}">
                      <a16:colId xmlns:a16="http://schemas.microsoft.com/office/drawing/2014/main" val="1219927245"/>
                    </a:ext>
                  </a:extLst>
                </a:gridCol>
                <a:gridCol w="963930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  <a:gridCol w="1061593">
                  <a:extLst>
                    <a:ext uri="{9D8B030D-6E8A-4147-A177-3AD203B41FA5}">
                      <a16:colId xmlns:a16="http://schemas.microsoft.com/office/drawing/2014/main" val="3729982082"/>
                    </a:ext>
                  </a:extLst>
                </a:gridCol>
                <a:gridCol w="698818">
                  <a:extLst>
                    <a:ext uri="{9D8B030D-6E8A-4147-A177-3AD203B41FA5}">
                      <a16:colId xmlns:a16="http://schemas.microsoft.com/office/drawing/2014/main" val="2650960286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en-US" dirty="0"/>
                        <a:t>Order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29962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bust1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bookA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88821865"/>
                  </a:ext>
                </a:extLst>
              </a:tr>
            </a:tbl>
          </a:graphicData>
        </a:graphic>
      </p:graphicFrame>
      <p:sp>
        <p:nvSpPr>
          <p:cNvPr id="58" name="TextBox 57">
            <a:extLst>
              <a:ext uri="{FF2B5EF4-FFF2-40B4-BE49-F238E27FC236}">
                <a16:creationId xmlns:a16="http://schemas.microsoft.com/office/drawing/2014/main" id="{BC1E889A-22D0-7240-99A8-5007E85622AE}"/>
              </a:ext>
            </a:extLst>
          </p:cNvPr>
          <p:cNvSpPr txBox="1"/>
          <p:nvPr/>
        </p:nvSpPr>
        <p:spPr>
          <a:xfrm>
            <a:off x="0" y="2668949"/>
            <a:ext cx="9144000" cy="5373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Attribute-level inconsistency In absence of safe concurrency</a:t>
            </a: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D4C64FF4-9CD0-0E4E-8335-043B2189E5FD}"/>
              </a:ext>
            </a:extLst>
          </p:cNvPr>
          <p:cNvGrpSpPr/>
          <p:nvPr/>
        </p:nvGrpSpPr>
        <p:grpSpPr>
          <a:xfrm>
            <a:off x="-161537" y="3813354"/>
            <a:ext cx="742137" cy="1557002"/>
            <a:chOff x="1848913" y="2405125"/>
            <a:chExt cx="456472" cy="2047749"/>
          </a:xfrm>
        </p:grpSpPr>
        <p:cxnSp>
          <p:nvCxnSpPr>
            <p:cNvPr id="71" name="Straight Arrow Connector 70">
              <a:extLst>
                <a:ext uri="{FF2B5EF4-FFF2-40B4-BE49-F238E27FC236}">
                  <a16:creationId xmlns:a16="http://schemas.microsoft.com/office/drawing/2014/main" id="{17A0BACC-EED4-7B46-BEBC-95067DC3717A}"/>
                </a:ext>
              </a:extLst>
            </p:cNvPr>
            <p:cNvCxnSpPr>
              <a:cxnSpLocks/>
            </p:cNvCxnSpPr>
            <p:nvPr/>
          </p:nvCxnSpPr>
          <p:spPr>
            <a:xfrm>
              <a:off x="2084976" y="2405125"/>
              <a:ext cx="1" cy="204774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48D0C19F-371E-044F-8854-0F6982166A1E}"/>
                </a:ext>
              </a:extLst>
            </p:cNvPr>
            <p:cNvSpPr txBox="1"/>
            <p:nvPr/>
          </p:nvSpPr>
          <p:spPr>
            <a:xfrm rot="16200000">
              <a:off x="1645739" y="3127972"/>
              <a:ext cx="862819" cy="4564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time</a:t>
              </a:r>
            </a:p>
          </p:txBody>
        </p:sp>
      </p:grpSp>
      <p:sp>
        <p:nvSpPr>
          <p:cNvPr id="84" name="Rectangle 83">
            <a:extLst>
              <a:ext uri="{FF2B5EF4-FFF2-40B4-BE49-F238E27FC236}">
                <a16:creationId xmlns:a16="http://schemas.microsoft.com/office/drawing/2014/main" id="{76F44644-59E8-5E4C-8ED3-756D7FE36D12}"/>
              </a:ext>
            </a:extLst>
          </p:cNvPr>
          <p:cNvSpPr/>
          <p:nvPr/>
        </p:nvSpPr>
        <p:spPr>
          <a:xfrm>
            <a:off x="308756" y="3335184"/>
            <a:ext cx="12234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r:(…,$20) 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530D59BF-7599-1F4B-81B1-F42EECEEEEDE}"/>
              </a:ext>
            </a:extLst>
          </p:cNvPr>
          <p:cNvSpPr/>
          <p:nvPr/>
        </p:nvSpPr>
        <p:spPr>
          <a:xfrm>
            <a:off x="1391410" y="3672411"/>
            <a:ext cx="12875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r:(…, $20) 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6C41EDC0-84F2-9043-8EB7-EBD6186EF497}"/>
              </a:ext>
            </a:extLst>
          </p:cNvPr>
          <p:cNvSpPr/>
          <p:nvPr/>
        </p:nvSpPr>
        <p:spPr>
          <a:xfrm>
            <a:off x="308756" y="4052068"/>
            <a:ext cx="12490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w:(…,$25)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BEB1030B-0368-6243-90EE-6DB15CB7F2C5}"/>
              </a:ext>
            </a:extLst>
          </p:cNvPr>
          <p:cNvSpPr/>
          <p:nvPr/>
        </p:nvSpPr>
        <p:spPr>
          <a:xfrm>
            <a:off x="1391410" y="4421400"/>
            <a:ext cx="13131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w:(…,$30) 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EB124DC6-DE64-B744-B3FA-E6F8FBEBF0D9}"/>
              </a:ext>
            </a:extLst>
          </p:cNvPr>
          <p:cNvSpPr/>
          <p:nvPr/>
        </p:nvSpPr>
        <p:spPr>
          <a:xfrm>
            <a:off x="2645864" y="3335184"/>
            <a:ext cx="12234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r:(…,$20) 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E7F55094-693A-2344-A757-7F8C8055B677}"/>
              </a:ext>
            </a:extLst>
          </p:cNvPr>
          <p:cNvSpPr/>
          <p:nvPr/>
        </p:nvSpPr>
        <p:spPr>
          <a:xfrm>
            <a:off x="3801552" y="4052068"/>
            <a:ext cx="12875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r:(…, $25) 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DB48B3C5-2F2C-F543-B6D5-CE3CD1AF2153}"/>
              </a:ext>
            </a:extLst>
          </p:cNvPr>
          <p:cNvSpPr/>
          <p:nvPr/>
        </p:nvSpPr>
        <p:spPr>
          <a:xfrm>
            <a:off x="2664194" y="3672411"/>
            <a:ext cx="12490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w:(…,$25)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8BFC46F0-7D49-684C-B54C-21E5F23CBFD8}"/>
              </a:ext>
            </a:extLst>
          </p:cNvPr>
          <p:cNvSpPr/>
          <p:nvPr/>
        </p:nvSpPr>
        <p:spPr>
          <a:xfrm>
            <a:off x="3790301" y="4421400"/>
            <a:ext cx="13131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w:(…,$35) 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CFAE2326-E513-6F41-87F2-F9801861427C}"/>
              </a:ext>
            </a:extLst>
          </p:cNvPr>
          <p:cNvSpPr/>
          <p:nvPr/>
        </p:nvSpPr>
        <p:spPr>
          <a:xfrm>
            <a:off x="5304570" y="3666944"/>
            <a:ext cx="12234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r:(…,$20) 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77744985-07B7-9B4F-BDCF-4886752C21DB}"/>
              </a:ext>
            </a:extLst>
          </p:cNvPr>
          <p:cNvSpPr/>
          <p:nvPr/>
        </p:nvSpPr>
        <p:spPr>
          <a:xfrm>
            <a:off x="6534718" y="3335184"/>
            <a:ext cx="12875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r:(…, $20) 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088DCF88-233A-654A-8B18-9EB933AE304E}"/>
              </a:ext>
            </a:extLst>
          </p:cNvPr>
          <p:cNvSpPr/>
          <p:nvPr/>
        </p:nvSpPr>
        <p:spPr>
          <a:xfrm>
            <a:off x="5368138" y="4421400"/>
            <a:ext cx="12490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w:(…,$25)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3A2FA146-14BC-6943-B26B-A02E1FEE2142}"/>
              </a:ext>
            </a:extLst>
          </p:cNvPr>
          <p:cNvSpPr/>
          <p:nvPr/>
        </p:nvSpPr>
        <p:spPr>
          <a:xfrm>
            <a:off x="6502900" y="4052068"/>
            <a:ext cx="13131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w:(…,$30) 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3642B233-C774-5941-B19C-856B44A57DF8}"/>
              </a:ext>
            </a:extLst>
          </p:cNvPr>
          <p:cNvSpPr/>
          <p:nvPr/>
        </p:nvSpPr>
        <p:spPr>
          <a:xfrm>
            <a:off x="8332796" y="3880723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EACC4D-221F-A445-ADF4-31614991C957}"/>
              </a:ext>
            </a:extLst>
          </p:cNvPr>
          <p:cNvSpPr txBox="1"/>
          <p:nvPr/>
        </p:nvSpPr>
        <p:spPr>
          <a:xfrm>
            <a:off x="596048" y="4801057"/>
            <a:ext cx="15324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Possibility 1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1C1608FC-D856-4F46-94BE-84BF1CEB1B23}"/>
              </a:ext>
            </a:extLst>
          </p:cNvPr>
          <p:cNvSpPr txBox="1"/>
          <p:nvPr/>
        </p:nvSpPr>
        <p:spPr>
          <a:xfrm>
            <a:off x="2912913" y="4790732"/>
            <a:ext cx="15324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Possibility 2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FA4D0F9B-08F2-9347-B098-27322B0DE5CA}"/>
              </a:ext>
            </a:extLst>
          </p:cNvPr>
          <p:cNvSpPr txBox="1"/>
          <p:nvPr/>
        </p:nvSpPr>
        <p:spPr>
          <a:xfrm>
            <a:off x="5753599" y="4806524"/>
            <a:ext cx="15324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Possibility 3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47C00F18-F4AF-9B49-862C-848C35E471C6}"/>
              </a:ext>
            </a:extLst>
          </p:cNvPr>
          <p:cNvSpPr txBox="1"/>
          <p:nvPr/>
        </p:nvSpPr>
        <p:spPr>
          <a:xfrm>
            <a:off x="7779408" y="5168118"/>
            <a:ext cx="15324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89B7711-C171-AE4F-A26B-EF68BC53EA9F}"/>
              </a:ext>
            </a:extLst>
          </p:cNvPr>
          <p:cNvCxnSpPr>
            <a:cxnSpLocks/>
          </p:cNvCxnSpPr>
          <p:nvPr/>
        </p:nvCxnSpPr>
        <p:spPr>
          <a:xfrm flipH="1">
            <a:off x="2683869" y="3390818"/>
            <a:ext cx="6956" cy="1718475"/>
          </a:xfrm>
          <a:prstGeom prst="line">
            <a:avLst/>
          </a:prstGeom>
          <a:ln>
            <a:solidFill>
              <a:srgbClr val="C00000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70BA0E7F-8A1D-DD4F-AB09-B938B77F4DB0}"/>
              </a:ext>
            </a:extLst>
          </p:cNvPr>
          <p:cNvCxnSpPr>
            <a:cxnSpLocks/>
          </p:cNvCxnSpPr>
          <p:nvPr/>
        </p:nvCxnSpPr>
        <p:spPr>
          <a:xfrm flipH="1">
            <a:off x="5161253" y="3390818"/>
            <a:ext cx="6956" cy="1718475"/>
          </a:xfrm>
          <a:prstGeom prst="line">
            <a:avLst/>
          </a:prstGeom>
          <a:ln>
            <a:solidFill>
              <a:srgbClr val="C00000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308E142D-51F5-6745-A3DE-D06F35F58104}"/>
              </a:ext>
            </a:extLst>
          </p:cNvPr>
          <p:cNvCxnSpPr>
            <a:cxnSpLocks/>
          </p:cNvCxnSpPr>
          <p:nvPr/>
        </p:nvCxnSpPr>
        <p:spPr>
          <a:xfrm flipH="1">
            <a:off x="7808722" y="3382595"/>
            <a:ext cx="6956" cy="1718475"/>
          </a:xfrm>
          <a:prstGeom prst="line">
            <a:avLst/>
          </a:prstGeom>
          <a:ln>
            <a:solidFill>
              <a:srgbClr val="C00000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7178EE07-D502-854B-B558-7E4990C3A7C5}"/>
              </a:ext>
            </a:extLst>
          </p:cNvPr>
          <p:cNvSpPr/>
          <p:nvPr/>
        </p:nvSpPr>
        <p:spPr>
          <a:xfrm>
            <a:off x="6154086" y="4961029"/>
            <a:ext cx="697627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F050728-4FED-6541-AEEB-CC84413B9FAB}"/>
              </a:ext>
            </a:extLst>
          </p:cNvPr>
          <p:cNvSpPr/>
          <p:nvPr/>
        </p:nvSpPr>
        <p:spPr>
          <a:xfrm>
            <a:off x="3532380" y="4961030"/>
            <a:ext cx="761747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60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✓</a:t>
            </a:r>
            <a:endParaRPr lang="en-US" sz="6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DB397AE-B9FC-784F-A388-43EA165A67C0}"/>
              </a:ext>
            </a:extLst>
          </p:cNvPr>
          <p:cNvSpPr/>
          <p:nvPr/>
        </p:nvSpPr>
        <p:spPr>
          <a:xfrm>
            <a:off x="745599" y="5042214"/>
            <a:ext cx="697627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A294A6A-3CB1-9144-8068-ECC0FF3656F3}"/>
              </a:ext>
            </a:extLst>
          </p:cNvPr>
          <p:cNvSpPr txBox="1"/>
          <p:nvPr/>
        </p:nvSpPr>
        <p:spPr>
          <a:xfrm>
            <a:off x="-11140" y="6057877"/>
            <a:ext cx="90060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Two possibilities now: T1; T2 (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e.g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possibility 2) </a:t>
            </a:r>
          </a:p>
          <a:p>
            <a:pPr algn="ctr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or T2; T1 (not shown in figure but also leading to $35)</a:t>
            </a:r>
          </a:p>
        </p:txBody>
      </p:sp>
    </p:spTree>
    <p:extLst>
      <p:ext uri="{BB962C8B-B14F-4D97-AF65-F5344CB8AC3E}">
        <p14:creationId xmlns:p14="http://schemas.microsoft.com/office/powerpoint/2010/main" val="2042267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  <p:bldP spid="42" grpId="0"/>
      <p:bldP spid="4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91279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Recall Example Problems With Concurrency (2)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505121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22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FBB8A0E-C312-6C46-A0EA-C76C0B198967}"/>
              </a:ext>
            </a:extLst>
          </p:cNvPr>
          <p:cNvGrpSpPr/>
          <p:nvPr/>
        </p:nvGrpSpPr>
        <p:grpSpPr>
          <a:xfrm>
            <a:off x="512805" y="1100898"/>
            <a:ext cx="3008870" cy="1196766"/>
            <a:chOff x="451022" y="1562952"/>
            <a:chExt cx="8241956" cy="92333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A566D91C-4C0D-5C45-AFA4-E7A5496FF667}"/>
                </a:ext>
              </a:extLst>
            </p:cNvPr>
            <p:cNvSpPr/>
            <p:nvPr/>
          </p:nvSpPr>
          <p:spPr>
            <a:xfrm>
              <a:off x="451022" y="1562952"/>
              <a:ext cx="8241956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Trx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 1:</a:t>
              </a:r>
            </a:p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UPDATE Order </a:t>
              </a:r>
            </a:p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SET price = price + 5</a:t>
              </a:r>
            </a:p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WHERE </a:t>
              </a:r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oid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 = o1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C1B0A86-2592-1045-AF04-784B15D63C0A}"/>
                </a:ext>
              </a:extLst>
            </p:cNvPr>
            <p:cNvSpPr/>
            <p:nvPr/>
          </p:nvSpPr>
          <p:spPr>
            <a:xfrm>
              <a:off x="451022" y="1562952"/>
              <a:ext cx="8241956" cy="92333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9E91C83C-B408-AC46-BE03-D6B02F0BE0FF}"/>
              </a:ext>
            </a:extLst>
          </p:cNvPr>
          <p:cNvGrpSpPr/>
          <p:nvPr/>
        </p:nvGrpSpPr>
        <p:grpSpPr>
          <a:xfrm>
            <a:off x="5158947" y="1105994"/>
            <a:ext cx="3008870" cy="1191663"/>
            <a:chOff x="451022" y="1562952"/>
            <a:chExt cx="8241956" cy="923330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FE16775A-BCAD-6A45-AA5C-0A9BE9459D89}"/>
                </a:ext>
              </a:extLst>
            </p:cNvPr>
            <p:cNvSpPr/>
            <p:nvPr/>
          </p:nvSpPr>
          <p:spPr>
            <a:xfrm>
              <a:off x="451022" y="1562952"/>
              <a:ext cx="8241956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Trx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 2:</a:t>
              </a:r>
            </a:p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UPDATE Order </a:t>
              </a:r>
            </a:p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SET </a:t>
              </a:r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pID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 = </a:t>
              </a:r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WatchA</a:t>
              </a:r>
              <a:endParaRPr lang="en-US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WHERE </a:t>
              </a:r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oid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 = o1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EB8E5CCD-B7EE-CD40-A4C9-AEBFB727B06F}"/>
                </a:ext>
              </a:extLst>
            </p:cNvPr>
            <p:cNvSpPr/>
            <p:nvPr/>
          </p:nvSpPr>
          <p:spPr>
            <a:xfrm>
              <a:off x="451022" y="1562952"/>
              <a:ext cx="8241956" cy="92333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dirty="0">
                <a:solidFill>
                  <a:schemeClr val="tx1"/>
                </a:solidFill>
              </a:endParaRPr>
            </a:p>
          </p:txBody>
        </p:sp>
      </p:grpSp>
      <p:graphicFrame>
        <p:nvGraphicFramePr>
          <p:cNvPr id="55" name="Table 21">
            <a:extLst>
              <a:ext uri="{FF2B5EF4-FFF2-40B4-BE49-F238E27FC236}">
                <a16:creationId xmlns:a16="http://schemas.microsoft.com/office/drawing/2014/main" id="{CB87AB4B-68CC-DB4F-88F2-CD58E96755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296186"/>
              </p:ext>
            </p:extLst>
          </p:nvPr>
        </p:nvGraphicFramePr>
        <p:xfrm>
          <a:off x="2861315" y="2410875"/>
          <a:ext cx="3226309" cy="741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1968">
                  <a:extLst>
                    <a:ext uri="{9D8B030D-6E8A-4147-A177-3AD203B41FA5}">
                      <a16:colId xmlns:a16="http://schemas.microsoft.com/office/drawing/2014/main" val="1219927245"/>
                    </a:ext>
                  </a:extLst>
                </a:gridCol>
                <a:gridCol w="963930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  <a:gridCol w="1061593">
                  <a:extLst>
                    <a:ext uri="{9D8B030D-6E8A-4147-A177-3AD203B41FA5}">
                      <a16:colId xmlns:a16="http://schemas.microsoft.com/office/drawing/2014/main" val="3729982082"/>
                    </a:ext>
                  </a:extLst>
                </a:gridCol>
                <a:gridCol w="698818">
                  <a:extLst>
                    <a:ext uri="{9D8B030D-6E8A-4147-A177-3AD203B41FA5}">
                      <a16:colId xmlns:a16="http://schemas.microsoft.com/office/drawing/2014/main" val="2650960286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en-US" dirty="0"/>
                        <a:t>Order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29962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cust1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BookA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88821865"/>
                  </a:ext>
                </a:extLst>
              </a:tr>
            </a:tbl>
          </a:graphicData>
        </a:graphic>
      </p:graphicFrame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D5569DA9-B71A-A34F-B5B8-7C2636FE569D}"/>
              </a:ext>
            </a:extLst>
          </p:cNvPr>
          <p:cNvSpPr/>
          <p:nvPr/>
        </p:nvSpPr>
        <p:spPr>
          <a:xfrm>
            <a:off x="5373338" y="2770308"/>
            <a:ext cx="714286" cy="364524"/>
          </a:xfrm>
          <a:prstGeom prst="roundRect">
            <a:avLst/>
          </a:prstGeom>
          <a:noFill/>
          <a:ln w="349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C1E889A-22D0-7240-99A8-5007E85622AE}"/>
              </a:ext>
            </a:extLst>
          </p:cNvPr>
          <p:cNvSpPr txBox="1"/>
          <p:nvPr/>
        </p:nvSpPr>
        <p:spPr>
          <a:xfrm>
            <a:off x="0" y="3148610"/>
            <a:ext cx="9144000" cy="5373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Possible Tuple-level inconsistency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0E3F40AA-4CC8-7044-A205-E798F512C26D}"/>
              </a:ext>
            </a:extLst>
          </p:cNvPr>
          <p:cNvSpPr/>
          <p:nvPr/>
        </p:nvSpPr>
        <p:spPr>
          <a:xfrm>
            <a:off x="4374797" y="2798792"/>
            <a:ext cx="793411" cy="364524"/>
          </a:xfrm>
          <a:prstGeom prst="roundRect">
            <a:avLst/>
          </a:prstGeom>
          <a:noFill/>
          <a:ln w="349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0" name="Table 21">
            <a:extLst>
              <a:ext uri="{FF2B5EF4-FFF2-40B4-BE49-F238E27FC236}">
                <a16:creationId xmlns:a16="http://schemas.microsoft.com/office/drawing/2014/main" id="{106E992B-D571-D648-BDD7-A2C22A2495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449167"/>
              </p:ext>
            </p:extLst>
          </p:nvPr>
        </p:nvGraphicFramePr>
        <p:xfrm>
          <a:off x="132880" y="3978057"/>
          <a:ext cx="2621281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1805">
                  <a:extLst>
                    <a:ext uri="{9D8B030D-6E8A-4147-A177-3AD203B41FA5}">
                      <a16:colId xmlns:a16="http://schemas.microsoft.com/office/drawing/2014/main" val="1219927245"/>
                    </a:ext>
                  </a:extLst>
                </a:gridCol>
                <a:gridCol w="731203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  <a:gridCol w="835343">
                  <a:extLst>
                    <a:ext uri="{9D8B030D-6E8A-4147-A177-3AD203B41FA5}">
                      <a16:colId xmlns:a16="http://schemas.microsoft.com/office/drawing/2014/main" val="3729982082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26509602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cust1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BookA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88821865"/>
                  </a:ext>
                </a:extLst>
              </a:tr>
            </a:tbl>
          </a:graphicData>
        </a:graphic>
      </p:graphicFrame>
      <p:graphicFrame>
        <p:nvGraphicFramePr>
          <p:cNvPr id="42" name="Table 21">
            <a:extLst>
              <a:ext uri="{FF2B5EF4-FFF2-40B4-BE49-F238E27FC236}">
                <a16:creationId xmlns:a16="http://schemas.microsoft.com/office/drawing/2014/main" id="{32413408-CD38-9740-81FF-35D7122377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2343658"/>
              </p:ext>
            </p:extLst>
          </p:nvPr>
        </p:nvGraphicFramePr>
        <p:xfrm>
          <a:off x="6267598" y="3976826"/>
          <a:ext cx="2746566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1805">
                  <a:extLst>
                    <a:ext uri="{9D8B030D-6E8A-4147-A177-3AD203B41FA5}">
                      <a16:colId xmlns:a16="http://schemas.microsoft.com/office/drawing/2014/main" val="1219927245"/>
                    </a:ext>
                  </a:extLst>
                </a:gridCol>
                <a:gridCol w="731203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  <a:gridCol w="960628">
                  <a:extLst>
                    <a:ext uri="{9D8B030D-6E8A-4147-A177-3AD203B41FA5}">
                      <a16:colId xmlns:a16="http://schemas.microsoft.com/office/drawing/2014/main" val="3729982082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26509602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cust1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WatchA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88821865"/>
                  </a:ext>
                </a:extLst>
              </a:tr>
            </a:tbl>
          </a:graphicData>
        </a:graphic>
      </p:graphicFrame>
      <p:graphicFrame>
        <p:nvGraphicFramePr>
          <p:cNvPr id="43" name="Table 21">
            <a:extLst>
              <a:ext uri="{FF2B5EF4-FFF2-40B4-BE49-F238E27FC236}">
                <a16:creationId xmlns:a16="http://schemas.microsoft.com/office/drawing/2014/main" id="{278927CB-F22F-7E46-B955-2FC4B54ECA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4998035"/>
              </p:ext>
            </p:extLst>
          </p:nvPr>
        </p:nvGraphicFramePr>
        <p:xfrm>
          <a:off x="3175525" y="3969291"/>
          <a:ext cx="2746566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1805">
                  <a:extLst>
                    <a:ext uri="{9D8B030D-6E8A-4147-A177-3AD203B41FA5}">
                      <a16:colId xmlns:a16="http://schemas.microsoft.com/office/drawing/2014/main" val="1219927245"/>
                    </a:ext>
                  </a:extLst>
                </a:gridCol>
                <a:gridCol w="731203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  <a:gridCol w="960628">
                  <a:extLst>
                    <a:ext uri="{9D8B030D-6E8A-4147-A177-3AD203B41FA5}">
                      <a16:colId xmlns:a16="http://schemas.microsoft.com/office/drawing/2014/main" val="3729982082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26509602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cust1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WatchA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88821865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5D14A0A3-AB22-9E44-B050-971253AA6590}"/>
              </a:ext>
            </a:extLst>
          </p:cNvPr>
          <p:cNvSpPr txBox="1"/>
          <p:nvPr/>
        </p:nvSpPr>
        <p:spPr>
          <a:xfrm>
            <a:off x="68976" y="5193002"/>
            <a:ext cx="900604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Two possibilities again: T1; T2 or T2; T1 (both leading to possibility 3)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78A647A-A793-CB48-B014-085D0CC294AE}"/>
              </a:ext>
            </a:extLst>
          </p:cNvPr>
          <p:cNvSpPr/>
          <p:nvPr/>
        </p:nvSpPr>
        <p:spPr>
          <a:xfrm>
            <a:off x="4231225" y="4215190"/>
            <a:ext cx="697627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060BD69-ED2E-B24D-89D6-BA68B85D911B}"/>
              </a:ext>
            </a:extLst>
          </p:cNvPr>
          <p:cNvSpPr/>
          <p:nvPr/>
        </p:nvSpPr>
        <p:spPr>
          <a:xfrm>
            <a:off x="7323167" y="4215190"/>
            <a:ext cx="761747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60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✓</a:t>
            </a:r>
            <a:endParaRPr lang="en-US" sz="6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AD6CF10-513B-B647-93DA-3776C53479EC}"/>
              </a:ext>
            </a:extLst>
          </p:cNvPr>
          <p:cNvSpPr/>
          <p:nvPr/>
        </p:nvSpPr>
        <p:spPr>
          <a:xfrm>
            <a:off x="931927" y="4215190"/>
            <a:ext cx="697627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3488059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58" grpId="0"/>
      <p:bldP spid="39" grpId="0" animBg="1"/>
      <p:bldP spid="19" grpId="0"/>
      <p:bldP spid="20" grpId="0"/>
      <p:bldP spid="21" grpId="0"/>
      <p:bldP spid="2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91279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Recall Example Problems With Concurrency (3)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3452" y="773927"/>
            <a:ext cx="9060548" cy="577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505121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23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FBB8A0E-C312-6C46-A0EA-C76C0B198967}"/>
              </a:ext>
            </a:extLst>
          </p:cNvPr>
          <p:cNvGrpSpPr/>
          <p:nvPr/>
        </p:nvGrpSpPr>
        <p:grpSpPr>
          <a:xfrm>
            <a:off x="389233" y="940256"/>
            <a:ext cx="5035381" cy="1804299"/>
            <a:chOff x="451020" y="1562951"/>
            <a:chExt cx="9433720" cy="180429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A566D91C-4C0D-5C45-AFA4-E7A5496FF667}"/>
                </a:ext>
              </a:extLst>
            </p:cNvPr>
            <p:cNvSpPr/>
            <p:nvPr/>
          </p:nvSpPr>
          <p:spPr>
            <a:xfrm>
              <a:off x="451022" y="1562952"/>
              <a:ext cx="9433718" cy="175432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Trx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 1:</a:t>
              </a:r>
            </a:p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Update Statement 1:</a:t>
              </a:r>
            </a:p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UPDATE Customer </a:t>
              </a:r>
            </a:p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SET membership = Gold</a:t>
              </a:r>
            </a:p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WHERE </a:t>
              </a:r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cid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 IN (Select </a:t>
              </a:r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cid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 FROM Orders </a:t>
              </a:r>
            </a:p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              WHERE price &gt; 20)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C1B0A86-2592-1045-AF04-784B15D63C0A}"/>
                </a:ext>
              </a:extLst>
            </p:cNvPr>
            <p:cNvSpPr/>
            <p:nvPr/>
          </p:nvSpPr>
          <p:spPr>
            <a:xfrm>
              <a:off x="451020" y="1562951"/>
              <a:ext cx="9433720" cy="1804299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9E91C83C-B408-AC46-BE03-D6B02F0BE0FF}"/>
              </a:ext>
            </a:extLst>
          </p:cNvPr>
          <p:cNvGrpSpPr/>
          <p:nvPr/>
        </p:nvGrpSpPr>
        <p:grpSpPr>
          <a:xfrm>
            <a:off x="5928108" y="945146"/>
            <a:ext cx="3008870" cy="1505288"/>
            <a:chOff x="451022" y="1562952"/>
            <a:chExt cx="8241956" cy="833453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FE16775A-BCAD-6A45-AA5C-0A9BE9459D89}"/>
                </a:ext>
              </a:extLst>
            </p:cNvPr>
            <p:cNvSpPr/>
            <p:nvPr/>
          </p:nvSpPr>
          <p:spPr>
            <a:xfrm>
              <a:off x="451022" y="1562952"/>
              <a:ext cx="8241956" cy="81797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Trx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 2:</a:t>
              </a:r>
            </a:p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Update Statement 2:</a:t>
              </a:r>
            </a:p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UPDATE Order </a:t>
              </a:r>
            </a:p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SET price = price*0.9</a:t>
              </a:r>
            </a:p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WHERE </a:t>
              </a:r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pid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 = </a:t>
              </a:r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BookA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EB8E5CCD-B7EE-CD40-A4C9-AEBFB727B06F}"/>
                </a:ext>
              </a:extLst>
            </p:cNvPr>
            <p:cNvSpPr/>
            <p:nvPr/>
          </p:nvSpPr>
          <p:spPr>
            <a:xfrm>
              <a:off x="451022" y="1562952"/>
              <a:ext cx="8241956" cy="833453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dirty="0">
                <a:solidFill>
                  <a:schemeClr val="tx1"/>
                </a:solidFill>
              </a:endParaRPr>
            </a:p>
          </p:txBody>
        </p:sp>
      </p:grpSp>
      <p:graphicFrame>
        <p:nvGraphicFramePr>
          <p:cNvPr id="55" name="Table 21">
            <a:extLst>
              <a:ext uri="{FF2B5EF4-FFF2-40B4-BE49-F238E27FC236}">
                <a16:creationId xmlns:a16="http://schemas.microsoft.com/office/drawing/2014/main" id="{CB87AB4B-68CC-DB4F-88F2-CD58E9675561}"/>
              </a:ext>
            </a:extLst>
          </p:cNvPr>
          <p:cNvGraphicFramePr>
            <a:graphicFrameLocks noGrp="1"/>
          </p:cNvGraphicFramePr>
          <p:nvPr/>
        </p:nvGraphicFramePr>
        <p:xfrm>
          <a:off x="5050227" y="3326462"/>
          <a:ext cx="3226309" cy="1483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1968">
                  <a:extLst>
                    <a:ext uri="{9D8B030D-6E8A-4147-A177-3AD203B41FA5}">
                      <a16:colId xmlns:a16="http://schemas.microsoft.com/office/drawing/2014/main" val="1219927245"/>
                    </a:ext>
                  </a:extLst>
                </a:gridCol>
                <a:gridCol w="963930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  <a:gridCol w="1061593">
                  <a:extLst>
                    <a:ext uri="{9D8B030D-6E8A-4147-A177-3AD203B41FA5}">
                      <a16:colId xmlns:a16="http://schemas.microsoft.com/office/drawing/2014/main" val="3729982082"/>
                    </a:ext>
                  </a:extLst>
                </a:gridCol>
                <a:gridCol w="698818">
                  <a:extLst>
                    <a:ext uri="{9D8B030D-6E8A-4147-A177-3AD203B41FA5}">
                      <a16:colId xmlns:a16="http://schemas.microsoft.com/office/drawing/2014/main" val="2650960286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en-US" dirty="0"/>
                        <a:t>Order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29962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err="1"/>
                        <a:t>oid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err="1"/>
                        <a:t>cid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err="1"/>
                        <a:t>pid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price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398976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cust1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BookA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88821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63016266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070C611E-6C48-EB47-89F0-426ADCF5D0F3}"/>
              </a:ext>
            </a:extLst>
          </p:cNvPr>
          <p:cNvSpPr txBox="1"/>
          <p:nvPr/>
        </p:nvSpPr>
        <p:spPr>
          <a:xfrm>
            <a:off x="16079" y="2722543"/>
            <a:ext cx="9144000" cy="5373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Possible Relation-level inconsistency</a:t>
            </a:r>
          </a:p>
        </p:txBody>
      </p:sp>
      <p:graphicFrame>
        <p:nvGraphicFramePr>
          <p:cNvPr id="24" name="Table 21">
            <a:extLst>
              <a:ext uri="{FF2B5EF4-FFF2-40B4-BE49-F238E27FC236}">
                <a16:creationId xmlns:a16="http://schemas.microsoft.com/office/drawing/2014/main" id="{2CAF45A7-F8FA-9C4D-91D3-1A436A9AC905}"/>
              </a:ext>
            </a:extLst>
          </p:cNvPr>
          <p:cNvGraphicFramePr>
            <a:graphicFrameLocks noGrp="1"/>
          </p:cNvGraphicFramePr>
          <p:nvPr/>
        </p:nvGraphicFramePr>
        <p:xfrm>
          <a:off x="512804" y="3326462"/>
          <a:ext cx="2974214" cy="1483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31203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  <a:gridCol w="835343">
                  <a:extLst>
                    <a:ext uri="{9D8B030D-6E8A-4147-A177-3AD203B41FA5}">
                      <a16:colId xmlns:a16="http://schemas.microsoft.com/office/drawing/2014/main" val="3729982082"/>
                    </a:ext>
                  </a:extLst>
                </a:gridCol>
                <a:gridCol w="1407668">
                  <a:extLst>
                    <a:ext uri="{9D8B030D-6E8A-4147-A177-3AD203B41FA5}">
                      <a16:colId xmlns:a16="http://schemas.microsoft.com/office/drawing/2014/main" val="2650960286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n-US" dirty="0"/>
                        <a:t>Customer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29962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cid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membership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604492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cust1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Alice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Silver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88821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63016266"/>
                  </a:ext>
                </a:extLst>
              </a:tr>
            </a:tbl>
          </a:graphicData>
        </a:graphic>
      </p:graphicFrame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30FFF552-339C-5348-8F28-D9133F8AC8D8}"/>
              </a:ext>
            </a:extLst>
          </p:cNvPr>
          <p:cNvSpPr/>
          <p:nvPr/>
        </p:nvSpPr>
        <p:spPr>
          <a:xfrm>
            <a:off x="2109824" y="2095387"/>
            <a:ext cx="2940403" cy="543991"/>
          </a:xfrm>
          <a:prstGeom prst="roundRect">
            <a:avLst/>
          </a:prstGeom>
          <a:noFill/>
          <a:ln w="349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3D5D0A8-FEAD-A641-8A41-D23B553CFD99}"/>
              </a:ext>
            </a:extLst>
          </p:cNvPr>
          <p:cNvSpPr txBox="1"/>
          <p:nvPr/>
        </p:nvSpPr>
        <p:spPr>
          <a:xfrm>
            <a:off x="68976" y="4889259"/>
            <a:ext cx="9006048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Two possibilities again: T1; T2 or T2; T1</a:t>
            </a:r>
          </a:p>
          <a:p>
            <a:pPr algn="ctr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Interestingly order now matters unlike Examples 1 &amp; 2 previously. </a:t>
            </a:r>
          </a:p>
          <a:p>
            <a:pPr algn="ctr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E.g., suppose Alice has only 1 order: </a:t>
            </a:r>
          </a:p>
          <a:p>
            <a:pPr algn="ctr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If order is T1; T2: she becomes a Gold member</a:t>
            </a:r>
          </a:p>
          <a:p>
            <a:pPr algn="ctr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If it is T2; T1: she remains a Silver member.</a:t>
            </a:r>
          </a:p>
        </p:txBody>
      </p:sp>
    </p:spTree>
    <p:extLst>
      <p:ext uri="{BB962C8B-B14F-4D97-AF65-F5344CB8AC3E}">
        <p14:creationId xmlns:p14="http://schemas.microsoft.com/office/powerpoint/2010/main" val="370951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91279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Recall Example Problems With Concurrency (4)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3452" y="773927"/>
            <a:ext cx="9060548" cy="577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505121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24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FBB8A0E-C312-6C46-A0EA-C76C0B198967}"/>
              </a:ext>
            </a:extLst>
          </p:cNvPr>
          <p:cNvGrpSpPr/>
          <p:nvPr/>
        </p:nvGrpSpPr>
        <p:grpSpPr>
          <a:xfrm>
            <a:off x="35873" y="916317"/>
            <a:ext cx="4853681" cy="1416763"/>
            <a:chOff x="925756" y="1537965"/>
            <a:chExt cx="9514421" cy="186212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A566D91C-4C0D-5C45-AFA4-E7A5496FF667}"/>
                </a:ext>
              </a:extLst>
            </p:cNvPr>
            <p:cNvSpPr/>
            <p:nvPr/>
          </p:nvSpPr>
          <p:spPr>
            <a:xfrm>
              <a:off x="925756" y="1559494"/>
              <a:ext cx="9433720" cy="184060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70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Trx</a:t>
              </a:r>
              <a:r>
                <a:rPr lang="en-US" sz="1700" dirty="0">
                  <a:latin typeface="Consolas" panose="020B0609020204030204" pitchFamily="49" charset="0"/>
                  <a:cs typeface="Consolas" panose="020B0609020204030204" pitchFamily="49" charset="0"/>
                </a:rPr>
                <a:t> 1:</a:t>
              </a:r>
            </a:p>
            <a:p>
              <a:r>
                <a:rPr lang="en-US" sz="1700" dirty="0">
                  <a:latin typeface="Consolas" panose="020B0609020204030204" pitchFamily="49" charset="0"/>
                  <a:cs typeface="Consolas" panose="020B0609020204030204" pitchFamily="49" charset="0"/>
                </a:rPr>
                <a:t>INSERT INTO 2021_Orders</a:t>
              </a:r>
            </a:p>
            <a:p>
              <a:r>
                <a:rPr lang="en-US" sz="1700" dirty="0">
                  <a:latin typeface="Consolas" panose="020B0609020204030204" pitchFamily="49" charset="0"/>
                  <a:cs typeface="Consolas" panose="020B0609020204030204" pitchFamily="49" charset="0"/>
                </a:rPr>
                <a:t>SELECT * FROM Orders WHERE year = 2021 </a:t>
              </a:r>
            </a:p>
            <a:p>
              <a:endParaRPr lang="en-US" sz="17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en-US" sz="1700" dirty="0">
                  <a:latin typeface="Consolas" panose="020B0609020204030204" pitchFamily="49" charset="0"/>
                  <a:cs typeface="Consolas" panose="020B0609020204030204" pitchFamily="49" charset="0"/>
                </a:rPr>
                <a:t>DELETE FROM Orders WHERE year = 2021</a:t>
              </a:r>
              <a:endParaRPr lang="en-US" sz="17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C1B0A86-2592-1045-AF04-784B15D63C0A}"/>
                </a:ext>
              </a:extLst>
            </p:cNvPr>
            <p:cNvSpPr/>
            <p:nvPr/>
          </p:nvSpPr>
          <p:spPr>
            <a:xfrm>
              <a:off x="1006456" y="1537965"/>
              <a:ext cx="9433721" cy="1804299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9E91C83C-B408-AC46-BE03-D6B02F0BE0FF}"/>
              </a:ext>
            </a:extLst>
          </p:cNvPr>
          <p:cNvGrpSpPr/>
          <p:nvPr/>
        </p:nvGrpSpPr>
        <p:grpSpPr>
          <a:xfrm>
            <a:off x="4976085" y="908076"/>
            <a:ext cx="4109852" cy="1217075"/>
            <a:chOff x="-222207" y="1562952"/>
            <a:chExt cx="8915187" cy="923330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FE16775A-BCAD-6A45-AA5C-0A9BE9459D89}"/>
                </a:ext>
              </a:extLst>
            </p:cNvPr>
            <p:cNvSpPr/>
            <p:nvPr/>
          </p:nvSpPr>
          <p:spPr>
            <a:xfrm>
              <a:off x="-222207" y="1562952"/>
              <a:ext cx="8915187" cy="66545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70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Trx</a:t>
              </a:r>
              <a:r>
                <a:rPr lang="en-US" sz="1700" dirty="0">
                  <a:latin typeface="Consolas" panose="020B0609020204030204" pitchFamily="49" charset="0"/>
                  <a:cs typeface="Consolas" panose="020B0609020204030204" pitchFamily="49" charset="0"/>
                </a:rPr>
                <a:t> 2:</a:t>
              </a:r>
            </a:p>
            <a:p>
              <a:r>
                <a:rPr lang="en-US" sz="1700" dirty="0">
                  <a:latin typeface="Consolas" panose="020B0609020204030204" pitchFamily="49" charset="0"/>
                  <a:cs typeface="Consolas" panose="020B0609020204030204" pitchFamily="49" charset="0"/>
                </a:rPr>
                <a:t>SELECT Count(*) FROM Orders</a:t>
              </a:r>
            </a:p>
            <a:p>
              <a:r>
                <a:rPr lang="en-US" sz="1700" dirty="0">
                  <a:latin typeface="Consolas" panose="020B0609020204030204" pitchFamily="49" charset="0"/>
                  <a:cs typeface="Consolas" panose="020B0609020204030204" pitchFamily="49" charset="0"/>
                </a:rPr>
                <a:t>SELECT Count(*) FROM 2021_Orders </a:t>
              </a:r>
              <a:endParaRPr lang="en-US" sz="17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EB8E5CCD-B7EE-CD40-A4C9-AEBFB727B06F}"/>
                </a:ext>
              </a:extLst>
            </p:cNvPr>
            <p:cNvSpPr/>
            <p:nvPr/>
          </p:nvSpPr>
          <p:spPr>
            <a:xfrm>
              <a:off x="-222207" y="1562952"/>
              <a:ext cx="8915187" cy="92333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070C611E-6C48-EB47-89F0-426ADCF5D0F3}"/>
              </a:ext>
            </a:extLst>
          </p:cNvPr>
          <p:cNvSpPr txBox="1"/>
          <p:nvPr/>
        </p:nvSpPr>
        <p:spPr>
          <a:xfrm>
            <a:off x="0" y="2311906"/>
            <a:ext cx="9144000" cy="2568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Possible Database-level inconsistency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2 count queries are now guaranteed to see a consistent state of the database records (though there are 2 possible “consistent” outputs) 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	If T1; T2 =&gt; All 2021 records counted once in 2021_Orders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	If T2; T1 =&gt; All 2021 records counted once in Order</a:t>
            </a:r>
          </a:p>
        </p:txBody>
      </p:sp>
    </p:spTree>
    <p:extLst>
      <p:ext uri="{BB962C8B-B14F-4D97-AF65-F5344CB8AC3E}">
        <p14:creationId xmlns:p14="http://schemas.microsoft.com/office/powerpoint/2010/main" val="3632994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912792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ACI</a:t>
            </a:r>
            <a:r>
              <a:rPr lang="en-US" sz="3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: Durability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505121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25</a:t>
            </a:fld>
            <a:endParaRPr lang="en-US" dirty="0"/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B9BA34AE-A579-2443-A130-7EE4E8B2FBB2}"/>
              </a:ext>
            </a:extLst>
          </p:cNvPr>
          <p:cNvGrpSpPr/>
          <p:nvPr/>
        </p:nvGrpSpPr>
        <p:grpSpPr>
          <a:xfrm>
            <a:off x="3090665" y="857187"/>
            <a:ext cx="2019002" cy="2684150"/>
            <a:chOff x="3744576" y="857187"/>
            <a:chExt cx="2019002" cy="2684150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3097F04B-D01F-AD41-A681-B6655AA1C6E3}"/>
                </a:ext>
              </a:extLst>
            </p:cNvPr>
            <p:cNvCxnSpPr>
              <a:cxnSpLocks/>
              <a:endCxn id="32" idx="1"/>
            </p:cNvCxnSpPr>
            <p:nvPr/>
          </p:nvCxnSpPr>
          <p:spPr>
            <a:xfrm>
              <a:off x="4754077" y="1598727"/>
              <a:ext cx="0" cy="102031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7" name="Graphic 16" descr="Male profile with solid fill">
              <a:extLst>
                <a:ext uri="{FF2B5EF4-FFF2-40B4-BE49-F238E27FC236}">
                  <a16:creationId xmlns:a16="http://schemas.microsoft.com/office/drawing/2014/main" id="{01EC253D-84D6-2D4F-9D93-F06E40004F3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388317" y="857187"/>
              <a:ext cx="731520" cy="731520"/>
            </a:xfrm>
            <a:prstGeom prst="rect">
              <a:avLst/>
            </a:prstGeom>
          </p:spPr>
        </p:pic>
        <p:sp>
          <p:nvSpPr>
            <p:cNvPr id="32" name="Can 31">
              <a:extLst>
                <a:ext uri="{FF2B5EF4-FFF2-40B4-BE49-F238E27FC236}">
                  <a16:creationId xmlns:a16="http://schemas.microsoft.com/office/drawing/2014/main" id="{D9DA1252-763D-D44E-B1E9-A44930D5C40D}"/>
                </a:ext>
              </a:extLst>
            </p:cNvPr>
            <p:cNvSpPr/>
            <p:nvPr/>
          </p:nvSpPr>
          <p:spPr>
            <a:xfrm>
              <a:off x="3744576" y="2619046"/>
              <a:ext cx="2019002" cy="922291"/>
            </a:xfrm>
            <a:prstGeom prst="can">
              <a:avLst>
                <a:gd name="adj" fmla="val 25000"/>
              </a:avLst>
            </a:prstGeom>
            <a:noFill/>
            <a:ln w="34925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dirty="0">
                  <a:solidFill>
                    <a:schemeClr val="tx1"/>
                  </a:solidFill>
                </a:rPr>
                <a:t>DBMS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92B9C1AD-53B5-E64B-B483-ECBCDAE210CC}"/>
                </a:ext>
              </a:extLst>
            </p:cNvPr>
            <p:cNvSpPr txBox="1"/>
            <p:nvPr/>
          </p:nvSpPr>
          <p:spPr>
            <a:xfrm>
              <a:off x="4754077" y="1705736"/>
              <a:ext cx="476558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T1</a:t>
              </a:r>
            </a:p>
            <a:p>
              <a:r>
                <a:rPr lang="en-US" dirty="0"/>
                <a:t>T2</a:t>
              </a:r>
            </a:p>
            <a:p>
              <a:r>
                <a:rPr lang="en-US" dirty="0"/>
                <a:t>T3</a:t>
              </a:r>
            </a:p>
          </p:txBody>
        </p:sp>
      </p:grpSp>
      <p:sp>
        <p:nvSpPr>
          <p:cNvPr id="75" name="Rectangle 74">
            <a:extLst>
              <a:ext uri="{FF2B5EF4-FFF2-40B4-BE49-F238E27FC236}">
                <a16:creationId xmlns:a16="http://schemas.microsoft.com/office/drawing/2014/main" id="{24061AA1-3790-1D49-89C2-1509A8E5139B}"/>
              </a:ext>
            </a:extLst>
          </p:cNvPr>
          <p:cNvSpPr/>
          <p:nvPr/>
        </p:nvSpPr>
        <p:spPr>
          <a:xfrm>
            <a:off x="16079" y="3644619"/>
            <a:ext cx="9144000" cy="2060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solidFill>
                  <a:srgbClr val="99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Durability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: Handles guarantees for </a:t>
            </a:r>
            <a:r>
              <a:rPr lang="en-US" sz="2200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crashes after commit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Guarantee: all modifications will persist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Question to ponder: How can a DBMS guarantee durability? 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Logging (Lecture 19)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95EDBB58-47C5-464F-8D7A-0D795B24ACFA}"/>
              </a:ext>
            </a:extLst>
          </p:cNvPr>
          <p:cNvSpPr txBox="1"/>
          <p:nvPr/>
        </p:nvSpPr>
        <p:spPr>
          <a:xfrm>
            <a:off x="5043835" y="1531294"/>
            <a:ext cx="152561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INSERT …</a:t>
            </a:r>
          </a:p>
          <a:p>
            <a:r>
              <a:rPr lang="en-US" dirty="0"/>
              <a:t>SELECT …</a:t>
            </a:r>
          </a:p>
          <a:p>
            <a:r>
              <a:rPr lang="en-US" dirty="0"/>
              <a:t>DELETE …</a:t>
            </a:r>
          </a:p>
          <a:p>
            <a:r>
              <a:rPr lang="en-US" dirty="0"/>
              <a:t>COMMIT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3B8E516-8B9B-8F48-B591-A545C559273A}"/>
              </a:ext>
            </a:extLst>
          </p:cNvPr>
          <p:cNvCxnSpPr>
            <a:cxnSpLocks/>
          </p:cNvCxnSpPr>
          <p:nvPr/>
        </p:nvCxnSpPr>
        <p:spPr>
          <a:xfrm flipH="1">
            <a:off x="4461937" y="2190664"/>
            <a:ext cx="64773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7178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912792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CID: Atomicity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505121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26</a:t>
            </a:fld>
            <a:endParaRPr lang="en-US" dirty="0"/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B9BA34AE-A579-2443-A130-7EE4E8B2FBB2}"/>
              </a:ext>
            </a:extLst>
          </p:cNvPr>
          <p:cNvGrpSpPr/>
          <p:nvPr/>
        </p:nvGrpSpPr>
        <p:grpSpPr>
          <a:xfrm>
            <a:off x="3090665" y="857187"/>
            <a:ext cx="2019002" cy="2684150"/>
            <a:chOff x="3744576" y="857187"/>
            <a:chExt cx="2019002" cy="2684150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3097F04B-D01F-AD41-A681-B6655AA1C6E3}"/>
                </a:ext>
              </a:extLst>
            </p:cNvPr>
            <p:cNvCxnSpPr>
              <a:cxnSpLocks/>
              <a:endCxn id="32" idx="1"/>
            </p:cNvCxnSpPr>
            <p:nvPr/>
          </p:nvCxnSpPr>
          <p:spPr>
            <a:xfrm>
              <a:off x="4754077" y="1598727"/>
              <a:ext cx="0" cy="102031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7" name="Graphic 16" descr="Male profile with solid fill">
              <a:extLst>
                <a:ext uri="{FF2B5EF4-FFF2-40B4-BE49-F238E27FC236}">
                  <a16:creationId xmlns:a16="http://schemas.microsoft.com/office/drawing/2014/main" id="{01EC253D-84D6-2D4F-9D93-F06E40004F3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388317" y="857187"/>
              <a:ext cx="731520" cy="731520"/>
            </a:xfrm>
            <a:prstGeom prst="rect">
              <a:avLst/>
            </a:prstGeom>
          </p:spPr>
        </p:pic>
        <p:sp>
          <p:nvSpPr>
            <p:cNvPr id="32" name="Can 31">
              <a:extLst>
                <a:ext uri="{FF2B5EF4-FFF2-40B4-BE49-F238E27FC236}">
                  <a16:creationId xmlns:a16="http://schemas.microsoft.com/office/drawing/2014/main" id="{D9DA1252-763D-D44E-B1E9-A44930D5C40D}"/>
                </a:ext>
              </a:extLst>
            </p:cNvPr>
            <p:cNvSpPr/>
            <p:nvPr/>
          </p:nvSpPr>
          <p:spPr>
            <a:xfrm>
              <a:off x="3744576" y="2619046"/>
              <a:ext cx="2019002" cy="922291"/>
            </a:xfrm>
            <a:prstGeom prst="can">
              <a:avLst>
                <a:gd name="adj" fmla="val 25000"/>
              </a:avLst>
            </a:prstGeom>
            <a:noFill/>
            <a:ln w="34925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dirty="0">
                  <a:solidFill>
                    <a:schemeClr val="tx1"/>
                  </a:solidFill>
                </a:rPr>
                <a:t>DBMS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92B9C1AD-53B5-E64B-B483-ECBCDAE210CC}"/>
                </a:ext>
              </a:extLst>
            </p:cNvPr>
            <p:cNvSpPr txBox="1"/>
            <p:nvPr/>
          </p:nvSpPr>
          <p:spPr>
            <a:xfrm>
              <a:off x="4754077" y="1705736"/>
              <a:ext cx="476558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T1</a:t>
              </a:r>
            </a:p>
            <a:p>
              <a:r>
                <a:rPr lang="en-US" dirty="0"/>
                <a:t>T2</a:t>
              </a:r>
            </a:p>
            <a:p>
              <a:r>
                <a:rPr lang="en-US" dirty="0"/>
                <a:t>T3</a:t>
              </a:r>
            </a:p>
          </p:txBody>
        </p:sp>
      </p:grpSp>
      <p:sp>
        <p:nvSpPr>
          <p:cNvPr id="75" name="Rectangle 74">
            <a:extLst>
              <a:ext uri="{FF2B5EF4-FFF2-40B4-BE49-F238E27FC236}">
                <a16:creationId xmlns:a16="http://schemas.microsoft.com/office/drawing/2014/main" id="{24061AA1-3790-1D49-89C2-1509A8E5139B}"/>
              </a:ext>
            </a:extLst>
          </p:cNvPr>
          <p:cNvSpPr/>
          <p:nvPr/>
        </p:nvSpPr>
        <p:spPr>
          <a:xfrm>
            <a:off x="16079" y="3644619"/>
            <a:ext cx="9144000" cy="25687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solidFill>
                  <a:srgbClr val="99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Atomicity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: Handles guarantees for </a:t>
            </a:r>
            <a:r>
              <a:rPr lang="en-US" sz="2200" i="1" dirty="0">
                <a:solidFill>
                  <a:srgbClr val="99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crashes before commit</a:t>
            </a:r>
            <a:r>
              <a:rPr lang="en-US" sz="2200" dirty="0">
                <a:solidFill>
                  <a:srgbClr val="99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Guarantee: none of the modifications will persist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Question to ponder: How can a DBMS guarantee atomicity? 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Also through logging (Lecture 19). 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Partial changes are undone/</a:t>
            </a:r>
            <a:r>
              <a:rPr lang="en-US" sz="2200" dirty="0">
                <a:solidFill>
                  <a:srgbClr val="99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rolled back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upon system coming back.</a:t>
            </a:r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42ADE9FB-DD41-C04A-9B34-677EB548B876}"/>
              </a:ext>
            </a:extLst>
          </p:cNvPr>
          <p:cNvCxnSpPr>
            <a:cxnSpLocks/>
          </p:cNvCxnSpPr>
          <p:nvPr/>
        </p:nvCxnSpPr>
        <p:spPr>
          <a:xfrm flipH="1">
            <a:off x="4461937" y="2190664"/>
            <a:ext cx="64773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95EDBB58-47C5-464F-8D7A-0D795B24ACFA}"/>
              </a:ext>
            </a:extLst>
          </p:cNvPr>
          <p:cNvSpPr txBox="1"/>
          <p:nvPr/>
        </p:nvSpPr>
        <p:spPr>
          <a:xfrm>
            <a:off x="5043835" y="1531294"/>
            <a:ext cx="152561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INSERT …</a:t>
            </a:r>
          </a:p>
          <a:p>
            <a:r>
              <a:rPr lang="en-US" dirty="0"/>
              <a:t>SELECT …</a:t>
            </a:r>
          </a:p>
          <a:p>
            <a:r>
              <a:rPr lang="en-US" dirty="0"/>
              <a:t>DELETE …</a:t>
            </a:r>
          </a:p>
          <a:p>
            <a:r>
              <a:rPr lang="en-US" dirty="0"/>
              <a:t>COMMIT</a:t>
            </a:r>
          </a:p>
        </p:txBody>
      </p:sp>
    </p:spTree>
    <p:extLst>
      <p:ext uri="{BB962C8B-B14F-4D97-AF65-F5344CB8AC3E}">
        <p14:creationId xmlns:p14="http://schemas.microsoft.com/office/powerpoint/2010/main" val="1599406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912792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Rolling Back Transactions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505121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27</a:t>
            </a:fld>
            <a:endParaRPr lang="en-US" dirty="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24061AA1-3790-1D49-89C2-1509A8E5139B}"/>
              </a:ext>
            </a:extLst>
          </p:cNvPr>
          <p:cNvSpPr/>
          <p:nvPr/>
        </p:nvSpPr>
        <p:spPr>
          <a:xfrm>
            <a:off x="0" y="758856"/>
            <a:ext cx="9144000" cy="1553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Mechanism to undo any effects of modifications between: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Transaction begin and crash (and of course before commit)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Importantly: Can also be manually triggered by applications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CDE68EC-F49E-EB4E-9C29-CC15ED56C86D}"/>
              </a:ext>
            </a:extLst>
          </p:cNvPr>
          <p:cNvSpPr/>
          <p:nvPr/>
        </p:nvSpPr>
        <p:spPr>
          <a:xfrm>
            <a:off x="676478" y="2374211"/>
            <a:ext cx="7807122" cy="19236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latin typeface="Consolas" panose="020B0609020204030204" pitchFamily="49" charset="0"/>
                <a:cs typeface="Consolas" panose="020B0609020204030204" pitchFamily="49" charset="0"/>
              </a:rPr>
              <a:t>BEGIN TRANSACTION;</a:t>
            </a:r>
          </a:p>
          <a:p>
            <a:r>
              <a:rPr lang="en-US" sz="1700" dirty="0">
                <a:latin typeface="Consolas" panose="020B0609020204030204" pitchFamily="49" charset="0"/>
                <a:cs typeface="Consolas" panose="020B0609020204030204" pitchFamily="49" charset="0"/>
              </a:rPr>
              <a:t>// Display some information and get input from user</a:t>
            </a:r>
          </a:p>
          <a:p>
            <a:r>
              <a:rPr lang="en-US" sz="1700" dirty="0">
                <a:latin typeface="Consolas" panose="020B0609020204030204" pitchFamily="49" charset="0"/>
                <a:cs typeface="Consolas" panose="020B0609020204030204" pitchFamily="49" charset="0"/>
              </a:rPr>
              <a:t>SELECT … </a:t>
            </a:r>
          </a:p>
          <a:p>
            <a:r>
              <a:rPr lang="en-US" sz="1700" dirty="0">
                <a:latin typeface="Consolas" panose="020B0609020204030204" pitchFamily="49" charset="0"/>
                <a:cs typeface="Consolas" panose="020B0609020204030204" pitchFamily="49" charset="0"/>
              </a:rPr>
              <a:t>// “Temporarily” execute user’s preferred action</a:t>
            </a:r>
          </a:p>
          <a:p>
            <a:r>
              <a:rPr lang="en-US" sz="1700" dirty="0">
                <a:latin typeface="Consolas" panose="020B0609020204030204" pitchFamily="49" charset="0"/>
                <a:cs typeface="Consolas" panose="020B0609020204030204" pitchFamily="49" charset="0"/>
              </a:rPr>
              <a:t>SELECT …; INSERT …; UPDATE …;</a:t>
            </a:r>
          </a:p>
          <a:p>
            <a:r>
              <a:rPr lang="en-US" sz="1700" dirty="0">
                <a:latin typeface="Consolas" panose="020B0609020204030204" pitchFamily="49" charset="0"/>
                <a:cs typeface="Consolas" panose="020B0609020204030204" pitchFamily="49" charset="0"/>
              </a:rPr>
              <a:t>// Ask user for confirmation after showing the result of action</a:t>
            </a:r>
          </a:p>
          <a:p>
            <a:r>
              <a:rPr lang="en-US" sz="1700" dirty="0">
                <a:latin typeface="Consolas" panose="020B0609020204030204" pitchFamily="49" charset="0"/>
                <a:cs typeface="Consolas" panose="020B0609020204030204" pitchFamily="49" charset="0"/>
              </a:rPr>
              <a:t>If </a:t>
            </a:r>
            <a:r>
              <a:rPr lang="en-US" sz="1700" dirty="0" err="1">
                <a:latin typeface="Consolas" panose="020B0609020204030204" pitchFamily="49" charset="0"/>
                <a:cs typeface="Consolas" panose="020B0609020204030204" pitchFamily="49" charset="0"/>
              </a:rPr>
              <a:t>ans</a:t>
            </a:r>
            <a:r>
              <a:rPr lang="en-US" sz="1700" dirty="0">
                <a:latin typeface="Consolas" panose="020B0609020204030204" pitchFamily="49" charset="0"/>
                <a:cs typeface="Consolas" panose="020B0609020204030204" pitchFamily="49" charset="0"/>
              </a:rPr>
              <a:t> = “OK” THEN COMMIT ELSE ROLLBACK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9F87521-DF47-9346-B8D0-0EF1B456486F}"/>
              </a:ext>
            </a:extLst>
          </p:cNvPr>
          <p:cNvSpPr/>
          <p:nvPr/>
        </p:nvSpPr>
        <p:spPr>
          <a:xfrm>
            <a:off x="16079" y="4175541"/>
            <a:ext cx="9144000" cy="2060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Extremely useful. Very difficult to implement such “preview results”-&gt;confirm-&gt;proceed-or-cancel logic directly in the application.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Warning: Long begin-and-commit periods decreases the chance of successful commit and can lock portions of the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db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to other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trxs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6351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912792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3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ID: Consistency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505121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28</a:t>
            </a:fld>
            <a:endParaRPr lang="en-US" dirty="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24061AA1-3790-1D49-89C2-1509A8E5139B}"/>
              </a:ext>
            </a:extLst>
          </p:cNvPr>
          <p:cNvSpPr/>
          <p:nvPr/>
        </p:nvSpPr>
        <p:spPr>
          <a:xfrm>
            <a:off x="-16780" y="3491566"/>
            <a:ext cx="9144000" cy="2105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ts val="3200"/>
              </a:lnSpc>
              <a:buFont typeface="Wingdings" pitchFamily="2" charset="2"/>
              <a:buChar char="Ø"/>
            </a:pPr>
            <a:r>
              <a:rPr lang="en-US" sz="2200" dirty="0">
                <a:solidFill>
                  <a:srgbClr val="99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Consistency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200" i="1" dirty="0">
                <a:solidFill>
                  <a:srgbClr val="99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</a:t>
            </a:r>
            <a:r>
              <a:rPr lang="en-US" sz="2200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application is written in a way that: </a:t>
            </a:r>
          </a:p>
          <a:p>
            <a:pPr>
              <a:lnSpc>
                <a:spcPts val="3200"/>
              </a:lnSpc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	Each transaction if ran in isolation keeps integrity constraints intact</a:t>
            </a:r>
          </a:p>
          <a:p>
            <a:pPr>
              <a:lnSpc>
                <a:spcPts val="3200"/>
              </a:lnSpc>
            </a:pPr>
            <a:r>
              <a:rPr lang="en-US" sz="2200" i="1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Then when transactions are ran concurrently, all integrity constraints </a:t>
            </a:r>
          </a:p>
          <a:p>
            <a:pPr>
              <a:lnSpc>
                <a:spcPts val="3200"/>
              </a:lnSpc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	must remain intact after they complete.</a:t>
            </a:r>
          </a:p>
          <a:p>
            <a:pPr>
              <a:lnSpc>
                <a:spcPts val="3200"/>
              </a:lnSpc>
            </a:pPr>
            <a:r>
              <a:rPr lang="en-US" sz="2200" dirty="0">
                <a:solidFill>
                  <a:srgbClr val="99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Serializability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guarantees consistency but only if app is written correctly.  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F633820-6CE0-8F4A-8205-CE8563DA8C7D}"/>
              </a:ext>
            </a:extLst>
          </p:cNvPr>
          <p:cNvGrpSpPr/>
          <p:nvPr/>
        </p:nvGrpSpPr>
        <p:grpSpPr>
          <a:xfrm>
            <a:off x="1848530" y="971417"/>
            <a:ext cx="5446940" cy="2569920"/>
            <a:chOff x="2502441" y="971417"/>
            <a:chExt cx="5446940" cy="2569920"/>
          </a:xfrm>
        </p:grpSpPr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5B48BB65-C57A-8B4C-BE9A-6A6E8D097C27}"/>
                </a:ext>
              </a:extLst>
            </p:cNvPr>
            <p:cNvCxnSpPr>
              <a:cxnSpLocks/>
              <a:stCxn id="30" idx="2"/>
            </p:cNvCxnSpPr>
            <p:nvPr/>
          </p:nvCxnSpPr>
          <p:spPr>
            <a:xfrm>
              <a:off x="3361523" y="1702937"/>
              <a:ext cx="661033" cy="96125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3EC83D84-1B24-1241-BA94-2963B1BC85FB}"/>
                </a:ext>
              </a:extLst>
            </p:cNvPr>
            <p:cNvCxnSpPr>
              <a:cxnSpLocks/>
              <a:endCxn id="20" idx="1"/>
            </p:cNvCxnSpPr>
            <p:nvPr/>
          </p:nvCxnSpPr>
          <p:spPr>
            <a:xfrm>
              <a:off x="4735196" y="1203866"/>
              <a:ext cx="18881" cy="141518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74355F6-E503-9348-A26F-69C0AF7D0463}"/>
                </a:ext>
              </a:extLst>
            </p:cNvPr>
            <p:cNvGrpSpPr/>
            <p:nvPr/>
          </p:nvGrpSpPr>
          <p:grpSpPr>
            <a:xfrm>
              <a:off x="2502441" y="971417"/>
              <a:ext cx="1224842" cy="731520"/>
              <a:chOff x="933708" y="2623957"/>
              <a:chExt cx="1224842" cy="731520"/>
            </a:xfrm>
          </p:grpSpPr>
          <p:pic>
            <p:nvPicPr>
              <p:cNvPr id="30" name="Graphic 29" descr="Smart Phone with solid fill">
                <a:extLst>
                  <a:ext uri="{FF2B5EF4-FFF2-40B4-BE49-F238E27FC236}">
                    <a16:creationId xmlns:a16="http://schemas.microsoft.com/office/drawing/2014/main" id="{62077CE9-B0DB-FB42-B8AE-40B22E722E8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427030" y="2623957"/>
                <a:ext cx="731520" cy="731520"/>
              </a:xfrm>
              <a:prstGeom prst="rect">
                <a:avLst/>
              </a:prstGeom>
            </p:spPr>
          </p:pic>
          <p:pic>
            <p:nvPicPr>
              <p:cNvPr id="31" name="Graphic 30" descr="Male profile with solid fill">
                <a:extLst>
                  <a:ext uri="{FF2B5EF4-FFF2-40B4-BE49-F238E27FC236}">
                    <a16:creationId xmlns:a16="http://schemas.microsoft.com/office/drawing/2014/main" id="{D2448ECB-963A-944A-92B4-9B5219EBBE1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933708" y="2623957"/>
                <a:ext cx="731520" cy="731520"/>
              </a:xfrm>
              <a:prstGeom prst="rect">
                <a:avLst/>
              </a:prstGeom>
            </p:spPr>
          </p:pic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4D5A2250-B00A-C946-AD9B-3446D5A29DEE}"/>
                </a:ext>
              </a:extLst>
            </p:cNvPr>
            <p:cNvGrpSpPr/>
            <p:nvPr/>
          </p:nvGrpSpPr>
          <p:grpSpPr>
            <a:xfrm>
              <a:off x="5713324" y="971417"/>
              <a:ext cx="2236057" cy="731520"/>
              <a:chOff x="6115463" y="2623957"/>
              <a:chExt cx="2236057" cy="731520"/>
            </a:xfrm>
          </p:grpSpPr>
          <p:pic>
            <p:nvPicPr>
              <p:cNvPr id="27" name="Graphic 26" descr="Scatterplot with solid fill">
                <a:extLst>
                  <a:ext uri="{FF2B5EF4-FFF2-40B4-BE49-F238E27FC236}">
                    <a16:creationId xmlns:a16="http://schemas.microsoft.com/office/drawing/2014/main" id="{ACEEA9D2-6914-3E41-9D01-DBEAC71BB9A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6867731" y="2623957"/>
                <a:ext cx="731520" cy="731520"/>
              </a:xfrm>
              <a:prstGeom prst="rect">
                <a:avLst/>
              </a:prstGeom>
            </p:spPr>
          </p:pic>
          <p:pic>
            <p:nvPicPr>
              <p:cNvPr id="28" name="Graphic 27" descr="Gauge outline">
                <a:extLst>
                  <a:ext uri="{FF2B5EF4-FFF2-40B4-BE49-F238E27FC236}">
                    <a16:creationId xmlns:a16="http://schemas.microsoft.com/office/drawing/2014/main" id="{B7AFC865-3FEF-6F4F-B8FA-2349D4FA79B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7620000" y="2623957"/>
                <a:ext cx="731520" cy="731520"/>
              </a:xfrm>
              <a:prstGeom prst="rect">
                <a:avLst/>
              </a:prstGeom>
            </p:spPr>
          </p:pic>
          <p:pic>
            <p:nvPicPr>
              <p:cNvPr id="29" name="Graphic 28" descr="Office worker female outline">
                <a:extLst>
                  <a:ext uri="{FF2B5EF4-FFF2-40B4-BE49-F238E27FC236}">
                    <a16:creationId xmlns:a16="http://schemas.microsoft.com/office/drawing/2014/main" id="{1B24A17E-1337-B640-96E1-46D9D636950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6115463" y="2623957"/>
                <a:ext cx="731520" cy="731520"/>
              </a:xfrm>
              <a:prstGeom prst="rect">
                <a:avLst/>
              </a:prstGeom>
            </p:spPr>
          </p:pic>
        </p:grp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BCEC75F5-F0D0-5343-910F-42146770CEBD}"/>
                </a:ext>
              </a:extLst>
            </p:cNvPr>
            <p:cNvCxnSpPr>
              <a:cxnSpLocks/>
              <a:stCxn id="29" idx="2"/>
            </p:cNvCxnSpPr>
            <p:nvPr/>
          </p:nvCxnSpPr>
          <p:spPr>
            <a:xfrm flipH="1">
              <a:off x="5400656" y="1702937"/>
              <a:ext cx="678428" cy="97101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Can 19">
              <a:extLst>
                <a:ext uri="{FF2B5EF4-FFF2-40B4-BE49-F238E27FC236}">
                  <a16:creationId xmlns:a16="http://schemas.microsoft.com/office/drawing/2014/main" id="{ADCDEC5E-25F1-A94B-928A-C5B19360E79A}"/>
                </a:ext>
              </a:extLst>
            </p:cNvPr>
            <p:cNvSpPr/>
            <p:nvPr/>
          </p:nvSpPr>
          <p:spPr>
            <a:xfrm>
              <a:off x="3744576" y="2619046"/>
              <a:ext cx="2019002" cy="922291"/>
            </a:xfrm>
            <a:prstGeom prst="can">
              <a:avLst>
                <a:gd name="adj" fmla="val 25000"/>
              </a:avLst>
            </a:prstGeom>
            <a:noFill/>
            <a:ln w="34925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dirty="0">
                  <a:solidFill>
                    <a:schemeClr val="tx1"/>
                  </a:solidFill>
                </a:rPr>
                <a:t>DBMS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01D98BB-03C7-354C-9DE2-2E1D9B548624}"/>
                </a:ext>
              </a:extLst>
            </p:cNvPr>
            <p:cNvSpPr txBox="1"/>
            <p:nvPr/>
          </p:nvSpPr>
          <p:spPr>
            <a:xfrm>
              <a:off x="5783264" y="1920037"/>
              <a:ext cx="476558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T6</a:t>
              </a:r>
            </a:p>
            <a:p>
              <a:r>
                <a:rPr lang="en-US" dirty="0"/>
                <a:t>T7</a:t>
              </a:r>
            </a:p>
            <a:p>
              <a:r>
                <a:rPr lang="en-US" dirty="0"/>
                <a:t>T8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42971D0-0260-3D40-9618-8270336B9D24}"/>
                </a:ext>
              </a:extLst>
            </p:cNvPr>
            <p:cNvSpPr txBox="1"/>
            <p:nvPr/>
          </p:nvSpPr>
          <p:spPr>
            <a:xfrm>
              <a:off x="4361476" y="1929126"/>
              <a:ext cx="47655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T4</a:t>
              </a:r>
            </a:p>
            <a:p>
              <a:r>
                <a:rPr lang="en-US" dirty="0"/>
                <a:t>T5</a:t>
              </a:r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F0C153D5-6E5B-5B47-ADC6-6F1AD625FB4B}"/>
                </a:ext>
              </a:extLst>
            </p:cNvPr>
            <p:cNvGrpSpPr/>
            <p:nvPr/>
          </p:nvGrpSpPr>
          <p:grpSpPr>
            <a:xfrm>
              <a:off x="4022557" y="993206"/>
              <a:ext cx="1463040" cy="731520"/>
              <a:chOff x="2174036" y="2623957"/>
              <a:chExt cx="1463040" cy="731520"/>
            </a:xfrm>
          </p:grpSpPr>
          <p:pic>
            <p:nvPicPr>
              <p:cNvPr id="25" name="Graphic 24" descr="Browser window with solid fill">
                <a:extLst>
                  <a:ext uri="{FF2B5EF4-FFF2-40B4-BE49-F238E27FC236}">
                    <a16:creationId xmlns:a16="http://schemas.microsoft.com/office/drawing/2014/main" id="{7C16294E-314F-5549-B58C-2D2BBFFF935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2905556" y="2623957"/>
                <a:ext cx="731520" cy="731520"/>
              </a:xfrm>
              <a:prstGeom prst="rect">
                <a:avLst/>
              </a:prstGeom>
            </p:spPr>
          </p:pic>
          <p:pic>
            <p:nvPicPr>
              <p:cNvPr id="26" name="Graphic 25" descr="Female Profile with solid fill">
                <a:extLst>
                  <a:ext uri="{FF2B5EF4-FFF2-40B4-BE49-F238E27FC236}">
                    <a16:creationId xmlns:a16="http://schemas.microsoft.com/office/drawing/2014/main" id="{3C696869-1C47-F742-A754-2C9C85718E4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p:blipFill>
            <p:spPr>
              <a:xfrm>
                <a:off x="2174036" y="2623957"/>
                <a:ext cx="731520" cy="731520"/>
              </a:xfrm>
              <a:prstGeom prst="rect">
                <a:avLst/>
              </a:prstGeom>
            </p:spPr>
          </p:pic>
        </p:grp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F76991A-E9B6-0046-9B51-FF136EB6B918}"/>
                </a:ext>
              </a:extLst>
            </p:cNvPr>
            <p:cNvSpPr txBox="1"/>
            <p:nvPr/>
          </p:nvSpPr>
          <p:spPr>
            <a:xfrm>
              <a:off x="3327986" y="2006291"/>
              <a:ext cx="476558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T1</a:t>
              </a:r>
            </a:p>
            <a:p>
              <a:r>
                <a:rPr lang="en-US" dirty="0"/>
                <a:t>T2</a:t>
              </a:r>
            </a:p>
            <a:p>
              <a:r>
                <a:rPr lang="en-US" dirty="0"/>
                <a:t>T3</a:t>
              </a:r>
            </a:p>
          </p:txBody>
        </p:sp>
      </p:grp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1F5CD29-F262-7440-A3C2-E589EE14F4E6}"/>
              </a:ext>
            </a:extLst>
          </p:cNvPr>
          <p:cNvCxnSpPr>
            <a:cxnSpLocks/>
            <a:endCxn id="21" idx="3"/>
          </p:cNvCxnSpPr>
          <p:nvPr/>
        </p:nvCxnSpPr>
        <p:spPr>
          <a:xfrm flipH="1">
            <a:off x="5605911" y="2381702"/>
            <a:ext cx="64773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2838AB38-0C1D-DB43-9EAD-F3DE4CE393EC}"/>
              </a:ext>
            </a:extLst>
          </p:cNvPr>
          <p:cNvSpPr txBox="1"/>
          <p:nvPr/>
        </p:nvSpPr>
        <p:spPr>
          <a:xfrm>
            <a:off x="6190140" y="1931656"/>
            <a:ext cx="152561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INSERT …</a:t>
            </a:r>
          </a:p>
          <a:p>
            <a:r>
              <a:rPr lang="en-US" dirty="0"/>
              <a:t>SELECT …</a:t>
            </a:r>
          </a:p>
          <a:p>
            <a:r>
              <a:rPr lang="en-US" dirty="0"/>
              <a:t>DELETE …</a:t>
            </a:r>
          </a:p>
          <a:p>
            <a:r>
              <a:rPr lang="en-US" dirty="0"/>
              <a:t>COMMIT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EA0A792-16E9-4C41-A381-2A4963247F78}"/>
              </a:ext>
            </a:extLst>
          </p:cNvPr>
          <p:cNvGrpSpPr/>
          <p:nvPr/>
        </p:nvGrpSpPr>
        <p:grpSpPr>
          <a:xfrm>
            <a:off x="1564392" y="5644155"/>
            <a:ext cx="6015215" cy="430887"/>
            <a:chOff x="1564392" y="5644155"/>
            <a:chExt cx="6015215" cy="430887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A293A339-EB0D-5F42-8266-EE7D79DBEAF2}"/>
                </a:ext>
              </a:extLst>
            </p:cNvPr>
            <p:cNvSpPr txBox="1"/>
            <p:nvPr/>
          </p:nvSpPr>
          <p:spPr>
            <a:xfrm>
              <a:off x="1564392" y="5644155"/>
              <a:ext cx="6015215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00" dirty="0">
                  <a:latin typeface="Arial" panose="020B0604020202020204" pitchFamily="34" charset="0"/>
                  <a:cs typeface="Arial" panose="020B0604020202020204" pitchFamily="34" charset="0"/>
                </a:rPr>
                <a:t>Ex Serial order:     T1      T7       T8        T4 …</a:t>
              </a: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2EE2F410-15CA-6E48-A02C-21B12A5FF5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49398" y="5644155"/>
              <a:ext cx="0" cy="394907"/>
            </a:xfrm>
            <a:prstGeom prst="straightConnector1">
              <a:avLst/>
            </a:prstGeom>
            <a:ln>
              <a:solidFill>
                <a:srgbClr val="990000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B0A693F2-8284-084E-9D50-43E9312D7C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65926" y="5644155"/>
              <a:ext cx="0" cy="394907"/>
            </a:xfrm>
            <a:prstGeom prst="straightConnector1">
              <a:avLst/>
            </a:prstGeom>
            <a:ln>
              <a:solidFill>
                <a:srgbClr val="990000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10E840F1-586E-F049-85BC-FB01030C5B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78615" y="5644155"/>
              <a:ext cx="0" cy="394907"/>
            </a:xfrm>
            <a:prstGeom prst="straightConnector1">
              <a:avLst/>
            </a:prstGeom>
            <a:ln>
              <a:solidFill>
                <a:srgbClr val="990000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62790D07-0E32-B244-96E9-26B7C269D4C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90140" y="5644155"/>
              <a:ext cx="0" cy="394907"/>
            </a:xfrm>
            <a:prstGeom prst="straightConnector1">
              <a:avLst/>
            </a:prstGeom>
            <a:ln>
              <a:solidFill>
                <a:srgbClr val="990000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CC71C943-407D-CD40-A897-C755071F15A4}"/>
              </a:ext>
            </a:extLst>
          </p:cNvPr>
          <p:cNvSpPr txBox="1"/>
          <p:nvPr/>
        </p:nvSpPr>
        <p:spPr>
          <a:xfrm>
            <a:off x="3330693" y="6092813"/>
            <a:ext cx="7345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holds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7A1C91D-38E8-CE4E-B7B3-37991EDC2432}"/>
              </a:ext>
            </a:extLst>
          </p:cNvPr>
          <p:cNvSpPr txBox="1"/>
          <p:nvPr/>
        </p:nvSpPr>
        <p:spPr>
          <a:xfrm>
            <a:off x="4187921" y="6092813"/>
            <a:ext cx="7345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holds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84998B6-E666-3D40-B0A7-6FAAB47D4FFA}"/>
              </a:ext>
            </a:extLst>
          </p:cNvPr>
          <p:cNvSpPr txBox="1"/>
          <p:nvPr/>
        </p:nvSpPr>
        <p:spPr>
          <a:xfrm>
            <a:off x="4957101" y="6092813"/>
            <a:ext cx="7345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holds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8DCC7E1-F281-4149-A14D-383C297FA799}"/>
              </a:ext>
            </a:extLst>
          </p:cNvPr>
          <p:cNvSpPr txBox="1"/>
          <p:nvPr/>
        </p:nvSpPr>
        <p:spPr>
          <a:xfrm>
            <a:off x="5886342" y="6092813"/>
            <a:ext cx="7345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077318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2" grpId="0"/>
      <p:bldP spid="43" grpId="0"/>
      <p:bldP spid="4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8629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Outline For Today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3452" y="773927"/>
            <a:ext cx="9060548" cy="16858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Motivation For Transactions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ACID Properties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Different Levels of Isolation Beyond Serializability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D4509-1FB2-2540-A246-CEF93BA68631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5886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912792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Problems With Serializability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505121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30</a:t>
            </a:fld>
            <a:endParaRPr lang="en-US" dirty="0"/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B9BA34AE-A579-2443-A130-7EE4E8B2FBB2}"/>
              </a:ext>
            </a:extLst>
          </p:cNvPr>
          <p:cNvGrpSpPr/>
          <p:nvPr/>
        </p:nvGrpSpPr>
        <p:grpSpPr>
          <a:xfrm>
            <a:off x="1848530" y="971417"/>
            <a:ext cx="5446940" cy="2569920"/>
            <a:chOff x="2502441" y="971417"/>
            <a:chExt cx="5446940" cy="2569920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7FADB867-674F-494F-8C92-A6BA91637290}"/>
                </a:ext>
              </a:extLst>
            </p:cNvPr>
            <p:cNvCxnSpPr>
              <a:cxnSpLocks/>
              <a:stCxn id="15" idx="2"/>
            </p:cNvCxnSpPr>
            <p:nvPr/>
          </p:nvCxnSpPr>
          <p:spPr>
            <a:xfrm>
              <a:off x="3361523" y="1702937"/>
              <a:ext cx="661033" cy="96125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3097F04B-D01F-AD41-A681-B6655AA1C6E3}"/>
                </a:ext>
              </a:extLst>
            </p:cNvPr>
            <p:cNvCxnSpPr>
              <a:cxnSpLocks/>
              <a:endCxn id="32" idx="1"/>
            </p:cNvCxnSpPr>
            <p:nvPr/>
          </p:nvCxnSpPr>
          <p:spPr>
            <a:xfrm>
              <a:off x="4735196" y="1203866"/>
              <a:ext cx="18881" cy="141518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BBB4396F-BA41-7447-89E6-9EFD241F1E7B}"/>
                </a:ext>
              </a:extLst>
            </p:cNvPr>
            <p:cNvGrpSpPr/>
            <p:nvPr/>
          </p:nvGrpSpPr>
          <p:grpSpPr>
            <a:xfrm>
              <a:off x="2502441" y="971417"/>
              <a:ext cx="1224842" cy="731520"/>
              <a:chOff x="933708" y="2623957"/>
              <a:chExt cx="1224842" cy="731520"/>
            </a:xfrm>
          </p:grpSpPr>
          <p:pic>
            <p:nvPicPr>
              <p:cNvPr id="15" name="Graphic 14" descr="Smart Phone with solid fill">
                <a:extLst>
                  <a:ext uri="{FF2B5EF4-FFF2-40B4-BE49-F238E27FC236}">
                    <a16:creationId xmlns:a16="http://schemas.microsoft.com/office/drawing/2014/main" id="{3929832F-9346-534D-9B6D-0B176BBCB2F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427030" y="2623957"/>
                <a:ext cx="731520" cy="731520"/>
              </a:xfrm>
              <a:prstGeom prst="rect">
                <a:avLst/>
              </a:prstGeom>
            </p:spPr>
          </p:pic>
          <p:pic>
            <p:nvPicPr>
              <p:cNvPr id="17" name="Graphic 16" descr="Male profile with solid fill">
                <a:extLst>
                  <a:ext uri="{FF2B5EF4-FFF2-40B4-BE49-F238E27FC236}">
                    <a16:creationId xmlns:a16="http://schemas.microsoft.com/office/drawing/2014/main" id="{01EC253D-84D6-2D4F-9D93-F06E40004F3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933708" y="2623957"/>
                <a:ext cx="731520" cy="731520"/>
              </a:xfrm>
              <a:prstGeom prst="rect">
                <a:avLst/>
              </a:prstGeom>
            </p:spPr>
          </p:pic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C48D6053-1A73-DA44-9D63-511C647D02F2}"/>
                </a:ext>
              </a:extLst>
            </p:cNvPr>
            <p:cNvGrpSpPr/>
            <p:nvPr/>
          </p:nvGrpSpPr>
          <p:grpSpPr>
            <a:xfrm>
              <a:off x="5713324" y="971417"/>
              <a:ext cx="2236057" cy="731520"/>
              <a:chOff x="6115463" y="2623957"/>
              <a:chExt cx="2236057" cy="731520"/>
            </a:xfrm>
          </p:grpSpPr>
          <p:pic>
            <p:nvPicPr>
              <p:cNvPr id="25" name="Graphic 24" descr="Scatterplot with solid fill">
                <a:extLst>
                  <a:ext uri="{FF2B5EF4-FFF2-40B4-BE49-F238E27FC236}">
                    <a16:creationId xmlns:a16="http://schemas.microsoft.com/office/drawing/2014/main" id="{70F5FF71-9E2B-6D43-B9D8-FA4E3F28407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6867731" y="2623957"/>
                <a:ext cx="731520" cy="731520"/>
              </a:xfrm>
              <a:prstGeom prst="rect">
                <a:avLst/>
              </a:prstGeom>
            </p:spPr>
          </p:pic>
          <p:pic>
            <p:nvPicPr>
              <p:cNvPr id="26" name="Graphic 25" descr="Gauge outline">
                <a:extLst>
                  <a:ext uri="{FF2B5EF4-FFF2-40B4-BE49-F238E27FC236}">
                    <a16:creationId xmlns:a16="http://schemas.microsoft.com/office/drawing/2014/main" id="{2F378914-2FFE-1A4A-87EA-646180CEAC4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7620000" y="2623957"/>
                <a:ext cx="731520" cy="731520"/>
              </a:xfrm>
              <a:prstGeom prst="rect">
                <a:avLst/>
              </a:prstGeom>
            </p:spPr>
          </p:pic>
          <p:pic>
            <p:nvPicPr>
              <p:cNvPr id="27" name="Graphic 26" descr="Office worker female outline">
                <a:extLst>
                  <a:ext uri="{FF2B5EF4-FFF2-40B4-BE49-F238E27FC236}">
                    <a16:creationId xmlns:a16="http://schemas.microsoft.com/office/drawing/2014/main" id="{C5DF8779-D586-F948-B7D4-C106D1DB267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6115463" y="2623957"/>
                <a:ext cx="731520" cy="731520"/>
              </a:xfrm>
              <a:prstGeom prst="rect">
                <a:avLst/>
              </a:prstGeom>
            </p:spPr>
          </p:pic>
        </p:grp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2D6DF35D-97DC-024C-B664-9749F11ACFAF}"/>
                </a:ext>
              </a:extLst>
            </p:cNvPr>
            <p:cNvCxnSpPr>
              <a:cxnSpLocks/>
              <a:stCxn id="27" idx="2"/>
            </p:cNvCxnSpPr>
            <p:nvPr/>
          </p:nvCxnSpPr>
          <p:spPr>
            <a:xfrm flipH="1">
              <a:off x="5400656" y="1702937"/>
              <a:ext cx="678428" cy="97101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Can 31">
              <a:extLst>
                <a:ext uri="{FF2B5EF4-FFF2-40B4-BE49-F238E27FC236}">
                  <a16:creationId xmlns:a16="http://schemas.microsoft.com/office/drawing/2014/main" id="{D9DA1252-763D-D44E-B1E9-A44930D5C40D}"/>
                </a:ext>
              </a:extLst>
            </p:cNvPr>
            <p:cNvSpPr/>
            <p:nvPr/>
          </p:nvSpPr>
          <p:spPr>
            <a:xfrm>
              <a:off x="3744576" y="2619046"/>
              <a:ext cx="2019002" cy="922291"/>
            </a:xfrm>
            <a:prstGeom prst="can">
              <a:avLst>
                <a:gd name="adj" fmla="val 25000"/>
              </a:avLst>
            </a:prstGeom>
            <a:noFill/>
            <a:ln w="34925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dirty="0">
                  <a:solidFill>
                    <a:schemeClr val="tx1"/>
                  </a:solidFill>
                </a:rPr>
                <a:t>DBMS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B3F177BF-23F3-9C4A-9F23-EC13AD256514}"/>
                </a:ext>
              </a:extLst>
            </p:cNvPr>
            <p:cNvSpPr txBox="1"/>
            <p:nvPr/>
          </p:nvSpPr>
          <p:spPr>
            <a:xfrm>
              <a:off x="5783264" y="1920037"/>
              <a:ext cx="476558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T6</a:t>
              </a:r>
            </a:p>
            <a:p>
              <a:r>
                <a:rPr lang="en-US" dirty="0"/>
                <a:t>T7</a:t>
              </a:r>
            </a:p>
            <a:p>
              <a:r>
                <a:rPr lang="en-US" dirty="0"/>
                <a:t>T8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66B6581F-BAC3-6C41-A251-6B03097F4FF7}"/>
                </a:ext>
              </a:extLst>
            </p:cNvPr>
            <p:cNvSpPr txBox="1"/>
            <p:nvPr/>
          </p:nvSpPr>
          <p:spPr>
            <a:xfrm>
              <a:off x="4361476" y="1929126"/>
              <a:ext cx="47655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T4</a:t>
              </a:r>
            </a:p>
            <a:p>
              <a:r>
                <a:rPr lang="en-US" dirty="0"/>
                <a:t>T5</a:t>
              </a:r>
            </a:p>
          </p:txBody>
        </p: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CD0AAC5B-F611-214E-AE00-A720F9D02B74}"/>
                </a:ext>
              </a:extLst>
            </p:cNvPr>
            <p:cNvGrpSpPr/>
            <p:nvPr/>
          </p:nvGrpSpPr>
          <p:grpSpPr>
            <a:xfrm>
              <a:off x="4022557" y="993206"/>
              <a:ext cx="1463040" cy="731520"/>
              <a:chOff x="2174036" y="2623957"/>
              <a:chExt cx="1463040" cy="731520"/>
            </a:xfrm>
          </p:grpSpPr>
          <p:pic>
            <p:nvPicPr>
              <p:cNvPr id="65" name="Graphic 64" descr="Browser window with solid fill">
                <a:extLst>
                  <a:ext uri="{FF2B5EF4-FFF2-40B4-BE49-F238E27FC236}">
                    <a16:creationId xmlns:a16="http://schemas.microsoft.com/office/drawing/2014/main" id="{3FD552B9-996A-5E48-8D0D-8C072C501DB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2905556" y="2623957"/>
                <a:ext cx="731520" cy="731520"/>
              </a:xfrm>
              <a:prstGeom prst="rect">
                <a:avLst/>
              </a:prstGeom>
            </p:spPr>
          </p:pic>
          <p:pic>
            <p:nvPicPr>
              <p:cNvPr id="67" name="Graphic 66" descr="Female Profile with solid fill">
                <a:extLst>
                  <a:ext uri="{FF2B5EF4-FFF2-40B4-BE49-F238E27FC236}">
                    <a16:creationId xmlns:a16="http://schemas.microsoft.com/office/drawing/2014/main" id="{E278D308-96B0-1C47-BB25-CB0933AF018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p:blipFill>
            <p:spPr>
              <a:xfrm>
                <a:off x="2174036" y="2623957"/>
                <a:ext cx="731520" cy="731520"/>
              </a:xfrm>
              <a:prstGeom prst="rect">
                <a:avLst/>
              </a:prstGeom>
            </p:spPr>
          </p:pic>
        </p:grp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92B9C1AD-53B5-E64B-B483-ECBCDAE210CC}"/>
                </a:ext>
              </a:extLst>
            </p:cNvPr>
            <p:cNvSpPr txBox="1"/>
            <p:nvPr/>
          </p:nvSpPr>
          <p:spPr>
            <a:xfrm>
              <a:off x="3327986" y="2006291"/>
              <a:ext cx="476558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T1</a:t>
              </a:r>
            </a:p>
            <a:p>
              <a:r>
                <a:rPr lang="en-US" dirty="0"/>
                <a:t>T2</a:t>
              </a:r>
            </a:p>
            <a:p>
              <a:r>
                <a:rPr lang="en-US" dirty="0"/>
                <a:t>T3</a:t>
              </a:r>
            </a:p>
          </p:txBody>
        </p:sp>
      </p:grpSp>
      <p:sp>
        <p:nvSpPr>
          <p:cNvPr id="75" name="Rectangle 74">
            <a:extLst>
              <a:ext uri="{FF2B5EF4-FFF2-40B4-BE49-F238E27FC236}">
                <a16:creationId xmlns:a16="http://schemas.microsoft.com/office/drawing/2014/main" id="{24061AA1-3790-1D49-89C2-1509A8E5139B}"/>
              </a:ext>
            </a:extLst>
          </p:cNvPr>
          <p:cNvSpPr/>
          <p:nvPr/>
        </p:nvSpPr>
        <p:spPr>
          <a:xfrm>
            <a:off x="16079" y="3644619"/>
            <a:ext cx="9144000" cy="30765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solidFill>
                  <a:srgbClr val="99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Serializability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sz="2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A set of transactions 𝐓 might run concurrently and interleave but final outcome is equivalent to </a:t>
            </a:r>
            <a:r>
              <a:rPr lang="en-US" sz="2200" i="1" dirty="0">
                <a:solidFill>
                  <a:srgbClr val="99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some serial order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of executing the transactions in 𝐓. 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Best consistency guarantee! 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Guaranteeing at the system-level has </a:t>
            </a:r>
            <a:r>
              <a:rPr lang="en-US" sz="2200" dirty="0">
                <a:solidFill>
                  <a:srgbClr val="99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performance overheads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Q: Can users get weaker guarantees but at higher performance?</a:t>
            </a:r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42ADE9FB-DD41-C04A-9B34-677EB548B876}"/>
              </a:ext>
            </a:extLst>
          </p:cNvPr>
          <p:cNvCxnSpPr>
            <a:cxnSpLocks/>
            <a:endCxn id="56" idx="3"/>
          </p:cNvCxnSpPr>
          <p:nvPr/>
        </p:nvCxnSpPr>
        <p:spPr>
          <a:xfrm flipH="1">
            <a:off x="5605911" y="2381702"/>
            <a:ext cx="64773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95EDBB58-47C5-464F-8D7A-0D795B24ACFA}"/>
              </a:ext>
            </a:extLst>
          </p:cNvPr>
          <p:cNvSpPr txBox="1"/>
          <p:nvPr/>
        </p:nvSpPr>
        <p:spPr>
          <a:xfrm>
            <a:off x="6190140" y="1931656"/>
            <a:ext cx="152561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INSERT …</a:t>
            </a:r>
          </a:p>
          <a:p>
            <a:r>
              <a:rPr lang="en-US" dirty="0"/>
              <a:t>SELECT …</a:t>
            </a:r>
          </a:p>
          <a:p>
            <a:r>
              <a:rPr lang="en-US" dirty="0"/>
              <a:t>DELETE …</a:t>
            </a:r>
          </a:p>
          <a:p>
            <a:r>
              <a:rPr lang="en-US" dirty="0"/>
              <a:t>COMMIT</a:t>
            </a:r>
          </a:p>
        </p:txBody>
      </p:sp>
    </p:spTree>
    <p:extLst>
      <p:ext uri="{BB962C8B-B14F-4D97-AF65-F5344CB8AC3E}">
        <p14:creationId xmlns:p14="http://schemas.microsoft.com/office/powerpoint/2010/main" val="3644861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912792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Weaker Isolation Levels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505121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31</a:t>
            </a:fld>
            <a:endParaRPr lang="en-US" dirty="0"/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DEC7B717-2719-8D43-92CD-E01C2D7F60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7584683"/>
              </p:ext>
            </p:extLst>
          </p:nvPr>
        </p:nvGraphicFramePr>
        <p:xfrm>
          <a:off x="3114883" y="1163109"/>
          <a:ext cx="2885026" cy="2468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85026">
                  <a:extLst>
                    <a:ext uri="{9D8B030D-6E8A-4147-A177-3AD203B41FA5}">
                      <a16:colId xmlns:a16="http://schemas.microsoft.com/office/drawing/2014/main" val="37249927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Isolation Levels in SQL Standard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4546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Read Uncommitted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2043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Read Committed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44709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Repeatable Read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4803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Serializable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9201275"/>
                  </a:ext>
                </a:extLst>
              </a:tr>
            </a:tbl>
          </a:graphicData>
        </a:graphic>
      </p:graphicFrame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CCCD4FA-B5B1-0943-8422-6899A460480B}"/>
              </a:ext>
            </a:extLst>
          </p:cNvPr>
          <p:cNvCxnSpPr/>
          <p:nvPr/>
        </p:nvCxnSpPr>
        <p:spPr>
          <a:xfrm>
            <a:off x="2984500" y="1168400"/>
            <a:ext cx="0" cy="20193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0E90CCD-8FC8-8D48-A0A0-2CA2F9B5D4BE}"/>
              </a:ext>
            </a:extLst>
          </p:cNvPr>
          <p:cNvSpPr txBox="1"/>
          <p:nvPr/>
        </p:nvSpPr>
        <p:spPr>
          <a:xfrm>
            <a:off x="16079" y="1321713"/>
            <a:ext cx="304461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Stronger Consistency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CBA33EC-A830-DD4F-85F0-B4483604F478}"/>
              </a:ext>
            </a:extLst>
          </p:cNvPr>
          <p:cNvSpPr txBox="1"/>
          <p:nvPr/>
        </p:nvSpPr>
        <p:spPr>
          <a:xfrm>
            <a:off x="0" y="1791613"/>
            <a:ext cx="304461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solidFill>
                  <a:srgbClr val="99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Higher Overheads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30C917B-0388-614E-8326-972B516685EB}"/>
              </a:ext>
            </a:extLst>
          </p:cNvPr>
          <p:cNvSpPr txBox="1"/>
          <p:nvPr/>
        </p:nvSpPr>
        <p:spPr>
          <a:xfrm>
            <a:off x="0" y="2261513"/>
            <a:ext cx="304461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solidFill>
                  <a:srgbClr val="99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Less Concurrency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1B9A53E-BEA2-C849-A34F-4A57AD661B3A}"/>
              </a:ext>
            </a:extLst>
          </p:cNvPr>
          <p:cNvCxnSpPr/>
          <p:nvPr/>
        </p:nvCxnSpPr>
        <p:spPr>
          <a:xfrm>
            <a:off x="6146370" y="1251863"/>
            <a:ext cx="0" cy="2019300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864D5591-1E11-D343-ABA1-68AC3601679C}"/>
              </a:ext>
            </a:extLst>
          </p:cNvPr>
          <p:cNvSpPr txBox="1"/>
          <p:nvPr/>
        </p:nvSpPr>
        <p:spPr>
          <a:xfrm>
            <a:off x="6146370" y="1435399"/>
            <a:ext cx="304461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solidFill>
                  <a:srgbClr val="99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Weaker Consistency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4176731-3F9B-3A4F-81E7-4C5CCC546D9D}"/>
              </a:ext>
            </a:extLst>
          </p:cNvPr>
          <p:cNvSpPr txBox="1"/>
          <p:nvPr/>
        </p:nvSpPr>
        <p:spPr>
          <a:xfrm>
            <a:off x="6130291" y="1905299"/>
            <a:ext cx="304461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Lower Overheads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A0E6CE0-B058-A140-BD71-3283268AFA5B}"/>
              </a:ext>
            </a:extLst>
          </p:cNvPr>
          <p:cNvSpPr txBox="1"/>
          <p:nvPr/>
        </p:nvSpPr>
        <p:spPr>
          <a:xfrm>
            <a:off x="6130291" y="2375199"/>
            <a:ext cx="304461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More Concurrency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E041C8F-5AE3-F84B-B342-E927F1AF7D73}"/>
              </a:ext>
            </a:extLst>
          </p:cNvPr>
          <p:cNvSpPr/>
          <p:nvPr/>
        </p:nvSpPr>
        <p:spPr>
          <a:xfrm>
            <a:off x="1377950" y="4036241"/>
            <a:ext cx="63881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SET TRANSACTION ISOLATION LEVEL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REPEATABLE READ;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BEGIN TRANSACTION;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SELECT * FROM Order;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…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COMMIT TRANSACTION</a:t>
            </a:r>
          </a:p>
        </p:txBody>
      </p:sp>
    </p:spTree>
    <p:extLst>
      <p:ext uri="{BB962C8B-B14F-4D97-AF65-F5344CB8AC3E}">
        <p14:creationId xmlns:p14="http://schemas.microsoft.com/office/powerpoint/2010/main" val="1420393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0" grpId="0"/>
      <p:bldP spid="33" grpId="0"/>
      <p:bldP spid="35" grpId="0"/>
      <p:bldP spid="36" grpId="0"/>
      <p:bldP spid="37" grpId="0"/>
      <p:bldP spid="7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912792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Important Note On Per-transaction Isolation Levels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505121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32</a:t>
            </a:fld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0441FDF-377C-4C4C-921A-F426BBAF1F11}"/>
              </a:ext>
            </a:extLst>
          </p:cNvPr>
          <p:cNvSpPr/>
          <p:nvPr/>
        </p:nvSpPr>
        <p:spPr>
          <a:xfrm>
            <a:off x="16079" y="758856"/>
            <a:ext cx="9144000" cy="5373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Isolations levels are </a:t>
            </a:r>
            <a:r>
              <a:rPr lang="en-US" sz="2200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 transaction!</a:t>
            </a: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C04784EA-A816-034A-9097-AFFF56C4CF3D}"/>
              </a:ext>
            </a:extLst>
          </p:cNvPr>
          <p:cNvGrpSpPr/>
          <p:nvPr/>
        </p:nvGrpSpPr>
        <p:grpSpPr>
          <a:xfrm>
            <a:off x="2077130" y="1583034"/>
            <a:ext cx="5446940" cy="2569920"/>
            <a:chOff x="2502441" y="971417"/>
            <a:chExt cx="5446940" cy="2569920"/>
          </a:xfrm>
        </p:grpSpPr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A54FE1D5-1AD4-8248-B55C-4E374CBD65EC}"/>
                </a:ext>
              </a:extLst>
            </p:cNvPr>
            <p:cNvCxnSpPr>
              <a:cxnSpLocks/>
              <a:stCxn id="80" idx="2"/>
            </p:cNvCxnSpPr>
            <p:nvPr/>
          </p:nvCxnSpPr>
          <p:spPr>
            <a:xfrm>
              <a:off x="3361523" y="1702937"/>
              <a:ext cx="661033" cy="96125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EE3A1AD8-985E-5D47-BE71-80B041AB4B39}"/>
                </a:ext>
              </a:extLst>
            </p:cNvPr>
            <p:cNvCxnSpPr>
              <a:cxnSpLocks/>
              <a:endCxn id="70" idx="1"/>
            </p:cNvCxnSpPr>
            <p:nvPr/>
          </p:nvCxnSpPr>
          <p:spPr>
            <a:xfrm>
              <a:off x="4735196" y="1203866"/>
              <a:ext cx="18881" cy="141518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9E5AD4F9-6594-584B-BFC8-6B0FAFB1B968}"/>
                </a:ext>
              </a:extLst>
            </p:cNvPr>
            <p:cNvGrpSpPr/>
            <p:nvPr/>
          </p:nvGrpSpPr>
          <p:grpSpPr>
            <a:xfrm>
              <a:off x="2502441" y="971417"/>
              <a:ext cx="1224842" cy="731520"/>
              <a:chOff x="933708" y="2623957"/>
              <a:chExt cx="1224842" cy="731520"/>
            </a:xfrm>
          </p:grpSpPr>
          <p:pic>
            <p:nvPicPr>
              <p:cNvPr id="80" name="Graphic 79" descr="Smart Phone with solid fill">
                <a:extLst>
                  <a:ext uri="{FF2B5EF4-FFF2-40B4-BE49-F238E27FC236}">
                    <a16:creationId xmlns:a16="http://schemas.microsoft.com/office/drawing/2014/main" id="{8F50CAB6-2692-614C-AA05-5A4532D7000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427030" y="2623957"/>
                <a:ext cx="731520" cy="731520"/>
              </a:xfrm>
              <a:prstGeom prst="rect">
                <a:avLst/>
              </a:prstGeom>
            </p:spPr>
          </p:pic>
          <p:pic>
            <p:nvPicPr>
              <p:cNvPr id="81" name="Graphic 80" descr="Male profile with solid fill">
                <a:extLst>
                  <a:ext uri="{FF2B5EF4-FFF2-40B4-BE49-F238E27FC236}">
                    <a16:creationId xmlns:a16="http://schemas.microsoft.com/office/drawing/2014/main" id="{0D3DEB62-6469-A644-9DA5-C6AF72D3B95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933708" y="2623957"/>
                <a:ext cx="731520" cy="731520"/>
              </a:xfrm>
              <a:prstGeom prst="rect">
                <a:avLst/>
              </a:prstGeom>
            </p:spPr>
          </p:pic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F348A42F-3422-E447-B5D7-A98AE5AFF063}"/>
                </a:ext>
              </a:extLst>
            </p:cNvPr>
            <p:cNvGrpSpPr/>
            <p:nvPr/>
          </p:nvGrpSpPr>
          <p:grpSpPr>
            <a:xfrm>
              <a:off x="5713324" y="971417"/>
              <a:ext cx="2236057" cy="731520"/>
              <a:chOff x="6115463" y="2623957"/>
              <a:chExt cx="2236057" cy="731520"/>
            </a:xfrm>
          </p:grpSpPr>
          <p:pic>
            <p:nvPicPr>
              <p:cNvPr id="77" name="Graphic 76" descr="Scatterplot with solid fill">
                <a:extLst>
                  <a:ext uri="{FF2B5EF4-FFF2-40B4-BE49-F238E27FC236}">
                    <a16:creationId xmlns:a16="http://schemas.microsoft.com/office/drawing/2014/main" id="{C95D26A0-04E8-9246-AEDE-19B1B4600D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6867731" y="2623957"/>
                <a:ext cx="731520" cy="731520"/>
              </a:xfrm>
              <a:prstGeom prst="rect">
                <a:avLst/>
              </a:prstGeom>
            </p:spPr>
          </p:pic>
          <p:pic>
            <p:nvPicPr>
              <p:cNvPr id="78" name="Graphic 77" descr="Gauge outline">
                <a:extLst>
                  <a:ext uri="{FF2B5EF4-FFF2-40B4-BE49-F238E27FC236}">
                    <a16:creationId xmlns:a16="http://schemas.microsoft.com/office/drawing/2014/main" id="{CAC58FD7-C343-D343-85B0-AB2F99B3323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7620000" y="2623957"/>
                <a:ext cx="731520" cy="731520"/>
              </a:xfrm>
              <a:prstGeom prst="rect">
                <a:avLst/>
              </a:prstGeom>
            </p:spPr>
          </p:pic>
          <p:pic>
            <p:nvPicPr>
              <p:cNvPr id="79" name="Graphic 78" descr="Office worker female outline">
                <a:extLst>
                  <a:ext uri="{FF2B5EF4-FFF2-40B4-BE49-F238E27FC236}">
                    <a16:creationId xmlns:a16="http://schemas.microsoft.com/office/drawing/2014/main" id="{85E5C180-166C-3943-B831-D5A72810E0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6115463" y="2623957"/>
                <a:ext cx="731520" cy="731520"/>
              </a:xfrm>
              <a:prstGeom prst="rect">
                <a:avLst/>
              </a:prstGeom>
            </p:spPr>
          </p:pic>
        </p:grp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203B9DAB-A820-0040-BE0F-6FBDBFD278DA}"/>
                </a:ext>
              </a:extLst>
            </p:cNvPr>
            <p:cNvCxnSpPr>
              <a:cxnSpLocks/>
              <a:stCxn id="79" idx="2"/>
            </p:cNvCxnSpPr>
            <p:nvPr/>
          </p:nvCxnSpPr>
          <p:spPr>
            <a:xfrm flipH="1">
              <a:off x="5400656" y="1702937"/>
              <a:ext cx="678428" cy="97101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Can 69">
              <a:extLst>
                <a:ext uri="{FF2B5EF4-FFF2-40B4-BE49-F238E27FC236}">
                  <a16:creationId xmlns:a16="http://schemas.microsoft.com/office/drawing/2014/main" id="{73A5EB63-F574-D24A-897C-1EAE01E880E8}"/>
                </a:ext>
              </a:extLst>
            </p:cNvPr>
            <p:cNvSpPr/>
            <p:nvPr/>
          </p:nvSpPr>
          <p:spPr>
            <a:xfrm>
              <a:off x="3744576" y="2619046"/>
              <a:ext cx="2019002" cy="922291"/>
            </a:xfrm>
            <a:prstGeom prst="can">
              <a:avLst>
                <a:gd name="adj" fmla="val 25000"/>
              </a:avLst>
            </a:prstGeom>
            <a:noFill/>
            <a:ln w="34925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dirty="0">
                  <a:solidFill>
                    <a:schemeClr val="tx1"/>
                  </a:solidFill>
                </a:rPr>
                <a:t>DBMS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2DDA8D84-C19E-8D40-9A36-54EA9988EDB9}"/>
                </a:ext>
              </a:extLst>
            </p:cNvPr>
            <p:cNvSpPr txBox="1"/>
            <p:nvPr/>
          </p:nvSpPr>
          <p:spPr>
            <a:xfrm>
              <a:off x="5783264" y="1920037"/>
              <a:ext cx="476558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T6</a:t>
              </a:r>
            </a:p>
            <a:p>
              <a:r>
                <a:rPr lang="en-US" dirty="0"/>
                <a:t>T7</a:t>
              </a:r>
            </a:p>
            <a:p>
              <a:r>
                <a:rPr lang="en-US" dirty="0"/>
                <a:t>T8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C0BB6F64-EDE5-C94B-AF1A-5BCEFECD96CF}"/>
                </a:ext>
              </a:extLst>
            </p:cNvPr>
            <p:cNvSpPr txBox="1"/>
            <p:nvPr/>
          </p:nvSpPr>
          <p:spPr>
            <a:xfrm>
              <a:off x="4361476" y="1929126"/>
              <a:ext cx="47655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T4</a:t>
              </a:r>
            </a:p>
            <a:p>
              <a:r>
                <a:rPr lang="en-US" dirty="0"/>
                <a:t>T5</a:t>
              </a:r>
            </a:p>
          </p:txBody>
        </p:sp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9958393C-CEB2-6D44-B2E1-3826C02C9B17}"/>
                </a:ext>
              </a:extLst>
            </p:cNvPr>
            <p:cNvGrpSpPr/>
            <p:nvPr/>
          </p:nvGrpSpPr>
          <p:grpSpPr>
            <a:xfrm>
              <a:off x="4022557" y="993206"/>
              <a:ext cx="1463040" cy="731520"/>
              <a:chOff x="2174036" y="2623957"/>
              <a:chExt cx="1463040" cy="731520"/>
            </a:xfrm>
          </p:grpSpPr>
          <p:pic>
            <p:nvPicPr>
              <p:cNvPr id="75" name="Graphic 74" descr="Browser window with solid fill">
                <a:extLst>
                  <a:ext uri="{FF2B5EF4-FFF2-40B4-BE49-F238E27FC236}">
                    <a16:creationId xmlns:a16="http://schemas.microsoft.com/office/drawing/2014/main" id="{E39D2048-D91A-F448-A27C-FB39194ADF0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2905556" y="2623957"/>
                <a:ext cx="731520" cy="731520"/>
              </a:xfrm>
              <a:prstGeom prst="rect">
                <a:avLst/>
              </a:prstGeom>
            </p:spPr>
          </p:pic>
          <p:pic>
            <p:nvPicPr>
              <p:cNvPr id="76" name="Graphic 75" descr="Female Profile with solid fill">
                <a:extLst>
                  <a:ext uri="{FF2B5EF4-FFF2-40B4-BE49-F238E27FC236}">
                    <a16:creationId xmlns:a16="http://schemas.microsoft.com/office/drawing/2014/main" id="{40B9E2AC-B1C5-7B44-BECC-70B2E2EE4EA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p:blipFill>
            <p:spPr>
              <a:xfrm>
                <a:off x="2174036" y="2623957"/>
                <a:ext cx="731520" cy="731520"/>
              </a:xfrm>
              <a:prstGeom prst="rect">
                <a:avLst/>
              </a:prstGeom>
            </p:spPr>
          </p:pic>
        </p:grp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9B3FF0FD-9AFE-1E48-B5D2-C79E7D1F8E84}"/>
                </a:ext>
              </a:extLst>
            </p:cNvPr>
            <p:cNvSpPr txBox="1"/>
            <p:nvPr/>
          </p:nvSpPr>
          <p:spPr>
            <a:xfrm>
              <a:off x="3327986" y="2006291"/>
              <a:ext cx="476558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T1</a:t>
              </a:r>
            </a:p>
            <a:p>
              <a:r>
                <a:rPr lang="en-US" dirty="0"/>
                <a:t>T2</a:t>
              </a:r>
            </a:p>
            <a:p>
              <a:r>
                <a:rPr lang="en-US" dirty="0"/>
                <a:t>T3</a:t>
              </a:r>
            </a:p>
          </p:txBody>
        </p:sp>
      </p:grpSp>
      <p:sp>
        <p:nvSpPr>
          <p:cNvPr id="84" name="Rounded Rectangle 83">
            <a:extLst>
              <a:ext uri="{FF2B5EF4-FFF2-40B4-BE49-F238E27FC236}">
                <a16:creationId xmlns:a16="http://schemas.microsoft.com/office/drawing/2014/main" id="{422EFDC4-8386-AD40-B85E-247DE3B32731}"/>
              </a:ext>
            </a:extLst>
          </p:cNvPr>
          <p:cNvSpPr/>
          <p:nvPr/>
        </p:nvSpPr>
        <p:spPr>
          <a:xfrm>
            <a:off x="5314559" y="2563587"/>
            <a:ext cx="597466" cy="259372"/>
          </a:xfrm>
          <a:prstGeom prst="roundRect">
            <a:avLst/>
          </a:prstGeom>
          <a:noFill/>
          <a:ln w="349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ounded Rectangle 84">
            <a:extLst>
              <a:ext uri="{FF2B5EF4-FFF2-40B4-BE49-F238E27FC236}">
                <a16:creationId xmlns:a16="http://schemas.microsoft.com/office/drawing/2014/main" id="{A0C507A3-8C8B-9642-BBF2-BCE0A95BD2F4}"/>
              </a:ext>
            </a:extLst>
          </p:cNvPr>
          <p:cNvSpPr/>
          <p:nvPr/>
        </p:nvSpPr>
        <p:spPr>
          <a:xfrm>
            <a:off x="2733628" y="3200647"/>
            <a:ext cx="597466" cy="259372"/>
          </a:xfrm>
          <a:prstGeom prst="roundRect">
            <a:avLst/>
          </a:prstGeom>
          <a:noFill/>
          <a:ln w="349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457DF4D0-82D4-CB41-8ADA-E763AE866B10}"/>
              </a:ext>
            </a:extLst>
          </p:cNvPr>
          <p:cNvCxnSpPr>
            <a:cxnSpLocks/>
          </p:cNvCxnSpPr>
          <p:nvPr/>
        </p:nvCxnSpPr>
        <p:spPr>
          <a:xfrm flipH="1">
            <a:off x="5902847" y="2672840"/>
            <a:ext cx="503194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4E53C6D5-884B-2849-9492-0072FF416D59}"/>
              </a:ext>
            </a:extLst>
          </p:cNvPr>
          <p:cNvSpPr txBox="1"/>
          <p:nvPr/>
        </p:nvSpPr>
        <p:spPr>
          <a:xfrm>
            <a:off x="6360708" y="2498662"/>
            <a:ext cx="2275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READ UNCOMMITTED</a:t>
            </a: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10266209-9749-3144-B26B-0E814F445F62}"/>
              </a:ext>
            </a:extLst>
          </p:cNvPr>
          <p:cNvCxnSpPr>
            <a:cxnSpLocks/>
          </p:cNvCxnSpPr>
          <p:nvPr/>
        </p:nvCxnSpPr>
        <p:spPr>
          <a:xfrm>
            <a:off x="2356391" y="3330333"/>
            <a:ext cx="39144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67A60279-095E-604D-A6FB-4D58A8AE10AD}"/>
              </a:ext>
            </a:extLst>
          </p:cNvPr>
          <p:cNvSpPr txBox="1"/>
          <p:nvPr/>
        </p:nvSpPr>
        <p:spPr>
          <a:xfrm>
            <a:off x="857141" y="3145667"/>
            <a:ext cx="1607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SERIALIZABLE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BDCA2C45-287D-4A49-B30B-D276F8AB5F84}"/>
              </a:ext>
            </a:extLst>
          </p:cNvPr>
          <p:cNvSpPr/>
          <p:nvPr/>
        </p:nvSpPr>
        <p:spPr>
          <a:xfrm>
            <a:off x="0" y="4110056"/>
            <a:ext cx="9144000" cy="25898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ts val="334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Q: What? We just defined serializability per a set of transactions 𝐓.</a:t>
            </a:r>
          </a:p>
          <a:p>
            <a:pPr marL="457200" indent="-457200">
              <a:lnSpc>
                <a:spcPts val="334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What does it mean for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22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to be serializable/read uncommitted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etc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pPr marL="457200" indent="-457200">
              <a:lnSpc>
                <a:spcPts val="334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A1: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22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gets a specific </a:t>
            </a:r>
            <a:r>
              <a:rPr lang="en-US" sz="2200" i="1" dirty="0">
                <a:solidFill>
                  <a:srgbClr val="99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guarantee for properties of its read operations</a:t>
            </a:r>
            <a:r>
              <a:rPr lang="en-US" sz="2200" i="1" dirty="0">
                <a:latin typeface="Arial" panose="020B0604020202020204" pitchFamily="34" charset="0"/>
                <a:cs typeface="Arial" panose="020B0604020202020204" pitchFamily="34" charset="0"/>
              </a:rPr>
              <a:t>!</a:t>
            </a:r>
          </a:p>
          <a:p>
            <a:pPr marL="457200" indent="-457200">
              <a:lnSpc>
                <a:spcPts val="334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A2: For serializability specifically: Unless all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trxs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set serializability, state of the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db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at time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22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is not necessarily equivalent to some serial order of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trxs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committed until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22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52471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84" grpId="0" animBg="1"/>
      <p:bldP spid="85" grpId="0" animBg="1"/>
      <p:bldP spid="88" grpId="0"/>
      <p:bldP spid="90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912792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505121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33</a:t>
            </a:fld>
            <a:endParaRPr lang="en-US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91215CF-DF19-FF44-8E48-68641CF7003E}"/>
              </a:ext>
            </a:extLst>
          </p:cNvPr>
          <p:cNvCxnSpPr>
            <a:cxnSpLocks/>
          </p:cNvCxnSpPr>
          <p:nvPr/>
        </p:nvCxnSpPr>
        <p:spPr>
          <a:xfrm rot="16200000">
            <a:off x="4565562" y="-2830774"/>
            <a:ext cx="2" cy="82672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876EE89-7B9E-5141-802A-7CEEF35D86BA}"/>
              </a:ext>
            </a:extLst>
          </p:cNvPr>
          <p:cNvSpPr txBox="1"/>
          <p:nvPr/>
        </p:nvSpPr>
        <p:spPr>
          <a:xfrm>
            <a:off x="288346" y="1264568"/>
            <a:ext cx="955585" cy="395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update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A00C742-B0FA-0043-A98A-991E51BC4C39}"/>
              </a:ext>
            </a:extLst>
          </p:cNvPr>
          <p:cNvSpPr txBox="1"/>
          <p:nvPr/>
        </p:nvSpPr>
        <p:spPr>
          <a:xfrm>
            <a:off x="766138" y="1570871"/>
            <a:ext cx="955585" cy="395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select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8795562-D93D-384E-A5EC-FDB712865CD6}"/>
              </a:ext>
            </a:extLst>
          </p:cNvPr>
          <p:cNvSpPr txBox="1"/>
          <p:nvPr/>
        </p:nvSpPr>
        <p:spPr>
          <a:xfrm>
            <a:off x="1206859" y="1264568"/>
            <a:ext cx="955585" cy="395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del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BEF8C81-038F-5645-8448-75474DA93E3E}"/>
              </a:ext>
            </a:extLst>
          </p:cNvPr>
          <p:cNvCxnSpPr/>
          <p:nvPr/>
        </p:nvCxnSpPr>
        <p:spPr>
          <a:xfrm>
            <a:off x="2026526" y="1232686"/>
            <a:ext cx="0" cy="642615"/>
          </a:xfrm>
          <a:prstGeom prst="line">
            <a:avLst/>
          </a:prstGeom>
          <a:ln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A734264E-F43C-BE46-9318-DE51A811623F}"/>
              </a:ext>
            </a:extLst>
          </p:cNvPr>
          <p:cNvSpPr txBox="1"/>
          <p:nvPr/>
        </p:nvSpPr>
        <p:spPr>
          <a:xfrm>
            <a:off x="1548733" y="1854774"/>
            <a:ext cx="955585" cy="395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commit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E4E88AE-D8BE-3E4C-BE51-1D8C95B0863E}"/>
              </a:ext>
            </a:extLst>
          </p:cNvPr>
          <p:cNvSpPr txBox="1"/>
          <p:nvPr/>
        </p:nvSpPr>
        <p:spPr>
          <a:xfrm>
            <a:off x="3752355" y="1320933"/>
            <a:ext cx="955585" cy="395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insert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34E39AE-4909-784B-B418-22DC666DB171}"/>
              </a:ext>
            </a:extLst>
          </p:cNvPr>
          <p:cNvSpPr txBox="1"/>
          <p:nvPr/>
        </p:nvSpPr>
        <p:spPr>
          <a:xfrm>
            <a:off x="2982110" y="1264568"/>
            <a:ext cx="955585" cy="395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select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BF6FA74-BFD6-7041-A4FA-E83E30144D77}"/>
              </a:ext>
            </a:extLst>
          </p:cNvPr>
          <p:cNvCxnSpPr/>
          <p:nvPr/>
        </p:nvCxnSpPr>
        <p:spPr>
          <a:xfrm>
            <a:off x="3764706" y="1112685"/>
            <a:ext cx="0" cy="642615"/>
          </a:xfrm>
          <a:prstGeom prst="line">
            <a:avLst/>
          </a:prstGeom>
          <a:ln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9CF71B08-E4B7-9A41-A64D-C96484C4B9EB}"/>
              </a:ext>
            </a:extLst>
          </p:cNvPr>
          <p:cNvSpPr txBox="1"/>
          <p:nvPr/>
        </p:nvSpPr>
        <p:spPr>
          <a:xfrm>
            <a:off x="3286913" y="1734773"/>
            <a:ext cx="955585" cy="395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commit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4060516-D427-154A-9FB0-8F0BCF2F08D8}"/>
              </a:ext>
            </a:extLst>
          </p:cNvPr>
          <p:cNvSpPr txBox="1"/>
          <p:nvPr/>
        </p:nvSpPr>
        <p:spPr>
          <a:xfrm>
            <a:off x="1944144" y="1264568"/>
            <a:ext cx="955585" cy="395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del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A246BA9-501E-6D4B-89A3-3389EA132C27}"/>
              </a:ext>
            </a:extLst>
          </p:cNvPr>
          <p:cNvSpPr txBox="1"/>
          <p:nvPr/>
        </p:nvSpPr>
        <p:spPr>
          <a:xfrm>
            <a:off x="6128966" y="1377550"/>
            <a:ext cx="955585" cy="395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710BF15-8254-7B41-8063-CC42A95B7DFC}"/>
              </a:ext>
            </a:extLst>
          </p:cNvPr>
          <p:cNvSpPr txBox="1"/>
          <p:nvPr/>
        </p:nvSpPr>
        <p:spPr>
          <a:xfrm>
            <a:off x="2480285" y="1494324"/>
            <a:ext cx="955585" cy="395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insert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DF54A86-92DD-1344-9D8D-772AFF6EF8CD}"/>
              </a:ext>
            </a:extLst>
          </p:cNvPr>
          <p:cNvSpPr txBox="1"/>
          <p:nvPr/>
        </p:nvSpPr>
        <p:spPr>
          <a:xfrm>
            <a:off x="4246609" y="1320933"/>
            <a:ext cx="955585" cy="395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del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648EF38-1624-A849-8FA0-E9752D0C31D2}"/>
              </a:ext>
            </a:extLst>
          </p:cNvPr>
          <p:cNvSpPr txBox="1"/>
          <p:nvPr/>
        </p:nvSpPr>
        <p:spPr>
          <a:xfrm>
            <a:off x="32974" y="861658"/>
            <a:ext cx="996784" cy="395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Client 1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EF55EE2-8D10-7446-8EE5-78795297753B}"/>
              </a:ext>
            </a:extLst>
          </p:cNvPr>
          <p:cNvCxnSpPr>
            <a:cxnSpLocks/>
          </p:cNvCxnSpPr>
          <p:nvPr/>
        </p:nvCxnSpPr>
        <p:spPr>
          <a:xfrm rot="16200000">
            <a:off x="4565562" y="-29634"/>
            <a:ext cx="2" cy="82672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264008EA-3D62-964B-AA5A-421041796446}"/>
              </a:ext>
            </a:extLst>
          </p:cNvPr>
          <p:cNvSpPr txBox="1"/>
          <p:nvPr/>
        </p:nvSpPr>
        <p:spPr>
          <a:xfrm>
            <a:off x="288346" y="4053900"/>
            <a:ext cx="955585" cy="395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select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EE7B729-D423-E541-BEAE-68470822649A}"/>
              </a:ext>
            </a:extLst>
          </p:cNvPr>
          <p:cNvSpPr txBox="1"/>
          <p:nvPr/>
        </p:nvSpPr>
        <p:spPr>
          <a:xfrm>
            <a:off x="1206859" y="4053900"/>
            <a:ext cx="955585" cy="395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del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C128C82-C1E0-A844-A1E7-E45094DFE1F0}"/>
              </a:ext>
            </a:extLst>
          </p:cNvPr>
          <p:cNvSpPr txBox="1"/>
          <p:nvPr/>
        </p:nvSpPr>
        <p:spPr>
          <a:xfrm>
            <a:off x="3752355" y="4053900"/>
            <a:ext cx="955585" cy="395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select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6C97A8E-3D27-AC4C-AB63-DC8D4A9E115F}"/>
              </a:ext>
            </a:extLst>
          </p:cNvPr>
          <p:cNvSpPr txBox="1"/>
          <p:nvPr/>
        </p:nvSpPr>
        <p:spPr>
          <a:xfrm>
            <a:off x="3134491" y="4168811"/>
            <a:ext cx="955585" cy="395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del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A907BF8-DDDD-8E48-B9A3-1AB08C8F2709}"/>
              </a:ext>
            </a:extLst>
          </p:cNvPr>
          <p:cNvCxnSpPr/>
          <p:nvPr/>
        </p:nvCxnSpPr>
        <p:spPr>
          <a:xfrm>
            <a:off x="4691442" y="3909889"/>
            <a:ext cx="0" cy="642615"/>
          </a:xfrm>
          <a:prstGeom prst="line">
            <a:avLst/>
          </a:prstGeom>
          <a:ln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52922E4D-8C2F-6349-951D-C10F946C6753}"/>
              </a:ext>
            </a:extLst>
          </p:cNvPr>
          <p:cNvSpPr txBox="1"/>
          <p:nvPr/>
        </p:nvSpPr>
        <p:spPr>
          <a:xfrm>
            <a:off x="2108897" y="4053900"/>
            <a:ext cx="477792" cy="395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del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9BB80AE-25E2-BA4A-ADB4-9C34F7324DF6}"/>
              </a:ext>
            </a:extLst>
          </p:cNvPr>
          <p:cNvSpPr txBox="1"/>
          <p:nvPr/>
        </p:nvSpPr>
        <p:spPr>
          <a:xfrm>
            <a:off x="4938589" y="4154063"/>
            <a:ext cx="955585" cy="395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DB4CA41-C9D2-3449-A9EB-97F29EA3D582}"/>
              </a:ext>
            </a:extLst>
          </p:cNvPr>
          <p:cNvSpPr txBox="1"/>
          <p:nvPr/>
        </p:nvSpPr>
        <p:spPr>
          <a:xfrm>
            <a:off x="2681454" y="4053900"/>
            <a:ext cx="729027" cy="395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insert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3DF5CBD-45A7-4C4C-A4C7-CAF9C19D7AA2}"/>
              </a:ext>
            </a:extLst>
          </p:cNvPr>
          <p:cNvSpPr txBox="1"/>
          <p:nvPr/>
        </p:nvSpPr>
        <p:spPr>
          <a:xfrm>
            <a:off x="-100911" y="3689003"/>
            <a:ext cx="996784" cy="395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Client 2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3D253BF9-10ED-B545-A3ED-BC3F8F09D81C}"/>
              </a:ext>
            </a:extLst>
          </p:cNvPr>
          <p:cNvCxnSpPr/>
          <p:nvPr/>
        </p:nvCxnSpPr>
        <p:spPr>
          <a:xfrm>
            <a:off x="2673196" y="4000401"/>
            <a:ext cx="0" cy="642615"/>
          </a:xfrm>
          <a:prstGeom prst="line">
            <a:avLst/>
          </a:prstGeom>
          <a:ln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Left Brace 2">
            <a:extLst>
              <a:ext uri="{FF2B5EF4-FFF2-40B4-BE49-F238E27FC236}">
                <a16:creationId xmlns:a16="http://schemas.microsoft.com/office/drawing/2014/main" id="{0F3657EE-F745-7342-BDC2-09E60FBD7506}"/>
              </a:ext>
            </a:extLst>
          </p:cNvPr>
          <p:cNvSpPr/>
          <p:nvPr/>
        </p:nvSpPr>
        <p:spPr>
          <a:xfrm rot="16200000">
            <a:off x="1035310" y="1491425"/>
            <a:ext cx="271010" cy="1546663"/>
          </a:xfrm>
          <a:prstGeom prst="leftBrace">
            <a:avLst/>
          </a:prstGeom>
          <a:ln w="19050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Left Brace 33">
            <a:extLst>
              <a:ext uri="{FF2B5EF4-FFF2-40B4-BE49-F238E27FC236}">
                <a16:creationId xmlns:a16="http://schemas.microsoft.com/office/drawing/2014/main" id="{B92B9247-2651-994D-AEEB-A41D0D394521}"/>
              </a:ext>
            </a:extLst>
          </p:cNvPr>
          <p:cNvSpPr/>
          <p:nvPr/>
        </p:nvSpPr>
        <p:spPr>
          <a:xfrm rot="16200000">
            <a:off x="2957231" y="1316573"/>
            <a:ext cx="280063" cy="1976731"/>
          </a:xfrm>
          <a:prstGeom prst="leftBrace">
            <a:avLst/>
          </a:prstGeom>
          <a:ln w="19050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Left Brace 34">
            <a:extLst>
              <a:ext uri="{FF2B5EF4-FFF2-40B4-BE49-F238E27FC236}">
                <a16:creationId xmlns:a16="http://schemas.microsoft.com/office/drawing/2014/main" id="{0C9CE9FC-3C1C-1A47-84BE-F445A84A1375}"/>
              </a:ext>
            </a:extLst>
          </p:cNvPr>
          <p:cNvSpPr/>
          <p:nvPr/>
        </p:nvSpPr>
        <p:spPr>
          <a:xfrm rot="16200000">
            <a:off x="4597459" y="1506203"/>
            <a:ext cx="280063" cy="1546673"/>
          </a:xfrm>
          <a:prstGeom prst="leftBrace">
            <a:avLst/>
          </a:prstGeom>
          <a:ln w="19050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2102769-E112-9F44-9F92-2BAA829B8F60}"/>
              </a:ext>
            </a:extLst>
          </p:cNvPr>
          <p:cNvSpPr txBox="1"/>
          <p:nvPr/>
        </p:nvSpPr>
        <p:spPr>
          <a:xfrm>
            <a:off x="4745384" y="1310679"/>
            <a:ext cx="955585" cy="395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del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08F80F2-4D6D-F242-BA19-D0A78C906497}"/>
              </a:ext>
            </a:extLst>
          </p:cNvPr>
          <p:cNvSpPr txBox="1"/>
          <p:nvPr/>
        </p:nvSpPr>
        <p:spPr>
          <a:xfrm>
            <a:off x="3286913" y="769088"/>
            <a:ext cx="996784" cy="395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time</a:t>
            </a:r>
          </a:p>
        </p:txBody>
      </p:sp>
      <p:sp>
        <p:nvSpPr>
          <p:cNvPr id="50" name="Left Brace 49">
            <a:extLst>
              <a:ext uri="{FF2B5EF4-FFF2-40B4-BE49-F238E27FC236}">
                <a16:creationId xmlns:a16="http://schemas.microsoft.com/office/drawing/2014/main" id="{BE6CB444-D274-624B-B7DB-43F72807BE09}"/>
              </a:ext>
            </a:extLst>
          </p:cNvPr>
          <p:cNvSpPr/>
          <p:nvPr/>
        </p:nvSpPr>
        <p:spPr>
          <a:xfrm rot="16200000">
            <a:off x="1404728" y="3655752"/>
            <a:ext cx="280063" cy="1976731"/>
          </a:xfrm>
          <a:prstGeom prst="leftBrace">
            <a:avLst/>
          </a:prstGeom>
          <a:ln w="19050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Left Brace 50">
            <a:extLst>
              <a:ext uri="{FF2B5EF4-FFF2-40B4-BE49-F238E27FC236}">
                <a16:creationId xmlns:a16="http://schemas.microsoft.com/office/drawing/2014/main" id="{E9113BD8-356D-734B-9C3B-73AAE8A5C677}"/>
              </a:ext>
            </a:extLst>
          </p:cNvPr>
          <p:cNvSpPr/>
          <p:nvPr/>
        </p:nvSpPr>
        <p:spPr>
          <a:xfrm rot="16200000">
            <a:off x="3508657" y="3788055"/>
            <a:ext cx="300705" cy="1691482"/>
          </a:xfrm>
          <a:prstGeom prst="leftBrace">
            <a:avLst/>
          </a:prstGeom>
          <a:ln w="19050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EA7AA4-C8A4-9E45-AB93-AB5D994A876A}"/>
              </a:ext>
            </a:extLst>
          </p:cNvPr>
          <p:cNvSpPr txBox="1"/>
          <p:nvPr/>
        </p:nvSpPr>
        <p:spPr>
          <a:xfrm>
            <a:off x="997575" y="2465089"/>
            <a:ext cx="662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</a:t>
            </a:r>
            <a:r>
              <a:rPr lang="en-US" baseline="-25000" dirty="0"/>
              <a:t>1</a:t>
            </a:r>
            <a:endParaRPr lang="en-US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3350387-B865-1A4A-8B73-0892DEF5549E}"/>
              </a:ext>
            </a:extLst>
          </p:cNvPr>
          <p:cNvSpPr txBox="1"/>
          <p:nvPr/>
        </p:nvSpPr>
        <p:spPr>
          <a:xfrm>
            <a:off x="2788789" y="2491554"/>
            <a:ext cx="662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</a:t>
            </a:r>
            <a:r>
              <a:rPr lang="en-US" baseline="-25000" dirty="0"/>
              <a:t>3</a:t>
            </a:r>
            <a:endParaRPr lang="en-US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F1E9F3D-6FD6-0D4A-93AE-141B15AC67F4}"/>
              </a:ext>
            </a:extLst>
          </p:cNvPr>
          <p:cNvSpPr txBox="1"/>
          <p:nvPr/>
        </p:nvSpPr>
        <p:spPr>
          <a:xfrm>
            <a:off x="4535574" y="2466142"/>
            <a:ext cx="518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</a:t>
            </a:r>
            <a:r>
              <a:rPr lang="en-US" baseline="-25000" dirty="0"/>
              <a:t>5</a:t>
            </a:r>
            <a:endParaRPr 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25D2896-FFE6-764E-A51A-E35895FD127F}"/>
              </a:ext>
            </a:extLst>
          </p:cNvPr>
          <p:cNvSpPr txBox="1"/>
          <p:nvPr/>
        </p:nvSpPr>
        <p:spPr>
          <a:xfrm>
            <a:off x="3459902" y="4784149"/>
            <a:ext cx="518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</a:t>
            </a:r>
            <a:r>
              <a:rPr lang="en-US" baseline="-25000" dirty="0"/>
              <a:t>4</a:t>
            </a:r>
            <a:endParaRPr lang="en-US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E4048EA-7876-5042-8391-2BB90ED66BDA}"/>
              </a:ext>
            </a:extLst>
          </p:cNvPr>
          <p:cNvSpPr txBox="1"/>
          <p:nvPr/>
        </p:nvSpPr>
        <p:spPr>
          <a:xfrm>
            <a:off x="1323096" y="4825045"/>
            <a:ext cx="518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</a:t>
            </a:r>
            <a:r>
              <a:rPr lang="en-US" baseline="-25000" dirty="0"/>
              <a:t>2</a:t>
            </a:r>
            <a:endParaRPr lang="en-US" dirty="0"/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A54BC880-CA4E-4A47-89BE-D34B44CA80D0}"/>
              </a:ext>
            </a:extLst>
          </p:cNvPr>
          <p:cNvSpPr/>
          <p:nvPr/>
        </p:nvSpPr>
        <p:spPr>
          <a:xfrm>
            <a:off x="4518808" y="2526607"/>
            <a:ext cx="597466" cy="259372"/>
          </a:xfrm>
          <a:prstGeom prst="roundRect">
            <a:avLst/>
          </a:prstGeom>
          <a:noFill/>
          <a:ln w="349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63435229-EEA3-1D40-89AF-7268D3E3DC2D}"/>
              </a:ext>
            </a:extLst>
          </p:cNvPr>
          <p:cNvCxnSpPr>
            <a:cxnSpLocks/>
          </p:cNvCxnSpPr>
          <p:nvPr/>
        </p:nvCxnSpPr>
        <p:spPr>
          <a:xfrm flipH="1">
            <a:off x="5094739" y="2685288"/>
            <a:ext cx="503194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645ACAF9-BF63-0A4B-9984-8EA79E3B49F9}"/>
              </a:ext>
            </a:extLst>
          </p:cNvPr>
          <p:cNvSpPr txBox="1"/>
          <p:nvPr/>
        </p:nvSpPr>
        <p:spPr>
          <a:xfrm>
            <a:off x="5552600" y="2511110"/>
            <a:ext cx="163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SERIALIZABLE</a:t>
            </a:r>
          </a:p>
        </p:txBody>
      </p:sp>
    </p:spTree>
    <p:extLst>
      <p:ext uri="{BB962C8B-B14F-4D97-AF65-F5344CB8AC3E}">
        <p14:creationId xmlns:p14="http://schemas.microsoft.com/office/powerpoint/2010/main" val="2200745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4" grpId="0" animBg="1"/>
      <p:bldP spid="35" grpId="0" animBg="1"/>
      <p:bldP spid="50" grpId="0" animBg="1"/>
      <p:bldP spid="51" grpId="0" animBg="1"/>
      <p:bldP spid="4" grpId="0"/>
      <p:bldP spid="52" grpId="0"/>
      <p:bldP spid="53" grpId="0"/>
      <p:bldP spid="53" grpId="1"/>
      <p:bldP spid="54" grpId="0"/>
      <p:bldP spid="55" grpId="0"/>
      <p:bldP spid="56" grpId="0" animBg="1"/>
      <p:bldP spid="58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912792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Example Continued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505121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34</a:t>
            </a:fld>
            <a:endParaRPr lang="en-US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29346E00-6320-1143-8CDB-8B57E22F8616}"/>
              </a:ext>
            </a:extLst>
          </p:cNvPr>
          <p:cNvSpPr/>
          <p:nvPr/>
        </p:nvSpPr>
        <p:spPr>
          <a:xfrm>
            <a:off x="0" y="758856"/>
            <a:ext cx="9144000" cy="4282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ts val="334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If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22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is set to serializable the guarantee is the following:</a:t>
            </a:r>
          </a:p>
          <a:p>
            <a:pPr marL="457200" indent="-457200">
              <a:lnSpc>
                <a:spcPts val="334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Some set of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trxs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𝐓, e.g., {T1, T3, T2}, will be committed before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22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, and left the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db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in a state, let’s call D</a:t>
            </a:r>
            <a:r>
              <a:rPr lang="en-US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&lt;j</a:t>
            </a:r>
          </a:p>
          <a:p>
            <a:pPr marL="457200" indent="-457200">
              <a:lnSpc>
                <a:spcPts val="334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&lt;j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 is not necessarily a state after some serial exec. of 𝐓</a:t>
            </a:r>
          </a:p>
          <a:p>
            <a:pPr marL="342900" indent="-342900">
              <a:lnSpc>
                <a:spcPts val="334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	Let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sz="22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r>
              <a:rPr lang="en-US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be the state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22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leaves the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db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in after execution.</a:t>
            </a:r>
          </a:p>
          <a:p>
            <a:pPr algn="ctr">
              <a:lnSpc>
                <a:spcPts val="3340"/>
              </a:lnSpc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Guarantee: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sz="22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= state</a:t>
            </a:r>
            <a:r>
              <a:rPr lang="en-US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22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would leave D</a:t>
            </a:r>
            <a:r>
              <a:rPr lang="en-US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&lt;j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in if it were the only transaction running on D</a:t>
            </a:r>
            <a:r>
              <a:rPr lang="en-US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&lt;j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ts val="3340"/>
              </a:lnSpc>
            </a:pP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ts val="334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Equivalent to previous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dfn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of serializability if all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trxs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are serializable: i.e., final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db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state is the output of some serial order of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trxs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44358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912792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READ UNCOMMITTED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505121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35</a:t>
            </a:fld>
            <a:endParaRPr lang="en-US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29346E00-6320-1143-8CDB-8B57E22F8616}"/>
              </a:ext>
            </a:extLst>
          </p:cNvPr>
          <p:cNvSpPr/>
          <p:nvPr/>
        </p:nvSpPr>
        <p:spPr>
          <a:xfrm>
            <a:off x="0" y="758856"/>
            <a:ext cx="9144000" cy="4739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ts val="334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Can read </a:t>
            </a:r>
            <a:r>
              <a:rPr lang="en-US" sz="2200" i="1" dirty="0">
                <a:solidFill>
                  <a:srgbClr val="99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dirty data: an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item written by an uncommitted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trx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A8A9E55-DBE7-864E-AAE5-507BEF8BAEAA}"/>
              </a:ext>
            </a:extLst>
          </p:cNvPr>
          <p:cNvGrpSpPr/>
          <p:nvPr/>
        </p:nvGrpSpPr>
        <p:grpSpPr>
          <a:xfrm>
            <a:off x="296656" y="3012024"/>
            <a:ext cx="742137" cy="2384971"/>
            <a:chOff x="1770803" y="2405125"/>
            <a:chExt cx="456472" cy="2047749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60EEF24F-4389-8C42-A839-A4FD98542DDC}"/>
                </a:ext>
              </a:extLst>
            </p:cNvPr>
            <p:cNvCxnSpPr>
              <a:cxnSpLocks/>
            </p:cNvCxnSpPr>
            <p:nvPr/>
          </p:nvCxnSpPr>
          <p:spPr>
            <a:xfrm>
              <a:off x="2084976" y="2405125"/>
              <a:ext cx="1" cy="204774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E040008-43FB-7642-A91A-01625EE05361}"/>
                </a:ext>
              </a:extLst>
            </p:cNvPr>
            <p:cNvSpPr txBox="1"/>
            <p:nvPr/>
          </p:nvSpPr>
          <p:spPr>
            <a:xfrm rot="16200000">
              <a:off x="1567629" y="3127971"/>
              <a:ext cx="862819" cy="4564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time</a:t>
              </a:r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7544F724-405E-2947-8038-109D3B829A02}"/>
              </a:ext>
            </a:extLst>
          </p:cNvPr>
          <p:cNvSpPr/>
          <p:nvPr/>
        </p:nvSpPr>
        <p:spPr>
          <a:xfrm>
            <a:off x="856153" y="2930483"/>
            <a:ext cx="12490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r:(o1,$20) 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4961E6-9A16-DA46-909E-99AD79BA4FB5}"/>
              </a:ext>
            </a:extLst>
          </p:cNvPr>
          <p:cNvSpPr/>
          <p:nvPr/>
        </p:nvSpPr>
        <p:spPr>
          <a:xfrm>
            <a:off x="2271928" y="3605860"/>
            <a:ext cx="13131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r:(o1, $25) 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ADD769-0828-FF4B-A038-A4970B68E8EB}"/>
              </a:ext>
            </a:extLst>
          </p:cNvPr>
          <p:cNvSpPr/>
          <p:nvPr/>
        </p:nvSpPr>
        <p:spPr>
          <a:xfrm>
            <a:off x="2261426" y="4279168"/>
            <a:ext cx="9284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commit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FB9213B-DAA7-BD4A-9630-0C10803D642E}"/>
              </a:ext>
            </a:extLst>
          </p:cNvPr>
          <p:cNvSpPr/>
          <p:nvPr/>
        </p:nvSpPr>
        <p:spPr>
          <a:xfrm>
            <a:off x="688202" y="1272681"/>
            <a:ext cx="364960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Trx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1: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UPDATE Order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SET price = price + 5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WHERE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oid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o1 ||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oid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o2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FFD7856-1DE4-0D4F-AEAE-6E3D5BA2381E}"/>
              </a:ext>
            </a:extLst>
          </p:cNvPr>
          <p:cNvSpPr/>
          <p:nvPr/>
        </p:nvSpPr>
        <p:spPr>
          <a:xfrm>
            <a:off x="688203" y="1274975"/>
            <a:ext cx="3451986" cy="1216612"/>
          </a:xfrm>
          <a:prstGeom prst="rect">
            <a:avLst/>
          </a:prstGeom>
          <a:noFill/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B21D718-384A-0E47-BD5C-59BBACFB919F}"/>
              </a:ext>
            </a:extLst>
          </p:cNvPr>
          <p:cNvSpPr/>
          <p:nvPr/>
        </p:nvSpPr>
        <p:spPr>
          <a:xfrm>
            <a:off x="4806194" y="1241289"/>
            <a:ext cx="388060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Trx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2: (READ UNCOMMITTED)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SELECT sum(price) FROM Order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WHERE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oid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o1 ||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oid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=o2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D296F7F-CFB0-454F-8DD7-4837F22D20F7}"/>
              </a:ext>
            </a:extLst>
          </p:cNvPr>
          <p:cNvSpPr/>
          <p:nvPr/>
        </p:nvSpPr>
        <p:spPr>
          <a:xfrm>
            <a:off x="4806195" y="1243583"/>
            <a:ext cx="3880606" cy="929557"/>
          </a:xfrm>
          <a:prstGeom prst="rect">
            <a:avLst/>
          </a:prstGeom>
          <a:noFill/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B8C6C40-E7E1-7F45-8880-0C19D4540D8A}"/>
              </a:ext>
            </a:extLst>
          </p:cNvPr>
          <p:cNvSpPr/>
          <p:nvPr/>
        </p:nvSpPr>
        <p:spPr>
          <a:xfrm>
            <a:off x="856153" y="3288925"/>
            <a:ext cx="12747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w:(o1,$25)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0401374-BF60-1445-A16A-C056E9ABDA8F}"/>
              </a:ext>
            </a:extLst>
          </p:cNvPr>
          <p:cNvSpPr/>
          <p:nvPr/>
        </p:nvSpPr>
        <p:spPr>
          <a:xfrm>
            <a:off x="843870" y="5022374"/>
            <a:ext cx="9284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commit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A2B3E29-6AC8-6B4E-AC4C-19B1E3B73C29}"/>
              </a:ext>
            </a:extLst>
          </p:cNvPr>
          <p:cNvSpPr/>
          <p:nvPr/>
        </p:nvSpPr>
        <p:spPr>
          <a:xfrm>
            <a:off x="843870" y="2526918"/>
            <a:ext cx="7018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Trx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1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79DAE32-DBA7-0F4F-8A73-DB8D54C12D73}"/>
              </a:ext>
            </a:extLst>
          </p:cNvPr>
          <p:cNvSpPr/>
          <p:nvPr/>
        </p:nvSpPr>
        <p:spPr>
          <a:xfrm>
            <a:off x="2623138" y="2526918"/>
            <a:ext cx="7018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Trx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2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BA0415E-A06A-2A48-9517-41E38D052953}"/>
              </a:ext>
            </a:extLst>
          </p:cNvPr>
          <p:cNvSpPr/>
          <p:nvPr/>
        </p:nvSpPr>
        <p:spPr>
          <a:xfrm>
            <a:off x="-69738" y="5228825"/>
            <a:ext cx="9127916" cy="1553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lnSpc>
                <a:spcPct val="150000"/>
              </a:lnSpc>
              <a:buFont typeface="Wingdings" pitchFamily="2" charset="2"/>
              <a:buChar char="Ø"/>
              <a:defRPr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This can happen and no errors would be given.</a:t>
            </a:r>
          </a:p>
          <a:p>
            <a:pPr marL="285750" lvl="0" indent="-285750">
              <a:lnSpc>
                <a:spcPct val="150000"/>
              </a:lnSpc>
              <a:buFont typeface="Wingdings" pitchFamily="2" charset="2"/>
              <a:buChar char="Ø"/>
              <a:defRPr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If approx. results OK, e.g., computing statistics, e.g., avg price, one can optimize perf. over consistency and pick read uncommitted 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2710AFB-8A94-A042-96E0-A7064C7E5FE0}"/>
              </a:ext>
            </a:extLst>
          </p:cNvPr>
          <p:cNvSpPr/>
          <p:nvPr/>
        </p:nvSpPr>
        <p:spPr>
          <a:xfrm>
            <a:off x="856153" y="4509874"/>
            <a:ext cx="12490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r:(o2,$40) 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7520592-4A18-544A-B2EE-A4244D9FDCD7}"/>
              </a:ext>
            </a:extLst>
          </p:cNvPr>
          <p:cNvSpPr/>
          <p:nvPr/>
        </p:nvSpPr>
        <p:spPr>
          <a:xfrm>
            <a:off x="2266677" y="3951383"/>
            <a:ext cx="13131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r:(o2, $40) 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9F89C69-A687-094C-9010-5754786BC1DA}"/>
              </a:ext>
            </a:extLst>
          </p:cNvPr>
          <p:cNvSpPr/>
          <p:nvPr/>
        </p:nvSpPr>
        <p:spPr>
          <a:xfrm>
            <a:off x="856153" y="4777582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w:(o2,$45) 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9756E45-9D04-2C4D-95FC-44E3EE0CE8AD}"/>
              </a:ext>
            </a:extLst>
          </p:cNvPr>
          <p:cNvSpPr/>
          <p:nvPr/>
        </p:nvSpPr>
        <p:spPr>
          <a:xfrm>
            <a:off x="3607781" y="3191030"/>
            <a:ext cx="5536219" cy="1553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If Serializable would either read:</a:t>
            </a:r>
          </a:p>
          <a:p>
            <a:pPr marL="514350" lvl="0" indent="-514350" algn="ctr">
              <a:lnSpc>
                <a:spcPct val="150000"/>
              </a:lnSpc>
              <a:buAutoNum type="romanLcParenBoth"/>
              <a:defRPr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o1=20 &amp; o2=40; Sum=60; or</a:t>
            </a:r>
          </a:p>
          <a:p>
            <a:pPr marL="514350" lvl="0" indent="-514350" algn="ctr">
              <a:lnSpc>
                <a:spcPct val="150000"/>
              </a:lnSpc>
              <a:buAutoNum type="romanLcParenBoth"/>
              <a:defRPr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o1=25 &amp; o2=45; Sum=70</a:t>
            </a:r>
          </a:p>
        </p:txBody>
      </p:sp>
    </p:spTree>
    <p:extLst>
      <p:ext uri="{BB962C8B-B14F-4D97-AF65-F5344CB8AC3E}">
        <p14:creationId xmlns:p14="http://schemas.microsoft.com/office/powerpoint/2010/main" val="111196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/>
      <p:bldP spid="9" grpId="0"/>
      <p:bldP spid="10" grpId="0"/>
      <p:bldP spid="12" grpId="0"/>
      <p:bldP spid="17" grpId="0"/>
      <p:bldP spid="18" grpId="0" animBg="1"/>
      <p:bldP spid="19" grpId="0"/>
      <p:bldP spid="20" grpId="0" animBg="1"/>
      <p:bldP spid="21" grpId="0"/>
      <p:bldP spid="22" grpId="0"/>
      <p:bldP spid="23" grpId="0"/>
      <p:bldP spid="24" grpId="0"/>
      <p:bldP spid="26" grpId="0"/>
      <p:bldP spid="27" grpId="0"/>
      <p:bldP spid="28" grpId="0"/>
      <p:bldP spid="29" grpId="0"/>
      <p:bldP spid="31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912792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Note on Dirty Reads of The Same Transaction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505121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36</a:t>
            </a:fld>
            <a:endParaRPr lang="en-US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29346E00-6320-1143-8CDB-8B57E22F8616}"/>
              </a:ext>
            </a:extLst>
          </p:cNvPr>
          <p:cNvSpPr/>
          <p:nvPr/>
        </p:nvSpPr>
        <p:spPr>
          <a:xfrm>
            <a:off x="0" y="758856"/>
            <a:ext cx="9144000" cy="13202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ts val="334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There is no such thing as dirty read of the same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trx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!</a:t>
            </a:r>
          </a:p>
          <a:p>
            <a:pPr marL="457200" indent="-457200">
              <a:lnSpc>
                <a:spcPts val="334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Every (uncommitted)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trx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will read values it has written. </a:t>
            </a:r>
          </a:p>
          <a:p>
            <a:pPr marL="457200" indent="-457200">
              <a:lnSpc>
                <a:spcPts val="334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That is not considered “dirty” even if it comes from uncommitted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trx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604CE82-A046-E746-BFBF-E5CC9473125B}"/>
              </a:ext>
            </a:extLst>
          </p:cNvPr>
          <p:cNvSpPr/>
          <p:nvPr/>
        </p:nvSpPr>
        <p:spPr>
          <a:xfrm>
            <a:off x="2707502" y="2460224"/>
            <a:ext cx="4302898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BEGIN TRANSACTION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UPDATE Order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SET price = price + 5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WHERE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oid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o1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SELECT price FROM Order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WHERE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oid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o1;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COMMIT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B3A4D01B-1884-6941-AFB9-4E7B19E6821D}"/>
              </a:ext>
            </a:extLst>
          </p:cNvPr>
          <p:cNvSpPr/>
          <p:nvPr/>
        </p:nvSpPr>
        <p:spPr>
          <a:xfrm>
            <a:off x="3634602" y="3881203"/>
            <a:ext cx="684317" cy="304407"/>
          </a:xfrm>
          <a:prstGeom prst="roundRect">
            <a:avLst/>
          </a:prstGeom>
          <a:noFill/>
          <a:ln w="349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5822B96-B3F8-1340-921C-794338E1331B}"/>
              </a:ext>
            </a:extLst>
          </p:cNvPr>
          <p:cNvCxnSpPr>
            <a:cxnSpLocks/>
            <a:stCxn id="29" idx="1"/>
          </p:cNvCxnSpPr>
          <p:nvPr/>
        </p:nvCxnSpPr>
        <p:spPr>
          <a:xfrm flipH="1" flipV="1">
            <a:off x="4318919" y="4112868"/>
            <a:ext cx="1337385" cy="46634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377A2FAB-5E9A-5748-A609-58E507AEBEA7}"/>
              </a:ext>
            </a:extLst>
          </p:cNvPr>
          <p:cNvSpPr txBox="1"/>
          <p:nvPr/>
        </p:nvSpPr>
        <p:spPr>
          <a:xfrm>
            <a:off x="5656304" y="4256042"/>
            <a:ext cx="29171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Will read 25 (not considered a dirty read)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A4323ED2-AE45-9F4F-87F4-93114392CA39}"/>
              </a:ext>
            </a:extLst>
          </p:cNvPr>
          <p:cNvSpPr/>
          <p:nvPr/>
        </p:nvSpPr>
        <p:spPr>
          <a:xfrm>
            <a:off x="3216852" y="3065022"/>
            <a:ext cx="2360850" cy="304407"/>
          </a:xfrm>
          <a:prstGeom prst="roundRect">
            <a:avLst/>
          </a:prstGeom>
          <a:noFill/>
          <a:ln w="349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E8D5104-558D-B845-931B-C4F506F30952}"/>
              </a:ext>
            </a:extLst>
          </p:cNvPr>
          <p:cNvCxnSpPr>
            <a:cxnSpLocks/>
          </p:cNvCxnSpPr>
          <p:nvPr/>
        </p:nvCxnSpPr>
        <p:spPr>
          <a:xfrm flipH="1">
            <a:off x="5624618" y="3162028"/>
            <a:ext cx="651584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6FA1E4EB-46DA-7946-AB6A-4571BF85FBA9}"/>
              </a:ext>
            </a:extLst>
          </p:cNvPr>
          <p:cNvSpPr txBox="1"/>
          <p:nvPr/>
        </p:nvSpPr>
        <p:spPr>
          <a:xfrm>
            <a:off x="6311026" y="3000097"/>
            <a:ext cx="2310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Suppose sets 20-&gt;25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31AF466-6ACB-ED40-939B-985337B50934}"/>
              </a:ext>
            </a:extLst>
          </p:cNvPr>
          <p:cNvSpPr txBox="1"/>
          <p:nvPr/>
        </p:nvSpPr>
        <p:spPr>
          <a:xfrm>
            <a:off x="203200" y="2562659"/>
            <a:ext cx="26297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Suppose there is only 1 transaction running </a:t>
            </a:r>
          </a:p>
        </p:txBody>
      </p:sp>
    </p:spTree>
    <p:extLst>
      <p:ext uri="{BB962C8B-B14F-4D97-AF65-F5344CB8AC3E}">
        <p14:creationId xmlns:p14="http://schemas.microsoft.com/office/powerpoint/2010/main" val="89522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7" grpId="0" animBg="1"/>
      <p:bldP spid="29" grpId="0"/>
      <p:bldP spid="30" grpId="0" animBg="1"/>
      <p:bldP spid="32" grpId="0"/>
      <p:bldP spid="34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912792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READ COMMITTED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505121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37</a:t>
            </a:fld>
            <a:endParaRPr lang="en-US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29346E00-6320-1143-8CDB-8B57E22F8616}"/>
              </a:ext>
            </a:extLst>
          </p:cNvPr>
          <p:cNvSpPr/>
          <p:nvPr/>
        </p:nvSpPr>
        <p:spPr>
          <a:xfrm>
            <a:off x="0" y="758856"/>
            <a:ext cx="9144000" cy="4739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ts val="334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No dirty reads but </a:t>
            </a:r>
            <a:r>
              <a:rPr lang="en-US" sz="2200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reads of the same item may not be repeatable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FB9213B-DAA7-BD4A-9630-0C10803D642E}"/>
              </a:ext>
            </a:extLst>
          </p:cNvPr>
          <p:cNvSpPr/>
          <p:nvPr/>
        </p:nvSpPr>
        <p:spPr>
          <a:xfrm>
            <a:off x="688202" y="1272681"/>
            <a:ext cx="364960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Trx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1: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UPDATE Order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SET price = price + 5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WHERE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oid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o1 ||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oid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o2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FFD7856-1DE4-0D4F-AEAE-6E3D5BA2381E}"/>
              </a:ext>
            </a:extLst>
          </p:cNvPr>
          <p:cNvSpPr/>
          <p:nvPr/>
        </p:nvSpPr>
        <p:spPr>
          <a:xfrm>
            <a:off x="688203" y="1274975"/>
            <a:ext cx="3451986" cy="1216612"/>
          </a:xfrm>
          <a:prstGeom prst="rect">
            <a:avLst/>
          </a:prstGeom>
          <a:noFill/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1311272-17AF-EF4F-845E-921CFE0B7D30}"/>
              </a:ext>
            </a:extLst>
          </p:cNvPr>
          <p:cNvSpPr/>
          <p:nvPr/>
        </p:nvSpPr>
        <p:spPr>
          <a:xfrm>
            <a:off x="3726175" y="3191030"/>
            <a:ext cx="5417825" cy="1553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itchFamily="2" charset="2"/>
              <a:buChar char="Ø"/>
              <a:defRPr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This behavior is allowed.</a:t>
            </a:r>
          </a:p>
          <a:p>
            <a:pPr marL="342900" lvl="0" indent="-342900">
              <a:lnSpc>
                <a:spcPct val="150000"/>
              </a:lnSpc>
              <a:buFont typeface="Wingdings" pitchFamily="2" charset="2"/>
              <a:buChar char="Ø"/>
              <a:defRPr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Still not serializable: serializable execution would give 60 or 70 twice.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487CE0F-C3C3-FC4A-9044-DD7A2DC85976}"/>
              </a:ext>
            </a:extLst>
          </p:cNvPr>
          <p:cNvSpPr/>
          <p:nvPr/>
        </p:nvSpPr>
        <p:spPr>
          <a:xfrm>
            <a:off x="4806194" y="1241289"/>
            <a:ext cx="3880606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Trx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2: (READ COMMITTED)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SELECT sum(price) FROM Order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WHERE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oid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o1 ||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oid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=o2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SELECT sum(price) FROM Order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WHERE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oid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o1 ||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oid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=o2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3659610-3043-3246-9FDC-9B3CF60F7229}"/>
              </a:ext>
            </a:extLst>
          </p:cNvPr>
          <p:cNvSpPr/>
          <p:nvPr/>
        </p:nvSpPr>
        <p:spPr>
          <a:xfrm>
            <a:off x="4806195" y="1243583"/>
            <a:ext cx="3880606" cy="1947447"/>
          </a:xfrm>
          <a:prstGeom prst="rect">
            <a:avLst/>
          </a:prstGeom>
          <a:noFill/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5D1EB6AC-94AF-354E-866D-6C52A445DC4F}"/>
              </a:ext>
            </a:extLst>
          </p:cNvPr>
          <p:cNvGrpSpPr/>
          <p:nvPr/>
        </p:nvGrpSpPr>
        <p:grpSpPr>
          <a:xfrm>
            <a:off x="296656" y="3012024"/>
            <a:ext cx="742137" cy="2953153"/>
            <a:chOff x="1770803" y="2405125"/>
            <a:chExt cx="456472" cy="2047749"/>
          </a:xfrm>
        </p:grpSpPr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33C06084-60C6-CB46-A9FF-A531BD5694CC}"/>
                </a:ext>
              </a:extLst>
            </p:cNvPr>
            <p:cNvCxnSpPr>
              <a:cxnSpLocks/>
            </p:cNvCxnSpPr>
            <p:nvPr/>
          </p:nvCxnSpPr>
          <p:spPr>
            <a:xfrm>
              <a:off x="2084976" y="2405125"/>
              <a:ext cx="1" cy="204774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E515740E-135B-1D44-8119-DF73C515B429}"/>
                </a:ext>
              </a:extLst>
            </p:cNvPr>
            <p:cNvSpPr txBox="1"/>
            <p:nvPr/>
          </p:nvSpPr>
          <p:spPr>
            <a:xfrm rot="16200000">
              <a:off x="1567629" y="3127971"/>
              <a:ext cx="862819" cy="4564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time</a:t>
              </a:r>
            </a:p>
          </p:txBody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FFC10F22-A55B-F448-89E3-A35A10F4F659}"/>
              </a:ext>
            </a:extLst>
          </p:cNvPr>
          <p:cNvSpPr/>
          <p:nvPr/>
        </p:nvSpPr>
        <p:spPr>
          <a:xfrm>
            <a:off x="856153" y="2930483"/>
            <a:ext cx="12490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r:(o1,$20) 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D66B60D-3351-E544-8121-1D5467551ECE}"/>
              </a:ext>
            </a:extLst>
          </p:cNvPr>
          <p:cNvSpPr/>
          <p:nvPr/>
        </p:nvSpPr>
        <p:spPr>
          <a:xfrm>
            <a:off x="2271928" y="3605860"/>
            <a:ext cx="13131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r:(o1, $20) 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71D7E03-E086-9C44-B529-3142AD5D463C}"/>
              </a:ext>
            </a:extLst>
          </p:cNvPr>
          <p:cNvSpPr/>
          <p:nvPr/>
        </p:nvSpPr>
        <p:spPr>
          <a:xfrm>
            <a:off x="2216432" y="5595845"/>
            <a:ext cx="9284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commit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7E81743-C7EF-314B-A80D-0A41631B0105}"/>
              </a:ext>
            </a:extLst>
          </p:cNvPr>
          <p:cNvSpPr/>
          <p:nvPr/>
        </p:nvSpPr>
        <p:spPr>
          <a:xfrm>
            <a:off x="856153" y="3288925"/>
            <a:ext cx="12747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w:(o1,$25)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F50ECF5-2948-1544-B61E-F27DC170CCC7}"/>
              </a:ext>
            </a:extLst>
          </p:cNvPr>
          <p:cNvSpPr/>
          <p:nvPr/>
        </p:nvSpPr>
        <p:spPr>
          <a:xfrm>
            <a:off x="843870" y="4713451"/>
            <a:ext cx="9284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commit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65D202C-6720-774A-A572-D257524AC73E}"/>
              </a:ext>
            </a:extLst>
          </p:cNvPr>
          <p:cNvSpPr/>
          <p:nvPr/>
        </p:nvSpPr>
        <p:spPr>
          <a:xfrm>
            <a:off x="843870" y="2526918"/>
            <a:ext cx="7018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Trx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1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FB0E458-6376-864A-A5E1-84B7558AFF6F}"/>
              </a:ext>
            </a:extLst>
          </p:cNvPr>
          <p:cNvSpPr/>
          <p:nvPr/>
        </p:nvSpPr>
        <p:spPr>
          <a:xfrm>
            <a:off x="2623138" y="2526918"/>
            <a:ext cx="7018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Trx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2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DFC2B3F-2A09-824E-9CA1-367B77DF2EEF}"/>
              </a:ext>
            </a:extLst>
          </p:cNvPr>
          <p:cNvSpPr/>
          <p:nvPr/>
        </p:nvSpPr>
        <p:spPr>
          <a:xfrm>
            <a:off x="856153" y="4200951"/>
            <a:ext cx="12490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r:(o2,$40) 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CC14D95-FF66-8E40-81C5-A0E59EC85858}"/>
              </a:ext>
            </a:extLst>
          </p:cNvPr>
          <p:cNvSpPr/>
          <p:nvPr/>
        </p:nvSpPr>
        <p:spPr>
          <a:xfrm>
            <a:off x="2266677" y="3951383"/>
            <a:ext cx="13131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r:(o2, $40) 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07D8E15-0890-4D45-872E-528D7F95CAA0}"/>
              </a:ext>
            </a:extLst>
          </p:cNvPr>
          <p:cNvSpPr/>
          <p:nvPr/>
        </p:nvSpPr>
        <p:spPr>
          <a:xfrm>
            <a:off x="856153" y="4468659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w:(o2,$45) 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3DA38B2-7B38-A24F-91E8-CA260236D523}"/>
              </a:ext>
            </a:extLst>
          </p:cNvPr>
          <p:cNvSpPr/>
          <p:nvPr/>
        </p:nvSpPr>
        <p:spPr>
          <a:xfrm>
            <a:off x="2219498" y="4904799"/>
            <a:ext cx="13131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r:(o1, $25) 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3613E04-134C-3D47-AED0-44C0F716F057}"/>
              </a:ext>
            </a:extLst>
          </p:cNvPr>
          <p:cNvSpPr/>
          <p:nvPr/>
        </p:nvSpPr>
        <p:spPr>
          <a:xfrm>
            <a:off x="2214247" y="5250322"/>
            <a:ext cx="13131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r:(o2, $45) </a:t>
            </a:r>
            <a:endParaRPr 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9000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/>
      <p:bldP spid="17" grpId="0"/>
      <p:bldP spid="18" grpId="0" animBg="1"/>
      <p:bldP spid="30" grpId="0"/>
      <p:bldP spid="25" grpId="0"/>
      <p:bldP spid="31" grpId="0" animBg="1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912792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REPEATABLE READ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505121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38</a:t>
            </a:fld>
            <a:endParaRPr lang="en-US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29346E00-6320-1143-8CDB-8B57E22F8616}"/>
              </a:ext>
            </a:extLst>
          </p:cNvPr>
          <p:cNvSpPr/>
          <p:nvPr/>
        </p:nvSpPr>
        <p:spPr>
          <a:xfrm>
            <a:off x="0" y="758856"/>
            <a:ext cx="9144000" cy="4739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ts val="334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No repeatable reads but </a:t>
            </a:r>
            <a:r>
              <a:rPr lang="en-US" sz="2200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phantom reads may appear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FB9213B-DAA7-BD4A-9630-0C10803D642E}"/>
              </a:ext>
            </a:extLst>
          </p:cNvPr>
          <p:cNvSpPr/>
          <p:nvPr/>
        </p:nvSpPr>
        <p:spPr>
          <a:xfrm>
            <a:off x="177799" y="1262212"/>
            <a:ext cx="455262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Trx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1: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UPDATE Order SET price = price+5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WHERE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oid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o1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INSERT INTO Order VALUES (o3, 10)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FFD7856-1DE4-0D4F-AEAE-6E3D5BA2381E}"/>
              </a:ext>
            </a:extLst>
          </p:cNvPr>
          <p:cNvSpPr/>
          <p:nvPr/>
        </p:nvSpPr>
        <p:spPr>
          <a:xfrm>
            <a:off x="177800" y="1274975"/>
            <a:ext cx="4394191" cy="1494000"/>
          </a:xfrm>
          <a:prstGeom prst="rect">
            <a:avLst/>
          </a:prstGeom>
          <a:noFill/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1311272-17AF-EF4F-845E-921CFE0B7D30}"/>
              </a:ext>
            </a:extLst>
          </p:cNvPr>
          <p:cNvSpPr/>
          <p:nvPr/>
        </p:nvSpPr>
        <p:spPr>
          <a:xfrm>
            <a:off x="4286463" y="2779792"/>
            <a:ext cx="4640951" cy="25687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itchFamily="2" charset="2"/>
              <a:buChar char="Ø"/>
              <a:defRPr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Suppose only o1 and o2 exist</a:t>
            </a:r>
          </a:p>
          <a:p>
            <a:pPr marL="342900" lvl="0" indent="-342900">
              <a:lnSpc>
                <a:spcPct val="150000"/>
              </a:lnSpc>
              <a:buFont typeface="Wingdings" pitchFamily="2" charset="2"/>
              <a:buChar char="Ø"/>
              <a:defRPr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Still not serializable: serializable would give 60 or 75 twice.</a:t>
            </a:r>
          </a:p>
          <a:p>
            <a:pPr marL="342900" lvl="0" indent="-342900">
              <a:lnSpc>
                <a:spcPct val="150000"/>
              </a:lnSpc>
              <a:buFont typeface="Wingdings" pitchFamily="2" charset="2"/>
              <a:buChar char="Ø"/>
              <a:defRPr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Provided as a by-product of locking protocols in DBMSs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487CE0F-C3C3-FC4A-9044-DD7A2DC85976}"/>
              </a:ext>
            </a:extLst>
          </p:cNvPr>
          <p:cNvSpPr/>
          <p:nvPr/>
        </p:nvSpPr>
        <p:spPr>
          <a:xfrm>
            <a:off x="4806194" y="1241289"/>
            <a:ext cx="388060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Trx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2: (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REPEATABLE READ)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SELECT sum(price) FROM Order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SELECT sum(price) FROM Order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3659610-3043-3246-9FDC-9B3CF60F7229}"/>
              </a:ext>
            </a:extLst>
          </p:cNvPr>
          <p:cNvSpPr/>
          <p:nvPr/>
        </p:nvSpPr>
        <p:spPr>
          <a:xfrm>
            <a:off x="4806195" y="1243584"/>
            <a:ext cx="3880606" cy="1525392"/>
          </a:xfrm>
          <a:prstGeom prst="rect">
            <a:avLst/>
          </a:prstGeom>
          <a:noFill/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DE6F274-2DC6-1949-B550-DA828FD89D0E}"/>
              </a:ext>
            </a:extLst>
          </p:cNvPr>
          <p:cNvGrpSpPr/>
          <p:nvPr/>
        </p:nvGrpSpPr>
        <p:grpSpPr>
          <a:xfrm>
            <a:off x="296656" y="3354924"/>
            <a:ext cx="742137" cy="3249076"/>
            <a:chOff x="1770803" y="2405125"/>
            <a:chExt cx="456472" cy="2047749"/>
          </a:xfrm>
        </p:grpSpPr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F2B4162F-417E-554B-8B3E-ED5A7ABE805E}"/>
                </a:ext>
              </a:extLst>
            </p:cNvPr>
            <p:cNvCxnSpPr>
              <a:cxnSpLocks/>
            </p:cNvCxnSpPr>
            <p:nvPr/>
          </p:nvCxnSpPr>
          <p:spPr>
            <a:xfrm>
              <a:off x="2084976" y="2405125"/>
              <a:ext cx="1" cy="204774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6F7BE2C-E4FF-2246-A0E1-0475161C2E8F}"/>
                </a:ext>
              </a:extLst>
            </p:cNvPr>
            <p:cNvSpPr txBox="1"/>
            <p:nvPr/>
          </p:nvSpPr>
          <p:spPr>
            <a:xfrm rot="16200000">
              <a:off x="1567629" y="3127971"/>
              <a:ext cx="862819" cy="4564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time</a:t>
              </a: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2FF690BC-4EB6-C84F-B974-362B3A27C3B2}"/>
              </a:ext>
            </a:extLst>
          </p:cNvPr>
          <p:cNvSpPr/>
          <p:nvPr/>
        </p:nvSpPr>
        <p:spPr>
          <a:xfrm>
            <a:off x="856153" y="3273383"/>
            <a:ext cx="12490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r:(o1,$20) 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2F8ED0E-D392-4440-AFEE-A92FDD0949C6}"/>
              </a:ext>
            </a:extLst>
          </p:cNvPr>
          <p:cNvSpPr/>
          <p:nvPr/>
        </p:nvSpPr>
        <p:spPr>
          <a:xfrm>
            <a:off x="2271928" y="3948760"/>
            <a:ext cx="13131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r:(o1, $20) 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FAFBD6A-E16C-C14A-A2D9-B8B14C8950A5}"/>
              </a:ext>
            </a:extLst>
          </p:cNvPr>
          <p:cNvSpPr/>
          <p:nvPr/>
        </p:nvSpPr>
        <p:spPr>
          <a:xfrm>
            <a:off x="2214247" y="6323568"/>
            <a:ext cx="9284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commit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F234238-6624-F949-AF85-EA80F459033F}"/>
              </a:ext>
            </a:extLst>
          </p:cNvPr>
          <p:cNvSpPr/>
          <p:nvPr/>
        </p:nvSpPr>
        <p:spPr>
          <a:xfrm>
            <a:off x="807442" y="3658032"/>
            <a:ext cx="12747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w:(o1,$25)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27F6D70-1709-8241-AB33-821E8F7417D3}"/>
              </a:ext>
            </a:extLst>
          </p:cNvPr>
          <p:cNvSpPr/>
          <p:nvPr/>
        </p:nvSpPr>
        <p:spPr>
          <a:xfrm>
            <a:off x="843870" y="4969852"/>
            <a:ext cx="9284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commit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BBFFDCC-2DD2-4049-BAA3-8D16721E3829}"/>
              </a:ext>
            </a:extLst>
          </p:cNvPr>
          <p:cNvSpPr/>
          <p:nvPr/>
        </p:nvSpPr>
        <p:spPr>
          <a:xfrm>
            <a:off x="843870" y="2869818"/>
            <a:ext cx="7018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Trx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1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C4EB8F6-51D8-4A48-A7E0-DEB54703461B}"/>
              </a:ext>
            </a:extLst>
          </p:cNvPr>
          <p:cNvSpPr/>
          <p:nvPr/>
        </p:nvSpPr>
        <p:spPr>
          <a:xfrm>
            <a:off x="2623138" y="2869818"/>
            <a:ext cx="7018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Trx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2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D4E7EDD-DB10-CA4B-AB6B-7219AE7FEE95}"/>
              </a:ext>
            </a:extLst>
          </p:cNvPr>
          <p:cNvSpPr/>
          <p:nvPr/>
        </p:nvSpPr>
        <p:spPr>
          <a:xfrm>
            <a:off x="856153" y="4543851"/>
            <a:ext cx="12490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r:(o3,$10) 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93D5307-0F44-BD45-97EB-98631C3E32A7}"/>
              </a:ext>
            </a:extLst>
          </p:cNvPr>
          <p:cNvSpPr/>
          <p:nvPr/>
        </p:nvSpPr>
        <p:spPr>
          <a:xfrm>
            <a:off x="2266677" y="4294283"/>
            <a:ext cx="13131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r:(o2, $40) 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F6F0E9A-3280-D741-B4F4-7BFD0D8607AD}"/>
              </a:ext>
            </a:extLst>
          </p:cNvPr>
          <p:cNvSpPr/>
          <p:nvPr/>
        </p:nvSpPr>
        <p:spPr>
          <a:xfrm>
            <a:off x="2219498" y="5247699"/>
            <a:ext cx="13131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r:(o1, $20) 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649836A-5D63-834A-9DEA-54AB5EF12F68}"/>
              </a:ext>
            </a:extLst>
          </p:cNvPr>
          <p:cNvSpPr/>
          <p:nvPr/>
        </p:nvSpPr>
        <p:spPr>
          <a:xfrm>
            <a:off x="2214247" y="5593222"/>
            <a:ext cx="13131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r:(o2, $40) 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660750A-15F6-F447-86E3-452529B31315}"/>
              </a:ext>
            </a:extLst>
          </p:cNvPr>
          <p:cNvSpPr/>
          <p:nvPr/>
        </p:nvSpPr>
        <p:spPr>
          <a:xfrm>
            <a:off x="2208067" y="5962554"/>
            <a:ext cx="13131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r:(o3, $10) 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B38F7DE3-CADE-AC43-93AC-1A665843D288}"/>
              </a:ext>
            </a:extLst>
          </p:cNvPr>
          <p:cNvSpPr/>
          <p:nvPr/>
        </p:nvSpPr>
        <p:spPr>
          <a:xfrm>
            <a:off x="2204979" y="5994122"/>
            <a:ext cx="1220923" cy="306196"/>
          </a:xfrm>
          <a:prstGeom prst="roundRect">
            <a:avLst/>
          </a:prstGeom>
          <a:noFill/>
          <a:ln w="349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DCD2C7A8-5BDD-D24A-8CBE-8C49297F85F3}"/>
              </a:ext>
            </a:extLst>
          </p:cNvPr>
          <p:cNvCxnSpPr>
            <a:cxnSpLocks/>
          </p:cNvCxnSpPr>
          <p:nvPr/>
        </p:nvCxnSpPr>
        <p:spPr>
          <a:xfrm flipH="1">
            <a:off x="3491018" y="6163812"/>
            <a:ext cx="651584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9BAFFF9B-F862-4D44-99B2-968C55B257AB}"/>
              </a:ext>
            </a:extLst>
          </p:cNvPr>
          <p:cNvSpPr txBox="1"/>
          <p:nvPr/>
        </p:nvSpPr>
        <p:spPr>
          <a:xfrm>
            <a:off x="4177427" y="5951081"/>
            <a:ext cx="200747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phantom read</a:t>
            </a:r>
          </a:p>
        </p:txBody>
      </p:sp>
    </p:spTree>
    <p:extLst>
      <p:ext uri="{BB962C8B-B14F-4D97-AF65-F5344CB8AC3E}">
        <p14:creationId xmlns:p14="http://schemas.microsoft.com/office/powerpoint/2010/main" val="1359669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/>
      <p:bldP spid="17" grpId="0"/>
      <p:bldP spid="18" grpId="0" animBg="1"/>
      <p:bldP spid="25" grpId="0"/>
      <p:bldP spid="31" grpId="0" animBg="1"/>
      <p:bldP spid="22" grpId="0"/>
      <p:bldP spid="23" grpId="0"/>
      <p:bldP spid="24" grpId="0"/>
      <p:bldP spid="29" grpId="0"/>
      <p:bldP spid="32" grpId="0"/>
      <p:bldP spid="33" grpId="0"/>
      <p:bldP spid="37" grpId="0"/>
      <p:bldP spid="38" grpId="0"/>
      <p:bldP spid="39" grpId="0"/>
      <p:bldP spid="41" grpId="0"/>
      <p:bldP spid="44" grpId="0"/>
      <p:bldP spid="45" grpId="0"/>
      <p:bldP spid="46" grpId="0" animBg="1"/>
      <p:bldP spid="49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912792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SERIALIZABLE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29346E00-6320-1143-8CDB-8B57E22F8616}"/>
              </a:ext>
            </a:extLst>
          </p:cNvPr>
          <p:cNvSpPr/>
          <p:nvPr/>
        </p:nvSpPr>
        <p:spPr>
          <a:xfrm>
            <a:off x="0" y="758856"/>
            <a:ext cx="9144000" cy="30765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No dirty reads; every read is repeatable; no scan of any relation can be phantom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Recall the guarantee for a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trx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22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that is set to serializable:</a:t>
            </a:r>
          </a:p>
          <a:p>
            <a:pPr algn="ctr">
              <a:lnSpc>
                <a:spcPct val="150000"/>
              </a:lnSpc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Guarantee: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sz="22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= state</a:t>
            </a:r>
            <a:r>
              <a:rPr lang="en-US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22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would leave D</a:t>
            </a:r>
            <a:r>
              <a:rPr lang="en-US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&lt;j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in if it were the only transaction running on D</a:t>
            </a:r>
            <a:r>
              <a:rPr lang="en-US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&lt;j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Note running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22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without concurrency cannot introduce phantoms.</a:t>
            </a:r>
          </a:p>
        </p:txBody>
      </p:sp>
    </p:spTree>
    <p:extLst>
      <p:ext uri="{BB962C8B-B14F-4D97-AF65-F5344CB8AC3E}">
        <p14:creationId xmlns:p14="http://schemas.microsoft.com/office/powerpoint/2010/main" val="4131448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912792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Summary of Isolation Levels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Group 118">
            <a:extLst>
              <a:ext uri="{FF2B5EF4-FFF2-40B4-BE49-F238E27FC236}">
                <a16:creationId xmlns:a16="http://schemas.microsoft.com/office/drawing/2014/main" id="{B2C1AA60-6C2C-3242-9810-8029BC4D0C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3137409"/>
              </p:ext>
            </p:extLst>
          </p:nvPr>
        </p:nvGraphicFramePr>
        <p:xfrm>
          <a:off x="938241" y="2377440"/>
          <a:ext cx="7267518" cy="2103120"/>
        </p:xfrm>
        <a:graphic>
          <a:graphicData uri="http://schemas.openxmlformats.org/drawingml/2006/table">
            <a:tbl>
              <a:tblPr/>
              <a:tblGrid>
                <a:gridCol w="24831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57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91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95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0975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Isolation level/read anomaly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Dirty reads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Non-repeatable reads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Phantoms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stige12 BT" panose="02070509030506020304" pitchFamily="49" charset="0"/>
                        </a:rPr>
                        <a:t>READ UNCOMMITTED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stige12 BT" panose="02070509030506020304" pitchFamily="49" charset="0"/>
                        </a:rPr>
                        <a:t>READ COMMITTED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stige12 BT" panose="02070509030506020304" pitchFamily="49" charset="0"/>
                        </a:rPr>
                        <a:t>REPEATABLE READ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stige12 BT" panose="02070509030506020304" pitchFamily="49" charset="0"/>
                        </a:rPr>
                        <a:t>SERIALIZABLE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186628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912792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Summary of Isolation Levels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Group 118">
            <a:extLst>
              <a:ext uri="{FF2B5EF4-FFF2-40B4-BE49-F238E27FC236}">
                <a16:creationId xmlns:a16="http://schemas.microsoft.com/office/drawing/2014/main" id="{B2C1AA60-6C2C-3242-9810-8029BC4D0C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1834028"/>
              </p:ext>
            </p:extLst>
          </p:nvPr>
        </p:nvGraphicFramePr>
        <p:xfrm>
          <a:off x="938241" y="2377440"/>
          <a:ext cx="7267518" cy="2103120"/>
        </p:xfrm>
        <a:graphic>
          <a:graphicData uri="http://schemas.openxmlformats.org/drawingml/2006/table">
            <a:tbl>
              <a:tblPr/>
              <a:tblGrid>
                <a:gridCol w="24831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57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91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95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0975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Isolation level/read anomaly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Dirty reads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Non-repeatable reads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Phantoms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stige12 BT" panose="02070509030506020304" pitchFamily="49" charset="0"/>
                        </a:rPr>
                        <a:t>READ UNCOMMITTED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</a:rPr>
                        <a:t>Possible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</a:rPr>
                        <a:t>Possible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</a:rPr>
                        <a:t>Possible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stige12 BT" panose="02070509030506020304" pitchFamily="49" charset="0"/>
                        </a:rPr>
                        <a:t>READ COMMITTED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stige12 BT" panose="02070509030506020304" pitchFamily="49" charset="0"/>
                        </a:rPr>
                        <a:t>REPEATABLE READ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stige12 BT" panose="02070509030506020304" pitchFamily="49" charset="0"/>
                        </a:rPr>
                        <a:t>SERIALIZABLE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14958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912792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Summary of Isolation Levels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Group 118">
            <a:extLst>
              <a:ext uri="{FF2B5EF4-FFF2-40B4-BE49-F238E27FC236}">
                <a16:creationId xmlns:a16="http://schemas.microsoft.com/office/drawing/2014/main" id="{B2C1AA60-6C2C-3242-9810-8029BC4D0C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7133077"/>
              </p:ext>
            </p:extLst>
          </p:nvPr>
        </p:nvGraphicFramePr>
        <p:xfrm>
          <a:off x="938241" y="2377440"/>
          <a:ext cx="7267518" cy="2103120"/>
        </p:xfrm>
        <a:graphic>
          <a:graphicData uri="http://schemas.openxmlformats.org/drawingml/2006/table">
            <a:tbl>
              <a:tblPr/>
              <a:tblGrid>
                <a:gridCol w="24831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57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91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95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0975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Isolation level/read anomaly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Dirty reads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Non-repeatable reads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Phantoms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stige12 BT" panose="02070509030506020304" pitchFamily="49" charset="0"/>
                        </a:rPr>
                        <a:t>READ UNCOMMITTED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</a:rPr>
                        <a:t>Possible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</a:rPr>
                        <a:t>Possible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</a:rPr>
                        <a:t>Possible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stige12 BT" panose="02070509030506020304" pitchFamily="49" charset="0"/>
                        </a:rPr>
                        <a:t>READ COMMITTED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+mn-lt"/>
                        </a:rPr>
                        <a:t>Impossible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</a:rPr>
                        <a:t>Possible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</a:rPr>
                        <a:t>Possible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stige12 BT" panose="02070509030506020304" pitchFamily="49" charset="0"/>
                        </a:rPr>
                        <a:t>REPEATABLE READ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stige12 BT" panose="02070509030506020304" pitchFamily="49" charset="0"/>
                        </a:rPr>
                        <a:t>SERIALIZABLE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87799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912792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Summary of Isolation Levels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Group 118">
            <a:extLst>
              <a:ext uri="{FF2B5EF4-FFF2-40B4-BE49-F238E27FC236}">
                <a16:creationId xmlns:a16="http://schemas.microsoft.com/office/drawing/2014/main" id="{B2C1AA60-6C2C-3242-9810-8029BC4D0C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5968856"/>
              </p:ext>
            </p:extLst>
          </p:nvPr>
        </p:nvGraphicFramePr>
        <p:xfrm>
          <a:off x="938241" y="2377440"/>
          <a:ext cx="7267518" cy="2103120"/>
        </p:xfrm>
        <a:graphic>
          <a:graphicData uri="http://schemas.openxmlformats.org/drawingml/2006/table">
            <a:tbl>
              <a:tblPr/>
              <a:tblGrid>
                <a:gridCol w="24831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57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91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95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0975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Isolation level/read anomaly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Dirty reads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Non-repeatable reads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Phantoms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stige12 BT" panose="02070509030506020304" pitchFamily="49" charset="0"/>
                        </a:rPr>
                        <a:t>READ UNCOMMITTED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</a:rPr>
                        <a:t>Possible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</a:rPr>
                        <a:t>Possible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</a:rPr>
                        <a:t>Possible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stige12 BT" panose="02070509030506020304" pitchFamily="49" charset="0"/>
                        </a:rPr>
                        <a:t>READ COMMITTED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+mn-lt"/>
                        </a:rPr>
                        <a:t>Impossible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</a:rPr>
                        <a:t>Possible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</a:rPr>
                        <a:t>Possible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stige12 BT" panose="02070509030506020304" pitchFamily="49" charset="0"/>
                        </a:rPr>
                        <a:t>REPEATABLE READ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+mn-lt"/>
                        </a:rPr>
                        <a:t>Impossible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+mn-lt"/>
                        </a:rPr>
                        <a:t>Impossible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</a:rPr>
                        <a:t>Possible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stige12 BT" panose="02070509030506020304" pitchFamily="49" charset="0"/>
                        </a:rPr>
                        <a:t>SERIALIZABLE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275156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912792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Summary of Isolation Levels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Group 118">
            <a:extLst>
              <a:ext uri="{FF2B5EF4-FFF2-40B4-BE49-F238E27FC236}">
                <a16:creationId xmlns:a16="http://schemas.microsoft.com/office/drawing/2014/main" id="{B2C1AA60-6C2C-3242-9810-8029BC4D0C5D}"/>
              </a:ext>
            </a:extLst>
          </p:cNvPr>
          <p:cNvGraphicFramePr>
            <a:graphicFrameLocks noGrp="1"/>
          </p:cNvGraphicFramePr>
          <p:nvPr/>
        </p:nvGraphicFramePr>
        <p:xfrm>
          <a:off x="938241" y="2377440"/>
          <a:ext cx="7267518" cy="2103120"/>
        </p:xfrm>
        <a:graphic>
          <a:graphicData uri="http://schemas.openxmlformats.org/drawingml/2006/table">
            <a:tbl>
              <a:tblPr/>
              <a:tblGrid>
                <a:gridCol w="24831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57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91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95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0975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Isolation level/read anomaly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Dirty reads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Non-repeatable reads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Phantoms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stige12 BT" panose="02070509030506020304" pitchFamily="49" charset="0"/>
                        </a:rPr>
                        <a:t>READ UNCOMMITTED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</a:rPr>
                        <a:t>Possible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</a:rPr>
                        <a:t>Possible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</a:rPr>
                        <a:t>Possible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stige12 BT" panose="02070509030506020304" pitchFamily="49" charset="0"/>
                        </a:rPr>
                        <a:t>READ COMMITTED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+mn-lt"/>
                        </a:rPr>
                        <a:t>Impossible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</a:rPr>
                        <a:t>Possible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</a:rPr>
                        <a:t>Possible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stige12 BT" panose="02070509030506020304" pitchFamily="49" charset="0"/>
                        </a:rPr>
                        <a:t>REPEATABLE READ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+mn-lt"/>
                        </a:rPr>
                        <a:t>Impossible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+mn-lt"/>
                        </a:rPr>
                        <a:t>Impossible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</a:rPr>
                        <a:t>Possible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stige12 BT" panose="02070509030506020304" pitchFamily="49" charset="0"/>
                        </a:rPr>
                        <a:t>SERIALIZABLE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+mn-lt"/>
                        </a:rPr>
                        <a:t>Impossible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+mn-lt"/>
                        </a:rPr>
                        <a:t>Impossible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+mn-lt"/>
                        </a:rPr>
                        <a:t>Impossible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707597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35052C-D5DF-4AD4-803E-0EF5525E22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336" y="1456854"/>
            <a:ext cx="8687364" cy="5264622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-- T1:							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INSERT INTO Order</a:t>
            </a:r>
            <a:b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VALUES (o3,10) </a:t>
            </a:r>
            <a:b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COMMIT;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Consider other possible concurrent transactions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Does not do any reads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No read concern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Lowest isolation level: read uncommitted</a:t>
            </a:r>
          </a:p>
          <a:p>
            <a:pPr marL="457200" lvl="1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CA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908595-D761-4035-B6C5-2EB61C994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C99FA5-7995-46A9-A97E-16E38AD5895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7EDDC03-1EF1-4947-A0E8-9BAA6A525E0D}"/>
              </a:ext>
            </a:extLst>
          </p:cNvPr>
          <p:cNvGraphicFramePr>
            <a:graphicFrameLocks noGrp="1"/>
          </p:cNvGraphicFramePr>
          <p:nvPr/>
        </p:nvGraphicFramePr>
        <p:xfrm>
          <a:off x="3698036" y="1456854"/>
          <a:ext cx="5103628" cy="1828800"/>
        </p:xfrm>
        <a:graphic>
          <a:graphicData uri="http://schemas.openxmlformats.org/drawingml/2006/table">
            <a:tbl>
              <a:tblPr/>
              <a:tblGrid>
                <a:gridCol w="2317158">
                  <a:extLst>
                    <a:ext uri="{9D8B030D-6E8A-4147-A177-3AD203B41FA5}">
                      <a16:colId xmlns:a16="http://schemas.microsoft.com/office/drawing/2014/main" val="1778545659"/>
                    </a:ext>
                  </a:extLst>
                </a:gridCol>
                <a:gridCol w="2786470">
                  <a:extLst>
                    <a:ext uri="{9D8B030D-6E8A-4147-A177-3AD203B41FA5}">
                      <a16:colId xmlns:a16="http://schemas.microsoft.com/office/drawing/2014/main" val="2947445496"/>
                    </a:ext>
                  </a:extLst>
                </a:gridCol>
              </a:tblGrid>
              <a:tr h="1809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Isolation level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+mn-lt"/>
                        </a:rPr>
                        <a:t>Possible anomalies for T1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35811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Prestige12 BT" panose="02070509030506020304" pitchFamily="49" charset="0"/>
                        </a:rPr>
                        <a:t>READ UNCOMMITTED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35230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Prestige12 BT" panose="02070509030506020304" pitchFamily="49" charset="0"/>
                        </a:rPr>
                        <a:t>READ COMMITTED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Unrepeatable Reads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04335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Prestige12 BT" panose="02070509030506020304" pitchFamily="49" charset="0"/>
                        </a:rPr>
                        <a:t>REPEATABLE READ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Phantoms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2091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Prestige12 BT" panose="02070509030506020304" pitchFamily="49" charset="0"/>
                        </a:rPr>
                        <a:t>SERIALIZABLE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None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4242848"/>
                  </a:ext>
                </a:extLst>
              </a:tr>
            </a:tbl>
          </a:graphicData>
        </a:graphic>
      </p:graphicFrame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8E99580-0482-40A9-B004-7E4C919E82CA}"/>
              </a:ext>
            </a:extLst>
          </p:cNvPr>
          <p:cNvCxnSpPr/>
          <p:nvPr/>
        </p:nvCxnSpPr>
        <p:spPr>
          <a:xfrm flipV="1">
            <a:off x="3511438" y="1456854"/>
            <a:ext cx="0" cy="182880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915F7C04-FE19-4DAF-B525-0F3CA78E0B80}"/>
              </a:ext>
            </a:extLst>
          </p:cNvPr>
          <p:cNvSpPr/>
          <p:nvPr/>
        </p:nvSpPr>
        <p:spPr>
          <a:xfrm>
            <a:off x="5972421" y="1815949"/>
            <a:ext cx="12426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Tx/>
              <a:buNone/>
              <a:tabLst/>
              <a:defRPr/>
            </a:pPr>
            <a:r>
              <a:rPr kumimoji="1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rPr>
              <a:t>Dirty reads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670F0F-73A5-7C4C-8558-B3C5BE9C7868}"/>
              </a:ext>
            </a:extLst>
          </p:cNvPr>
          <p:cNvSpPr txBox="1"/>
          <p:nvPr/>
        </p:nvSpPr>
        <p:spPr>
          <a:xfrm>
            <a:off x="16079" y="64300"/>
            <a:ext cx="912792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Example: Lowest Isolation Level To Set? (1)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BDAFE0B-222A-FB42-8E44-E82A718BC880}"/>
              </a:ext>
            </a:extLst>
          </p:cNvPr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900380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35052C-D5DF-4AD4-803E-0EF5525E22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336" y="1456854"/>
            <a:ext cx="8687364" cy="5264622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-- T1:							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UPDATE Order</a:t>
            </a:r>
            <a:b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SET price = 25</a:t>
            </a:r>
            <a:b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WHERE </a:t>
            </a:r>
            <a:r>
              <a:rPr lang="en-US" sz="2200" dirty="0" err="1">
                <a:latin typeface="Consolas" panose="020B0609020204030204" pitchFamily="49" charset="0"/>
                <a:cs typeface="Consolas" panose="020B0609020204030204" pitchFamily="49" charset="0"/>
              </a:rPr>
              <a:t>oid</a:t>
            </a:r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 = o1;</a:t>
            </a:r>
            <a:b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COMMIT;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Consider other possible concurrent transactions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Does not read same item twice: reads Order only once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Only concern: transaction T2 might be updating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oid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=o1 =&gt; may lead to dirty reads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Lowest isolation level: read committed</a:t>
            </a:r>
          </a:p>
          <a:p>
            <a:pPr marL="457200" lvl="1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CA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908595-D761-4035-B6C5-2EB61C994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C99FA5-7995-46A9-A97E-16E38AD5895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7EDDC03-1EF1-4947-A0E8-9BAA6A525E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2683206"/>
              </p:ext>
            </p:extLst>
          </p:nvPr>
        </p:nvGraphicFramePr>
        <p:xfrm>
          <a:off x="3698036" y="1456854"/>
          <a:ext cx="5103628" cy="1828800"/>
        </p:xfrm>
        <a:graphic>
          <a:graphicData uri="http://schemas.openxmlformats.org/drawingml/2006/table">
            <a:tbl>
              <a:tblPr/>
              <a:tblGrid>
                <a:gridCol w="2317158">
                  <a:extLst>
                    <a:ext uri="{9D8B030D-6E8A-4147-A177-3AD203B41FA5}">
                      <a16:colId xmlns:a16="http://schemas.microsoft.com/office/drawing/2014/main" val="1778545659"/>
                    </a:ext>
                  </a:extLst>
                </a:gridCol>
                <a:gridCol w="2786470">
                  <a:extLst>
                    <a:ext uri="{9D8B030D-6E8A-4147-A177-3AD203B41FA5}">
                      <a16:colId xmlns:a16="http://schemas.microsoft.com/office/drawing/2014/main" val="2947445496"/>
                    </a:ext>
                  </a:extLst>
                </a:gridCol>
              </a:tblGrid>
              <a:tr h="1809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Isolation level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+mn-lt"/>
                        </a:rPr>
                        <a:t>Possible anomalies for T1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35811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Prestige12 BT" panose="02070509030506020304" pitchFamily="49" charset="0"/>
                        </a:rPr>
                        <a:t>READ UNCOMMITTED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35230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Prestige12 BT" panose="02070509030506020304" pitchFamily="49" charset="0"/>
                        </a:rPr>
                        <a:t>READ COMMITTED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Unrepeatable Reads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04335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Prestige12 BT" panose="02070509030506020304" pitchFamily="49" charset="0"/>
                        </a:rPr>
                        <a:t>REPEATABLE READ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Phantoms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2091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Prestige12 BT" panose="02070509030506020304" pitchFamily="49" charset="0"/>
                        </a:rPr>
                        <a:t>SERIALIZABLE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None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4242848"/>
                  </a:ext>
                </a:extLst>
              </a:tr>
            </a:tbl>
          </a:graphicData>
        </a:graphic>
      </p:graphicFrame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8E99580-0482-40A9-B004-7E4C919E82CA}"/>
              </a:ext>
            </a:extLst>
          </p:cNvPr>
          <p:cNvCxnSpPr/>
          <p:nvPr/>
        </p:nvCxnSpPr>
        <p:spPr>
          <a:xfrm flipV="1">
            <a:off x="3511438" y="1456854"/>
            <a:ext cx="0" cy="182880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915F7C04-FE19-4DAF-B525-0F3CA78E0B80}"/>
              </a:ext>
            </a:extLst>
          </p:cNvPr>
          <p:cNvSpPr/>
          <p:nvPr/>
        </p:nvSpPr>
        <p:spPr>
          <a:xfrm>
            <a:off x="5972421" y="1815949"/>
            <a:ext cx="12426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Tx/>
              <a:buNone/>
              <a:tabLst/>
              <a:defRPr/>
            </a:pPr>
            <a:r>
              <a:rPr kumimoji="1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rPr>
              <a:t>Dirty reads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670F0F-73A5-7C4C-8558-B3C5BE9C7868}"/>
              </a:ext>
            </a:extLst>
          </p:cNvPr>
          <p:cNvSpPr txBox="1"/>
          <p:nvPr/>
        </p:nvSpPr>
        <p:spPr>
          <a:xfrm>
            <a:off x="16079" y="64300"/>
            <a:ext cx="912792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Example: Lowest Isolation Level To Set? (2)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BDAFE0B-222A-FB42-8E44-E82A718BC880}"/>
              </a:ext>
            </a:extLst>
          </p:cNvPr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631765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35052C-D5DF-4AD4-803E-0EF5525E22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dirty="0">
                <a:latin typeface="Prestige12 BT" panose="02070509030506020304" pitchFamily="49" charset="0"/>
              </a:rPr>
              <a:t>-- T1: </a:t>
            </a:r>
            <a:br>
              <a:rPr lang="en-US" dirty="0">
                <a:latin typeface="Prestige12 BT" panose="02070509030506020304" pitchFamily="49" charset="0"/>
              </a:rPr>
            </a:br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SELECT sum(price)</a:t>
            </a:r>
            <a:b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FROM Order;</a:t>
            </a:r>
            <a:b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COMMIT;</a:t>
            </a:r>
          </a:p>
          <a:p>
            <a:pPr marL="0" indent="0">
              <a:buNone/>
            </a:pPr>
            <a:endParaRPr lang="en-US" dirty="0">
              <a:latin typeface="Prestige12 BT" panose="02070509030506020304" pitchFamily="49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Consider other possible concurrent transactions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Does not read same item twice: reads User only once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Only concern: transaction T2 might be updating Order =&gt; may lead to dirty reads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Lowest isolation level: read committed</a:t>
            </a:r>
          </a:p>
          <a:p>
            <a:pPr>
              <a:buFont typeface="Wingdings" pitchFamily="2" charset="2"/>
              <a:buChar char="Ø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908595-D761-4035-B6C5-2EB61C994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C99FA5-7995-46A9-A97E-16E38AD5895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B6BC3C-7F89-5C4E-8641-97F49DE30B27}"/>
              </a:ext>
            </a:extLst>
          </p:cNvPr>
          <p:cNvSpPr txBox="1"/>
          <p:nvPr/>
        </p:nvSpPr>
        <p:spPr>
          <a:xfrm>
            <a:off x="16079" y="64300"/>
            <a:ext cx="912792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Example: Lowest Isolation Level To Set? (3)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3D98512-07BE-444E-939E-2B0418784202}"/>
              </a:ext>
            </a:extLst>
          </p:cNvPr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69183913-1239-D14F-956B-7A8636B80D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1846070"/>
              </p:ext>
            </p:extLst>
          </p:nvPr>
        </p:nvGraphicFramePr>
        <p:xfrm>
          <a:off x="3698036" y="1456854"/>
          <a:ext cx="5103628" cy="1828800"/>
        </p:xfrm>
        <a:graphic>
          <a:graphicData uri="http://schemas.openxmlformats.org/drawingml/2006/table">
            <a:tbl>
              <a:tblPr/>
              <a:tblGrid>
                <a:gridCol w="2317158">
                  <a:extLst>
                    <a:ext uri="{9D8B030D-6E8A-4147-A177-3AD203B41FA5}">
                      <a16:colId xmlns:a16="http://schemas.microsoft.com/office/drawing/2014/main" val="1778545659"/>
                    </a:ext>
                  </a:extLst>
                </a:gridCol>
                <a:gridCol w="2786470">
                  <a:extLst>
                    <a:ext uri="{9D8B030D-6E8A-4147-A177-3AD203B41FA5}">
                      <a16:colId xmlns:a16="http://schemas.microsoft.com/office/drawing/2014/main" val="2947445496"/>
                    </a:ext>
                  </a:extLst>
                </a:gridCol>
              </a:tblGrid>
              <a:tr h="1809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Isolation level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+mn-lt"/>
                        </a:rPr>
                        <a:t>Possible anomalies for T1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35811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Prestige12 BT" panose="02070509030506020304" pitchFamily="49" charset="0"/>
                        </a:rPr>
                        <a:t>READ UNCOMMITTED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35230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Prestige12 BT" panose="02070509030506020304" pitchFamily="49" charset="0"/>
                        </a:rPr>
                        <a:t>READ COMMITTED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Unrepeatable Reads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04335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Prestige12 BT" panose="02070509030506020304" pitchFamily="49" charset="0"/>
                        </a:rPr>
                        <a:t>REPEATABLE READ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Phantoms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2091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Prestige12 BT" panose="02070509030506020304" pitchFamily="49" charset="0"/>
                        </a:rPr>
                        <a:t>SERIALIZABLE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None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4242848"/>
                  </a:ext>
                </a:extLst>
              </a:tr>
            </a:tbl>
          </a:graphicData>
        </a:graphic>
      </p:graphicFrame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149D98F-9820-024C-BCCF-2CD33D0A556D}"/>
              </a:ext>
            </a:extLst>
          </p:cNvPr>
          <p:cNvCxnSpPr/>
          <p:nvPr/>
        </p:nvCxnSpPr>
        <p:spPr>
          <a:xfrm flipV="1">
            <a:off x="3511438" y="1456854"/>
            <a:ext cx="0" cy="182880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EF6A8C5F-7C2D-6946-9EB5-B903B003AA83}"/>
              </a:ext>
            </a:extLst>
          </p:cNvPr>
          <p:cNvSpPr/>
          <p:nvPr/>
        </p:nvSpPr>
        <p:spPr>
          <a:xfrm>
            <a:off x="5972421" y="1815949"/>
            <a:ext cx="12426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Tx/>
              <a:buNone/>
              <a:tabLst/>
              <a:defRPr/>
            </a:pPr>
            <a:r>
              <a:rPr kumimoji="1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rPr>
              <a:t>Dirty reads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83921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35052C-D5DF-4AD4-803E-0EF5525E22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135" y="1478608"/>
            <a:ext cx="8860481" cy="5264622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Ø"/>
            </a:pPr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-- T1: </a:t>
            </a:r>
            <a:b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SELECT AVG(price)</a:t>
            </a:r>
            <a:b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FROM Order;</a:t>
            </a:r>
            <a:b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SELECT MAX(price)</a:t>
            </a:r>
            <a:b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FROM Order;</a:t>
            </a:r>
            <a:b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COMMIT;</a:t>
            </a:r>
          </a:p>
          <a:p>
            <a:endParaRPr lang="en-US" dirty="0">
              <a:latin typeface="Prestige12 BT" panose="02070509030506020304" pitchFamily="49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dirty="0">
                <a:latin typeface="Prestige12 BT" panose="02070509030506020304" pitchFamily="49" charset="0"/>
              </a:rPr>
              <a:t>Consider other possible concurrent transactions</a:t>
            </a:r>
          </a:p>
          <a:p>
            <a:pPr lvl="1"/>
            <a:r>
              <a:rPr lang="en-US" dirty="0">
                <a:latin typeface="Prestige12 BT" panose="02070509030506020304" pitchFamily="49" charset="0"/>
              </a:rPr>
              <a:t>Now reads same tuples twice</a:t>
            </a:r>
          </a:p>
          <a:p>
            <a:pPr lvl="1"/>
            <a:r>
              <a:rPr lang="en-US" dirty="0">
                <a:latin typeface="Prestige12 BT" panose="02070509030506020304" pitchFamily="49" charset="0"/>
              </a:rPr>
              <a:t>Concerns: transaction T2  might be inserting/updating/deleting a row to Order, i.e., reads many not be repeatable and phantoms might appear</a:t>
            </a:r>
          </a:p>
          <a:p>
            <a:pPr lvl="1"/>
            <a:r>
              <a:rPr lang="en-US" dirty="0">
                <a:latin typeface="Prestige12 BT" panose="02070509030506020304" pitchFamily="49" charset="0"/>
              </a:rPr>
              <a:t>Lowest isolation level: serializable (if the app knows no updates can happen, then repeatable read </a:t>
            </a:r>
            <a:r>
              <a:rPr lang="en-US">
                <a:latin typeface="Prestige12 BT" panose="02070509030506020304" pitchFamily="49" charset="0"/>
              </a:rPr>
              <a:t>is OK too).</a:t>
            </a:r>
            <a:endParaRPr lang="en-US" dirty="0">
              <a:latin typeface="Prestige12 BT" panose="02070509030506020304" pitchFamily="49" charset="0"/>
            </a:endParaRPr>
          </a:p>
          <a:p>
            <a:pPr marL="0" indent="0">
              <a:buNone/>
            </a:pP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908595-D761-4035-B6C5-2EB61C994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C99FA5-7995-46A9-A97E-16E38AD5895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405AC1-7424-8047-BCFE-FBA6C19F1C29}"/>
              </a:ext>
            </a:extLst>
          </p:cNvPr>
          <p:cNvSpPr txBox="1"/>
          <p:nvPr/>
        </p:nvSpPr>
        <p:spPr>
          <a:xfrm>
            <a:off x="16079" y="64300"/>
            <a:ext cx="912792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Example: Lowest Isolation Level To Set? (4)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5408FCA-2A17-5F4B-84DD-0936CF7CA472}"/>
              </a:ext>
            </a:extLst>
          </p:cNvPr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C7659782-4961-844C-A5BA-5AD039170D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1846070"/>
              </p:ext>
            </p:extLst>
          </p:nvPr>
        </p:nvGraphicFramePr>
        <p:xfrm>
          <a:off x="3698036" y="1456854"/>
          <a:ext cx="5103628" cy="1828800"/>
        </p:xfrm>
        <a:graphic>
          <a:graphicData uri="http://schemas.openxmlformats.org/drawingml/2006/table">
            <a:tbl>
              <a:tblPr/>
              <a:tblGrid>
                <a:gridCol w="2317158">
                  <a:extLst>
                    <a:ext uri="{9D8B030D-6E8A-4147-A177-3AD203B41FA5}">
                      <a16:colId xmlns:a16="http://schemas.microsoft.com/office/drawing/2014/main" val="1778545659"/>
                    </a:ext>
                  </a:extLst>
                </a:gridCol>
                <a:gridCol w="2786470">
                  <a:extLst>
                    <a:ext uri="{9D8B030D-6E8A-4147-A177-3AD203B41FA5}">
                      <a16:colId xmlns:a16="http://schemas.microsoft.com/office/drawing/2014/main" val="2947445496"/>
                    </a:ext>
                  </a:extLst>
                </a:gridCol>
              </a:tblGrid>
              <a:tr h="1809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Isolation level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+mn-lt"/>
                        </a:rPr>
                        <a:t>Possible anomalies for T1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35811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Prestige12 BT" panose="02070509030506020304" pitchFamily="49" charset="0"/>
                        </a:rPr>
                        <a:t>READ UNCOMMITTED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35230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Prestige12 BT" panose="02070509030506020304" pitchFamily="49" charset="0"/>
                        </a:rPr>
                        <a:t>READ COMMITTED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Unrepeatable Reads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04335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Prestige12 BT" panose="02070509030506020304" pitchFamily="49" charset="0"/>
                        </a:rPr>
                        <a:t>REPEATABLE READ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Phantoms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2091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Prestige12 BT" panose="02070509030506020304" pitchFamily="49" charset="0"/>
                        </a:rPr>
                        <a:t>SERIALIZABLE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None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4242848"/>
                  </a:ext>
                </a:extLst>
              </a:tr>
            </a:tbl>
          </a:graphicData>
        </a:graphic>
      </p:graphicFrame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1B82E61-380E-674B-9D36-3040A0A451EB}"/>
              </a:ext>
            </a:extLst>
          </p:cNvPr>
          <p:cNvCxnSpPr/>
          <p:nvPr/>
        </p:nvCxnSpPr>
        <p:spPr>
          <a:xfrm flipV="1">
            <a:off x="3511438" y="1456854"/>
            <a:ext cx="0" cy="182880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B5FE4DC5-BD19-F341-8355-33BE37791BCD}"/>
              </a:ext>
            </a:extLst>
          </p:cNvPr>
          <p:cNvSpPr/>
          <p:nvPr/>
        </p:nvSpPr>
        <p:spPr>
          <a:xfrm>
            <a:off x="5972421" y="1815949"/>
            <a:ext cx="12426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Tx/>
              <a:buNone/>
              <a:tabLst/>
              <a:defRPr/>
            </a:pPr>
            <a:r>
              <a:rPr kumimoji="1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rPr>
              <a:t>Dirty reads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39294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9|9|7.3|7|22.2|7.5|3.5|11.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9|9|7.3|7|22.2|7.5|3.5|11.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5.2|5.7|4.2|0.8|8.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|9.3|3|6.3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tailEnd type="arrow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ndara">
      <a:majorFont>
        <a:latin typeface="Candara" panose="020E0502030303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ndara" panose="020E0502030303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47615</TotalTime>
  <Words>3854</Words>
  <Application>Microsoft Macintosh PowerPoint</Application>
  <PresentationFormat>On-screen Show (4:3)</PresentationFormat>
  <Paragraphs>880</Paragraphs>
  <Slides>48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48</vt:i4>
      </vt:variant>
    </vt:vector>
  </HeadingPairs>
  <TitlesOfParts>
    <vt:vector size="57" baseType="lpstr">
      <vt:lpstr>Arial</vt:lpstr>
      <vt:lpstr>Calibri</vt:lpstr>
      <vt:lpstr>Candara</vt:lpstr>
      <vt:lpstr>Chalkboard</vt:lpstr>
      <vt:lpstr>Consolas</vt:lpstr>
      <vt:lpstr>Prestige12 BT</vt:lpstr>
      <vt:lpstr>Wingdings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Stanford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Semih Salihoglu</dc:creator>
  <cp:lastModifiedBy>Semih Salihoglu</cp:lastModifiedBy>
  <cp:revision>2567</cp:revision>
  <cp:lastPrinted>2021-11-09T03:16:21Z</cp:lastPrinted>
  <dcterms:created xsi:type="dcterms:W3CDTF">2016-04-06T14:30:24Z</dcterms:created>
  <dcterms:modified xsi:type="dcterms:W3CDTF">2021-11-16T19:09:46Z</dcterms:modified>
</cp:coreProperties>
</file>