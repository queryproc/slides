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tags/tag2.xml" ContentType="application/vnd.openxmlformats-officedocument.presentationml.tags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tags/tag4.xml" ContentType="application/vnd.openxmlformats-officedocument.presentationml.tags+xml"/>
  <Override PartName="/ppt/notesSlides/notesSlide7.xml" ContentType="application/vnd.openxmlformats-officedocument.presentationml.notesSlide+xml"/>
  <Override PartName="/ppt/tags/tag5.xml" ContentType="application/vnd.openxmlformats-officedocument.presentationml.tags+xml"/>
  <Override PartName="/ppt/notesSlides/notesSlide8.xml" ContentType="application/vnd.openxmlformats-officedocument.presentationml.notesSlide+xml"/>
  <Override PartName="/ppt/tags/tag6.xml" ContentType="application/vnd.openxmlformats-officedocument.presentationml.tags+xml"/>
  <Override PartName="/ppt/notesSlides/notesSlide9.xml" ContentType="application/vnd.openxmlformats-officedocument.presentationml.notesSlide+xml"/>
  <Override PartName="/ppt/tags/tag7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8.xml" ContentType="application/vnd.openxmlformats-officedocument.presentationml.tags+xml"/>
  <Override PartName="/ppt/notesSlides/notesSlide12.xml" ContentType="application/vnd.openxmlformats-officedocument.presentationml.notesSlide+xml"/>
  <Override PartName="/ppt/tags/tag9.xml" ContentType="application/vnd.openxmlformats-officedocument.presentationml.tags+xml"/>
  <Override PartName="/ppt/notesSlides/notesSlide13.xml" ContentType="application/vnd.openxmlformats-officedocument.presentationml.notesSlide+xml"/>
  <Override PartName="/ppt/tags/tag10.xml" ContentType="application/vnd.openxmlformats-officedocument.presentationml.tags+xml"/>
  <Override PartName="/ppt/notesSlides/notesSlide14.xml" ContentType="application/vnd.openxmlformats-officedocument.presentationml.notesSlide+xml"/>
  <Override PartName="/ppt/tags/tag11.xml" ContentType="application/vnd.openxmlformats-officedocument.presentationml.tags+xml"/>
  <Override PartName="/ppt/notesSlides/notesSlide15.xml" ContentType="application/vnd.openxmlformats-officedocument.presentationml.notesSlide+xml"/>
  <Override PartName="/ppt/tags/tag12.xml" ContentType="application/vnd.openxmlformats-officedocument.presentationml.tags+xml"/>
  <Override PartName="/ppt/notesSlides/notesSlide16.xml" ContentType="application/vnd.openxmlformats-officedocument.presentationml.notesSlide+xml"/>
  <Override PartName="/ppt/tags/tag13.xml" ContentType="application/vnd.openxmlformats-officedocument.presentationml.tags+xml"/>
  <Override PartName="/ppt/notesSlides/notesSlide17.xml" ContentType="application/vnd.openxmlformats-officedocument.presentationml.notesSlide+xml"/>
  <Override PartName="/ppt/tags/tag14.xml" ContentType="application/vnd.openxmlformats-officedocument.presentationml.tags+xml"/>
  <Override PartName="/ppt/notesSlides/notesSlide18.xml" ContentType="application/vnd.openxmlformats-officedocument.presentationml.notesSlide+xml"/>
  <Override PartName="/ppt/tags/tag15.xml" ContentType="application/vnd.openxmlformats-officedocument.presentationml.tags+xml"/>
  <Override PartName="/ppt/notesSlides/notesSlide19.xml" ContentType="application/vnd.openxmlformats-officedocument.presentationml.notesSlide+xml"/>
  <Override PartName="/ppt/tags/tag16.xml" ContentType="application/vnd.openxmlformats-officedocument.presentationml.tags+xml"/>
  <Override PartName="/ppt/notesSlides/notesSlide20.xml" ContentType="application/vnd.openxmlformats-officedocument.presentationml.notesSlide+xml"/>
  <Override PartName="/ppt/tags/tag17.xml" ContentType="application/vnd.openxmlformats-officedocument.presentationml.tags+xml"/>
  <Override PartName="/ppt/notesSlides/notesSlide21.xml" ContentType="application/vnd.openxmlformats-officedocument.presentationml.notesSlide+xml"/>
  <Override PartName="/ppt/tags/tag18.xml" ContentType="application/vnd.openxmlformats-officedocument.presentationml.tags+xml"/>
  <Override PartName="/ppt/notesSlides/notesSlide22.xml" ContentType="application/vnd.openxmlformats-officedocument.presentationml.notesSlide+xml"/>
  <Override PartName="/ppt/tags/tag19.xml" ContentType="application/vnd.openxmlformats-officedocument.presentationml.tags+xml"/>
  <Override PartName="/ppt/notesSlides/notesSlide23.xml" ContentType="application/vnd.openxmlformats-officedocument.presentationml.notesSlide+xml"/>
  <Override PartName="/ppt/tags/tag20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ags/tag21.xml" ContentType="application/vnd.openxmlformats-officedocument.presentationml.tags+xml"/>
  <Override PartName="/ppt/notesSlides/notesSlide26.xml" ContentType="application/vnd.openxmlformats-officedocument.presentationml.notesSlide+xml"/>
  <Override PartName="/ppt/tags/tag22.xml" ContentType="application/vnd.openxmlformats-officedocument.presentationml.tags+xml"/>
  <Override PartName="/ppt/notesSlides/notesSlide27.xml" ContentType="application/vnd.openxmlformats-officedocument.presentationml.notesSlide+xml"/>
  <Override PartName="/ppt/tags/tag23.xml" ContentType="application/vnd.openxmlformats-officedocument.presentationml.tags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tags/tag24.xml" ContentType="application/vnd.openxmlformats-officedocument.presentationml.tags+xml"/>
  <Override PartName="/ppt/notesSlides/notesSlide31.xml" ContentType="application/vnd.openxmlformats-officedocument.presentationml.notesSlide+xml"/>
  <Override PartName="/ppt/tags/tag25.xml" ContentType="application/vnd.openxmlformats-officedocument.presentationml.tags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tags/tag26.xml" ContentType="application/vnd.openxmlformats-officedocument.presentationml.tags+xml"/>
  <Override PartName="/ppt/notesSlides/notesSlide34.xml" ContentType="application/vnd.openxmlformats-officedocument.presentationml.notesSlide+xml"/>
  <Override PartName="/ppt/tags/tag27.xml" ContentType="application/vnd.openxmlformats-officedocument.presentationml.tags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84" r:id="rId1"/>
  </p:sldMasterIdLst>
  <p:notesMasterIdLst>
    <p:notesMasterId r:id="rId38"/>
  </p:notesMasterIdLst>
  <p:sldIdLst>
    <p:sldId id="256" r:id="rId2"/>
    <p:sldId id="285" r:id="rId3"/>
    <p:sldId id="259" r:id="rId4"/>
    <p:sldId id="260" r:id="rId5"/>
    <p:sldId id="293" r:id="rId6"/>
    <p:sldId id="286" r:id="rId7"/>
    <p:sldId id="262" r:id="rId8"/>
    <p:sldId id="294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92" r:id="rId31"/>
    <p:sldId id="295" r:id="rId32"/>
    <p:sldId id="291" r:id="rId33"/>
    <p:sldId id="297" r:id="rId34"/>
    <p:sldId id="289" r:id="rId35"/>
    <p:sldId id="296" r:id="rId36"/>
    <p:sldId id="290" r:id="rId3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97" autoAdjust="0"/>
    <p:restoredTop sz="87173" autoAdjust="0"/>
  </p:normalViewPr>
  <p:slideViewPr>
    <p:cSldViewPr snapToGrid="0">
      <p:cViewPr varScale="1">
        <p:scale>
          <a:sx n="87" d="100"/>
          <a:sy n="87" d="100"/>
        </p:scale>
        <p:origin x="10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A69ED9-CB95-4DAD-9B9B-E560A3321DCE}" type="datetimeFigureOut">
              <a:rPr lang="en-US" smtClean="0"/>
              <a:t>7/26/2021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B470F9-3B63-4A29-A4D2-E4DBA5B32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308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731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5793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738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9910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635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8343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8070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3720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311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1994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58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5610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7473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1888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7697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0143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1744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8905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643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0463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4736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9916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7811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3048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50986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180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6262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23797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99701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97406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7550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4786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8149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622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0756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962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F85E7-7033-4BD1-A625-C36166465D72}" type="datetime1">
              <a:rPr lang="en-US" smtClean="0"/>
              <a:t>7/26/2021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98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336" y="162161"/>
            <a:ext cx="8801664" cy="118016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336" y="1456854"/>
            <a:ext cx="8173014" cy="52646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68C2A-DC08-4D71-B5BC-A571B022E25E}" type="datetime1">
              <a:rPr lang="en-US" smtClean="0"/>
              <a:t>7/26/2021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086600" y="6470884"/>
            <a:ext cx="2057400" cy="365125"/>
          </a:xfrm>
        </p:spPr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315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9DCD6-3D10-40FA-A88B-E0AD5136A360}" type="datetime1">
              <a:rPr lang="en-US" smtClean="0"/>
              <a:t>7/26/2021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780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D43D1-D08D-4D7D-B4AB-E82156BEAC2C}" type="datetime1">
              <a:rPr lang="en-US" smtClean="0"/>
              <a:t>7/26/2021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3689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8F3BF-3FC2-4600-9976-243D0786F5BB}" type="datetime1">
              <a:rPr lang="en-US" smtClean="0"/>
              <a:t>7/26/2021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928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5E7219-C430-46CE-85B9-30B4F0CA56AD}" type="datetime1">
              <a:rPr lang="en-US" smtClean="0"/>
              <a:t>7/26/2021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263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6457F-C273-4FC9-8FE1-6D874FEF83EF}" type="datetime1">
              <a:rPr lang="en-US" smtClean="0"/>
              <a:t>7/26/2021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80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3ADF5-D710-4EBB-AA69-2A818CDF92E1}" type="datetime1">
              <a:rPr lang="en-US" smtClean="0"/>
              <a:t>7/26/2021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1540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7EE3B-FC30-46DA-98F7-BE80A4010F5D}" type="datetime1">
              <a:rPr lang="en-US" smtClean="0"/>
              <a:t>7/26/2021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787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61231-A0A7-4403-8B90-83ED4F249362}" type="datetime1">
              <a:rPr lang="en-US" smtClean="0"/>
              <a:t>7/26/2021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585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661F2-D403-4BA1-A95E-62DE29B59CB4}" type="datetime1">
              <a:rPr lang="en-US" smtClean="0"/>
              <a:t>7/26/2021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737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D7D50E-B569-40DB-B6B5-FEED8173E279}" type="datetime1">
              <a:rPr lang="en-US" smtClean="0"/>
              <a:t>7/26/2021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C99FA5-7995-46A9-A97E-16E38AD589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3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notesSlide" Target="../notesSlides/notesSlide12.xml"/><Relationship Id="rId7" Type="http://schemas.openxmlformats.org/officeDocument/2006/relationships/image" Target="../media/image3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image" Target="../media/image210.png"/><Relationship Id="rId11" Type="http://schemas.openxmlformats.org/officeDocument/2006/relationships/image" Target="../media/image70.png"/><Relationship Id="rId10" Type="http://schemas.openxmlformats.org/officeDocument/2006/relationships/image" Target="../media/image60.png"/><Relationship Id="rId9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6" Type="http://schemas.openxmlformats.org/officeDocument/2006/relationships/image" Target="../media/image8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Relationship Id="rId6" Type="http://schemas.openxmlformats.org/officeDocument/2006/relationships/image" Target="../media/image11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6" Type="http://schemas.openxmlformats.org/officeDocument/2006/relationships/image" Target="../media/image10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Indexing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Introduction to Database Management</a:t>
            </a:r>
          </a:p>
          <a:p>
            <a:r>
              <a:rPr lang="en-US"/>
              <a:t>CS348 Spring 2021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5284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AFE84-15BB-4641-B08B-ED11C52B5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A0365-D795-4F14-B32C-4EC6AC926C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Types of indexes</a:t>
            </a:r>
          </a:p>
          <a:p>
            <a:pPr lvl="1"/>
            <a:endParaRPr lang="en-CA" dirty="0"/>
          </a:p>
          <a:p>
            <a:r>
              <a:rPr lang="en-CA" dirty="0"/>
              <a:t>Index structure</a:t>
            </a:r>
          </a:p>
          <a:p>
            <a:pPr lvl="1"/>
            <a:endParaRPr lang="en-CA" dirty="0"/>
          </a:p>
          <a:p>
            <a:r>
              <a:rPr lang="en-CA" dirty="0"/>
              <a:t>How to use index</a:t>
            </a:r>
          </a:p>
          <a:p>
            <a:pPr lvl="1"/>
            <a:endParaRPr lang="en-CA" dirty="0"/>
          </a:p>
          <a:p>
            <a:endParaRPr lang="en-CA" dirty="0"/>
          </a:p>
          <a:p>
            <a:pPr lvl="1"/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A1CC6D-EC7E-4B08-99A5-F7415105B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351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indexes for?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 value, locate the record(s) with this value</a:t>
            </a:r>
          </a:p>
          <a:p>
            <a:pPr lvl="1">
              <a:buFont typeface="Wingdings" pitchFamily="2" charset="2"/>
              <a:buNone/>
            </a:pPr>
            <a:r>
              <a:rPr lang="en-US" dirty="0">
                <a:latin typeface="Prestige12 BT" panose="02070509030506020304" pitchFamily="49" charset="0"/>
              </a:rPr>
              <a:t>   SELECT * FROM </a:t>
            </a:r>
            <a:r>
              <a:rPr lang="en-US" i="1" dirty="0">
                <a:latin typeface="Prestige12 BT" panose="02070509030506020304" pitchFamily="49" charset="0"/>
              </a:rPr>
              <a:t>R</a:t>
            </a:r>
            <a:r>
              <a:rPr lang="en-US" dirty="0">
                <a:latin typeface="Prestige12 BT" panose="02070509030506020304" pitchFamily="49" charset="0"/>
              </a:rPr>
              <a:t> WHERE 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A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 = 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value</a:t>
            </a:r>
            <a:r>
              <a:rPr lang="en-US" dirty="0">
                <a:latin typeface="Prestige12 BT" panose="02070509030506020304" pitchFamily="49" charset="0"/>
              </a:rPr>
              <a:t>;</a:t>
            </a:r>
          </a:p>
          <a:p>
            <a:pPr lvl="1">
              <a:buFont typeface="Wingdings" pitchFamily="2" charset="2"/>
              <a:buNone/>
            </a:pPr>
            <a:r>
              <a:rPr lang="en-US" dirty="0">
                <a:latin typeface="Prestige12 BT" panose="02070509030506020304" pitchFamily="49" charset="0"/>
              </a:rPr>
              <a:t>   SELECT * FROM </a:t>
            </a:r>
            <a:r>
              <a:rPr lang="en-US" i="1" dirty="0">
                <a:latin typeface="Prestige12 BT" panose="02070509030506020304" pitchFamily="49" charset="0"/>
              </a:rPr>
              <a:t>R</a:t>
            </a:r>
            <a:r>
              <a:rPr lang="en-US" dirty="0">
                <a:latin typeface="Prestige12 BT" panose="02070509030506020304" pitchFamily="49" charset="0"/>
              </a:rPr>
              <a:t>, </a:t>
            </a:r>
            <a:r>
              <a:rPr lang="en-US" i="1" dirty="0">
                <a:latin typeface="Prestige12 BT" panose="02070509030506020304" pitchFamily="49" charset="0"/>
              </a:rPr>
              <a:t>S</a:t>
            </a:r>
            <a:r>
              <a:rPr lang="en-US" dirty="0">
                <a:latin typeface="Prestige12 BT" panose="02070509030506020304" pitchFamily="49" charset="0"/>
              </a:rPr>
              <a:t> WHERE 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R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.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A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 = 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S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.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B</a:t>
            </a:r>
            <a:r>
              <a:rPr lang="en-US" dirty="0">
                <a:latin typeface="Prestige12 BT" panose="02070509030506020304" pitchFamily="49" charset="0"/>
              </a:rPr>
              <a:t>;</a:t>
            </a:r>
          </a:p>
          <a:p>
            <a:pPr lvl="1">
              <a:buFont typeface="Wingdings" pitchFamily="2" charset="2"/>
              <a:buNone/>
            </a:pPr>
            <a:endParaRPr lang="en-US" dirty="0">
              <a:latin typeface="Prestige12 BT" panose="02070509030506020304" pitchFamily="49" charset="0"/>
            </a:endParaRPr>
          </a:p>
          <a:p>
            <a:r>
              <a:rPr lang="en-US" dirty="0"/>
              <a:t>Find data by other search criteria, e.g.</a:t>
            </a:r>
          </a:p>
          <a:p>
            <a:pPr lvl="1"/>
            <a:r>
              <a:rPr lang="en-US" dirty="0"/>
              <a:t>Range search</a:t>
            </a:r>
          </a:p>
          <a:p>
            <a:pPr lvl="1">
              <a:buFont typeface="Wingdings" pitchFamily="2" charset="2"/>
              <a:buNone/>
            </a:pPr>
            <a:r>
              <a:rPr lang="en-US" dirty="0">
                <a:latin typeface="Prestige12 BT" panose="02070509030506020304" pitchFamily="49" charset="0"/>
              </a:rPr>
              <a:t>   SELECT * FROM </a:t>
            </a:r>
            <a:r>
              <a:rPr lang="en-US" i="1" dirty="0">
                <a:latin typeface="Prestige12 BT" panose="02070509030506020304" pitchFamily="49" charset="0"/>
              </a:rPr>
              <a:t>R</a:t>
            </a:r>
            <a:r>
              <a:rPr lang="en-US" dirty="0">
                <a:latin typeface="Prestige12 BT" panose="02070509030506020304" pitchFamily="49" charset="0"/>
              </a:rPr>
              <a:t> WHERE 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A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 &gt; 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value</a:t>
            </a:r>
            <a:r>
              <a:rPr lang="en-US" dirty="0">
                <a:latin typeface="Prestige12 BT" panose="02070509030506020304" pitchFamily="49" charset="0"/>
              </a:rPr>
              <a:t>;</a:t>
            </a:r>
          </a:p>
          <a:p>
            <a:pPr lvl="1"/>
            <a:r>
              <a:rPr lang="en-US" dirty="0"/>
              <a:t>Keyword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</a:t>
            </a:fld>
            <a:endParaRPr lang="en-US"/>
          </a:p>
        </p:txBody>
      </p:sp>
      <p:grpSp>
        <p:nvGrpSpPr>
          <p:cNvPr id="5" name="Group 4"/>
          <p:cNvGrpSpPr>
            <a:grpSpLocks/>
          </p:cNvGrpSpPr>
          <p:nvPr/>
        </p:nvGrpSpPr>
        <p:grpSpPr bwMode="auto">
          <a:xfrm>
            <a:off x="1225300" y="4813923"/>
            <a:ext cx="5791200" cy="381000"/>
            <a:chOff x="864" y="3312"/>
            <a:chExt cx="3648" cy="240"/>
          </a:xfrm>
        </p:grpSpPr>
        <p:sp>
          <p:nvSpPr>
            <p:cNvPr id="6" name="Rectangle 5"/>
            <p:cNvSpPr>
              <a:spLocks noChangeArrowheads="1"/>
            </p:cNvSpPr>
            <p:nvPr/>
          </p:nvSpPr>
          <p:spPr bwMode="auto">
            <a:xfrm>
              <a:off x="864" y="3312"/>
              <a:ext cx="2688" cy="24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dirty="0">
                  <a:latin typeface="Prestige12 BT" panose="02070509030506020304" pitchFamily="49" charset="0"/>
                  <a:ea typeface="Arial Unicode MS" pitchFamily="34" charset="-128"/>
                  <a:cs typeface="Arial Unicode MS" pitchFamily="34" charset="-128"/>
                </a:rPr>
                <a:t>database indexing</a:t>
              </a:r>
            </a:p>
          </p:txBody>
        </p:sp>
        <p:sp>
          <p:nvSpPr>
            <p:cNvPr id="7" name="AutoShape 6"/>
            <p:cNvSpPr>
              <a:spLocks noChangeArrowheads="1"/>
            </p:cNvSpPr>
            <p:nvPr/>
          </p:nvSpPr>
          <p:spPr bwMode="auto">
            <a:xfrm>
              <a:off x="3648" y="3312"/>
              <a:ext cx="864" cy="240"/>
            </a:xfrm>
            <a:prstGeom prst="bevel">
              <a:avLst>
                <a:gd name="adj" fmla="val 12500"/>
              </a:avLst>
            </a:prstGeom>
            <a:solidFill>
              <a:schemeClr val="accent2"/>
            </a:solidFill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dirty="0">
                  <a:latin typeface="Prestige12 BT" panose="02070509030506020304" pitchFamily="49" charset="0"/>
                  <a:ea typeface="Arial Unicode MS" pitchFamily="34" charset="-128"/>
                  <a:cs typeface="Arial Unicode MS" pitchFamily="34" charset="-128"/>
                </a:rPr>
                <a:t>Search</a:t>
              </a:r>
            </a:p>
          </p:txBody>
        </p:sp>
      </p:grpSp>
      <p:sp>
        <p:nvSpPr>
          <p:cNvPr id="8" name="Right Brace 7"/>
          <p:cNvSpPr/>
          <p:nvPr/>
        </p:nvSpPr>
        <p:spPr>
          <a:xfrm>
            <a:off x="7756633" y="2068171"/>
            <a:ext cx="324557" cy="1810145"/>
          </a:xfrm>
          <a:prstGeom prst="rightBrace">
            <a:avLst>
              <a:gd name="adj1" fmla="val 54166"/>
              <a:gd name="adj2" fmla="val 5000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157789" y="2511578"/>
            <a:ext cx="86754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Focus</a:t>
            </a:r>
            <a:br>
              <a:rPr lang="en-US" dirty="0"/>
            </a:br>
            <a:r>
              <a:rPr lang="en-US" dirty="0"/>
              <a:t>of this</a:t>
            </a:r>
            <a:br>
              <a:rPr lang="en-US" dirty="0"/>
            </a:br>
            <a:r>
              <a:rPr lang="en-US" dirty="0"/>
              <a:t>lecture</a:t>
            </a:r>
          </a:p>
        </p:txBody>
      </p:sp>
    </p:spTree>
    <p:extLst>
      <p:ext uri="{BB962C8B-B14F-4D97-AF65-F5344CB8AC3E}">
        <p14:creationId xmlns:p14="http://schemas.microsoft.com/office/powerpoint/2010/main" val="1102872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Dense </a:t>
            </a:r>
            <a:r>
              <a:rPr lang="en-US" dirty="0" err="1"/>
              <a:t>v.s</a:t>
            </a:r>
            <a:r>
              <a:rPr lang="en-US" dirty="0"/>
              <a:t>. sparse indexes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335" y="1456855"/>
            <a:ext cx="8731565" cy="1489545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solidFill>
                  <a:schemeClr val="accent2"/>
                </a:solidFill>
              </a:rPr>
              <a:t>Dense</a:t>
            </a:r>
            <a:r>
              <a:rPr lang="en-US" dirty="0"/>
              <a:t>: one index entry for each search key value</a:t>
            </a:r>
          </a:p>
          <a:p>
            <a:pPr lvl="1"/>
            <a:r>
              <a:rPr lang="en-US" dirty="0"/>
              <a:t>One entry may “point” to multiple records (e.g., two users named Jessica)</a:t>
            </a:r>
          </a:p>
          <a:p>
            <a:r>
              <a:rPr lang="en-US" dirty="0">
                <a:solidFill>
                  <a:schemeClr val="accent2"/>
                </a:solidFill>
              </a:rPr>
              <a:t>Sparse</a:t>
            </a:r>
            <a:r>
              <a:rPr lang="en-US" dirty="0"/>
              <a:t>: one index entry for each block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Records must be </a:t>
            </a:r>
            <a:r>
              <a:rPr lang="en-US" sz="2400" dirty="0">
                <a:solidFill>
                  <a:schemeClr val="accent2"/>
                </a:solidFill>
              </a:rPr>
              <a:t>clustered</a:t>
            </a:r>
            <a:r>
              <a:rPr lang="en-US" sz="2400" dirty="0"/>
              <a:t> according to the search key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8329999"/>
              </p:ext>
            </p:extLst>
          </p:nvPr>
        </p:nvGraphicFramePr>
        <p:xfrm>
          <a:off x="6324600" y="2971800"/>
          <a:ext cx="1444943" cy="304800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30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Bart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Jessica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Lisa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Martin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Milhouse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Nelson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Ralph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Sherri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Terri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 err="1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Windel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4841210"/>
              </p:ext>
            </p:extLst>
          </p:nvPr>
        </p:nvGraphicFramePr>
        <p:xfrm>
          <a:off x="1600200" y="3733800"/>
          <a:ext cx="762000" cy="91440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7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123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456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857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 Box 12"/>
          <p:cNvSpPr txBox="1">
            <a:spLocks noChangeArrowheads="1"/>
          </p:cNvSpPr>
          <p:nvPr/>
        </p:nvSpPr>
        <p:spPr bwMode="auto">
          <a:xfrm>
            <a:off x="924796" y="4652963"/>
            <a:ext cx="142859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1800" dirty="0">
                <a:solidFill>
                  <a:schemeClr val="accent2"/>
                </a:solidFill>
                <a:latin typeface="+mn-lt"/>
              </a:rPr>
              <a:t>Sparse index</a:t>
            </a:r>
            <a:br>
              <a:rPr kumimoji="0" lang="en-US" sz="1800" dirty="0">
                <a:solidFill>
                  <a:schemeClr val="accent2"/>
                </a:solidFill>
                <a:latin typeface="+mn-lt"/>
              </a:rPr>
            </a:br>
            <a:r>
              <a:rPr kumimoji="0" lang="en-US" sz="1800" dirty="0">
                <a:solidFill>
                  <a:schemeClr val="accent2"/>
                </a:solidFill>
                <a:latin typeface="+mn-lt"/>
              </a:rPr>
              <a:t>on </a:t>
            </a:r>
            <a:r>
              <a:rPr kumimoji="0" lang="en-US" sz="1800" i="1" dirty="0" err="1">
                <a:solidFill>
                  <a:schemeClr val="accent2"/>
                </a:solidFill>
                <a:latin typeface="+mn-lt"/>
              </a:rPr>
              <a:t>uid</a:t>
            </a:r>
            <a:endParaRPr kumimoji="0" lang="en-US" sz="1800" i="1" dirty="0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9" name="Line 13"/>
          <p:cNvSpPr>
            <a:spLocks noChangeShapeType="1"/>
          </p:cNvSpPr>
          <p:nvPr/>
        </p:nvSpPr>
        <p:spPr bwMode="auto">
          <a:xfrm flipV="1">
            <a:off x="2209800" y="3124200"/>
            <a:ext cx="914400" cy="8382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4"/>
          <p:cNvSpPr>
            <a:spLocks noChangeShapeType="1"/>
          </p:cNvSpPr>
          <p:nvPr/>
        </p:nvSpPr>
        <p:spPr bwMode="auto">
          <a:xfrm>
            <a:off x="2209800" y="4216400"/>
            <a:ext cx="914400" cy="1270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5"/>
          <p:cNvSpPr>
            <a:spLocks noChangeShapeType="1"/>
          </p:cNvSpPr>
          <p:nvPr/>
        </p:nvSpPr>
        <p:spPr bwMode="auto">
          <a:xfrm>
            <a:off x="2209800" y="4495800"/>
            <a:ext cx="914400" cy="11430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8"/>
          <p:cNvSpPr>
            <a:spLocks noChangeShapeType="1"/>
          </p:cNvSpPr>
          <p:nvPr/>
        </p:nvSpPr>
        <p:spPr bwMode="auto">
          <a:xfrm flipH="1">
            <a:off x="5638800" y="3124200"/>
            <a:ext cx="838200" cy="3048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Line 19"/>
          <p:cNvSpPr>
            <a:spLocks noChangeShapeType="1"/>
          </p:cNvSpPr>
          <p:nvPr/>
        </p:nvSpPr>
        <p:spPr bwMode="auto">
          <a:xfrm flipH="1">
            <a:off x="5638800" y="3429000"/>
            <a:ext cx="838200" cy="3048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" name="Line 20"/>
          <p:cNvSpPr>
            <a:spLocks noChangeShapeType="1"/>
          </p:cNvSpPr>
          <p:nvPr/>
        </p:nvSpPr>
        <p:spPr bwMode="auto">
          <a:xfrm flipH="1">
            <a:off x="5638800" y="3733800"/>
            <a:ext cx="838200" cy="19812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" name="Line 21"/>
          <p:cNvSpPr>
            <a:spLocks noChangeShapeType="1"/>
          </p:cNvSpPr>
          <p:nvPr/>
        </p:nvSpPr>
        <p:spPr bwMode="auto">
          <a:xfrm flipH="1">
            <a:off x="5638800" y="4035912"/>
            <a:ext cx="838200" cy="45719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" name="Line 22"/>
          <p:cNvSpPr>
            <a:spLocks noChangeShapeType="1"/>
          </p:cNvSpPr>
          <p:nvPr/>
        </p:nvSpPr>
        <p:spPr bwMode="auto">
          <a:xfrm flipH="1" flipV="1">
            <a:off x="5638800" y="3124200"/>
            <a:ext cx="838200" cy="12700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" name="Line 23"/>
          <p:cNvSpPr>
            <a:spLocks noChangeShapeType="1"/>
          </p:cNvSpPr>
          <p:nvPr/>
        </p:nvSpPr>
        <p:spPr bwMode="auto">
          <a:xfrm flipH="1">
            <a:off x="5638800" y="4686300"/>
            <a:ext cx="838200" cy="381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" name="Line 24"/>
          <p:cNvSpPr>
            <a:spLocks noChangeShapeType="1"/>
          </p:cNvSpPr>
          <p:nvPr/>
        </p:nvSpPr>
        <p:spPr bwMode="auto">
          <a:xfrm flipH="1" flipV="1">
            <a:off x="5638800" y="4419600"/>
            <a:ext cx="838200" cy="5461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" name="Line 25"/>
          <p:cNvSpPr>
            <a:spLocks noChangeShapeType="1"/>
          </p:cNvSpPr>
          <p:nvPr/>
        </p:nvSpPr>
        <p:spPr bwMode="auto">
          <a:xfrm flipH="1" flipV="1">
            <a:off x="5638800" y="5029200"/>
            <a:ext cx="838200" cy="2159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" name="Line 26"/>
          <p:cNvSpPr>
            <a:spLocks noChangeShapeType="1"/>
          </p:cNvSpPr>
          <p:nvPr/>
        </p:nvSpPr>
        <p:spPr bwMode="auto">
          <a:xfrm flipH="1" flipV="1">
            <a:off x="5638800" y="5334000"/>
            <a:ext cx="838200" cy="2032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" name="Line 27"/>
          <p:cNvSpPr>
            <a:spLocks noChangeShapeType="1"/>
          </p:cNvSpPr>
          <p:nvPr/>
        </p:nvSpPr>
        <p:spPr bwMode="auto">
          <a:xfrm flipH="1">
            <a:off x="5638800" y="5791200"/>
            <a:ext cx="838200" cy="2286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" name="Text Box 28"/>
          <p:cNvSpPr txBox="1">
            <a:spLocks noChangeArrowheads="1"/>
          </p:cNvSpPr>
          <p:nvPr/>
        </p:nvSpPr>
        <p:spPr bwMode="auto">
          <a:xfrm>
            <a:off x="6389111" y="6017112"/>
            <a:ext cx="137890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1800" dirty="0">
                <a:solidFill>
                  <a:schemeClr val="accent2"/>
                </a:solidFill>
                <a:latin typeface="+mn-lt"/>
              </a:rPr>
              <a:t>Dense index</a:t>
            </a:r>
            <a:br>
              <a:rPr kumimoji="0" lang="en-US" sz="1800" dirty="0">
                <a:solidFill>
                  <a:schemeClr val="accent2"/>
                </a:solidFill>
                <a:latin typeface="+mn-lt"/>
              </a:rPr>
            </a:br>
            <a:r>
              <a:rPr kumimoji="0" lang="en-US" sz="1800" dirty="0">
                <a:solidFill>
                  <a:schemeClr val="accent2"/>
                </a:solidFill>
                <a:latin typeface="+mn-lt"/>
              </a:rPr>
              <a:t>on </a:t>
            </a:r>
            <a:r>
              <a:rPr kumimoji="0" lang="en-US" sz="1800" i="1" dirty="0">
                <a:solidFill>
                  <a:schemeClr val="accent2"/>
                </a:solidFill>
                <a:latin typeface="+mn-lt"/>
              </a:rPr>
              <a:t>name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725660"/>
              </p:ext>
            </p:extLst>
          </p:nvPr>
        </p:nvGraphicFramePr>
        <p:xfrm>
          <a:off x="3124200" y="2971800"/>
          <a:ext cx="2514600" cy="1219200"/>
        </p:xfrm>
        <a:graphic>
          <a:graphicData uri="http://schemas.openxmlformats.org/drawingml/2006/table">
            <a:tbl>
              <a:tblPr bandRow="1">
                <a:tableStyleId>{69C7853C-536D-4A76-A0AE-DD22124D55A5}</a:tableStyleId>
              </a:tblPr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7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2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123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Milhouse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0.2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142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Bart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0.9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279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Jessica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latin typeface="Prestige12 BT" panose="02070509030506020304" pitchFamily="49" charset="0"/>
                        </a:rPr>
                        <a:t>0.9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345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Martin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2.3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148000"/>
              </p:ext>
            </p:extLst>
          </p:nvPr>
        </p:nvGraphicFramePr>
        <p:xfrm>
          <a:off x="3124200" y="4267200"/>
          <a:ext cx="2514600" cy="1219200"/>
        </p:xfrm>
        <a:graphic>
          <a:graphicData uri="http://schemas.openxmlformats.org/drawingml/2006/table">
            <a:tbl>
              <a:tblPr bandRow="1">
                <a:tableStyleId>{69C7853C-536D-4A76-A0AE-DD22124D55A5}</a:tableStyleId>
              </a:tblPr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7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2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456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Ralph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0.3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512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Nelson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0.4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679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Sherri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0.6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697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Terri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0.6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615581"/>
              </p:ext>
            </p:extLst>
          </p:nvPr>
        </p:nvGraphicFramePr>
        <p:xfrm>
          <a:off x="3124200" y="5562600"/>
          <a:ext cx="2514600" cy="1219200"/>
        </p:xfrm>
        <a:graphic>
          <a:graphicData uri="http://schemas.openxmlformats.org/drawingml/2006/table">
            <a:tbl>
              <a:tblPr bandRow="1">
                <a:tableStyleId>{69C7853C-536D-4A76-A0AE-DD22124D55A5}</a:tableStyleId>
              </a:tblPr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7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2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857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Lisa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912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Windel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0.5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22"/>
                          </a:solidFill>
                          <a:effectLst/>
                          <a:latin typeface="Prestige12 BT" panose="02070509030506020304" pitchFamily="49" charset="0"/>
                        </a:rPr>
                        <a:t>997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22"/>
                          </a:solidFill>
                          <a:effectLst/>
                          <a:latin typeface="Prestige12 BT" panose="02070509030506020304" pitchFamily="49" charset="0"/>
                        </a:rPr>
                        <a:t>Jessica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22"/>
                          </a:solidFill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22"/>
                          </a:solidFill>
                          <a:effectLst/>
                          <a:latin typeface="Prestige12 BT" panose="02070509030506020304" pitchFamily="49" charset="0"/>
                        </a:rPr>
                        <a:t>0.5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Line 19"/>
          <p:cNvSpPr>
            <a:spLocks noChangeShapeType="1"/>
          </p:cNvSpPr>
          <p:nvPr/>
        </p:nvSpPr>
        <p:spPr bwMode="auto">
          <a:xfrm flipH="1">
            <a:off x="5638800" y="3428999"/>
            <a:ext cx="838200" cy="2900681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202680" y="3181202"/>
            <a:ext cx="548640" cy="548640"/>
          </a:xfrm>
          <a:prstGeom prst="ellipse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3741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/>
      <p:bldP spid="27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Dense </a:t>
            </a:r>
            <a:r>
              <a:rPr lang="en-US" dirty="0" err="1"/>
              <a:t>v.s</a:t>
            </a:r>
            <a:r>
              <a:rPr lang="en-US" dirty="0"/>
              <a:t>. sparse indexes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335" y="1456855"/>
            <a:ext cx="8731565" cy="1489545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solidFill>
                  <a:schemeClr val="accent2"/>
                </a:solidFill>
              </a:rPr>
              <a:t>Dense</a:t>
            </a:r>
            <a:r>
              <a:rPr lang="en-US" dirty="0"/>
              <a:t>: one index entry for each search key value</a:t>
            </a:r>
          </a:p>
          <a:p>
            <a:pPr lvl="1"/>
            <a:r>
              <a:rPr lang="en-US" dirty="0"/>
              <a:t>One entry may “point” to multiple records (e.g., two users named Jessica)</a:t>
            </a:r>
          </a:p>
          <a:p>
            <a:r>
              <a:rPr lang="en-US" dirty="0">
                <a:solidFill>
                  <a:schemeClr val="accent2"/>
                </a:solidFill>
              </a:rPr>
              <a:t>Sparse</a:t>
            </a:r>
            <a:r>
              <a:rPr lang="en-US" dirty="0"/>
              <a:t>: one index entry for each block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Records must be </a:t>
            </a:r>
            <a:r>
              <a:rPr lang="en-US" sz="2400" dirty="0">
                <a:solidFill>
                  <a:schemeClr val="accent2"/>
                </a:solidFill>
              </a:rPr>
              <a:t>clustered</a:t>
            </a:r>
            <a:r>
              <a:rPr lang="en-US" sz="2400" dirty="0"/>
              <a:t> according to the search key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24600" y="2971800"/>
          <a:ext cx="1444943" cy="304800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30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Bart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Jessica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Lisa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Martin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Milhouse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Nelson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Ralph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Sherri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Terri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 err="1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Windel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00200" y="3733800"/>
          <a:ext cx="762000" cy="91440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7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123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456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857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 Box 12"/>
          <p:cNvSpPr txBox="1">
            <a:spLocks noChangeArrowheads="1"/>
          </p:cNvSpPr>
          <p:nvPr/>
        </p:nvSpPr>
        <p:spPr bwMode="auto">
          <a:xfrm>
            <a:off x="924796" y="4652963"/>
            <a:ext cx="142859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1800" dirty="0">
                <a:solidFill>
                  <a:schemeClr val="accent2"/>
                </a:solidFill>
                <a:latin typeface="+mn-lt"/>
              </a:rPr>
              <a:t>Sparse index</a:t>
            </a:r>
            <a:br>
              <a:rPr kumimoji="0" lang="en-US" sz="1800" dirty="0">
                <a:solidFill>
                  <a:schemeClr val="accent2"/>
                </a:solidFill>
                <a:latin typeface="+mn-lt"/>
              </a:rPr>
            </a:br>
            <a:r>
              <a:rPr kumimoji="0" lang="en-US" sz="1800" dirty="0">
                <a:solidFill>
                  <a:schemeClr val="accent2"/>
                </a:solidFill>
                <a:latin typeface="+mn-lt"/>
              </a:rPr>
              <a:t>on </a:t>
            </a:r>
            <a:r>
              <a:rPr kumimoji="0" lang="en-US" sz="1800" i="1" dirty="0" err="1">
                <a:solidFill>
                  <a:schemeClr val="accent2"/>
                </a:solidFill>
                <a:latin typeface="+mn-lt"/>
              </a:rPr>
              <a:t>uid</a:t>
            </a:r>
            <a:endParaRPr kumimoji="0" lang="en-US" sz="1800" i="1" dirty="0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9" name="Line 13"/>
          <p:cNvSpPr>
            <a:spLocks noChangeShapeType="1"/>
          </p:cNvSpPr>
          <p:nvPr/>
        </p:nvSpPr>
        <p:spPr bwMode="auto">
          <a:xfrm flipV="1">
            <a:off x="2209800" y="3124200"/>
            <a:ext cx="914400" cy="8382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4"/>
          <p:cNvSpPr>
            <a:spLocks noChangeShapeType="1"/>
          </p:cNvSpPr>
          <p:nvPr/>
        </p:nvSpPr>
        <p:spPr bwMode="auto">
          <a:xfrm>
            <a:off x="2209800" y="4216400"/>
            <a:ext cx="914400" cy="1270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5"/>
          <p:cNvSpPr>
            <a:spLocks noChangeShapeType="1"/>
          </p:cNvSpPr>
          <p:nvPr/>
        </p:nvSpPr>
        <p:spPr bwMode="auto">
          <a:xfrm>
            <a:off x="2209800" y="4495800"/>
            <a:ext cx="914400" cy="11430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8"/>
          <p:cNvSpPr>
            <a:spLocks noChangeShapeType="1"/>
          </p:cNvSpPr>
          <p:nvPr/>
        </p:nvSpPr>
        <p:spPr bwMode="auto">
          <a:xfrm flipH="1">
            <a:off x="5638800" y="3124200"/>
            <a:ext cx="838200" cy="3048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Line 19"/>
          <p:cNvSpPr>
            <a:spLocks noChangeShapeType="1"/>
          </p:cNvSpPr>
          <p:nvPr/>
        </p:nvSpPr>
        <p:spPr bwMode="auto">
          <a:xfrm flipH="1">
            <a:off x="5638800" y="3429000"/>
            <a:ext cx="838200" cy="3048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" name="Line 20"/>
          <p:cNvSpPr>
            <a:spLocks noChangeShapeType="1"/>
          </p:cNvSpPr>
          <p:nvPr/>
        </p:nvSpPr>
        <p:spPr bwMode="auto">
          <a:xfrm flipH="1">
            <a:off x="5638800" y="3733800"/>
            <a:ext cx="838200" cy="19812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" name="Line 21"/>
          <p:cNvSpPr>
            <a:spLocks noChangeShapeType="1"/>
          </p:cNvSpPr>
          <p:nvPr/>
        </p:nvSpPr>
        <p:spPr bwMode="auto">
          <a:xfrm flipH="1">
            <a:off x="5638800" y="4035912"/>
            <a:ext cx="838200" cy="45719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" name="Line 22"/>
          <p:cNvSpPr>
            <a:spLocks noChangeShapeType="1"/>
          </p:cNvSpPr>
          <p:nvPr/>
        </p:nvSpPr>
        <p:spPr bwMode="auto">
          <a:xfrm flipH="1" flipV="1">
            <a:off x="5638800" y="3124200"/>
            <a:ext cx="838200" cy="12700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" name="Line 23"/>
          <p:cNvSpPr>
            <a:spLocks noChangeShapeType="1"/>
          </p:cNvSpPr>
          <p:nvPr/>
        </p:nvSpPr>
        <p:spPr bwMode="auto">
          <a:xfrm flipH="1">
            <a:off x="5638800" y="4686300"/>
            <a:ext cx="838200" cy="381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" name="Line 24"/>
          <p:cNvSpPr>
            <a:spLocks noChangeShapeType="1"/>
          </p:cNvSpPr>
          <p:nvPr/>
        </p:nvSpPr>
        <p:spPr bwMode="auto">
          <a:xfrm flipH="1" flipV="1">
            <a:off x="5638800" y="4419600"/>
            <a:ext cx="838200" cy="5461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" name="Line 25"/>
          <p:cNvSpPr>
            <a:spLocks noChangeShapeType="1"/>
          </p:cNvSpPr>
          <p:nvPr/>
        </p:nvSpPr>
        <p:spPr bwMode="auto">
          <a:xfrm flipH="1" flipV="1">
            <a:off x="5638800" y="5029200"/>
            <a:ext cx="838200" cy="2159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" name="Line 26"/>
          <p:cNvSpPr>
            <a:spLocks noChangeShapeType="1"/>
          </p:cNvSpPr>
          <p:nvPr/>
        </p:nvSpPr>
        <p:spPr bwMode="auto">
          <a:xfrm flipH="1" flipV="1">
            <a:off x="5638800" y="5334000"/>
            <a:ext cx="838200" cy="2032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" name="Line 27"/>
          <p:cNvSpPr>
            <a:spLocks noChangeShapeType="1"/>
          </p:cNvSpPr>
          <p:nvPr/>
        </p:nvSpPr>
        <p:spPr bwMode="auto">
          <a:xfrm flipH="1">
            <a:off x="5638800" y="5791200"/>
            <a:ext cx="838200" cy="2286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" name="Text Box 28"/>
          <p:cNvSpPr txBox="1">
            <a:spLocks noChangeArrowheads="1"/>
          </p:cNvSpPr>
          <p:nvPr/>
        </p:nvSpPr>
        <p:spPr bwMode="auto">
          <a:xfrm>
            <a:off x="6389111" y="6017112"/>
            <a:ext cx="137890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1800" dirty="0">
                <a:solidFill>
                  <a:schemeClr val="accent2"/>
                </a:solidFill>
                <a:latin typeface="+mn-lt"/>
              </a:rPr>
              <a:t>Dense index</a:t>
            </a:r>
            <a:br>
              <a:rPr kumimoji="0" lang="en-US" sz="1800" dirty="0">
                <a:solidFill>
                  <a:schemeClr val="accent2"/>
                </a:solidFill>
                <a:latin typeface="+mn-lt"/>
              </a:rPr>
            </a:br>
            <a:r>
              <a:rPr kumimoji="0" lang="en-US" sz="1800" dirty="0">
                <a:solidFill>
                  <a:schemeClr val="accent2"/>
                </a:solidFill>
                <a:latin typeface="+mn-lt"/>
              </a:rPr>
              <a:t>on </a:t>
            </a:r>
            <a:r>
              <a:rPr kumimoji="0" lang="en-US" sz="1800" i="1" dirty="0">
                <a:solidFill>
                  <a:schemeClr val="accent2"/>
                </a:solidFill>
                <a:latin typeface="+mn-lt"/>
              </a:rPr>
              <a:t>name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3124200" y="2971800"/>
          <a:ext cx="2514600" cy="1219200"/>
        </p:xfrm>
        <a:graphic>
          <a:graphicData uri="http://schemas.openxmlformats.org/drawingml/2006/table">
            <a:tbl>
              <a:tblPr bandRow="1">
                <a:tableStyleId>{69C7853C-536D-4A76-A0AE-DD22124D55A5}</a:tableStyleId>
              </a:tblPr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7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2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123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Milhouse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0.2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142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Bart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0.9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279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Jessica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latin typeface="Prestige12 BT" panose="02070509030506020304" pitchFamily="49" charset="0"/>
                        </a:rPr>
                        <a:t>0.9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345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Martin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2.3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124200" y="4267200"/>
          <a:ext cx="2514600" cy="1219200"/>
        </p:xfrm>
        <a:graphic>
          <a:graphicData uri="http://schemas.openxmlformats.org/drawingml/2006/table">
            <a:tbl>
              <a:tblPr bandRow="1">
                <a:tableStyleId>{69C7853C-536D-4A76-A0AE-DD22124D55A5}</a:tableStyleId>
              </a:tblPr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7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2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456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Ralph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0.3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512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Nelson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0.4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679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Sherri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0.6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697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Terri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0.6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124200" y="5562600"/>
          <a:ext cx="2514600" cy="1219200"/>
        </p:xfrm>
        <a:graphic>
          <a:graphicData uri="http://schemas.openxmlformats.org/drawingml/2006/table">
            <a:tbl>
              <a:tblPr bandRow="1">
                <a:tableStyleId>{69C7853C-536D-4A76-A0AE-DD22124D55A5}</a:tableStyleId>
              </a:tblPr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7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2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857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Lisa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912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Windel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0.5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22"/>
                          </a:solidFill>
                          <a:effectLst/>
                          <a:latin typeface="Prestige12 BT" panose="02070509030506020304" pitchFamily="49" charset="0"/>
                        </a:rPr>
                        <a:t>997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22"/>
                          </a:solidFill>
                          <a:effectLst/>
                          <a:latin typeface="Prestige12 BT" panose="02070509030506020304" pitchFamily="49" charset="0"/>
                        </a:rPr>
                        <a:t>Jessica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22"/>
                          </a:solidFill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22"/>
                          </a:solidFill>
                          <a:effectLst/>
                          <a:latin typeface="Prestige12 BT" panose="02070509030506020304" pitchFamily="49" charset="0"/>
                        </a:rPr>
                        <a:t>0.5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Line 19"/>
          <p:cNvSpPr>
            <a:spLocks noChangeShapeType="1"/>
          </p:cNvSpPr>
          <p:nvPr/>
        </p:nvSpPr>
        <p:spPr bwMode="auto">
          <a:xfrm flipH="1">
            <a:off x="5638800" y="3428999"/>
            <a:ext cx="838200" cy="2900681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202680" y="3181202"/>
            <a:ext cx="548640" cy="548640"/>
          </a:xfrm>
          <a:prstGeom prst="ellipse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allout: Line 27">
            <a:extLst>
              <a:ext uri="{FF2B5EF4-FFF2-40B4-BE49-F238E27FC236}">
                <a16:creationId xmlns:a16="http://schemas.microsoft.com/office/drawing/2014/main" id="{741800C7-ADC5-43EA-ABE8-80AA74AC8BE8}"/>
              </a:ext>
            </a:extLst>
          </p:cNvPr>
          <p:cNvSpPr/>
          <p:nvPr/>
        </p:nvSpPr>
        <p:spPr>
          <a:xfrm>
            <a:off x="848112" y="3074858"/>
            <a:ext cx="1514088" cy="437707"/>
          </a:xfrm>
          <a:prstGeom prst="borderCallout1">
            <a:avLst>
              <a:gd name="adj1" fmla="val 101341"/>
              <a:gd name="adj2" fmla="val 77886"/>
              <a:gd name="adj3" fmla="val 131933"/>
              <a:gd name="adj4" fmla="val 90150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Smaller size</a:t>
            </a:r>
          </a:p>
        </p:txBody>
      </p:sp>
      <p:sp>
        <p:nvSpPr>
          <p:cNvPr id="29" name="Callout: Line 28">
            <a:extLst>
              <a:ext uri="{FF2B5EF4-FFF2-40B4-BE49-F238E27FC236}">
                <a16:creationId xmlns:a16="http://schemas.microsoft.com/office/drawing/2014/main" id="{AA55EEE8-CD84-4B4C-8F1C-A4C864E14F56}"/>
              </a:ext>
            </a:extLst>
          </p:cNvPr>
          <p:cNvSpPr/>
          <p:nvPr/>
        </p:nvSpPr>
        <p:spPr>
          <a:xfrm>
            <a:off x="691116" y="5665658"/>
            <a:ext cx="1932828" cy="437707"/>
          </a:xfrm>
          <a:prstGeom prst="borderCallout1">
            <a:avLst>
              <a:gd name="adj1" fmla="val 57616"/>
              <a:gd name="adj2" fmla="val 102465"/>
              <a:gd name="adj3" fmla="val 29909"/>
              <a:gd name="adj4" fmla="val 125964"/>
            </a:avLst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Must be clustered</a:t>
            </a:r>
          </a:p>
        </p:txBody>
      </p:sp>
      <p:sp>
        <p:nvSpPr>
          <p:cNvPr id="30" name="Callout: Line 29">
            <a:extLst>
              <a:ext uri="{FF2B5EF4-FFF2-40B4-BE49-F238E27FC236}">
                <a16:creationId xmlns:a16="http://schemas.microsoft.com/office/drawing/2014/main" id="{6966123E-D265-49D5-9312-DB7D5987DC87}"/>
              </a:ext>
            </a:extLst>
          </p:cNvPr>
          <p:cNvSpPr/>
          <p:nvPr/>
        </p:nvSpPr>
        <p:spPr>
          <a:xfrm>
            <a:off x="7141072" y="2248051"/>
            <a:ext cx="1932828" cy="555621"/>
          </a:xfrm>
          <a:prstGeom prst="borderCallout1">
            <a:avLst>
              <a:gd name="adj1" fmla="val 125632"/>
              <a:gd name="adj2" fmla="val 49105"/>
              <a:gd name="adj3" fmla="val 238816"/>
              <a:gd name="adj4" fmla="val 36297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Can tell directly if a record exists</a:t>
            </a:r>
          </a:p>
        </p:txBody>
      </p:sp>
      <p:sp>
        <p:nvSpPr>
          <p:cNvPr id="31" name="Callout: Line 30">
            <a:extLst>
              <a:ext uri="{FF2B5EF4-FFF2-40B4-BE49-F238E27FC236}">
                <a16:creationId xmlns:a16="http://schemas.microsoft.com/office/drawing/2014/main" id="{B646D77B-DBDE-4B9D-97A8-97060A3125AF}"/>
              </a:ext>
            </a:extLst>
          </p:cNvPr>
          <p:cNvSpPr/>
          <p:nvPr/>
        </p:nvSpPr>
        <p:spPr>
          <a:xfrm>
            <a:off x="7548653" y="3838579"/>
            <a:ext cx="1444943" cy="555621"/>
          </a:xfrm>
          <a:prstGeom prst="borderCallout1">
            <a:avLst>
              <a:gd name="adj1" fmla="val 125632"/>
              <a:gd name="adj2" fmla="val 49105"/>
              <a:gd name="adj3" fmla="val 208198"/>
              <a:gd name="adj4" fmla="val 25995"/>
            </a:avLst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May not fit into memory</a:t>
            </a:r>
          </a:p>
        </p:txBody>
      </p:sp>
      <p:sp>
        <p:nvSpPr>
          <p:cNvPr id="32" name="Callout: Line 31">
            <a:extLst>
              <a:ext uri="{FF2B5EF4-FFF2-40B4-BE49-F238E27FC236}">
                <a16:creationId xmlns:a16="http://schemas.microsoft.com/office/drawing/2014/main" id="{3606F955-B0CE-47C7-9D75-A6DAB8C2FF62}"/>
              </a:ext>
            </a:extLst>
          </p:cNvPr>
          <p:cNvSpPr/>
          <p:nvPr/>
        </p:nvSpPr>
        <p:spPr>
          <a:xfrm>
            <a:off x="376146" y="3842193"/>
            <a:ext cx="1137941" cy="577407"/>
          </a:xfrm>
          <a:prstGeom prst="borderCallout1">
            <a:avLst>
              <a:gd name="adj1" fmla="val 101341"/>
              <a:gd name="adj2" fmla="val 77886"/>
              <a:gd name="adj3" fmla="val 117201"/>
              <a:gd name="adj4" fmla="val 10419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Easier to update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09154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D953D-281F-4935-A0C0-11F9AF397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Clustering </a:t>
            </a:r>
            <a:r>
              <a:rPr lang="en-CA" dirty="0" err="1"/>
              <a:t>v.s</a:t>
            </a:r>
            <a:r>
              <a:rPr lang="en-CA" dirty="0"/>
              <a:t>. non-clustering indexes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C1F06-E1D8-4DE4-B6D9-A0B8BFD1A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An index on attribute A of a relation is a </a:t>
            </a:r>
            <a:r>
              <a:rPr lang="en-US" sz="2000" dirty="0">
                <a:solidFill>
                  <a:schemeClr val="accent2"/>
                </a:solidFill>
              </a:rPr>
              <a:t>clustering </a:t>
            </a:r>
            <a:r>
              <a:rPr lang="en-US" sz="2000" dirty="0"/>
              <a:t>index if tuples in the relation with similar values for A are stored together in the same block.</a:t>
            </a:r>
          </a:p>
          <a:p>
            <a:r>
              <a:rPr lang="en-US" sz="2000" dirty="0"/>
              <a:t>Other indices are </a:t>
            </a:r>
            <a:r>
              <a:rPr lang="en-US" sz="2000" dirty="0">
                <a:solidFill>
                  <a:schemeClr val="accent2"/>
                </a:solidFill>
              </a:rPr>
              <a:t>non-clustering (or secondary) </a:t>
            </a:r>
            <a:r>
              <a:rPr lang="en-US" sz="2000" dirty="0"/>
              <a:t>indices.</a:t>
            </a:r>
          </a:p>
          <a:p>
            <a:r>
              <a:rPr lang="en-US" sz="2000" dirty="0"/>
              <a:t>Note: A relation may have </a:t>
            </a:r>
            <a:r>
              <a:rPr lang="en-US" sz="2000" dirty="0">
                <a:solidFill>
                  <a:schemeClr val="accent2"/>
                </a:solidFill>
              </a:rPr>
              <a:t>at most one clustering index</a:t>
            </a:r>
            <a:r>
              <a:rPr lang="en-US" sz="2000" dirty="0"/>
              <a:t>, and any number of </a:t>
            </a:r>
            <a:r>
              <a:rPr lang="en-CA" sz="2000" dirty="0"/>
              <a:t>non-clustering indices.</a:t>
            </a:r>
          </a:p>
          <a:p>
            <a:endParaRPr lang="en-CA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E3270-4540-43FD-9D30-F1ECFE047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689A426-D49A-4D38-8697-1A8B6BBE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502696"/>
              </p:ext>
            </p:extLst>
          </p:nvPr>
        </p:nvGraphicFramePr>
        <p:xfrm>
          <a:off x="5875158" y="3212022"/>
          <a:ext cx="1444943" cy="304800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30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Bart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Jessica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Lisa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Martin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Milhouse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Nelson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Ralph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Sherri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Terri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 err="1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Windel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A41AC4-239D-497D-A1BD-622B6B7C31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2569514"/>
              </p:ext>
            </p:extLst>
          </p:nvPr>
        </p:nvGraphicFramePr>
        <p:xfrm>
          <a:off x="1150758" y="3974022"/>
          <a:ext cx="762000" cy="914400"/>
        </p:xfrm>
        <a:graphic>
          <a:graphicData uri="http://schemas.openxmlformats.org/drawingml/2006/table">
            <a:tbl>
              <a:tblPr bandRow="1">
                <a:tableStyleId>{3C2FFA5D-87B4-456A-9821-1D502468CF0F}</a:tableStyleId>
              </a:tblPr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7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123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456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857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Box 12">
            <a:extLst>
              <a:ext uri="{FF2B5EF4-FFF2-40B4-BE49-F238E27FC236}">
                <a16:creationId xmlns:a16="http://schemas.microsoft.com/office/drawing/2014/main" id="{0301CF16-C0FE-476C-9854-4043B28985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354" y="4893185"/>
            <a:ext cx="142859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1800" dirty="0">
                <a:latin typeface="+mn-lt"/>
              </a:rPr>
              <a:t>Sparse index</a:t>
            </a:r>
            <a:br>
              <a:rPr kumimoji="0" lang="en-US" sz="1800" dirty="0">
                <a:latin typeface="+mn-lt"/>
              </a:rPr>
            </a:br>
            <a:r>
              <a:rPr kumimoji="0" lang="en-US" sz="1800" dirty="0">
                <a:latin typeface="+mn-lt"/>
              </a:rPr>
              <a:t>on </a:t>
            </a:r>
            <a:r>
              <a:rPr kumimoji="0" lang="en-US" sz="1800" i="1" dirty="0" err="1">
                <a:latin typeface="+mn-lt"/>
              </a:rPr>
              <a:t>uid</a:t>
            </a:r>
            <a:endParaRPr kumimoji="0" lang="en-US" sz="1800" i="1" dirty="0">
              <a:latin typeface="+mn-lt"/>
            </a:endParaRPr>
          </a:p>
        </p:txBody>
      </p:sp>
      <p:sp>
        <p:nvSpPr>
          <p:cNvPr id="8" name="Line 13">
            <a:extLst>
              <a:ext uri="{FF2B5EF4-FFF2-40B4-BE49-F238E27FC236}">
                <a16:creationId xmlns:a16="http://schemas.microsoft.com/office/drawing/2014/main" id="{E5C3E97D-9510-40C0-907E-E359F2E2E9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60358" y="3364422"/>
            <a:ext cx="914400" cy="8382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4">
            <a:extLst>
              <a:ext uri="{FF2B5EF4-FFF2-40B4-BE49-F238E27FC236}">
                <a16:creationId xmlns:a16="http://schemas.microsoft.com/office/drawing/2014/main" id="{284DB9F0-364B-406B-B0D4-319408C791EE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0358" y="4456622"/>
            <a:ext cx="914400" cy="1270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5">
            <a:extLst>
              <a:ext uri="{FF2B5EF4-FFF2-40B4-BE49-F238E27FC236}">
                <a16:creationId xmlns:a16="http://schemas.microsoft.com/office/drawing/2014/main" id="{BA08CCFE-E099-4D7D-B34D-FC95609B0F8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60358" y="4736022"/>
            <a:ext cx="914400" cy="11430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8">
            <a:extLst>
              <a:ext uri="{FF2B5EF4-FFF2-40B4-BE49-F238E27FC236}">
                <a16:creationId xmlns:a16="http://schemas.microsoft.com/office/drawing/2014/main" id="{C0BF3A14-B610-4B3A-9992-27BB15C7797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89358" y="3364422"/>
            <a:ext cx="838200" cy="3048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9">
            <a:extLst>
              <a:ext uri="{FF2B5EF4-FFF2-40B4-BE49-F238E27FC236}">
                <a16:creationId xmlns:a16="http://schemas.microsoft.com/office/drawing/2014/main" id="{93E22719-05AA-40FA-8ED3-8139C83D466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89358" y="3669222"/>
            <a:ext cx="838200" cy="3048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20">
            <a:extLst>
              <a:ext uri="{FF2B5EF4-FFF2-40B4-BE49-F238E27FC236}">
                <a16:creationId xmlns:a16="http://schemas.microsoft.com/office/drawing/2014/main" id="{DB94A763-1092-423C-972B-AA99F2B9303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89358" y="3974022"/>
            <a:ext cx="838200" cy="19812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Line 21">
            <a:extLst>
              <a:ext uri="{FF2B5EF4-FFF2-40B4-BE49-F238E27FC236}">
                <a16:creationId xmlns:a16="http://schemas.microsoft.com/office/drawing/2014/main" id="{95FF7EA1-E08E-4993-AD90-816103E7FE7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89358" y="4276134"/>
            <a:ext cx="838200" cy="45719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" name="Line 22">
            <a:extLst>
              <a:ext uri="{FF2B5EF4-FFF2-40B4-BE49-F238E27FC236}">
                <a16:creationId xmlns:a16="http://schemas.microsoft.com/office/drawing/2014/main" id="{AED3179F-60F5-452B-AF86-071633D04E0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189358" y="3364422"/>
            <a:ext cx="838200" cy="12700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" name="Line 23">
            <a:extLst>
              <a:ext uri="{FF2B5EF4-FFF2-40B4-BE49-F238E27FC236}">
                <a16:creationId xmlns:a16="http://schemas.microsoft.com/office/drawing/2014/main" id="{747C8571-76F2-4FCC-8437-E159D2D836E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89358" y="4926522"/>
            <a:ext cx="838200" cy="381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" name="Line 24">
            <a:extLst>
              <a:ext uri="{FF2B5EF4-FFF2-40B4-BE49-F238E27FC236}">
                <a16:creationId xmlns:a16="http://schemas.microsoft.com/office/drawing/2014/main" id="{F2A788E5-DAFE-47DE-8751-022354C9818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189358" y="4659822"/>
            <a:ext cx="838200" cy="5461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" name="Line 25">
            <a:extLst>
              <a:ext uri="{FF2B5EF4-FFF2-40B4-BE49-F238E27FC236}">
                <a16:creationId xmlns:a16="http://schemas.microsoft.com/office/drawing/2014/main" id="{1E05B108-FFFD-4264-A38F-B8EE8929625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189358" y="5269422"/>
            <a:ext cx="838200" cy="2159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" name="Line 26">
            <a:extLst>
              <a:ext uri="{FF2B5EF4-FFF2-40B4-BE49-F238E27FC236}">
                <a16:creationId xmlns:a16="http://schemas.microsoft.com/office/drawing/2014/main" id="{BEAFB935-D65C-4026-BA94-A78AFA89A3DC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189358" y="5574222"/>
            <a:ext cx="838200" cy="2032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" name="Line 27">
            <a:extLst>
              <a:ext uri="{FF2B5EF4-FFF2-40B4-BE49-F238E27FC236}">
                <a16:creationId xmlns:a16="http://schemas.microsoft.com/office/drawing/2014/main" id="{82A690B5-2E82-4E9E-BAA7-245F524A183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89358" y="6031422"/>
            <a:ext cx="838200" cy="228600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" name="Text Box 28">
            <a:extLst>
              <a:ext uri="{FF2B5EF4-FFF2-40B4-BE49-F238E27FC236}">
                <a16:creationId xmlns:a16="http://schemas.microsoft.com/office/drawing/2014/main" id="{E3547A09-2695-4005-A06E-1F396DDE96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9669" y="6257334"/>
            <a:ext cx="137890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1800" dirty="0">
                <a:latin typeface="+mn-lt"/>
              </a:rPr>
              <a:t>Dense index</a:t>
            </a:r>
            <a:br>
              <a:rPr kumimoji="0" lang="en-US" sz="1800" dirty="0">
                <a:latin typeface="+mn-lt"/>
              </a:rPr>
            </a:br>
            <a:r>
              <a:rPr kumimoji="0" lang="en-US" sz="1800" dirty="0">
                <a:latin typeface="+mn-lt"/>
              </a:rPr>
              <a:t>on </a:t>
            </a:r>
            <a:r>
              <a:rPr kumimoji="0" lang="en-US" sz="1800" i="1" dirty="0">
                <a:latin typeface="+mn-lt"/>
              </a:rPr>
              <a:t>name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44631EED-83FE-4850-AD4E-494F8D93D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171683"/>
              </p:ext>
            </p:extLst>
          </p:nvPr>
        </p:nvGraphicFramePr>
        <p:xfrm>
          <a:off x="2674758" y="3212022"/>
          <a:ext cx="2514600" cy="1219200"/>
        </p:xfrm>
        <a:graphic>
          <a:graphicData uri="http://schemas.openxmlformats.org/drawingml/2006/table">
            <a:tbl>
              <a:tblPr bandRow="1">
                <a:tableStyleId>{69C7853C-536D-4A76-A0AE-DD22124D55A5}</a:tableStyleId>
              </a:tblPr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7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2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123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Milhouse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0.2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142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Bart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0.9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279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Jessica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latin typeface="Prestige12 BT" panose="02070509030506020304" pitchFamily="49" charset="0"/>
                        </a:rPr>
                        <a:t>0.9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345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Martin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2.3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FF58CCCF-5620-4D8D-B8F4-5BE2E8898E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525646"/>
              </p:ext>
            </p:extLst>
          </p:nvPr>
        </p:nvGraphicFramePr>
        <p:xfrm>
          <a:off x="2674758" y="4507422"/>
          <a:ext cx="2514600" cy="1219200"/>
        </p:xfrm>
        <a:graphic>
          <a:graphicData uri="http://schemas.openxmlformats.org/drawingml/2006/table">
            <a:tbl>
              <a:tblPr bandRow="1">
                <a:tableStyleId>{69C7853C-536D-4A76-A0AE-DD22124D55A5}</a:tableStyleId>
              </a:tblPr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7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2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456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Ralph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0.3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512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Nelson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0.4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679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Sherri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0.6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697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Terri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0.6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4A1AA292-16E0-479D-B95C-2530198769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7996368"/>
              </p:ext>
            </p:extLst>
          </p:nvPr>
        </p:nvGraphicFramePr>
        <p:xfrm>
          <a:off x="2674758" y="5802822"/>
          <a:ext cx="2514600" cy="1219200"/>
        </p:xfrm>
        <a:graphic>
          <a:graphicData uri="http://schemas.openxmlformats.org/drawingml/2006/table">
            <a:tbl>
              <a:tblPr bandRow="1">
                <a:tableStyleId>{69C7853C-536D-4A76-A0AE-DD22124D55A5}</a:tableStyleId>
              </a:tblPr>
              <a:tblGrid>
                <a:gridCol w="503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7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2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32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857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Lisa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0.7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912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Windel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u="none" strike="noStrike" cap="none" normalizeH="0" baseline="0" dirty="0">
                          <a:ln>
                            <a:noFill/>
                          </a:ln>
                          <a:effectLst/>
                          <a:latin typeface="Prestige12 BT" panose="02070509030506020304" pitchFamily="49" charset="0"/>
                        </a:rPr>
                        <a:t>0.5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22"/>
                          </a:solidFill>
                          <a:effectLst/>
                          <a:latin typeface="Prestige12 BT" panose="02070509030506020304" pitchFamily="49" charset="0"/>
                        </a:rPr>
                        <a:t>997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22"/>
                          </a:solidFill>
                          <a:effectLst/>
                          <a:latin typeface="Prestige12 BT" panose="02070509030506020304" pitchFamily="49" charset="0"/>
                        </a:rPr>
                        <a:t>Jessica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22"/>
                          </a:solidFill>
                          <a:effectLst/>
                          <a:latin typeface="Prestige12 BT" panose="02070509030506020304" pitchFamily="49" charset="0"/>
                        </a:rPr>
                        <a:t>8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22"/>
                          </a:solidFill>
                          <a:effectLst/>
                          <a:latin typeface="Prestige12 BT" panose="02070509030506020304" pitchFamily="49" charset="0"/>
                        </a:rPr>
                        <a:t>0.5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22"/>
                        </a:solidFill>
                        <a:effectLst/>
                        <a:latin typeface="Prestige12 BT" panose="02070509030506020304" pitchFamily="49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Line 19">
            <a:extLst>
              <a:ext uri="{FF2B5EF4-FFF2-40B4-BE49-F238E27FC236}">
                <a16:creationId xmlns:a16="http://schemas.microsoft.com/office/drawing/2014/main" id="{0F4F5092-E99A-4032-B3C2-D8F37BCC6AC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89358" y="3669221"/>
            <a:ext cx="838200" cy="2900681"/>
          </a:xfrm>
          <a:prstGeom prst="line">
            <a:avLst/>
          </a:prstGeom>
          <a:noFill/>
          <a:ln w="25400">
            <a:solidFill>
              <a:schemeClr val="accent5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118DAE6-FF16-484B-A021-5C4650132B83}"/>
              </a:ext>
            </a:extLst>
          </p:cNvPr>
          <p:cNvSpPr/>
          <p:nvPr/>
        </p:nvSpPr>
        <p:spPr>
          <a:xfrm>
            <a:off x="5753238" y="3421424"/>
            <a:ext cx="548640" cy="548640"/>
          </a:xfrm>
          <a:prstGeom prst="ellipse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 Box 12">
            <a:extLst>
              <a:ext uri="{FF2B5EF4-FFF2-40B4-BE49-F238E27FC236}">
                <a16:creationId xmlns:a16="http://schemas.microsoft.com/office/drawing/2014/main" id="{A0946D6F-248A-4A8A-90D1-EF6C1B1BD5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795" y="5897103"/>
            <a:ext cx="192392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1800" dirty="0">
                <a:solidFill>
                  <a:schemeClr val="accent2"/>
                </a:solidFill>
                <a:latin typeface="+mn-lt"/>
              </a:rPr>
              <a:t>A clustering index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1800" i="1" dirty="0">
                <a:solidFill>
                  <a:schemeClr val="accent2"/>
                </a:solidFill>
                <a:latin typeface="+mn-lt"/>
              </a:rPr>
              <a:t>on </a:t>
            </a:r>
            <a:r>
              <a:rPr kumimoji="0" lang="en-US" sz="1800" i="1" dirty="0" err="1">
                <a:solidFill>
                  <a:schemeClr val="accent2"/>
                </a:solidFill>
                <a:latin typeface="+mn-lt"/>
              </a:rPr>
              <a:t>uid</a:t>
            </a:r>
            <a:endParaRPr kumimoji="0" lang="en-US" sz="1800" i="1" dirty="0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28" name="Text Box 12">
            <a:extLst>
              <a:ext uri="{FF2B5EF4-FFF2-40B4-BE49-F238E27FC236}">
                <a16:creationId xmlns:a16="http://schemas.microsoft.com/office/drawing/2014/main" id="{AF11B506-E58E-48D1-9C22-E8B2A7F25A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78140" y="5684057"/>
            <a:ext cx="1630575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1800" dirty="0">
                <a:solidFill>
                  <a:schemeClr val="accent2"/>
                </a:solidFill>
                <a:latin typeface="+mn-lt"/>
              </a:rPr>
              <a:t>A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1800" dirty="0">
                <a:solidFill>
                  <a:schemeClr val="accent2"/>
                </a:solidFill>
                <a:latin typeface="+mn-lt"/>
              </a:rPr>
              <a:t>non-clustering </a:t>
            </a:r>
            <a:br>
              <a:rPr kumimoji="0" lang="en-US" sz="1800" dirty="0">
                <a:solidFill>
                  <a:schemeClr val="accent2"/>
                </a:solidFill>
                <a:latin typeface="+mn-lt"/>
              </a:rPr>
            </a:br>
            <a:r>
              <a:rPr kumimoji="0" lang="en-US" sz="1800" dirty="0">
                <a:solidFill>
                  <a:schemeClr val="accent2"/>
                </a:solidFill>
                <a:latin typeface="+mn-lt"/>
              </a:rPr>
              <a:t>index on name</a:t>
            </a:r>
            <a:endParaRPr kumimoji="0" lang="en-US" sz="1800" i="1" dirty="0">
              <a:solidFill>
                <a:schemeClr val="accent2"/>
              </a:solidFill>
              <a:latin typeface="+mn-lt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9323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and secondary indexes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solidFill>
                  <a:schemeClr val="accent2"/>
                </a:solidFill>
              </a:rPr>
              <a:t>Primary index</a:t>
            </a:r>
          </a:p>
          <a:p>
            <a:pPr lvl="1"/>
            <a:r>
              <a:rPr lang="en-US" dirty="0"/>
              <a:t>Created for the </a:t>
            </a:r>
            <a:r>
              <a:rPr lang="en-US" dirty="0">
                <a:solidFill>
                  <a:schemeClr val="accent2"/>
                </a:solidFill>
              </a:rPr>
              <a:t>primary key</a:t>
            </a:r>
            <a:r>
              <a:rPr lang="en-US" dirty="0"/>
              <a:t> of a table</a:t>
            </a:r>
          </a:p>
          <a:p>
            <a:pPr lvl="1"/>
            <a:r>
              <a:rPr lang="en-US" dirty="0"/>
              <a:t>Records are usually clustered by the primary key</a:t>
            </a:r>
          </a:p>
          <a:p>
            <a:pPr lvl="1"/>
            <a:r>
              <a:rPr lang="en-US" dirty="0"/>
              <a:t>Clustering index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sparse</a:t>
            </a:r>
          </a:p>
          <a:p>
            <a:r>
              <a:rPr lang="en-US" dirty="0">
                <a:solidFill>
                  <a:schemeClr val="accent2"/>
                </a:solidFill>
              </a:rPr>
              <a:t>Secondary index</a:t>
            </a:r>
          </a:p>
          <a:p>
            <a:pPr lvl="1"/>
            <a:r>
              <a:rPr lang="en-US" dirty="0"/>
              <a:t>Non-clustering index, usually dense (to find each search key value, since records are not clustered by this search key)</a:t>
            </a:r>
          </a:p>
          <a:p>
            <a:r>
              <a:rPr lang="en-US" dirty="0"/>
              <a:t>SQL</a:t>
            </a:r>
          </a:p>
          <a:p>
            <a:pPr lvl="1"/>
            <a:r>
              <a:rPr lang="en-US" dirty="0">
                <a:latin typeface="Prestige12 BT" panose="02070509030506020304" pitchFamily="49" charset="0"/>
              </a:rPr>
              <a:t>PRIMARY</a:t>
            </a:r>
            <a:r>
              <a:rPr lang="en-US" dirty="0"/>
              <a:t> </a:t>
            </a:r>
            <a:r>
              <a:rPr lang="en-US" dirty="0">
                <a:latin typeface="Prestige12 BT" panose="02070509030506020304" pitchFamily="49" charset="0"/>
              </a:rPr>
              <a:t>KEY</a:t>
            </a:r>
            <a:r>
              <a:rPr lang="en-US" dirty="0"/>
              <a:t> declaration automatically creates a primary index, </a:t>
            </a:r>
            <a:r>
              <a:rPr lang="en-US" dirty="0">
                <a:latin typeface="Prestige12 BT" panose="02070509030506020304" pitchFamily="49" charset="0"/>
              </a:rPr>
              <a:t>UNIQUE</a:t>
            </a:r>
            <a:r>
              <a:rPr lang="en-US" dirty="0"/>
              <a:t> key automatically creates a secondary index</a:t>
            </a:r>
          </a:p>
          <a:p>
            <a:pPr lvl="1"/>
            <a:r>
              <a:rPr lang="en-US" dirty="0"/>
              <a:t>Additional secondary index can be created on non-key attribute(s):</a:t>
            </a:r>
            <a:br>
              <a:rPr lang="en-US" dirty="0"/>
            </a:b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CREATE INDEX</a:t>
            </a:r>
            <a:r>
              <a:rPr lang="en-US" dirty="0">
                <a:latin typeface="Prestige12 BT" panose="02070509030506020304" pitchFamily="49" charset="0"/>
              </a:rPr>
              <a:t> </a:t>
            </a:r>
            <a:r>
              <a:rPr lang="en-US" dirty="0" err="1">
                <a:latin typeface="Prestige12 BT" panose="02070509030506020304" pitchFamily="49" charset="0"/>
              </a:rPr>
              <a:t>UserPopIndex</a:t>
            </a:r>
            <a:r>
              <a:rPr lang="en-US" dirty="0">
                <a:latin typeface="Prestige12 BT" panose="02070509030506020304" pitchFamily="49" charset="0"/>
              </a:rPr>
              <a:t> 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ON</a:t>
            </a:r>
            <a:r>
              <a:rPr lang="en-US" dirty="0">
                <a:latin typeface="Prestige12 BT" panose="02070509030506020304" pitchFamily="49" charset="0"/>
              </a:rPr>
              <a:t> User(pop);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7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41989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AFE84-15BB-4641-B08B-ED11C52B5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A0365-D795-4F14-B32C-4EC6AC926C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Types of indexes</a:t>
            </a:r>
          </a:p>
          <a:p>
            <a:pPr lvl="1"/>
            <a:r>
              <a:rPr lang="en-CA" dirty="0"/>
              <a:t>Sparse </a:t>
            </a:r>
            <a:r>
              <a:rPr lang="en-CA" dirty="0" err="1"/>
              <a:t>v.s</a:t>
            </a:r>
            <a:r>
              <a:rPr lang="en-CA" dirty="0"/>
              <a:t>. dense</a:t>
            </a:r>
          </a:p>
          <a:p>
            <a:pPr lvl="1"/>
            <a:r>
              <a:rPr lang="en-CA" dirty="0"/>
              <a:t>Clustering </a:t>
            </a:r>
            <a:r>
              <a:rPr lang="en-CA" dirty="0" err="1"/>
              <a:t>v.s</a:t>
            </a:r>
            <a:r>
              <a:rPr lang="en-CA" dirty="0"/>
              <a:t>. non-clustering</a:t>
            </a:r>
          </a:p>
          <a:p>
            <a:pPr lvl="1"/>
            <a:r>
              <a:rPr lang="en-CA" dirty="0"/>
              <a:t>Primary </a:t>
            </a:r>
            <a:r>
              <a:rPr lang="en-CA" dirty="0" err="1"/>
              <a:t>v.s</a:t>
            </a:r>
            <a:r>
              <a:rPr lang="en-CA" dirty="0"/>
              <a:t>. secondary </a:t>
            </a:r>
          </a:p>
          <a:p>
            <a:pPr lvl="1"/>
            <a:endParaRPr lang="en-CA" dirty="0"/>
          </a:p>
          <a:p>
            <a:r>
              <a:rPr lang="en-CA" dirty="0"/>
              <a:t>Index structure</a:t>
            </a:r>
          </a:p>
          <a:p>
            <a:pPr lvl="1"/>
            <a:endParaRPr lang="en-CA" dirty="0"/>
          </a:p>
          <a:p>
            <a:r>
              <a:rPr lang="en-CA" dirty="0"/>
              <a:t>How to use index</a:t>
            </a:r>
          </a:p>
          <a:p>
            <a:pPr lvl="1"/>
            <a:endParaRPr lang="en-CA" dirty="0"/>
          </a:p>
          <a:p>
            <a:endParaRPr lang="en-CA" dirty="0"/>
          </a:p>
          <a:p>
            <a:pPr lvl="1"/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A1CC6D-EC7E-4B08-99A5-F7415105B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8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1054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if an index is still too big?</a:t>
            </a:r>
          </a:p>
          <a:p>
            <a:pPr lvl="1"/>
            <a:r>
              <a:rPr lang="en-US" dirty="0"/>
              <a:t>Put a another (sparse) index on top of that!</a:t>
            </a:r>
          </a:p>
          <a:p>
            <a:pPr lvl="1">
              <a:buFont typeface="Wingdings" pitchFamily="2" charset="2"/>
              <a:buChar char="F"/>
            </a:pPr>
            <a:r>
              <a:rPr lang="en-US" dirty="0">
                <a:solidFill>
                  <a:schemeClr val="accent2"/>
                </a:solidFill>
              </a:rPr>
              <a:t>ISAM</a:t>
            </a:r>
            <a:r>
              <a:rPr lang="en-US" dirty="0"/>
              <a:t> (</a:t>
            </a:r>
            <a:r>
              <a:rPr lang="en-US" dirty="0">
                <a:solidFill>
                  <a:schemeClr val="accent2"/>
                </a:solidFill>
              </a:rPr>
              <a:t>Index Sequential Access Method</a:t>
            </a:r>
            <a:r>
              <a:rPr lang="en-US" dirty="0"/>
              <a:t>), more or less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9</a:t>
            </a:fld>
            <a:endParaRPr lang="en-US"/>
          </a:p>
        </p:txBody>
      </p:sp>
      <p:grpSp>
        <p:nvGrpSpPr>
          <p:cNvPr id="5" name="Group 37"/>
          <p:cNvGrpSpPr>
            <a:grpSpLocks/>
          </p:cNvGrpSpPr>
          <p:nvPr/>
        </p:nvGrpSpPr>
        <p:grpSpPr bwMode="auto">
          <a:xfrm>
            <a:off x="2209800" y="3581400"/>
            <a:ext cx="4572000" cy="914400"/>
            <a:chOff x="1392" y="2256"/>
            <a:chExt cx="2880" cy="576"/>
          </a:xfrm>
        </p:grpSpPr>
        <p:sp>
          <p:nvSpPr>
            <p:cNvPr id="6" name="Rectangle 15"/>
            <p:cNvSpPr>
              <a:spLocks noChangeArrowheads="1"/>
            </p:cNvSpPr>
            <p:nvPr/>
          </p:nvSpPr>
          <p:spPr bwMode="auto">
            <a:xfrm>
              <a:off x="2688" y="2256"/>
              <a:ext cx="1248" cy="288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100, 200, …, 901</a:t>
              </a:r>
            </a:p>
          </p:txBody>
        </p:sp>
        <p:sp>
          <p:nvSpPr>
            <p:cNvPr id="7" name="Line 16"/>
            <p:cNvSpPr>
              <a:spLocks noChangeShapeType="1"/>
            </p:cNvSpPr>
            <p:nvPr/>
          </p:nvSpPr>
          <p:spPr bwMode="auto">
            <a:xfrm flipH="1">
              <a:off x="1392" y="2496"/>
              <a:ext cx="1488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Line 17"/>
            <p:cNvSpPr>
              <a:spLocks noChangeShapeType="1"/>
            </p:cNvSpPr>
            <p:nvPr/>
          </p:nvSpPr>
          <p:spPr bwMode="auto">
            <a:xfrm>
              <a:off x="3792" y="2496"/>
              <a:ext cx="480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Line 32"/>
            <p:cNvSpPr>
              <a:spLocks noChangeShapeType="1"/>
            </p:cNvSpPr>
            <p:nvPr/>
          </p:nvSpPr>
          <p:spPr bwMode="auto">
            <a:xfrm flipH="1">
              <a:off x="2832" y="2496"/>
              <a:ext cx="384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36"/>
          <p:cNvGrpSpPr>
            <a:grpSpLocks/>
          </p:cNvGrpSpPr>
          <p:nvPr/>
        </p:nvGrpSpPr>
        <p:grpSpPr bwMode="auto">
          <a:xfrm>
            <a:off x="381000" y="4479928"/>
            <a:ext cx="7696200" cy="930275"/>
            <a:chOff x="240" y="2822"/>
            <a:chExt cx="4848" cy="586"/>
          </a:xfrm>
        </p:grpSpPr>
        <p:sp>
          <p:nvSpPr>
            <p:cNvPr id="11" name="Rectangle 19"/>
            <p:cNvSpPr>
              <a:spLocks noChangeArrowheads="1"/>
            </p:cNvSpPr>
            <p:nvPr/>
          </p:nvSpPr>
          <p:spPr bwMode="auto">
            <a:xfrm>
              <a:off x="1392" y="2832"/>
              <a:ext cx="1200" cy="288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100, 123, …, 192</a:t>
              </a:r>
            </a:p>
          </p:txBody>
        </p:sp>
        <p:sp>
          <p:nvSpPr>
            <p:cNvPr id="12" name="Rectangle 20"/>
            <p:cNvSpPr>
              <a:spLocks noChangeArrowheads="1"/>
            </p:cNvSpPr>
            <p:nvPr/>
          </p:nvSpPr>
          <p:spPr bwMode="auto">
            <a:xfrm>
              <a:off x="4224" y="2832"/>
              <a:ext cx="864" cy="288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901, …, 996</a:t>
              </a:r>
            </a:p>
          </p:txBody>
        </p:sp>
        <p:sp>
          <p:nvSpPr>
            <p:cNvPr id="13" name="Text Box 21"/>
            <p:cNvSpPr txBox="1">
              <a:spLocks noChangeArrowheads="1"/>
            </p:cNvSpPr>
            <p:nvPr/>
          </p:nvSpPr>
          <p:spPr bwMode="auto">
            <a:xfrm>
              <a:off x="3840" y="2858"/>
              <a:ext cx="184" cy="1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solidFill>
                    <a:schemeClr val="tx2"/>
                  </a:solidFill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14" name="Line 22"/>
            <p:cNvSpPr>
              <a:spLocks noChangeShapeType="1"/>
            </p:cNvSpPr>
            <p:nvPr/>
          </p:nvSpPr>
          <p:spPr bwMode="auto">
            <a:xfrm flipH="1">
              <a:off x="240" y="3072"/>
              <a:ext cx="1296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Line 23"/>
            <p:cNvSpPr>
              <a:spLocks noChangeShapeType="1"/>
            </p:cNvSpPr>
            <p:nvPr/>
          </p:nvSpPr>
          <p:spPr bwMode="auto">
            <a:xfrm flipH="1">
              <a:off x="1008" y="3072"/>
              <a:ext cx="864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ine 24"/>
            <p:cNvSpPr>
              <a:spLocks noChangeShapeType="1"/>
            </p:cNvSpPr>
            <p:nvPr/>
          </p:nvSpPr>
          <p:spPr bwMode="auto">
            <a:xfrm flipH="1">
              <a:off x="2016" y="3072"/>
              <a:ext cx="480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Line 25"/>
            <p:cNvSpPr>
              <a:spLocks noChangeShapeType="1"/>
            </p:cNvSpPr>
            <p:nvPr/>
          </p:nvSpPr>
          <p:spPr bwMode="auto">
            <a:xfrm flipH="1">
              <a:off x="3840" y="3072"/>
              <a:ext cx="576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Line 26"/>
            <p:cNvSpPr>
              <a:spLocks noChangeShapeType="1"/>
            </p:cNvSpPr>
            <p:nvPr/>
          </p:nvSpPr>
          <p:spPr bwMode="auto">
            <a:xfrm flipH="1">
              <a:off x="4800" y="3072"/>
              <a:ext cx="144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 Box 27"/>
            <p:cNvSpPr txBox="1">
              <a:spLocks noChangeArrowheads="1"/>
            </p:cNvSpPr>
            <p:nvPr/>
          </p:nvSpPr>
          <p:spPr bwMode="auto">
            <a:xfrm>
              <a:off x="315" y="2822"/>
              <a:ext cx="974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2000" dirty="0">
                  <a:latin typeface="+mn-lt"/>
                </a:rPr>
                <a:t>Index blocks</a:t>
              </a:r>
            </a:p>
          </p:txBody>
        </p:sp>
        <p:sp>
          <p:nvSpPr>
            <p:cNvPr id="20" name="Rectangle 31"/>
            <p:cNvSpPr>
              <a:spLocks noChangeArrowheads="1"/>
            </p:cNvSpPr>
            <p:nvPr/>
          </p:nvSpPr>
          <p:spPr bwMode="auto">
            <a:xfrm>
              <a:off x="2832" y="2832"/>
              <a:ext cx="864" cy="288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1400">
                  <a:latin typeface="Prestige12 BT" panose="02070509030506020304" pitchFamily="49" charset="0"/>
                </a:rPr>
                <a:t>200, …    </a:t>
              </a:r>
            </a:p>
          </p:txBody>
        </p:sp>
        <p:sp>
          <p:nvSpPr>
            <p:cNvPr id="21" name="Line 33"/>
            <p:cNvSpPr>
              <a:spLocks noChangeShapeType="1"/>
            </p:cNvSpPr>
            <p:nvPr/>
          </p:nvSpPr>
          <p:spPr bwMode="auto">
            <a:xfrm flipH="1">
              <a:off x="2784" y="3072"/>
              <a:ext cx="288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2" name="Group 35"/>
          <p:cNvGrpSpPr>
            <a:grpSpLocks/>
          </p:cNvGrpSpPr>
          <p:nvPr/>
        </p:nvGrpSpPr>
        <p:grpSpPr bwMode="auto">
          <a:xfrm>
            <a:off x="381000" y="5410200"/>
            <a:ext cx="8382000" cy="1146175"/>
            <a:chOff x="240" y="3408"/>
            <a:chExt cx="5280" cy="722"/>
          </a:xfrm>
        </p:grpSpPr>
        <p:sp>
          <p:nvSpPr>
            <p:cNvPr id="23" name="Rectangle 5"/>
            <p:cNvSpPr>
              <a:spLocks noChangeArrowheads="1"/>
            </p:cNvSpPr>
            <p:nvPr/>
          </p:nvSpPr>
          <p:spPr bwMode="auto">
            <a:xfrm>
              <a:off x="240" y="3408"/>
              <a:ext cx="720" cy="43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100, 108,</a:t>
              </a:r>
              <a:br>
                <a:rPr kumimoji="0" lang="en-US" sz="1400" dirty="0">
                  <a:latin typeface="Prestige12 BT" panose="02070509030506020304" pitchFamily="49" charset="0"/>
                </a:rPr>
              </a:br>
              <a:r>
                <a:rPr kumimoji="0" lang="en-US" sz="1400" dirty="0">
                  <a:latin typeface="Prestige12 BT" panose="02070509030506020304" pitchFamily="49" charset="0"/>
                </a:rPr>
                <a:t>119, 121</a:t>
              </a:r>
            </a:p>
          </p:txBody>
        </p:sp>
        <p:sp>
          <p:nvSpPr>
            <p:cNvPr id="24" name="Rectangle 6"/>
            <p:cNvSpPr>
              <a:spLocks noChangeArrowheads="1"/>
            </p:cNvSpPr>
            <p:nvPr/>
          </p:nvSpPr>
          <p:spPr bwMode="auto">
            <a:xfrm>
              <a:off x="1008" y="3408"/>
              <a:ext cx="720" cy="43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>
                  <a:latin typeface="Prestige12 BT" panose="02070509030506020304" pitchFamily="49" charset="0"/>
                </a:rPr>
                <a:t>123, 129,</a:t>
              </a:r>
              <a:br>
                <a:rPr kumimoji="0" lang="en-US" sz="1400">
                  <a:latin typeface="Prestige12 BT" panose="02070509030506020304" pitchFamily="49" charset="0"/>
                </a:rPr>
              </a:br>
              <a:r>
                <a:rPr kumimoji="0" lang="en-US" sz="140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25" name="Rectangle 7"/>
            <p:cNvSpPr>
              <a:spLocks noChangeArrowheads="1"/>
            </p:cNvSpPr>
            <p:nvPr/>
          </p:nvSpPr>
          <p:spPr bwMode="auto">
            <a:xfrm>
              <a:off x="3848" y="3408"/>
              <a:ext cx="720" cy="43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>
                  <a:latin typeface="Prestige12 BT" panose="02070509030506020304" pitchFamily="49" charset="0"/>
                </a:rPr>
                <a:t>901, 907,</a:t>
              </a:r>
              <a:br>
                <a:rPr kumimoji="0" lang="en-US" sz="1400">
                  <a:latin typeface="Prestige12 BT" panose="02070509030506020304" pitchFamily="49" charset="0"/>
                </a:rPr>
              </a:br>
              <a:r>
                <a:rPr kumimoji="0" lang="en-US" sz="140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26" name="Rectangle 8"/>
            <p:cNvSpPr>
              <a:spLocks noChangeArrowheads="1"/>
            </p:cNvSpPr>
            <p:nvPr/>
          </p:nvSpPr>
          <p:spPr bwMode="auto">
            <a:xfrm>
              <a:off x="4800" y="3408"/>
              <a:ext cx="720" cy="43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>
                  <a:latin typeface="Prestige12 BT" panose="02070509030506020304" pitchFamily="49" charset="0"/>
                </a:rPr>
                <a:t>996, 997,</a:t>
              </a:r>
              <a:br>
                <a:rPr kumimoji="0" lang="en-US" sz="1400">
                  <a:latin typeface="Prestige12 BT" panose="02070509030506020304" pitchFamily="49" charset="0"/>
                </a:rPr>
              </a:br>
              <a:r>
                <a:rPr kumimoji="0" lang="en-US" sz="140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27" name="Text Box 9"/>
            <p:cNvSpPr txBox="1">
              <a:spLocks noChangeArrowheads="1"/>
            </p:cNvSpPr>
            <p:nvPr/>
          </p:nvSpPr>
          <p:spPr bwMode="auto">
            <a:xfrm>
              <a:off x="1773" y="3537"/>
              <a:ext cx="184" cy="194"/>
            </a:xfrm>
            <a:prstGeom prst="rect">
              <a:avLst/>
            </a:prstGeom>
            <a:noFill/>
            <a:ln w="25400">
              <a:noFill/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28" name="Text Box 10"/>
            <p:cNvSpPr txBox="1">
              <a:spLocks noChangeArrowheads="1"/>
            </p:cNvSpPr>
            <p:nvPr/>
          </p:nvSpPr>
          <p:spPr bwMode="auto">
            <a:xfrm>
              <a:off x="3566" y="3537"/>
              <a:ext cx="184" cy="194"/>
            </a:xfrm>
            <a:prstGeom prst="rect">
              <a:avLst/>
            </a:prstGeom>
            <a:noFill/>
            <a:ln w="25400">
              <a:noFill/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29" name="Text Box 11"/>
            <p:cNvSpPr txBox="1">
              <a:spLocks noChangeArrowheads="1"/>
            </p:cNvSpPr>
            <p:nvPr/>
          </p:nvSpPr>
          <p:spPr bwMode="auto">
            <a:xfrm>
              <a:off x="4607" y="3537"/>
              <a:ext cx="184" cy="194"/>
            </a:xfrm>
            <a:prstGeom prst="rect">
              <a:avLst/>
            </a:prstGeom>
            <a:noFill/>
            <a:ln w="25400">
              <a:noFill/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30" name="Text Box 12"/>
            <p:cNvSpPr txBox="1">
              <a:spLocks noChangeArrowheads="1"/>
            </p:cNvSpPr>
            <p:nvPr/>
          </p:nvSpPr>
          <p:spPr bwMode="auto">
            <a:xfrm>
              <a:off x="2352" y="3878"/>
              <a:ext cx="909" cy="252"/>
            </a:xfrm>
            <a:prstGeom prst="rect">
              <a:avLst/>
            </a:prstGeom>
            <a:noFill/>
            <a:ln w="25400">
              <a:noFill/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2000" dirty="0">
                  <a:latin typeface="+mn-lt"/>
                </a:rPr>
                <a:t>Data blocks</a:t>
              </a:r>
            </a:p>
          </p:txBody>
        </p:sp>
        <p:sp>
          <p:nvSpPr>
            <p:cNvPr id="31" name="Rectangle 13"/>
            <p:cNvSpPr>
              <a:spLocks noChangeArrowheads="1"/>
            </p:cNvSpPr>
            <p:nvPr/>
          </p:nvSpPr>
          <p:spPr bwMode="auto">
            <a:xfrm>
              <a:off x="2016" y="3408"/>
              <a:ext cx="720" cy="43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>
                  <a:latin typeface="Prestige12 BT" panose="02070509030506020304" pitchFamily="49" charset="0"/>
                </a:rPr>
                <a:t>192, 197,</a:t>
              </a:r>
              <a:br>
                <a:rPr kumimoji="0" lang="en-US" sz="1400">
                  <a:latin typeface="Prestige12 BT" panose="02070509030506020304" pitchFamily="49" charset="0"/>
                </a:rPr>
              </a:br>
              <a:r>
                <a:rPr kumimoji="0" lang="en-US" sz="140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32" name="Rectangle 34"/>
            <p:cNvSpPr>
              <a:spLocks noChangeArrowheads="1"/>
            </p:cNvSpPr>
            <p:nvPr/>
          </p:nvSpPr>
          <p:spPr bwMode="auto">
            <a:xfrm>
              <a:off x="2784" y="3408"/>
              <a:ext cx="720" cy="43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200, 202,</a:t>
              </a:r>
              <a:br>
                <a:rPr kumimoji="0" lang="en-US" sz="1400" dirty="0">
                  <a:latin typeface="Prestige12 BT" panose="02070509030506020304" pitchFamily="49" charset="0"/>
                </a:rPr>
              </a:br>
              <a:r>
                <a:rPr kumimoji="0" lang="en-US" sz="1400" dirty="0">
                  <a:latin typeface="Prestige12 BT" panose="02070509030506020304" pitchFamily="49" charset="0"/>
                </a:rPr>
                <a:t>…</a:t>
              </a:r>
            </a:p>
          </p:txBody>
        </p:sp>
      </p:grpSp>
      <p:sp>
        <p:nvSpPr>
          <p:cNvPr id="33" name="Text Box 38"/>
          <p:cNvSpPr txBox="1">
            <a:spLocks noChangeArrowheads="1"/>
          </p:cNvSpPr>
          <p:nvPr/>
        </p:nvSpPr>
        <p:spPr bwMode="auto">
          <a:xfrm>
            <a:off x="519113" y="3200400"/>
            <a:ext cx="304121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dirty="0">
                <a:solidFill>
                  <a:schemeClr val="accent5"/>
                </a:solidFill>
                <a:latin typeface="+mn-lt"/>
              </a:rPr>
              <a:t>Example: look up </a:t>
            </a:r>
            <a:r>
              <a:rPr lang="en-US" dirty="0">
                <a:solidFill>
                  <a:schemeClr val="accent5"/>
                </a:solidFill>
                <a:latin typeface="Prestige12 BT" panose="02070509030506020304" pitchFamily="49" charset="0"/>
              </a:rPr>
              <a:t>197</a:t>
            </a:r>
          </a:p>
        </p:txBody>
      </p:sp>
      <p:sp>
        <p:nvSpPr>
          <p:cNvPr id="34" name="Line 39"/>
          <p:cNvSpPr>
            <a:spLocks noChangeShapeType="1"/>
          </p:cNvSpPr>
          <p:nvPr/>
        </p:nvSpPr>
        <p:spPr bwMode="auto">
          <a:xfrm flipH="1">
            <a:off x="2206077" y="3962397"/>
            <a:ext cx="2362200" cy="53340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" name="Line 40"/>
          <p:cNvSpPr>
            <a:spLocks noChangeShapeType="1"/>
          </p:cNvSpPr>
          <p:nvPr/>
        </p:nvSpPr>
        <p:spPr bwMode="auto">
          <a:xfrm flipH="1">
            <a:off x="3200400" y="4876803"/>
            <a:ext cx="762000" cy="53340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87158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utoUpdateAnimBg="0"/>
      <p:bldP spid="34" grpId="0" animBg="1"/>
      <p:bldP spid="3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Updates with ISAM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336" y="4998088"/>
            <a:ext cx="8173014" cy="1723387"/>
          </a:xfrm>
        </p:spPr>
        <p:txBody>
          <a:bodyPr/>
          <a:lstStyle/>
          <a:p>
            <a:r>
              <a:rPr lang="en-US" dirty="0"/>
              <a:t>Overflow chains and empty data blocks degrade performance</a:t>
            </a:r>
          </a:p>
          <a:p>
            <a:pPr lvl="1"/>
            <a:r>
              <a:rPr lang="en-US" dirty="0"/>
              <a:t>Worst case: most records go into one long chain, so lookups require scanning all data!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10</a:t>
            </a:fld>
            <a:endParaRPr lang="en-US"/>
          </a:p>
        </p:txBody>
      </p:sp>
      <p:grpSp>
        <p:nvGrpSpPr>
          <p:cNvPr id="5" name="Group 37"/>
          <p:cNvGrpSpPr>
            <a:grpSpLocks/>
          </p:cNvGrpSpPr>
          <p:nvPr/>
        </p:nvGrpSpPr>
        <p:grpSpPr bwMode="auto">
          <a:xfrm>
            <a:off x="2254135" y="1508760"/>
            <a:ext cx="4572000" cy="914400"/>
            <a:chOff x="1392" y="2256"/>
            <a:chExt cx="2880" cy="576"/>
          </a:xfrm>
        </p:grpSpPr>
        <p:sp>
          <p:nvSpPr>
            <p:cNvPr id="6" name="Rectangle 15"/>
            <p:cNvSpPr>
              <a:spLocks noChangeArrowheads="1"/>
            </p:cNvSpPr>
            <p:nvPr/>
          </p:nvSpPr>
          <p:spPr bwMode="auto">
            <a:xfrm>
              <a:off x="2688" y="2256"/>
              <a:ext cx="1248" cy="288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100, 200, …, 901</a:t>
              </a:r>
            </a:p>
          </p:txBody>
        </p:sp>
        <p:sp>
          <p:nvSpPr>
            <p:cNvPr id="7" name="Line 16"/>
            <p:cNvSpPr>
              <a:spLocks noChangeShapeType="1"/>
            </p:cNvSpPr>
            <p:nvPr/>
          </p:nvSpPr>
          <p:spPr bwMode="auto">
            <a:xfrm flipH="1">
              <a:off x="1392" y="2496"/>
              <a:ext cx="1488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Line 17"/>
            <p:cNvSpPr>
              <a:spLocks noChangeShapeType="1"/>
            </p:cNvSpPr>
            <p:nvPr/>
          </p:nvSpPr>
          <p:spPr bwMode="auto">
            <a:xfrm>
              <a:off x="3792" y="2496"/>
              <a:ext cx="480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Line 32"/>
            <p:cNvSpPr>
              <a:spLocks noChangeShapeType="1"/>
            </p:cNvSpPr>
            <p:nvPr/>
          </p:nvSpPr>
          <p:spPr bwMode="auto">
            <a:xfrm flipH="1">
              <a:off x="2832" y="2496"/>
              <a:ext cx="384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36"/>
          <p:cNvGrpSpPr>
            <a:grpSpLocks/>
          </p:cNvGrpSpPr>
          <p:nvPr/>
        </p:nvGrpSpPr>
        <p:grpSpPr bwMode="auto">
          <a:xfrm>
            <a:off x="425335" y="2407288"/>
            <a:ext cx="7696200" cy="930275"/>
            <a:chOff x="240" y="2822"/>
            <a:chExt cx="4848" cy="586"/>
          </a:xfrm>
        </p:grpSpPr>
        <p:sp>
          <p:nvSpPr>
            <p:cNvPr id="11" name="Rectangle 19"/>
            <p:cNvSpPr>
              <a:spLocks noChangeArrowheads="1"/>
            </p:cNvSpPr>
            <p:nvPr/>
          </p:nvSpPr>
          <p:spPr bwMode="auto">
            <a:xfrm>
              <a:off x="1392" y="2832"/>
              <a:ext cx="1200" cy="288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100, 123, …, 192</a:t>
              </a:r>
            </a:p>
          </p:txBody>
        </p:sp>
        <p:sp>
          <p:nvSpPr>
            <p:cNvPr id="12" name="Rectangle 20"/>
            <p:cNvSpPr>
              <a:spLocks noChangeArrowheads="1"/>
            </p:cNvSpPr>
            <p:nvPr/>
          </p:nvSpPr>
          <p:spPr bwMode="auto">
            <a:xfrm>
              <a:off x="4224" y="2832"/>
              <a:ext cx="864" cy="288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901, …, 996</a:t>
              </a:r>
            </a:p>
          </p:txBody>
        </p:sp>
        <p:sp>
          <p:nvSpPr>
            <p:cNvPr id="13" name="Text Box 21"/>
            <p:cNvSpPr txBox="1">
              <a:spLocks noChangeArrowheads="1"/>
            </p:cNvSpPr>
            <p:nvPr/>
          </p:nvSpPr>
          <p:spPr bwMode="auto">
            <a:xfrm>
              <a:off x="3840" y="2858"/>
              <a:ext cx="184" cy="1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solidFill>
                    <a:schemeClr val="tx2"/>
                  </a:solidFill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14" name="Line 22"/>
            <p:cNvSpPr>
              <a:spLocks noChangeShapeType="1"/>
            </p:cNvSpPr>
            <p:nvPr/>
          </p:nvSpPr>
          <p:spPr bwMode="auto">
            <a:xfrm flipH="1">
              <a:off x="240" y="3072"/>
              <a:ext cx="1296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Line 23"/>
            <p:cNvSpPr>
              <a:spLocks noChangeShapeType="1"/>
            </p:cNvSpPr>
            <p:nvPr/>
          </p:nvSpPr>
          <p:spPr bwMode="auto">
            <a:xfrm flipH="1">
              <a:off x="1008" y="3072"/>
              <a:ext cx="864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ine 24"/>
            <p:cNvSpPr>
              <a:spLocks noChangeShapeType="1"/>
            </p:cNvSpPr>
            <p:nvPr/>
          </p:nvSpPr>
          <p:spPr bwMode="auto">
            <a:xfrm flipH="1">
              <a:off x="2016" y="3072"/>
              <a:ext cx="480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Line 25"/>
            <p:cNvSpPr>
              <a:spLocks noChangeShapeType="1"/>
            </p:cNvSpPr>
            <p:nvPr/>
          </p:nvSpPr>
          <p:spPr bwMode="auto">
            <a:xfrm flipH="1">
              <a:off x="3840" y="3072"/>
              <a:ext cx="576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Line 26"/>
            <p:cNvSpPr>
              <a:spLocks noChangeShapeType="1"/>
            </p:cNvSpPr>
            <p:nvPr/>
          </p:nvSpPr>
          <p:spPr bwMode="auto">
            <a:xfrm flipH="1">
              <a:off x="4800" y="3072"/>
              <a:ext cx="144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 Box 27"/>
            <p:cNvSpPr txBox="1">
              <a:spLocks noChangeArrowheads="1"/>
            </p:cNvSpPr>
            <p:nvPr/>
          </p:nvSpPr>
          <p:spPr bwMode="auto">
            <a:xfrm>
              <a:off x="315" y="2822"/>
              <a:ext cx="974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2000" dirty="0">
                  <a:latin typeface="+mn-lt"/>
                </a:rPr>
                <a:t>Index blocks</a:t>
              </a:r>
            </a:p>
          </p:txBody>
        </p:sp>
        <p:sp>
          <p:nvSpPr>
            <p:cNvPr id="20" name="Rectangle 31"/>
            <p:cNvSpPr>
              <a:spLocks noChangeArrowheads="1"/>
            </p:cNvSpPr>
            <p:nvPr/>
          </p:nvSpPr>
          <p:spPr bwMode="auto">
            <a:xfrm>
              <a:off x="2832" y="2832"/>
              <a:ext cx="864" cy="288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1400">
                  <a:latin typeface="Prestige12 BT" panose="02070509030506020304" pitchFamily="49" charset="0"/>
                </a:rPr>
                <a:t>200, …    </a:t>
              </a:r>
            </a:p>
          </p:txBody>
        </p:sp>
        <p:sp>
          <p:nvSpPr>
            <p:cNvPr id="21" name="Line 33"/>
            <p:cNvSpPr>
              <a:spLocks noChangeShapeType="1"/>
            </p:cNvSpPr>
            <p:nvPr/>
          </p:nvSpPr>
          <p:spPr bwMode="auto">
            <a:xfrm flipH="1">
              <a:off x="2784" y="3072"/>
              <a:ext cx="288" cy="3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2" name="Group 35"/>
          <p:cNvGrpSpPr>
            <a:grpSpLocks/>
          </p:cNvGrpSpPr>
          <p:nvPr/>
        </p:nvGrpSpPr>
        <p:grpSpPr bwMode="auto">
          <a:xfrm>
            <a:off x="425335" y="3337560"/>
            <a:ext cx="8382000" cy="1146175"/>
            <a:chOff x="240" y="3408"/>
            <a:chExt cx="5280" cy="722"/>
          </a:xfrm>
        </p:grpSpPr>
        <p:sp>
          <p:nvSpPr>
            <p:cNvPr id="23" name="Rectangle 5"/>
            <p:cNvSpPr>
              <a:spLocks noChangeArrowheads="1"/>
            </p:cNvSpPr>
            <p:nvPr/>
          </p:nvSpPr>
          <p:spPr bwMode="auto">
            <a:xfrm>
              <a:off x="240" y="3408"/>
              <a:ext cx="720" cy="43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100, 108,</a:t>
              </a:r>
              <a:br>
                <a:rPr kumimoji="0" lang="en-US" sz="1400" dirty="0">
                  <a:latin typeface="Prestige12 BT" panose="02070509030506020304" pitchFamily="49" charset="0"/>
                </a:rPr>
              </a:br>
              <a:r>
                <a:rPr kumimoji="0" lang="en-US" sz="1400" dirty="0">
                  <a:latin typeface="Prestige12 BT" panose="02070509030506020304" pitchFamily="49" charset="0"/>
                </a:rPr>
                <a:t>119, 121</a:t>
              </a:r>
            </a:p>
          </p:txBody>
        </p:sp>
        <p:sp>
          <p:nvSpPr>
            <p:cNvPr id="24" name="Rectangle 6"/>
            <p:cNvSpPr>
              <a:spLocks noChangeArrowheads="1"/>
            </p:cNvSpPr>
            <p:nvPr/>
          </p:nvSpPr>
          <p:spPr bwMode="auto">
            <a:xfrm>
              <a:off x="1008" y="3408"/>
              <a:ext cx="720" cy="43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>
                  <a:latin typeface="Prestige12 BT" panose="02070509030506020304" pitchFamily="49" charset="0"/>
                </a:rPr>
                <a:t>123, 129,</a:t>
              </a:r>
              <a:br>
                <a:rPr kumimoji="0" lang="en-US" sz="1400">
                  <a:latin typeface="Prestige12 BT" panose="02070509030506020304" pitchFamily="49" charset="0"/>
                </a:rPr>
              </a:br>
              <a:r>
                <a:rPr kumimoji="0" lang="en-US" sz="140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25" name="Rectangle 7"/>
            <p:cNvSpPr>
              <a:spLocks noChangeArrowheads="1"/>
            </p:cNvSpPr>
            <p:nvPr/>
          </p:nvSpPr>
          <p:spPr bwMode="auto">
            <a:xfrm>
              <a:off x="3848" y="3408"/>
              <a:ext cx="720" cy="43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>
                  <a:latin typeface="Prestige12 BT" panose="02070509030506020304" pitchFamily="49" charset="0"/>
                </a:rPr>
                <a:t>901, 907,</a:t>
              </a:r>
              <a:br>
                <a:rPr kumimoji="0" lang="en-US" sz="1400">
                  <a:latin typeface="Prestige12 BT" panose="02070509030506020304" pitchFamily="49" charset="0"/>
                </a:rPr>
              </a:br>
              <a:r>
                <a:rPr kumimoji="0" lang="en-US" sz="140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26" name="Rectangle 8"/>
            <p:cNvSpPr>
              <a:spLocks noChangeArrowheads="1"/>
            </p:cNvSpPr>
            <p:nvPr/>
          </p:nvSpPr>
          <p:spPr bwMode="auto">
            <a:xfrm>
              <a:off x="4800" y="3408"/>
              <a:ext cx="720" cy="43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>
                  <a:latin typeface="Prestige12 BT" panose="02070509030506020304" pitchFamily="49" charset="0"/>
                </a:rPr>
                <a:t>996, 997,</a:t>
              </a:r>
              <a:br>
                <a:rPr kumimoji="0" lang="en-US" sz="1400">
                  <a:latin typeface="Prestige12 BT" panose="02070509030506020304" pitchFamily="49" charset="0"/>
                </a:rPr>
              </a:br>
              <a:r>
                <a:rPr kumimoji="0" lang="en-US" sz="140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27" name="Text Box 9"/>
            <p:cNvSpPr txBox="1">
              <a:spLocks noChangeArrowheads="1"/>
            </p:cNvSpPr>
            <p:nvPr/>
          </p:nvSpPr>
          <p:spPr bwMode="auto">
            <a:xfrm>
              <a:off x="1773" y="3537"/>
              <a:ext cx="184" cy="194"/>
            </a:xfrm>
            <a:prstGeom prst="rect">
              <a:avLst/>
            </a:prstGeom>
            <a:noFill/>
            <a:ln w="25400">
              <a:noFill/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28" name="Text Box 10"/>
            <p:cNvSpPr txBox="1">
              <a:spLocks noChangeArrowheads="1"/>
            </p:cNvSpPr>
            <p:nvPr/>
          </p:nvSpPr>
          <p:spPr bwMode="auto">
            <a:xfrm>
              <a:off x="3566" y="3537"/>
              <a:ext cx="184" cy="194"/>
            </a:xfrm>
            <a:prstGeom prst="rect">
              <a:avLst/>
            </a:prstGeom>
            <a:noFill/>
            <a:ln w="25400">
              <a:noFill/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29" name="Text Box 11"/>
            <p:cNvSpPr txBox="1">
              <a:spLocks noChangeArrowheads="1"/>
            </p:cNvSpPr>
            <p:nvPr/>
          </p:nvSpPr>
          <p:spPr bwMode="auto">
            <a:xfrm>
              <a:off x="4607" y="3537"/>
              <a:ext cx="184" cy="194"/>
            </a:xfrm>
            <a:prstGeom prst="rect">
              <a:avLst/>
            </a:prstGeom>
            <a:noFill/>
            <a:ln w="25400">
              <a:noFill/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30" name="Text Box 12"/>
            <p:cNvSpPr txBox="1">
              <a:spLocks noChangeArrowheads="1"/>
            </p:cNvSpPr>
            <p:nvPr/>
          </p:nvSpPr>
          <p:spPr bwMode="auto">
            <a:xfrm>
              <a:off x="2352" y="3878"/>
              <a:ext cx="909" cy="252"/>
            </a:xfrm>
            <a:prstGeom prst="rect">
              <a:avLst/>
            </a:prstGeom>
            <a:noFill/>
            <a:ln w="25400">
              <a:noFill/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2000" dirty="0">
                  <a:latin typeface="+mn-lt"/>
                </a:rPr>
                <a:t>Data blocks</a:t>
              </a:r>
            </a:p>
          </p:txBody>
        </p:sp>
        <p:sp>
          <p:nvSpPr>
            <p:cNvPr id="31" name="Rectangle 13"/>
            <p:cNvSpPr>
              <a:spLocks noChangeArrowheads="1"/>
            </p:cNvSpPr>
            <p:nvPr/>
          </p:nvSpPr>
          <p:spPr bwMode="auto">
            <a:xfrm>
              <a:off x="2016" y="3408"/>
              <a:ext cx="720" cy="43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>
                  <a:latin typeface="Prestige12 BT" panose="02070509030506020304" pitchFamily="49" charset="0"/>
                </a:rPr>
                <a:t>192, 197,</a:t>
              </a:r>
              <a:br>
                <a:rPr kumimoji="0" lang="en-US" sz="1400">
                  <a:latin typeface="Prestige12 BT" panose="02070509030506020304" pitchFamily="49" charset="0"/>
                </a:rPr>
              </a:br>
              <a:r>
                <a:rPr kumimoji="0" lang="en-US" sz="1400">
                  <a:latin typeface="Prestige12 BT" panose="02070509030506020304" pitchFamily="49" charset="0"/>
                </a:rPr>
                <a:t>…</a:t>
              </a:r>
            </a:p>
          </p:txBody>
        </p:sp>
        <p:sp>
          <p:nvSpPr>
            <p:cNvPr id="32" name="Rectangle 34"/>
            <p:cNvSpPr>
              <a:spLocks noChangeArrowheads="1"/>
            </p:cNvSpPr>
            <p:nvPr/>
          </p:nvSpPr>
          <p:spPr bwMode="auto">
            <a:xfrm>
              <a:off x="2784" y="3408"/>
              <a:ext cx="720" cy="43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200, 202,</a:t>
              </a:r>
              <a:br>
                <a:rPr kumimoji="0" lang="en-US" sz="1400" dirty="0">
                  <a:latin typeface="Prestige12 BT" panose="02070509030506020304" pitchFamily="49" charset="0"/>
                </a:rPr>
              </a:br>
              <a:r>
                <a:rPr kumimoji="0" lang="en-US" sz="1400" dirty="0">
                  <a:latin typeface="Prestige12 BT" panose="02070509030506020304" pitchFamily="49" charset="0"/>
                </a:rPr>
                <a:t>…</a:t>
              </a:r>
            </a:p>
          </p:txBody>
        </p:sp>
      </p:grpSp>
      <p:sp>
        <p:nvSpPr>
          <p:cNvPr id="36" name="Text Box 25"/>
          <p:cNvSpPr txBox="1">
            <a:spLocks noChangeArrowheads="1"/>
          </p:cNvSpPr>
          <p:nvPr/>
        </p:nvSpPr>
        <p:spPr bwMode="auto">
          <a:xfrm>
            <a:off x="457200" y="1219200"/>
            <a:ext cx="281359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dirty="0">
                <a:solidFill>
                  <a:schemeClr val="accent2"/>
                </a:solidFill>
                <a:latin typeface="+mn-lt"/>
              </a:rPr>
              <a:t>Example: insert 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107</a:t>
            </a:r>
          </a:p>
        </p:txBody>
      </p:sp>
      <p:grpSp>
        <p:nvGrpSpPr>
          <p:cNvPr id="37" name="Group 92"/>
          <p:cNvGrpSpPr>
            <a:grpSpLocks/>
          </p:cNvGrpSpPr>
          <p:nvPr/>
        </p:nvGrpSpPr>
        <p:grpSpPr bwMode="auto">
          <a:xfrm>
            <a:off x="95135" y="3867785"/>
            <a:ext cx="2389188" cy="914400"/>
            <a:chOff x="32" y="2400"/>
            <a:chExt cx="1505" cy="576"/>
          </a:xfrm>
        </p:grpSpPr>
        <p:sp>
          <p:nvSpPr>
            <p:cNvPr id="38" name="Rectangle 27"/>
            <p:cNvSpPr>
              <a:spLocks noChangeArrowheads="1"/>
            </p:cNvSpPr>
            <p:nvPr/>
          </p:nvSpPr>
          <p:spPr bwMode="auto">
            <a:xfrm>
              <a:off x="240" y="2544"/>
              <a:ext cx="720" cy="432"/>
            </a:xfrm>
            <a:prstGeom prst="rect">
              <a:avLst/>
            </a:prstGeom>
            <a:noFill/>
            <a:ln w="25400">
              <a:solidFill>
                <a:schemeClr val="accent2"/>
              </a:solidFill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400" dirty="0">
                  <a:latin typeface="Prestige12 BT" panose="02070509030506020304" pitchFamily="49" charset="0"/>
                </a:rPr>
                <a:t>107</a:t>
              </a:r>
              <a:br>
                <a:rPr kumimoji="0" lang="en-US" sz="1400" dirty="0">
                  <a:latin typeface="Prestige12 BT" panose="02070509030506020304" pitchFamily="49" charset="0"/>
                </a:rPr>
              </a:br>
              <a:endParaRPr kumimoji="0" lang="en-US" sz="1400" dirty="0">
                <a:latin typeface="Prestige12 BT" panose="02070509030506020304" pitchFamily="49" charset="0"/>
              </a:endParaRPr>
            </a:p>
          </p:txBody>
        </p:sp>
        <p:sp>
          <p:nvSpPr>
            <p:cNvPr id="39" name="Rectangle 29"/>
            <p:cNvSpPr>
              <a:spLocks noChangeArrowheads="1"/>
            </p:cNvSpPr>
            <p:nvPr/>
          </p:nvSpPr>
          <p:spPr bwMode="auto">
            <a:xfrm>
              <a:off x="487" y="2606"/>
              <a:ext cx="1050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pPr algn="r">
                <a:spcBef>
                  <a:spcPct val="0"/>
                </a:spcBef>
                <a:buFontTx/>
                <a:buNone/>
              </a:pPr>
              <a:r>
                <a:rPr kumimoji="0" lang="en-US" dirty="0">
                  <a:solidFill>
                    <a:schemeClr val="accent2"/>
                  </a:solidFill>
                </a:rPr>
                <a:t>Overflow block</a:t>
              </a:r>
            </a:p>
          </p:txBody>
        </p:sp>
        <p:sp>
          <p:nvSpPr>
            <p:cNvPr id="40" name="Freeform 30"/>
            <p:cNvSpPr>
              <a:spLocks/>
            </p:cNvSpPr>
            <p:nvPr/>
          </p:nvSpPr>
          <p:spPr bwMode="auto">
            <a:xfrm>
              <a:off x="32" y="2400"/>
              <a:ext cx="208" cy="192"/>
            </a:xfrm>
            <a:custGeom>
              <a:avLst/>
              <a:gdLst>
                <a:gd name="T0" fmla="*/ 208 w 208"/>
                <a:gd name="T1" fmla="*/ 48 h 192"/>
                <a:gd name="T2" fmla="*/ 112 w 208"/>
                <a:gd name="T3" fmla="*/ 0 h 192"/>
                <a:gd name="T4" fmla="*/ 16 w 208"/>
                <a:gd name="T5" fmla="*/ 48 h 192"/>
                <a:gd name="T6" fmla="*/ 16 w 208"/>
                <a:gd name="T7" fmla="*/ 144 h 192"/>
                <a:gd name="T8" fmla="*/ 112 w 208"/>
                <a:gd name="T9" fmla="*/ 192 h 192"/>
                <a:gd name="T10" fmla="*/ 208 w 208"/>
                <a:gd name="T11" fmla="*/ 144 h 19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08"/>
                <a:gd name="T19" fmla="*/ 0 h 192"/>
                <a:gd name="T20" fmla="*/ 208 w 208"/>
                <a:gd name="T21" fmla="*/ 192 h 192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08" h="192">
                  <a:moveTo>
                    <a:pt x="208" y="48"/>
                  </a:moveTo>
                  <a:cubicBezTo>
                    <a:pt x="176" y="24"/>
                    <a:pt x="144" y="0"/>
                    <a:pt x="112" y="0"/>
                  </a:cubicBezTo>
                  <a:cubicBezTo>
                    <a:pt x="80" y="0"/>
                    <a:pt x="32" y="24"/>
                    <a:pt x="16" y="48"/>
                  </a:cubicBezTo>
                  <a:cubicBezTo>
                    <a:pt x="0" y="72"/>
                    <a:pt x="0" y="120"/>
                    <a:pt x="16" y="144"/>
                  </a:cubicBezTo>
                  <a:cubicBezTo>
                    <a:pt x="32" y="168"/>
                    <a:pt x="80" y="192"/>
                    <a:pt x="112" y="192"/>
                  </a:cubicBezTo>
                  <a:cubicBezTo>
                    <a:pt x="144" y="192"/>
                    <a:pt x="176" y="168"/>
                    <a:pt x="208" y="144"/>
                  </a:cubicBezTo>
                </a:path>
              </a:pathLst>
            </a:custGeom>
            <a:noFill/>
            <a:ln w="25400">
              <a:solidFill>
                <a:schemeClr val="accent2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" name="Text Box 31"/>
          <p:cNvSpPr txBox="1">
            <a:spLocks noChangeArrowheads="1"/>
          </p:cNvSpPr>
          <p:nvPr/>
        </p:nvSpPr>
        <p:spPr bwMode="auto">
          <a:xfrm>
            <a:off x="457200" y="1600200"/>
            <a:ext cx="290015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dirty="0">
                <a:solidFill>
                  <a:srgbClr val="FF0000"/>
                </a:solidFill>
                <a:latin typeface="+mn-lt"/>
              </a:rPr>
              <a:t>Example: delete </a:t>
            </a:r>
            <a:r>
              <a:rPr lang="en-US" dirty="0">
                <a:solidFill>
                  <a:srgbClr val="FF0000"/>
                </a:solidFill>
                <a:latin typeface="Prestige12 BT" panose="02070509030506020304" pitchFamily="49" charset="0"/>
              </a:rPr>
              <a:t>129</a:t>
            </a:r>
          </a:p>
        </p:txBody>
      </p:sp>
      <p:sp>
        <p:nvSpPr>
          <p:cNvPr id="42" name="Line 32"/>
          <p:cNvSpPr>
            <a:spLocks noChangeShapeType="1"/>
          </p:cNvSpPr>
          <p:nvPr/>
        </p:nvSpPr>
        <p:spPr bwMode="auto">
          <a:xfrm flipV="1">
            <a:off x="2254135" y="3464787"/>
            <a:ext cx="437803" cy="209434"/>
          </a:xfrm>
          <a:prstGeom prst="line">
            <a:avLst/>
          </a:prstGeom>
          <a:noFill/>
          <a:ln w="38100" cap="rnd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30253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6" grpId="0" autoUpdateAnimBg="0"/>
      <p:bldP spid="41" grpId="0" autoUpdateAnimBg="0"/>
      <p:bldP spid="4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en-US" baseline="30000" dirty="0"/>
              <a:t>+</a:t>
            </a:r>
            <a:r>
              <a:rPr lang="en-US" dirty="0"/>
              <a:t>-tree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336" y="1456855"/>
            <a:ext cx="8668660" cy="1602230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dirty="0">
                <a:solidFill>
                  <a:schemeClr val="accent2"/>
                </a:solidFill>
              </a:rPr>
              <a:t>hierarchy of nodes with intervals</a:t>
            </a:r>
          </a:p>
          <a:p>
            <a:r>
              <a:rPr lang="en-US" dirty="0">
                <a:solidFill>
                  <a:schemeClr val="accent2"/>
                </a:solidFill>
              </a:rPr>
              <a:t>Balanced</a:t>
            </a:r>
            <a:r>
              <a:rPr lang="en-US" dirty="0"/>
              <a:t> (more or less): good performance guarantee</a:t>
            </a:r>
          </a:p>
          <a:p>
            <a:r>
              <a:rPr lang="en-US" dirty="0">
                <a:solidFill>
                  <a:schemeClr val="accent2"/>
                </a:solidFill>
              </a:rPr>
              <a:t>Disk-based</a:t>
            </a:r>
            <a:r>
              <a:rPr lang="en-US" dirty="0"/>
              <a:t>: one node per block; large fan-out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11</a:t>
            </a:fld>
            <a:endParaRPr lang="en-US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19063" y="56642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1643063" y="56642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3167063" y="56642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4691064" y="56642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6215064" y="56642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7739064" y="56642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957263" y="42926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5453064" y="42926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3929063" y="31496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5" name="Text Box 14"/>
          <p:cNvSpPr txBox="1">
            <a:spLocks noChangeArrowheads="1"/>
          </p:cNvSpPr>
          <p:nvPr/>
        </p:nvSpPr>
        <p:spPr bwMode="auto">
          <a:xfrm rot="10800000">
            <a:off x="146051" y="5815013"/>
            <a:ext cx="492125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3</a:t>
            </a:r>
          </a:p>
        </p:txBody>
      </p:sp>
      <p:sp>
        <p:nvSpPr>
          <p:cNvPr id="16" name="Text Box 15"/>
          <p:cNvSpPr txBox="1">
            <a:spLocks noChangeArrowheads="1"/>
          </p:cNvSpPr>
          <p:nvPr/>
        </p:nvSpPr>
        <p:spPr bwMode="auto">
          <a:xfrm rot="10800000">
            <a:off x="527051" y="5811838"/>
            <a:ext cx="492125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5</a:t>
            </a:r>
          </a:p>
        </p:txBody>
      </p:sp>
      <p:sp>
        <p:nvSpPr>
          <p:cNvPr id="17" name="Text Box 16"/>
          <p:cNvSpPr txBox="1">
            <a:spLocks noChangeArrowheads="1"/>
          </p:cNvSpPr>
          <p:nvPr/>
        </p:nvSpPr>
        <p:spPr bwMode="auto">
          <a:xfrm rot="10800000">
            <a:off x="908051" y="5735638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</a:t>
            </a:r>
          </a:p>
        </p:txBody>
      </p:sp>
      <p:sp>
        <p:nvSpPr>
          <p:cNvPr id="18" name="Text Box 17"/>
          <p:cNvSpPr txBox="1">
            <a:spLocks noChangeArrowheads="1"/>
          </p:cNvSpPr>
          <p:nvPr/>
        </p:nvSpPr>
        <p:spPr bwMode="auto">
          <a:xfrm rot="10800000">
            <a:off x="1671638" y="5737225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30</a:t>
            </a:r>
          </a:p>
        </p:txBody>
      </p:sp>
      <p:sp>
        <p:nvSpPr>
          <p:cNvPr id="19" name="Text Box 18"/>
          <p:cNvSpPr txBox="1">
            <a:spLocks noChangeArrowheads="1"/>
          </p:cNvSpPr>
          <p:nvPr/>
        </p:nvSpPr>
        <p:spPr bwMode="auto">
          <a:xfrm rot="10800000">
            <a:off x="2051051" y="5751513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35</a:t>
            </a:r>
          </a:p>
        </p:txBody>
      </p:sp>
      <p:sp>
        <p:nvSpPr>
          <p:cNvPr id="20" name="Text Box 19"/>
          <p:cNvSpPr txBox="1">
            <a:spLocks noChangeArrowheads="1"/>
          </p:cNvSpPr>
          <p:nvPr/>
        </p:nvSpPr>
        <p:spPr bwMode="auto">
          <a:xfrm rot="10800000">
            <a:off x="3194051" y="5661025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21" name="Text Box 20"/>
          <p:cNvSpPr txBox="1">
            <a:spLocks noChangeArrowheads="1"/>
          </p:cNvSpPr>
          <p:nvPr/>
        </p:nvSpPr>
        <p:spPr bwMode="auto">
          <a:xfrm rot="10800000">
            <a:off x="3575051" y="566261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101</a:t>
            </a:r>
          </a:p>
        </p:txBody>
      </p:sp>
      <p:sp>
        <p:nvSpPr>
          <p:cNvPr id="22" name="Text Box 21"/>
          <p:cNvSpPr txBox="1">
            <a:spLocks noChangeArrowheads="1"/>
          </p:cNvSpPr>
          <p:nvPr/>
        </p:nvSpPr>
        <p:spPr bwMode="auto">
          <a:xfrm rot="10800000">
            <a:off x="3956051" y="567531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110</a:t>
            </a:r>
          </a:p>
        </p:txBody>
      </p:sp>
      <p:sp>
        <p:nvSpPr>
          <p:cNvPr id="23" name="Text Box 22"/>
          <p:cNvSpPr txBox="1">
            <a:spLocks noChangeArrowheads="1"/>
          </p:cNvSpPr>
          <p:nvPr/>
        </p:nvSpPr>
        <p:spPr bwMode="auto">
          <a:xfrm rot="10800000">
            <a:off x="4718051" y="565943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24" name="Text Box 23"/>
          <p:cNvSpPr txBox="1">
            <a:spLocks noChangeArrowheads="1"/>
          </p:cNvSpPr>
          <p:nvPr/>
        </p:nvSpPr>
        <p:spPr bwMode="auto">
          <a:xfrm rot="10800000">
            <a:off x="5099051" y="566261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130</a:t>
            </a:r>
          </a:p>
        </p:txBody>
      </p:sp>
      <p:sp>
        <p:nvSpPr>
          <p:cNvPr id="25" name="Text Box 24"/>
          <p:cNvSpPr txBox="1">
            <a:spLocks noChangeArrowheads="1"/>
          </p:cNvSpPr>
          <p:nvPr/>
        </p:nvSpPr>
        <p:spPr bwMode="auto">
          <a:xfrm rot="10800000">
            <a:off x="6259514" y="566261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26" name="Text Box 25"/>
          <p:cNvSpPr txBox="1">
            <a:spLocks noChangeArrowheads="1"/>
          </p:cNvSpPr>
          <p:nvPr/>
        </p:nvSpPr>
        <p:spPr bwMode="auto">
          <a:xfrm rot="10800000">
            <a:off x="6640514" y="565943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27" name="Text Box 26"/>
          <p:cNvSpPr txBox="1">
            <a:spLocks noChangeArrowheads="1"/>
          </p:cNvSpPr>
          <p:nvPr/>
        </p:nvSpPr>
        <p:spPr bwMode="auto">
          <a:xfrm rot="10800000">
            <a:off x="7021514" y="564673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179</a:t>
            </a: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 rot="10800000">
            <a:off x="7781926" y="565943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29" name="Text Box 28"/>
          <p:cNvSpPr txBox="1">
            <a:spLocks noChangeArrowheads="1"/>
          </p:cNvSpPr>
          <p:nvPr/>
        </p:nvSpPr>
        <p:spPr bwMode="auto">
          <a:xfrm rot="10800000">
            <a:off x="8162926" y="566261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200</a:t>
            </a:r>
          </a:p>
        </p:txBody>
      </p:sp>
      <p:sp>
        <p:nvSpPr>
          <p:cNvPr id="30" name="Text Box 29"/>
          <p:cNvSpPr txBox="1">
            <a:spLocks noChangeArrowheads="1"/>
          </p:cNvSpPr>
          <p:nvPr/>
        </p:nvSpPr>
        <p:spPr bwMode="auto">
          <a:xfrm rot="10800000">
            <a:off x="961303" y="4381500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30</a:t>
            </a:r>
          </a:p>
        </p:txBody>
      </p:sp>
      <p:sp>
        <p:nvSpPr>
          <p:cNvPr id="31" name="Text Box 30"/>
          <p:cNvSpPr txBox="1">
            <a:spLocks noChangeArrowheads="1"/>
          </p:cNvSpPr>
          <p:nvPr/>
        </p:nvSpPr>
        <p:spPr bwMode="auto">
          <a:xfrm rot="10800000">
            <a:off x="3921153" y="314750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32" name="Text Box 31"/>
          <p:cNvSpPr txBox="1">
            <a:spLocks noChangeArrowheads="1"/>
          </p:cNvSpPr>
          <p:nvPr/>
        </p:nvSpPr>
        <p:spPr bwMode="auto">
          <a:xfrm rot="10800000">
            <a:off x="5480051" y="429101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33" name="Text Box 32"/>
          <p:cNvSpPr txBox="1">
            <a:spLocks noChangeArrowheads="1"/>
          </p:cNvSpPr>
          <p:nvPr/>
        </p:nvSpPr>
        <p:spPr bwMode="auto">
          <a:xfrm rot="10800000">
            <a:off x="5861051" y="4292600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34" name="Text Box 33"/>
          <p:cNvSpPr txBox="1">
            <a:spLocks noChangeArrowheads="1"/>
          </p:cNvSpPr>
          <p:nvPr/>
        </p:nvSpPr>
        <p:spPr bwMode="auto">
          <a:xfrm rot="10800000">
            <a:off x="6242051" y="4292600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35" name="Line 34"/>
          <p:cNvSpPr>
            <a:spLocks noChangeShapeType="1"/>
          </p:cNvSpPr>
          <p:nvPr/>
        </p:nvSpPr>
        <p:spPr bwMode="auto">
          <a:xfrm flipH="1">
            <a:off x="1566863" y="3530600"/>
            <a:ext cx="24384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6" name="Line 35"/>
          <p:cNvSpPr>
            <a:spLocks noChangeShapeType="1"/>
          </p:cNvSpPr>
          <p:nvPr/>
        </p:nvSpPr>
        <p:spPr bwMode="auto">
          <a:xfrm>
            <a:off x="4310063" y="3530600"/>
            <a:ext cx="17526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7" name="Line 36"/>
          <p:cNvSpPr>
            <a:spLocks noChangeShapeType="1"/>
          </p:cNvSpPr>
          <p:nvPr/>
        </p:nvSpPr>
        <p:spPr bwMode="auto">
          <a:xfrm flipH="1">
            <a:off x="728663" y="4673600"/>
            <a:ext cx="304800" cy="990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8" name="Line 37"/>
          <p:cNvSpPr>
            <a:spLocks noChangeShapeType="1"/>
          </p:cNvSpPr>
          <p:nvPr/>
        </p:nvSpPr>
        <p:spPr bwMode="auto">
          <a:xfrm>
            <a:off x="1338263" y="4673600"/>
            <a:ext cx="990600" cy="990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9" name="Line 38"/>
          <p:cNvSpPr>
            <a:spLocks noChangeShapeType="1"/>
          </p:cNvSpPr>
          <p:nvPr/>
        </p:nvSpPr>
        <p:spPr bwMode="auto">
          <a:xfrm flipH="1">
            <a:off x="3852863" y="474980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0" name="Line 39"/>
          <p:cNvSpPr>
            <a:spLocks noChangeShapeType="1"/>
          </p:cNvSpPr>
          <p:nvPr/>
        </p:nvSpPr>
        <p:spPr bwMode="auto">
          <a:xfrm flipH="1">
            <a:off x="5300664" y="4749800"/>
            <a:ext cx="6096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1" name="Line 40"/>
          <p:cNvSpPr>
            <a:spLocks noChangeShapeType="1"/>
          </p:cNvSpPr>
          <p:nvPr/>
        </p:nvSpPr>
        <p:spPr bwMode="auto">
          <a:xfrm>
            <a:off x="6291264" y="4749800"/>
            <a:ext cx="533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2" name="Line 41"/>
          <p:cNvSpPr>
            <a:spLocks noChangeShapeType="1"/>
          </p:cNvSpPr>
          <p:nvPr/>
        </p:nvSpPr>
        <p:spPr bwMode="auto">
          <a:xfrm>
            <a:off x="6672264" y="474980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3" name="Line 42"/>
          <p:cNvSpPr>
            <a:spLocks noChangeShapeType="1"/>
          </p:cNvSpPr>
          <p:nvPr/>
        </p:nvSpPr>
        <p:spPr bwMode="auto">
          <a:xfrm>
            <a:off x="380915" y="6121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4" name="Line 43"/>
          <p:cNvSpPr>
            <a:spLocks noChangeShapeType="1"/>
          </p:cNvSpPr>
          <p:nvPr/>
        </p:nvSpPr>
        <p:spPr bwMode="auto">
          <a:xfrm>
            <a:off x="761915" y="6121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5" name="Line 44"/>
          <p:cNvSpPr>
            <a:spLocks noChangeShapeType="1"/>
          </p:cNvSpPr>
          <p:nvPr/>
        </p:nvSpPr>
        <p:spPr bwMode="auto">
          <a:xfrm>
            <a:off x="1142915" y="6121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6" name="Line 45"/>
          <p:cNvSpPr>
            <a:spLocks noChangeShapeType="1"/>
          </p:cNvSpPr>
          <p:nvPr/>
        </p:nvSpPr>
        <p:spPr bwMode="auto">
          <a:xfrm>
            <a:off x="1897063" y="6121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7" name="Line 46"/>
          <p:cNvSpPr>
            <a:spLocks noChangeShapeType="1"/>
          </p:cNvSpPr>
          <p:nvPr/>
        </p:nvSpPr>
        <p:spPr bwMode="auto">
          <a:xfrm>
            <a:off x="2278063" y="6121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8" name="Line 47"/>
          <p:cNvSpPr>
            <a:spLocks noChangeShapeType="1"/>
          </p:cNvSpPr>
          <p:nvPr/>
        </p:nvSpPr>
        <p:spPr bwMode="auto">
          <a:xfrm>
            <a:off x="3444153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9" name="Line 48"/>
          <p:cNvSpPr>
            <a:spLocks noChangeShapeType="1"/>
          </p:cNvSpPr>
          <p:nvPr/>
        </p:nvSpPr>
        <p:spPr bwMode="auto">
          <a:xfrm>
            <a:off x="3825153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0" name="Line 49"/>
          <p:cNvSpPr>
            <a:spLocks noChangeShapeType="1"/>
          </p:cNvSpPr>
          <p:nvPr/>
        </p:nvSpPr>
        <p:spPr bwMode="auto">
          <a:xfrm>
            <a:off x="4206153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1" name="Line 50"/>
          <p:cNvSpPr>
            <a:spLocks noChangeShapeType="1"/>
          </p:cNvSpPr>
          <p:nvPr/>
        </p:nvSpPr>
        <p:spPr bwMode="auto">
          <a:xfrm>
            <a:off x="4943448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2" name="Line 51"/>
          <p:cNvSpPr>
            <a:spLocks noChangeShapeType="1"/>
          </p:cNvSpPr>
          <p:nvPr/>
        </p:nvSpPr>
        <p:spPr bwMode="auto">
          <a:xfrm>
            <a:off x="5313364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3" name="Line 52"/>
          <p:cNvSpPr>
            <a:spLocks noChangeShapeType="1"/>
          </p:cNvSpPr>
          <p:nvPr/>
        </p:nvSpPr>
        <p:spPr bwMode="auto">
          <a:xfrm>
            <a:off x="6519864" y="61595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4" name="Line 53"/>
          <p:cNvSpPr>
            <a:spLocks noChangeShapeType="1"/>
          </p:cNvSpPr>
          <p:nvPr/>
        </p:nvSpPr>
        <p:spPr bwMode="auto">
          <a:xfrm>
            <a:off x="6900864" y="61595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5" name="Line 54"/>
          <p:cNvSpPr>
            <a:spLocks noChangeShapeType="1"/>
          </p:cNvSpPr>
          <p:nvPr/>
        </p:nvSpPr>
        <p:spPr bwMode="auto">
          <a:xfrm>
            <a:off x="7281864" y="61595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6" name="Line 55"/>
          <p:cNvSpPr>
            <a:spLocks noChangeShapeType="1"/>
          </p:cNvSpPr>
          <p:nvPr/>
        </p:nvSpPr>
        <p:spPr bwMode="auto">
          <a:xfrm>
            <a:off x="8043864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7" name="Line 56"/>
          <p:cNvSpPr>
            <a:spLocks noChangeShapeType="1"/>
          </p:cNvSpPr>
          <p:nvPr/>
        </p:nvSpPr>
        <p:spPr bwMode="auto">
          <a:xfrm>
            <a:off x="8424864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8" name="Line 57"/>
          <p:cNvSpPr>
            <a:spLocks noChangeShapeType="1"/>
          </p:cNvSpPr>
          <p:nvPr/>
        </p:nvSpPr>
        <p:spPr bwMode="auto">
          <a:xfrm>
            <a:off x="1338263" y="596900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9" name="Line 58"/>
          <p:cNvSpPr>
            <a:spLocks noChangeShapeType="1"/>
          </p:cNvSpPr>
          <p:nvPr/>
        </p:nvSpPr>
        <p:spPr bwMode="auto">
          <a:xfrm>
            <a:off x="2862263" y="596900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0" name="Line 59"/>
          <p:cNvSpPr>
            <a:spLocks noChangeShapeType="1"/>
          </p:cNvSpPr>
          <p:nvPr/>
        </p:nvSpPr>
        <p:spPr bwMode="auto">
          <a:xfrm>
            <a:off x="4386263" y="596900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1" name="Line 60"/>
          <p:cNvSpPr>
            <a:spLocks noChangeShapeType="1"/>
          </p:cNvSpPr>
          <p:nvPr/>
        </p:nvSpPr>
        <p:spPr bwMode="auto">
          <a:xfrm>
            <a:off x="5910264" y="596900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2" name="Line 61"/>
          <p:cNvSpPr>
            <a:spLocks noChangeShapeType="1"/>
          </p:cNvSpPr>
          <p:nvPr/>
        </p:nvSpPr>
        <p:spPr bwMode="auto">
          <a:xfrm>
            <a:off x="7434264" y="596900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3" name="Text Box 62"/>
          <p:cNvSpPr txBox="1">
            <a:spLocks noChangeArrowheads="1"/>
          </p:cNvSpPr>
          <p:nvPr/>
        </p:nvSpPr>
        <p:spPr bwMode="auto">
          <a:xfrm>
            <a:off x="6148389" y="3078163"/>
            <a:ext cx="20746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dirty="0">
                <a:solidFill>
                  <a:schemeClr val="accent2"/>
                </a:solidFill>
                <a:latin typeface="+mn-lt"/>
              </a:rPr>
              <a:t>Max fan-out: 4</a:t>
            </a:r>
          </a:p>
        </p:txBody>
      </p:sp>
    </p:spTree>
    <p:extLst>
      <p:ext uri="{BB962C8B-B14F-4D97-AF65-F5344CB8AC3E}">
        <p14:creationId xmlns:p14="http://schemas.microsoft.com/office/powerpoint/2010/main" val="721950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</a:t>
            </a:r>
            <a:r>
              <a:rPr lang="en-US" baseline="30000" dirty="0"/>
              <a:t>+</a:t>
            </a:r>
            <a:r>
              <a:rPr lang="en-US" dirty="0"/>
              <a:t>-tree nodes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12</a:t>
            </a:fld>
            <a:endParaRPr lang="en-US"/>
          </a:p>
        </p:txBody>
      </p:sp>
      <p:sp>
        <p:nvSpPr>
          <p:cNvPr id="5" name="Text Box 5"/>
          <p:cNvSpPr txBox="1">
            <a:spLocks noChangeArrowheads="1"/>
          </p:cNvSpPr>
          <p:nvPr/>
        </p:nvSpPr>
        <p:spPr bwMode="auto">
          <a:xfrm>
            <a:off x="5626100" y="1786403"/>
            <a:ext cx="20746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>
                <a:solidFill>
                  <a:schemeClr val="accent2"/>
                </a:solidFill>
                <a:latin typeface="+mn-lt"/>
              </a:rPr>
              <a:t>Max fan-out: 4</a:t>
            </a:r>
          </a:p>
        </p:txBody>
      </p:sp>
      <p:sp>
        <p:nvSpPr>
          <p:cNvPr id="6" name="Line 8"/>
          <p:cNvSpPr>
            <a:spLocks noChangeShapeType="1"/>
          </p:cNvSpPr>
          <p:nvPr/>
        </p:nvSpPr>
        <p:spPr bwMode="auto">
          <a:xfrm>
            <a:off x="3721100" y="1781640"/>
            <a:ext cx="762000" cy="38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3797300" y="216264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8" name="Text Box 10"/>
          <p:cNvSpPr txBox="1">
            <a:spLocks noChangeArrowheads="1"/>
          </p:cNvSpPr>
          <p:nvPr/>
        </p:nvSpPr>
        <p:spPr bwMode="auto">
          <a:xfrm rot="10800000">
            <a:off x="3822542" y="2180917"/>
            <a:ext cx="492443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9" name="Text Box 11"/>
          <p:cNvSpPr txBox="1">
            <a:spLocks noChangeArrowheads="1"/>
          </p:cNvSpPr>
          <p:nvPr/>
        </p:nvSpPr>
        <p:spPr bwMode="auto">
          <a:xfrm rot="10800000">
            <a:off x="4203542" y="2161867"/>
            <a:ext cx="492443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10" name="Text Box 12"/>
          <p:cNvSpPr txBox="1">
            <a:spLocks noChangeArrowheads="1"/>
          </p:cNvSpPr>
          <p:nvPr/>
        </p:nvSpPr>
        <p:spPr bwMode="auto">
          <a:xfrm rot="10800000">
            <a:off x="4584542" y="2161867"/>
            <a:ext cx="492443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11" name="Line 13"/>
          <p:cNvSpPr>
            <a:spLocks noChangeShapeType="1"/>
          </p:cNvSpPr>
          <p:nvPr/>
        </p:nvSpPr>
        <p:spPr bwMode="auto">
          <a:xfrm flipH="1">
            <a:off x="2197100" y="261984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4"/>
          <p:cNvSpPr>
            <a:spLocks noChangeShapeType="1"/>
          </p:cNvSpPr>
          <p:nvPr/>
        </p:nvSpPr>
        <p:spPr bwMode="auto">
          <a:xfrm flipH="1">
            <a:off x="3644900" y="2619840"/>
            <a:ext cx="6096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5"/>
          <p:cNvSpPr>
            <a:spLocks noChangeShapeType="1"/>
          </p:cNvSpPr>
          <p:nvPr/>
        </p:nvSpPr>
        <p:spPr bwMode="auto">
          <a:xfrm>
            <a:off x="4635500" y="2619840"/>
            <a:ext cx="533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Line 16"/>
          <p:cNvSpPr>
            <a:spLocks noChangeShapeType="1"/>
          </p:cNvSpPr>
          <p:nvPr/>
        </p:nvSpPr>
        <p:spPr bwMode="auto">
          <a:xfrm>
            <a:off x="5016500" y="261984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17"/>
              <p:cNvSpPr txBox="1">
                <a:spLocks noChangeArrowheads="1"/>
              </p:cNvSpPr>
              <p:nvPr/>
            </p:nvSpPr>
            <p:spPr bwMode="auto">
              <a:xfrm>
                <a:off x="743973" y="3512015"/>
                <a:ext cx="1923027" cy="7078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1pPr>
                <a:lvl2pPr marL="742950" indent="-28575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2pPr>
                <a:lvl3pPr marL="11430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3pPr>
                <a:lvl4pPr marL="16002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4pPr>
                <a:lvl5pPr marL="20574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kumimoji="0" lang="en-US" sz="2000" dirty="0">
                    <a:latin typeface="+mn-lt"/>
                  </a:rPr>
                  <a:t>to keys </a:t>
                </a:r>
                <a:br>
                  <a:rPr kumimoji="0" lang="en-US" sz="2000" dirty="0">
                    <a:latin typeface="+mn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i="1" dirty="0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kumimoji="0" lang="en-US" sz="20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0"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kumimoji="0" lang="en-US" sz="2000" b="0" i="1" dirty="0" smtClean="0">
                          <a:latin typeface="Cambria Math" panose="02040503050406030204" pitchFamily="18" charset="0"/>
                        </a:rPr>
                        <m:t>&lt;120</m:t>
                      </m:r>
                    </m:oMath>
                  </m:oMathPara>
                </a14:m>
                <a:endParaRPr kumimoji="0"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5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3973" y="3512015"/>
                <a:ext cx="1923027" cy="707886"/>
              </a:xfrm>
              <a:prstGeom prst="rect">
                <a:avLst/>
              </a:prstGeom>
              <a:blipFill rotWithShape="0">
                <a:blip r:embed="rId6"/>
                <a:stretch>
                  <a:fillRect t="-431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8"/>
              <p:cNvSpPr txBox="1">
                <a:spLocks noChangeArrowheads="1"/>
              </p:cNvSpPr>
              <p:nvPr/>
            </p:nvSpPr>
            <p:spPr bwMode="auto">
              <a:xfrm>
                <a:off x="2590800" y="3512015"/>
                <a:ext cx="1923027" cy="7078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1pPr>
                <a:lvl2pPr marL="742950" indent="-28575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2pPr>
                <a:lvl3pPr marL="11430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3pPr>
                <a:lvl4pPr marL="16002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4pPr>
                <a:lvl5pPr marL="20574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kumimoji="0" lang="en-US" sz="2000" dirty="0">
                    <a:latin typeface="+mn-lt"/>
                  </a:rPr>
                  <a:t>to keys</a:t>
                </a:r>
                <a:br>
                  <a:rPr kumimoji="0" lang="en-US" sz="2000" dirty="0">
                    <a:latin typeface="+mn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i="1" dirty="0" smtClean="0">
                          <a:latin typeface="Cambria Math" panose="02040503050406030204" pitchFamily="18" charset="0"/>
                        </a:rPr>
                        <m:t>120</m:t>
                      </m:r>
                      <m:r>
                        <a:rPr kumimoji="0" lang="en-US" sz="20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0" lang="en-US" sz="200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kumimoji="0" lang="en-US" sz="2000" b="0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kumimoji="0" lang="en-US" sz="2000" i="1" dirty="0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kumimoji="0"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6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90800" y="3512015"/>
                <a:ext cx="1923027" cy="707886"/>
              </a:xfrm>
              <a:prstGeom prst="rect">
                <a:avLst/>
              </a:prstGeom>
              <a:blipFill rotWithShape="0">
                <a:blip r:embed="rId7"/>
                <a:stretch>
                  <a:fillRect t="-431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19"/>
              <p:cNvSpPr txBox="1">
                <a:spLocks noChangeArrowheads="1"/>
              </p:cNvSpPr>
              <p:nvPr/>
            </p:nvSpPr>
            <p:spPr bwMode="auto">
              <a:xfrm>
                <a:off x="4401573" y="3512015"/>
                <a:ext cx="1923027" cy="7078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1pPr>
                <a:lvl2pPr marL="742950" indent="-28575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2pPr>
                <a:lvl3pPr marL="11430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3pPr>
                <a:lvl4pPr marL="16002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4pPr>
                <a:lvl5pPr marL="20574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kumimoji="0" lang="en-US" sz="2000" dirty="0">
                    <a:latin typeface="+mn-lt"/>
                  </a:rPr>
                  <a:t>to keys</a:t>
                </a:r>
                <a:br>
                  <a:rPr kumimoji="0" lang="en-US" sz="2000" dirty="0">
                    <a:latin typeface="+mn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i="1" dirty="0" smtClean="0">
                          <a:latin typeface="Cambria Math" panose="02040503050406030204" pitchFamily="18" charset="0"/>
                        </a:rPr>
                        <m:t>150</m:t>
                      </m:r>
                      <m:r>
                        <a:rPr kumimoji="0" lang="en-US" sz="20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0" lang="en-US" sz="200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kumimoji="0" lang="en-US" sz="2000" b="0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kumimoji="0" lang="en-US" sz="2000" i="1" dirty="0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kumimoji="0"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7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01573" y="3512015"/>
                <a:ext cx="1923027" cy="707886"/>
              </a:xfrm>
              <a:prstGeom prst="rect">
                <a:avLst/>
              </a:prstGeom>
              <a:blipFill rotWithShape="0">
                <a:blip r:embed="rId8"/>
                <a:stretch>
                  <a:fillRect t="-431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20"/>
              <p:cNvSpPr txBox="1">
                <a:spLocks noChangeArrowheads="1"/>
              </p:cNvSpPr>
              <p:nvPr/>
            </p:nvSpPr>
            <p:spPr bwMode="auto">
              <a:xfrm>
                <a:off x="6231211" y="3512015"/>
                <a:ext cx="1160189" cy="7078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1pPr>
                <a:lvl2pPr marL="742950" indent="-28575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2pPr>
                <a:lvl3pPr marL="11430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3pPr>
                <a:lvl4pPr marL="16002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4pPr>
                <a:lvl5pPr marL="20574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kumimoji="0" lang="en-US" sz="2000" dirty="0">
                    <a:latin typeface="+mn-lt"/>
                  </a:rPr>
                  <a:t>to keys</a:t>
                </a:r>
                <a:br>
                  <a:rPr kumimoji="0" lang="en-US" sz="2000" dirty="0">
                    <a:latin typeface="+mn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i="1" dirty="0" smtClean="0">
                          <a:latin typeface="Cambria Math" panose="02040503050406030204" pitchFamily="18" charset="0"/>
                        </a:rPr>
                        <m:t>180</m:t>
                      </m:r>
                      <m:r>
                        <a:rPr kumimoji="0" lang="en-US" sz="20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0" lang="en-US" sz="2000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kumimoji="0" lang="en-US" sz="2000" i="1" dirty="0">
                  <a:latin typeface="+mn-lt"/>
                </a:endParaRPr>
              </a:p>
            </p:txBody>
          </p:sp>
        </mc:Choice>
        <mc:Fallback xmlns="">
          <p:sp>
            <p:nvSpPr>
              <p:cNvPr id="18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31211" y="3512015"/>
                <a:ext cx="1160189" cy="707886"/>
              </a:xfrm>
              <a:prstGeom prst="rect">
                <a:avLst/>
              </a:prstGeom>
              <a:blipFill rotWithShape="0">
                <a:blip r:embed="rId9"/>
                <a:stretch>
                  <a:fillRect t="-431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 Box 21"/>
          <p:cNvSpPr txBox="1">
            <a:spLocks noChangeArrowheads="1"/>
          </p:cNvSpPr>
          <p:nvPr/>
        </p:nvSpPr>
        <p:spPr bwMode="auto">
          <a:xfrm>
            <a:off x="2378075" y="2208678"/>
            <a:ext cx="129073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dirty="0">
                <a:solidFill>
                  <a:schemeClr val="accent2"/>
                </a:solidFill>
                <a:latin typeface="+mn-lt"/>
              </a:rPr>
              <a:t>Non-leaf</a:t>
            </a:r>
          </a:p>
        </p:txBody>
      </p:sp>
      <p:sp>
        <p:nvSpPr>
          <p:cNvPr id="20" name="Rectangle 24"/>
          <p:cNvSpPr>
            <a:spLocks noChangeArrowheads="1"/>
          </p:cNvSpPr>
          <p:nvPr/>
        </p:nvSpPr>
        <p:spPr bwMode="auto">
          <a:xfrm>
            <a:off x="2290763" y="485504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Text Box 25"/>
          <p:cNvSpPr txBox="1">
            <a:spLocks noChangeArrowheads="1"/>
          </p:cNvSpPr>
          <p:nvPr/>
        </p:nvSpPr>
        <p:spPr bwMode="auto">
          <a:xfrm rot="10800000">
            <a:off x="2316005" y="4849504"/>
            <a:ext cx="492443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22" name="Text Box 26"/>
          <p:cNvSpPr txBox="1">
            <a:spLocks noChangeArrowheads="1"/>
          </p:cNvSpPr>
          <p:nvPr/>
        </p:nvSpPr>
        <p:spPr bwMode="auto">
          <a:xfrm rot="10800000">
            <a:off x="2677220" y="4855040"/>
            <a:ext cx="492443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130</a:t>
            </a:r>
          </a:p>
        </p:txBody>
      </p:sp>
      <p:sp>
        <p:nvSpPr>
          <p:cNvPr id="23" name="Line 27"/>
          <p:cNvSpPr>
            <a:spLocks noChangeShapeType="1"/>
          </p:cNvSpPr>
          <p:nvPr/>
        </p:nvSpPr>
        <p:spPr bwMode="auto">
          <a:xfrm>
            <a:off x="2532063" y="536304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" name="Line 28"/>
          <p:cNvSpPr>
            <a:spLocks noChangeShapeType="1"/>
          </p:cNvSpPr>
          <p:nvPr/>
        </p:nvSpPr>
        <p:spPr bwMode="auto">
          <a:xfrm>
            <a:off x="2913063" y="536304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" name="Line 29"/>
          <p:cNvSpPr>
            <a:spLocks noChangeShapeType="1"/>
          </p:cNvSpPr>
          <p:nvPr/>
        </p:nvSpPr>
        <p:spPr bwMode="auto">
          <a:xfrm>
            <a:off x="3509963" y="515984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" name="Line 30"/>
          <p:cNvSpPr>
            <a:spLocks noChangeShapeType="1"/>
          </p:cNvSpPr>
          <p:nvPr/>
        </p:nvSpPr>
        <p:spPr bwMode="auto">
          <a:xfrm flipH="1">
            <a:off x="2900363" y="4245440"/>
            <a:ext cx="381000" cy="609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31"/>
              <p:cNvSpPr>
                <a:spLocks noChangeArrowheads="1"/>
              </p:cNvSpPr>
              <p:nvPr/>
            </p:nvSpPr>
            <p:spPr bwMode="auto">
              <a:xfrm>
                <a:off x="1282700" y="5750390"/>
                <a:ext cx="3828292" cy="7078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:r>
                  <a:rPr kumimoji="0" lang="en-US" sz="2000" dirty="0"/>
                  <a:t>to records with these </a:t>
                </a:r>
                <a14:m>
                  <m:oMath xmlns:m="http://schemas.openxmlformats.org/officeDocument/2006/math">
                    <m:r>
                      <a:rPr kumimoji="0" lang="en-US" sz="20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kumimoji="0" lang="en-US" sz="2000" dirty="0"/>
                  <a:t> values;</a:t>
                </a:r>
                <a:br>
                  <a:rPr kumimoji="0" lang="en-US" sz="2000" dirty="0"/>
                </a:br>
                <a:r>
                  <a:rPr kumimoji="0" lang="en-US" sz="2000" dirty="0"/>
                  <a:t>or, store records directly in leaves</a:t>
                </a:r>
              </a:p>
            </p:txBody>
          </p:sp>
        </mc:Choice>
        <mc:Fallback xmlns="">
          <p:sp>
            <p:nvSpPr>
              <p:cNvPr id="27" name="Rectangle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82700" y="5750390"/>
                <a:ext cx="3828292" cy="707886"/>
              </a:xfrm>
              <a:prstGeom prst="rect">
                <a:avLst/>
              </a:prstGeom>
              <a:blipFill rotWithShape="0">
                <a:blip r:embed="rId10"/>
                <a:stretch>
                  <a:fillRect l="-1592" t="-4310" r="-1274" b="-1465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ectangle 32"/>
          <p:cNvSpPr>
            <a:spLocks noChangeArrowheads="1"/>
          </p:cNvSpPr>
          <p:nvPr/>
        </p:nvSpPr>
        <p:spPr bwMode="auto">
          <a:xfrm>
            <a:off x="3797300" y="4970928"/>
            <a:ext cx="338265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kumimoji="0" lang="en-US" sz="2000"/>
              <a:t>to next leaf node in sequence</a:t>
            </a:r>
          </a:p>
        </p:txBody>
      </p:sp>
      <p:sp>
        <p:nvSpPr>
          <p:cNvPr id="29" name="Text Box 33"/>
          <p:cNvSpPr txBox="1">
            <a:spLocks noChangeArrowheads="1"/>
          </p:cNvSpPr>
          <p:nvPr/>
        </p:nvSpPr>
        <p:spPr bwMode="auto">
          <a:xfrm>
            <a:off x="1511300" y="4910603"/>
            <a:ext cx="74892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>
                <a:solidFill>
                  <a:schemeClr val="accent2"/>
                </a:solidFill>
                <a:latin typeface="+mn-lt"/>
              </a:rPr>
              <a:t>Leaf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 Box 36"/>
              <p:cNvSpPr txBox="1">
                <a:spLocks noChangeArrowheads="1"/>
              </p:cNvSpPr>
              <p:nvPr/>
            </p:nvSpPr>
            <p:spPr bwMode="auto">
              <a:xfrm>
                <a:off x="3040202" y="1041865"/>
                <a:ext cx="1160189" cy="7078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1pPr>
                <a:lvl2pPr marL="742950" indent="-28575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2pPr>
                <a:lvl3pPr marL="11430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3pPr>
                <a:lvl4pPr marL="16002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4pPr>
                <a:lvl5pPr marL="20574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kumimoji="0" lang="en-US" sz="2000" dirty="0">
                    <a:latin typeface="+mn-lt"/>
                  </a:rPr>
                  <a:t>to keys</a:t>
                </a:r>
                <a:br>
                  <a:rPr kumimoji="0" lang="en-US" sz="2000" dirty="0">
                    <a:latin typeface="+mn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i="1" dirty="0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kumimoji="0" lang="en-US" sz="2000" b="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0"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kumimoji="0" lang="en-US" sz="2000" i="1" dirty="0">
                  <a:latin typeface="+mn-lt"/>
                </a:endParaRPr>
              </a:p>
            </p:txBody>
          </p:sp>
        </mc:Choice>
        <mc:Fallback xmlns="">
          <p:sp>
            <p:nvSpPr>
              <p:cNvPr id="30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0202" y="1041865"/>
                <a:ext cx="1160189" cy="707886"/>
              </a:xfrm>
              <a:prstGeom prst="rect">
                <a:avLst/>
              </a:prstGeom>
              <a:blipFill rotWithShape="0">
                <a:blip r:embed="rId11"/>
                <a:stretch>
                  <a:fillRect t="-517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600427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7" grpId="0"/>
      <p:bldP spid="28" grpId="0"/>
      <p:bldP spid="2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en-US" baseline="30000" dirty="0"/>
              <a:t>+</a:t>
            </a:r>
            <a:r>
              <a:rPr lang="en-US" dirty="0"/>
              <a:t>-tree balancing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2336" y="1456854"/>
                <a:ext cx="8546740" cy="5264622"/>
              </a:xfrm>
            </p:spPr>
            <p:txBody>
              <a:bodyPr/>
              <a:lstStyle/>
              <a:p>
                <a:r>
                  <a:rPr lang="en-US" dirty="0"/>
                  <a:t>Height constraint: all leaves at the same lowest level</a:t>
                </a:r>
              </a:p>
              <a:p>
                <a:r>
                  <a:rPr lang="en-US" dirty="0"/>
                  <a:t>Fan-out constraint: all nodes at least half full </a:t>
                </a:r>
                <a:br>
                  <a:rPr lang="en-US" dirty="0"/>
                </a:br>
                <a:r>
                  <a:rPr lang="en-US" dirty="0"/>
                  <a:t>(except root)</a:t>
                </a:r>
              </a:p>
              <a:p>
                <a:endParaRPr lang="en-US" dirty="0"/>
              </a:p>
              <a:p>
                <a:pPr>
                  <a:buFont typeface="Wingdings" pitchFamily="2" charset="2"/>
                  <a:buNone/>
                </a:pPr>
                <a:r>
                  <a:rPr lang="en-US" dirty="0"/>
                  <a:t>		     </a:t>
                </a:r>
                <a:r>
                  <a:rPr lang="en-US" sz="2400" dirty="0"/>
                  <a:t>Max #   	Max #		Min #		Min #</a:t>
                </a:r>
                <a:br>
                  <a:rPr lang="en-US" sz="2400" u="sng" dirty="0"/>
                </a:br>
                <a:r>
                  <a:rPr lang="en-US" sz="2400" u="sng" dirty="0"/>
                  <a:t>	    pointers	keys	    active pointers	 keys	</a:t>
                </a:r>
              </a:p>
              <a:p>
                <a:pPr>
                  <a:buNone/>
                </a:pPr>
                <a:r>
                  <a:rPr lang="en-US" sz="2400" dirty="0"/>
                  <a:t>Non-leaf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𝑓</m:t>
                    </m:r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𝑓</m:t>
                    </m:r>
                    <m:r>
                      <a:rPr lang="en-US" sz="2400" i="1" dirty="0">
                        <a:latin typeface="Cambria Math"/>
                      </a:rPr>
                      <m:t>−1</m:t>
                    </m:r>
                  </m:oMath>
                </a14:m>
                <a:r>
                  <a:rPr lang="en-US" sz="2400" dirty="0"/>
                  <a:t>	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⌈</m:t>
                    </m:r>
                    <m:r>
                      <a:rPr lang="en-US" sz="2400" i="1" dirty="0">
                        <a:latin typeface="Cambria Math"/>
                      </a:rPr>
                      <m:t>𝑓</m:t>
                    </m:r>
                    <m:r>
                      <a:rPr lang="en-US" sz="2400" i="1" dirty="0">
                        <a:latin typeface="Cambria Math"/>
                      </a:rPr>
                      <m:t>/2⌉</m:t>
                    </m:r>
                  </m:oMath>
                </a14:m>
                <a:r>
                  <a:rPr lang="en-US" sz="2400" dirty="0"/>
                  <a:t>		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⌈</m:t>
                    </m:r>
                    <m:r>
                      <a:rPr lang="en-US" sz="2400" i="1" dirty="0">
                        <a:latin typeface="Cambria Math"/>
                      </a:rPr>
                      <m:t>𝑓</m:t>
                    </m:r>
                    <m:r>
                      <a:rPr lang="en-US" sz="2400" i="1" dirty="0">
                        <a:latin typeface="Cambria Math"/>
                      </a:rPr>
                      <m:t>/2⌉−1</m:t>
                    </m:r>
                  </m:oMath>
                </a14:m>
                <a:endParaRPr lang="en-US" sz="2400" dirty="0"/>
              </a:p>
              <a:p>
                <a:pPr>
                  <a:buFont typeface="Wingdings" pitchFamily="2" charset="2"/>
                  <a:buNone/>
                </a:pPr>
                <a:r>
                  <a:rPr lang="en-US" sz="2400" dirty="0"/>
                  <a:t>Root	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𝑓</m:t>
                    </m:r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𝑓</m:t>
                    </m:r>
                    <m:r>
                      <a:rPr lang="en-US" sz="2400" i="1" dirty="0">
                        <a:latin typeface="Cambria Math"/>
                      </a:rPr>
                      <m:t>−1</m:t>
                    </m:r>
                  </m:oMath>
                </a14:m>
                <a:r>
                  <a:rPr lang="en-US" sz="2400" dirty="0"/>
                  <a:t>	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2</m:t>
                    </m:r>
                  </m:oMath>
                </a14:m>
                <a:r>
                  <a:rPr lang="en-US" sz="2400" dirty="0"/>
                  <a:t>	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1</m:t>
                    </m:r>
                  </m:oMath>
                </a14:m>
                <a:endParaRPr lang="en-US" sz="2400" i="1" dirty="0"/>
              </a:p>
              <a:p>
                <a:pPr>
                  <a:buNone/>
                </a:pPr>
                <a:r>
                  <a:rPr lang="en-US" sz="2400" dirty="0"/>
                  <a:t>Leaf	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𝑓</m:t>
                    </m:r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𝑓</m:t>
                    </m:r>
                    <m:r>
                      <a:rPr lang="en-US" sz="2400" i="1" dirty="0">
                        <a:latin typeface="Cambria Math"/>
                      </a:rPr>
                      <m:t>−1</m:t>
                    </m:r>
                  </m:oMath>
                </a14:m>
                <a:r>
                  <a:rPr lang="en-US" sz="2400" dirty="0"/>
                  <a:t>	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⌊</m:t>
                    </m:r>
                    <m:r>
                      <a:rPr lang="en-US" sz="2400" i="1" dirty="0">
                        <a:latin typeface="Cambria Math"/>
                      </a:rPr>
                      <m:t>𝑓</m:t>
                    </m:r>
                    <m:r>
                      <a:rPr lang="en-US" sz="2400" i="1" dirty="0">
                        <a:latin typeface="Cambria Math"/>
                      </a:rPr>
                      <m:t>/2⌋</m:t>
                    </m:r>
                  </m:oMath>
                </a14:m>
                <a:r>
                  <a:rPr lang="en-US" sz="2400" dirty="0"/>
                  <a:t>	 	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/>
                      </a:rPr>
                      <m:t>⌊</m:t>
                    </m:r>
                    <m:r>
                      <a:rPr lang="en-US" sz="2400" i="1" dirty="0">
                        <a:latin typeface="Cambria Math"/>
                      </a:rPr>
                      <m:t>𝑓</m:t>
                    </m:r>
                    <m:r>
                      <a:rPr lang="en-US" sz="2400" i="1" dirty="0">
                        <a:latin typeface="Cambria Math"/>
                      </a:rPr>
                      <m:t>/2⌋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2336" y="1456854"/>
                <a:ext cx="8546740" cy="5264622"/>
              </a:xfrm>
              <a:blipFill rotWithShape="0">
                <a:blip r:embed="rId6"/>
                <a:stretch>
                  <a:fillRect l="-1284" t="-19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13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90736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Lookups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336" y="1456854"/>
            <a:ext cx="8173014" cy="1036964"/>
          </a:xfrm>
        </p:spPr>
        <p:txBody>
          <a:bodyPr/>
          <a:lstStyle/>
          <a:p>
            <a:r>
              <a:rPr lang="en-US" dirty="0">
                <a:latin typeface="Prestige12 BT" panose="02070509030506020304" pitchFamily="49" charset="0"/>
              </a:rPr>
              <a:t>SELECT * FROM </a:t>
            </a:r>
            <a:r>
              <a:rPr lang="en-US" i="1" dirty="0">
                <a:latin typeface="Prestige12 BT" panose="02070509030506020304" pitchFamily="49" charset="0"/>
              </a:rPr>
              <a:t>R</a:t>
            </a:r>
            <a:r>
              <a:rPr lang="en-US" dirty="0">
                <a:latin typeface="Prestige12 BT" panose="02070509030506020304" pitchFamily="49" charset="0"/>
              </a:rPr>
              <a:t> WHERE 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k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 = 179</a:t>
            </a:r>
            <a:r>
              <a:rPr lang="en-US" dirty="0">
                <a:latin typeface="Prestige12 BT" panose="02070509030506020304" pitchFamily="49" charset="0"/>
              </a:rPr>
              <a:t>;</a:t>
            </a:r>
          </a:p>
          <a:p>
            <a:r>
              <a:rPr lang="en-US" dirty="0">
                <a:latin typeface="Prestige12 BT" panose="02070509030506020304" pitchFamily="49" charset="0"/>
              </a:rPr>
              <a:t>SELECT * FROM </a:t>
            </a:r>
            <a:r>
              <a:rPr lang="en-US" i="1" dirty="0">
                <a:latin typeface="Prestige12 BT" panose="02070509030506020304" pitchFamily="49" charset="0"/>
              </a:rPr>
              <a:t>R</a:t>
            </a:r>
            <a:r>
              <a:rPr lang="en-US" dirty="0">
                <a:latin typeface="Prestige12 BT" panose="02070509030506020304" pitchFamily="49" charset="0"/>
              </a:rPr>
              <a:t> WHERE </a:t>
            </a:r>
            <a:r>
              <a:rPr lang="en-US" i="1" dirty="0">
                <a:solidFill>
                  <a:srgbClr val="FF0000"/>
                </a:solidFill>
                <a:latin typeface="Prestige12 BT" panose="02070509030506020304" pitchFamily="49" charset="0"/>
              </a:rPr>
              <a:t>k</a:t>
            </a:r>
            <a:r>
              <a:rPr lang="en-US" dirty="0">
                <a:solidFill>
                  <a:srgbClr val="FF0000"/>
                </a:solidFill>
                <a:latin typeface="Prestige12 BT" panose="02070509030506020304" pitchFamily="49" charset="0"/>
              </a:rPr>
              <a:t> = 32</a:t>
            </a:r>
            <a:r>
              <a:rPr lang="en-US" dirty="0">
                <a:latin typeface="Prestige12 BT" panose="02070509030506020304" pitchFamily="49" charset="0"/>
              </a:rPr>
              <a:t>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14</a:t>
            </a:fld>
            <a:endParaRPr lang="en-US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19063" y="56642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643063" y="56642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167063" y="56642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4691064" y="56642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6215064" y="56642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7739064" y="56642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957263" y="42926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453064" y="42926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3929063" y="314960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4" name="Text Box 14"/>
          <p:cNvSpPr txBox="1">
            <a:spLocks noChangeArrowheads="1"/>
          </p:cNvSpPr>
          <p:nvPr/>
        </p:nvSpPr>
        <p:spPr bwMode="auto">
          <a:xfrm rot="10800000">
            <a:off x="146051" y="5815013"/>
            <a:ext cx="492125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3</a:t>
            </a:r>
          </a:p>
        </p:txBody>
      </p:sp>
      <p:sp>
        <p:nvSpPr>
          <p:cNvPr id="15" name="Text Box 15"/>
          <p:cNvSpPr txBox="1">
            <a:spLocks noChangeArrowheads="1"/>
          </p:cNvSpPr>
          <p:nvPr/>
        </p:nvSpPr>
        <p:spPr bwMode="auto">
          <a:xfrm rot="10800000">
            <a:off x="527051" y="5811838"/>
            <a:ext cx="492125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5</a:t>
            </a:r>
          </a:p>
        </p:txBody>
      </p:sp>
      <p:sp>
        <p:nvSpPr>
          <p:cNvPr id="16" name="Text Box 16"/>
          <p:cNvSpPr txBox="1">
            <a:spLocks noChangeArrowheads="1"/>
          </p:cNvSpPr>
          <p:nvPr/>
        </p:nvSpPr>
        <p:spPr bwMode="auto">
          <a:xfrm rot="10800000">
            <a:off x="908051" y="5735638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</a:t>
            </a:r>
          </a:p>
        </p:txBody>
      </p:sp>
      <p:sp>
        <p:nvSpPr>
          <p:cNvPr id="17" name="Text Box 17"/>
          <p:cNvSpPr txBox="1">
            <a:spLocks noChangeArrowheads="1"/>
          </p:cNvSpPr>
          <p:nvPr/>
        </p:nvSpPr>
        <p:spPr bwMode="auto">
          <a:xfrm rot="10800000">
            <a:off x="1671638" y="5737225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30</a:t>
            </a:r>
          </a:p>
        </p:txBody>
      </p:sp>
      <p:sp>
        <p:nvSpPr>
          <p:cNvPr id="18" name="Text Box 18"/>
          <p:cNvSpPr txBox="1">
            <a:spLocks noChangeArrowheads="1"/>
          </p:cNvSpPr>
          <p:nvPr/>
        </p:nvSpPr>
        <p:spPr bwMode="auto">
          <a:xfrm rot="10800000">
            <a:off x="2051051" y="5751513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35</a:t>
            </a:r>
          </a:p>
        </p:txBody>
      </p:sp>
      <p:sp>
        <p:nvSpPr>
          <p:cNvPr id="19" name="Text Box 19"/>
          <p:cNvSpPr txBox="1">
            <a:spLocks noChangeArrowheads="1"/>
          </p:cNvSpPr>
          <p:nvPr/>
        </p:nvSpPr>
        <p:spPr bwMode="auto">
          <a:xfrm rot="10800000">
            <a:off x="3194051" y="5661025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20" name="Text Box 20"/>
          <p:cNvSpPr txBox="1">
            <a:spLocks noChangeArrowheads="1"/>
          </p:cNvSpPr>
          <p:nvPr/>
        </p:nvSpPr>
        <p:spPr bwMode="auto">
          <a:xfrm rot="10800000">
            <a:off x="3575051" y="566261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101</a:t>
            </a:r>
          </a:p>
        </p:txBody>
      </p:sp>
      <p:sp>
        <p:nvSpPr>
          <p:cNvPr id="21" name="Text Box 21"/>
          <p:cNvSpPr txBox="1">
            <a:spLocks noChangeArrowheads="1"/>
          </p:cNvSpPr>
          <p:nvPr/>
        </p:nvSpPr>
        <p:spPr bwMode="auto">
          <a:xfrm rot="10800000">
            <a:off x="3956051" y="567531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110</a:t>
            </a:r>
          </a:p>
        </p:txBody>
      </p:sp>
      <p:sp>
        <p:nvSpPr>
          <p:cNvPr id="22" name="Text Box 22"/>
          <p:cNvSpPr txBox="1">
            <a:spLocks noChangeArrowheads="1"/>
          </p:cNvSpPr>
          <p:nvPr/>
        </p:nvSpPr>
        <p:spPr bwMode="auto">
          <a:xfrm rot="10800000">
            <a:off x="4718051" y="565943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23" name="Text Box 23"/>
          <p:cNvSpPr txBox="1">
            <a:spLocks noChangeArrowheads="1"/>
          </p:cNvSpPr>
          <p:nvPr/>
        </p:nvSpPr>
        <p:spPr bwMode="auto">
          <a:xfrm rot="10800000">
            <a:off x="5099051" y="566261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130</a:t>
            </a:r>
          </a:p>
        </p:txBody>
      </p:sp>
      <p:sp>
        <p:nvSpPr>
          <p:cNvPr id="24" name="Text Box 24"/>
          <p:cNvSpPr txBox="1">
            <a:spLocks noChangeArrowheads="1"/>
          </p:cNvSpPr>
          <p:nvPr/>
        </p:nvSpPr>
        <p:spPr bwMode="auto">
          <a:xfrm rot="10800000">
            <a:off x="6259514" y="566261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25" name="Text Box 25"/>
          <p:cNvSpPr txBox="1">
            <a:spLocks noChangeArrowheads="1"/>
          </p:cNvSpPr>
          <p:nvPr/>
        </p:nvSpPr>
        <p:spPr bwMode="auto">
          <a:xfrm rot="10800000">
            <a:off x="6640514" y="565943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26" name="Text Box 26"/>
          <p:cNvSpPr txBox="1">
            <a:spLocks noChangeArrowheads="1"/>
          </p:cNvSpPr>
          <p:nvPr/>
        </p:nvSpPr>
        <p:spPr bwMode="auto">
          <a:xfrm rot="10800000">
            <a:off x="7021514" y="564673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179</a:t>
            </a:r>
          </a:p>
        </p:txBody>
      </p:sp>
      <p:sp>
        <p:nvSpPr>
          <p:cNvPr id="27" name="Text Box 27"/>
          <p:cNvSpPr txBox="1">
            <a:spLocks noChangeArrowheads="1"/>
          </p:cNvSpPr>
          <p:nvPr/>
        </p:nvSpPr>
        <p:spPr bwMode="auto">
          <a:xfrm rot="10800000">
            <a:off x="7781926" y="565943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28" name="Text Box 28"/>
          <p:cNvSpPr txBox="1">
            <a:spLocks noChangeArrowheads="1"/>
          </p:cNvSpPr>
          <p:nvPr/>
        </p:nvSpPr>
        <p:spPr bwMode="auto">
          <a:xfrm rot="10800000">
            <a:off x="8162926" y="566261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200</a:t>
            </a:r>
          </a:p>
        </p:txBody>
      </p:sp>
      <p:sp>
        <p:nvSpPr>
          <p:cNvPr id="29" name="Text Box 29"/>
          <p:cNvSpPr txBox="1">
            <a:spLocks noChangeArrowheads="1"/>
          </p:cNvSpPr>
          <p:nvPr/>
        </p:nvSpPr>
        <p:spPr bwMode="auto">
          <a:xfrm rot="10800000">
            <a:off x="961303" y="4381500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30</a:t>
            </a:r>
          </a:p>
        </p:txBody>
      </p:sp>
      <p:sp>
        <p:nvSpPr>
          <p:cNvPr id="30" name="Text Box 30"/>
          <p:cNvSpPr txBox="1">
            <a:spLocks noChangeArrowheads="1"/>
          </p:cNvSpPr>
          <p:nvPr/>
        </p:nvSpPr>
        <p:spPr bwMode="auto">
          <a:xfrm rot="10800000">
            <a:off x="3921153" y="314750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31" name="Text Box 31"/>
          <p:cNvSpPr txBox="1">
            <a:spLocks noChangeArrowheads="1"/>
          </p:cNvSpPr>
          <p:nvPr/>
        </p:nvSpPr>
        <p:spPr bwMode="auto">
          <a:xfrm rot="10800000">
            <a:off x="5480051" y="429101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32" name="Text Box 32"/>
          <p:cNvSpPr txBox="1">
            <a:spLocks noChangeArrowheads="1"/>
          </p:cNvSpPr>
          <p:nvPr/>
        </p:nvSpPr>
        <p:spPr bwMode="auto">
          <a:xfrm rot="10800000">
            <a:off x="5861051" y="4292600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33" name="Text Box 33"/>
          <p:cNvSpPr txBox="1">
            <a:spLocks noChangeArrowheads="1"/>
          </p:cNvSpPr>
          <p:nvPr/>
        </p:nvSpPr>
        <p:spPr bwMode="auto">
          <a:xfrm rot="10800000">
            <a:off x="6242051" y="4292600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34" name="Line 34"/>
          <p:cNvSpPr>
            <a:spLocks noChangeShapeType="1"/>
          </p:cNvSpPr>
          <p:nvPr/>
        </p:nvSpPr>
        <p:spPr bwMode="auto">
          <a:xfrm flipH="1">
            <a:off x="1566863" y="3530600"/>
            <a:ext cx="24384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5" name="Line 35"/>
          <p:cNvSpPr>
            <a:spLocks noChangeShapeType="1"/>
          </p:cNvSpPr>
          <p:nvPr/>
        </p:nvSpPr>
        <p:spPr bwMode="auto">
          <a:xfrm>
            <a:off x="4310063" y="3530600"/>
            <a:ext cx="17526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6" name="Line 36"/>
          <p:cNvSpPr>
            <a:spLocks noChangeShapeType="1"/>
          </p:cNvSpPr>
          <p:nvPr/>
        </p:nvSpPr>
        <p:spPr bwMode="auto">
          <a:xfrm flipH="1">
            <a:off x="728663" y="4673600"/>
            <a:ext cx="304800" cy="990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7" name="Line 37"/>
          <p:cNvSpPr>
            <a:spLocks noChangeShapeType="1"/>
          </p:cNvSpPr>
          <p:nvPr/>
        </p:nvSpPr>
        <p:spPr bwMode="auto">
          <a:xfrm>
            <a:off x="1338263" y="4673600"/>
            <a:ext cx="990600" cy="990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8" name="Line 38"/>
          <p:cNvSpPr>
            <a:spLocks noChangeShapeType="1"/>
          </p:cNvSpPr>
          <p:nvPr/>
        </p:nvSpPr>
        <p:spPr bwMode="auto">
          <a:xfrm flipH="1">
            <a:off x="3852863" y="474980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9" name="Line 39"/>
          <p:cNvSpPr>
            <a:spLocks noChangeShapeType="1"/>
          </p:cNvSpPr>
          <p:nvPr/>
        </p:nvSpPr>
        <p:spPr bwMode="auto">
          <a:xfrm flipH="1">
            <a:off x="5300664" y="4749800"/>
            <a:ext cx="6096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0" name="Line 40"/>
          <p:cNvSpPr>
            <a:spLocks noChangeShapeType="1"/>
          </p:cNvSpPr>
          <p:nvPr/>
        </p:nvSpPr>
        <p:spPr bwMode="auto">
          <a:xfrm>
            <a:off x="6291264" y="4749800"/>
            <a:ext cx="533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1" name="Line 41"/>
          <p:cNvSpPr>
            <a:spLocks noChangeShapeType="1"/>
          </p:cNvSpPr>
          <p:nvPr/>
        </p:nvSpPr>
        <p:spPr bwMode="auto">
          <a:xfrm>
            <a:off x="6672264" y="474980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2" name="Line 42"/>
          <p:cNvSpPr>
            <a:spLocks noChangeShapeType="1"/>
          </p:cNvSpPr>
          <p:nvPr/>
        </p:nvSpPr>
        <p:spPr bwMode="auto">
          <a:xfrm>
            <a:off x="380915" y="6121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3" name="Line 43"/>
          <p:cNvSpPr>
            <a:spLocks noChangeShapeType="1"/>
          </p:cNvSpPr>
          <p:nvPr/>
        </p:nvSpPr>
        <p:spPr bwMode="auto">
          <a:xfrm>
            <a:off x="761915" y="6121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4" name="Line 44"/>
          <p:cNvSpPr>
            <a:spLocks noChangeShapeType="1"/>
          </p:cNvSpPr>
          <p:nvPr/>
        </p:nvSpPr>
        <p:spPr bwMode="auto">
          <a:xfrm>
            <a:off x="1142915" y="6121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5" name="Line 45"/>
          <p:cNvSpPr>
            <a:spLocks noChangeShapeType="1"/>
          </p:cNvSpPr>
          <p:nvPr/>
        </p:nvSpPr>
        <p:spPr bwMode="auto">
          <a:xfrm>
            <a:off x="1897063" y="6121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6" name="Line 46"/>
          <p:cNvSpPr>
            <a:spLocks noChangeShapeType="1"/>
          </p:cNvSpPr>
          <p:nvPr/>
        </p:nvSpPr>
        <p:spPr bwMode="auto">
          <a:xfrm>
            <a:off x="2278063" y="6121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7" name="Line 47"/>
          <p:cNvSpPr>
            <a:spLocks noChangeShapeType="1"/>
          </p:cNvSpPr>
          <p:nvPr/>
        </p:nvSpPr>
        <p:spPr bwMode="auto">
          <a:xfrm>
            <a:off x="3444153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8" name="Line 48"/>
          <p:cNvSpPr>
            <a:spLocks noChangeShapeType="1"/>
          </p:cNvSpPr>
          <p:nvPr/>
        </p:nvSpPr>
        <p:spPr bwMode="auto">
          <a:xfrm>
            <a:off x="3825153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9" name="Line 49"/>
          <p:cNvSpPr>
            <a:spLocks noChangeShapeType="1"/>
          </p:cNvSpPr>
          <p:nvPr/>
        </p:nvSpPr>
        <p:spPr bwMode="auto">
          <a:xfrm>
            <a:off x="4206153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0" name="Line 50"/>
          <p:cNvSpPr>
            <a:spLocks noChangeShapeType="1"/>
          </p:cNvSpPr>
          <p:nvPr/>
        </p:nvSpPr>
        <p:spPr bwMode="auto">
          <a:xfrm>
            <a:off x="4943448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1" name="Line 51"/>
          <p:cNvSpPr>
            <a:spLocks noChangeShapeType="1"/>
          </p:cNvSpPr>
          <p:nvPr/>
        </p:nvSpPr>
        <p:spPr bwMode="auto">
          <a:xfrm>
            <a:off x="5313364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2" name="Line 52"/>
          <p:cNvSpPr>
            <a:spLocks noChangeShapeType="1"/>
          </p:cNvSpPr>
          <p:nvPr/>
        </p:nvSpPr>
        <p:spPr bwMode="auto">
          <a:xfrm>
            <a:off x="6519864" y="61595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3" name="Line 53"/>
          <p:cNvSpPr>
            <a:spLocks noChangeShapeType="1"/>
          </p:cNvSpPr>
          <p:nvPr/>
        </p:nvSpPr>
        <p:spPr bwMode="auto">
          <a:xfrm>
            <a:off x="6900864" y="61595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4" name="Line 54"/>
          <p:cNvSpPr>
            <a:spLocks noChangeShapeType="1"/>
          </p:cNvSpPr>
          <p:nvPr/>
        </p:nvSpPr>
        <p:spPr bwMode="auto">
          <a:xfrm>
            <a:off x="7281864" y="61595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5" name="Line 55"/>
          <p:cNvSpPr>
            <a:spLocks noChangeShapeType="1"/>
          </p:cNvSpPr>
          <p:nvPr/>
        </p:nvSpPr>
        <p:spPr bwMode="auto">
          <a:xfrm>
            <a:off x="8043864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6" name="Line 56"/>
          <p:cNvSpPr>
            <a:spLocks noChangeShapeType="1"/>
          </p:cNvSpPr>
          <p:nvPr/>
        </p:nvSpPr>
        <p:spPr bwMode="auto">
          <a:xfrm>
            <a:off x="8424864" y="61722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7" name="Line 57"/>
          <p:cNvSpPr>
            <a:spLocks noChangeShapeType="1"/>
          </p:cNvSpPr>
          <p:nvPr/>
        </p:nvSpPr>
        <p:spPr bwMode="auto">
          <a:xfrm>
            <a:off x="1338263" y="596900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8" name="Line 58"/>
          <p:cNvSpPr>
            <a:spLocks noChangeShapeType="1"/>
          </p:cNvSpPr>
          <p:nvPr/>
        </p:nvSpPr>
        <p:spPr bwMode="auto">
          <a:xfrm>
            <a:off x="2862263" y="596900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9" name="Line 59"/>
          <p:cNvSpPr>
            <a:spLocks noChangeShapeType="1"/>
          </p:cNvSpPr>
          <p:nvPr/>
        </p:nvSpPr>
        <p:spPr bwMode="auto">
          <a:xfrm>
            <a:off x="4386263" y="596900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0" name="Line 60"/>
          <p:cNvSpPr>
            <a:spLocks noChangeShapeType="1"/>
          </p:cNvSpPr>
          <p:nvPr/>
        </p:nvSpPr>
        <p:spPr bwMode="auto">
          <a:xfrm>
            <a:off x="5910264" y="596900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1" name="Line 61"/>
          <p:cNvSpPr>
            <a:spLocks noChangeShapeType="1"/>
          </p:cNvSpPr>
          <p:nvPr/>
        </p:nvSpPr>
        <p:spPr bwMode="auto">
          <a:xfrm>
            <a:off x="7434264" y="596900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2" name="Text Box 62"/>
          <p:cNvSpPr txBox="1">
            <a:spLocks noChangeArrowheads="1"/>
          </p:cNvSpPr>
          <p:nvPr/>
        </p:nvSpPr>
        <p:spPr bwMode="auto">
          <a:xfrm>
            <a:off x="6148389" y="3078163"/>
            <a:ext cx="20746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dirty="0">
                <a:solidFill>
                  <a:schemeClr val="accent2"/>
                </a:solidFill>
                <a:latin typeface="+mn-lt"/>
              </a:rPr>
              <a:t>Max fan-out: 4</a:t>
            </a:r>
          </a:p>
        </p:txBody>
      </p:sp>
      <p:sp>
        <p:nvSpPr>
          <p:cNvPr id="63" name="Line 62"/>
          <p:cNvSpPr>
            <a:spLocks noChangeShapeType="1"/>
          </p:cNvSpPr>
          <p:nvPr/>
        </p:nvSpPr>
        <p:spPr bwMode="auto">
          <a:xfrm>
            <a:off x="4310063" y="3529807"/>
            <a:ext cx="1752600" cy="762000"/>
          </a:xfrm>
          <a:prstGeom prst="line">
            <a:avLst/>
          </a:prstGeom>
          <a:noFill/>
          <a:ln w="63500">
            <a:solidFill>
              <a:schemeClr val="accent2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4" name="Line 63"/>
          <p:cNvSpPr>
            <a:spLocks noChangeShapeType="1"/>
          </p:cNvSpPr>
          <p:nvPr/>
        </p:nvSpPr>
        <p:spPr bwMode="auto">
          <a:xfrm>
            <a:off x="6297613" y="4757738"/>
            <a:ext cx="533400" cy="914400"/>
          </a:xfrm>
          <a:prstGeom prst="line">
            <a:avLst/>
          </a:prstGeom>
          <a:noFill/>
          <a:ln w="63500">
            <a:solidFill>
              <a:schemeClr val="accent2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5" name="Group 137"/>
          <p:cNvGrpSpPr>
            <a:grpSpLocks/>
          </p:cNvGrpSpPr>
          <p:nvPr/>
        </p:nvGrpSpPr>
        <p:grpSpPr bwMode="auto">
          <a:xfrm>
            <a:off x="7021598" y="5643266"/>
            <a:ext cx="492125" cy="985838"/>
            <a:chOff x="4422" y="3389"/>
            <a:chExt cx="310" cy="621"/>
          </a:xfrm>
        </p:grpSpPr>
        <p:sp>
          <p:nvSpPr>
            <p:cNvPr id="66" name="Line 64"/>
            <p:cNvSpPr>
              <a:spLocks noChangeShapeType="1"/>
            </p:cNvSpPr>
            <p:nvPr/>
          </p:nvSpPr>
          <p:spPr bwMode="auto">
            <a:xfrm>
              <a:off x="4586" y="3722"/>
              <a:ext cx="0" cy="288"/>
            </a:xfrm>
            <a:prstGeom prst="line">
              <a:avLst/>
            </a:prstGeom>
            <a:noFill/>
            <a:ln w="63500">
              <a:solidFill>
                <a:schemeClr val="accent2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 Box 65"/>
            <p:cNvSpPr txBox="1">
              <a:spLocks noChangeArrowheads="1"/>
            </p:cNvSpPr>
            <p:nvPr/>
          </p:nvSpPr>
          <p:spPr bwMode="auto">
            <a:xfrm rot="10800000">
              <a:off x="4422" y="3389"/>
              <a:ext cx="31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2000" b="1" dirty="0">
                  <a:solidFill>
                    <a:schemeClr val="accent2"/>
                  </a:solidFill>
                  <a:latin typeface="Prestige12 BT" panose="02070509030506020304" pitchFamily="49" charset="0"/>
                </a:rPr>
                <a:t>179</a:t>
              </a:r>
            </a:p>
          </p:txBody>
        </p:sp>
      </p:grpSp>
      <p:sp>
        <p:nvSpPr>
          <p:cNvPr id="68" name="Line 66"/>
          <p:cNvSpPr>
            <a:spLocks noChangeShapeType="1"/>
          </p:cNvSpPr>
          <p:nvPr/>
        </p:nvSpPr>
        <p:spPr bwMode="auto">
          <a:xfrm flipH="1">
            <a:off x="1580371" y="3529013"/>
            <a:ext cx="2438400" cy="7620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" name="Line 67"/>
          <p:cNvSpPr>
            <a:spLocks noChangeShapeType="1"/>
          </p:cNvSpPr>
          <p:nvPr/>
        </p:nvSpPr>
        <p:spPr bwMode="auto">
          <a:xfrm>
            <a:off x="1339476" y="4680085"/>
            <a:ext cx="990600" cy="9906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0" name="Text Box 70"/>
          <p:cNvSpPr txBox="1">
            <a:spLocks noChangeArrowheads="1"/>
          </p:cNvSpPr>
          <p:nvPr/>
        </p:nvSpPr>
        <p:spPr bwMode="auto">
          <a:xfrm>
            <a:off x="2135273" y="5063828"/>
            <a:ext cx="151836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dirty="0">
                <a:solidFill>
                  <a:srgbClr val="FF0000"/>
                </a:solidFill>
                <a:latin typeface="+mn-lt"/>
              </a:rPr>
              <a:t>Not found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19643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8" grpId="0" animBg="1"/>
      <p:bldP spid="69" grpId="0" animBg="1"/>
      <p:bldP spid="70" grpId="0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336" y="1456854"/>
            <a:ext cx="8173014" cy="571451"/>
          </a:xfrm>
        </p:spPr>
        <p:txBody>
          <a:bodyPr>
            <a:normAutofit/>
          </a:bodyPr>
          <a:lstStyle/>
          <a:p>
            <a:r>
              <a:rPr lang="en-US" dirty="0">
                <a:latin typeface="Prestige12 BT" panose="02070509030506020304" pitchFamily="49" charset="0"/>
              </a:rPr>
              <a:t>SELECT * FROM </a:t>
            </a:r>
            <a:r>
              <a:rPr lang="en-US" i="1" dirty="0">
                <a:latin typeface="Prestige12 BT" panose="02070509030506020304" pitchFamily="49" charset="0"/>
              </a:rPr>
              <a:t>R</a:t>
            </a:r>
            <a:r>
              <a:rPr lang="en-US" dirty="0">
                <a:latin typeface="Prestige12 BT" panose="02070509030506020304" pitchFamily="49" charset="0"/>
              </a:rPr>
              <a:t> WHERE </a:t>
            </a:r>
            <a:r>
              <a:rPr lang="en-US" i="1" dirty="0">
                <a:solidFill>
                  <a:srgbClr val="FF0000"/>
                </a:solidFill>
                <a:latin typeface="Prestige12 BT" panose="02070509030506020304" pitchFamily="49" charset="0"/>
              </a:rPr>
              <a:t>k</a:t>
            </a:r>
            <a:r>
              <a:rPr lang="en-US" dirty="0">
                <a:solidFill>
                  <a:srgbClr val="FF0000"/>
                </a:solidFill>
                <a:latin typeface="Prestige12 BT" panose="02070509030506020304" pitchFamily="49" charset="0"/>
              </a:rPr>
              <a:t> &gt; 32 AND </a:t>
            </a:r>
            <a:r>
              <a:rPr lang="en-US" i="1" dirty="0">
                <a:solidFill>
                  <a:srgbClr val="FF0000"/>
                </a:solidFill>
                <a:latin typeface="Prestige12 BT" panose="02070509030506020304" pitchFamily="49" charset="0"/>
              </a:rPr>
              <a:t>k</a:t>
            </a:r>
            <a:r>
              <a:rPr lang="en-US" dirty="0">
                <a:solidFill>
                  <a:srgbClr val="FF0000"/>
                </a:solidFill>
                <a:latin typeface="Prestige12 BT" panose="02070509030506020304" pitchFamily="49" charset="0"/>
              </a:rPr>
              <a:t> &lt; 179</a:t>
            </a:r>
            <a:r>
              <a:rPr lang="en-US" dirty="0">
                <a:latin typeface="Prestige12 BT" panose="02070509030506020304" pitchFamily="49" charset="0"/>
              </a:rPr>
              <a:t>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15</a:t>
            </a:fld>
            <a:endParaRPr lang="en-US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19063" y="47885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643063" y="47885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167063" y="47885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4691064" y="47885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6215064" y="47885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7739064" y="47885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957263" y="34169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453064" y="34169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3929063" y="22739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4" name="Text Box 14"/>
          <p:cNvSpPr txBox="1">
            <a:spLocks noChangeArrowheads="1"/>
          </p:cNvSpPr>
          <p:nvPr/>
        </p:nvSpPr>
        <p:spPr bwMode="auto">
          <a:xfrm rot="10800000">
            <a:off x="146051" y="4939406"/>
            <a:ext cx="492125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3</a:t>
            </a:r>
          </a:p>
        </p:txBody>
      </p:sp>
      <p:sp>
        <p:nvSpPr>
          <p:cNvPr id="15" name="Text Box 15"/>
          <p:cNvSpPr txBox="1">
            <a:spLocks noChangeArrowheads="1"/>
          </p:cNvSpPr>
          <p:nvPr/>
        </p:nvSpPr>
        <p:spPr bwMode="auto">
          <a:xfrm rot="10800000">
            <a:off x="527051" y="4936231"/>
            <a:ext cx="492125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5</a:t>
            </a:r>
          </a:p>
        </p:txBody>
      </p:sp>
      <p:sp>
        <p:nvSpPr>
          <p:cNvPr id="16" name="Text Box 16"/>
          <p:cNvSpPr txBox="1">
            <a:spLocks noChangeArrowheads="1"/>
          </p:cNvSpPr>
          <p:nvPr/>
        </p:nvSpPr>
        <p:spPr bwMode="auto">
          <a:xfrm rot="10800000">
            <a:off x="908051" y="4860031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</a:t>
            </a:r>
          </a:p>
        </p:txBody>
      </p:sp>
      <p:sp>
        <p:nvSpPr>
          <p:cNvPr id="17" name="Text Box 17"/>
          <p:cNvSpPr txBox="1">
            <a:spLocks noChangeArrowheads="1"/>
          </p:cNvSpPr>
          <p:nvPr/>
        </p:nvSpPr>
        <p:spPr bwMode="auto">
          <a:xfrm rot="10800000">
            <a:off x="1671638" y="4861618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30</a:t>
            </a:r>
          </a:p>
        </p:txBody>
      </p:sp>
      <p:sp>
        <p:nvSpPr>
          <p:cNvPr id="18" name="Text Box 18"/>
          <p:cNvSpPr txBox="1">
            <a:spLocks noChangeArrowheads="1"/>
          </p:cNvSpPr>
          <p:nvPr/>
        </p:nvSpPr>
        <p:spPr bwMode="auto">
          <a:xfrm rot="10800000">
            <a:off x="2051051" y="4875906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35</a:t>
            </a:r>
          </a:p>
        </p:txBody>
      </p:sp>
      <p:sp>
        <p:nvSpPr>
          <p:cNvPr id="19" name="Text Box 19"/>
          <p:cNvSpPr txBox="1">
            <a:spLocks noChangeArrowheads="1"/>
          </p:cNvSpPr>
          <p:nvPr/>
        </p:nvSpPr>
        <p:spPr bwMode="auto">
          <a:xfrm rot="10800000">
            <a:off x="3194051" y="478541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20" name="Text Box 20"/>
          <p:cNvSpPr txBox="1">
            <a:spLocks noChangeArrowheads="1"/>
          </p:cNvSpPr>
          <p:nvPr/>
        </p:nvSpPr>
        <p:spPr bwMode="auto">
          <a:xfrm rot="10800000">
            <a:off x="3575051" y="4787006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101</a:t>
            </a:r>
          </a:p>
        </p:txBody>
      </p:sp>
      <p:sp>
        <p:nvSpPr>
          <p:cNvPr id="21" name="Text Box 21"/>
          <p:cNvSpPr txBox="1">
            <a:spLocks noChangeArrowheads="1"/>
          </p:cNvSpPr>
          <p:nvPr/>
        </p:nvSpPr>
        <p:spPr bwMode="auto">
          <a:xfrm rot="10800000">
            <a:off x="3956051" y="4799706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110</a:t>
            </a:r>
          </a:p>
        </p:txBody>
      </p:sp>
      <p:sp>
        <p:nvSpPr>
          <p:cNvPr id="22" name="Text Box 22"/>
          <p:cNvSpPr txBox="1">
            <a:spLocks noChangeArrowheads="1"/>
          </p:cNvSpPr>
          <p:nvPr/>
        </p:nvSpPr>
        <p:spPr bwMode="auto">
          <a:xfrm rot="10800000">
            <a:off x="4718051" y="4783831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23" name="Text Box 23"/>
          <p:cNvSpPr txBox="1">
            <a:spLocks noChangeArrowheads="1"/>
          </p:cNvSpPr>
          <p:nvPr/>
        </p:nvSpPr>
        <p:spPr bwMode="auto">
          <a:xfrm rot="10800000">
            <a:off x="5099051" y="4787006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130</a:t>
            </a:r>
          </a:p>
        </p:txBody>
      </p:sp>
      <p:sp>
        <p:nvSpPr>
          <p:cNvPr id="24" name="Text Box 24"/>
          <p:cNvSpPr txBox="1">
            <a:spLocks noChangeArrowheads="1"/>
          </p:cNvSpPr>
          <p:nvPr/>
        </p:nvSpPr>
        <p:spPr bwMode="auto">
          <a:xfrm rot="10800000">
            <a:off x="6259514" y="4787006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25" name="Text Box 25"/>
          <p:cNvSpPr txBox="1">
            <a:spLocks noChangeArrowheads="1"/>
          </p:cNvSpPr>
          <p:nvPr/>
        </p:nvSpPr>
        <p:spPr bwMode="auto">
          <a:xfrm rot="10800000">
            <a:off x="6640514" y="4783831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26" name="Text Box 26"/>
          <p:cNvSpPr txBox="1">
            <a:spLocks noChangeArrowheads="1"/>
          </p:cNvSpPr>
          <p:nvPr/>
        </p:nvSpPr>
        <p:spPr bwMode="auto">
          <a:xfrm rot="10800000">
            <a:off x="7021514" y="4771131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179</a:t>
            </a:r>
          </a:p>
        </p:txBody>
      </p:sp>
      <p:sp>
        <p:nvSpPr>
          <p:cNvPr id="27" name="Text Box 27"/>
          <p:cNvSpPr txBox="1">
            <a:spLocks noChangeArrowheads="1"/>
          </p:cNvSpPr>
          <p:nvPr/>
        </p:nvSpPr>
        <p:spPr bwMode="auto">
          <a:xfrm rot="10800000">
            <a:off x="7781926" y="4783831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28" name="Text Box 28"/>
          <p:cNvSpPr txBox="1">
            <a:spLocks noChangeArrowheads="1"/>
          </p:cNvSpPr>
          <p:nvPr/>
        </p:nvSpPr>
        <p:spPr bwMode="auto">
          <a:xfrm rot="10800000">
            <a:off x="8162926" y="4787006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200</a:t>
            </a:r>
          </a:p>
        </p:txBody>
      </p:sp>
      <p:sp>
        <p:nvSpPr>
          <p:cNvPr id="29" name="Text Box 29"/>
          <p:cNvSpPr txBox="1">
            <a:spLocks noChangeArrowheads="1"/>
          </p:cNvSpPr>
          <p:nvPr/>
        </p:nvSpPr>
        <p:spPr bwMode="auto">
          <a:xfrm rot="10800000">
            <a:off x="961303" y="3505893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30</a:t>
            </a:r>
          </a:p>
        </p:txBody>
      </p:sp>
      <p:sp>
        <p:nvSpPr>
          <p:cNvPr id="30" name="Text Box 30"/>
          <p:cNvSpPr txBox="1">
            <a:spLocks noChangeArrowheads="1"/>
          </p:cNvSpPr>
          <p:nvPr/>
        </p:nvSpPr>
        <p:spPr bwMode="auto">
          <a:xfrm rot="10800000">
            <a:off x="3921153" y="2271901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31" name="Text Box 31"/>
          <p:cNvSpPr txBox="1">
            <a:spLocks noChangeArrowheads="1"/>
          </p:cNvSpPr>
          <p:nvPr/>
        </p:nvSpPr>
        <p:spPr bwMode="auto">
          <a:xfrm rot="10800000">
            <a:off x="5480051" y="3415406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32" name="Text Box 32"/>
          <p:cNvSpPr txBox="1">
            <a:spLocks noChangeArrowheads="1"/>
          </p:cNvSpPr>
          <p:nvPr/>
        </p:nvSpPr>
        <p:spPr bwMode="auto">
          <a:xfrm rot="10800000">
            <a:off x="5861051" y="341699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33" name="Text Box 33"/>
          <p:cNvSpPr txBox="1">
            <a:spLocks noChangeArrowheads="1"/>
          </p:cNvSpPr>
          <p:nvPr/>
        </p:nvSpPr>
        <p:spPr bwMode="auto">
          <a:xfrm rot="10800000">
            <a:off x="6242051" y="341699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34" name="Line 34"/>
          <p:cNvSpPr>
            <a:spLocks noChangeShapeType="1"/>
          </p:cNvSpPr>
          <p:nvPr/>
        </p:nvSpPr>
        <p:spPr bwMode="auto">
          <a:xfrm flipH="1">
            <a:off x="1566863" y="2654993"/>
            <a:ext cx="24384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5" name="Line 35"/>
          <p:cNvSpPr>
            <a:spLocks noChangeShapeType="1"/>
          </p:cNvSpPr>
          <p:nvPr/>
        </p:nvSpPr>
        <p:spPr bwMode="auto">
          <a:xfrm>
            <a:off x="4310063" y="2654993"/>
            <a:ext cx="17526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6" name="Line 36"/>
          <p:cNvSpPr>
            <a:spLocks noChangeShapeType="1"/>
          </p:cNvSpPr>
          <p:nvPr/>
        </p:nvSpPr>
        <p:spPr bwMode="auto">
          <a:xfrm flipH="1">
            <a:off x="728663" y="3797993"/>
            <a:ext cx="304800" cy="990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7" name="Line 37"/>
          <p:cNvSpPr>
            <a:spLocks noChangeShapeType="1"/>
          </p:cNvSpPr>
          <p:nvPr/>
        </p:nvSpPr>
        <p:spPr bwMode="auto">
          <a:xfrm>
            <a:off x="1338263" y="3797993"/>
            <a:ext cx="990600" cy="990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8" name="Line 38"/>
          <p:cNvSpPr>
            <a:spLocks noChangeShapeType="1"/>
          </p:cNvSpPr>
          <p:nvPr/>
        </p:nvSpPr>
        <p:spPr bwMode="auto">
          <a:xfrm flipH="1">
            <a:off x="3852863" y="3874193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9" name="Line 39"/>
          <p:cNvSpPr>
            <a:spLocks noChangeShapeType="1"/>
          </p:cNvSpPr>
          <p:nvPr/>
        </p:nvSpPr>
        <p:spPr bwMode="auto">
          <a:xfrm flipH="1">
            <a:off x="5300664" y="3874193"/>
            <a:ext cx="6096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0" name="Line 40"/>
          <p:cNvSpPr>
            <a:spLocks noChangeShapeType="1"/>
          </p:cNvSpPr>
          <p:nvPr/>
        </p:nvSpPr>
        <p:spPr bwMode="auto">
          <a:xfrm>
            <a:off x="6291264" y="3874193"/>
            <a:ext cx="533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1" name="Line 41"/>
          <p:cNvSpPr>
            <a:spLocks noChangeShapeType="1"/>
          </p:cNvSpPr>
          <p:nvPr/>
        </p:nvSpPr>
        <p:spPr bwMode="auto">
          <a:xfrm>
            <a:off x="6672264" y="3874193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2" name="Line 42"/>
          <p:cNvSpPr>
            <a:spLocks noChangeShapeType="1"/>
          </p:cNvSpPr>
          <p:nvPr/>
        </p:nvSpPr>
        <p:spPr bwMode="auto">
          <a:xfrm>
            <a:off x="380915" y="52457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3" name="Line 43"/>
          <p:cNvSpPr>
            <a:spLocks noChangeShapeType="1"/>
          </p:cNvSpPr>
          <p:nvPr/>
        </p:nvSpPr>
        <p:spPr bwMode="auto">
          <a:xfrm>
            <a:off x="761915" y="52457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4" name="Line 44"/>
          <p:cNvSpPr>
            <a:spLocks noChangeShapeType="1"/>
          </p:cNvSpPr>
          <p:nvPr/>
        </p:nvSpPr>
        <p:spPr bwMode="auto">
          <a:xfrm>
            <a:off x="1142915" y="52457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5" name="Line 45"/>
          <p:cNvSpPr>
            <a:spLocks noChangeShapeType="1"/>
          </p:cNvSpPr>
          <p:nvPr/>
        </p:nvSpPr>
        <p:spPr bwMode="auto">
          <a:xfrm>
            <a:off x="1897063" y="52457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6" name="Line 46"/>
          <p:cNvSpPr>
            <a:spLocks noChangeShapeType="1"/>
          </p:cNvSpPr>
          <p:nvPr/>
        </p:nvSpPr>
        <p:spPr bwMode="auto">
          <a:xfrm>
            <a:off x="2278063" y="52457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7" name="Line 47"/>
          <p:cNvSpPr>
            <a:spLocks noChangeShapeType="1"/>
          </p:cNvSpPr>
          <p:nvPr/>
        </p:nvSpPr>
        <p:spPr bwMode="auto">
          <a:xfrm>
            <a:off x="3444153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8" name="Line 48"/>
          <p:cNvSpPr>
            <a:spLocks noChangeShapeType="1"/>
          </p:cNvSpPr>
          <p:nvPr/>
        </p:nvSpPr>
        <p:spPr bwMode="auto">
          <a:xfrm>
            <a:off x="3825153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9" name="Line 49"/>
          <p:cNvSpPr>
            <a:spLocks noChangeShapeType="1"/>
          </p:cNvSpPr>
          <p:nvPr/>
        </p:nvSpPr>
        <p:spPr bwMode="auto">
          <a:xfrm>
            <a:off x="4206153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0" name="Line 50"/>
          <p:cNvSpPr>
            <a:spLocks noChangeShapeType="1"/>
          </p:cNvSpPr>
          <p:nvPr/>
        </p:nvSpPr>
        <p:spPr bwMode="auto">
          <a:xfrm>
            <a:off x="4943448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1" name="Line 51"/>
          <p:cNvSpPr>
            <a:spLocks noChangeShapeType="1"/>
          </p:cNvSpPr>
          <p:nvPr/>
        </p:nvSpPr>
        <p:spPr bwMode="auto">
          <a:xfrm>
            <a:off x="5313364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2" name="Line 52"/>
          <p:cNvSpPr>
            <a:spLocks noChangeShapeType="1"/>
          </p:cNvSpPr>
          <p:nvPr/>
        </p:nvSpPr>
        <p:spPr bwMode="auto">
          <a:xfrm>
            <a:off x="6519864" y="52838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3" name="Line 53"/>
          <p:cNvSpPr>
            <a:spLocks noChangeShapeType="1"/>
          </p:cNvSpPr>
          <p:nvPr/>
        </p:nvSpPr>
        <p:spPr bwMode="auto">
          <a:xfrm>
            <a:off x="6900864" y="52838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4" name="Line 54"/>
          <p:cNvSpPr>
            <a:spLocks noChangeShapeType="1"/>
          </p:cNvSpPr>
          <p:nvPr/>
        </p:nvSpPr>
        <p:spPr bwMode="auto">
          <a:xfrm>
            <a:off x="7281864" y="52838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5" name="Line 55"/>
          <p:cNvSpPr>
            <a:spLocks noChangeShapeType="1"/>
          </p:cNvSpPr>
          <p:nvPr/>
        </p:nvSpPr>
        <p:spPr bwMode="auto">
          <a:xfrm>
            <a:off x="8043864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6" name="Line 56"/>
          <p:cNvSpPr>
            <a:spLocks noChangeShapeType="1"/>
          </p:cNvSpPr>
          <p:nvPr/>
        </p:nvSpPr>
        <p:spPr bwMode="auto">
          <a:xfrm>
            <a:off x="8424864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7" name="Line 57"/>
          <p:cNvSpPr>
            <a:spLocks noChangeShapeType="1"/>
          </p:cNvSpPr>
          <p:nvPr/>
        </p:nvSpPr>
        <p:spPr bwMode="auto">
          <a:xfrm>
            <a:off x="1338263" y="5093393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8" name="Line 58"/>
          <p:cNvSpPr>
            <a:spLocks noChangeShapeType="1"/>
          </p:cNvSpPr>
          <p:nvPr/>
        </p:nvSpPr>
        <p:spPr bwMode="auto">
          <a:xfrm>
            <a:off x="2862263" y="5093393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9" name="Line 59"/>
          <p:cNvSpPr>
            <a:spLocks noChangeShapeType="1"/>
          </p:cNvSpPr>
          <p:nvPr/>
        </p:nvSpPr>
        <p:spPr bwMode="auto">
          <a:xfrm>
            <a:off x="4386263" y="5093393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0" name="Line 60"/>
          <p:cNvSpPr>
            <a:spLocks noChangeShapeType="1"/>
          </p:cNvSpPr>
          <p:nvPr/>
        </p:nvSpPr>
        <p:spPr bwMode="auto">
          <a:xfrm>
            <a:off x="5910264" y="5093393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1" name="Line 61"/>
          <p:cNvSpPr>
            <a:spLocks noChangeShapeType="1"/>
          </p:cNvSpPr>
          <p:nvPr/>
        </p:nvSpPr>
        <p:spPr bwMode="auto">
          <a:xfrm>
            <a:off x="7434264" y="5093393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2" name="Text Box 62"/>
          <p:cNvSpPr txBox="1">
            <a:spLocks noChangeArrowheads="1"/>
          </p:cNvSpPr>
          <p:nvPr/>
        </p:nvSpPr>
        <p:spPr bwMode="auto">
          <a:xfrm>
            <a:off x="6148389" y="2202556"/>
            <a:ext cx="20746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dirty="0">
                <a:solidFill>
                  <a:schemeClr val="accent2"/>
                </a:solidFill>
                <a:latin typeface="+mn-lt"/>
              </a:rPr>
              <a:t>Max fan-out: 4</a:t>
            </a:r>
          </a:p>
        </p:txBody>
      </p:sp>
      <p:sp>
        <p:nvSpPr>
          <p:cNvPr id="63" name="Line 66"/>
          <p:cNvSpPr>
            <a:spLocks noChangeShapeType="1"/>
          </p:cNvSpPr>
          <p:nvPr/>
        </p:nvSpPr>
        <p:spPr bwMode="auto">
          <a:xfrm flipH="1">
            <a:off x="1551019" y="2658919"/>
            <a:ext cx="2438400" cy="7620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4" name="Line 67"/>
          <p:cNvSpPr>
            <a:spLocks noChangeShapeType="1"/>
          </p:cNvSpPr>
          <p:nvPr/>
        </p:nvSpPr>
        <p:spPr bwMode="auto">
          <a:xfrm>
            <a:off x="1366869" y="3813032"/>
            <a:ext cx="990600" cy="9906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grpSp>
        <p:nvGrpSpPr>
          <p:cNvPr id="65" name="Group 109"/>
          <p:cNvGrpSpPr>
            <a:grpSpLocks/>
          </p:cNvGrpSpPr>
          <p:nvPr/>
        </p:nvGrpSpPr>
        <p:grpSpPr bwMode="auto">
          <a:xfrm>
            <a:off x="2900394" y="4787760"/>
            <a:ext cx="4232275" cy="982663"/>
            <a:chOff x="1830" y="2789"/>
            <a:chExt cx="2666" cy="619"/>
          </a:xfrm>
        </p:grpSpPr>
        <p:sp>
          <p:nvSpPr>
            <p:cNvPr id="66" name="Line 69"/>
            <p:cNvSpPr>
              <a:spLocks noChangeShapeType="1"/>
            </p:cNvSpPr>
            <p:nvPr/>
          </p:nvSpPr>
          <p:spPr bwMode="auto">
            <a:xfrm>
              <a:off x="1830" y="2984"/>
              <a:ext cx="192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>
                <a:latin typeface="Prestige12 BT" panose="02070509030506020304" pitchFamily="49" charset="0"/>
              </a:endParaRPr>
            </a:p>
          </p:txBody>
        </p:sp>
        <p:sp>
          <p:nvSpPr>
            <p:cNvPr id="67" name="Text Box 85"/>
            <p:cNvSpPr txBox="1">
              <a:spLocks noChangeArrowheads="1"/>
            </p:cNvSpPr>
            <p:nvPr/>
          </p:nvSpPr>
          <p:spPr bwMode="auto">
            <a:xfrm rot="10800000">
              <a:off x="2015" y="2790"/>
              <a:ext cx="31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2000" b="1">
                  <a:solidFill>
                    <a:srgbClr val="FF0000"/>
                  </a:solidFill>
                  <a:latin typeface="Prestige12 BT" panose="02070509030506020304" pitchFamily="49" charset="0"/>
                </a:rPr>
                <a:t>100</a:t>
              </a:r>
            </a:p>
          </p:txBody>
        </p:sp>
        <p:sp>
          <p:nvSpPr>
            <p:cNvPr id="68" name="Text Box 86"/>
            <p:cNvSpPr txBox="1">
              <a:spLocks noChangeArrowheads="1"/>
            </p:cNvSpPr>
            <p:nvPr/>
          </p:nvSpPr>
          <p:spPr bwMode="auto">
            <a:xfrm rot="10800000">
              <a:off x="2255" y="2791"/>
              <a:ext cx="31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2000" b="1">
                  <a:solidFill>
                    <a:srgbClr val="FF0000"/>
                  </a:solidFill>
                  <a:latin typeface="Prestige12 BT" panose="02070509030506020304" pitchFamily="49" charset="0"/>
                </a:rPr>
                <a:t>101</a:t>
              </a:r>
            </a:p>
          </p:txBody>
        </p:sp>
        <p:sp>
          <p:nvSpPr>
            <p:cNvPr id="69" name="Text Box 87"/>
            <p:cNvSpPr txBox="1">
              <a:spLocks noChangeArrowheads="1"/>
            </p:cNvSpPr>
            <p:nvPr/>
          </p:nvSpPr>
          <p:spPr bwMode="auto">
            <a:xfrm rot="10800000">
              <a:off x="2495" y="2799"/>
              <a:ext cx="31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2000" b="1">
                  <a:solidFill>
                    <a:srgbClr val="FF0000"/>
                  </a:solidFill>
                  <a:latin typeface="Prestige12 BT" panose="02070509030506020304" pitchFamily="49" charset="0"/>
                </a:rPr>
                <a:t>110</a:t>
              </a:r>
            </a:p>
          </p:txBody>
        </p:sp>
        <p:sp>
          <p:nvSpPr>
            <p:cNvPr id="70" name="Text Box 88"/>
            <p:cNvSpPr txBox="1">
              <a:spLocks noChangeArrowheads="1"/>
            </p:cNvSpPr>
            <p:nvPr/>
          </p:nvSpPr>
          <p:spPr bwMode="auto">
            <a:xfrm rot="10800000">
              <a:off x="2975" y="2789"/>
              <a:ext cx="31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2000" b="1">
                  <a:solidFill>
                    <a:srgbClr val="FF0000"/>
                  </a:solidFill>
                  <a:latin typeface="Prestige12 BT" panose="02070509030506020304" pitchFamily="49" charset="0"/>
                </a:rPr>
                <a:t>120</a:t>
              </a:r>
            </a:p>
          </p:txBody>
        </p:sp>
        <p:sp>
          <p:nvSpPr>
            <p:cNvPr id="71" name="Text Box 89"/>
            <p:cNvSpPr txBox="1">
              <a:spLocks noChangeArrowheads="1"/>
            </p:cNvSpPr>
            <p:nvPr/>
          </p:nvSpPr>
          <p:spPr bwMode="auto">
            <a:xfrm rot="10800000">
              <a:off x="3215" y="2791"/>
              <a:ext cx="31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2000" b="1">
                  <a:solidFill>
                    <a:srgbClr val="FF0000"/>
                  </a:solidFill>
                  <a:latin typeface="Prestige12 BT" panose="02070509030506020304" pitchFamily="49" charset="0"/>
                </a:rPr>
                <a:t>130</a:t>
              </a:r>
            </a:p>
          </p:txBody>
        </p:sp>
        <p:sp>
          <p:nvSpPr>
            <p:cNvPr id="72" name="Text Box 90"/>
            <p:cNvSpPr txBox="1">
              <a:spLocks noChangeArrowheads="1"/>
            </p:cNvSpPr>
            <p:nvPr/>
          </p:nvSpPr>
          <p:spPr bwMode="auto">
            <a:xfrm rot="10800000">
              <a:off x="3946" y="2791"/>
              <a:ext cx="31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2000" b="1">
                  <a:solidFill>
                    <a:srgbClr val="FF0000"/>
                  </a:solidFill>
                  <a:latin typeface="Prestige12 BT" panose="02070509030506020304" pitchFamily="49" charset="0"/>
                </a:rPr>
                <a:t>150</a:t>
              </a:r>
            </a:p>
          </p:txBody>
        </p:sp>
        <p:sp>
          <p:nvSpPr>
            <p:cNvPr id="73" name="Text Box 91"/>
            <p:cNvSpPr txBox="1">
              <a:spLocks noChangeArrowheads="1"/>
            </p:cNvSpPr>
            <p:nvPr/>
          </p:nvSpPr>
          <p:spPr bwMode="auto">
            <a:xfrm rot="10800000">
              <a:off x="4186" y="2789"/>
              <a:ext cx="31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2000" b="1">
                  <a:solidFill>
                    <a:srgbClr val="FF0000"/>
                  </a:solidFill>
                  <a:latin typeface="Prestige12 BT" panose="02070509030506020304" pitchFamily="49" charset="0"/>
                </a:rPr>
                <a:t>156</a:t>
              </a:r>
            </a:p>
          </p:txBody>
        </p:sp>
        <p:sp>
          <p:nvSpPr>
            <p:cNvPr id="74" name="Line 94"/>
            <p:cNvSpPr>
              <a:spLocks noChangeShapeType="1"/>
            </p:cNvSpPr>
            <p:nvPr/>
          </p:nvSpPr>
          <p:spPr bwMode="auto">
            <a:xfrm>
              <a:off x="2785" y="2983"/>
              <a:ext cx="192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>
                <a:latin typeface="Prestige12 BT" panose="02070509030506020304" pitchFamily="49" charset="0"/>
              </a:endParaRPr>
            </a:p>
          </p:txBody>
        </p:sp>
        <p:sp>
          <p:nvSpPr>
            <p:cNvPr id="75" name="Line 95"/>
            <p:cNvSpPr>
              <a:spLocks noChangeShapeType="1"/>
            </p:cNvSpPr>
            <p:nvPr/>
          </p:nvSpPr>
          <p:spPr bwMode="auto">
            <a:xfrm>
              <a:off x="3745" y="2983"/>
              <a:ext cx="192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>
                <a:latin typeface="Prestige12 BT" panose="02070509030506020304" pitchFamily="49" charset="0"/>
              </a:endParaRPr>
            </a:p>
          </p:txBody>
        </p:sp>
        <p:sp>
          <p:nvSpPr>
            <p:cNvPr id="76" name="Line 96"/>
            <p:cNvSpPr>
              <a:spLocks noChangeShapeType="1"/>
            </p:cNvSpPr>
            <p:nvPr/>
          </p:nvSpPr>
          <p:spPr bwMode="auto">
            <a:xfrm>
              <a:off x="2173" y="3120"/>
              <a:ext cx="0" cy="288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>
                <a:latin typeface="Prestige12 BT" panose="02070509030506020304" pitchFamily="49" charset="0"/>
              </a:endParaRPr>
            </a:p>
          </p:txBody>
        </p:sp>
        <p:sp>
          <p:nvSpPr>
            <p:cNvPr id="77" name="Line 97"/>
            <p:cNvSpPr>
              <a:spLocks noChangeShapeType="1"/>
            </p:cNvSpPr>
            <p:nvPr/>
          </p:nvSpPr>
          <p:spPr bwMode="auto">
            <a:xfrm>
              <a:off x="2413" y="3120"/>
              <a:ext cx="0" cy="288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>
                <a:latin typeface="Prestige12 BT" panose="02070509030506020304" pitchFamily="49" charset="0"/>
              </a:endParaRPr>
            </a:p>
          </p:txBody>
        </p:sp>
        <p:sp>
          <p:nvSpPr>
            <p:cNvPr id="78" name="Line 98"/>
            <p:cNvSpPr>
              <a:spLocks noChangeShapeType="1"/>
            </p:cNvSpPr>
            <p:nvPr/>
          </p:nvSpPr>
          <p:spPr bwMode="auto">
            <a:xfrm>
              <a:off x="2653" y="3120"/>
              <a:ext cx="0" cy="288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>
                <a:latin typeface="Prestige12 BT" panose="02070509030506020304" pitchFamily="49" charset="0"/>
              </a:endParaRPr>
            </a:p>
          </p:txBody>
        </p:sp>
        <p:sp>
          <p:nvSpPr>
            <p:cNvPr id="79" name="Line 99"/>
            <p:cNvSpPr>
              <a:spLocks noChangeShapeType="1"/>
            </p:cNvSpPr>
            <p:nvPr/>
          </p:nvSpPr>
          <p:spPr bwMode="auto">
            <a:xfrm>
              <a:off x="3120" y="3120"/>
              <a:ext cx="0" cy="288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>
                <a:latin typeface="Prestige12 BT" panose="02070509030506020304" pitchFamily="49" charset="0"/>
              </a:endParaRPr>
            </a:p>
          </p:txBody>
        </p:sp>
        <p:sp>
          <p:nvSpPr>
            <p:cNvPr id="80" name="Line 100"/>
            <p:cNvSpPr>
              <a:spLocks noChangeShapeType="1"/>
            </p:cNvSpPr>
            <p:nvPr/>
          </p:nvSpPr>
          <p:spPr bwMode="auto">
            <a:xfrm>
              <a:off x="3353" y="3120"/>
              <a:ext cx="0" cy="288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>
                <a:latin typeface="Prestige12 BT" panose="02070509030506020304" pitchFamily="49" charset="0"/>
              </a:endParaRPr>
            </a:p>
          </p:txBody>
        </p:sp>
        <p:sp>
          <p:nvSpPr>
            <p:cNvPr id="81" name="Line 101"/>
            <p:cNvSpPr>
              <a:spLocks noChangeShapeType="1"/>
            </p:cNvSpPr>
            <p:nvPr/>
          </p:nvSpPr>
          <p:spPr bwMode="auto">
            <a:xfrm>
              <a:off x="4101" y="3120"/>
              <a:ext cx="0" cy="288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>
                <a:latin typeface="Prestige12 BT" panose="02070509030506020304" pitchFamily="49" charset="0"/>
              </a:endParaRPr>
            </a:p>
          </p:txBody>
        </p:sp>
        <p:sp>
          <p:nvSpPr>
            <p:cNvPr id="82" name="Line 102"/>
            <p:cNvSpPr>
              <a:spLocks noChangeShapeType="1"/>
            </p:cNvSpPr>
            <p:nvPr/>
          </p:nvSpPr>
          <p:spPr bwMode="auto">
            <a:xfrm>
              <a:off x="4354" y="3120"/>
              <a:ext cx="0" cy="288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>
                <a:latin typeface="Prestige12 BT" panose="02070509030506020304" pitchFamily="49" charset="0"/>
              </a:endParaRPr>
            </a:p>
          </p:txBody>
        </p:sp>
      </p:grpSp>
      <p:sp>
        <p:nvSpPr>
          <p:cNvPr id="83" name="Text Box 104"/>
          <p:cNvSpPr txBox="1">
            <a:spLocks noChangeArrowheads="1"/>
          </p:cNvSpPr>
          <p:nvPr/>
        </p:nvSpPr>
        <p:spPr bwMode="auto">
          <a:xfrm>
            <a:off x="2301906" y="3941619"/>
            <a:ext cx="167706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sz="2000" dirty="0">
                <a:solidFill>
                  <a:srgbClr val="FF0000"/>
                </a:solidFill>
                <a:latin typeface="+mn-lt"/>
              </a:rPr>
              <a:t>Look up </a:t>
            </a:r>
            <a:r>
              <a:rPr lang="en-US" sz="2000" dirty="0">
                <a:solidFill>
                  <a:srgbClr val="FF0000"/>
                </a:solidFill>
                <a:latin typeface="Prestige12 BT" panose="02070509030506020304" pitchFamily="49" charset="0"/>
              </a:rPr>
              <a:t>32</a:t>
            </a:r>
            <a:r>
              <a:rPr lang="en-US" sz="2000" dirty="0">
                <a:solidFill>
                  <a:srgbClr val="FF0000"/>
                </a:solidFill>
                <a:latin typeface="+mn-lt"/>
              </a:rPr>
              <a:t>…</a:t>
            </a:r>
          </a:p>
        </p:txBody>
      </p:sp>
      <p:sp>
        <p:nvSpPr>
          <p:cNvPr id="84" name="Text Box 105"/>
          <p:cNvSpPr txBox="1">
            <a:spLocks noChangeArrowheads="1"/>
          </p:cNvSpPr>
          <p:nvPr/>
        </p:nvSpPr>
        <p:spPr bwMode="auto">
          <a:xfrm>
            <a:off x="1682781" y="5833919"/>
            <a:ext cx="614302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sz="2000" dirty="0">
                <a:solidFill>
                  <a:srgbClr val="FF0000"/>
                </a:solidFill>
                <a:latin typeface="+mn-lt"/>
              </a:rPr>
              <a:t>And follow next-leaf pointers until you hit upper bound</a:t>
            </a:r>
          </a:p>
        </p:txBody>
      </p:sp>
      <p:grpSp>
        <p:nvGrpSpPr>
          <p:cNvPr id="85" name="Group 108"/>
          <p:cNvGrpSpPr>
            <a:grpSpLocks/>
          </p:cNvGrpSpPr>
          <p:nvPr/>
        </p:nvGrpSpPr>
        <p:grpSpPr bwMode="auto">
          <a:xfrm>
            <a:off x="2062194" y="4878247"/>
            <a:ext cx="492125" cy="868363"/>
            <a:chOff x="1295" y="2854"/>
            <a:chExt cx="310" cy="547"/>
          </a:xfrm>
        </p:grpSpPr>
        <p:sp>
          <p:nvSpPr>
            <p:cNvPr id="86" name="Text Box 106"/>
            <p:cNvSpPr txBox="1">
              <a:spLocks noChangeArrowheads="1"/>
            </p:cNvSpPr>
            <p:nvPr/>
          </p:nvSpPr>
          <p:spPr bwMode="auto">
            <a:xfrm rot="10800000">
              <a:off x="1295" y="2854"/>
              <a:ext cx="31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2000" b="1" dirty="0">
                  <a:solidFill>
                    <a:srgbClr val="FF0000"/>
                  </a:solidFill>
                  <a:latin typeface="Prestige12 BT" panose="02070509030506020304" pitchFamily="49" charset="0"/>
                </a:rPr>
                <a:t>35</a:t>
              </a:r>
            </a:p>
          </p:txBody>
        </p:sp>
        <p:sp>
          <p:nvSpPr>
            <p:cNvPr id="87" name="Line 107"/>
            <p:cNvSpPr>
              <a:spLocks noChangeShapeType="1"/>
            </p:cNvSpPr>
            <p:nvPr/>
          </p:nvSpPr>
          <p:spPr bwMode="auto">
            <a:xfrm>
              <a:off x="1433" y="3113"/>
              <a:ext cx="0" cy="288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>
                <a:latin typeface="Prestige12 BT" panose="02070509030506020304" pitchFamily="49" charset="0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068252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83" grpId="0" autoUpdateAnimBg="0"/>
      <p:bldP spid="84" grpId="0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336" y="1456855"/>
            <a:ext cx="8173014" cy="493865"/>
          </a:xfrm>
        </p:spPr>
        <p:txBody>
          <a:bodyPr/>
          <a:lstStyle/>
          <a:p>
            <a:r>
              <a:rPr lang="en-US" dirty="0"/>
              <a:t>Insert a record with search key value </a:t>
            </a:r>
            <a:r>
              <a:rPr lang="en-US" dirty="0">
                <a:latin typeface="Prestige12 BT" panose="02070509030506020304" pitchFamily="49" charset="0"/>
              </a:rPr>
              <a:t>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16</a:t>
            </a:fld>
            <a:endParaRPr lang="en-US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19063" y="47885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643063" y="47885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167063" y="47885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4691064" y="47885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6215064" y="47885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7739064" y="47885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957263" y="34169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453064" y="34169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3929063" y="2273993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4" name="Text Box 14"/>
          <p:cNvSpPr txBox="1">
            <a:spLocks noChangeArrowheads="1"/>
          </p:cNvSpPr>
          <p:nvPr/>
        </p:nvSpPr>
        <p:spPr bwMode="auto">
          <a:xfrm rot="10800000">
            <a:off x="146051" y="4939406"/>
            <a:ext cx="492125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3</a:t>
            </a:r>
          </a:p>
        </p:txBody>
      </p:sp>
      <p:sp>
        <p:nvSpPr>
          <p:cNvPr id="15" name="Text Box 15"/>
          <p:cNvSpPr txBox="1">
            <a:spLocks noChangeArrowheads="1"/>
          </p:cNvSpPr>
          <p:nvPr/>
        </p:nvSpPr>
        <p:spPr bwMode="auto">
          <a:xfrm rot="10800000">
            <a:off x="527051" y="4936231"/>
            <a:ext cx="492125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5</a:t>
            </a:r>
          </a:p>
        </p:txBody>
      </p:sp>
      <p:sp>
        <p:nvSpPr>
          <p:cNvPr id="16" name="Text Box 16"/>
          <p:cNvSpPr txBox="1">
            <a:spLocks noChangeArrowheads="1"/>
          </p:cNvSpPr>
          <p:nvPr/>
        </p:nvSpPr>
        <p:spPr bwMode="auto">
          <a:xfrm rot="10800000">
            <a:off x="908051" y="4860031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</a:t>
            </a:r>
          </a:p>
        </p:txBody>
      </p:sp>
      <p:sp>
        <p:nvSpPr>
          <p:cNvPr id="17" name="Text Box 17"/>
          <p:cNvSpPr txBox="1">
            <a:spLocks noChangeArrowheads="1"/>
          </p:cNvSpPr>
          <p:nvPr/>
        </p:nvSpPr>
        <p:spPr bwMode="auto">
          <a:xfrm rot="10800000">
            <a:off x="1671638" y="4861618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30</a:t>
            </a:r>
          </a:p>
        </p:txBody>
      </p:sp>
      <p:sp>
        <p:nvSpPr>
          <p:cNvPr id="18" name="Text Box 18"/>
          <p:cNvSpPr txBox="1">
            <a:spLocks noChangeArrowheads="1"/>
          </p:cNvSpPr>
          <p:nvPr/>
        </p:nvSpPr>
        <p:spPr bwMode="auto">
          <a:xfrm rot="10800000">
            <a:off x="2051051" y="4875906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35</a:t>
            </a:r>
          </a:p>
        </p:txBody>
      </p:sp>
      <p:sp>
        <p:nvSpPr>
          <p:cNvPr id="19" name="Text Box 19"/>
          <p:cNvSpPr txBox="1">
            <a:spLocks noChangeArrowheads="1"/>
          </p:cNvSpPr>
          <p:nvPr/>
        </p:nvSpPr>
        <p:spPr bwMode="auto">
          <a:xfrm rot="10800000">
            <a:off x="3194051" y="478541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20" name="Text Box 20"/>
          <p:cNvSpPr txBox="1">
            <a:spLocks noChangeArrowheads="1"/>
          </p:cNvSpPr>
          <p:nvPr/>
        </p:nvSpPr>
        <p:spPr bwMode="auto">
          <a:xfrm rot="10800000">
            <a:off x="3575051" y="4787006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101</a:t>
            </a:r>
          </a:p>
        </p:txBody>
      </p:sp>
      <p:sp>
        <p:nvSpPr>
          <p:cNvPr id="21" name="Text Box 21"/>
          <p:cNvSpPr txBox="1">
            <a:spLocks noChangeArrowheads="1"/>
          </p:cNvSpPr>
          <p:nvPr/>
        </p:nvSpPr>
        <p:spPr bwMode="auto">
          <a:xfrm rot="10800000">
            <a:off x="3956051" y="4799706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110</a:t>
            </a:r>
          </a:p>
        </p:txBody>
      </p:sp>
      <p:sp>
        <p:nvSpPr>
          <p:cNvPr id="22" name="Text Box 22"/>
          <p:cNvSpPr txBox="1">
            <a:spLocks noChangeArrowheads="1"/>
          </p:cNvSpPr>
          <p:nvPr/>
        </p:nvSpPr>
        <p:spPr bwMode="auto">
          <a:xfrm rot="10800000">
            <a:off x="4718051" y="4783831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23" name="Text Box 23"/>
          <p:cNvSpPr txBox="1">
            <a:spLocks noChangeArrowheads="1"/>
          </p:cNvSpPr>
          <p:nvPr/>
        </p:nvSpPr>
        <p:spPr bwMode="auto">
          <a:xfrm rot="10800000">
            <a:off x="5099051" y="4787006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130</a:t>
            </a:r>
          </a:p>
        </p:txBody>
      </p:sp>
      <p:sp>
        <p:nvSpPr>
          <p:cNvPr id="24" name="Text Box 24"/>
          <p:cNvSpPr txBox="1">
            <a:spLocks noChangeArrowheads="1"/>
          </p:cNvSpPr>
          <p:nvPr/>
        </p:nvSpPr>
        <p:spPr bwMode="auto">
          <a:xfrm rot="10800000">
            <a:off x="6259514" y="4787006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25" name="Text Box 25"/>
          <p:cNvSpPr txBox="1">
            <a:spLocks noChangeArrowheads="1"/>
          </p:cNvSpPr>
          <p:nvPr/>
        </p:nvSpPr>
        <p:spPr bwMode="auto">
          <a:xfrm rot="10800000">
            <a:off x="6640514" y="4783831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26" name="Text Box 26"/>
          <p:cNvSpPr txBox="1">
            <a:spLocks noChangeArrowheads="1"/>
          </p:cNvSpPr>
          <p:nvPr/>
        </p:nvSpPr>
        <p:spPr bwMode="auto">
          <a:xfrm rot="10800000">
            <a:off x="7021514" y="4771131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179</a:t>
            </a:r>
          </a:p>
        </p:txBody>
      </p:sp>
      <p:sp>
        <p:nvSpPr>
          <p:cNvPr id="27" name="Text Box 27"/>
          <p:cNvSpPr txBox="1">
            <a:spLocks noChangeArrowheads="1"/>
          </p:cNvSpPr>
          <p:nvPr/>
        </p:nvSpPr>
        <p:spPr bwMode="auto">
          <a:xfrm rot="10800000">
            <a:off x="7781926" y="4783831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28" name="Text Box 28"/>
          <p:cNvSpPr txBox="1">
            <a:spLocks noChangeArrowheads="1"/>
          </p:cNvSpPr>
          <p:nvPr/>
        </p:nvSpPr>
        <p:spPr bwMode="auto">
          <a:xfrm rot="10800000">
            <a:off x="8162926" y="4787006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200</a:t>
            </a:r>
          </a:p>
        </p:txBody>
      </p:sp>
      <p:sp>
        <p:nvSpPr>
          <p:cNvPr id="29" name="Text Box 29"/>
          <p:cNvSpPr txBox="1">
            <a:spLocks noChangeArrowheads="1"/>
          </p:cNvSpPr>
          <p:nvPr/>
        </p:nvSpPr>
        <p:spPr bwMode="auto">
          <a:xfrm rot="10800000">
            <a:off x="961303" y="3505893"/>
            <a:ext cx="4921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30</a:t>
            </a:r>
          </a:p>
        </p:txBody>
      </p:sp>
      <p:sp>
        <p:nvSpPr>
          <p:cNvPr id="30" name="Text Box 30"/>
          <p:cNvSpPr txBox="1">
            <a:spLocks noChangeArrowheads="1"/>
          </p:cNvSpPr>
          <p:nvPr/>
        </p:nvSpPr>
        <p:spPr bwMode="auto">
          <a:xfrm rot="10800000">
            <a:off x="3921153" y="2271901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31" name="Text Box 31"/>
          <p:cNvSpPr txBox="1">
            <a:spLocks noChangeArrowheads="1"/>
          </p:cNvSpPr>
          <p:nvPr/>
        </p:nvSpPr>
        <p:spPr bwMode="auto">
          <a:xfrm rot="10800000">
            <a:off x="5480051" y="3415406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32" name="Text Box 32"/>
          <p:cNvSpPr txBox="1">
            <a:spLocks noChangeArrowheads="1"/>
          </p:cNvSpPr>
          <p:nvPr/>
        </p:nvSpPr>
        <p:spPr bwMode="auto">
          <a:xfrm rot="10800000">
            <a:off x="5861051" y="341699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33" name="Text Box 33"/>
          <p:cNvSpPr txBox="1">
            <a:spLocks noChangeArrowheads="1"/>
          </p:cNvSpPr>
          <p:nvPr/>
        </p:nvSpPr>
        <p:spPr bwMode="auto">
          <a:xfrm rot="10800000">
            <a:off x="6242051" y="341699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34" name="Line 34"/>
          <p:cNvSpPr>
            <a:spLocks noChangeShapeType="1"/>
          </p:cNvSpPr>
          <p:nvPr/>
        </p:nvSpPr>
        <p:spPr bwMode="auto">
          <a:xfrm flipH="1">
            <a:off x="1566863" y="2654993"/>
            <a:ext cx="24384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5" name="Line 35"/>
          <p:cNvSpPr>
            <a:spLocks noChangeShapeType="1"/>
          </p:cNvSpPr>
          <p:nvPr/>
        </p:nvSpPr>
        <p:spPr bwMode="auto">
          <a:xfrm>
            <a:off x="4310063" y="2654993"/>
            <a:ext cx="17526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6" name="Line 36"/>
          <p:cNvSpPr>
            <a:spLocks noChangeShapeType="1"/>
          </p:cNvSpPr>
          <p:nvPr/>
        </p:nvSpPr>
        <p:spPr bwMode="auto">
          <a:xfrm flipH="1">
            <a:off x="728663" y="3797993"/>
            <a:ext cx="304800" cy="990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7" name="Line 37"/>
          <p:cNvSpPr>
            <a:spLocks noChangeShapeType="1"/>
          </p:cNvSpPr>
          <p:nvPr/>
        </p:nvSpPr>
        <p:spPr bwMode="auto">
          <a:xfrm>
            <a:off x="1338263" y="3797993"/>
            <a:ext cx="990600" cy="990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8" name="Line 38"/>
          <p:cNvSpPr>
            <a:spLocks noChangeShapeType="1"/>
          </p:cNvSpPr>
          <p:nvPr/>
        </p:nvSpPr>
        <p:spPr bwMode="auto">
          <a:xfrm flipH="1">
            <a:off x="3852863" y="3874193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9" name="Line 39"/>
          <p:cNvSpPr>
            <a:spLocks noChangeShapeType="1"/>
          </p:cNvSpPr>
          <p:nvPr/>
        </p:nvSpPr>
        <p:spPr bwMode="auto">
          <a:xfrm flipH="1">
            <a:off x="5300664" y="3874193"/>
            <a:ext cx="6096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0" name="Line 40"/>
          <p:cNvSpPr>
            <a:spLocks noChangeShapeType="1"/>
          </p:cNvSpPr>
          <p:nvPr/>
        </p:nvSpPr>
        <p:spPr bwMode="auto">
          <a:xfrm>
            <a:off x="6291264" y="3874193"/>
            <a:ext cx="533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1" name="Line 41"/>
          <p:cNvSpPr>
            <a:spLocks noChangeShapeType="1"/>
          </p:cNvSpPr>
          <p:nvPr/>
        </p:nvSpPr>
        <p:spPr bwMode="auto">
          <a:xfrm>
            <a:off x="6672264" y="3874193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2" name="Line 42"/>
          <p:cNvSpPr>
            <a:spLocks noChangeShapeType="1"/>
          </p:cNvSpPr>
          <p:nvPr/>
        </p:nvSpPr>
        <p:spPr bwMode="auto">
          <a:xfrm>
            <a:off x="380915" y="52457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3" name="Line 43"/>
          <p:cNvSpPr>
            <a:spLocks noChangeShapeType="1"/>
          </p:cNvSpPr>
          <p:nvPr/>
        </p:nvSpPr>
        <p:spPr bwMode="auto">
          <a:xfrm>
            <a:off x="761915" y="52457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4" name="Line 44"/>
          <p:cNvSpPr>
            <a:spLocks noChangeShapeType="1"/>
          </p:cNvSpPr>
          <p:nvPr/>
        </p:nvSpPr>
        <p:spPr bwMode="auto">
          <a:xfrm>
            <a:off x="1142915" y="52457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5" name="Line 45"/>
          <p:cNvSpPr>
            <a:spLocks noChangeShapeType="1"/>
          </p:cNvSpPr>
          <p:nvPr/>
        </p:nvSpPr>
        <p:spPr bwMode="auto">
          <a:xfrm>
            <a:off x="1897063" y="52457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6" name="Line 46"/>
          <p:cNvSpPr>
            <a:spLocks noChangeShapeType="1"/>
          </p:cNvSpPr>
          <p:nvPr/>
        </p:nvSpPr>
        <p:spPr bwMode="auto">
          <a:xfrm>
            <a:off x="2278063" y="52457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7" name="Line 47"/>
          <p:cNvSpPr>
            <a:spLocks noChangeShapeType="1"/>
          </p:cNvSpPr>
          <p:nvPr/>
        </p:nvSpPr>
        <p:spPr bwMode="auto">
          <a:xfrm>
            <a:off x="3444153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8" name="Line 48"/>
          <p:cNvSpPr>
            <a:spLocks noChangeShapeType="1"/>
          </p:cNvSpPr>
          <p:nvPr/>
        </p:nvSpPr>
        <p:spPr bwMode="auto">
          <a:xfrm>
            <a:off x="3825153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9" name="Line 49"/>
          <p:cNvSpPr>
            <a:spLocks noChangeShapeType="1"/>
          </p:cNvSpPr>
          <p:nvPr/>
        </p:nvSpPr>
        <p:spPr bwMode="auto">
          <a:xfrm>
            <a:off x="4206153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0" name="Line 50"/>
          <p:cNvSpPr>
            <a:spLocks noChangeShapeType="1"/>
          </p:cNvSpPr>
          <p:nvPr/>
        </p:nvSpPr>
        <p:spPr bwMode="auto">
          <a:xfrm>
            <a:off x="4943448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1" name="Line 51"/>
          <p:cNvSpPr>
            <a:spLocks noChangeShapeType="1"/>
          </p:cNvSpPr>
          <p:nvPr/>
        </p:nvSpPr>
        <p:spPr bwMode="auto">
          <a:xfrm>
            <a:off x="5313364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2" name="Line 52"/>
          <p:cNvSpPr>
            <a:spLocks noChangeShapeType="1"/>
          </p:cNvSpPr>
          <p:nvPr/>
        </p:nvSpPr>
        <p:spPr bwMode="auto">
          <a:xfrm>
            <a:off x="6519864" y="52838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3" name="Line 53"/>
          <p:cNvSpPr>
            <a:spLocks noChangeShapeType="1"/>
          </p:cNvSpPr>
          <p:nvPr/>
        </p:nvSpPr>
        <p:spPr bwMode="auto">
          <a:xfrm>
            <a:off x="6900864" y="52838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4" name="Line 54"/>
          <p:cNvSpPr>
            <a:spLocks noChangeShapeType="1"/>
          </p:cNvSpPr>
          <p:nvPr/>
        </p:nvSpPr>
        <p:spPr bwMode="auto">
          <a:xfrm>
            <a:off x="7281864" y="52838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5" name="Line 55"/>
          <p:cNvSpPr>
            <a:spLocks noChangeShapeType="1"/>
          </p:cNvSpPr>
          <p:nvPr/>
        </p:nvSpPr>
        <p:spPr bwMode="auto">
          <a:xfrm>
            <a:off x="8043864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6" name="Line 56"/>
          <p:cNvSpPr>
            <a:spLocks noChangeShapeType="1"/>
          </p:cNvSpPr>
          <p:nvPr/>
        </p:nvSpPr>
        <p:spPr bwMode="auto">
          <a:xfrm>
            <a:off x="8424864" y="5296593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7" name="Line 57"/>
          <p:cNvSpPr>
            <a:spLocks noChangeShapeType="1"/>
          </p:cNvSpPr>
          <p:nvPr/>
        </p:nvSpPr>
        <p:spPr bwMode="auto">
          <a:xfrm>
            <a:off x="1338263" y="5093393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8" name="Line 58"/>
          <p:cNvSpPr>
            <a:spLocks noChangeShapeType="1"/>
          </p:cNvSpPr>
          <p:nvPr/>
        </p:nvSpPr>
        <p:spPr bwMode="auto">
          <a:xfrm>
            <a:off x="2862263" y="5093393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9" name="Line 59"/>
          <p:cNvSpPr>
            <a:spLocks noChangeShapeType="1"/>
          </p:cNvSpPr>
          <p:nvPr/>
        </p:nvSpPr>
        <p:spPr bwMode="auto">
          <a:xfrm>
            <a:off x="4386263" y="5093393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0" name="Line 60"/>
          <p:cNvSpPr>
            <a:spLocks noChangeShapeType="1"/>
          </p:cNvSpPr>
          <p:nvPr/>
        </p:nvSpPr>
        <p:spPr bwMode="auto">
          <a:xfrm>
            <a:off x="5910264" y="5093393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1" name="Line 61"/>
          <p:cNvSpPr>
            <a:spLocks noChangeShapeType="1"/>
          </p:cNvSpPr>
          <p:nvPr/>
        </p:nvSpPr>
        <p:spPr bwMode="auto">
          <a:xfrm>
            <a:off x="7434264" y="5093393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2" name="Text Box 62"/>
          <p:cNvSpPr txBox="1">
            <a:spLocks noChangeArrowheads="1"/>
          </p:cNvSpPr>
          <p:nvPr/>
        </p:nvSpPr>
        <p:spPr bwMode="auto">
          <a:xfrm>
            <a:off x="6148389" y="2202556"/>
            <a:ext cx="20746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dirty="0">
                <a:solidFill>
                  <a:schemeClr val="accent2"/>
                </a:solidFill>
                <a:latin typeface="+mn-lt"/>
              </a:rPr>
              <a:t>Max fan-out: 4</a:t>
            </a:r>
          </a:p>
        </p:txBody>
      </p:sp>
      <p:sp>
        <p:nvSpPr>
          <p:cNvPr id="88" name="Line 66"/>
          <p:cNvSpPr>
            <a:spLocks noChangeShapeType="1"/>
          </p:cNvSpPr>
          <p:nvPr/>
        </p:nvSpPr>
        <p:spPr bwMode="auto">
          <a:xfrm flipH="1">
            <a:off x="1544638" y="2667462"/>
            <a:ext cx="2438400" cy="7620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9" name="Line 67"/>
          <p:cNvSpPr>
            <a:spLocks noChangeShapeType="1"/>
          </p:cNvSpPr>
          <p:nvPr/>
        </p:nvSpPr>
        <p:spPr bwMode="auto">
          <a:xfrm>
            <a:off x="1360488" y="3821575"/>
            <a:ext cx="990600" cy="9906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0" name="Text Box 68"/>
          <p:cNvSpPr txBox="1">
            <a:spLocks noChangeArrowheads="1"/>
          </p:cNvSpPr>
          <p:nvPr/>
        </p:nvSpPr>
        <p:spPr bwMode="auto">
          <a:xfrm>
            <a:off x="2286000" y="3556462"/>
            <a:ext cx="2632452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dirty="0">
                <a:solidFill>
                  <a:srgbClr val="FF0000"/>
                </a:solidFill>
                <a:latin typeface="+mn-lt"/>
              </a:rPr>
              <a:t>Look up where the</a:t>
            </a:r>
            <a:br>
              <a:rPr lang="en-US" dirty="0">
                <a:solidFill>
                  <a:srgbClr val="FF0000"/>
                </a:solidFill>
                <a:latin typeface="+mn-lt"/>
              </a:rPr>
            </a:br>
            <a:r>
              <a:rPr lang="en-US" dirty="0">
                <a:solidFill>
                  <a:srgbClr val="FF0000"/>
                </a:solidFill>
                <a:latin typeface="+mn-lt"/>
              </a:rPr>
              <a:t>inserted key</a:t>
            </a:r>
            <a:br>
              <a:rPr lang="en-US" dirty="0">
                <a:solidFill>
                  <a:srgbClr val="FF0000"/>
                </a:solidFill>
                <a:latin typeface="+mn-lt"/>
              </a:rPr>
            </a:br>
            <a:r>
              <a:rPr lang="en-US" dirty="0">
                <a:solidFill>
                  <a:srgbClr val="FF0000"/>
                </a:solidFill>
                <a:latin typeface="+mn-lt"/>
              </a:rPr>
              <a:t>should go…</a:t>
            </a:r>
          </a:p>
        </p:txBody>
      </p:sp>
      <p:grpSp>
        <p:nvGrpSpPr>
          <p:cNvPr id="91" name="Group 72"/>
          <p:cNvGrpSpPr>
            <a:grpSpLocks/>
          </p:cNvGrpSpPr>
          <p:nvPr/>
        </p:nvGrpSpPr>
        <p:grpSpPr bwMode="auto">
          <a:xfrm>
            <a:off x="1830389" y="4662952"/>
            <a:ext cx="554038" cy="874713"/>
            <a:chOff x="1153" y="2857"/>
            <a:chExt cx="349" cy="551"/>
          </a:xfrm>
        </p:grpSpPr>
        <p:sp>
          <p:nvSpPr>
            <p:cNvPr id="92" name="Text Box 69"/>
            <p:cNvSpPr txBox="1">
              <a:spLocks noChangeArrowheads="1"/>
            </p:cNvSpPr>
            <p:nvPr/>
          </p:nvSpPr>
          <p:spPr bwMode="auto">
            <a:xfrm rot="10800000">
              <a:off x="1153" y="2857"/>
              <a:ext cx="349" cy="2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b="1" dirty="0">
                  <a:solidFill>
                    <a:srgbClr val="FF0000"/>
                  </a:solidFill>
                  <a:latin typeface="Prestige12 BT" panose="02070509030506020304" pitchFamily="49" charset="0"/>
                </a:rPr>
                <a:t>32</a:t>
              </a:r>
            </a:p>
          </p:txBody>
        </p:sp>
        <p:sp>
          <p:nvSpPr>
            <p:cNvPr id="93" name="Line 70"/>
            <p:cNvSpPr>
              <a:spLocks noChangeShapeType="1"/>
            </p:cNvSpPr>
            <p:nvPr/>
          </p:nvSpPr>
          <p:spPr bwMode="auto">
            <a:xfrm>
              <a:off x="1312" y="3120"/>
              <a:ext cx="0" cy="288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4" name="Text Box 71"/>
          <p:cNvSpPr txBox="1">
            <a:spLocks noChangeArrowheads="1"/>
          </p:cNvSpPr>
          <p:nvPr/>
        </p:nvSpPr>
        <p:spPr bwMode="auto">
          <a:xfrm>
            <a:off x="1066800" y="5842462"/>
            <a:ext cx="322235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And insert it right there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5714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89" grpId="0" animBg="1"/>
      <p:bldP spid="90" grpId="0" autoUpdateAnimBg="0"/>
      <p:bldP spid="94" grpId="0" autoUpdateAnimBg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insertion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 a record with search key value </a:t>
            </a:r>
            <a:r>
              <a:rPr lang="en-US" dirty="0">
                <a:latin typeface="Prestige12 BT" panose="02070509030506020304" pitchFamily="49" charset="0"/>
              </a:rPr>
              <a:t>152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17</a:t>
            </a:fld>
            <a:endParaRPr lang="en-US"/>
          </a:p>
        </p:txBody>
      </p:sp>
      <p:sp>
        <p:nvSpPr>
          <p:cNvPr id="90" name="Rectangle 89"/>
          <p:cNvSpPr>
            <a:spLocks noChangeArrowheads="1"/>
          </p:cNvSpPr>
          <p:nvPr/>
        </p:nvSpPr>
        <p:spPr bwMode="auto">
          <a:xfrm>
            <a:off x="3167063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1" name="Rectangle 90"/>
          <p:cNvSpPr>
            <a:spLocks noChangeArrowheads="1"/>
          </p:cNvSpPr>
          <p:nvPr/>
        </p:nvSpPr>
        <p:spPr bwMode="auto">
          <a:xfrm>
            <a:off x="4691064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2" name="Rectangle 91"/>
          <p:cNvSpPr>
            <a:spLocks noChangeArrowheads="1"/>
          </p:cNvSpPr>
          <p:nvPr/>
        </p:nvSpPr>
        <p:spPr bwMode="auto">
          <a:xfrm>
            <a:off x="6215064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3" name="Rectangle 92"/>
          <p:cNvSpPr>
            <a:spLocks noChangeArrowheads="1"/>
          </p:cNvSpPr>
          <p:nvPr/>
        </p:nvSpPr>
        <p:spPr bwMode="auto">
          <a:xfrm>
            <a:off x="7739064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5" name="Rectangle 94"/>
          <p:cNvSpPr>
            <a:spLocks noChangeArrowheads="1"/>
          </p:cNvSpPr>
          <p:nvPr/>
        </p:nvSpPr>
        <p:spPr bwMode="auto">
          <a:xfrm>
            <a:off x="5453064" y="30401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6" name="Rectangle 95"/>
          <p:cNvSpPr>
            <a:spLocks noChangeArrowheads="1"/>
          </p:cNvSpPr>
          <p:nvPr/>
        </p:nvSpPr>
        <p:spPr bwMode="auto">
          <a:xfrm>
            <a:off x="3929063" y="18971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02" name="Text Box 19"/>
          <p:cNvSpPr txBox="1">
            <a:spLocks noChangeArrowheads="1"/>
          </p:cNvSpPr>
          <p:nvPr/>
        </p:nvSpPr>
        <p:spPr bwMode="auto">
          <a:xfrm rot="10800000">
            <a:off x="3194051" y="4408575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103" name="Text Box 20"/>
          <p:cNvSpPr txBox="1">
            <a:spLocks noChangeArrowheads="1"/>
          </p:cNvSpPr>
          <p:nvPr/>
        </p:nvSpPr>
        <p:spPr bwMode="auto">
          <a:xfrm rot="10800000">
            <a:off x="3575051" y="44101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101</a:t>
            </a:r>
          </a:p>
        </p:txBody>
      </p:sp>
      <p:sp>
        <p:nvSpPr>
          <p:cNvPr id="104" name="Text Box 21"/>
          <p:cNvSpPr txBox="1">
            <a:spLocks noChangeArrowheads="1"/>
          </p:cNvSpPr>
          <p:nvPr/>
        </p:nvSpPr>
        <p:spPr bwMode="auto">
          <a:xfrm rot="10800000">
            <a:off x="3956051" y="44228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110</a:t>
            </a:r>
          </a:p>
        </p:txBody>
      </p:sp>
      <p:sp>
        <p:nvSpPr>
          <p:cNvPr id="105" name="Text Box 22"/>
          <p:cNvSpPr txBox="1">
            <a:spLocks noChangeArrowheads="1"/>
          </p:cNvSpPr>
          <p:nvPr/>
        </p:nvSpPr>
        <p:spPr bwMode="auto">
          <a:xfrm rot="10800000">
            <a:off x="4718051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106" name="Text Box 23"/>
          <p:cNvSpPr txBox="1">
            <a:spLocks noChangeArrowheads="1"/>
          </p:cNvSpPr>
          <p:nvPr/>
        </p:nvSpPr>
        <p:spPr bwMode="auto">
          <a:xfrm rot="10800000">
            <a:off x="5099051" y="44101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130</a:t>
            </a:r>
          </a:p>
        </p:txBody>
      </p:sp>
      <p:sp>
        <p:nvSpPr>
          <p:cNvPr id="107" name="Text Box 24"/>
          <p:cNvSpPr txBox="1">
            <a:spLocks noChangeArrowheads="1"/>
          </p:cNvSpPr>
          <p:nvPr/>
        </p:nvSpPr>
        <p:spPr bwMode="auto">
          <a:xfrm rot="10800000">
            <a:off x="6259514" y="44101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108" name="Text Box 25"/>
          <p:cNvSpPr txBox="1">
            <a:spLocks noChangeArrowheads="1"/>
          </p:cNvSpPr>
          <p:nvPr/>
        </p:nvSpPr>
        <p:spPr bwMode="auto">
          <a:xfrm rot="10800000">
            <a:off x="6640514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109" name="Text Box 26"/>
          <p:cNvSpPr txBox="1">
            <a:spLocks noChangeArrowheads="1"/>
          </p:cNvSpPr>
          <p:nvPr/>
        </p:nvSpPr>
        <p:spPr bwMode="auto">
          <a:xfrm rot="10800000">
            <a:off x="7021514" y="43942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179</a:t>
            </a:r>
          </a:p>
        </p:txBody>
      </p:sp>
      <p:sp>
        <p:nvSpPr>
          <p:cNvPr id="110" name="Text Box 27"/>
          <p:cNvSpPr txBox="1">
            <a:spLocks noChangeArrowheads="1"/>
          </p:cNvSpPr>
          <p:nvPr/>
        </p:nvSpPr>
        <p:spPr bwMode="auto">
          <a:xfrm rot="10800000">
            <a:off x="7781926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111" name="Text Box 28"/>
          <p:cNvSpPr txBox="1">
            <a:spLocks noChangeArrowheads="1"/>
          </p:cNvSpPr>
          <p:nvPr/>
        </p:nvSpPr>
        <p:spPr bwMode="auto">
          <a:xfrm rot="10800000">
            <a:off x="8162926" y="44101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200</a:t>
            </a:r>
          </a:p>
        </p:txBody>
      </p:sp>
      <p:sp>
        <p:nvSpPr>
          <p:cNvPr id="113" name="Text Box 30"/>
          <p:cNvSpPr txBox="1">
            <a:spLocks noChangeArrowheads="1"/>
          </p:cNvSpPr>
          <p:nvPr/>
        </p:nvSpPr>
        <p:spPr bwMode="auto">
          <a:xfrm rot="10800000">
            <a:off x="3921153" y="189505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114" name="Text Box 31"/>
          <p:cNvSpPr txBox="1">
            <a:spLocks noChangeArrowheads="1"/>
          </p:cNvSpPr>
          <p:nvPr/>
        </p:nvSpPr>
        <p:spPr bwMode="auto">
          <a:xfrm rot="10800000">
            <a:off x="5480051" y="30385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115" name="Text Box 32"/>
          <p:cNvSpPr txBox="1">
            <a:spLocks noChangeArrowheads="1"/>
          </p:cNvSpPr>
          <p:nvPr/>
        </p:nvSpPr>
        <p:spPr bwMode="auto">
          <a:xfrm rot="10800000">
            <a:off x="5861051" y="3040150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116" name="Text Box 33"/>
          <p:cNvSpPr txBox="1">
            <a:spLocks noChangeArrowheads="1"/>
          </p:cNvSpPr>
          <p:nvPr/>
        </p:nvSpPr>
        <p:spPr bwMode="auto">
          <a:xfrm rot="10800000">
            <a:off x="6242051" y="3040150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117" name="Line 34"/>
          <p:cNvSpPr>
            <a:spLocks noChangeShapeType="1"/>
          </p:cNvSpPr>
          <p:nvPr/>
        </p:nvSpPr>
        <p:spPr bwMode="auto">
          <a:xfrm flipH="1">
            <a:off x="1566863" y="2278150"/>
            <a:ext cx="24384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18" name="Line 35"/>
          <p:cNvSpPr>
            <a:spLocks noChangeShapeType="1"/>
          </p:cNvSpPr>
          <p:nvPr/>
        </p:nvSpPr>
        <p:spPr bwMode="auto">
          <a:xfrm>
            <a:off x="4310063" y="2278150"/>
            <a:ext cx="17526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21" name="Line 38"/>
          <p:cNvSpPr>
            <a:spLocks noChangeShapeType="1"/>
          </p:cNvSpPr>
          <p:nvPr/>
        </p:nvSpPr>
        <p:spPr bwMode="auto">
          <a:xfrm flipH="1">
            <a:off x="3852863" y="349735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22" name="Line 39"/>
          <p:cNvSpPr>
            <a:spLocks noChangeShapeType="1"/>
          </p:cNvSpPr>
          <p:nvPr/>
        </p:nvSpPr>
        <p:spPr bwMode="auto">
          <a:xfrm flipH="1">
            <a:off x="5300664" y="3497350"/>
            <a:ext cx="6096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23" name="Line 40"/>
          <p:cNvSpPr>
            <a:spLocks noChangeShapeType="1"/>
          </p:cNvSpPr>
          <p:nvPr/>
        </p:nvSpPr>
        <p:spPr bwMode="auto">
          <a:xfrm>
            <a:off x="6291264" y="3497350"/>
            <a:ext cx="533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24" name="Line 41"/>
          <p:cNvSpPr>
            <a:spLocks noChangeShapeType="1"/>
          </p:cNvSpPr>
          <p:nvPr/>
        </p:nvSpPr>
        <p:spPr bwMode="auto">
          <a:xfrm>
            <a:off x="6672264" y="349735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0" name="Line 47"/>
          <p:cNvSpPr>
            <a:spLocks noChangeShapeType="1"/>
          </p:cNvSpPr>
          <p:nvPr/>
        </p:nvSpPr>
        <p:spPr bwMode="auto">
          <a:xfrm>
            <a:off x="3444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1" name="Line 48"/>
          <p:cNvSpPr>
            <a:spLocks noChangeShapeType="1"/>
          </p:cNvSpPr>
          <p:nvPr/>
        </p:nvSpPr>
        <p:spPr bwMode="auto">
          <a:xfrm>
            <a:off x="3825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2" name="Line 49"/>
          <p:cNvSpPr>
            <a:spLocks noChangeShapeType="1"/>
          </p:cNvSpPr>
          <p:nvPr/>
        </p:nvSpPr>
        <p:spPr bwMode="auto">
          <a:xfrm>
            <a:off x="4206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3" name="Line 50"/>
          <p:cNvSpPr>
            <a:spLocks noChangeShapeType="1"/>
          </p:cNvSpPr>
          <p:nvPr/>
        </p:nvSpPr>
        <p:spPr bwMode="auto">
          <a:xfrm>
            <a:off x="4943448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4" name="Line 51"/>
          <p:cNvSpPr>
            <a:spLocks noChangeShapeType="1"/>
          </p:cNvSpPr>
          <p:nvPr/>
        </p:nvSpPr>
        <p:spPr bwMode="auto">
          <a:xfrm>
            <a:off x="5313364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5" name="Line 52"/>
          <p:cNvSpPr>
            <a:spLocks noChangeShapeType="1"/>
          </p:cNvSpPr>
          <p:nvPr/>
        </p:nvSpPr>
        <p:spPr bwMode="auto">
          <a:xfrm>
            <a:off x="6519864" y="49070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6" name="Line 53"/>
          <p:cNvSpPr>
            <a:spLocks noChangeShapeType="1"/>
          </p:cNvSpPr>
          <p:nvPr/>
        </p:nvSpPr>
        <p:spPr bwMode="auto">
          <a:xfrm>
            <a:off x="6900864" y="49070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7" name="Line 54"/>
          <p:cNvSpPr>
            <a:spLocks noChangeShapeType="1"/>
          </p:cNvSpPr>
          <p:nvPr/>
        </p:nvSpPr>
        <p:spPr bwMode="auto">
          <a:xfrm>
            <a:off x="7281864" y="49070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8" name="Line 55"/>
          <p:cNvSpPr>
            <a:spLocks noChangeShapeType="1"/>
          </p:cNvSpPr>
          <p:nvPr/>
        </p:nvSpPr>
        <p:spPr bwMode="auto">
          <a:xfrm>
            <a:off x="8043864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39" name="Line 56"/>
          <p:cNvSpPr>
            <a:spLocks noChangeShapeType="1"/>
          </p:cNvSpPr>
          <p:nvPr/>
        </p:nvSpPr>
        <p:spPr bwMode="auto">
          <a:xfrm>
            <a:off x="8424864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41" name="Line 58"/>
          <p:cNvSpPr>
            <a:spLocks noChangeShapeType="1"/>
          </p:cNvSpPr>
          <p:nvPr/>
        </p:nvSpPr>
        <p:spPr bwMode="auto">
          <a:xfrm>
            <a:off x="2862263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42" name="Line 59"/>
          <p:cNvSpPr>
            <a:spLocks noChangeShapeType="1"/>
          </p:cNvSpPr>
          <p:nvPr/>
        </p:nvSpPr>
        <p:spPr bwMode="auto">
          <a:xfrm>
            <a:off x="4386263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43" name="Line 60"/>
          <p:cNvSpPr>
            <a:spLocks noChangeShapeType="1"/>
          </p:cNvSpPr>
          <p:nvPr/>
        </p:nvSpPr>
        <p:spPr bwMode="auto">
          <a:xfrm>
            <a:off x="5910264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44" name="Line 61"/>
          <p:cNvSpPr>
            <a:spLocks noChangeShapeType="1"/>
          </p:cNvSpPr>
          <p:nvPr/>
        </p:nvSpPr>
        <p:spPr bwMode="auto">
          <a:xfrm>
            <a:off x="7434264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45" name="Text Box 62"/>
          <p:cNvSpPr txBox="1">
            <a:spLocks noChangeArrowheads="1"/>
          </p:cNvSpPr>
          <p:nvPr/>
        </p:nvSpPr>
        <p:spPr bwMode="auto">
          <a:xfrm>
            <a:off x="6148389" y="1825713"/>
            <a:ext cx="20746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dirty="0">
                <a:solidFill>
                  <a:schemeClr val="accent2"/>
                </a:solidFill>
                <a:latin typeface="+mn-lt"/>
              </a:rPr>
              <a:t>Max fan-out: 4</a:t>
            </a:r>
          </a:p>
        </p:txBody>
      </p:sp>
      <p:sp>
        <p:nvSpPr>
          <p:cNvPr id="146" name="Line 67"/>
          <p:cNvSpPr>
            <a:spLocks noChangeShapeType="1"/>
          </p:cNvSpPr>
          <p:nvPr/>
        </p:nvSpPr>
        <p:spPr bwMode="auto">
          <a:xfrm>
            <a:off x="4303047" y="2271080"/>
            <a:ext cx="1752600" cy="7620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7" name="Line 68"/>
          <p:cNvSpPr>
            <a:spLocks noChangeShapeType="1"/>
          </p:cNvSpPr>
          <p:nvPr/>
        </p:nvSpPr>
        <p:spPr bwMode="auto">
          <a:xfrm>
            <a:off x="6278591" y="3490280"/>
            <a:ext cx="533400" cy="9144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8" name="Group 72"/>
          <p:cNvGrpSpPr>
            <a:grpSpLocks/>
          </p:cNvGrpSpPr>
          <p:nvPr/>
        </p:nvGrpSpPr>
        <p:grpSpPr bwMode="auto">
          <a:xfrm>
            <a:off x="6429405" y="4201485"/>
            <a:ext cx="492125" cy="922338"/>
            <a:chOff x="3887" y="2827"/>
            <a:chExt cx="310" cy="581"/>
          </a:xfrm>
        </p:grpSpPr>
        <p:sp>
          <p:nvSpPr>
            <p:cNvPr id="149" name="Text Box 69"/>
            <p:cNvSpPr txBox="1">
              <a:spLocks noChangeArrowheads="1"/>
            </p:cNvSpPr>
            <p:nvPr/>
          </p:nvSpPr>
          <p:spPr bwMode="auto">
            <a:xfrm rot="10800000">
              <a:off x="3887" y="2827"/>
              <a:ext cx="31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2000" b="1" dirty="0">
                  <a:solidFill>
                    <a:srgbClr val="FF0000"/>
                  </a:solidFill>
                  <a:latin typeface="Prestige12 BT" panose="02070509030506020304" pitchFamily="49" charset="0"/>
                </a:rPr>
                <a:t>152</a:t>
              </a:r>
            </a:p>
          </p:txBody>
        </p:sp>
        <p:sp>
          <p:nvSpPr>
            <p:cNvPr id="150" name="Line 70"/>
            <p:cNvSpPr>
              <a:spLocks noChangeShapeType="1"/>
            </p:cNvSpPr>
            <p:nvPr/>
          </p:nvSpPr>
          <p:spPr bwMode="auto">
            <a:xfrm>
              <a:off x="4043" y="3120"/>
              <a:ext cx="0" cy="288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1" name="Text Box 71"/>
          <p:cNvSpPr txBox="1">
            <a:spLocks noChangeArrowheads="1"/>
          </p:cNvSpPr>
          <p:nvPr/>
        </p:nvSpPr>
        <p:spPr bwMode="auto">
          <a:xfrm>
            <a:off x="5168929" y="5474655"/>
            <a:ext cx="351731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dirty="0">
                <a:solidFill>
                  <a:srgbClr val="FF0000"/>
                </a:solidFill>
                <a:latin typeface="+mn-lt"/>
              </a:rPr>
              <a:t>Oops, node is already full!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69640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" grpId="0" animBg="1"/>
      <p:bldP spid="147" grpId="0" animBg="1"/>
      <p:bldP spid="151" grpId="0" autoUpdateAnimBg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 splitting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18</a:t>
            </a:fld>
            <a:endParaRPr lang="en-US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167063" y="4411749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691064" y="4411749"/>
            <a:ext cx="1295400" cy="533400"/>
          </a:xfrm>
          <a:prstGeom prst="rect">
            <a:avLst/>
          </a:prstGeom>
          <a:solidFill>
            <a:schemeClr val="accent4"/>
          </a:solidFill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6215064" y="4411749"/>
            <a:ext cx="1295400" cy="533400"/>
          </a:xfrm>
          <a:prstGeom prst="rect">
            <a:avLst/>
          </a:prstGeom>
          <a:solidFill>
            <a:schemeClr val="accent4"/>
          </a:solidFill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7739064" y="4411749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5453064" y="3040149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3929063" y="1897149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1" name="Text Box 19"/>
          <p:cNvSpPr txBox="1">
            <a:spLocks noChangeArrowheads="1"/>
          </p:cNvSpPr>
          <p:nvPr/>
        </p:nvSpPr>
        <p:spPr bwMode="auto">
          <a:xfrm rot="10800000">
            <a:off x="3193892" y="4408593"/>
            <a:ext cx="492443" cy="553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12" name="Text Box 20"/>
          <p:cNvSpPr txBox="1">
            <a:spLocks noChangeArrowheads="1"/>
          </p:cNvSpPr>
          <p:nvPr/>
        </p:nvSpPr>
        <p:spPr bwMode="auto">
          <a:xfrm rot="10800000">
            <a:off x="3574892" y="4410180"/>
            <a:ext cx="492443" cy="553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130</a:t>
            </a:r>
          </a:p>
        </p:txBody>
      </p:sp>
      <p:sp>
        <p:nvSpPr>
          <p:cNvPr id="14" name="Text Box 22"/>
          <p:cNvSpPr txBox="1">
            <a:spLocks noChangeArrowheads="1"/>
          </p:cNvSpPr>
          <p:nvPr/>
        </p:nvSpPr>
        <p:spPr bwMode="auto">
          <a:xfrm rot="10800000">
            <a:off x="4717892" y="4407006"/>
            <a:ext cx="492443" cy="553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17" name="Text Box 25"/>
          <p:cNvSpPr txBox="1">
            <a:spLocks noChangeArrowheads="1"/>
          </p:cNvSpPr>
          <p:nvPr/>
        </p:nvSpPr>
        <p:spPr bwMode="auto">
          <a:xfrm rot="10800000">
            <a:off x="6208253" y="4406987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18" name="Text Box 26"/>
          <p:cNvSpPr txBox="1">
            <a:spLocks noChangeArrowheads="1"/>
          </p:cNvSpPr>
          <p:nvPr/>
        </p:nvSpPr>
        <p:spPr bwMode="auto">
          <a:xfrm rot="10800000">
            <a:off x="6589253" y="4394287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179</a:t>
            </a:r>
          </a:p>
        </p:txBody>
      </p:sp>
      <p:sp>
        <p:nvSpPr>
          <p:cNvPr id="19" name="Text Box 27"/>
          <p:cNvSpPr txBox="1">
            <a:spLocks noChangeArrowheads="1"/>
          </p:cNvSpPr>
          <p:nvPr/>
        </p:nvSpPr>
        <p:spPr bwMode="auto">
          <a:xfrm rot="10800000">
            <a:off x="7781926" y="4406987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20" name="Text Box 28"/>
          <p:cNvSpPr txBox="1">
            <a:spLocks noChangeArrowheads="1"/>
          </p:cNvSpPr>
          <p:nvPr/>
        </p:nvSpPr>
        <p:spPr bwMode="auto">
          <a:xfrm rot="10800000">
            <a:off x="8162926" y="4410162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200</a:t>
            </a:r>
          </a:p>
        </p:txBody>
      </p:sp>
      <p:sp>
        <p:nvSpPr>
          <p:cNvPr id="21" name="Text Box 30"/>
          <p:cNvSpPr txBox="1">
            <a:spLocks noChangeArrowheads="1"/>
          </p:cNvSpPr>
          <p:nvPr/>
        </p:nvSpPr>
        <p:spPr bwMode="auto">
          <a:xfrm rot="10800000">
            <a:off x="3921153" y="1895057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22" name="Text Box 31"/>
          <p:cNvSpPr txBox="1">
            <a:spLocks noChangeArrowheads="1"/>
          </p:cNvSpPr>
          <p:nvPr/>
        </p:nvSpPr>
        <p:spPr bwMode="auto">
          <a:xfrm rot="10800000">
            <a:off x="5480051" y="3038562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23" name="Text Box 32"/>
          <p:cNvSpPr txBox="1">
            <a:spLocks noChangeArrowheads="1"/>
          </p:cNvSpPr>
          <p:nvPr/>
        </p:nvSpPr>
        <p:spPr bwMode="auto">
          <a:xfrm rot="10800000">
            <a:off x="5861051" y="3040149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24" name="Text Box 33"/>
          <p:cNvSpPr txBox="1">
            <a:spLocks noChangeArrowheads="1"/>
          </p:cNvSpPr>
          <p:nvPr/>
        </p:nvSpPr>
        <p:spPr bwMode="auto">
          <a:xfrm rot="10800000">
            <a:off x="6242051" y="3040149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25" name="Line 34"/>
          <p:cNvSpPr>
            <a:spLocks noChangeShapeType="1"/>
          </p:cNvSpPr>
          <p:nvPr/>
        </p:nvSpPr>
        <p:spPr bwMode="auto">
          <a:xfrm flipH="1">
            <a:off x="1566863" y="2278149"/>
            <a:ext cx="24384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6" name="Line 35"/>
          <p:cNvSpPr>
            <a:spLocks noChangeShapeType="1"/>
          </p:cNvSpPr>
          <p:nvPr/>
        </p:nvSpPr>
        <p:spPr bwMode="auto">
          <a:xfrm>
            <a:off x="4310063" y="2278149"/>
            <a:ext cx="17526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7" name="Line 38"/>
          <p:cNvSpPr>
            <a:spLocks noChangeShapeType="1"/>
          </p:cNvSpPr>
          <p:nvPr/>
        </p:nvSpPr>
        <p:spPr bwMode="auto">
          <a:xfrm flipH="1">
            <a:off x="2294022" y="3497349"/>
            <a:ext cx="3235240" cy="91122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8" name="Line 39"/>
          <p:cNvSpPr>
            <a:spLocks noChangeShapeType="1"/>
          </p:cNvSpPr>
          <p:nvPr/>
        </p:nvSpPr>
        <p:spPr bwMode="auto">
          <a:xfrm flipH="1">
            <a:off x="3825153" y="3497349"/>
            <a:ext cx="2085111" cy="9048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0" name="Line 41"/>
          <p:cNvSpPr>
            <a:spLocks noChangeShapeType="1"/>
          </p:cNvSpPr>
          <p:nvPr/>
        </p:nvSpPr>
        <p:spPr bwMode="auto">
          <a:xfrm>
            <a:off x="6672264" y="3497349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1" name="Line 47"/>
          <p:cNvSpPr>
            <a:spLocks noChangeShapeType="1"/>
          </p:cNvSpPr>
          <p:nvPr/>
        </p:nvSpPr>
        <p:spPr bwMode="auto">
          <a:xfrm>
            <a:off x="3444153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2" name="Line 48"/>
          <p:cNvSpPr>
            <a:spLocks noChangeShapeType="1"/>
          </p:cNvSpPr>
          <p:nvPr/>
        </p:nvSpPr>
        <p:spPr bwMode="auto">
          <a:xfrm>
            <a:off x="3825153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4" name="Line 50"/>
          <p:cNvSpPr>
            <a:spLocks noChangeShapeType="1"/>
          </p:cNvSpPr>
          <p:nvPr/>
        </p:nvSpPr>
        <p:spPr bwMode="auto">
          <a:xfrm>
            <a:off x="4943448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7" name="Line 53"/>
          <p:cNvSpPr>
            <a:spLocks noChangeShapeType="1"/>
          </p:cNvSpPr>
          <p:nvPr/>
        </p:nvSpPr>
        <p:spPr bwMode="auto">
          <a:xfrm>
            <a:off x="6468603" y="49070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8" name="Line 54"/>
          <p:cNvSpPr>
            <a:spLocks noChangeShapeType="1"/>
          </p:cNvSpPr>
          <p:nvPr/>
        </p:nvSpPr>
        <p:spPr bwMode="auto">
          <a:xfrm>
            <a:off x="6849603" y="49070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9" name="Line 55"/>
          <p:cNvSpPr>
            <a:spLocks noChangeShapeType="1"/>
          </p:cNvSpPr>
          <p:nvPr/>
        </p:nvSpPr>
        <p:spPr bwMode="auto">
          <a:xfrm>
            <a:off x="8043864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0" name="Line 56"/>
          <p:cNvSpPr>
            <a:spLocks noChangeShapeType="1"/>
          </p:cNvSpPr>
          <p:nvPr/>
        </p:nvSpPr>
        <p:spPr bwMode="auto">
          <a:xfrm>
            <a:off x="8424864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1" name="Line 58"/>
          <p:cNvSpPr>
            <a:spLocks noChangeShapeType="1"/>
          </p:cNvSpPr>
          <p:nvPr/>
        </p:nvSpPr>
        <p:spPr bwMode="auto">
          <a:xfrm>
            <a:off x="2862263" y="4716549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2" name="Line 59"/>
          <p:cNvSpPr>
            <a:spLocks noChangeShapeType="1"/>
          </p:cNvSpPr>
          <p:nvPr/>
        </p:nvSpPr>
        <p:spPr bwMode="auto">
          <a:xfrm>
            <a:off x="4386263" y="4716549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3" name="Line 60"/>
          <p:cNvSpPr>
            <a:spLocks noChangeShapeType="1"/>
          </p:cNvSpPr>
          <p:nvPr/>
        </p:nvSpPr>
        <p:spPr bwMode="auto">
          <a:xfrm>
            <a:off x="5910264" y="4716549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4" name="Line 61"/>
          <p:cNvSpPr>
            <a:spLocks noChangeShapeType="1"/>
          </p:cNvSpPr>
          <p:nvPr/>
        </p:nvSpPr>
        <p:spPr bwMode="auto">
          <a:xfrm>
            <a:off x="7434264" y="4716549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5" name="Text Box 62"/>
          <p:cNvSpPr txBox="1">
            <a:spLocks noChangeArrowheads="1"/>
          </p:cNvSpPr>
          <p:nvPr/>
        </p:nvSpPr>
        <p:spPr bwMode="auto">
          <a:xfrm>
            <a:off x="6148389" y="1825712"/>
            <a:ext cx="20746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dirty="0">
                <a:solidFill>
                  <a:schemeClr val="accent2"/>
                </a:solidFill>
                <a:latin typeface="+mn-lt"/>
              </a:rPr>
              <a:t>Max fan-out: 4</a:t>
            </a:r>
          </a:p>
        </p:txBody>
      </p:sp>
      <p:sp>
        <p:nvSpPr>
          <p:cNvPr id="47" name="Line 68"/>
          <p:cNvSpPr>
            <a:spLocks noChangeShapeType="1"/>
          </p:cNvSpPr>
          <p:nvPr/>
        </p:nvSpPr>
        <p:spPr bwMode="auto">
          <a:xfrm>
            <a:off x="6438252" y="3657601"/>
            <a:ext cx="373739" cy="747078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8" name="Group 72"/>
          <p:cNvGrpSpPr>
            <a:grpSpLocks/>
          </p:cNvGrpSpPr>
          <p:nvPr/>
        </p:nvGrpSpPr>
        <p:grpSpPr bwMode="auto">
          <a:xfrm>
            <a:off x="5054600" y="4411771"/>
            <a:ext cx="492125" cy="974731"/>
            <a:chOff x="3887" y="2827"/>
            <a:chExt cx="310" cy="614"/>
          </a:xfrm>
        </p:grpSpPr>
        <p:sp>
          <p:nvSpPr>
            <p:cNvPr id="49" name="Text Box 69"/>
            <p:cNvSpPr txBox="1">
              <a:spLocks noChangeArrowheads="1"/>
            </p:cNvSpPr>
            <p:nvPr/>
          </p:nvSpPr>
          <p:spPr bwMode="auto">
            <a:xfrm rot="10800000">
              <a:off x="3887" y="2827"/>
              <a:ext cx="31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2000" b="1" dirty="0">
                  <a:solidFill>
                    <a:srgbClr val="FF0000"/>
                  </a:solidFill>
                  <a:latin typeface="Prestige12 BT" panose="02070509030506020304" pitchFamily="49" charset="0"/>
                </a:rPr>
                <a:t>152</a:t>
              </a:r>
            </a:p>
          </p:txBody>
        </p:sp>
        <p:sp>
          <p:nvSpPr>
            <p:cNvPr id="50" name="Line 70"/>
            <p:cNvSpPr>
              <a:spLocks noChangeShapeType="1"/>
            </p:cNvSpPr>
            <p:nvPr/>
          </p:nvSpPr>
          <p:spPr bwMode="auto">
            <a:xfrm>
              <a:off x="4043" y="3153"/>
              <a:ext cx="0" cy="288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" name="Rectangle 50"/>
          <p:cNvSpPr>
            <a:spLocks noChangeArrowheads="1"/>
          </p:cNvSpPr>
          <p:nvPr/>
        </p:nvSpPr>
        <p:spPr bwMode="auto">
          <a:xfrm>
            <a:off x="1635932" y="4411749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2" name="Text Box 19"/>
          <p:cNvSpPr txBox="1">
            <a:spLocks noChangeArrowheads="1"/>
          </p:cNvSpPr>
          <p:nvPr/>
        </p:nvSpPr>
        <p:spPr bwMode="auto">
          <a:xfrm rot="10800000">
            <a:off x="1662920" y="4408574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53" name="Text Box 20"/>
          <p:cNvSpPr txBox="1">
            <a:spLocks noChangeArrowheads="1"/>
          </p:cNvSpPr>
          <p:nvPr/>
        </p:nvSpPr>
        <p:spPr bwMode="auto">
          <a:xfrm rot="10800000">
            <a:off x="2043920" y="4410162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101</a:t>
            </a:r>
          </a:p>
        </p:txBody>
      </p:sp>
      <p:sp>
        <p:nvSpPr>
          <p:cNvPr id="54" name="Text Box 21"/>
          <p:cNvSpPr txBox="1">
            <a:spLocks noChangeArrowheads="1"/>
          </p:cNvSpPr>
          <p:nvPr/>
        </p:nvSpPr>
        <p:spPr bwMode="auto">
          <a:xfrm rot="10800000">
            <a:off x="2424920" y="4422862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110</a:t>
            </a:r>
          </a:p>
        </p:txBody>
      </p:sp>
      <p:sp>
        <p:nvSpPr>
          <p:cNvPr id="55" name="Line 47"/>
          <p:cNvSpPr>
            <a:spLocks noChangeShapeType="1"/>
          </p:cNvSpPr>
          <p:nvPr/>
        </p:nvSpPr>
        <p:spPr bwMode="auto">
          <a:xfrm>
            <a:off x="1913022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6" name="Line 48"/>
          <p:cNvSpPr>
            <a:spLocks noChangeShapeType="1"/>
          </p:cNvSpPr>
          <p:nvPr/>
        </p:nvSpPr>
        <p:spPr bwMode="auto">
          <a:xfrm>
            <a:off x="2294022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7" name="Line 49"/>
          <p:cNvSpPr>
            <a:spLocks noChangeShapeType="1"/>
          </p:cNvSpPr>
          <p:nvPr/>
        </p:nvSpPr>
        <p:spPr bwMode="auto">
          <a:xfrm>
            <a:off x="2675022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8" name="Line 58"/>
          <p:cNvSpPr>
            <a:spLocks noChangeShapeType="1"/>
          </p:cNvSpPr>
          <p:nvPr/>
        </p:nvSpPr>
        <p:spPr bwMode="auto">
          <a:xfrm>
            <a:off x="1331132" y="4716549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0" name="Line 38"/>
          <p:cNvSpPr>
            <a:spLocks noChangeShapeType="1"/>
          </p:cNvSpPr>
          <p:nvPr/>
        </p:nvSpPr>
        <p:spPr bwMode="auto">
          <a:xfrm flipH="1">
            <a:off x="5302249" y="3494900"/>
            <a:ext cx="976649" cy="907299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1" name="Text Box 113"/>
          <p:cNvSpPr txBox="1">
            <a:spLocks noChangeArrowheads="1"/>
          </p:cNvSpPr>
          <p:nvPr/>
        </p:nvSpPr>
        <p:spPr bwMode="auto">
          <a:xfrm rot="10800000">
            <a:off x="6091687" y="3278073"/>
            <a:ext cx="492443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b="1" dirty="0">
                <a:solidFill>
                  <a:srgbClr val="FF0000"/>
                </a:solidFill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10411" y="3669674"/>
            <a:ext cx="3869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FF0000"/>
                </a:solidFill>
              </a:rPr>
              <a:t>Need to add to parent node a pointer 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to the newly created node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29428" y="2714910"/>
            <a:ext cx="23535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Oops, that node </a:t>
            </a:r>
            <a:br>
              <a:rPr lang="en-US" sz="2400" dirty="0">
                <a:solidFill>
                  <a:srgbClr val="FF0000"/>
                </a:solidFill>
              </a:rPr>
            </a:br>
            <a:r>
              <a:rPr lang="en-US" sz="2400" dirty="0">
                <a:solidFill>
                  <a:srgbClr val="FF0000"/>
                </a:solidFill>
              </a:rPr>
              <a:t>becomes full!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13566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61" grpId="0"/>
      <p:bldP spid="62" grpId="0"/>
      <p:bldP spid="6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/>
          <p:cNvSpPr>
            <a:spLocks noChangeArrowheads="1"/>
          </p:cNvSpPr>
          <p:nvPr/>
        </p:nvSpPr>
        <p:spPr bwMode="auto">
          <a:xfrm>
            <a:off x="3171103" y="3048112"/>
            <a:ext cx="1295400" cy="533400"/>
          </a:xfrm>
          <a:prstGeom prst="rect">
            <a:avLst/>
          </a:prstGeom>
          <a:solidFill>
            <a:schemeClr val="accent4"/>
          </a:solidFill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node splitting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19</a:t>
            </a:fld>
            <a:endParaRPr lang="en-US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167063" y="4411749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691064" y="4411749"/>
            <a:ext cx="1295400" cy="533400"/>
          </a:xfrm>
          <a:prstGeom prst="rect">
            <a:avLst/>
          </a:prstGeom>
          <a:solidFill>
            <a:schemeClr val="accent4"/>
          </a:solidFill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6215064" y="4411749"/>
            <a:ext cx="1295400" cy="533400"/>
          </a:xfrm>
          <a:prstGeom prst="rect">
            <a:avLst/>
          </a:prstGeom>
          <a:solidFill>
            <a:schemeClr val="accent4"/>
          </a:solidFill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7739064" y="4411749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5453064" y="3040149"/>
            <a:ext cx="1295400" cy="533400"/>
          </a:xfrm>
          <a:prstGeom prst="rect">
            <a:avLst/>
          </a:prstGeom>
          <a:solidFill>
            <a:schemeClr val="accent4"/>
          </a:solidFill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3929063" y="1897149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1" name="Text Box 19"/>
          <p:cNvSpPr txBox="1">
            <a:spLocks noChangeArrowheads="1"/>
          </p:cNvSpPr>
          <p:nvPr/>
        </p:nvSpPr>
        <p:spPr bwMode="auto">
          <a:xfrm rot="10800000">
            <a:off x="3193892" y="4408593"/>
            <a:ext cx="492443" cy="553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12" name="Text Box 20"/>
          <p:cNvSpPr txBox="1">
            <a:spLocks noChangeArrowheads="1"/>
          </p:cNvSpPr>
          <p:nvPr/>
        </p:nvSpPr>
        <p:spPr bwMode="auto">
          <a:xfrm rot="10800000">
            <a:off x="3574892" y="4410180"/>
            <a:ext cx="492443" cy="553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130</a:t>
            </a:r>
          </a:p>
        </p:txBody>
      </p:sp>
      <p:sp>
        <p:nvSpPr>
          <p:cNvPr id="13" name="Text Box 22"/>
          <p:cNvSpPr txBox="1">
            <a:spLocks noChangeArrowheads="1"/>
          </p:cNvSpPr>
          <p:nvPr/>
        </p:nvSpPr>
        <p:spPr bwMode="auto">
          <a:xfrm rot="10800000">
            <a:off x="4717892" y="4407006"/>
            <a:ext cx="492443" cy="553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14" name="Text Box 25"/>
          <p:cNvSpPr txBox="1">
            <a:spLocks noChangeArrowheads="1"/>
          </p:cNvSpPr>
          <p:nvPr/>
        </p:nvSpPr>
        <p:spPr bwMode="auto">
          <a:xfrm rot="10800000">
            <a:off x="6208253" y="4406987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15" name="Text Box 26"/>
          <p:cNvSpPr txBox="1">
            <a:spLocks noChangeArrowheads="1"/>
          </p:cNvSpPr>
          <p:nvPr/>
        </p:nvSpPr>
        <p:spPr bwMode="auto">
          <a:xfrm rot="10800000">
            <a:off x="6589253" y="4394287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179</a:t>
            </a:r>
          </a:p>
        </p:txBody>
      </p:sp>
      <p:sp>
        <p:nvSpPr>
          <p:cNvPr id="16" name="Text Box 27"/>
          <p:cNvSpPr txBox="1">
            <a:spLocks noChangeArrowheads="1"/>
          </p:cNvSpPr>
          <p:nvPr/>
        </p:nvSpPr>
        <p:spPr bwMode="auto">
          <a:xfrm rot="10800000">
            <a:off x="7781926" y="4406987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17" name="Text Box 28"/>
          <p:cNvSpPr txBox="1">
            <a:spLocks noChangeArrowheads="1"/>
          </p:cNvSpPr>
          <p:nvPr/>
        </p:nvSpPr>
        <p:spPr bwMode="auto">
          <a:xfrm rot="10800000">
            <a:off x="8162926" y="4410162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200</a:t>
            </a:r>
          </a:p>
        </p:txBody>
      </p:sp>
      <p:sp>
        <p:nvSpPr>
          <p:cNvPr id="18" name="Text Box 30"/>
          <p:cNvSpPr txBox="1">
            <a:spLocks noChangeArrowheads="1"/>
          </p:cNvSpPr>
          <p:nvPr/>
        </p:nvSpPr>
        <p:spPr bwMode="auto">
          <a:xfrm rot="10800000">
            <a:off x="3921153" y="1895057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21" name="Text Box 33"/>
          <p:cNvSpPr txBox="1">
            <a:spLocks noChangeArrowheads="1"/>
          </p:cNvSpPr>
          <p:nvPr/>
        </p:nvSpPr>
        <p:spPr bwMode="auto">
          <a:xfrm rot="10800000">
            <a:off x="5482826" y="3040149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22" name="Line 34"/>
          <p:cNvSpPr>
            <a:spLocks noChangeShapeType="1"/>
          </p:cNvSpPr>
          <p:nvPr/>
        </p:nvSpPr>
        <p:spPr bwMode="auto">
          <a:xfrm flipH="1">
            <a:off x="1566863" y="2278149"/>
            <a:ext cx="24384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3" name="Line 35"/>
          <p:cNvSpPr>
            <a:spLocks noChangeShapeType="1"/>
          </p:cNvSpPr>
          <p:nvPr/>
        </p:nvSpPr>
        <p:spPr bwMode="auto">
          <a:xfrm flipH="1">
            <a:off x="3771179" y="2278148"/>
            <a:ext cx="538884" cy="788509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4" name="Line 38"/>
          <p:cNvSpPr>
            <a:spLocks noChangeShapeType="1"/>
          </p:cNvSpPr>
          <p:nvPr/>
        </p:nvSpPr>
        <p:spPr bwMode="auto">
          <a:xfrm flipH="1">
            <a:off x="2294022" y="3494900"/>
            <a:ext cx="1010995" cy="913671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5" name="Line 39"/>
          <p:cNvSpPr>
            <a:spLocks noChangeShapeType="1"/>
          </p:cNvSpPr>
          <p:nvPr/>
        </p:nvSpPr>
        <p:spPr bwMode="auto">
          <a:xfrm>
            <a:off x="3623699" y="3494900"/>
            <a:ext cx="201454" cy="907299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6" name="Line 41"/>
          <p:cNvSpPr>
            <a:spLocks noChangeShapeType="1"/>
          </p:cNvSpPr>
          <p:nvPr/>
        </p:nvSpPr>
        <p:spPr bwMode="auto">
          <a:xfrm>
            <a:off x="5882309" y="3467682"/>
            <a:ext cx="2466355" cy="94406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7" name="Line 47"/>
          <p:cNvSpPr>
            <a:spLocks noChangeShapeType="1"/>
          </p:cNvSpPr>
          <p:nvPr/>
        </p:nvSpPr>
        <p:spPr bwMode="auto">
          <a:xfrm>
            <a:off x="3444153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8" name="Line 48"/>
          <p:cNvSpPr>
            <a:spLocks noChangeShapeType="1"/>
          </p:cNvSpPr>
          <p:nvPr/>
        </p:nvSpPr>
        <p:spPr bwMode="auto">
          <a:xfrm>
            <a:off x="3825153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9" name="Line 50"/>
          <p:cNvSpPr>
            <a:spLocks noChangeShapeType="1"/>
          </p:cNvSpPr>
          <p:nvPr/>
        </p:nvSpPr>
        <p:spPr bwMode="auto">
          <a:xfrm>
            <a:off x="4943448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0" name="Line 53"/>
          <p:cNvSpPr>
            <a:spLocks noChangeShapeType="1"/>
          </p:cNvSpPr>
          <p:nvPr/>
        </p:nvSpPr>
        <p:spPr bwMode="auto">
          <a:xfrm>
            <a:off x="6468603" y="49070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1" name="Line 54"/>
          <p:cNvSpPr>
            <a:spLocks noChangeShapeType="1"/>
          </p:cNvSpPr>
          <p:nvPr/>
        </p:nvSpPr>
        <p:spPr bwMode="auto">
          <a:xfrm>
            <a:off x="6849603" y="49070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2" name="Line 55"/>
          <p:cNvSpPr>
            <a:spLocks noChangeShapeType="1"/>
          </p:cNvSpPr>
          <p:nvPr/>
        </p:nvSpPr>
        <p:spPr bwMode="auto">
          <a:xfrm>
            <a:off x="8043864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3" name="Line 56"/>
          <p:cNvSpPr>
            <a:spLocks noChangeShapeType="1"/>
          </p:cNvSpPr>
          <p:nvPr/>
        </p:nvSpPr>
        <p:spPr bwMode="auto">
          <a:xfrm>
            <a:off x="8424864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4" name="Line 58"/>
          <p:cNvSpPr>
            <a:spLocks noChangeShapeType="1"/>
          </p:cNvSpPr>
          <p:nvPr/>
        </p:nvSpPr>
        <p:spPr bwMode="auto">
          <a:xfrm>
            <a:off x="2862263" y="4716549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5" name="Line 59"/>
          <p:cNvSpPr>
            <a:spLocks noChangeShapeType="1"/>
          </p:cNvSpPr>
          <p:nvPr/>
        </p:nvSpPr>
        <p:spPr bwMode="auto">
          <a:xfrm>
            <a:off x="4386263" y="4716549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6" name="Line 60"/>
          <p:cNvSpPr>
            <a:spLocks noChangeShapeType="1"/>
          </p:cNvSpPr>
          <p:nvPr/>
        </p:nvSpPr>
        <p:spPr bwMode="auto">
          <a:xfrm>
            <a:off x="5910264" y="4716549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7" name="Line 61"/>
          <p:cNvSpPr>
            <a:spLocks noChangeShapeType="1"/>
          </p:cNvSpPr>
          <p:nvPr/>
        </p:nvSpPr>
        <p:spPr bwMode="auto">
          <a:xfrm>
            <a:off x="7434264" y="4716549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8" name="Text Box 62"/>
          <p:cNvSpPr txBox="1">
            <a:spLocks noChangeArrowheads="1"/>
          </p:cNvSpPr>
          <p:nvPr/>
        </p:nvSpPr>
        <p:spPr bwMode="auto">
          <a:xfrm>
            <a:off x="6148389" y="1825712"/>
            <a:ext cx="20746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dirty="0">
                <a:solidFill>
                  <a:schemeClr val="accent2"/>
                </a:solidFill>
                <a:latin typeface="+mn-lt"/>
              </a:rPr>
              <a:t>Max fan-out: 4</a:t>
            </a:r>
          </a:p>
        </p:txBody>
      </p:sp>
      <p:sp>
        <p:nvSpPr>
          <p:cNvPr id="39" name="Line 68"/>
          <p:cNvSpPr>
            <a:spLocks noChangeShapeType="1"/>
          </p:cNvSpPr>
          <p:nvPr/>
        </p:nvSpPr>
        <p:spPr bwMode="auto">
          <a:xfrm>
            <a:off x="5515136" y="3494900"/>
            <a:ext cx="1296855" cy="909779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" name="Group 72"/>
          <p:cNvGrpSpPr>
            <a:grpSpLocks/>
          </p:cNvGrpSpPr>
          <p:nvPr/>
        </p:nvGrpSpPr>
        <p:grpSpPr bwMode="auto">
          <a:xfrm>
            <a:off x="5054600" y="4411771"/>
            <a:ext cx="492125" cy="974731"/>
            <a:chOff x="3887" y="2827"/>
            <a:chExt cx="310" cy="614"/>
          </a:xfrm>
        </p:grpSpPr>
        <p:sp>
          <p:nvSpPr>
            <p:cNvPr id="41" name="Text Box 69"/>
            <p:cNvSpPr txBox="1">
              <a:spLocks noChangeArrowheads="1"/>
            </p:cNvSpPr>
            <p:nvPr/>
          </p:nvSpPr>
          <p:spPr bwMode="auto">
            <a:xfrm rot="10800000">
              <a:off x="3887" y="2827"/>
              <a:ext cx="31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2000" b="1" dirty="0">
                  <a:solidFill>
                    <a:srgbClr val="FF0000"/>
                  </a:solidFill>
                  <a:latin typeface="Prestige12 BT" panose="02070509030506020304" pitchFamily="49" charset="0"/>
                </a:rPr>
                <a:t>152</a:t>
              </a:r>
            </a:p>
          </p:txBody>
        </p:sp>
        <p:sp>
          <p:nvSpPr>
            <p:cNvPr id="42" name="Line 70"/>
            <p:cNvSpPr>
              <a:spLocks noChangeShapeType="1"/>
            </p:cNvSpPr>
            <p:nvPr/>
          </p:nvSpPr>
          <p:spPr bwMode="auto">
            <a:xfrm>
              <a:off x="4043" y="3153"/>
              <a:ext cx="0" cy="288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3" name="Rectangle 42"/>
          <p:cNvSpPr>
            <a:spLocks noChangeArrowheads="1"/>
          </p:cNvSpPr>
          <p:nvPr/>
        </p:nvSpPr>
        <p:spPr bwMode="auto">
          <a:xfrm>
            <a:off x="1635932" y="4411749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4" name="Text Box 19"/>
          <p:cNvSpPr txBox="1">
            <a:spLocks noChangeArrowheads="1"/>
          </p:cNvSpPr>
          <p:nvPr/>
        </p:nvSpPr>
        <p:spPr bwMode="auto">
          <a:xfrm rot="10800000">
            <a:off x="1662920" y="4408574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45" name="Text Box 20"/>
          <p:cNvSpPr txBox="1">
            <a:spLocks noChangeArrowheads="1"/>
          </p:cNvSpPr>
          <p:nvPr/>
        </p:nvSpPr>
        <p:spPr bwMode="auto">
          <a:xfrm rot="10800000">
            <a:off x="2043920" y="4410162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101</a:t>
            </a:r>
          </a:p>
        </p:txBody>
      </p:sp>
      <p:sp>
        <p:nvSpPr>
          <p:cNvPr id="46" name="Text Box 21"/>
          <p:cNvSpPr txBox="1">
            <a:spLocks noChangeArrowheads="1"/>
          </p:cNvSpPr>
          <p:nvPr/>
        </p:nvSpPr>
        <p:spPr bwMode="auto">
          <a:xfrm rot="10800000">
            <a:off x="2424920" y="4422862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110</a:t>
            </a:r>
          </a:p>
        </p:txBody>
      </p:sp>
      <p:sp>
        <p:nvSpPr>
          <p:cNvPr id="47" name="Line 47"/>
          <p:cNvSpPr>
            <a:spLocks noChangeShapeType="1"/>
          </p:cNvSpPr>
          <p:nvPr/>
        </p:nvSpPr>
        <p:spPr bwMode="auto">
          <a:xfrm>
            <a:off x="1913022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8" name="Line 48"/>
          <p:cNvSpPr>
            <a:spLocks noChangeShapeType="1"/>
          </p:cNvSpPr>
          <p:nvPr/>
        </p:nvSpPr>
        <p:spPr bwMode="auto">
          <a:xfrm>
            <a:off x="2294022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9" name="Line 49"/>
          <p:cNvSpPr>
            <a:spLocks noChangeShapeType="1"/>
          </p:cNvSpPr>
          <p:nvPr/>
        </p:nvSpPr>
        <p:spPr bwMode="auto">
          <a:xfrm>
            <a:off x="2675022" y="4919749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0" name="Line 58"/>
          <p:cNvSpPr>
            <a:spLocks noChangeShapeType="1"/>
          </p:cNvSpPr>
          <p:nvPr/>
        </p:nvSpPr>
        <p:spPr bwMode="auto">
          <a:xfrm>
            <a:off x="1331132" y="4716549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1" name="Line 38"/>
          <p:cNvSpPr>
            <a:spLocks noChangeShapeType="1"/>
          </p:cNvSpPr>
          <p:nvPr/>
        </p:nvSpPr>
        <p:spPr bwMode="auto">
          <a:xfrm>
            <a:off x="3975517" y="3494900"/>
            <a:ext cx="1326732" cy="907299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56" name="Text Box 31"/>
          <p:cNvSpPr txBox="1">
            <a:spLocks noChangeArrowheads="1"/>
          </p:cNvSpPr>
          <p:nvPr/>
        </p:nvSpPr>
        <p:spPr bwMode="auto">
          <a:xfrm rot="10800000">
            <a:off x="3198090" y="3046525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57" name="Text Box 32"/>
          <p:cNvSpPr txBox="1">
            <a:spLocks noChangeArrowheads="1"/>
          </p:cNvSpPr>
          <p:nvPr/>
        </p:nvSpPr>
        <p:spPr bwMode="auto">
          <a:xfrm rot="10800000">
            <a:off x="3579090" y="3048112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60" name="Line 35"/>
          <p:cNvSpPr>
            <a:spLocks noChangeShapeType="1"/>
          </p:cNvSpPr>
          <p:nvPr/>
        </p:nvSpPr>
        <p:spPr bwMode="auto">
          <a:xfrm>
            <a:off x="4614141" y="2287377"/>
            <a:ext cx="1423467" cy="766536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2" name="Text Box 30"/>
          <p:cNvSpPr txBox="1">
            <a:spLocks noChangeArrowheads="1"/>
          </p:cNvSpPr>
          <p:nvPr/>
        </p:nvSpPr>
        <p:spPr bwMode="auto">
          <a:xfrm rot="10800000">
            <a:off x="4215881" y="1894133"/>
            <a:ext cx="492443" cy="553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b="1" dirty="0">
                <a:solidFill>
                  <a:srgbClr val="FF0000"/>
                </a:solidFill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46393" y="2314271"/>
            <a:ext cx="3869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FF0000"/>
                </a:solidFill>
              </a:rPr>
              <a:t>Need to add to parent node a pointer 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to the newly created node</a:t>
            </a:r>
          </a:p>
        </p:txBody>
      </p:sp>
      <p:sp>
        <p:nvSpPr>
          <p:cNvPr id="64" name="Rectangle 60"/>
          <p:cNvSpPr txBox="1">
            <a:spLocks noChangeArrowheads="1"/>
          </p:cNvSpPr>
          <p:nvPr/>
        </p:nvSpPr>
        <p:spPr>
          <a:xfrm>
            <a:off x="195263" y="5347068"/>
            <a:ext cx="8686800" cy="1371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In the worst case, node splitting can “propagate” all the way up to the root of the tree (not illustrated here)</a:t>
            </a:r>
          </a:p>
          <a:p>
            <a:pPr lvl="1"/>
            <a:r>
              <a:rPr lang="en-US" sz="2000" dirty="0"/>
              <a:t>Splitting the root introduces a new root of fan-out 2 and causes the tree to grow “up” by one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33393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uiExpand="1" build="p" autoUpdateAnimBg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Delete a record with search key value </a:t>
            </a:r>
            <a:r>
              <a:rPr lang="en-US" dirty="0">
                <a:latin typeface="Prestige12 BT" panose="02070509030506020304" pitchFamily="49" charset="0"/>
              </a:rPr>
              <a:t>130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20</a:t>
            </a:fld>
            <a:endParaRPr lang="en-US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167063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691064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6215064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7739064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5453064" y="30401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3929063" y="18971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1" name="Text Box 19"/>
          <p:cNvSpPr txBox="1">
            <a:spLocks noChangeArrowheads="1"/>
          </p:cNvSpPr>
          <p:nvPr/>
        </p:nvSpPr>
        <p:spPr bwMode="auto">
          <a:xfrm rot="10800000">
            <a:off x="3194051" y="4408575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12" name="Text Box 20"/>
          <p:cNvSpPr txBox="1">
            <a:spLocks noChangeArrowheads="1"/>
          </p:cNvSpPr>
          <p:nvPr/>
        </p:nvSpPr>
        <p:spPr bwMode="auto">
          <a:xfrm rot="10800000">
            <a:off x="3575051" y="44101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101</a:t>
            </a:r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 rot="10800000">
            <a:off x="3956051" y="44228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110</a:t>
            </a:r>
          </a:p>
        </p:txBody>
      </p:sp>
      <p:sp>
        <p:nvSpPr>
          <p:cNvPr id="14" name="Text Box 22"/>
          <p:cNvSpPr txBox="1">
            <a:spLocks noChangeArrowheads="1"/>
          </p:cNvSpPr>
          <p:nvPr/>
        </p:nvSpPr>
        <p:spPr bwMode="auto">
          <a:xfrm rot="10800000">
            <a:off x="4718051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15" name="Text Box 23"/>
          <p:cNvSpPr txBox="1">
            <a:spLocks noChangeArrowheads="1"/>
          </p:cNvSpPr>
          <p:nvPr/>
        </p:nvSpPr>
        <p:spPr bwMode="auto">
          <a:xfrm rot="10800000">
            <a:off x="5099051" y="44101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130</a:t>
            </a:r>
          </a:p>
        </p:txBody>
      </p:sp>
      <p:sp>
        <p:nvSpPr>
          <p:cNvPr id="16" name="Text Box 24"/>
          <p:cNvSpPr txBox="1">
            <a:spLocks noChangeArrowheads="1"/>
          </p:cNvSpPr>
          <p:nvPr/>
        </p:nvSpPr>
        <p:spPr bwMode="auto">
          <a:xfrm rot="10800000">
            <a:off x="6259514" y="44101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17" name="Text Box 25"/>
          <p:cNvSpPr txBox="1">
            <a:spLocks noChangeArrowheads="1"/>
          </p:cNvSpPr>
          <p:nvPr/>
        </p:nvSpPr>
        <p:spPr bwMode="auto">
          <a:xfrm rot="10800000">
            <a:off x="6640514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18" name="Text Box 26"/>
          <p:cNvSpPr txBox="1">
            <a:spLocks noChangeArrowheads="1"/>
          </p:cNvSpPr>
          <p:nvPr/>
        </p:nvSpPr>
        <p:spPr bwMode="auto">
          <a:xfrm rot="10800000">
            <a:off x="7021514" y="43942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179</a:t>
            </a:r>
          </a:p>
        </p:txBody>
      </p:sp>
      <p:sp>
        <p:nvSpPr>
          <p:cNvPr id="19" name="Text Box 27"/>
          <p:cNvSpPr txBox="1">
            <a:spLocks noChangeArrowheads="1"/>
          </p:cNvSpPr>
          <p:nvPr/>
        </p:nvSpPr>
        <p:spPr bwMode="auto">
          <a:xfrm rot="10800000">
            <a:off x="7781926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20" name="Text Box 28"/>
          <p:cNvSpPr txBox="1">
            <a:spLocks noChangeArrowheads="1"/>
          </p:cNvSpPr>
          <p:nvPr/>
        </p:nvSpPr>
        <p:spPr bwMode="auto">
          <a:xfrm rot="10800000">
            <a:off x="8162926" y="44101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200</a:t>
            </a:r>
          </a:p>
        </p:txBody>
      </p:sp>
      <p:sp>
        <p:nvSpPr>
          <p:cNvPr id="21" name="Text Box 30"/>
          <p:cNvSpPr txBox="1">
            <a:spLocks noChangeArrowheads="1"/>
          </p:cNvSpPr>
          <p:nvPr/>
        </p:nvSpPr>
        <p:spPr bwMode="auto">
          <a:xfrm rot="10800000">
            <a:off x="3921153" y="189505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22" name="Text Box 31"/>
          <p:cNvSpPr txBox="1">
            <a:spLocks noChangeArrowheads="1"/>
          </p:cNvSpPr>
          <p:nvPr/>
        </p:nvSpPr>
        <p:spPr bwMode="auto">
          <a:xfrm rot="10800000">
            <a:off x="5480051" y="30385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23" name="Text Box 32"/>
          <p:cNvSpPr txBox="1">
            <a:spLocks noChangeArrowheads="1"/>
          </p:cNvSpPr>
          <p:nvPr/>
        </p:nvSpPr>
        <p:spPr bwMode="auto">
          <a:xfrm rot="10800000">
            <a:off x="5861051" y="3040150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24" name="Text Box 33"/>
          <p:cNvSpPr txBox="1">
            <a:spLocks noChangeArrowheads="1"/>
          </p:cNvSpPr>
          <p:nvPr/>
        </p:nvSpPr>
        <p:spPr bwMode="auto">
          <a:xfrm rot="10800000">
            <a:off x="6242051" y="3040150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25" name="Line 34"/>
          <p:cNvSpPr>
            <a:spLocks noChangeShapeType="1"/>
          </p:cNvSpPr>
          <p:nvPr/>
        </p:nvSpPr>
        <p:spPr bwMode="auto">
          <a:xfrm flipH="1">
            <a:off x="1566863" y="2278150"/>
            <a:ext cx="24384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6" name="Line 35"/>
          <p:cNvSpPr>
            <a:spLocks noChangeShapeType="1"/>
          </p:cNvSpPr>
          <p:nvPr/>
        </p:nvSpPr>
        <p:spPr bwMode="auto">
          <a:xfrm>
            <a:off x="4310063" y="2278150"/>
            <a:ext cx="17526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7" name="Line 38"/>
          <p:cNvSpPr>
            <a:spLocks noChangeShapeType="1"/>
          </p:cNvSpPr>
          <p:nvPr/>
        </p:nvSpPr>
        <p:spPr bwMode="auto">
          <a:xfrm flipH="1">
            <a:off x="3852863" y="349735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8" name="Line 39"/>
          <p:cNvSpPr>
            <a:spLocks noChangeShapeType="1"/>
          </p:cNvSpPr>
          <p:nvPr/>
        </p:nvSpPr>
        <p:spPr bwMode="auto">
          <a:xfrm flipH="1">
            <a:off x="5300664" y="3497350"/>
            <a:ext cx="6096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9" name="Line 40"/>
          <p:cNvSpPr>
            <a:spLocks noChangeShapeType="1"/>
          </p:cNvSpPr>
          <p:nvPr/>
        </p:nvSpPr>
        <p:spPr bwMode="auto">
          <a:xfrm>
            <a:off x="6291264" y="3497350"/>
            <a:ext cx="533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0" name="Line 41"/>
          <p:cNvSpPr>
            <a:spLocks noChangeShapeType="1"/>
          </p:cNvSpPr>
          <p:nvPr/>
        </p:nvSpPr>
        <p:spPr bwMode="auto">
          <a:xfrm>
            <a:off x="6672264" y="349735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1" name="Line 47"/>
          <p:cNvSpPr>
            <a:spLocks noChangeShapeType="1"/>
          </p:cNvSpPr>
          <p:nvPr/>
        </p:nvSpPr>
        <p:spPr bwMode="auto">
          <a:xfrm>
            <a:off x="3444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2" name="Line 48"/>
          <p:cNvSpPr>
            <a:spLocks noChangeShapeType="1"/>
          </p:cNvSpPr>
          <p:nvPr/>
        </p:nvSpPr>
        <p:spPr bwMode="auto">
          <a:xfrm>
            <a:off x="3825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3" name="Line 49"/>
          <p:cNvSpPr>
            <a:spLocks noChangeShapeType="1"/>
          </p:cNvSpPr>
          <p:nvPr/>
        </p:nvSpPr>
        <p:spPr bwMode="auto">
          <a:xfrm>
            <a:off x="4206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4" name="Line 50"/>
          <p:cNvSpPr>
            <a:spLocks noChangeShapeType="1"/>
          </p:cNvSpPr>
          <p:nvPr/>
        </p:nvSpPr>
        <p:spPr bwMode="auto">
          <a:xfrm>
            <a:off x="4943448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5" name="Line 51"/>
          <p:cNvSpPr>
            <a:spLocks noChangeShapeType="1"/>
          </p:cNvSpPr>
          <p:nvPr/>
        </p:nvSpPr>
        <p:spPr bwMode="auto">
          <a:xfrm>
            <a:off x="5313364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6" name="Line 52"/>
          <p:cNvSpPr>
            <a:spLocks noChangeShapeType="1"/>
          </p:cNvSpPr>
          <p:nvPr/>
        </p:nvSpPr>
        <p:spPr bwMode="auto">
          <a:xfrm>
            <a:off x="6519864" y="49070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7" name="Line 53"/>
          <p:cNvSpPr>
            <a:spLocks noChangeShapeType="1"/>
          </p:cNvSpPr>
          <p:nvPr/>
        </p:nvSpPr>
        <p:spPr bwMode="auto">
          <a:xfrm>
            <a:off x="6900864" y="49070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8" name="Line 54"/>
          <p:cNvSpPr>
            <a:spLocks noChangeShapeType="1"/>
          </p:cNvSpPr>
          <p:nvPr/>
        </p:nvSpPr>
        <p:spPr bwMode="auto">
          <a:xfrm>
            <a:off x="7281864" y="49070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9" name="Line 55"/>
          <p:cNvSpPr>
            <a:spLocks noChangeShapeType="1"/>
          </p:cNvSpPr>
          <p:nvPr/>
        </p:nvSpPr>
        <p:spPr bwMode="auto">
          <a:xfrm>
            <a:off x="8043864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0" name="Line 56"/>
          <p:cNvSpPr>
            <a:spLocks noChangeShapeType="1"/>
          </p:cNvSpPr>
          <p:nvPr/>
        </p:nvSpPr>
        <p:spPr bwMode="auto">
          <a:xfrm>
            <a:off x="8424864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1" name="Line 58"/>
          <p:cNvSpPr>
            <a:spLocks noChangeShapeType="1"/>
          </p:cNvSpPr>
          <p:nvPr/>
        </p:nvSpPr>
        <p:spPr bwMode="auto">
          <a:xfrm>
            <a:off x="2862263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2" name="Line 59"/>
          <p:cNvSpPr>
            <a:spLocks noChangeShapeType="1"/>
          </p:cNvSpPr>
          <p:nvPr/>
        </p:nvSpPr>
        <p:spPr bwMode="auto">
          <a:xfrm>
            <a:off x="4386263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3" name="Line 60"/>
          <p:cNvSpPr>
            <a:spLocks noChangeShapeType="1"/>
          </p:cNvSpPr>
          <p:nvPr/>
        </p:nvSpPr>
        <p:spPr bwMode="auto">
          <a:xfrm>
            <a:off x="5910264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4" name="Line 61"/>
          <p:cNvSpPr>
            <a:spLocks noChangeShapeType="1"/>
          </p:cNvSpPr>
          <p:nvPr/>
        </p:nvSpPr>
        <p:spPr bwMode="auto">
          <a:xfrm>
            <a:off x="7434264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5" name="Text Box 62"/>
          <p:cNvSpPr txBox="1">
            <a:spLocks noChangeArrowheads="1"/>
          </p:cNvSpPr>
          <p:nvPr/>
        </p:nvSpPr>
        <p:spPr bwMode="auto">
          <a:xfrm>
            <a:off x="6148389" y="1825713"/>
            <a:ext cx="20746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dirty="0">
                <a:solidFill>
                  <a:schemeClr val="accent2"/>
                </a:solidFill>
                <a:latin typeface="+mn-lt"/>
              </a:rPr>
              <a:t>Max fan-out: 4</a:t>
            </a:r>
          </a:p>
        </p:txBody>
      </p:sp>
      <p:sp>
        <p:nvSpPr>
          <p:cNvPr id="52" name="Line 45"/>
          <p:cNvSpPr>
            <a:spLocks noChangeShapeType="1"/>
          </p:cNvSpPr>
          <p:nvPr/>
        </p:nvSpPr>
        <p:spPr bwMode="auto">
          <a:xfrm>
            <a:off x="4322084" y="2275237"/>
            <a:ext cx="1752600" cy="7620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3" name="Line 46"/>
          <p:cNvSpPr>
            <a:spLocks noChangeShapeType="1"/>
          </p:cNvSpPr>
          <p:nvPr/>
        </p:nvSpPr>
        <p:spPr bwMode="auto">
          <a:xfrm flipH="1">
            <a:off x="5291139" y="3464013"/>
            <a:ext cx="609600" cy="95885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54" name="Group 56"/>
          <p:cNvGrpSpPr>
            <a:grpSpLocks/>
          </p:cNvGrpSpPr>
          <p:nvPr/>
        </p:nvGrpSpPr>
        <p:grpSpPr bwMode="auto">
          <a:xfrm>
            <a:off x="5143543" y="4442174"/>
            <a:ext cx="381000" cy="838200"/>
            <a:chOff x="3072" y="2976"/>
            <a:chExt cx="240" cy="528"/>
          </a:xfrm>
        </p:grpSpPr>
        <p:sp>
          <p:nvSpPr>
            <p:cNvPr id="55" name="Line 49"/>
            <p:cNvSpPr>
              <a:spLocks noChangeShapeType="1"/>
            </p:cNvSpPr>
            <p:nvPr/>
          </p:nvSpPr>
          <p:spPr bwMode="auto">
            <a:xfrm>
              <a:off x="3072" y="2976"/>
              <a:ext cx="240" cy="528"/>
            </a:xfrm>
            <a:prstGeom prst="line">
              <a:avLst/>
            </a:prstGeom>
            <a:noFill/>
            <a:ln w="63500" cap="rnd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50"/>
            <p:cNvSpPr>
              <a:spLocks noChangeShapeType="1"/>
            </p:cNvSpPr>
            <p:nvPr/>
          </p:nvSpPr>
          <p:spPr bwMode="auto">
            <a:xfrm flipH="1">
              <a:off x="3072" y="2976"/>
              <a:ext cx="240" cy="528"/>
            </a:xfrm>
            <a:prstGeom prst="line">
              <a:avLst/>
            </a:prstGeom>
            <a:noFill/>
            <a:ln w="63500" cap="rnd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 Box 51"/>
          <p:cNvSpPr txBox="1">
            <a:spLocks noChangeArrowheads="1"/>
          </p:cNvSpPr>
          <p:nvPr/>
        </p:nvSpPr>
        <p:spPr bwMode="auto">
          <a:xfrm>
            <a:off x="2577307" y="3162649"/>
            <a:ext cx="2255746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>
                <a:solidFill>
                  <a:srgbClr val="FF0000"/>
                </a:solidFill>
                <a:latin typeface="+mn-lt"/>
              </a:rPr>
              <a:t>Look up the key</a:t>
            </a:r>
            <a:br>
              <a:rPr lang="en-US">
                <a:solidFill>
                  <a:srgbClr val="FF0000"/>
                </a:solidFill>
                <a:latin typeface="+mn-lt"/>
              </a:rPr>
            </a:br>
            <a:r>
              <a:rPr lang="en-US">
                <a:solidFill>
                  <a:srgbClr val="FF0000"/>
                </a:solidFill>
                <a:latin typeface="+mn-lt"/>
              </a:rPr>
              <a:t>to be deleted…</a:t>
            </a:r>
          </a:p>
        </p:txBody>
      </p:sp>
      <p:sp>
        <p:nvSpPr>
          <p:cNvPr id="58" name="Text Box 52"/>
          <p:cNvSpPr txBox="1">
            <a:spLocks noChangeArrowheads="1"/>
          </p:cNvSpPr>
          <p:nvPr/>
        </p:nvSpPr>
        <p:spPr bwMode="auto">
          <a:xfrm>
            <a:off x="4169569" y="5356574"/>
            <a:ext cx="18501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And delete it</a:t>
            </a:r>
          </a:p>
        </p:txBody>
      </p:sp>
      <p:sp>
        <p:nvSpPr>
          <p:cNvPr id="59" name="Text Box 53"/>
          <p:cNvSpPr txBox="1">
            <a:spLocks noChangeArrowheads="1"/>
          </p:cNvSpPr>
          <p:nvPr/>
        </p:nvSpPr>
        <p:spPr bwMode="auto">
          <a:xfrm>
            <a:off x="5312569" y="5737574"/>
            <a:ext cx="344357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dirty="0">
                <a:solidFill>
                  <a:srgbClr val="FF0000"/>
                </a:solidFill>
                <a:latin typeface="+mn-lt"/>
              </a:rPr>
              <a:t>Oops, node is too empty!</a:t>
            </a:r>
          </a:p>
        </p:txBody>
      </p:sp>
      <p:grpSp>
        <p:nvGrpSpPr>
          <p:cNvPr id="60" name="Group 57"/>
          <p:cNvGrpSpPr>
            <a:grpSpLocks/>
          </p:cNvGrpSpPr>
          <p:nvPr/>
        </p:nvGrpSpPr>
        <p:grpSpPr bwMode="auto">
          <a:xfrm>
            <a:off x="5617369" y="3283299"/>
            <a:ext cx="3463925" cy="1082675"/>
            <a:chOff x="3360" y="2246"/>
            <a:chExt cx="2182" cy="682"/>
          </a:xfrm>
        </p:grpSpPr>
        <p:sp>
          <p:nvSpPr>
            <p:cNvPr id="61" name="Text Box 54"/>
            <p:cNvSpPr txBox="1">
              <a:spLocks noChangeArrowheads="1"/>
            </p:cNvSpPr>
            <p:nvPr/>
          </p:nvSpPr>
          <p:spPr bwMode="auto">
            <a:xfrm>
              <a:off x="4068" y="2246"/>
              <a:ext cx="1474" cy="6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buFont typeface="Wingdings" pitchFamily="2" charset="2"/>
                <a:buNone/>
              </a:pPr>
              <a:r>
                <a:rPr lang="en-US" sz="2000" dirty="0">
                  <a:solidFill>
                    <a:schemeClr val="accent2"/>
                  </a:solidFill>
                  <a:latin typeface="+mn-lt"/>
                </a:rPr>
                <a:t>If a sibling has more</a:t>
              </a:r>
              <a:br>
                <a:rPr lang="en-US" sz="2000" dirty="0">
                  <a:solidFill>
                    <a:schemeClr val="accent2"/>
                  </a:solidFill>
                  <a:latin typeface="+mn-lt"/>
                </a:rPr>
              </a:br>
              <a:r>
                <a:rPr lang="en-US" sz="2000" dirty="0">
                  <a:solidFill>
                    <a:schemeClr val="accent2"/>
                  </a:solidFill>
                  <a:latin typeface="+mn-lt"/>
                </a:rPr>
                <a:t>than enough keys,</a:t>
              </a:r>
              <a:br>
                <a:rPr lang="en-US" sz="2000" dirty="0">
                  <a:solidFill>
                    <a:schemeClr val="accent2"/>
                  </a:solidFill>
                  <a:latin typeface="+mn-lt"/>
                </a:rPr>
              </a:br>
              <a:r>
                <a:rPr lang="en-US" sz="2000" dirty="0">
                  <a:solidFill>
                    <a:schemeClr val="accent2"/>
                  </a:solidFill>
                  <a:latin typeface="+mn-lt"/>
                </a:rPr>
                <a:t>steal one!</a:t>
              </a:r>
            </a:p>
          </p:txBody>
        </p:sp>
        <p:sp>
          <p:nvSpPr>
            <p:cNvPr id="62" name="Freeform 55"/>
            <p:cNvSpPr>
              <a:spLocks/>
            </p:cNvSpPr>
            <p:nvPr/>
          </p:nvSpPr>
          <p:spPr bwMode="auto">
            <a:xfrm>
              <a:off x="3360" y="2784"/>
              <a:ext cx="576" cy="144"/>
            </a:xfrm>
            <a:custGeom>
              <a:avLst/>
              <a:gdLst>
                <a:gd name="T0" fmla="*/ 576 w 576"/>
                <a:gd name="T1" fmla="*/ 144 h 144"/>
                <a:gd name="T2" fmla="*/ 288 w 576"/>
                <a:gd name="T3" fmla="*/ 0 h 144"/>
                <a:gd name="T4" fmla="*/ 0 w 576"/>
                <a:gd name="T5" fmla="*/ 144 h 144"/>
                <a:gd name="T6" fmla="*/ 0 60000 65536"/>
                <a:gd name="T7" fmla="*/ 0 60000 65536"/>
                <a:gd name="T8" fmla="*/ 0 60000 65536"/>
                <a:gd name="T9" fmla="*/ 0 w 576"/>
                <a:gd name="T10" fmla="*/ 0 h 144"/>
                <a:gd name="T11" fmla="*/ 576 w 576"/>
                <a:gd name="T12" fmla="*/ 144 h 14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76" h="144">
                  <a:moveTo>
                    <a:pt x="576" y="144"/>
                  </a:moveTo>
                  <a:cubicBezTo>
                    <a:pt x="480" y="72"/>
                    <a:pt x="384" y="0"/>
                    <a:pt x="288" y="0"/>
                  </a:cubicBezTo>
                  <a:cubicBezTo>
                    <a:pt x="192" y="0"/>
                    <a:pt x="96" y="72"/>
                    <a:pt x="0" y="144"/>
                  </a:cubicBezTo>
                </a:path>
              </a:pathLst>
            </a:custGeom>
            <a:noFill/>
            <a:ln w="63500">
              <a:solidFill>
                <a:schemeClr val="accent2"/>
              </a:solidFill>
              <a:prstDash val="sysDash"/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440076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7" grpId="0" autoUpdateAnimBg="0"/>
      <p:bldP spid="58" grpId="0" autoUpdateAnimBg="0"/>
      <p:bldP spid="59" grpId="0" autoUpdateAnimBg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Stealing from a sibling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21</a:t>
            </a:fld>
            <a:endParaRPr lang="en-US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167063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691064" y="4411750"/>
            <a:ext cx="1295400" cy="533400"/>
          </a:xfrm>
          <a:prstGeom prst="rect">
            <a:avLst/>
          </a:prstGeom>
          <a:solidFill>
            <a:schemeClr val="accent4"/>
          </a:solidFill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6215064" y="4411750"/>
            <a:ext cx="1295400" cy="533400"/>
          </a:xfrm>
          <a:prstGeom prst="rect">
            <a:avLst/>
          </a:prstGeom>
          <a:solidFill>
            <a:schemeClr val="accent4"/>
          </a:solidFill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7739064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5453064" y="30401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3929063" y="18971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1" name="Text Box 19"/>
          <p:cNvSpPr txBox="1">
            <a:spLocks noChangeArrowheads="1"/>
          </p:cNvSpPr>
          <p:nvPr/>
        </p:nvSpPr>
        <p:spPr bwMode="auto">
          <a:xfrm rot="10800000">
            <a:off x="3194051" y="4408575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12" name="Text Box 20"/>
          <p:cNvSpPr txBox="1">
            <a:spLocks noChangeArrowheads="1"/>
          </p:cNvSpPr>
          <p:nvPr/>
        </p:nvSpPr>
        <p:spPr bwMode="auto">
          <a:xfrm rot="10800000">
            <a:off x="3575051" y="44101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101</a:t>
            </a:r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 rot="10800000">
            <a:off x="3956051" y="44228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110</a:t>
            </a:r>
          </a:p>
        </p:txBody>
      </p:sp>
      <p:sp>
        <p:nvSpPr>
          <p:cNvPr id="14" name="Text Box 22"/>
          <p:cNvSpPr txBox="1">
            <a:spLocks noChangeArrowheads="1"/>
          </p:cNvSpPr>
          <p:nvPr/>
        </p:nvSpPr>
        <p:spPr bwMode="auto">
          <a:xfrm rot="10800000">
            <a:off x="4718051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16" name="Text Box 24"/>
          <p:cNvSpPr txBox="1">
            <a:spLocks noChangeArrowheads="1"/>
          </p:cNvSpPr>
          <p:nvPr/>
        </p:nvSpPr>
        <p:spPr bwMode="auto">
          <a:xfrm rot="10800000">
            <a:off x="5105619" y="4410182"/>
            <a:ext cx="492443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b="1" dirty="0">
                <a:solidFill>
                  <a:srgbClr val="FF0000"/>
                </a:solidFill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17" name="Text Box 25"/>
          <p:cNvSpPr txBox="1">
            <a:spLocks noChangeArrowheads="1"/>
          </p:cNvSpPr>
          <p:nvPr/>
        </p:nvSpPr>
        <p:spPr bwMode="auto">
          <a:xfrm rot="10800000">
            <a:off x="6208251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18" name="Text Box 26"/>
          <p:cNvSpPr txBox="1">
            <a:spLocks noChangeArrowheads="1"/>
          </p:cNvSpPr>
          <p:nvPr/>
        </p:nvSpPr>
        <p:spPr bwMode="auto">
          <a:xfrm rot="10800000">
            <a:off x="6589251" y="43942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179</a:t>
            </a:r>
          </a:p>
        </p:txBody>
      </p:sp>
      <p:sp>
        <p:nvSpPr>
          <p:cNvPr id="19" name="Text Box 27"/>
          <p:cNvSpPr txBox="1">
            <a:spLocks noChangeArrowheads="1"/>
          </p:cNvSpPr>
          <p:nvPr/>
        </p:nvSpPr>
        <p:spPr bwMode="auto">
          <a:xfrm rot="10800000">
            <a:off x="7781926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20" name="Text Box 28"/>
          <p:cNvSpPr txBox="1">
            <a:spLocks noChangeArrowheads="1"/>
          </p:cNvSpPr>
          <p:nvPr/>
        </p:nvSpPr>
        <p:spPr bwMode="auto">
          <a:xfrm rot="10800000">
            <a:off x="8162926" y="44101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200</a:t>
            </a:r>
          </a:p>
        </p:txBody>
      </p:sp>
      <p:sp>
        <p:nvSpPr>
          <p:cNvPr id="21" name="Text Box 30"/>
          <p:cNvSpPr txBox="1">
            <a:spLocks noChangeArrowheads="1"/>
          </p:cNvSpPr>
          <p:nvPr/>
        </p:nvSpPr>
        <p:spPr bwMode="auto">
          <a:xfrm rot="10800000">
            <a:off x="3921153" y="189505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22" name="Text Box 31"/>
          <p:cNvSpPr txBox="1">
            <a:spLocks noChangeArrowheads="1"/>
          </p:cNvSpPr>
          <p:nvPr/>
        </p:nvSpPr>
        <p:spPr bwMode="auto">
          <a:xfrm rot="10800000">
            <a:off x="5480051" y="30385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23" name="Text Box 32"/>
          <p:cNvSpPr txBox="1">
            <a:spLocks noChangeArrowheads="1"/>
          </p:cNvSpPr>
          <p:nvPr/>
        </p:nvSpPr>
        <p:spPr bwMode="auto">
          <a:xfrm rot="10800000">
            <a:off x="5861051" y="3040150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24" name="Text Box 33"/>
          <p:cNvSpPr txBox="1">
            <a:spLocks noChangeArrowheads="1"/>
          </p:cNvSpPr>
          <p:nvPr/>
        </p:nvSpPr>
        <p:spPr bwMode="auto">
          <a:xfrm rot="10800000">
            <a:off x="6242051" y="3040150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25" name="Line 34"/>
          <p:cNvSpPr>
            <a:spLocks noChangeShapeType="1"/>
          </p:cNvSpPr>
          <p:nvPr/>
        </p:nvSpPr>
        <p:spPr bwMode="auto">
          <a:xfrm flipH="1">
            <a:off x="1566863" y="2278150"/>
            <a:ext cx="24384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6" name="Line 35"/>
          <p:cNvSpPr>
            <a:spLocks noChangeShapeType="1"/>
          </p:cNvSpPr>
          <p:nvPr/>
        </p:nvSpPr>
        <p:spPr bwMode="auto">
          <a:xfrm>
            <a:off x="4310063" y="2278150"/>
            <a:ext cx="17526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7" name="Line 38"/>
          <p:cNvSpPr>
            <a:spLocks noChangeShapeType="1"/>
          </p:cNvSpPr>
          <p:nvPr/>
        </p:nvSpPr>
        <p:spPr bwMode="auto">
          <a:xfrm flipH="1">
            <a:off x="3852863" y="349735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8" name="Line 39"/>
          <p:cNvSpPr>
            <a:spLocks noChangeShapeType="1"/>
          </p:cNvSpPr>
          <p:nvPr/>
        </p:nvSpPr>
        <p:spPr bwMode="auto">
          <a:xfrm flipH="1">
            <a:off x="5300664" y="3497350"/>
            <a:ext cx="6096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9" name="Line 40"/>
          <p:cNvSpPr>
            <a:spLocks noChangeShapeType="1"/>
          </p:cNvSpPr>
          <p:nvPr/>
        </p:nvSpPr>
        <p:spPr bwMode="auto">
          <a:xfrm>
            <a:off x="6291264" y="3497350"/>
            <a:ext cx="533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0" name="Line 41"/>
          <p:cNvSpPr>
            <a:spLocks noChangeShapeType="1"/>
          </p:cNvSpPr>
          <p:nvPr/>
        </p:nvSpPr>
        <p:spPr bwMode="auto">
          <a:xfrm>
            <a:off x="6672264" y="349735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1" name="Line 47"/>
          <p:cNvSpPr>
            <a:spLocks noChangeShapeType="1"/>
          </p:cNvSpPr>
          <p:nvPr/>
        </p:nvSpPr>
        <p:spPr bwMode="auto">
          <a:xfrm>
            <a:off x="3444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2" name="Line 48"/>
          <p:cNvSpPr>
            <a:spLocks noChangeShapeType="1"/>
          </p:cNvSpPr>
          <p:nvPr/>
        </p:nvSpPr>
        <p:spPr bwMode="auto">
          <a:xfrm>
            <a:off x="3825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3" name="Line 49"/>
          <p:cNvSpPr>
            <a:spLocks noChangeShapeType="1"/>
          </p:cNvSpPr>
          <p:nvPr/>
        </p:nvSpPr>
        <p:spPr bwMode="auto">
          <a:xfrm>
            <a:off x="4206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4" name="Line 50"/>
          <p:cNvSpPr>
            <a:spLocks noChangeShapeType="1"/>
          </p:cNvSpPr>
          <p:nvPr/>
        </p:nvSpPr>
        <p:spPr bwMode="auto">
          <a:xfrm>
            <a:off x="4943448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7" name="Line 53"/>
          <p:cNvSpPr>
            <a:spLocks noChangeShapeType="1"/>
          </p:cNvSpPr>
          <p:nvPr/>
        </p:nvSpPr>
        <p:spPr bwMode="auto">
          <a:xfrm>
            <a:off x="6468601" y="49070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8" name="Line 54"/>
          <p:cNvSpPr>
            <a:spLocks noChangeShapeType="1"/>
          </p:cNvSpPr>
          <p:nvPr/>
        </p:nvSpPr>
        <p:spPr bwMode="auto">
          <a:xfrm>
            <a:off x="6849601" y="49070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9" name="Line 55"/>
          <p:cNvSpPr>
            <a:spLocks noChangeShapeType="1"/>
          </p:cNvSpPr>
          <p:nvPr/>
        </p:nvSpPr>
        <p:spPr bwMode="auto">
          <a:xfrm>
            <a:off x="8043864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0" name="Line 56"/>
          <p:cNvSpPr>
            <a:spLocks noChangeShapeType="1"/>
          </p:cNvSpPr>
          <p:nvPr/>
        </p:nvSpPr>
        <p:spPr bwMode="auto">
          <a:xfrm>
            <a:off x="8424864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1" name="Line 58"/>
          <p:cNvSpPr>
            <a:spLocks noChangeShapeType="1"/>
          </p:cNvSpPr>
          <p:nvPr/>
        </p:nvSpPr>
        <p:spPr bwMode="auto">
          <a:xfrm>
            <a:off x="2862263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2" name="Line 59"/>
          <p:cNvSpPr>
            <a:spLocks noChangeShapeType="1"/>
          </p:cNvSpPr>
          <p:nvPr/>
        </p:nvSpPr>
        <p:spPr bwMode="auto">
          <a:xfrm>
            <a:off x="4386263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3" name="Line 60"/>
          <p:cNvSpPr>
            <a:spLocks noChangeShapeType="1"/>
          </p:cNvSpPr>
          <p:nvPr/>
        </p:nvSpPr>
        <p:spPr bwMode="auto">
          <a:xfrm>
            <a:off x="5910264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4" name="Line 61"/>
          <p:cNvSpPr>
            <a:spLocks noChangeShapeType="1"/>
          </p:cNvSpPr>
          <p:nvPr/>
        </p:nvSpPr>
        <p:spPr bwMode="auto">
          <a:xfrm>
            <a:off x="7434264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5" name="Text Box 62"/>
          <p:cNvSpPr txBox="1">
            <a:spLocks noChangeArrowheads="1"/>
          </p:cNvSpPr>
          <p:nvPr/>
        </p:nvSpPr>
        <p:spPr bwMode="auto">
          <a:xfrm>
            <a:off x="6148389" y="1825713"/>
            <a:ext cx="20746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dirty="0">
                <a:solidFill>
                  <a:schemeClr val="accent2"/>
                </a:solidFill>
                <a:latin typeface="+mn-lt"/>
              </a:rPr>
              <a:t>Max fan-out: 4</a:t>
            </a:r>
          </a:p>
        </p:txBody>
      </p:sp>
      <p:sp>
        <p:nvSpPr>
          <p:cNvPr id="46" name="Line 45"/>
          <p:cNvSpPr>
            <a:spLocks noChangeShapeType="1"/>
          </p:cNvSpPr>
          <p:nvPr/>
        </p:nvSpPr>
        <p:spPr bwMode="auto">
          <a:xfrm>
            <a:off x="5358595" y="4907050"/>
            <a:ext cx="806" cy="4699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>
              <a:solidFill>
                <a:srgbClr val="FF0000"/>
              </a:solidFill>
            </a:endParaRPr>
          </a:p>
        </p:txBody>
      </p:sp>
      <p:grpSp>
        <p:nvGrpSpPr>
          <p:cNvPr id="55" name="Group 57"/>
          <p:cNvGrpSpPr>
            <a:grpSpLocks/>
          </p:cNvGrpSpPr>
          <p:nvPr/>
        </p:nvGrpSpPr>
        <p:grpSpPr bwMode="auto">
          <a:xfrm>
            <a:off x="5840300" y="2505661"/>
            <a:ext cx="492125" cy="1146175"/>
            <a:chOff x="3524" y="1726"/>
            <a:chExt cx="310" cy="722"/>
          </a:xfrm>
        </p:grpSpPr>
        <p:sp>
          <p:nvSpPr>
            <p:cNvPr id="56" name="Line 53"/>
            <p:cNvSpPr>
              <a:spLocks noChangeShapeType="1"/>
            </p:cNvSpPr>
            <p:nvPr/>
          </p:nvSpPr>
          <p:spPr bwMode="auto">
            <a:xfrm flipH="1">
              <a:off x="3552" y="2064"/>
              <a:ext cx="240" cy="384"/>
            </a:xfrm>
            <a:prstGeom prst="line">
              <a:avLst/>
            </a:prstGeom>
            <a:noFill/>
            <a:ln w="63500" cap="rnd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 Box 54"/>
            <p:cNvSpPr txBox="1">
              <a:spLocks noChangeArrowheads="1"/>
            </p:cNvSpPr>
            <p:nvPr/>
          </p:nvSpPr>
          <p:spPr bwMode="auto">
            <a:xfrm rot="10800000">
              <a:off x="3524" y="1726"/>
              <a:ext cx="310" cy="34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sz="2000" b="1" dirty="0">
                  <a:solidFill>
                    <a:srgbClr val="FF0000"/>
                  </a:solidFill>
                  <a:latin typeface="Prestige12 BT" panose="02070509030506020304" pitchFamily="49" charset="0"/>
                </a:rPr>
                <a:t>156</a:t>
              </a:r>
            </a:p>
          </p:txBody>
        </p:sp>
      </p:grpSp>
      <p:sp>
        <p:nvSpPr>
          <p:cNvPr id="58" name="Text Box 55"/>
          <p:cNvSpPr txBox="1">
            <a:spLocks noChangeArrowheads="1"/>
          </p:cNvSpPr>
          <p:nvPr/>
        </p:nvSpPr>
        <p:spPr bwMode="auto">
          <a:xfrm>
            <a:off x="1151928" y="2999677"/>
            <a:ext cx="4097597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dirty="0">
                <a:solidFill>
                  <a:srgbClr val="FF0000"/>
                </a:solidFill>
                <a:latin typeface="+mn-lt"/>
              </a:rPr>
              <a:t>Remember to fix the key</a:t>
            </a:r>
            <a:br>
              <a:rPr lang="en-US" dirty="0">
                <a:solidFill>
                  <a:srgbClr val="FF0000"/>
                </a:solidFill>
                <a:latin typeface="+mn-lt"/>
              </a:rPr>
            </a:br>
            <a:r>
              <a:rPr lang="en-US" dirty="0">
                <a:solidFill>
                  <a:srgbClr val="FF0000"/>
                </a:solidFill>
                <a:latin typeface="+mn-lt"/>
              </a:rPr>
              <a:t>in the least common ancestor </a:t>
            </a:r>
            <a:br>
              <a:rPr lang="en-US" dirty="0">
                <a:solidFill>
                  <a:srgbClr val="FF0000"/>
                </a:solidFill>
                <a:latin typeface="+mn-lt"/>
              </a:rPr>
            </a:br>
            <a:r>
              <a:rPr lang="en-US" dirty="0">
                <a:solidFill>
                  <a:srgbClr val="FF0000"/>
                </a:solidFill>
                <a:latin typeface="+mn-lt"/>
              </a:rPr>
              <a:t>of the affected nodes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03476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deletion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Delete a record with search key value </a:t>
            </a:r>
            <a:r>
              <a:rPr lang="en-US" dirty="0">
                <a:latin typeface="Prestige12 BT" panose="02070509030506020304" pitchFamily="49" charset="0"/>
              </a:rPr>
              <a:t>179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22</a:t>
            </a:fld>
            <a:endParaRPr lang="en-US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167063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691064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6215064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7739064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5453064" y="30401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3929063" y="18971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1" name="Text Box 19"/>
          <p:cNvSpPr txBox="1">
            <a:spLocks noChangeArrowheads="1"/>
          </p:cNvSpPr>
          <p:nvPr/>
        </p:nvSpPr>
        <p:spPr bwMode="auto">
          <a:xfrm rot="10800000">
            <a:off x="3194051" y="4408575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12" name="Text Box 20"/>
          <p:cNvSpPr txBox="1">
            <a:spLocks noChangeArrowheads="1"/>
          </p:cNvSpPr>
          <p:nvPr/>
        </p:nvSpPr>
        <p:spPr bwMode="auto">
          <a:xfrm rot="10800000">
            <a:off x="3575051" y="44101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101</a:t>
            </a:r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 rot="10800000">
            <a:off x="3956051" y="44228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110</a:t>
            </a:r>
          </a:p>
        </p:txBody>
      </p:sp>
      <p:sp>
        <p:nvSpPr>
          <p:cNvPr id="14" name="Text Box 22"/>
          <p:cNvSpPr txBox="1">
            <a:spLocks noChangeArrowheads="1"/>
          </p:cNvSpPr>
          <p:nvPr/>
        </p:nvSpPr>
        <p:spPr bwMode="auto">
          <a:xfrm rot="10800000">
            <a:off x="4718051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15" name="Text Box 24"/>
          <p:cNvSpPr txBox="1">
            <a:spLocks noChangeArrowheads="1"/>
          </p:cNvSpPr>
          <p:nvPr/>
        </p:nvSpPr>
        <p:spPr bwMode="auto">
          <a:xfrm rot="10800000">
            <a:off x="5105619" y="4410182"/>
            <a:ext cx="492443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16" name="Text Box 25"/>
          <p:cNvSpPr txBox="1">
            <a:spLocks noChangeArrowheads="1"/>
          </p:cNvSpPr>
          <p:nvPr/>
        </p:nvSpPr>
        <p:spPr bwMode="auto">
          <a:xfrm rot="10800000">
            <a:off x="6208251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17" name="Text Box 26"/>
          <p:cNvSpPr txBox="1">
            <a:spLocks noChangeArrowheads="1"/>
          </p:cNvSpPr>
          <p:nvPr/>
        </p:nvSpPr>
        <p:spPr bwMode="auto">
          <a:xfrm rot="10800000">
            <a:off x="6589251" y="43942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179</a:t>
            </a:r>
          </a:p>
        </p:txBody>
      </p:sp>
      <p:sp>
        <p:nvSpPr>
          <p:cNvPr id="18" name="Text Box 27"/>
          <p:cNvSpPr txBox="1">
            <a:spLocks noChangeArrowheads="1"/>
          </p:cNvSpPr>
          <p:nvPr/>
        </p:nvSpPr>
        <p:spPr bwMode="auto">
          <a:xfrm rot="10800000">
            <a:off x="7781926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19" name="Text Box 28"/>
          <p:cNvSpPr txBox="1">
            <a:spLocks noChangeArrowheads="1"/>
          </p:cNvSpPr>
          <p:nvPr/>
        </p:nvSpPr>
        <p:spPr bwMode="auto">
          <a:xfrm rot="10800000">
            <a:off x="8162926" y="44101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200</a:t>
            </a:r>
          </a:p>
        </p:txBody>
      </p:sp>
      <p:sp>
        <p:nvSpPr>
          <p:cNvPr id="20" name="Text Box 30"/>
          <p:cNvSpPr txBox="1">
            <a:spLocks noChangeArrowheads="1"/>
          </p:cNvSpPr>
          <p:nvPr/>
        </p:nvSpPr>
        <p:spPr bwMode="auto">
          <a:xfrm rot="10800000">
            <a:off x="3921153" y="189505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21" name="Text Box 31"/>
          <p:cNvSpPr txBox="1">
            <a:spLocks noChangeArrowheads="1"/>
          </p:cNvSpPr>
          <p:nvPr/>
        </p:nvSpPr>
        <p:spPr bwMode="auto">
          <a:xfrm rot="10800000">
            <a:off x="5480051" y="30385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22" name="Text Box 32"/>
          <p:cNvSpPr txBox="1">
            <a:spLocks noChangeArrowheads="1"/>
          </p:cNvSpPr>
          <p:nvPr/>
        </p:nvSpPr>
        <p:spPr bwMode="auto">
          <a:xfrm rot="10800000">
            <a:off x="5860892" y="3040169"/>
            <a:ext cx="492443" cy="553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23" name="Text Box 33"/>
          <p:cNvSpPr txBox="1">
            <a:spLocks noChangeArrowheads="1"/>
          </p:cNvSpPr>
          <p:nvPr/>
        </p:nvSpPr>
        <p:spPr bwMode="auto">
          <a:xfrm rot="10800000">
            <a:off x="6242051" y="3040150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24" name="Line 34"/>
          <p:cNvSpPr>
            <a:spLocks noChangeShapeType="1"/>
          </p:cNvSpPr>
          <p:nvPr/>
        </p:nvSpPr>
        <p:spPr bwMode="auto">
          <a:xfrm flipH="1">
            <a:off x="1566863" y="2278150"/>
            <a:ext cx="24384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5" name="Line 35"/>
          <p:cNvSpPr>
            <a:spLocks noChangeShapeType="1"/>
          </p:cNvSpPr>
          <p:nvPr/>
        </p:nvSpPr>
        <p:spPr bwMode="auto">
          <a:xfrm>
            <a:off x="4310063" y="2278150"/>
            <a:ext cx="17526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6" name="Line 38"/>
          <p:cNvSpPr>
            <a:spLocks noChangeShapeType="1"/>
          </p:cNvSpPr>
          <p:nvPr/>
        </p:nvSpPr>
        <p:spPr bwMode="auto">
          <a:xfrm flipH="1">
            <a:off x="3852863" y="349735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7" name="Line 39"/>
          <p:cNvSpPr>
            <a:spLocks noChangeShapeType="1"/>
          </p:cNvSpPr>
          <p:nvPr/>
        </p:nvSpPr>
        <p:spPr bwMode="auto">
          <a:xfrm flipH="1">
            <a:off x="5300664" y="3497350"/>
            <a:ext cx="6096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8" name="Line 40"/>
          <p:cNvSpPr>
            <a:spLocks noChangeShapeType="1"/>
          </p:cNvSpPr>
          <p:nvPr/>
        </p:nvSpPr>
        <p:spPr bwMode="auto">
          <a:xfrm>
            <a:off x="6291264" y="3497350"/>
            <a:ext cx="533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9" name="Line 41"/>
          <p:cNvSpPr>
            <a:spLocks noChangeShapeType="1"/>
          </p:cNvSpPr>
          <p:nvPr/>
        </p:nvSpPr>
        <p:spPr bwMode="auto">
          <a:xfrm>
            <a:off x="6672264" y="349735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0" name="Line 47"/>
          <p:cNvSpPr>
            <a:spLocks noChangeShapeType="1"/>
          </p:cNvSpPr>
          <p:nvPr/>
        </p:nvSpPr>
        <p:spPr bwMode="auto">
          <a:xfrm>
            <a:off x="3444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1" name="Line 48"/>
          <p:cNvSpPr>
            <a:spLocks noChangeShapeType="1"/>
          </p:cNvSpPr>
          <p:nvPr/>
        </p:nvSpPr>
        <p:spPr bwMode="auto">
          <a:xfrm>
            <a:off x="3825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2" name="Line 49"/>
          <p:cNvSpPr>
            <a:spLocks noChangeShapeType="1"/>
          </p:cNvSpPr>
          <p:nvPr/>
        </p:nvSpPr>
        <p:spPr bwMode="auto">
          <a:xfrm>
            <a:off x="4206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3" name="Line 50"/>
          <p:cNvSpPr>
            <a:spLocks noChangeShapeType="1"/>
          </p:cNvSpPr>
          <p:nvPr/>
        </p:nvSpPr>
        <p:spPr bwMode="auto">
          <a:xfrm>
            <a:off x="4943448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4" name="Line 53"/>
          <p:cNvSpPr>
            <a:spLocks noChangeShapeType="1"/>
          </p:cNvSpPr>
          <p:nvPr/>
        </p:nvSpPr>
        <p:spPr bwMode="auto">
          <a:xfrm>
            <a:off x="6468601" y="49070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5" name="Line 54"/>
          <p:cNvSpPr>
            <a:spLocks noChangeShapeType="1"/>
          </p:cNvSpPr>
          <p:nvPr/>
        </p:nvSpPr>
        <p:spPr bwMode="auto">
          <a:xfrm>
            <a:off x="6849601" y="49070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6" name="Line 55"/>
          <p:cNvSpPr>
            <a:spLocks noChangeShapeType="1"/>
          </p:cNvSpPr>
          <p:nvPr/>
        </p:nvSpPr>
        <p:spPr bwMode="auto">
          <a:xfrm>
            <a:off x="8043864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7" name="Line 56"/>
          <p:cNvSpPr>
            <a:spLocks noChangeShapeType="1"/>
          </p:cNvSpPr>
          <p:nvPr/>
        </p:nvSpPr>
        <p:spPr bwMode="auto">
          <a:xfrm>
            <a:off x="8424864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8" name="Line 58"/>
          <p:cNvSpPr>
            <a:spLocks noChangeShapeType="1"/>
          </p:cNvSpPr>
          <p:nvPr/>
        </p:nvSpPr>
        <p:spPr bwMode="auto">
          <a:xfrm>
            <a:off x="2862263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9" name="Line 59"/>
          <p:cNvSpPr>
            <a:spLocks noChangeShapeType="1"/>
          </p:cNvSpPr>
          <p:nvPr/>
        </p:nvSpPr>
        <p:spPr bwMode="auto">
          <a:xfrm>
            <a:off x="4386263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0" name="Line 60"/>
          <p:cNvSpPr>
            <a:spLocks noChangeShapeType="1"/>
          </p:cNvSpPr>
          <p:nvPr/>
        </p:nvSpPr>
        <p:spPr bwMode="auto">
          <a:xfrm>
            <a:off x="5910264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1" name="Line 61"/>
          <p:cNvSpPr>
            <a:spLocks noChangeShapeType="1"/>
          </p:cNvSpPr>
          <p:nvPr/>
        </p:nvSpPr>
        <p:spPr bwMode="auto">
          <a:xfrm>
            <a:off x="7434264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2" name="Text Box 62"/>
          <p:cNvSpPr txBox="1">
            <a:spLocks noChangeArrowheads="1"/>
          </p:cNvSpPr>
          <p:nvPr/>
        </p:nvSpPr>
        <p:spPr bwMode="auto">
          <a:xfrm>
            <a:off x="6148389" y="1825713"/>
            <a:ext cx="20746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dirty="0">
                <a:solidFill>
                  <a:schemeClr val="accent2"/>
                </a:solidFill>
                <a:latin typeface="+mn-lt"/>
              </a:rPr>
              <a:t>Max fan-out: 4</a:t>
            </a:r>
          </a:p>
        </p:txBody>
      </p:sp>
      <p:sp>
        <p:nvSpPr>
          <p:cNvPr id="48" name="Line 50"/>
          <p:cNvSpPr>
            <a:spLocks noChangeShapeType="1"/>
          </p:cNvSpPr>
          <p:nvPr/>
        </p:nvSpPr>
        <p:spPr bwMode="auto">
          <a:xfrm>
            <a:off x="5350772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grpSp>
        <p:nvGrpSpPr>
          <p:cNvPr id="49" name="Group 50"/>
          <p:cNvGrpSpPr>
            <a:grpSpLocks/>
          </p:cNvGrpSpPr>
          <p:nvPr/>
        </p:nvGrpSpPr>
        <p:grpSpPr bwMode="auto">
          <a:xfrm>
            <a:off x="6634164" y="4394288"/>
            <a:ext cx="381000" cy="838200"/>
            <a:chOff x="4032" y="2976"/>
            <a:chExt cx="240" cy="528"/>
          </a:xfrm>
        </p:grpSpPr>
        <p:sp>
          <p:nvSpPr>
            <p:cNvPr id="50" name="Line 46"/>
            <p:cNvSpPr>
              <a:spLocks noChangeShapeType="1"/>
            </p:cNvSpPr>
            <p:nvPr/>
          </p:nvSpPr>
          <p:spPr bwMode="auto">
            <a:xfrm>
              <a:off x="4032" y="2976"/>
              <a:ext cx="240" cy="528"/>
            </a:xfrm>
            <a:prstGeom prst="line">
              <a:avLst/>
            </a:prstGeom>
            <a:noFill/>
            <a:ln w="63500" cap="rnd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Line 47"/>
            <p:cNvSpPr>
              <a:spLocks noChangeShapeType="1"/>
            </p:cNvSpPr>
            <p:nvPr/>
          </p:nvSpPr>
          <p:spPr bwMode="auto">
            <a:xfrm flipH="1">
              <a:off x="4032" y="2976"/>
              <a:ext cx="240" cy="528"/>
            </a:xfrm>
            <a:prstGeom prst="line">
              <a:avLst/>
            </a:prstGeom>
            <a:noFill/>
            <a:ln w="63500" cap="rnd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2" name="Text Box 48"/>
          <p:cNvSpPr txBox="1">
            <a:spLocks noChangeArrowheads="1"/>
          </p:cNvSpPr>
          <p:nvPr/>
        </p:nvSpPr>
        <p:spPr bwMode="auto">
          <a:xfrm>
            <a:off x="5186364" y="5384888"/>
            <a:ext cx="35429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Cannot steal from siblings</a:t>
            </a:r>
          </a:p>
        </p:txBody>
      </p:sp>
      <p:sp>
        <p:nvSpPr>
          <p:cNvPr id="53" name="Text Box 49"/>
          <p:cNvSpPr txBox="1">
            <a:spLocks noChangeArrowheads="1"/>
          </p:cNvSpPr>
          <p:nvPr/>
        </p:nvSpPr>
        <p:spPr bwMode="auto">
          <a:xfrm>
            <a:off x="4135723" y="5821450"/>
            <a:ext cx="499688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dirty="0">
                <a:solidFill>
                  <a:srgbClr val="FF0000"/>
                </a:solidFill>
                <a:latin typeface="+mn-lt"/>
              </a:rPr>
              <a:t>Then coalesce (merge) with a sibling!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08454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utoUpdateAnimBg="0"/>
      <p:bldP spid="53" grpId="0" autoUpdateAnimBg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Coalescing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336" y="5484900"/>
            <a:ext cx="8668660" cy="1236575"/>
          </a:xfrm>
        </p:spPr>
        <p:txBody>
          <a:bodyPr>
            <a:normAutofit fontScale="92500"/>
          </a:bodyPr>
          <a:lstStyle/>
          <a:p>
            <a:r>
              <a:rPr lang="en-US" dirty="0"/>
              <a:t>Deletion can “propagate” all the way up to the root of the tree (not illustrated here)</a:t>
            </a:r>
          </a:p>
          <a:p>
            <a:pPr lvl="1"/>
            <a:r>
              <a:rPr lang="en-US" dirty="0"/>
              <a:t>When the root becomes empty, the tree “shrinks” by one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23</a:t>
            </a:fld>
            <a:endParaRPr lang="en-US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167063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691064" y="44117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6215064" y="4411750"/>
            <a:ext cx="1295400" cy="533400"/>
          </a:xfrm>
          <a:prstGeom prst="rect">
            <a:avLst/>
          </a:prstGeom>
          <a:solidFill>
            <a:schemeClr val="accent4"/>
          </a:solidFill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5453064" y="30401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3929063" y="1897150"/>
            <a:ext cx="1295400" cy="5334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11" name="Text Box 19"/>
          <p:cNvSpPr txBox="1">
            <a:spLocks noChangeArrowheads="1"/>
          </p:cNvSpPr>
          <p:nvPr/>
        </p:nvSpPr>
        <p:spPr bwMode="auto">
          <a:xfrm rot="10800000">
            <a:off x="3194051" y="4408575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12" name="Text Box 20"/>
          <p:cNvSpPr txBox="1">
            <a:spLocks noChangeArrowheads="1"/>
          </p:cNvSpPr>
          <p:nvPr/>
        </p:nvSpPr>
        <p:spPr bwMode="auto">
          <a:xfrm rot="10800000">
            <a:off x="3575051" y="44101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101</a:t>
            </a:r>
          </a:p>
        </p:txBody>
      </p:sp>
      <p:sp>
        <p:nvSpPr>
          <p:cNvPr id="13" name="Text Box 21"/>
          <p:cNvSpPr txBox="1">
            <a:spLocks noChangeArrowheads="1"/>
          </p:cNvSpPr>
          <p:nvPr/>
        </p:nvSpPr>
        <p:spPr bwMode="auto">
          <a:xfrm rot="10800000">
            <a:off x="3956051" y="44228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110</a:t>
            </a:r>
          </a:p>
        </p:txBody>
      </p:sp>
      <p:sp>
        <p:nvSpPr>
          <p:cNvPr id="14" name="Text Box 22"/>
          <p:cNvSpPr txBox="1">
            <a:spLocks noChangeArrowheads="1"/>
          </p:cNvSpPr>
          <p:nvPr/>
        </p:nvSpPr>
        <p:spPr bwMode="auto">
          <a:xfrm rot="10800000">
            <a:off x="4718051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15" name="Text Box 24"/>
          <p:cNvSpPr txBox="1">
            <a:spLocks noChangeArrowheads="1"/>
          </p:cNvSpPr>
          <p:nvPr/>
        </p:nvSpPr>
        <p:spPr bwMode="auto">
          <a:xfrm rot="10800000">
            <a:off x="5105619" y="4410182"/>
            <a:ext cx="492443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150</a:t>
            </a:r>
          </a:p>
        </p:txBody>
      </p:sp>
      <p:sp>
        <p:nvSpPr>
          <p:cNvPr id="16" name="Text Box 25"/>
          <p:cNvSpPr txBox="1">
            <a:spLocks noChangeArrowheads="1"/>
          </p:cNvSpPr>
          <p:nvPr/>
        </p:nvSpPr>
        <p:spPr bwMode="auto">
          <a:xfrm rot="10800000">
            <a:off x="6208251" y="440698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18" name="Text Box 27"/>
          <p:cNvSpPr txBox="1">
            <a:spLocks noChangeArrowheads="1"/>
          </p:cNvSpPr>
          <p:nvPr/>
        </p:nvSpPr>
        <p:spPr bwMode="auto">
          <a:xfrm rot="10800000">
            <a:off x="6596064" y="4395919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19" name="Text Box 28"/>
          <p:cNvSpPr txBox="1">
            <a:spLocks noChangeArrowheads="1"/>
          </p:cNvSpPr>
          <p:nvPr/>
        </p:nvSpPr>
        <p:spPr bwMode="auto">
          <a:xfrm rot="10800000">
            <a:off x="6977064" y="4399094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200</a:t>
            </a:r>
          </a:p>
        </p:txBody>
      </p:sp>
      <p:sp>
        <p:nvSpPr>
          <p:cNvPr id="20" name="Text Box 30"/>
          <p:cNvSpPr txBox="1">
            <a:spLocks noChangeArrowheads="1"/>
          </p:cNvSpPr>
          <p:nvPr/>
        </p:nvSpPr>
        <p:spPr bwMode="auto">
          <a:xfrm rot="10800000">
            <a:off x="3921153" y="1895058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100</a:t>
            </a:r>
          </a:p>
        </p:txBody>
      </p:sp>
      <p:sp>
        <p:nvSpPr>
          <p:cNvPr id="21" name="Text Box 31"/>
          <p:cNvSpPr txBox="1">
            <a:spLocks noChangeArrowheads="1"/>
          </p:cNvSpPr>
          <p:nvPr/>
        </p:nvSpPr>
        <p:spPr bwMode="auto">
          <a:xfrm rot="10800000">
            <a:off x="5480051" y="3038563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120</a:t>
            </a:r>
          </a:p>
        </p:txBody>
      </p:sp>
      <p:sp>
        <p:nvSpPr>
          <p:cNvPr id="22" name="Text Box 32"/>
          <p:cNvSpPr txBox="1">
            <a:spLocks noChangeArrowheads="1"/>
          </p:cNvSpPr>
          <p:nvPr/>
        </p:nvSpPr>
        <p:spPr bwMode="auto">
          <a:xfrm rot="10800000">
            <a:off x="5860892" y="3040169"/>
            <a:ext cx="492443" cy="553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 dirty="0">
                <a:latin typeface="Prestige12 BT" panose="02070509030506020304" pitchFamily="49" charset="0"/>
              </a:rPr>
              <a:t>156</a:t>
            </a:r>
          </a:p>
        </p:txBody>
      </p:sp>
      <p:sp>
        <p:nvSpPr>
          <p:cNvPr id="23" name="Text Box 33"/>
          <p:cNvSpPr txBox="1">
            <a:spLocks noChangeArrowheads="1"/>
          </p:cNvSpPr>
          <p:nvPr/>
        </p:nvSpPr>
        <p:spPr bwMode="auto">
          <a:xfrm rot="10800000">
            <a:off x="6242051" y="3040150"/>
            <a:ext cx="492125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kumimoji="0" lang="en-US" sz="2000">
                <a:latin typeface="Prestige12 BT" panose="02070509030506020304" pitchFamily="49" charset="0"/>
              </a:rPr>
              <a:t>180</a:t>
            </a:r>
          </a:p>
        </p:txBody>
      </p:sp>
      <p:sp>
        <p:nvSpPr>
          <p:cNvPr id="24" name="Line 34"/>
          <p:cNvSpPr>
            <a:spLocks noChangeShapeType="1"/>
          </p:cNvSpPr>
          <p:nvPr/>
        </p:nvSpPr>
        <p:spPr bwMode="auto">
          <a:xfrm flipH="1">
            <a:off x="1566863" y="2278150"/>
            <a:ext cx="24384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5" name="Line 35"/>
          <p:cNvSpPr>
            <a:spLocks noChangeShapeType="1"/>
          </p:cNvSpPr>
          <p:nvPr/>
        </p:nvSpPr>
        <p:spPr bwMode="auto">
          <a:xfrm>
            <a:off x="4310063" y="2278150"/>
            <a:ext cx="1752600" cy="762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6" name="Line 38"/>
          <p:cNvSpPr>
            <a:spLocks noChangeShapeType="1"/>
          </p:cNvSpPr>
          <p:nvPr/>
        </p:nvSpPr>
        <p:spPr bwMode="auto">
          <a:xfrm flipH="1">
            <a:off x="3852863" y="349735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7" name="Line 39"/>
          <p:cNvSpPr>
            <a:spLocks noChangeShapeType="1"/>
          </p:cNvSpPr>
          <p:nvPr/>
        </p:nvSpPr>
        <p:spPr bwMode="auto">
          <a:xfrm flipH="1">
            <a:off x="5300664" y="3497350"/>
            <a:ext cx="6096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8" name="Line 40"/>
          <p:cNvSpPr>
            <a:spLocks noChangeShapeType="1"/>
          </p:cNvSpPr>
          <p:nvPr/>
        </p:nvSpPr>
        <p:spPr bwMode="auto">
          <a:xfrm>
            <a:off x="6291264" y="3497350"/>
            <a:ext cx="533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29" name="Line 41"/>
          <p:cNvSpPr>
            <a:spLocks noChangeShapeType="1"/>
          </p:cNvSpPr>
          <p:nvPr/>
        </p:nvSpPr>
        <p:spPr bwMode="auto">
          <a:xfrm>
            <a:off x="6672264" y="3497350"/>
            <a:ext cx="16764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0" name="Line 47"/>
          <p:cNvSpPr>
            <a:spLocks noChangeShapeType="1"/>
          </p:cNvSpPr>
          <p:nvPr/>
        </p:nvSpPr>
        <p:spPr bwMode="auto">
          <a:xfrm>
            <a:off x="3444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1" name="Line 48"/>
          <p:cNvSpPr>
            <a:spLocks noChangeShapeType="1"/>
          </p:cNvSpPr>
          <p:nvPr/>
        </p:nvSpPr>
        <p:spPr bwMode="auto">
          <a:xfrm>
            <a:off x="3825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2" name="Line 49"/>
          <p:cNvSpPr>
            <a:spLocks noChangeShapeType="1"/>
          </p:cNvSpPr>
          <p:nvPr/>
        </p:nvSpPr>
        <p:spPr bwMode="auto">
          <a:xfrm>
            <a:off x="4206153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3" name="Line 50"/>
          <p:cNvSpPr>
            <a:spLocks noChangeShapeType="1"/>
          </p:cNvSpPr>
          <p:nvPr/>
        </p:nvSpPr>
        <p:spPr bwMode="auto">
          <a:xfrm>
            <a:off x="4943448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4" name="Line 53"/>
          <p:cNvSpPr>
            <a:spLocks noChangeShapeType="1"/>
          </p:cNvSpPr>
          <p:nvPr/>
        </p:nvSpPr>
        <p:spPr bwMode="auto">
          <a:xfrm>
            <a:off x="6468601" y="49070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6" name="Line 55"/>
          <p:cNvSpPr>
            <a:spLocks noChangeShapeType="1"/>
          </p:cNvSpPr>
          <p:nvPr/>
        </p:nvSpPr>
        <p:spPr bwMode="auto">
          <a:xfrm>
            <a:off x="6858002" y="4908681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7" name="Line 56"/>
          <p:cNvSpPr>
            <a:spLocks noChangeShapeType="1"/>
          </p:cNvSpPr>
          <p:nvPr/>
        </p:nvSpPr>
        <p:spPr bwMode="auto">
          <a:xfrm>
            <a:off x="7239002" y="4908681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8" name="Line 58"/>
          <p:cNvSpPr>
            <a:spLocks noChangeShapeType="1"/>
          </p:cNvSpPr>
          <p:nvPr/>
        </p:nvSpPr>
        <p:spPr bwMode="auto">
          <a:xfrm>
            <a:off x="2862263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39" name="Line 59"/>
          <p:cNvSpPr>
            <a:spLocks noChangeShapeType="1"/>
          </p:cNvSpPr>
          <p:nvPr/>
        </p:nvSpPr>
        <p:spPr bwMode="auto">
          <a:xfrm>
            <a:off x="4386263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0" name="Line 60"/>
          <p:cNvSpPr>
            <a:spLocks noChangeShapeType="1"/>
          </p:cNvSpPr>
          <p:nvPr/>
        </p:nvSpPr>
        <p:spPr bwMode="auto">
          <a:xfrm>
            <a:off x="5910264" y="4716550"/>
            <a:ext cx="304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sp>
        <p:nvSpPr>
          <p:cNvPr id="42" name="Text Box 62"/>
          <p:cNvSpPr txBox="1">
            <a:spLocks noChangeArrowheads="1"/>
          </p:cNvSpPr>
          <p:nvPr/>
        </p:nvSpPr>
        <p:spPr bwMode="auto">
          <a:xfrm>
            <a:off x="6148389" y="1825713"/>
            <a:ext cx="20746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•"/>
              <a:defRPr kumimoji="1" sz="2400">
                <a:solidFill>
                  <a:schemeClr val="tx1"/>
                </a:solidFill>
                <a:latin typeface="AmeriGarmnd BT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kumimoji="0" lang="en-US" dirty="0">
                <a:solidFill>
                  <a:schemeClr val="accent2"/>
                </a:solidFill>
                <a:latin typeface="+mn-lt"/>
              </a:rPr>
              <a:t>Max fan-out: 4</a:t>
            </a:r>
          </a:p>
        </p:txBody>
      </p:sp>
      <p:sp>
        <p:nvSpPr>
          <p:cNvPr id="43" name="Line 50"/>
          <p:cNvSpPr>
            <a:spLocks noChangeShapeType="1"/>
          </p:cNvSpPr>
          <p:nvPr/>
        </p:nvSpPr>
        <p:spPr bwMode="auto">
          <a:xfrm>
            <a:off x="5350772" y="491975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600">
              <a:latin typeface="Prestige12 BT" panose="02070509030506020304" pitchFamily="49" charset="0"/>
            </a:endParaRPr>
          </a:p>
        </p:txBody>
      </p:sp>
      <p:grpSp>
        <p:nvGrpSpPr>
          <p:cNvPr id="48" name="Group 66"/>
          <p:cNvGrpSpPr>
            <a:grpSpLocks/>
          </p:cNvGrpSpPr>
          <p:nvPr/>
        </p:nvGrpSpPr>
        <p:grpSpPr bwMode="auto">
          <a:xfrm>
            <a:off x="1518488" y="2882195"/>
            <a:ext cx="6237288" cy="1306513"/>
            <a:chOff x="775" y="1961"/>
            <a:chExt cx="3929" cy="823"/>
          </a:xfrm>
        </p:grpSpPr>
        <p:grpSp>
          <p:nvGrpSpPr>
            <p:cNvPr id="49" name="Group 65"/>
            <p:cNvGrpSpPr>
              <a:grpSpLocks/>
            </p:cNvGrpSpPr>
            <p:nvPr/>
          </p:nvGrpSpPr>
          <p:grpSpPr bwMode="auto">
            <a:xfrm>
              <a:off x="3792" y="2112"/>
              <a:ext cx="240" cy="240"/>
              <a:chOff x="3792" y="2016"/>
              <a:chExt cx="240" cy="528"/>
            </a:xfrm>
          </p:grpSpPr>
          <p:sp>
            <p:nvSpPr>
              <p:cNvPr id="54" name="Line 45"/>
              <p:cNvSpPr>
                <a:spLocks noChangeShapeType="1"/>
              </p:cNvSpPr>
              <p:nvPr/>
            </p:nvSpPr>
            <p:spPr bwMode="auto">
              <a:xfrm>
                <a:off x="3792" y="2016"/>
                <a:ext cx="240" cy="528"/>
              </a:xfrm>
              <a:prstGeom prst="line">
                <a:avLst/>
              </a:prstGeom>
              <a:noFill/>
              <a:ln w="63500" cap="rnd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Line 46"/>
              <p:cNvSpPr>
                <a:spLocks noChangeShapeType="1"/>
              </p:cNvSpPr>
              <p:nvPr/>
            </p:nvSpPr>
            <p:spPr bwMode="auto">
              <a:xfrm flipH="1">
                <a:off x="3792" y="2016"/>
                <a:ext cx="240" cy="528"/>
              </a:xfrm>
              <a:prstGeom prst="line">
                <a:avLst/>
              </a:prstGeom>
              <a:noFill/>
              <a:ln w="63500" cap="rnd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0" name="Group 49"/>
            <p:cNvGrpSpPr>
              <a:grpSpLocks/>
            </p:cNvGrpSpPr>
            <p:nvPr/>
          </p:nvGrpSpPr>
          <p:grpSpPr bwMode="auto">
            <a:xfrm>
              <a:off x="4464" y="2544"/>
              <a:ext cx="240" cy="240"/>
              <a:chOff x="3840" y="2448"/>
              <a:chExt cx="240" cy="528"/>
            </a:xfrm>
          </p:grpSpPr>
          <p:sp>
            <p:nvSpPr>
              <p:cNvPr id="52" name="Line 47"/>
              <p:cNvSpPr>
                <a:spLocks noChangeShapeType="1"/>
              </p:cNvSpPr>
              <p:nvPr/>
            </p:nvSpPr>
            <p:spPr bwMode="auto">
              <a:xfrm>
                <a:off x="3840" y="2448"/>
                <a:ext cx="240" cy="528"/>
              </a:xfrm>
              <a:prstGeom prst="line">
                <a:avLst/>
              </a:prstGeom>
              <a:noFill/>
              <a:ln w="63500" cap="rnd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Line 48"/>
              <p:cNvSpPr>
                <a:spLocks noChangeShapeType="1"/>
              </p:cNvSpPr>
              <p:nvPr/>
            </p:nvSpPr>
            <p:spPr bwMode="auto">
              <a:xfrm flipH="1">
                <a:off x="3840" y="2448"/>
                <a:ext cx="240" cy="528"/>
              </a:xfrm>
              <a:prstGeom prst="line">
                <a:avLst/>
              </a:prstGeom>
              <a:noFill/>
              <a:ln w="63500" cap="rnd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51" name="Text Box 50"/>
            <p:cNvSpPr txBox="1">
              <a:spLocks noChangeArrowheads="1"/>
            </p:cNvSpPr>
            <p:nvPr/>
          </p:nvSpPr>
          <p:spPr bwMode="auto">
            <a:xfrm>
              <a:off x="775" y="1961"/>
              <a:ext cx="2447" cy="5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r">
                <a:buFont typeface="Wingdings" pitchFamily="2" charset="2"/>
                <a:buNone/>
              </a:pPr>
              <a:r>
                <a:rPr lang="en-US" dirty="0">
                  <a:solidFill>
                    <a:srgbClr val="FF0000"/>
                  </a:solidFill>
                  <a:latin typeface="+mn-lt"/>
                </a:rPr>
                <a:t>Remember to delete the</a:t>
              </a:r>
              <a:br>
                <a:rPr lang="en-US" dirty="0">
                  <a:solidFill>
                    <a:srgbClr val="FF0000"/>
                  </a:solidFill>
                  <a:latin typeface="+mn-lt"/>
                </a:rPr>
              </a:br>
              <a:r>
                <a:rPr lang="en-US" dirty="0">
                  <a:solidFill>
                    <a:srgbClr val="FF0000"/>
                  </a:solidFill>
                  <a:latin typeface="+mn-lt"/>
                </a:rPr>
                <a:t>appropriate key from parent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671590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analysis of B</a:t>
            </a:r>
            <a:r>
              <a:rPr lang="en-US" baseline="30000" dirty="0"/>
              <a:t>+</a:t>
            </a:r>
            <a:r>
              <a:rPr lang="en-US" dirty="0"/>
              <a:t>-tree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How many I/O’s are required for each operation?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h</m:t>
                    </m:r>
                  </m:oMath>
                </a14:m>
                <a:r>
                  <a:rPr lang="en-US" dirty="0"/>
                  <a:t>, the </a:t>
                </a:r>
                <a:r>
                  <a:rPr lang="en-US" dirty="0">
                    <a:solidFill>
                      <a:schemeClr val="accent2"/>
                    </a:solidFill>
                  </a:rPr>
                  <a:t>height of the tree </a:t>
                </a:r>
                <a:r>
                  <a:rPr lang="en-US" dirty="0"/>
                  <a:t>(more or less)</a:t>
                </a:r>
              </a:p>
              <a:p>
                <a:pPr lvl="1"/>
                <a:r>
                  <a:rPr lang="en-US" dirty="0"/>
                  <a:t>Plus one or two to manipulate actual records</a:t>
                </a:r>
              </a:p>
              <a:p>
                <a:pPr lvl="1"/>
                <a:r>
                  <a:rPr lang="en-US" dirty="0"/>
                  <a:t>Plus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/>
                          </a:rPr>
                          <m:t>h</m:t>
                        </m:r>
                      </m:e>
                    </m:d>
                  </m:oMath>
                </a14:m>
                <a:r>
                  <a:rPr lang="en-US" dirty="0"/>
                  <a:t> for reorganization (rare 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𝑓</m:t>
                    </m:r>
                  </m:oMath>
                </a14:m>
                <a:r>
                  <a:rPr lang="en-US" dirty="0"/>
                  <a:t> is large)</a:t>
                </a:r>
              </a:p>
              <a:p>
                <a:pPr lvl="1"/>
                <a:r>
                  <a:rPr lang="en-US" dirty="0"/>
                  <a:t>Minus one if we cache the root in memory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How big is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h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Roughly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/>
                              </a:rPr>
                              <m:t>log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/>
                              </a:rPr>
                              <m:t>fanout</m:t>
                            </m:r>
                          </m:sub>
                        </m:sSub>
                      </m:fName>
                      <m:e>
                        <m:r>
                          <a:rPr lang="en-US" i="1">
                            <a:latin typeface="Cambria Math"/>
                          </a:rPr>
                          <m:t>𝑁</m:t>
                        </m:r>
                      </m:e>
                    </m:func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𝑁</m:t>
                    </m:r>
                    <m:r>
                      <a:rPr lang="en-US" i="1" dirty="0">
                        <a:latin typeface="Cambria Math"/>
                      </a:rPr>
                      <m:t> </m:t>
                    </m:r>
                  </m:oMath>
                </a14:m>
                <a:r>
                  <a:rPr lang="en-US" dirty="0"/>
                  <a:t>is the number of records</a:t>
                </a:r>
              </a:p>
              <a:p>
                <a:pPr lvl="1"/>
                <a:r>
                  <a:rPr lang="en-US" dirty="0"/>
                  <a:t>Fan-out is typically large (in hundreds)—many keys and pointers can fit into one block</a:t>
                </a:r>
              </a:p>
              <a:p>
                <a:pPr lvl="1"/>
                <a:r>
                  <a:rPr lang="en-US" dirty="0"/>
                  <a:t>A 4-level B</a:t>
                </a:r>
                <a:r>
                  <a:rPr lang="en-US" baseline="30000" dirty="0"/>
                  <a:t>+</a:t>
                </a:r>
                <a:r>
                  <a:rPr lang="en-US" dirty="0"/>
                  <a:t>-tree is enough for “typical” tables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342" t="-196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24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756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en-US" baseline="30000" dirty="0"/>
              <a:t>+</a:t>
            </a:r>
            <a:r>
              <a:rPr lang="en-US" dirty="0"/>
              <a:t>-tree in practice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Complex reorganization for deletion often is not implemented (e.g., Oracle)</a:t>
                </a:r>
              </a:p>
              <a:p>
                <a:pPr lvl="1"/>
                <a:r>
                  <a:rPr lang="en-US" dirty="0"/>
                  <a:t>Leave nodes less than half full and periodically reorganize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Most commercial DBMS use B</a:t>
                </a:r>
                <a:r>
                  <a:rPr lang="en-US" baseline="30000" dirty="0"/>
                  <a:t>+</a:t>
                </a:r>
                <a:r>
                  <a:rPr lang="en-US" dirty="0"/>
                  <a:t>-tree instead of </a:t>
                </a:r>
                <a:r>
                  <a:rPr lang="en-US" dirty="0">
                    <a:solidFill>
                      <a:schemeClr val="accent2"/>
                    </a:solidFill>
                  </a:rPr>
                  <a:t>hashing-based indexes </a:t>
                </a:r>
                <a:r>
                  <a:rPr lang="en-US" dirty="0"/>
                  <a:t>because B</a:t>
                </a:r>
                <a:r>
                  <a:rPr lang="en-US" baseline="30000" dirty="0"/>
                  <a:t>+</a:t>
                </a:r>
                <a:r>
                  <a:rPr lang="en-US" dirty="0"/>
                  <a:t>-tree handles range queries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𝑘𝑒𝑦</m:t>
                    </m:r>
                    <m:r>
                      <a:rPr lang="en-US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) </m:t>
                    </m:r>
                    <m:r>
                      <a:rPr lang="en-US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>
                    <a:solidFill>
                      <a:schemeClr val="accent2"/>
                    </a:solidFill>
                  </a:rPr>
                  <a:t>:  which pointer/block to which data entry with key belongs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342" t="-1968" r="-44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0944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Halloween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336" y="1456854"/>
            <a:ext cx="8731564" cy="5264622"/>
          </a:xfrm>
        </p:spPr>
        <p:txBody>
          <a:bodyPr/>
          <a:lstStyle/>
          <a:p>
            <a:r>
              <a:rPr lang="en-US" dirty="0"/>
              <a:t>Story from the early days of System R…</a:t>
            </a:r>
          </a:p>
          <a:p>
            <a:pPr>
              <a:buFont typeface="Wingdings" pitchFamily="2" charset="2"/>
              <a:buNone/>
            </a:pPr>
            <a:r>
              <a:rPr lang="en-US" dirty="0"/>
              <a:t>	</a:t>
            </a:r>
            <a:r>
              <a:rPr lang="en-US" sz="2400" dirty="0">
                <a:solidFill>
                  <a:schemeClr val="accent2"/>
                </a:solidFill>
                <a:latin typeface="Prestige12 BT" panose="02070509030506020304" pitchFamily="49" charset="0"/>
              </a:rPr>
              <a:t>UPDATE Payroll</a:t>
            </a:r>
            <a:br>
              <a:rPr lang="en-US" sz="2400" dirty="0">
                <a:solidFill>
                  <a:schemeClr val="accent2"/>
                </a:solidFill>
                <a:latin typeface="Prestige12 BT" panose="02070509030506020304" pitchFamily="49" charset="0"/>
              </a:rPr>
            </a:br>
            <a:r>
              <a:rPr lang="en-US" sz="2400" dirty="0">
                <a:solidFill>
                  <a:schemeClr val="accent2"/>
                </a:solidFill>
                <a:latin typeface="Prestige12 BT" panose="02070509030506020304" pitchFamily="49" charset="0"/>
              </a:rPr>
              <a:t>SET salary = salary * 1.1</a:t>
            </a:r>
            <a:br>
              <a:rPr lang="en-US" sz="2400" dirty="0">
                <a:solidFill>
                  <a:schemeClr val="accent2"/>
                </a:solidFill>
                <a:latin typeface="Prestige12 BT" panose="02070509030506020304" pitchFamily="49" charset="0"/>
              </a:rPr>
            </a:br>
            <a:r>
              <a:rPr lang="en-US" sz="2400" dirty="0">
                <a:solidFill>
                  <a:schemeClr val="accent2"/>
                </a:solidFill>
                <a:latin typeface="Prestige12 BT" panose="02070509030506020304" pitchFamily="49" charset="0"/>
              </a:rPr>
              <a:t>WHERE salary &gt;= 100000;</a:t>
            </a:r>
          </a:p>
          <a:p>
            <a:pPr lvl="1"/>
            <a:r>
              <a:rPr lang="en-US" dirty="0"/>
              <a:t>There is a B</a:t>
            </a:r>
            <a:r>
              <a:rPr lang="en-US" baseline="30000" dirty="0"/>
              <a:t>+</a:t>
            </a:r>
            <a:r>
              <a:rPr lang="en-US" dirty="0"/>
              <a:t>-tree index on </a:t>
            </a:r>
            <a:r>
              <a:rPr lang="en-US" i="1" dirty="0"/>
              <a:t>Payroll</a:t>
            </a:r>
            <a:r>
              <a:rPr lang="en-US" dirty="0"/>
              <a:t>(</a:t>
            </a:r>
            <a:r>
              <a:rPr lang="en-US" i="1" dirty="0"/>
              <a:t>salary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update never stopped (why?)</a:t>
            </a:r>
          </a:p>
          <a:p>
            <a:r>
              <a:rPr lang="en-US" dirty="0"/>
              <a:t>Solutions?</a:t>
            </a:r>
          </a:p>
          <a:p>
            <a:pPr lvl="1"/>
            <a:r>
              <a:rPr lang="en-US" dirty="0"/>
              <a:t>Scan index in reverse, or</a:t>
            </a:r>
          </a:p>
          <a:p>
            <a:pPr lvl="1"/>
            <a:r>
              <a:rPr lang="en-US" dirty="0"/>
              <a:t>Before update, scan index to create a “to-do” list, or</a:t>
            </a:r>
          </a:p>
          <a:p>
            <a:pPr lvl="1"/>
            <a:r>
              <a:rPr lang="en-US" dirty="0"/>
              <a:t>During update, maintain a “done” list, or</a:t>
            </a:r>
          </a:p>
          <a:p>
            <a:pPr lvl="1"/>
            <a:r>
              <a:rPr lang="en-US" dirty="0"/>
              <a:t>Tag every row with transaction/statement 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26</a:t>
            </a:fld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9654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en-US" baseline="30000" dirty="0"/>
              <a:t>+</a:t>
            </a:r>
            <a:r>
              <a:rPr lang="en-US" dirty="0"/>
              <a:t>-tree versus ISAM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ISAM is more </a:t>
            </a:r>
            <a:r>
              <a:rPr lang="en-US" dirty="0">
                <a:solidFill>
                  <a:schemeClr val="accent2"/>
                </a:solidFill>
              </a:rPr>
              <a:t>static</a:t>
            </a:r>
            <a:r>
              <a:rPr lang="en-US" dirty="0"/>
              <a:t>; B</a:t>
            </a:r>
            <a:r>
              <a:rPr lang="en-US" baseline="30000" dirty="0"/>
              <a:t>+</a:t>
            </a:r>
            <a:r>
              <a:rPr lang="en-US" dirty="0"/>
              <a:t>-tree is more </a:t>
            </a:r>
            <a:r>
              <a:rPr lang="en-US" dirty="0">
                <a:solidFill>
                  <a:schemeClr val="accent2"/>
                </a:solidFill>
              </a:rPr>
              <a:t>dynamic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r>
              <a:rPr lang="en-US" dirty="0"/>
              <a:t>ISAM can be more compact (at least initially)</a:t>
            </a:r>
          </a:p>
          <a:p>
            <a:pPr lvl="1"/>
            <a:r>
              <a:rPr lang="en-US" dirty="0"/>
              <a:t>Fewer levels and I/O’s than B</a:t>
            </a:r>
            <a:r>
              <a:rPr lang="en-US" baseline="30000" dirty="0"/>
              <a:t>+</a:t>
            </a:r>
            <a:r>
              <a:rPr lang="en-US" dirty="0"/>
              <a:t>-tree</a:t>
            </a:r>
          </a:p>
          <a:p>
            <a:endParaRPr lang="en-US" dirty="0"/>
          </a:p>
          <a:p>
            <a:r>
              <a:rPr lang="en-US" dirty="0"/>
              <a:t>Overtime, ISAM may not be balanced</a:t>
            </a:r>
          </a:p>
          <a:p>
            <a:pPr lvl="1"/>
            <a:r>
              <a:rPr lang="en-US" dirty="0"/>
              <a:t>Cannot provide guaranteed performance as B</a:t>
            </a:r>
            <a:r>
              <a:rPr lang="en-US" baseline="30000" dirty="0"/>
              <a:t>+</a:t>
            </a:r>
            <a:r>
              <a:rPr lang="en-US" dirty="0"/>
              <a:t>-tree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27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04641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en-US" baseline="30000" dirty="0"/>
              <a:t>+</a:t>
            </a:r>
            <a:r>
              <a:rPr lang="en-US" dirty="0"/>
              <a:t>-tree versus B-tree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B-tree: why not store records (or record pointers) in non-leaf nodes?</a:t>
                </a:r>
              </a:p>
              <a:p>
                <a:pPr lvl="1"/>
                <a:r>
                  <a:rPr lang="en-US" dirty="0"/>
                  <a:t>These records can be accessed with fewer I/O’s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Problems?</a:t>
                </a:r>
              </a:p>
              <a:p>
                <a:pPr lvl="1"/>
                <a:r>
                  <a:rPr lang="en-US" dirty="0"/>
                  <a:t>Storing more data in a node decreases fan-out and increases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</a:rPr>
                      <m:t>h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Records in leaves require more I/O’s to access</a:t>
                </a:r>
                <a:endParaRPr lang="en-US" i="1" dirty="0"/>
              </a:p>
              <a:p>
                <a:pPr lvl="1"/>
                <a:r>
                  <a:rPr lang="en-US" dirty="0"/>
                  <a:t>Vast majority of the records live in leaves!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342" t="-196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28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5788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859" y="2525752"/>
            <a:ext cx="2680829" cy="248168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ISAM, B-, and B</a:t>
            </a:r>
            <a:r>
              <a:rPr lang="en-US" baseline="30000" dirty="0"/>
              <a:t>+</a:t>
            </a:r>
            <a:r>
              <a:rPr lang="en-US" dirty="0"/>
              <a:t>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Other tree-based indexes: R-trees and variants, </a:t>
            </a:r>
            <a:r>
              <a:rPr lang="en-US" dirty="0" err="1"/>
              <a:t>GiST</a:t>
            </a:r>
            <a:r>
              <a:rPr lang="en-US" dirty="0"/>
              <a:t>, etc. </a:t>
            </a:r>
          </a:p>
          <a:p>
            <a:pPr lvl="1"/>
            <a:r>
              <a:rPr lang="en-US" dirty="0"/>
              <a:t>How about binary tree?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Hashing-based indexes: extensible hashing, linear hashing, etc.</a:t>
            </a:r>
          </a:p>
          <a:p>
            <a:r>
              <a:rPr lang="en-US" dirty="0"/>
              <a:t>Text indexes: inverted-list index, suffix arrays, etc.</a:t>
            </a:r>
          </a:p>
          <a:p>
            <a:r>
              <a:rPr lang="en-US" dirty="0"/>
              <a:t>Other tricks: bitmap index, bit-sliced index,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29</a:t>
            </a:fld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4"/>
          <a:srcRect l="14731" t="10778" r="15902" b="24831"/>
          <a:stretch/>
        </p:blipFill>
        <p:spPr>
          <a:xfrm>
            <a:off x="2146610" y="2787590"/>
            <a:ext cx="2085278" cy="19357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31888" y="3417849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vs.</a:t>
            </a:r>
          </a:p>
        </p:txBody>
      </p:sp>
    </p:spTree>
    <p:extLst>
      <p:ext uri="{BB962C8B-B14F-4D97-AF65-F5344CB8AC3E}">
        <p14:creationId xmlns:p14="http://schemas.microsoft.com/office/powerpoint/2010/main" val="39967361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AFE84-15BB-4641-B08B-ED11C52B5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A0365-D795-4F14-B32C-4EC6AC926C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>
                <a:solidFill>
                  <a:schemeClr val="bg1">
                    <a:lumMod val="75000"/>
                  </a:schemeClr>
                </a:solidFill>
              </a:rPr>
              <a:t>Types of indexes:</a:t>
            </a:r>
          </a:p>
          <a:p>
            <a:pPr lvl="1"/>
            <a:r>
              <a:rPr lang="en-CA" dirty="0">
                <a:solidFill>
                  <a:schemeClr val="bg1">
                    <a:lumMod val="75000"/>
                  </a:schemeClr>
                </a:solidFill>
              </a:rPr>
              <a:t>Dense </a:t>
            </a:r>
            <a:r>
              <a:rPr lang="en-CA" dirty="0" err="1">
                <a:solidFill>
                  <a:schemeClr val="bg1">
                    <a:lumMod val="75000"/>
                  </a:schemeClr>
                </a:solidFill>
              </a:rPr>
              <a:t>v.s</a:t>
            </a:r>
            <a:r>
              <a:rPr lang="en-CA" dirty="0">
                <a:solidFill>
                  <a:schemeClr val="bg1">
                    <a:lumMod val="75000"/>
                  </a:schemeClr>
                </a:solidFill>
              </a:rPr>
              <a:t>. sparse </a:t>
            </a:r>
          </a:p>
          <a:p>
            <a:pPr lvl="1"/>
            <a:r>
              <a:rPr lang="en-CA" dirty="0">
                <a:solidFill>
                  <a:schemeClr val="bg1">
                    <a:lumMod val="75000"/>
                  </a:schemeClr>
                </a:solidFill>
              </a:rPr>
              <a:t>Clustering </a:t>
            </a:r>
            <a:r>
              <a:rPr lang="en-CA" dirty="0" err="1">
                <a:solidFill>
                  <a:schemeClr val="bg1">
                    <a:lumMod val="75000"/>
                  </a:schemeClr>
                </a:solidFill>
              </a:rPr>
              <a:t>v.s</a:t>
            </a:r>
            <a:r>
              <a:rPr lang="en-CA" dirty="0">
                <a:solidFill>
                  <a:schemeClr val="bg1">
                    <a:lumMod val="75000"/>
                  </a:schemeClr>
                </a:solidFill>
              </a:rPr>
              <a:t>. non-clustering </a:t>
            </a:r>
          </a:p>
          <a:p>
            <a:pPr lvl="1"/>
            <a:r>
              <a:rPr lang="en-CA" dirty="0">
                <a:solidFill>
                  <a:schemeClr val="bg1">
                    <a:lumMod val="75000"/>
                  </a:schemeClr>
                </a:solidFill>
              </a:rPr>
              <a:t>Primary </a:t>
            </a:r>
            <a:r>
              <a:rPr lang="en-CA" dirty="0" err="1">
                <a:solidFill>
                  <a:schemeClr val="bg1">
                    <a:lumMod val="75000"/>
                  </a:schemeClr>
                </a:solidFill>
              </a:rPr>
              <a:t>v.s</a:t>
            </a:r>
            <a:r>
              <a:rPr lang="en-CA" dirty="0">
                <a:solidFill>
                  <a:schemeClr val="bg1">
                    <a:lumMod val="75000"/>
                  </a:schemeClr>
                </a:solidFill>
              </a:rPr>
              <a:t>. secondary </a:t>
            </a:r>
          </a:p>
          <a:p>
            <a:pPr lvl="1"/>
            <a:endParaRPr lang="en-CA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CA" dirty="0">
                <a:solidFill>
                  <a:schemeClr val="bg1">
                    <a:lumMod val="75000"/>
                  </a:schemeClr>
                </a:solidFill>
              </a:rPr>
              <a:t>Indexing structure</a:t>
            </a:r>
          </a:p>
          <a:p>
            <a:pPr lvl="1"/>
            <a:r>
              <a:rPr lang="en-CA" dirty="0">
                <a:solidFill>
                  <a:schemeClr val="bg1">
                    <a:lumMod val="75000"/>
                  </a:schemeClr>
                </a:solidFill>
              </a:rPr>
              <a:t>ISAM</a:t>
            </a:r>
          </a:p>
          <a:p>
            <a:pPr lvl="1"/>
            <a:r>
              <a:rPr lang="en-CA" dirty="0">
                <a:solidFill>
                  <a:schemeClr val="bg1">
                    <a:lumMod val="75000"/>
                  </a:schemeClr>
                </a:solidFill>
              </a:rPr>
              <a:t>B+-tree</a:t>
            </a:r>
          </a:p>
          <a:p>
            <a:pPr lvl="1"/>
            <a:endParaRPr lang="en-CA" dirty="0"/>
          </a:p>
          <a:p>
            <a:r>
              <a:rPr lang="en-CA" dirty="0"/>
              <a:t>How to use index</a:t>
            </a:r>
          </a:p>
          <a:p>
            <a:pPr lvl="1"/>
            <a:endParaRPr lang="en-CA" dirty="0"/>
          </a:p>
          <a:p>
            <a:endParaRPr lang="en-CA" dirty="0"/>
          </a:p>
          <a:p>
            <a:pPr lvl="1"/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A1CC6D-EC7E-4B08-99A5-F7415105B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3244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ABEF5-0A9C-49D1-AF55-0BB612C7B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Multi-attribute indices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3DDDD-7553-4426-91D5-12320CF47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Index on several attributes of the same relation.</a:t>
            </a:r>
          </a:p>
          <a:p>
            <a:pPr lvl="1"/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CREATE INDEX</a:t>
            </a:r>
            <a:r>
              <a:rPr lang="en-US" dirty="0">
                <a:latin typeface="Prestige12 BT" panose="02070509030506020304" pitchFamily="49" charset="0"/>
              </a:rPr>
              <a:t> </a:t>
            </a:r>
            <a:r>
              <a:rPr lang="en-US" dirty="0" err="1">
                <a:latin typeface="Prestige12 BT" panose="02070509030506020304" pitchFamily="49" charset="0"/>
              </a:rPr>
              <a:t>NameIndex</a:t>
            </a:r>
            <a:r>
              <a:rPr lang="en-US" dirty="0">
                <a:latin typeface="Prestige12 BT" panose="02070509030506020304" pitchFamily="49" charset="0"/>
              </a:rPr>
              <a:t> 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ON</a:t>
            </a:r>
            <a:r>
              <a:rPr lang="en-US" dirty="0">
                <a:latin typeface="Prestige12 BT" panose="02070509030506020304" pitchFamily="49" charset="0"/>
              </a:rPr>
              <a:t> User(</a:t>
            </a:r>
            <a:r>
              <a:rPr lang="en-US" dirty="0" err="1">
                <a:latin typeface="Prestige12 BT" panose="02070509030506020304" pitchFamily="49" charset="0"/>
              </a:rPr>
              <a:t>LastName,FirstName</a:t>
            </a:r>
            <a:r>
              <a:rPr lang="en-US" dirty="0">
                <a:latin typeface="Prestige12 BT" panose="02070509030506020304" pitchFamily="49" charset="0"/>
              </a:rPr>
              <a:t>);</a:t>
            </a:r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r>
              <a:rPr lang="en-US" dirty="0"/>
              <a:t>This index would be </a:t>
            </a:r>
            <a:r>
              <a:rPr lang="en-US" i="1" dirty="0"/>
              <a:t>useful</a:t>
            </a:r>
            <a:r>
              <a:rPr lang="en-US" dirty="0"/>
              <a:t> for these queries:</a:t>
            </a:r>
          </a:p>
          <a:p>
            <a:pPr lvl="1"/>
            <a:r>
              <a:rPr lang="en-CA" b="1" dirty="0"/>
              <a:t>select </a:t>
            </a:r>
            <a:r>
              <a:rPr lang="en-CA" dirty="0"/>
              <a:t>* </a:t>
            </a:r>
            <a:r>
              <a:rPr lang="en-CA" b="1" dirty="0"/>
              <a:t>from </a:t>
            </a:r>
            <a:r>
              <a:rPr lang="en-CA" dirty="0"/>
              <a:t>User </a:t>
            </a:r>
            <a:r>
              <a:rPr lang="en-CA" b="1" dirty="0"/>
              <a:t>where </a:t>
            </a:r>
            <a:r>
              <a:rPr lang="en-CA" dirty="0" err="1"/>
              <a:t>Lastname</a:t>
            </a:r>
            <a:r>
              <a:rPr lang="en-CA" dirty="0"/>
              <a:t> = ‘Smith’</a:t>
            </a:r>
          </a:p>
          <a:p>
            <a:pPr lvl="1"/>
            <a:r>
              <a:rPr lang="en-CA" b="1" dirty="0"/>
              <a:t>select </a:t>
            </a:r>
            <a:r>
              <a:rPr lang="en-CA" dirty="0"/>
              <a:t>* </a:t>
            </a:r>
            <a:r>
              <a:rPr lang="en-CA" b="1" dirty="0"/>
              <a:t>from </a:t>
            </a:r>
            <a:r>
              <a:rPr lang="en-CA" dirty="0"/>
              <a:t>User </a:t>
            </a:r>
            <a:r>
              <a:rPr lang="en-CA" b="1" dirty="0"/>
              <a:t>where </a:t>
            </a:r>
            <a:r>
              <a:rPr lang="en-CA" dirty="0" err="1"/>
              <a:t>Lastname</a:t>
            </a:r>
            <a:r>
              <a:rPr lang="en-CA" dirty="0"/>
              <a:t> = ‘Smith’ and </a:t>
            </a:r>
            <a:r>
              <a:rPr lang="en-CA" dirty="0" err="1"/>
              <a:t>Firstname</a:t>
            </a:r>
            <a:r>
              <a:rPr lang="en-CA" dirty="0"/>
              <a:t>=‘John’</a:t>
            </a:r>
            <a:br>
              <a:rPr lang="en-CA" dirty="0"/>
            </a:br>
            <a:endParaRPr lang="en-US" dirty="0"/>
          </a:p>
          <a:p>
            <a:r>
              <a:rPr lang="en-US" dirty="0"/>
              <a:t>This index would be not </a:t>
            </a:r>
            <a:r>
              <a:rPr lang="en-US" i="1" dirty="0"/>
              <a:t>useful</a:t>
            </a:r>
            <a:r>
              <a:rPr lang="en-US" dirty="0"/>
              <a:t> at all for this query:</a:t>
            </a:r>
            <a:endParaRPr lang="en-CA" dirty="0"/>
          </a:p>
          <a:p>
            <a:pPr lvl="1"/>
            <a:r>
              <a:rPr lang="en-CA" b="1" dirty="0"/>
              <a:t>select </a:t>
            </a:r>
            <a:r>
              <a:rPr lang="en-CA" dirty="0"/>
              <a:t>* </a:t>
            </a:r>
            <a:r>
              <a:rPr lang="en-CA" b="1" dirty="0"/>
              <a:t>from </a:t>
            </a:r>
            <a:r>
              <a:rPr lang="en-CA" dirty="0"/>
              <a:t>User </a:t>
            </a:r>
            <a:r>
              <a:rPr lang="en-CA" b="1" dirty="0"/>
              <a:t>where </a:t>
            </a:r>
            <a:r>
              <a:rPr lang="en-CA" dirty="0" err="1"/>
              <a:t>Firstname</a:t>
            </a:r>
            <a:r>
              <a:rPr lang="en-CA" dirty="0"/>
              <a:t>=‘John’</a:t>
            </a:r>
            <a:endParaRPr lang="en-US" dirty="0"/>
          </a:p>
          <a:p>
            <a:pPr lvl="1"/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FD76B2-7B76-4578-A3D0-9EAD3CAD7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31</a:t>
            </a:fld>
            <a:endParaRPr lang="en-US"/>
          </a:p>
        </p:txBody>
      </p:sp>
      <p:sp>
        <p:nvSpPr>
          <p:cNvPr id="7" name="Callout: Line 6">
            <a:extLst>
              <a:ext uri="{FF2B5EF4-FFF2-40B4-BE49-F238E27FC236}">
                <a16:creationId xmlns:a16="http://schemas.microsoft.com/office/drawing/2014/main" id="{3F964FAA-17D8-4764-B341-14C5437D2FD8}"/>
              </a:ext>
            </a:extLst>
          </p:cNvPr>
          <p:cNvSpPr/>
          <p:nvPr/>
        </p:nvSpPr>
        <p:spPr>
          <a:xfrm>
            <a:off x="4126761" y="2397642"/>
            <a:ext cx="4674903" cy="845290"/>
          </a:xfrm>
          <a:prstGeom prst="borderCallout1">
            <a:avLst>
              <a:gd name="adj1" fmla="val -4872"/>
              <a:gd name="adj2" fmla="val 47122"/>
              <a:gd name="adj3" fmla="val -16633"/>
              <a:gd name="adj4" fmla="val 3409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tuples (or tuple pointers) are organized first by Lastname. Tuples with a common surname are then organized by Firstname.</a:t>
            </a:r>
            <a:endParaRPr lang="en-CA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3868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F8F94-1331-4BF6-8605-E6C73FDFE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Index-only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7B417-63A7-4D76-8401-E6A064D23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For example: </a:t>
            </a:r>
          </a:p>
          <a:p>
            <a:pPr lvl="1"/>
            <a:r>
              <a:rPr lang="en-US" dirty="0"/>
              <a:t>select count(*) from User where </a:t>
            </a:r>
            <a:r>
              <a:rPr lang="en-US" dirty="0">
                <a:solidFill>
                  <a:schemeClr val="accent2"/>
                </a:solidFill>
              </a:rPr>
              <a:t>pop &gt; ‘0.8’ and </a:t>
            </a:r>
            <a:r>
              <a:rPr lang="en-US" dirty="0" err="1">
                <a:solidFill>
                  <a:schemeClr val="accent2"/>
                </a:solidFill>
              </a:rPr>
              <a:t>firstname</a:t>
            </a:r>
            <a:r>
              <a:rPr lang="en-US" dirty="0">
                <a:solidFill>
                  <a:schemeClr val="accent2"/>
                </a:solidFill>
              </a:rPr>
              <a:t> = ‘Bob’</a:t>
            </a:r>
            <a:r>
              <a:rPr lang="en-US" dirty="0"/>
              <a:t>;</a:t>
            </a:r>
          </a:p>
          <a:p>
            <a:pPr lvl="1"/>
            <a:r>
              <a:rPr lang="en-US" dirty="0"/>
              <a:t>non-clustering index on (</a:t>
            </a:r>
            <a:r>
              <a:rPr lang="en-US" dirty="0" err="1">
                <a:solidFill>
                  <a:schemeClr val="accent2"/>
                </a:solidFill>
              </a:rPr>
              <a:t>firstname</a:t>
            </a:r>
            <a:r>
              <a:rPr lang="en-US" dirty="0">
                <a:solidFill>
                  <a:schemeClr val="accent2"/>
                </a:solidFill>
              </a:rPr>
              <a:t>, pop</a:t>
            </a:r>
            <a:r>
              <a:rPr lang="en-US" dirty="0"/>
              <a:t>) 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2"/>
                </a:solidFill>
              </a:rPr>
              <a:t>A (non-clustered) index </a:t>
            </a:r>
            <a:r>
              <a:rPr lang="en-US" dirty="0"/>
              <a:t>contains all the columns needed to answer the query without having to access the tuples in the base relation.</a:t>
            </a:r>
          </a:p>
          <a:p>
            <a:pPr lvl="1"/>
            <a:r>
              <a:rPr lang="en-US" dirty="0"/>
              <a:t>Avoid one disk I/O per tuple </a:t>
            </a:r>
          </a:p>
          <a:p>
            <a:pPr lvl="1"/>
            <a:r>
              <a:rPr lang="en-US" dirty="0"/>
              <a:t>The index is much smaller than the base relation </a:t>
            </a:r>
          </a:p>
          <a:p>
            <a:pPr lvl="1"/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AE169-70AB-47E9-A797-240C336A3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32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24583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to choose indices for many queries?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 value, locate the record(s) with this value</a:t>
            </a:r>
          </a:p>
          <a:p>
            <a:pPr lvl="1">
              <a:buFont typeface="Wingdings" pitchFamily="2" charset="2"/>
              <a:buNone/>
            </a:pPr>
            <a:r>
              <a:rPr lang="en-US" dirty="0">
                <a:latin typeface="Prestige12 BT" panose="02070509030506020304" pitchFamily="49" charset="0"/>
              </a:rPr>
              <a:t>   SELECT * FROM </a:t>
            </a:r>
            <a:r>
              <a:rPr lang="en-US" i="1" dirty="0">
                <a:latin typeface="Prestige12 BT" panose="02070509030506020304" pitchFamily="49" charset="0"/>
              </a:rPr>
              <a:t>R</a:t>
            </a:r>
            <a:r>
              <a:rPr lang="en-US" dirty="0">
                <a:latin typeface="Prestige12 BT" panose="02070509030506020304" pitchFamily="49" charset="0"/>
              </a:rPr>
              <a:t> WHERE 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A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 = 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value</a:t>
            </a:r>
            <a:r>
              <a:rPr lang="en-US" dirty="0">
                <a:latin typeface="Prestige12 BT" panose="02070509030506020304" pitchFamily="49" charset="0"/>
              </a:rPr>
              <a:t>;</a:t>
            </a:r>
          </a:p>
          <a:p>
            <a:pPr lvl="1">
              <a:buFont typeface="Wingdings" pitchFamily="2" charset="2"/>
              <a:buNone/>
            </a:pPr>
            <a:r>
              <a:rPr lang="en-US" dirty="0">
                <a:latin typeface="Prestige12 BT" panose="02070509030506020304" pitchFamily="49" charset="0"/>
              </a:rPr>
              <a:t>   SELECT * FROM </a:t>
            </a:r>
            <a:r>
              <a:rPr lang="en-US" i="1" dirty="0">
                <a:latin typeface="Prestige12 BT" panose="02070509030506020304" pitchFamily="49" charset="0"/>
              </a:rPr>
              <a:t>R</a:t>
            </a:r>
            <a:r>
              <a:rPr lang="en-US" dirty="0">
                <a:latin typeface="Prestige12 BT" panose="02070509030506020304" pitchFamily="49" charset="0"/>
              </a:rPr>
              <a:t>, </a:t>
            </a:r>
            <a:r>
              <a:rPr lang="en-US" i="1" dirty="0">
                <a:latin typeface="Prestige12 BT" panose="02070509030506020304" pitchFamily="49" charset="0"/>
              </a:rPr>
              <a:t>S</a:t>
            </a:r>
            <a:r>
              <a:rPr lang="en-US" dirty="0">
                <a:latin typeface="Prestige12 BT" panose="02070509030506020304" pitchFamily="49" charset="0"/>
              </a:rPr>
              <a:t> WHERE 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R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.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A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 = 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S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.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B</a:t>
            </a:r>
            <a:r>
              <a:rPr lang="en-US" dirty="0">
                <a:latin typeface="Prestige12 BT" panose="02070509030506020304" pitchFamily="49" charset="0"/>
              </a:rPr>
              <a:t>;</a:t>
            </a:r>
          </a:p>
          <a:p>
            <a:pPr lvl="1">
              <a:buFont typeface="Wingdings" pitchFamily="2" charset="2"/>
              <a:buNone/>
            </a:pPr>
            <a:endParaRPr lang="en-US" dirty="0">
              <a:latin typeface="Prestige12 BT" panose="02070509030506020304" pitchFamily="49" charset="0"/>
            </a:endParaRPr>
          </a:p>
          <a:p>
            <a:r>
              <a:rPr lang="en-US" dirty="0"/>
              <a:t>Find data by other search criteria, e.g.</a:t>
            </a:r>
          </a:p>
          <a:p>
            <a:pPr lvl="1"/>
            <a:r>
              <a:rPr lang="en-US" dirty="0"/>
              <a:t>Range search</a:t>
            </a:r>
          </a:p>
          <a:p>
            <a:pPr lvl="1">
              <a:buFont typeface="Wingdings" pitchFamily="2" charset="2"/>
              <a:buNone/>
            </a:pPr>
            <a:r>
              <a:rPr lang="en-US" dirty="0">
                <a:latin typeface="Prestige12 BT" panose="02070509030506020304" pitchFamily="49" charset="0"/>
              </a:rPr>
              <a:t>   SELECT * FROM </a:t>
            </a:r>
            <a:r>
              <a:rPr lang="en-US" i="1" dirty="0">
                <a:latin typeface="Prestige12 BT" panose="02070509030506020304" pitchFamily="49" charset="0"/>
              </a:rPr>
              <a:t>R</a:t>
            </a:r>
            <a:r>
              <a:rPr lang="en-US" dirty="0">
                <a:latin typeface="Prestige12 BT" panose="02070509030506020304" pitchFamily="49" charset="0"/>
              </a:rPr>
              <a:t> WHERE 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A</a:t>
            </a:r>
            <a:r>
              <a:rPr lang="en-US" dirty="0">
                <a:solidFill>
                  <a:schemeClr val="accent2"/>
                </a:solidFill>
                <a:latin typeface="Prestige12 BT" panose="02070509030506020304" pitchFamily="49" charset="0"/>
              </a:rPr>
              <a:t> &gt; </a:t>
            </a:r>
            <a:r>
              <a:rPr lang="en-US" i="1" dirty="0">
                <a:solidFill>
                  <a:schemeClr val="accent2"/>
                </a:solidFill>
                <a:latin typeface="Prestige12 BT" panose="02070509030506020304" pitchFamily="49" charset="0"/>
              </a:rPr>
              <a:t>value</a:t>
            </a:r>
            <a:r>
              <a:rPr lang="en-US" dirty="0">
                <a:latin typeface="Prestige12 BT" panose="02070509030506020304" pitchFamily="49" charset="0"/>
              </a:rPr>
              <a:t>;</a:t>
            </a:r>
          </a:p>
          <a:p>
            <a:pPr lvl="1"/>
            <a:r>
              <a:rPr lang="en-US" dirty="0"/>
              <a:t>Keyword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33</a:t>
            </a:fld>
            <a:endParaRPr lang="en-US"/>
          </a:p>
        </p:txBody>
      </p:sp>
      <p:grpSp>
        <p:nvGrpSpPr>
          <p:cNvPr id="5" name="Group 4"/>
          <p:cNvGrpSpPr>
            <a:grpSpLocks/>
          </p:cNvGrpSpPr>
          <p:nvPr/>
        </p:nvGrpSpPr>
        <p:grpSpPr bwMode="auto">
          <a:xfrm>
            <a:off x="1225300" y="4813923"/>
            <a:ext cx="5791200" cy="381000"/>
            <a:chOff x="864" y="3312"/>
            <a:chExt cx="3648" cy="240"/>
          </a:xfrm>
        </p:grpSpPr>
        <p:sp>
          <p:nvSpPr>
            <p:cNvPr id="6" name="Rectangle 5"/>
            <p:cNvSpPr>
              <a:spLocks noChangeArrowheads="1"/>
            </p:cNvSpPr>
            <p:nvPr/>
          </p:nvSpPr>
          <p:spPr bwMode="auto">
            <a:xfrm>
              <a:off x="864" y="3312"/>
              <a:ext cx="2688" cy="24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dirty="0">
                  <a:latin typeface="Prestige12 BT" panose="02070509030506020304" pitchFamily="49" charset="0"/>
                  <a:ea typeface="Arial Unicode MS" pitchFamily="34" charset="-128"/>
                  <a:cs typeface="Arial Unicode MS" pitchFamily="34" charset="-128"/>
                </a:rPr>
                <a:t>database indexing</a:t>
              </a:r>
            </a:p>
          </p:txBody>
        </p:sp>
        <p:sp>
          <p:nvSpPr>
            <p:cNvPr id="7" name="AutoShape 6"/>
            <p:cNvSpPr>
              <a:spLocks noChangeArrowheads="1"/>
            </p:cNvSpPr>
            <p:nvPr/>
          </p:nvSpPr>
          <p:spPr bwMode="auto">
            <a:xfrm>
              <a:off x="3648" y="3312"/>
              <a:ext cx="864" cy="240"/>
            </a:xfrm>
            <a:prstGeom prst="bevel">
              <a:avLst>
                <a:gd name="adj" fmla="val 12500"/>
              </a:avLst>
            </a:prstGeom>
            <a:solidFill>
              <a:schemeClr val="accent2"/>
            </a:solidFill>
            <a:ln w="254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 dirty="0">
                  <a:latin typeface="Prestige12 BT" panose="02070509030506020304" pitchFamily="49" charset="0"/>
                  <a:ea typeface="Arial Unicode MS" pitchFamily="34" charset="-128"/>
                  <a:cs typeface="Arial Unicode MS" pitchFamily="34" charset="-128"/>
                </a:rPr>
                <a:t>Search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359013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761F9-45C7-4CE9-A27D-E1A6AA551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Physical design guidelines for indices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E1739-FB15-4EB8-A0CA-07EE7C373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/>
              <a:t>Don’t index unless the performance increase outweighs the update </a:t>
            </a:r>
            <a:r>
              <a:rPr lang="en-CA" sz="2400" dirty="0"/>
              <a:t>overhead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Attributes mentioned in WHERE clauses are candidates for index search </a:t>
            </a:r>
            <a:r>
              <a:rPr lang="en-CA" sz="2400" dirty="0"/>
              <a:t>keys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Multi-attribute search keys should be considered when</a:t>
            </a:r>
          </a:p>
          <a:p>
            <a:pPr lvl="1"/>
            <a:r>
              <a:rPr lang="en-US" sz="2000" dirty="0"/>
              <a:t>a WHERE clause contains several conditions; or</a:t>
            </a:r>
          </a:p>
          <a:p>
            <a:pPr lvl="1"/>
            <a:r>
              <a:rPr lang="en-CA" sz="2000" dirty="0"/>
              <a:t>it enables index-only plans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B2C18-8640-42C2-A2B6-0DEFA2271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34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52722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761F9-45C7-4CE9-A27D-E1A6AA551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Physical design guidelines for indices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E1739-FB15-4EB8-A0CA-07EE7C373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</a:rPr>
              <a:t>Don’t index unless the performance increase outweighs the update </a:t>
            </a:r>
            <a:r>
              <a:rPr lang="en-CA" sz="2400" dirty="0">
                <a:solidFill>
                  <a:schemeClr val="bg1">
                    <a:lumMod val="75000"/>
                  </a:schemeClr>
                </a:solidFill>
              </a:rPr>
              <a:t>overhead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</a:rPr>
              <a:t>Attributes mentioned in WHERE clauses are candidates for index search </a:t>
            </a:r>
            <a:r>
              <a:rPr lang="en-CA" sz="2400" dirty="0">
                <a:solidFill>
                  <a:schemeClr val="bg1">
                    <a:lumMod val="75000"/>
                  </a:schemeClr>
                </a:solidFill>
              </a:rPr>
              <a:t>keys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</a:rPr>
              <a:t>Multi-attribute search keys should be considered when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Choose indexes that benefit as many queries as possible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Each relation can </a:t>
            </a:r>
            <a:r>
              <a:rPr lang="en-US" sz="2400" dirty="0">
                <a:solidFill>
                  <a:schemeClr val="accent2"/>
                </a:solidFill>
              </a:rPr>
              <a:t>have at most one clustering scheme</a:t>
            </a:r>
            <a:r>
              <a:rPr lang="en-US" sz="2400" dirty="0"/>
              <a:t>; therefore choose it </a:t>
            </a:r>
            <a:r>
              <a:rPr lang="en-CA" sz="2400" dirty="0"/>
              <a:t>wisely</a:t>
            </a:r>
          </a:p>
          <a:p>
            <a:pPr lvl="1"/>
            <a:r>
              <a:rPr lang="en-US" sz="2000" dirty="0"/>
              <a:t>Target important queries that would benefit the most</a:t>
            </a:r>
          </a:p>
          <a:p>
            <a:pPr lvl="2"/>
            <a:r>
              <a:rPr lang="en-US" sz="1800" dirty="0">
                <a:solidFill>
                  <a:schemeClr val="accent2"/>
                </a:solidFill>
              </a:rPr>
              <a:t>Range queries </a:t>
            </a:r>
            <a:r>
              <a:rPr lang="en-US" sz="1800" dirty="0"/>
              <a:t>benefit the most from clustering</a:t>
            </a:r>
          </a:p>
          <a:p>
            <a:pPr lvl="1"/>
            <a:r>
              <a:rPr lang="en-US" sz="2000" dirty="0"/>
              <a:t>A multi-attribute index that enables an index-only plan does not benefit </a:t>
            </a:r>
            <a:r>
              <a:rPr lang="en-CA" sz="2000" dirty="0"/>
              <a:t>from being clustered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B2C18-8640-42C2-A2B6-0DEFA2271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35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27963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26C2F-CB09-4E61-A5B1-F121A014E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Summary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BCD45-5907-4948-870D-4D3D326A5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Types of indexes:</a:t>
            </a:r>
          </a:p>
          <a:p>
            <a:pPr lvl="1"/>
            <a:r>
              <a:rPr lang="en-CA" dirty="0"/>
              <a:t>Dense </a:t>
            </a:r>
            <a:r>
              <a:rPr lang="en-CA" dirty="0" err="1"/>
              <a:t>v.s</a:t>
            </a:r>
            <a:r>
              <a:rPr lang="en-CA" dirty="0"/>
              <a:t>. sparse </a:t>
            </a:r>
          </a:p>
          <a:p>
            <a:pPr lvl="1"/>
            <a:r>
              <a:rPr lang="en-CA" dirty="0"/>
              <a:t>Clustering </a:t>
            </a:r>
            <a:r>
              <a:rPr lang="en-CA" dirty="0" err="1"/>
              <a:t>v.s</a:t>
            </a:r>
            <a:r>
              <a:rPr lang="en-CA" dirty="0"/>
              <a:t>. non-clustering </a:t>
            </a:r>
          </a:p>
          <a:p>
            <a:pPr lvl="1"/>
            <a:r>
              <a:rPr lang="en-CA" dirty="0"/>
              <a:t>Primary </a:t>
            </a:r>
            <a:r>
              <a:rPr lang="en-CA" dirty="0" err="1"/>
              <a:t>v.s</a:t>
            </a:r>
            <a:r>
              <a:rPr lang="en-CA" dirty="0"/>
              <a:t>. secondary </a:t>
            </a:r>
          </a:p>
          <a:p>
            <a:pPr lvl="1"/>
            <a:endParaRPr lang="en-CA" dirty="0"/>
          </a:p>
          <a:p>
            <a:r>
              <a:rPr lang="en-CA" dirty="0"/>
              <a:t>Indexing structure</a:t>
            </a:r>
          </a:p>
          <a:p>
            <a:pPr lvl="1"/>
            <a:r>
              <a:rPr lang="en-CA" dirty="0"/>
              <a:t>ISAM</a:t>
            </a:r>
          </a:p>
          <a:p>
            <a:pPr lvl="1"/>
            <a:r>
              <a:rPr lang="en-CA" dirty="0"/>
              <a:t>B+-tree</a:t>
            </a:r>
          </a:p>
          <a:p>
            <a:pPr lvl="1"/>
            <a:endParaRPr lang="en-CA" dirty="0"/>
          </a:p>
          <a:p>
            <a:r>
              <a:rPr lang="en-CA" dirty="0"/>
              <a:t>How to use index</a:t>
            </a:r>
          </a:p>
          <a:p>
            <a:pPr lvl="1"/>
            <a:r>
              <a:rPr lang="en-CA" dirty="0"/>
              <a:t>Use multi-attribute indices</a:t>
            </a:r>
          </a:p>
          <a:p>
            <a:pPr lvl="1"/>
            <a:r>
              <a:rPr lang="en-CA" dirty="0"/>
              <a:t>Index-only plan</a:t>
            </a:r>
          </a:p>
          <a:p>
            <a:pPr lvl="1"/>
            <a:r>
              <a:rPr lang="en-CA" dirty="0"/>
              <a:t>General guideline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ED1E8-6B60-4C4B-92AE-B2D632708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4856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2.3|15.7|7.7|7.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8|13.2|14.5|33.9|15.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6.8|24.6|1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4.4|16.4|16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2.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1.1|12.7|4.6|8.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4.5|12.1|27.5|10.5|33.4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0.6|15.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0.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.8|2.7|2.7|9.6|7.4|4.6|3.6|6.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5.1|4.9|7.5|10.2|4.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.8|5.4|14.8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4|11.3|9.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3|7.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.5|3.1|6.7|8.2|11.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6.1|15.8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5.9|1.8|11.7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9|5.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8.9|6.2|16.7|22.7|8.8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1.4|63.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0.9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3.6|19.4|14.9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7.9|18.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3.1|23.9|14.3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4|12.6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ndara">
      <a:maj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2541</Words>
  <Application>Microsoft Office PowerPoint</Application>
  <PresentationFormat>On-screen Show (4:3)</PresentationFormat>
  <Paragraphs>749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Prestige12 BT</vt:lpstr>
      <vt:lpstr>Arial</vt:lpstr>
      <vt:lpstr>Calibri</vt:lpstr>
      <vt:lpstr>Cambria Math</vt:lpstr>
      <vt:lpstr>Candara</vt:lpstr>
      <vt:lpstr>Wingdings</vt:lpstr>
      <vt:lpstr>Office Theme</vt:lpstr>
      <vt:lpstr>Indexing</vt:lpstr>
      <vt:lpstr>Outline</vt:lpstr>
      <vt:lpstr>What are indexes for?</vt:lpstr>
      <vt:lpstr>Dense v.s. sparse indexes</vt:lpstr>
      <vt:lpstr>Dense v.s. sparse indexes</vt:lpstr>
      <vt:lpstr>Clustering v.s. non-clustering indexes</vt:lpstr>
      <vt:lpstr>Primary and secondary indexes</vt:lpstr>
      <vt:lpstr>Outline</vt:lpstr>
      <vt:lpstr>ISAM</vt:lpstr>
      <vt:lpstr>Updates with ISAM</vt:lpstr>
      <vt:lpstr>B+-tree</vt:lpstr>
      <vt:lpstr>Sample B+-tree nodes</vt:lpstr>
      <vt:lpstr>B+-tree balancing properties</vt:lpstr>
      <vt:lpstr>Lookups</vt:lpstr>
      <vt:lpstr>Range query</vt:lpstr>
      <vt:lpstr>Insertion</vt:lpstr>
      <vt:lpstr>Another insertion example</vt:lpstr>
      <vt:lpstr>Node splitting</vt:lpstr>
      <vt:lpstr>More node splitting</vt:lpstr>
      <vt:lpstr>Deletion</vt:lpstr>
      <vt:lpstr>Stealing from a sibling</vt:lpstr>
      <vt:lpstr>Another deletion example</vt:lpstr>
      <vt:lpstr>Coalescing</vt:lpstr>
      <vt:lpstr>Performance analysis of B+-tree </vt:lpstr>
      <vt:lpstr>B+-tree in practice</vt:lpstr>
      <vt:lpstr>The Halloween Problem</vt:lpstr>
      <vt:lpstr>B+-tree versus ISAM</vt:lpstr>
      <vt:lpstr>B+-tree versus B-tree</vt:lpstr>
      <vt:lpstr>Beyond ISAM, B-, and B+-trees</vt:lpstr>
      <vt:lpstr>Outline</vt:lpstr>
      <vt:lpstr>Multi-attribute indices</vt:lpstr>
      <vt:lpstr>Index-only plan</vt:lpstr>
      <vt:lpstr>How to choose indices for many queries?</vt:lpstr>
      <vt:lpstr>Physical design guidelines for indices</vt:lpstr>
      <vt:lpstr>Physical design guidelines for indices</vt:lpstr>
      <vt:lpstr>Summary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2021-07-27T02:23:20Z</dcterms:created>
  <dcterms:modified xsi:type="dcterms:W3CDTF">2021-07-27T02:23:27Z</dcterms:modified>
</cp:coreProperties>
</file>