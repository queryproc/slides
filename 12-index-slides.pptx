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1.xml" ContentType="application/vnd.openxmlformats-officedocument.presentationml.tags+xml"/>
  <Override PartName="/ppt/notesSlides/notesSlide38.xml" ContentType="application/vnd.openxmlformats-officedocument.presentationml.notesSlide+xml"/>
  <Override PartName="/ppt/tags/tag2.xml" ContentType="application/vnd.openxmlformats-officedocument.presentationml.tags+xml"/>
  <Override PartName="/ppt/notesSlides/notesSlide39.xml" ContentType="application/vnd.openxmlformats-officedocument.presentationml.notesSlide+xml"/>
  <Override PartName="/ppt/tags/tag3.xml" ContentType="application/vnd.openxmlformats-officedocument.presentationml.tags+xml"/>
  <Override PartName="/ppt/notesSlides/notesSlide40.xml" ContentType="application/vnd.openxmlformats-officedocument.presentationml.notesSlide+xml"/>
  <Override PartName="/ppt/tags/tag4.xml" ContentType="application/vnd.openxmlformats-officedocument.presentationml.tags+xml"/>
  <Override PartName="/ppt/notesSlides/notesSlide41.xml" ContentType="application/vnd.openxmlformats-officedocument.presentationml.notesSlide+xml"/>
  <Override PartName="/ppt/tags/tag5.xml" ContentType="application/vnd.openxmlformats-officedocument.presentationml.tags+xml"/>
  <Override PartName="/ppt/notesSlides/notesSlide42.xml" ContentType="application/vnd.openxmlformats-officedocument.presentationml.notesSlide+xml"/>
  <Override PartName="/ppt/tags/tag6.xml" ContentType="application/vnd.openxmlformats-officedocument.presentationml.tags+xml"/>
  <Override PartName="/ppt/notesSlides/notesSlide43.xml" ContentType="application/vnd.openxmlformats-officedocument.presentationml.notesSlide+xml"/>
  <Override PartName="/ppt/tags/tag7.xml" ContentType="application/vnd.openxmlformats-officedocument.presentationml.tags+xml"/>
  <Override PartName="/ppt/notesSlides/notesSlide44.xml" ContentType="application/vnd.openxmlformats-officedocument.presentationml.notesSlide+xml"/>
  <Override PartName="/ppt/tags/tag8.xml" ContentType="application/vnd.openxmlformats-officedocument.presentationml.tags+xml"/>
  <Override PartName="/ppt/notesSlides/notesSlide45.xml" ContentType="application/vnd.openxmlformats-officedocument.presentationml.notesSlide+xml"/>
  <Override PartName="/ppt/tags/tag9.xml" ContentType="application/vnd.openxmlformats-officedocument.presentationml.tags+xml"/>
  <Override PartName="/ppt/notesSlides/notesSlide46.xml" ContentType="application/vnd.openxmlformats-officedocument.presentationml.notesSlide+xml"/>
  <Override PartName="/ppt/tags/tag10.xml" ContentType="application/vnd.openxmlformats-officedocument.presentationml.tags+xml"/>
  <Override PartName="/ppt/notesSlides/notesSlide47.xml" ContentType="application/vnd.openxmlformats-officedocument.presentationml.notesSlide+xml"/>
  <Override PartName="/ppt/tags/tag11.xml" ContentType="application/vnd.openxmlformats-officedocument.presentationml.tags+xml"/>
  <Override PartName="/ppt/notesSlides/notesSlide48.xml" ContentType="application/vnd.openxmlformats-officedocument.presentationml.notesSlide+xml"/>
  <Override PartName="/ppt/tags/tag12.xml" ContentType="application/vnd.openxmlformats-officedocument.presentationml.tags+xml"/>
  <Override PartName="/ppt/notesSlides/notesSlide49.xml" ContentType="application/vnd.openxmlformats-officedocument.presentationml.notesSlide+xml"/>
  <Override PartName="/ppt/tags/tag13.xml" ContentType="application/vnd.openxmlformats-officedocument.presentationml.tags+xml"/>
  <Override PartName="/ppt/notesSlides/notesSlide50.xml" ContentType="application/vnd.openxmlformats-officedocument.presentationml.notesSlide+xml"/>
  <Override PartName="/ppt/tags/tag14.xml" ContentType="application/vnd.openxmlformats-officedocument.presentationml.tags+xml"/>
  <Override PartName="/ppt/notesSlides/notesSlide51.xml" ContentType="application/vnd.openxmlformats-officedocument.presentationml.notesSlide+xml"/>
  <Override PartName="/ppt/tags/tag15.xml" ContentType="application/vnd.openxmlformats-officedocument.presentationml.tags+xml"/>
  <Override PartName="/ppt/notesSlides/notesSlide52.xml" ContentType="application/vnd.openxmlformats-officedocument.presentationml.notesSlide+xml"/>
  <Override PartName="/ppt/tags/tag16.xml" ContentType="application/vnd.openxmlformats-officedocument.presentationml.tags+xml"/>
  <Override PartName="/ppt/notesSlides/notesSlide53.xml" ContentType="application/vnd.openxmlformats-officedocument.presentationml.notesSlide+xml"/>
  <Override PartName="/ppt/tags/tag17.xml" ContentType="application/vnd.openxmlformats-officedocument.presentationml.tags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tags/tag18.xml" ContentType="application/vnd.openxmlformats-officedocument.presentationml.tags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64"/>
  </p:notesMasterIdLst>
  <p:sldIdLst>
    <p:sldId id="320" r:id="rId3"/>
    <p:sldId id="401" r:id="rId4"/>
    <p:sldId id="449" r:id="rId5"/>
    <p:sldId id="487" r:id="rId6"/>
    <p:sldId id="433" r:id="rId7"/>
    <p:sldId id="434" r:id="rId8"/>
    <p:sldId id="436" r:id="rId9"/>
    <p:sldId id="437" r:id="rId10"/>
    <p:sldId id="438" r:id="rId11"/>
    <p:sldId id="439" r:id="rId12"/>
    <p:sldId id="440" r:id="rId13"/>
    <p:sldId id="454" r:id="rId14"/>
    <p:sldId id="442" r:id="rId15"/>
    <p:sldId id="441" r:id="rId16"/>
    <p:sldId id="443" r:id="rId17"/>
    <p:sldId id="446" r:id="rId18"/>
    <p:sldId id="444" r:id="rId19"/>
    <p:sldId id="445" r:id="rId20"/>
    <p:sldId id="455" r:id="rId21"/>
    <p:sldId id="456" r:id="rId22"/>
    <p:sldId id="457" r:id="rId23"/>
    <p:sldId id="458" r:id="rId24"/>
    <p:sldId id="460" r:id="rId25"/>
    <p:sldId id="461" r:id="rId26"/>
    <p:sldId id="462" r:id="rId27"/>
    <p:sldId id="463" r:id="rId28"/>
    <p:sldId id="464" r:id="rId29"/>
    <p:sldId id="465" r:id="rId30"/>
    <p:sldId id="466" r:id="rId31"/>
    <p:sldId id="467" r:id="rId32"/>
    <p:sldId id="468" r:id="rId33"/>
    <p:sldId id="469" r:id="rId34"/>
    <p:sldId id="471" r:id="rId35"/>
    <p:sldId id="474" r:id="rId36"/>
    <p:sldId id="472" r:id="rId37"/>
    <p:sldId id="475" r:id="rId38"/>
    <p:sldId id="476" r:id="rId39"/>
    <p:sldId id="266" r:id="rId40"/>
    <p:sldId id="267" r:id="rId41"/>
    <p:sldId id="268" r:id="rId42"/>
    <p:sldId id="269" r:id="rId43"/>
    <p:sldId id="270" r:id="rId44"/>
    <p:sldId id="271" r:id="rId45"/>
    <p:sldId id="273" r:id="rId46"/>
    <p:sldId id="274" r:id="rId47"/>
    <p:sldId id="275" r:id="rId48"/>
    <p:sldId id="276" r:id="rId49"/>
    <p:sldId id="277" r:id="rId50"/>
    <p:sldId id="278" r:id="rId51"/>
    <p:sldId id="279" r:id="rId52"/>
    <p:sldId id="481" r:id="rId53"/>
    <p:sldId id="482" r:id="rId54"/>
    <p:sldId id="478" r:id="rId55"/>
    <p:sldId id="479" r:id="rId56"/>
    <p:sldId id="477" r:id="rId57"/>
    <p:sldId id="488" r:id="rId58"/>
    <p:sldId id="480" r:id="rId59"/>
    <p:sldId id="485" r:id="rId60"/>
    <p:sldId id="483" r:id="rId61"/>
    <p:sldId id="486" r:id="rId62"/>
    <p:sldId id="281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88"/>
    <p:restoredTop sz="78612" autoAdjust="0"/>
  </p:normalViewPr>
  <p:slideViewPr>
    <p:cSldViewPr snapToGrid="0" snapToObjects="1">
      <p:cViewPr>
        <p:scale>
          <a:sx n="119" d="100"/>
          <a:sy n="119" d="100"/>
        </p:scale>
        <p:origin x="2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5BFF4-16CE-FF42-8F98-AF276FA50BA1}" type="datetimeFigureOut">
              <a:rPr lang="en-US" smtClean="0"/>
              <a:t>2/16/22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3E036-A4CB-E845-BE6C-EA1CA9E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4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2054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6520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3789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645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0779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3944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3437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2941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5637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9433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7940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9177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6067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91417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86078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6649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17348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86933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15440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06151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87657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52434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99856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30967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09742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323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67330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37348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4520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93127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34059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3296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3599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12929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25780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37048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9932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5610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7473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01888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37697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70143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41744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8905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0643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40463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47363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9916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57811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30484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06344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24028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901675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B470F9-3B63-4A29-A4D2-E4DBA5B325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71958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653138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313744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314923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126526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091786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871305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95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1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4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5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2/16/22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3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2/16/22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3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2/16/22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0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2/16/22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7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2/16/22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6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2/16/22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73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85E7-7033-4BD1-A625-C36166465D72}" type="datetime1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46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36" y="162161"/>
            <a:ext cx="8801664" cy="11801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5264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8C2A-DC08-4D71-B5BC-A571B022E25E}" type="datetime1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70884"/>
            <a:ext cx="2057400" cy="365125"/>
          </a:xfrm>
        </p:spPr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9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9DCD6-3D10-40FA-A88B-E0AD5136A360}" type="datetime1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22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43D1-D08D-4D7D-B4AB-E82156BEAC2C}" type="datetime1">
              <a:rPr lang="en-US" smtClean="0"/>
              <a:t>2/16/22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10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8F3BF-3FC2-4600-9976-243D0786F5BB}" type="datetime1">
              <a:rPr lang="en-US" smtClean="0"/>
              <a:t>2/16/22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10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7219-C430-46CE-85B9-30B4F0CA56AD}" type="datetime1">
              <a:rPr lang="en-US" smtClean="0"/>
              <a:t>2/16/22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5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57F-C273-4FC9-8FE1-6D874FEF83EF}" type="datetime1">
              <a:rPr lang="en-US" smtClean="0"/>
              <a:t>2/16/22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70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ADF5-D710-4EBB-AA69-2A818CDF92E1}" type="datetime1">
              <a:rPr lang="en-US" smtClean="0"/>
              <a:t>2/16/22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457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EE3B-FC30-46DA-98F7-BE80A4010F5D}" type="datetime1">
              <a:rPr lang="en-US" smtClean="0"/>
              <a:t>2/16/22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1231-A0A7-4403-8B90-83ED4F249362}" type="datetime1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382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61F2-D403-4BA1-A95E-62DE29B59CB4}" type="datetime1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10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6A743-70A3-BB43-8075-433ED5A57AC5}" type="datetimeFigureOut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2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7D50E-B569-40DB-B6B5-FEED8173E279}" type="datetime1">
              <a:rPr lang="en-US" smtClean="0"/>
              <a:t>2/16/22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8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://citeseerx.ist.psu.edu/viewdoc/summary?doi=10.1.1.21.8416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Relationship Id="rId4" Type="http://schemas.openxmlformats.org/officeDocument/2006/relationships/image" Target="../media/image1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Relationship Id="rId5" Type="http://schemas.openxmlformats.org/officeDocument/2006/relationships/hyperlink" Target="https://en.wikipedia.org/wiki/Rudolf_Bayer" TargetMode="External"/><Relationship Id="rId4" Type="http://schemas.openxmlformats.org/officeDocument/2006/relationships/hyperlink" Target="https://en.wikipedia.org/wiki/Edward_M._McCreight" TargetMode="Externa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943" y="406878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4565"/>
            <a:ext cx="9144001" cy="2549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CS 348 Lecture 12</a:t>
            </a:r>
          </a:p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Physical Data Organization Finish &amp; Indices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277" y="2551191"/>
            <a:ext cx="7716204" cy="14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Semih </a:t>
            </a:r>
            <a:r>
              <a:rPr lang="en-US" sz="30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Salihoğlu</a:t>
            </a:r>
            <a:endParaRPr lang="en-US" sz="30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 17</a:t>
            </a:r>
            <a:r>
              <a:rPr lang="en-US" sz="3000" kern="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 </a:t>
            </a: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CA9E7-4B07-304C-A86C-AE26580E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679" y="4395915"/>
            <a:ext cx="6800643" cy="92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1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8925" y="93523"/>
            <a:ext cx="7878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Announcements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8925" y="80719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F7A96B-031C-8D48-8710-7302C726A66B}"/>
              </a:ext>
            </a:extLst>
          </p:cNvPr>
          <p:cNvSpPr txBox="1"/>
          <p:nvPr/>
        </p:nvSpPr>
        <p:spPr>
          <a:xfrm>
            <a:off x="83452" y="773927"/>
            <a:ext cx="9060548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Assignment 3 past but still have until tomorrow midnight: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Reading week: No lectures or OHs next week.</a:t>
            </a:r>
          </a:p>
        </p:txBody>
      </p:sp>
    </p:spTree>
    <p:extLst>
      <p:ext uri="{BB962C8B-B14F-4D97-AF65-F5344CB8AC3E}">
        <p14:creationId xmlns:p14="http://schemas.microsoft.com/office/powerpoint/2010/main" val="391116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464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Recap &amp; Finish Physical File Organization Designs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Row-oriented Physical Design (Recap)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Colum-oriented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Hybrid (PAX) Physical Design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Designs for Variable-length Fields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Designs for NULLs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Database Indices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5 Index Designs in Increasing Level of Robustness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Using Indices In Practice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1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464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Recap &amp; Finish Physical File Organization Designs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Row-oriented Physical Design (Recap)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Colum-oriented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Hybrid (PAX) Physical Design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Designs for Variable-length Fields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Designs for NULLs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Indices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Index Designs in Increasing Level of Robustness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Indices In Practice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24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Recall Potential Goals of Physical Data Design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824571"/>
            <a:ext cx="9144000" cy="4152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Minimize I/O!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Design files to pack records/columns into few number of pages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Keep related data close in storage devices!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romanL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Cache pages of data that is likely to be used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Maximize sequential reads from storage devices!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Simplicity/speed of accessing values</a:t>
            </a:r>
          </a:p>
          <a:p>
            <a:pPr marL="971550" lvl="1" indent="-5143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E.g., don’t compress using a complex compression scheme</a:t>
            </a:r>
          </a:p>
          <a:p>
            <a:pPr algn="ctr">
              <a:lnSpc>
                <a:spcPct val="150000"/>
              </a:lnSpc>
            </a:pPr>
            <a:r>
              <a:rPr lang="en-US" sz="2500" i="1" dirty="0">
                <a:latin typeface="Arial" panose="020B0604020202020204" pitchFamily="34" charset="0"/>
                <a:cs typeface="Arial" panose="020B0604020202020204" pitchFamily="34" charset="0"/>
              </a:rPr>
              <a:t>These are general guidelines and not necessarily independent.</a:t>
            </a:r>
          </a:p>
        </p:txBody>
      </p:sp>
    </p:spTree>
    <p:extLst>
      <p:ext uri="{BB962C8B-B14F-4D97-AF65-F5344CB8AC3E}">
        <p14:creationId xmlns:p14="http://schemas.microsoft.com/office/powerpoint/2010/main" val="255513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Common Record and Page Layouts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824571"/>
            <a:ext cx="9144000" cy="2906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Row-oriented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Column-oriented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Hybrid (PAX) Row &amp; Column-oriented Fixed-length Values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Designs for Variable-length Values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Designs for NULL Values</a:t>
            </a:r>
          </a:p>
        </p:txBody>
      </p:sp>
    </p:spTree>
    <p:extLst>
      <p:ext uri="{BB962C8B-B14F-4D97-AF65-F5344CB8AC3E}">
        <p14:creationId xmlns:p14="http://schemas.microsoft.com/office/powerpoint/2010/main" val="1667592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Recap: Row-Oriented NSM Design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824571"/>
            <a:ext cx="9144000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Each page contains ~ H/T many rows and all fields of each row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81C75C-1D2F-1F4F-A4CD-94782ED20BCF}"/>
              </a:ext>
            </a:extLst>
          </p:cNvPr>
          <p:cNvSpPr/>
          <p:nvPr/>
        </p:nvSpPr>
        <p:spPr>
          <a:xfrm>
            <a:off x="1367852" y="2427333"/>
            <a:ext cx="6434623" cy="201968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21">
            <a:extLst>
              <a:ext uri="{FF2B5EF4-FFF2-40B4-BE49-F238E27FC236}">
                <a16:creationId xmlns:a16="http://schemas.microsoft.com/office/drawing/2014/main" id="{82560C30-2DB3-7A46-A369-FA7EF6A56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385352"/>
              </p:ext>
            </p:extLst>
          </p:nvPr>
        </p:nvGraphicFramePr>
        <p:xfrm>
          <a:off x="1068769" y="1422555"/>
          <a:ext cx="7006463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699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2288159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2812605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Customer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202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cid</a:t>
                      </a:r>
                      <a:r>
                        <a:rPr lang="en-US" sz="1700" dirty="0"/>
                        <a:t> : int64 (8 bytes)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name : string (60 chars)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err="1"/>
                        <a:t>isGoldMember</a:t>
                      </a:r>
                      <a:r>
                        <a:rPr lang="en-US" sz="1700" dirty="0"/>
                        <a:t> : bool (1 byte)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9" name="Table 21">
            <a:extLst>
              <a:ext uri="{FF2B5EF4-FFF2-40B4-BE49-F238E27FC236}">
                <a16:creationId xmlns:a16="http://schemas.microsoft.com/office/drawing/2014/main" id="{EAB8B42F-3C02-6347-8D13-86E33082C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046810"/>
              </p:ext>
            </p:extLst>
          </p:nvPr>
        </p:nvGraphicFramePr>
        <p:xfrm>
          <a:off x="1373679" y="2442060"/>
          <a:ext cx="321439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231206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Alice Munro\0\0\0….\0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10" name="Table 21">
            <a:extLst>
              <a:ext uri="{FF2B5EF4-FFF2-40B4-BE49-F238E27FC236}">
                <a16:creationId xmlns:a16="http://schemas.microsoft.com/office/drawing/2014/main" id="{06283AFD-2076-6846-987D-A25A75E1C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549218"/>
              </p:ext>
            </p:extLst>
          </p:nvPr>
        </p:nvGraphicFramePr>
        <p:xfrm>
          <a:off x="4588077" y="2442060"/>
          <a:ext cx="321439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231206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Carl Sagan\0\0\0…\0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11" name="Table 21">
            <a:extLst>
              <a:ext uri="{FF2B5EF4-FFF2-40B4-BE49-F238E27FC236}">
                <a16:creationId xmlns:a16="http://schemas.microsoft.com/office/drawing/2014/main" id="{8533D873-F2D1-7B46-ADA7-E84DDD235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5831"/>
              </p:ext>
            </p:extLst>
          </p:nvPr>
        </p:nvGraphicFramePr>
        <p:xfrm>
          <a:off x="1373679" y="2827627"/>
          <a:ext cx="321439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231206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Bob \0\0\0….\0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12" name="Table 21">
            <a:extLst>
              <a:ext uri="{FF2B5EF4-FFF2-40B4-BE49-F238E27FC236}">
                <a16:creationId xmlns:a16="http://schemas.microsoft.com/office/drawing/2014/main" id="{23FE03D2-B5FD-414B-9371-DA2245D50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514215"/>
              </p:ext>
            </p:extLst>
          </p:nvPr>
        </p:nvGraphicFramePr>
        <p:xfrm>
          <a:off x="4593904" y="2827627"/>
          <a:ext cx="321439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231206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9B41968-45D1-934C-B41A-F632B366C6B4}"/>
              </a:ext>
            </a:extLst>
          </p:cNvPr>
          <p:cNvSpPr txBox="1"/>
          <p:nvPr/>
        </p:nvSpPr>
        <p:spPr>
          <a:xfrm>
            <a:off x="0" y="4544764"/>
            <a:ext cx="9144000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Note: because records are fixed length, can read any field with simple arithmetic (*not a consequence of NSM*)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5</a:t>
            </a:r>
            <a:r>
              <a:rPr lang="en-US" sz="22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records name field at offsets: 4*(8+60+1) + 8 = 284 to 344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70A130-CED7-424A-A4EF-28F6C6A7F2DB}"/>
              </a:ext>
            </a:extLst>
          </p:cNvPr>
          <p:cNvSpPr txBox="1"/>
          <p:nvPr/>
        </p:nvSpPr>
        <p:spPr>
          <a:xfrm>
            <a:off x="1341525" y="3868990"/>
            <a:ext cx="6434623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(Example Disk Page, e.g., in file </a:t>
            </a: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customer.mkd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3290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Recap: Pros/Cons of NSM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8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B41968-45D1-934C-B41A-F632B366C6B4}"/>
              </a:ext>
            </a:extLst>
          </p:cNvPr>
          <p:cNvSpPr txBox="1"/>
          <p:nvPr/>
        </p:nvSpPr>
        <p:spPr>
          <a:xfrm>
            <a:off x="-26328" y="771622"/>
            <a:ext cx="9144000" cy="3584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Pro: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Good for queries that access multiple or all fields of tuples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If queries access a single field, e.g., counting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numGoldMembers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“effective read size” can be small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E.g. 1/69 bytes read is useful, in columnar storage you can do 69x less I/O to do the same count.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For some workloads higher # I/O =&gt; lower (buffer) cache utilization (next slide)</a:t>
            </a:r>
          </a:p>
        </p:txBody>
      </p:sp>
    </p:spTree>
    <p:extLst>
      <p:ext uri="{BB962C8B-B14F-4D97-AF65-F5344CB8AC3E}">
        <p14:creationId xmlns:p14="http://schemas.microsoft.com/office/powerpoint/2010/main" val="190722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Recap: Buffer Manager &amp; Ex Op/Storage Interface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B41968-45D1-934C-B41A-F632B366C6B4}"/>
              </a:ext>
            </a:extLst>
          </p:cNvPr>
          <p:cNvSpPr txBox="1"/>
          <p:nvPr/>
        </p:nvSpPr>
        <p:spPr>
          <a:xfrm>
            <a:off x="-26328" y="771622"/>
            <a:ext cx="9144000" cy="206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DBMSs have a </a:t>
            </a:r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buffer manager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(BM) component that keeps a set of file pages in memory to reduce I/O.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Goal of BM: keep pages that are likely to be accessed in memory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Implement a caching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alg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e.g., Least-Recently Used (LRU)</a:t>
            </a:r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D0DD2610-677C-7A40-8F00-2426A77AC547}"/>
              </a:ext>
            </a:extLst>
          </p:cNvPr>
          <p:cNvSpPr/>
          <p:nvPr/>
        </p:nvSpPr>
        <p:spPr>
          <a:xfrm>
            <a:off x="7174447" y="3985268"/>
            <a:ext cx="1910331" cy="2060885"/>
          </a:xfrm>
          <a:prstGeom prst="can">
            <a:avLst>
              <a:gd name="adj" fmla="val 10876"/>
            </a:avLst>
          </a:prstGeom>
          <a:noFill/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600D20F-C034-AA4B-839D-AD30D9F8C3AE}"/>
              </a:ext>
            </a:extLst>
          </p:cNvPr>
          <p:cNvGrpSpPr/>
          <p:nvPr/>
        </p:nvGrpSpPr>
        <p:grpSpPr>
          <a:xfrm>
            <a:off x="7372067" y="4409371"/>
            <a:ext cx="1545209" cy="1583303"/>
            <a:chOff x="6067184" y="5201888"/>
            <a:chExt cx="1545209" cy="15833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A928AC-0FBC-8845-890D-FFE04F65CEA8}"/>
                </a:ext>
              </a:extLst>
            </p:cNvPr>
            <p:cNvSpPr/>
            <p:nvPr/>
          </p:nvSpPr>
          <p:spPr>
            <a:xfrm>
              <a:off x="6209674" y="5284611"/>
              <a:ext cx="365760" cy="36576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EEB33F-C78C-E945-B07B-F9E550E51204}"/>
                </a:ext>
              </a:extLst>
            </p:cNvPr>
            <p:cNvSpPr/>
            <p:nvPr/>
          </p:nvSpPr>
          <p:spPr>
            <a:xfrm>
              <a:off x="6209674" y="5664440"/>
              <a:ext cx="365760" cy="3657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P4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6B80C6A-0A87-EF44-BD7A-4D9DE1128F12}"/>
                </a:ext>
              </a:extLst>
            </p:cNvPr>
            <p:cNvSpPr/>
            <p:nvPr/>
          </p:nvSpPr>
          <p:spPr>
            <a:xfrm>
              <a:off x="6209674" y="6056769"/>
              <a:ext cx="365760" cy="3657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P7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76EE1E-3FD7-174A-9474-4AE0F7FB6E94}"/>
                </a:ext>
              </a:extLst>
            </p:cNvPr>
            <p:cNvSpPr/>
            <p:nvPr/>
          </p:nvSpPr>
          <p:spPr>
            <a:xfrm>
              <a:off x="6626652" y="5284611"/>
              <a:ext cx="365760" cy="3657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7A8091-DA76-6145-99A6-61A09123EAA4}"/>
                </a:ext>
              </a:extLst>
            </p:cNvPr>
            <p:cNvSpPr/>
            <p:nvPr/>
          </p:nvSpPr>
          <p:spPr>
            <a:xfrm>
              <a:off x="7038894" y="5284611"/>
              <a:ext cx="365760" cy="36576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P3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FC347F-1D14-7A4D-982D-4D5574602C6F}"/>
                </a:ext>
              </a:extLst>
            </p:cNvPr>
            <p:cNvSpPr/>
            <p:nvPr/>
          </p:nvSpPr>
          <p:spPr>
            <a:xfrm>
              <a:off x="6626408" y="5664440"/>
              <a:ext cx="365760" cy="3657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4ED3F77-A40D-3C4D-A81E-BE5AB1C21F97}"/>
                </a:ext>
              </a:extLst>
            </p:cNvPr>
            <p:cNvSpPr/>
            <p:nvPr/>
          </p:nvSpPr>
          <p:spPr>
            <a:xfrm>
              <a:off x="7038894" y="5664440"/>
              <a:ext cx="365760" cy="3657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P6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AAC9CE-9BBE-1F4F-8F3F-161F8F610BEA}"/>
                </a:ext>
              </a:extLst>
            </p:cNvPr>
            <p:cNvSpPr/>
            <p:nvPr/>
          </p:nvSpPr>
          <p:spPr>
            <a:xfrm>
              <a:off x="6620918" y="6056769"/>
              <a:ext cx="365760" cy="36576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P8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782A8D-EDFB-2D41-99A7-77A741C2911A}"/>
                </a:ext>
              </a:extLst>
            </p:cNvPr>
            <p:cNvSpPr/>
            <p:nvPr/>
          </p:nvSpPr>
          <p:spPr>
            <a:xfrm>
              <a:off x="7038894" y="6056769"/>
              <a:ext cx="365760" cy="3657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P9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3447183-831F-BA4A-B68E-5EA3952D086B}"/>
                </a:ext>
              </a:extLst>
            </p:cNvPr>
            <p:cNvSpPr txBox="1"/>
            <p:nvPr/>
          </p:nvSpPr>
          <p:spPr>
            <a:xfrm>
              <a:off x="6067184" y="6415859"/>
              <a:ext cx="14732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order.mkd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9FCB7C8-2197-AC45-A410-D36A054AEBDA}"/>
                </a:ext>
              </a:extLst>
            </p:cNvPr>
            <p:cNvSpPr/>
            <p:nvPr/>
          </p:nvSpPr>
          <p:spPr>
            <a:xfrm>
              <a:off x="6076816" y="5201888"/>
              <a:ext cx="1535577" cy="15018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F002BD1-E711-394A-9C47-24859342EA55}"/>
              </a:ext>
            </a:extLst>
          </p:cNvPr>
          <p:cNvSpPr txBox="1"/>
          <p:nvPr/>
        </p:nvSpPr>
        <p:spPr>
          <a:xfrm>
            <a:off x="6324187" y="4954750"/>
            <a:ext cx="982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28F60A-4D87-2C47-88C4-08F028F1DD06}"/>
              </a:ext>
            </a:extLst>
          </p:cNvPr>
          <p:cNvSpPr txBox="1"/>
          <p:nvPr/>
        </p:nvSpPr>
        <p:spPr>
          <a:xfrm>
            <a:off x="6514717" y="3398343"/>
            <a:ext cx="693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BBC67E-9DEC-6246-9B39-B9740251983B}"/>
              </a:ext>
            </a:extLst>
          </p:cNvPr>
          <p:cNvSpPr txBox="1"/>
          <p:nvPr/>
        </p:nvSpPr>
        <p:spPr>
          <a:xfrm>
            <a:off x="6907862" y="2910060"/>
            <a:ext cx="2142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Buffer Pool/Frames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5DC34B-3AC1-8845-9E9C-CB3462E869FE}"/>
              </a:ext>
            </a:extLst>
          </p:cNvPr>
          <p:cNvSpPr/>
          <p:nvPr/>
        </p:nvSpPr>
        <p:spPr>
          <a:xfrm>
            <a:off x="7262905" y="3256880"/>
            <a:ext cx="1535577" cy="574791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3BD699-5FB4-7849-BF21-CE431534B73B}"/>
              </a:ext>
            </a:extLst>
          </p:cNvPr>
          <p:cNvSpPr/>
          <p:nvPr/>
        </p:nvSpPr>
        <p:spPr>
          <a:xfrm>
            <a:off x="7401221" y="3352807"/>
            <a:ext cx="365760" cy="36576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AE52C9-216C-9644-88A8-877711E367E7}"/>
              </a:ext>
            </a:extLst>
          </p:cNvPr>
          <p:cNvSpPr/>
          <p:nvPr/>
        </p:nvSpPr>
        <p:spPr>
          <a:xfrm>
            <a:off x="7815357" y="3352807"/>
            <a:ext cx="365760" cy="36576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0B7F4E-185F-204E-A320-5F4D7218EDB7}"/>
              </a:ext>
            </a:extLst>
          </p:cNvPr>
          <p:cNvSpPr/>
          <p:nvPr/>
        </p:nvSpPr>
        <p:spPr>
          <a:xfrm>
            <a:off x="8227929" y="3356437"/>
            <a:ext cx="365760" cy="36576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82ED43-BF27-D042-B296-B041D7CB267F}"/>
              </a:ext>
            </a:extLst>
          </p:cNvPr>
          <p:cNvSpPr/>
          <p:nvPr/>
        </p:nvSpPr>
        <p:spPr>
          <a:xfrm>
            <a:off x="47078" y="2832507"/>
            <a:ext cx="649153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DatabaseFileHandle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 filename; // e.g.,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order.mkd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tupleLen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 // e.g., 69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BufferManager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bm;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readRecord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(Tuple*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outTuple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recordID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pageIdx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offset)=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calculatePageInfo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recordID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Frame* frame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bm.pinPage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pageIdx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memcpy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outTuple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frame&gt;bytes[offset],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tupleLen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bm.unpin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(frame); 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83DE5E-CFCC-5A4A-81DF-B07965D146F4}"/>
              </a:ext>
            </a:extLst>
          </p:cNvPr>
          <p:cNvSpPr txBox="1"/>
          <p:nvPr/>
        </p:nvSpPr>
        <p:spPr>
          <a:xfrm>
            <a:off x="-29286" y="5268402"/>
            <a:ext cx="9114064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Pin: put disk page into buffer pool until further notice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possibly evicts an existing page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Unpin: can now remove the page from buffer pool if needed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52024-ABC6-AC49-BE07-E7FE17CD2FBE}"/>
              </a:ext>
            </a:extLst>
          </p:cNvPr>
          <p:cNvSpPr txBox="1"/>
          <p:nvPr/>
        </p:nvSpPr>
        <p:spPr>
          <a:xfrm>
            <a:off x="7121396" y="4104016"/>
            <a:ext cx="1910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Disk File/Pages</a:t>
            </a:r>
          </a:p>
        </p:txBody>
      </p:sp>
    </p:spTree>
    <p:extLst>
      <p:ext uri="{BB962C8B-B14F-4D97-AF65-F5344CB8AC3E}">
        <p14:creationId xmlns:p14="http://schemas.microsoft.com/office/powerpoint/2010/main" val="272212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/>
      <p:bldP spid="20" grpId="0"/>
      <p:bldP spid="21" grpId="0"/>
      <p:bldP spid="22" grpId="0" animBg="1"/>
      <p:bldP spid="25" grpId="0" animBg="1"/>
      <p:bldP spid="26" grpId="0" animBg="1"/>
      <p:bldP spid="27" grpId="0" animBg="1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Column-Oriented Storage Design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824571"/>
            <a:ext cx="9144000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One file for each field of table (~H/field-size rows worth of data):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81C75C-1D2F-1F4F-A4CD-94782ED20BCF}"/>
              </a:ext>
            </a:extLst>
          </p:cNvPr>
          <p:cNvSpPr/>
          <p:nvPr/>
        </p:nvSpPr>
        <p:spPr>
          <a:xfrm>
            <a:off x="1046743" y="1557906"/>
            <a:ext cx="2248646" cy="16762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21">
            <a:extLst>
              <a:ext uri="{FF2B5EF4-FFF2-40B4-BE49-F238E27FC236}">
                <a16:creationId xmlns:a16="http://schemas.microsoft.com/office/drawing/2014/main" id="{EAB8B42F-3C02-6347-8D13-86E33082C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27645"/>
              </p:ext>
            </p:extLst>
          </p:nvPr>
        </p:nvGraphicFramePr>
        <p:xfrm>
          <a:off x="1052569" y="1572633"/>
          <a:ext cx="224282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3808629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670A130-CED7-424A-A4EF-28F6C6A7F2DB}"/>
              </a:ext>
            </a:extLst>
          </p:cNvPr>
          <p:cNvSpPr txBox="1"/>
          <p:nvPr/>
        </p:nvSpPr>
        <p:spPr>
          <a:xfrm>
            <a:off x="1017930" y="2696738"/>
            <a:ext cx="2242821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cID.mkd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21">
            <a:extLst>
              <a:ext uri="{FF2B5EF4-FFF2-40B4-BE49-F238E27FC236}">
                <a16:creationId xmlns:a16="http://schemas.microsoft.com/office/drawing/2014/main" id="{55AB9E92-16DE-E743-AF4F-320C1A560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982893"/>
              </p:ext>
            </p:extLst>
          </p:nvPr>
        </p:nvGraphicFramePr>
        <p:xfrm>
          <a:off x="1043405" y="1915827"/>
          <a:ext cx="224282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3808629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2B3727B1-ABC8-EE4A-A98C-618DEB0A13D9}"/>
              </a:ext>
            </a:extLst>
          </p:cNvPr>
          <p:cNvSpPr/>
          <p:nvPr/>
        </p:nvSpPr>
        <p:spPr>
          <a:xfrm>
            <a:off x="3597569" y="1557906"/>
            <a:ext cx="2248646" cy="16762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1B0A42-FC09-6E4A-B55B-21198A166B86}"/>
              </a:ext>
            </a:extLst>
          </p:cNvPr>
          <p:cNvSpPr txBox="1"/>
          <p:nvPr/>
        </p:nvSpPr>
        <p:spPr>
          <a:xfrm>
            <a:off x="3574581" y="2696739"/>
            <a:ext cx="2242821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name.mkd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Table 21">
            <a:extLst>
              <a:ext uri="{FF2B5EF4-FFF2-40B4-BE49-F238E27FC236}">
                <a16:creationId xmlns:a16="http://schemas.microsoft.com/office/drawing/2014/main" id="{DBB24C7B-2E61-6648-BD43-8ED7E6FB0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802499"/>
              </p:ext>
            </p:extLst>
          </p:nvPr>
        </p:nvGraphicFramePr>
        <p:xfrm>
          <a:off x="3612559" y="1964708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Carl Sagan\0\0\0….\0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21" name="Table 21">
            <a:extLst>
              <a:ext uri="{FF2B5EF4-FFF2-40B4-BE49-F238E27FC236}">
                <a16:creationId xmlns:a16="http://schemas.microsoft.com/office/drawing/2014/main" id="{CB2B5CE1-02D8-B64D-B364-E7A4560F9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789722"/>
              </p:ext>
            </p:extLst>
          </p:nvPr>
        </p:nvGraphicFramePr>
        <p:xfrm>
          <a:off x="3613646" y="1572633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Alice Munro\0\0….\0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793D3D3-084E-DD43-92E2-D721BDD53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647010"/>
              </p:ext>
            </p:extLst>
          </p:nvPr>
        </p:nvGraphicFramePr>
        <p:xfrm>
          <a:off x="3612559" y="2355879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Bob \0\0\0….\0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90853AB7-D325-B140-A2C2-7BB175065F43}"/>
              </a:ext>
            </a:extLst>
          </p:cNvPr>
          <p:cNvSpPr/>
          <p:nvPr/>
        </p:nvSpPr>
        <p:spPr>
          <a:xfrm>
            <a:off x="6096594" y="1557906"/>
            <a:ext cx="2029476" cy="16762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Table 21">
            <a:extLst>
              <a:ext uri="{FF2B5EF4-FFF2-40B4-BE49-F238E27FC236}">
                <a16:creationId xmlns:a16="http://schemas.microsoft.com/office/drawing/2014/main" id="{86C9D793-25C0-DF43-8F86-DA4415FEB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472975"/>
              </p:ext>
            </p:extLst>
          </p:nvPr>
        </p:nvGraphicFramePr>
        <p:xfrm>
          <a:off x="6162380" y="1572633"/>
          <a:ext cx="192797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821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3808629383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320577068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3789978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492472CD-63F9-E841-8184-941F3F977D4D}"/>
              </a:ext>
            </a:extLst>
          </p:cNvPr>
          <p:cNvSpPr txBox="1"/>
          <p:nvPr/>
        </p:nvSpPr>
        <p:spPr>
          <a:xfrm>
            <a:off x="6096593" y="2769839"/>
            <a:ext cx="2133600" cy="436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700" i="1" dirty="0" err="1">
                <a:latin typeface="Arial" panose="020B0604020202020204" pitchFamily="34" charset="0"/>
                <a:cs typeface="Arial" panose="020B0604020202020204" pitchFamily="34" charset="0"/>
              </a:rPr>
              <a:t>isGoldMember.mkd</a:t>
            </a:r>
            <a:endParaRPr lang="en-US" sz="17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2" name="Table 21">
            <a:extLst>
              <a:ext uri="{FF2B5EF4-FFF2-40B4-BE49-F238E27FC236}">
                <a16:creationId xmlns:a16="http://schemas.microsoft.com/office/drawing/2014/main" id="{52F1DA37-EFE7-6745-8F20-0FCDAAA83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684335"/>
              </p:ext>
            </p:extLst>
          </p:nvPr>
        </p:nvGraphicFramePr>
        <p:xfrm>
          <a:off x="6156554" y="1964708"/>
          <a:ext cx="192797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821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3808629383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320577068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3789978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1F892F76-241B-1A4A-A51E-724AF43CC667}"/>
              </a:ext>
            </a:extLst>
          </p:cNvPr>
          <p:cNvSpPr txBox="1"/>
          <p:nvPr/>
        </p:nvSpPr>
        <p:spPr>
          <a:xfrm>
            <a:off x="16078" y="3223227"/>
            <a:ext cx="9144000" cy="3584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Good for queries that access few columns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reduce I/O significantly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Better sequential reads when pages are in memory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Easier to apply compression because each page is very “homogenous”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Bad for queries that access all columns (1 I/O in row-oriented storage could be done with # cols I/O).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D355F0-DC0A-8548-8168-7269EA9A4392}"/>
              </a:ext>
            </a:extLst>
          </p:cNvPr>
          <p:cNvSpPr/>
          <p:nvPr/>
        </p:nvSpPr>
        <p:spPr>
          <a:xfrm>
            <a:off x="6663642" y="3343073"/>
            <a:ext cx="25220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count(*)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from customer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isGoldMember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80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/>
      <p:bldP spid="16" grpId="0" animBg="1"/>
      <p:bldP spid="18" grpId="0"/>
      <p:bldP spid="28" grpId="0" animBg="1"/>
      <p:bldP spid="30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PAX Hybrid Storage Design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824571"/>
            <a:ext cx="9144000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PAX: Partition Attributes Across (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Ailamaki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et al. VLDB 2001)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All fields of a row in the same page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pages internally organized by columns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46E4C8-E3AA-D84C-82B8-79EDE89BE60B}"/>
              </a:ext>
            </a:extLst>
          </p:cNvPr>
          <p:cNvSpPr/>
          <p:nvPr/>
        </p:nvSpPr>
        <p:spPr>
          <a:xfrm>
            <a:off x="781098" y="3037866"/>
            <a:ext cx="7044105" cy="212853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2064CB-8EEE-6B44-A77A-D8C4E3A69DD0}"/>
              </a:ext>
            </a:extLst>
          </p:cNvPr>
          <p:cNvSpPr/>
          <p:nvPr/>
        </p:nvSpPr>
        <p:spPr>
          <a:xfrm>
            <a:off x="3298254" y="4797069"/>
            <a:ext cx="1625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customer.mkd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1919B-7169-9B48-8472-C432C5D7B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788" y="1336024"/>
            <a:ext cx="1282700" cy="1574800"/>
          </a:xfrm>
          <a:prstGeom prst="rect">
            <a:avLst/>
          </a:prstGeom>
        </p:spPr>
      </p:pic>
      <p:pic>
        <p:nvPicPr>
          <p:cNvPr id="8" name="Picture 7" descr="A black and white photo of a document&#10;&#10;Description automatically generated with low confidence">
            <a:hlinkClick r:id="rId4"/>
            <a:extLst>
              <a:ext uri="{FF2B5EF4-FFF2-40B4-BE49-F238E27FC236}">
                <a16:creationId xmlns:a16="http://schemas.microsoft.com/office/drawing/2014/main" id="{F5A435BD-4E64-D142-B25E-A2E8D3067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9100" y="1323176"/>
            <a:ext cx="1426104" cy="1626433"/>
          </a:xfrm>
          <a:prstGeom prst="rect">
            <a:avLst/>
          </a:prstGeom>
        </p:spPr>
      </p:pic>
      <p:graphicFrame>
        <p:nvGraphicFramePr>
          <p:cNvPr id="25" name="Table 21">
            <a:extLst>
              <a:ext uri="{FF2B5EF4-FFF2-40B4-BE49-F238E27FC236}">
                <a16:creationId xmlns:a16="http://schemas.microsoft.com/office/drawing/2014/main" id="{646C58E2-3DF5-F747-AFA8-7EDB3AB7E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894749"/>
              </p:ext>
            </p:extLst>
          </p:nvPr>
        </p:nvGraphicFramePr>
        <p:xfrm>
          <a:off x="806868" y="3037867"/>
          <a:ext cx="306884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639124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3808629383"/>
                    </a:ext>
                  </a:extLst>
                </a:gridCol>
                <a:gridCol w="373803">
                  <a:extLst>
                    <a:ext uri="{9D8B030D-6E8A-4147-A177-3AD203B41FA5}">
                      <a16:colId xmlns:a16="http://schemas.microsoft.com/office/drawing/2014/main" val="2346353247"/>
                    </a:ext>
                  </a:extLst>
                </a:gridCol>
                <a:gridCol w="373803">
                  <a:extLst>
                    <a:ext uri="{9D8B030D-6E8A-4147-A177-3AD203B41FA5}">
                      <a16:colId xmlns:a16="http://schemas.microsoft.com/office/drawing/2014/main" val="2599246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26" name="Table 21">
            <a:extLst>
              <a:ext uri="{FF2B5EF4-FFF2-40B4-BE49-F238E27FC236}">
                <a16:creationId xmlns:a16="http://schemas.microsoft.com/office/drawing/2014/main" id="{2EB4347D-6081-D54B-8D3F-D5C34C8C8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959199"/>
              </p:ext>
            </p:extLst>
          </p:nvPr>
        </p:nvGraphicFramePr>
        <p:xfrm>
          <a:off x="3000932" y="3698737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Carl \0\0\0….\0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27" name="Table 21">
            <a:extLst>
              <a:ext uri="{FF2B5EF4-FFF2-40B4-BE49-F238E27FC236}">
                <a16:creationId xmlns:a16="http://schemas.microsoft.com/office/drawing/2014/main" id="{76BA9A08-E5B4-DA4A-B380-C344C3A7F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22753"/>
              </p:ext>
            </p:extLst>
          </p:nvPr>
        </p:nvGraphicFramePr>
        <p:xfrm>
          <a:off x="782186" y="3695117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Alice Munro\0\0….\0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6E6F69D-F4DA-1044-9988-9CD20B229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174039"/>
              </p:ext>
            </p:extLst>
          </p:nvPr>
        </p:nvGraphicFramePr>
        <p:xfrm>
          <a:off x="5220765" y="3702357"/>
          <a:ext cx="260115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81317">
                  <a:extLst>
                    <a:ext uri="{9D8B030D-6E8A-4147-A177-3AD203B41FA5}">
                      <a16:colId xmlns:a16="http://schemas.microsoft.com/office/drawing/2014/main" val="25161014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Bob \0\0\0….\0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34" name="Table 21">
            <a:extLst>
              <a:ext uri="{FF2B5EF4-FFF2-40B4-BE49-F238E27FC236}">
                <a16:creationId xmlns:a16="http://schemas.microsoft.com/office/drawing/2014/main" id="{A3D83CC3-A9E6-AE45-BE5E-5E6FE3646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793623"/>
              </p:ext>
            </p:extLst>
          </p:nvPr>
        </p:nvGraphicFramePr>
        <p:xfrm>
          <a:off x="781098" y="4385338"/>
          <a:ext cx="2896549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869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450869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450869">
                  <a:extLst>
                    <a:ext uri="{9D8B030D-6E8A-4147-A177-3AD203B41FA5}">
                      <a16:colId xmlns:a16="http://schemas.microsoft.com/office/drawing/2014/main" val="3808629383"/>
                    </a:ext>
                  </a:extLst>
                </a:gridCol>
                <a:gridCol w="300578">
                  <a:extLst>
                    <a:ext uri="{9D8B030D-6E8A-4147-A177-3AD203B41FA5}">
                      <a16:colId xmlns:a16="http://schemas.microsoft.com/office/drawing/2014/main" val="2346353247"/>
                    </a:ext>
                  </a:extLst>
                </a:gridCol>
                <a:gridCol w="300578">
                  <a:extLst>
                    <a:ext uri="{9D8B030D-6E8A-4147-A177-3AD203B41FA5}">
                      <a16:colId xmlns:a16="http://schemas.microsoft.com/office/drawing/2014/main" val="2599246833"/>
                    </a:ext>
                  </a:extLst>
                </a:gridCol>
                <a:gridCol w="300578">
                  <a:extLst>
                    <a:ext uri="{9D8B030D-6E8A-4147-A177-3AD203B41FA5}">
                      <a16:colId xmlns:a16="http://schemas.microsoft.com/office/drawing/2014/main" val="789191821"/>
                    </a:ext>
                  </a:extLst>
                </a:gridCol>
                <a:gridCol w="300578">
                  <a:extLst>
                    <a:ext uri="{9D8B030D-6E8A-4147-A177-3AD203B41FA5}">
                      <a16:colId xmlns:a16="http://schemas.microsoft.com/office/drawing/2014/main" val="660729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0828F69D-2F44-BE42-9BEE-6D54457CC47D}"/>
              </a:ext>
            </a:extLst>
          </p:cNvPr>
          <p:cNvSpPr txBox="1"/>
          <p:nvPr/>
        </p:nvSpPr>
        <p:spPr>
          <a:xfrm>
            <a:off x="0" y="5190235"/>
            <a:ext cx="9144000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Better sequential reads for queries that read a single column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Gives the advantage of having all fields of a row in the same page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still more I/O than pure columnar storage for some queries</a:t>
            </a:r>
          </a:p>
        </p:txBody>
      </p:sp>
    </p:spTree>
    <p:extLst>
      <p:ext uri="{BB962C8B-B14F-4D97-AF65-F5344CB8AC3E}">
        <p14:creationId xmlns:p14="http://schemas.microsoft.com/office/powerpoint/2010/main" val="272327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 animBg="1"/>
      <p:bldP spid="4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5200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High-level DBMS Architecture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 Manager and Physical File Organization Designs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Operators/Storage Interface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 Property of Storage Devices &amp; Potential Goals of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(PAX) Physical Design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Designs for Variable-length Fields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Designs for NULLs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90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Variable-length Values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085C5-F6FF-A446-A52D-7E79390F41EF}"/>
              </a:ext>
            </a:extLst>
          </p:cNvPr>
          <p:cNvSpPr txBox="1"/>
          <p:nvPr/>
        </p:nvSpPr>
        <p:spPr>
          <a:xfrm>
            <a:off x="0" y="824571"/>
            <a:ext cx="9144000" cy="404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Pages are often more complex than examples in these slides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One complexity: variable-length fields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Assume row-oriented NSM storage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Approaches to encode var-length fields, e.g., var-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strings, in pages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Delimiters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Field Offsets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Pointers to Overflow Pages</a:t>
            </a:r>
          </a:p>
        </p:txBody>
      </p:sp>
      <p:sp>
        <p:nvSpPr>
          <p:cNvPr id="3" name="Right Bracket 2">
            <a:extLst>
              <a:ext uri="{FF2B5EF4-FFF2-40B4-BE49-F238E27FC236}">
                <a16:creationId xmlns:a16="http://schemas.microsoft.com/office/drawing/2014/main" id="{95996CA0-EC3C-C546-BA14-3B26842ED4E1}"/>
              </a:ext>
            </a:extLst>
          </p:cNvPr>
          <p:cNvSpPr/>
          <p:nvPr/>
        </p:nvSpPr>
        <p:spPr>
          <a:xfrm>
            <a:off x="2533337" y="3028013"/>
            <a:ext cx="134911" cy="1094282"/>
          </a:xfrm>
          <a:prstGeom prst="rightBracket">
            <a:avLst/>
          </a:prstGeom>
          <a:ln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84698A7-1ABF-9040-9E9F-58B754DA1909}"/>
              </a:ext>
            </a:extLst>
          </p:cNvPr>
          <p:cNvCxnSpPr>
            <a:cxnSpLocks/>
            <a:stCxn id="3" idx="2"/>
          </p:cNvCxnSpPr>
          <p:nvPr/>
        </p:nvCxnSpPr>
        <p:spPr>
          <a:xfrm flipV="1">
            <a:off x="2668248" y="3464566"/>
            <a:ext cx="884420" cy="110588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829232A-70DC-C64D-8FC2-996B23B22AE7}"/>
              </a:ext>
            </a:extLst>
          </p:cNvPr>
          <p:cNvSpPr/>
          <p:nvPr/>
        </p:nvSpPr>
        <p:spPr>
          <a:xfrm>
            <a:off x="3503618" y="2734889"/>
            <a:ext cx="5696262" cy="1497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Both: </a:t>
            </a:r>
          </a:p>
          <a:p>
            <a:pPr>
              <a:lnSpc>
                <a:spcPts val="28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put first fixed-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fields and then var-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fields when encoding each row</a:t>
            </a:r>
          </a:p>
          <a:p>
            <a:pPr>
              <a:lnSpc>
                <a:spcPts val="28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(ii) require storing page-level offset of each row</a:t>
            </a:r>
          </a:p>
        </p:txBody>
      </p:sp>
    </p:spTree>
    <p:extLst>
      <p:ext uri="{BB962C8B-B14F-4D97-AF65-F5344CB8AC3E}">
        <p14:creationId xmlns:p14="http://schemas.microsoft.com/office/powerpoint/2010/main" val="116312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Delimiter Approach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14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700355-DCEB-FC46-A47E-FE3B2A32EC29}"/>
              </a:ext>
            </a:extLst>
          </p:cNvPr>
          <p:cNvSpPr/>
          <p:nvPr/>
        </p:nvSpPr>
        <p:spPr>
          <a:xfrm>
            <a:off x="1474609" y="1448724"/>
            <a:ext cx="4776290" cy="201968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21">
            <a:extLst>
              <a:ext uri="{FF2B5EF4-FFF2-40B4-BE49-F238E27FC236}">
                <a16:creationId xmlns:a16="http://schemas.microsoft.com/office/drawing/2014/main" id="{48219579-BAA0-3D4D-B84E-726CF9D8C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467537"/>
              </p:ext>
            </p:extLst>
          </p:nvPr>
        </p:nvGraphicFramePr>
        <p:xfrm>
          <a:off x="1474608" y="1713226"/>
          <a:ext cx="239617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1493837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Alice Munro\0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19" name="Table 21">
            <a:extLst>
              <a:ext uri="{FF2B5EF4-FFF2-40B4-BE49-F238E27FC236}">
                <a16:creationId xmlns:a16="http://schemas.microsoft.com/office/drawing/2014/main" id="{5326495D-3FAC-7846-AAEA-5FE0F68F29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120601"/>
              </p:ext>
            </p:extLst>
          </p:nvPr>
        </p:nvGraphicFramePr>
        <p:xfrm>
          <a:off x="4646694" y="3107243"/>
          <a:ext cx="160420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704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3821104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20" name="Table 21">
            <a:extLst>
              <a:ext uri="{FF2B5EF4-FFF2-40B4-BE49-F238E27FC236}">
                <a16:creationId xmlns:a16="http://schemas.microsoft.com/office/drawing/2014/main" id="{3742C7BD-1558-BF41-AFBA-180DDA986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986947"/>
              </p:ext>
            </p:extLst>
          </p:nvPr>
        </p:nvGraphicFramePr>
        <p:xfrm>
          <a:off x="3173525" y="2333589"/>
          <a:ext cx="294246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270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1562772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86642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A8B67E27-9A8F-D746-B0D0-F6D9E537748A}"/>
              </a:ext>
            </a:extLst>
          </p:cNvPr>
          <p:cNvSpPr txBox="1"/>
          <p:nvPr/>
        </p:nvSpPr>
        <p:spPr>
          <a:xfrm>
            <a:off x="1573967" y="3370141"/>
            <a:ext cx="4961744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i="1" dirty="0" err="1">
                <a:latin typeface="Arial" panose="020B0604020202020204" pitchFamily="34" charset="0"/>
                <a:cs typeface="Arial" panose="020B0604020202020204" pitchFamily="34" charset="0"/>
              </a:rPr>
              <a:t>customer.mkd</a:t>
            </a:r>
            <a:endParaRPr lang="en-US" sz="2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9" name="Table 21">
            <a:extLst>
              <a:ext uri="{FF2B5EF4-FFF2-40B4-BE49-F238E27FC236}">
                <a16:creationId xmlns:a16="http://schemas.microsoft.com/office/drawing/2014/main" id="{6770DDBD-2DA4-0F4A-8D8A-265403E67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209954"/>
              </p:ext>
            </p:extLst>
          </p:nvPr>
        </p:nvGraphicFramePr>
        <p:xfrm>
          <a:off x="3914706" y="1713226"/>
          <a:ext cx="172021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201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Carl\0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0" y="4085560"/>
            <a:ext cx="9127921" cy="2805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Why are page offsets at the end and fields in the beginning of pages?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grow them separately without sliding data within pages.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Advantage of storing fixed-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fields and then var-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fields: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read fixed-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fields w/ page-level offsets +arithmetic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isGoldMember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rowID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2: offset[2]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+ 8 = 35+8=43.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 need to scan over var-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fields</a:t>
            </a:r>
          </a:p>
        </p:txBody>
      </p:sp>
      <p:graphicFrame>
        <p:nvGraphicFramePr>
          <p:cNvPr id="32" name="Table 21">
            <a:extLst>
              <a:ext uri="{FF2B5EF4-FFF2-40B4-BE49-F238E27FC236}">
                <a16:creationId xmlns:a16="http://schemas.microsoft.com/office/drawing/2014/main" id="{AE5BD894-0D77-4C45-91A0-9CE45D57C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088576"/>
              </p:ext>
            </p:extLst>
          </p:nvPr>
        </p:nvGraphicFramePr>
        <p:xfrm>
          <a:off x="1474608" y="2330419"/>
          <a:ext cx="167259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05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770255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Bob\0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5C433F-1DC1-904A-B17E-283D68576B2C}"/>
              </a:ext>
            </a:extLst>
          </p:cNvPr>
          <p:cNvSpPr txBox="1"/>
          <p:nvPr/>
        </p:nvSpPr>
        <p:spPr>
          <a:xfrm>
            <a:off x="1474608" y="1439053"/>
            <a:ext cx="309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CF6A94-E855-AD42-A6D1-A2FED43A40DB}"/>
              </a:ext>
            </a:extLst>
          </p:cNvPr>
          <p:cNvSpPr txBox="1"/>
          <p:nvPr/>
        </p:nvSpPr>
        <p:spPr>
          <a:xfrm>
            <a:off x="3842541" y="1427099"/>
            <a:ext cx="45963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21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A64D80-CCDE-6147-8333-901DDF583844}"/>
              </a:ext>
            </a:extLst>
          </p:cNvPr>
          <p:cNvSpPr txBox="1"/>
          <p:nvPr/>
        </p:nvSpPr>
        <p:spPr>
          <a:xfrm>
            <a:off x="1391730" y="2065872"/>
            <a:ext cx="4749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608920-7B32-C344-A85F-2007D042136C}"/>
              </a:ext>
            </a:extLst>
          </p:cNvPr>
          <p:cNvSpPr txBox="1"/>
          <p:nvPr/>
        </p:nvSpPr>
        <p:spPr>
          <a:xfrm>
            <a:off x="3083824" y="2051864"/>
            <a:ext cx="47497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48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110F9D0-B184-2048-A55E-E30F30F77E53}"/>
              </a:ext>
            </a:extLst>
          </p:cNvPr>
          <p:cNvCxnSpPr>
            <a:cxnSpLocks/>
          </p:cNvCxnSpPr>
          <p:nvPr/>
        </p:nvCxnSpPr>
        <p:spPr>
          <a:xfrm>
            <a:off x="6250899" y="3238915"/>
            <a:ext cx="2848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355B1779-C7A1-3246-99FE-DF8C34352C24}"/>
              </a:ext>
            </a:extLst>
          </p:cNvPr>
          <p:cNvSpPr/>
          <p:nvPr/>
        </p:nvSpPr>
        <p:spPr>
          <a:xfrm>
            <a:off x="6531631" y="2953509"/>
            <a:ext cx="2207635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page-level offsets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B85390-DEF2-1D47-8355-CDEBDABC6864}"/>
              </a:ext>
            </a:extLst>
          </p:cNvPr>
          <p:cNvSpPr/>
          <p:nvPr/>
        </p:nvSpPr>
        <p:spPr>
          <a:xfrm>
            <a:off x="103268" y="752916"/>
            <a:ext cx="5169954" cy="537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Example Delimiter: \0 character</a:t>
            </a:r>
          </a:p>
        </p:txBody>
      </p:sp>
    </p:spTree>
    <p:extLst>
      <p:ext uri="{BB962C8B-B14F-4D97-AF65-F5344CB8AC3E}">
        <p14:creationId xmlns:p14="http://schemas.microsoft.com/office/powerpoint/2010/main" val="324077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Field Offsets Approach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17" name="Table 21">
            <a:extLst>
              <a:ext uri="{FF2B5EF4-FFF2-40B4-BE49-F238E27FC236}">
                <a16:creationId xmlns:a16="http://schemas.microsoft.com/office/drawing/2014/main" id="{48219579-BAA0-3D4D-B84E-726CF9D8C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288378"/>
              </p:ext>
            </p:extLst>
          </p:nvPr>
        </p:nvGraphicFramePr>
        <p:xfrm>
          <a:off x="1706574" y="3252510"/>
          <a:ext cx="5690423" cy="352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0588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415512">
                  <a:extLst>
                    <a:ext uri="{9D8B030D-6E8A-4147-A177-3AD203B41FA5}">
                      <a16:colId xmlns:a16="http://schemas.microsoft.com/office/drawing/2014/main" val="3349899810"/>
                    </a:ext>
                  </a:extLst>
                </a:gridCol>
                <a:gridCol w="449645">
                  <a:extLst>
                    <a:ext uri="{9D8B030D-6E8A-4147-A177-3AD203B41FA5}">
                      <a16:colId xmlns:a16="http://schemas.microsoft.com/office/drawing/2014/main" val="226036532"/>
                    </a:ext>
                  </a:extLst>
                </a:gridCol>
                <a:gridCol w="449645">
                  <a:extLst>
                    <a:ext uri="{9D8B030D-6E8A-4147-A177-3AD203B41FA5}">
                      <a16:colId xmlns:a16="http://schemas.microsoft.com/office/drawing/2014/main" val="339983680"/>
                    </a:ext>
                  </a:extLst>
                </a:gridCol>
                <a:gridCol w="1295779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  <a:gridCol w="2000974">
                  <a:extLst>
                    <a:ext uri="{9D8B030D-6E8A-4147-A177-3AD203B41FA5}">
                      <a16:colId xmlns:a16="http://schemas.microsoft.com/office/drawing/2014/main" val="371611251"/>
                    </a:ext>
                  </a:extLst>
                </a:gridCol>
              </a:tblGrid>
              <a:tr h="35298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Alice Munro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Univ. Ave. Waterloo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-12174" y="775678"/>
            <a:ext cx="9127921" cy="958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Suppose there is a second var-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field called address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Page structure stays same except each row would be encoded as: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011ED38-D701-0F40-85B7-3625120F6907}"/>
              </a:ext>
            </a:extLst>
          </p:cNvPr>
          <p:cNvCxnSpPr>
            <a:cxnSpLocks/>
          </p:cNvCxnSpPr>
          <p:nvPr/>
        </p:nvCxnSpPr>
        <p:spPr>
          <a:xfrm>
            <a:off x="2130118" y="3605490"/>
            <a:ext cx="0" cy="480629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2592D9-7CC6-BF44-BF72-AFC5A4EFC514}"/>
              </a:ext>
            </a:extLst>
          </p:cNvPr>
          <p:cNvCxnSpPr>
            <a:cxnSpLocks/>
          </p:cNvCxnSpPr>
          <p:nvPr/>
        </p:nvCxnSpPr>
        <p:spPr>
          <a:xfrm>
            <a:off x="2675938" y="3620168"/>
            <a:ext cx="0" cy="853526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E42DB17-68C8-7340-B22E-30E4FAF97304}"/>
              </a:ext>
            </a:extLst>
          </p:cNvPr>
          <p:cNvSpPr/>
          <p:nvPr/>
        </p:nvSpPr>
        <p:spPr>
          <a:xfrm>
            <a:off x="1663995" y="3918342"/>
            <a:ext cx="847089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cid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E9307B-8767-4C43-AA6B-DDBB71093391}"/>
              </a:ext>
            </a:extLst>
          </p:cNvPr>
          <p:cNvSpPr/>
          <p:nvPr/>
        </p:nvSpPr>
        <p:spPr>
          <a:xfrm>
            <a:off x="1694082" y="4473694"/>
            <a:ext cx="1993692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isGoldMember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614805-BED2-0C4E-B997-EFE43805918B}"/>
              </a:ext>
            </a:extLst>
          </p:cNvPr>
          <p:cNvCxnSpPr>
            <a:cxnSpLocks/>
            <a:endCxn id="39" idx="2"/>
          </p:cNvCxnSpPr>
          <p:nvPr/>
        </p:nvCxnSpPr>
        <p:spPr>
          <a:xfrm flipH="1" flipV="1">
            <a:off x="2687798" y="2771881"/>
            <a:ext cx="340216" cy="367658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B0FB66E4-FB0D-AE4B-BA0B-A56EE05F7D03}"/>
              </a:ext>
            </a:extLst>
          </p:cNvPr>
          <p:cNvSpPr/>
          <p:nvPr/>
        </p:nvSpPr>
        <p:spPr>
          <a:xfrm>
            <a:off x="1852712" y="2063995"/>
            <a:ext cx="16701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offset of name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6B734D1-3FB7-5744-AB0E-30DDD23914BB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3387777" y="2568846"/>
            <a:ext cx="729119" cy="570692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A94C436F-EFAF-9041-A385-094602072DCD}"/>
              </a:ext>
            </a:extLst>
          </p:cNvPr>
          <p:cNvSpPr/>
          <p:nvPr/>
        </p:nvSpPr>
        <p:spPr>
          <a:xfrm>
            <a:off x="3281810" y="1860960"/>
            <a:ext cx="16701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offset of address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576D492-F7DF-014A-BA68-A7B507E52D3F}"/>
              </a:ext>
            </a:extLst>
          </p:cNvPr>
          <p:cNvSpPr/>
          <p:nvPr/>
        </p:nvSpPr>
        <p:spPr>
          <a:xfrm>
            <a:off x="4668256" y="1836189"/>
            <a:ext cx="16701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end of address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3A6B283-1F8F-ED47-A258-75D17ABEB1D0}"/>
              </a:ext>
            </a:extLst>
          </p:cNvPr>
          <p:cNvCxnSpPr>
            <a:cxnSpLocks/>
          </p:cNvCxnSpPr>
          <p:nvPr/>
        </p:nvCxnSpPr>
        <p:spPr>
          <a:xfrm flipV="1">
            <a:off x="3752336" y="2563061"/>
            <a:ext cx="1614143" cy="689449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7465176-3787-B44B-A833-5619EA2515C2}"/>
              </a:ext>
            </a:extLst>
          </p:cNvPr>
          <p:cNvCxnSpPr>
            <a:cxnSpLocks/>
          </p:cNvCxnSpPr>
          <p:nvPr/>
        </p:nvCxnSpPr>
        <p:spPr>
          <a:xfrm flipH="1">
            <a:off x="4668256" y="3646294"/>
            <a:ext cx="1374" cy="439825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861061FA-4559-1942-B61E-4CCCD899B854}"/>
              </a:ext>
            </a:extLst>
          </p:cNvPr>
          <p:cNvSpPr/>
          <p:nvPr/>
        </p:nvSpPr>
        <p:spPr>
          <a:xfrm>
            <a:off x="4233593" y="4003833"/>
            <a:ext cx="1003346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9ACB067-1037-454D-A343-56898B80076E}"/>
              </a:ext>
            </a:extLst>
          </p:cNvPr>
          <p:cNvCxnSpPr>
            <a:cxnSpLocks/>
          </p:cNvCxnSpPr>
          <p:nvPr/>
        </p:nvCxnSpPr>
        <p:spPr>
          <a:xfrm flipH="1">
            <a:off x="6254203" y="3619224"/>
            <a:ext cx="1374" cy="439825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4896AAA7-BB43-9A45-B05F-F8E142F8FE77}"/>
              </a:ext>
            </a:extLst>
          </p:cNvPr>
          <p:cNvSpPr/>
          <p:nvPr/>
        </p:nvSpPr>
        <p:spPr>
          <a:xfrm>
            <a:off x="5609680" y="3976763"/>
            <a:ext cx="1405594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5F2EE5-A8EE-6441-9EDD-E701E8A857F5}"/>
              </a:ext>
            </a:extLst>
          </p:cNvPr>
          <p:cNvSpPr/>
          <p:nvPr/>
        </p:nvSpPr>
        <p:spPr>
          <a:xfrm>
            <a:off x="1596414" y="2900432"/>
            <a:ext cx="397129" cy="39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840FB70-4396-424A-8EB9-B1F138D6D083}"/>
              </a:ext>
            </a:extLst>
          </p:cNvPr>
          <p:cNvSpPr/>
          <p:nvPr/>
        </p:nvSpPr>
        <p:spPr>
          <a:xfrm>
            <a:off x="2377556" y="2900432"/>
            <a:ext cx="397129" cy="39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991DCC8-F214-9A43-82F7-F4954D2B9188}"/>
              </a:ext>
            </a:extLst>
          </p:cNvPr>
          <p:cNvSpPr/>
          <p:nvPr/>
        </p:nvSpPr>
        <p:spPr>
          <a:xfrm>
            <a:off x="2667817" y="2900432"/>
            <a:ext cx="397129" cy="39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FDC4DBA-D965-C248-B9DD-EBF712067E87}"/>
              </a:ext>
            </a:extLst>
          </p:cNvPr>
          <p:cNvSpPr/>
          <p:nvPr/>
        </p:nvSpPr>
        <p:spPr>
          <a:xfrm>
            <a:off x="3071811" y="2900432"/>
            <a:ext cx="397129" cy="39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62A5CB5-3673-F044-A16D-87B4F339DD84}"/>
              </a:ext>
            </a:extLst>
          </p:cNvPr>
          <p:cNvSpPr/>
          <p:nvPr/>
        </p:nvSpPr>
        <p:spPr>
          <a:xfrm>
            <a:off x="3479877" y="2900432"/>
            <a:ext cx="397129" cy="39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95F77DC-8158-E94E-BA16-0EECAF06ADA3}"/>
              </a:ext>
            </a:extLst>
          </p:cNvPr>
          <p:cNvSpPr/>
          <p:nvPr/>
        </p:nvSpPr>
        <p:spPr>
          <a:xfrm>
            <a:off x="3942286" y="2900432"/>
            <a:ext cx="397129" cy="39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C3112D7-8562-0246-A828-CEE6AFF00DE1}"/>
              </a:ext>
            </a:extLst>
          </p:cNvPr>
          <p:cNvSpPr/>
          <p:nvPr/>
        </p:nvSpPr>
        <p:spPr>
          <a:xfrm>
            <a:off x="5333620" y="2900432"/>
            <a:ext cx="397129" cy="395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0591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/>
      <p:bldP spid="39" grpId="0"/>
      <p:bldP spid="43" grpId="0"/>
      <p:bldP spid="44" grpId="0"/>
      <p:bldP spid="59" grpId="0"/>
      <p:bldP spid="62" grpId="0"/>
      <p:bldP spid="65" grpId="0"/>
      <p:bldP spid="66" grpId="0"/>
      <p:bldP spid="67" grpId="0"/>
      <p:bldP spid="68" grpId="0"/>
      <p:bldP spid="69" grpId="0"/>
      <p:bldP spid="70" grpId="0"/>
      <p:bldP spid="7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Overflow Pages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16</a:t>
            </a:fld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-12174" y="775678"/>
            <a:ext cx="9127921" cy="234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Keep variable length fields, in particular strings, fixed length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Any overflow points to separate overflow pages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Strings in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Graphflow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(originally by Thomas Neumann)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16 bytes fixed part with 2 possible cases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original pages are simpler;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More I/O for reading large strings</a:t>
            </a:r>
          </a:p>
        </p:txBody>
      </p:sp>
      <p:pic>
        <p:nvPicPr>
          <p:cNvPr id="7" name="Picture 6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14DE1017-3C96-0348-8321-4798F07A3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611" y="1207266"/>
            <a:ext cx="1518938" cy="1448968"/>
          </a:xfrm>
          <a:prstGeom prst="rect">
            <a:avLst/>
          </a:prstGeom>
        </p:spPr>
      </p:pic>
      <p:graphicFrame>
        <p:nvGraphicFramePr>
          <p:cNvPr id="29" name="Table 21">
            <a:extLst>
              <a:ext uri="{FF2B5EF4-FFF2-40B4-BE49-F238E27FC236}">
                <a16:creationId xmlns:a16="http://schemas.microsoft.com/office/drawing/2014/main" id="{A3C3442A-7008-324C-99A7-9A1CFB134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57703"/>
              </p:ext>
            </p:extLst>
          </p:nvPr>
        </p:nvGraphicFramePr>
        <p:xfrm>
          <a:off x="1244600" y="6116321"/>
          <a:ext cx="2024708" cy="352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1167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691684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881857">
                  <a:extLst>
                    <a:ext uri="{9D8B030D-6E8A-4147-A177-3AD203B41FA5}">
                      <a16:colId xmlns:a16="http://schemas.microsoft.com/office/drawing/2014/main" val="226036532"/>
                    </a:ext>
                  </a:extLst>
                </a:gridCol>
              </a:tblGrid>
              <a:tr h="35298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Univ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 err="1"/>
                        <a:t>ptr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32" name="Table 21">
            <a:extLst>
              <a:ext uri="{FF2B5EF4-FFF2-40B4-BE49-F238E27FC236}">
                <a16:creationId xmlns:a16="http://schemas.microsoft.com/office/drawing/2014/main" id="{D8F05D1F-FEE3-9E40-ADC2-6B6BC3CDF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400988"/>
              </p:ext>
            </p:extLst>
          </p:nvPr>
        </p:nvGraphicFramePr>
        <p:xfrm>
          <a:off x="1136524" y="4045893"/>
          <a:ext cx="1995804" cy="352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967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1493837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5298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Alice Munro\0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6185905-4A67-ED4A-8783-10C6308E8200}"/>
              </a:ext>
            </a:extLst>
          </p:cNvPr>
          <p:cNvSpPr txBox="1"/>
          <p:nvPr/>
        </p:nvSpPr>
        <p:spPr>
          <a:xfrm>
            <a:off x="1768611" y="3166317"/>
            <a:ext cx="2350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12-byte value </a:t>
            </a:r>
          </a:p>
          <a:p>
            <a:pPr algn="ctr"/>
            <a:r>
              <a:rPr lang="en-US" dirty="0"/>
              <a:t>(w/ possible padding)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AB93E2-C675-3B40-9794-600969D822F5}"/>
              </a:ext>
            </a:extLst>
          </p:cNvPr>
          <p:cNvSpPr txBox="1"/>
          <p:nvPr/>
        </p:nvSpPr>
        <p:spPr>
          <a:xfrm>
            <a:off x="956644" y="3155006"/>
            <a:ext cx="869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4-byte</a:t>
            </a:r>
          </a:p>
          <a:p>
            <a:pPr algn="ctr"/>
            <a:r>
              <a:rPr lang="en-US" dirty="0" err="1"/>
              <a:t>len</a:t>
            </a:r>
            <a:endParaRPr lang="en-US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1244EC6-72E7-E246-B2EA-4B0D582802A5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320749" y="3812648"/>
            <a:ext cx="623342" cy="135198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842862-1713-074B-A254-052E3C429404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1391359" y="3801337"/>
            <a:ext cx="0" cy="244558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1B5D031E-3B26-544A-A382-12377C522C14}"/>
              </a:ext>
            </a:extLst>
          </p:cNvPr>
          <p:cNvSpPr/>
          <p:nvPr/>
        </p:nvSpPr>
        <p:spPr>
          <a:xfrm>
            <a:off x="1377936" y="4326798"/>
            <a:ext cx="1281342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Case 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E50B11E-003B-BD44-BC73-A517060F30D3}"/>
              </a:ext>
            </a:extLst>
          </p:cNvPr>
          <p:cNvSpPr/>
          <p:nvPr/>
        </p:nvSpPr>
        <p:spPr>
          <a:xfrm>
            <a:off x="1616283" y="6324479"/>
            <a:ext cx="1281342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Case 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EF4368-A9CB-4145-8511-680A864C6BFD}"/>
              </a:ext>
            </a:extLst>
          </p:cNvPr>
          <p:cNvSpPr txBox="1"/>
          <p:nvPr/>
        </p:nvSpPr>
        <p:spPr>
          <a:xfrm>
            <a:off x="1016604" y="5122981"/>
            <a:ext cx="869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4-byte</a:t>
            </a:r>
          </a:p>
          <a:p>
            <a:pPr algn="ctr"/>
            <a:r>
              <a:rPr lang="en-US" dirty="0" err="1"/>
              <a:t>len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3DB4FEA-6525-7F40-A13F-69F15AE938AF}"/>
              </a:ext>
            </a:extLst>
          </p:cNvPr>
          <p:cNvCxnSpPr>
            <a:cxnSpLocks/>
            <a:endCxn id="49" idx="2"/>
          </p:cNvCxnSpPr>
          <p:nvPr/>
        </p:nvCxnSpPr>
        <p:spPr>
          <a:xfrm flipV="1">
            <a:off x="1451319" y="5769312"/>
            <a:ext cx="0" cy="244558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EF7596F-7639-6C4E-94EC-C825B5E49DB1}"/>
              </a:ext>
            </a:extLst>
          </p:cNvPr>
          <p:cNvSpPr txBox="1"/>
          <p:nvPr/>
        </p:nvSpPr>
        <p:spPr>
          <a:xfrm>
            <a:off x="1852222" y="5122981"/>
            <a:ext cx="869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4-char</a:t>
            </a:r>
          </a:p>
          <a:p>
            <a:pPr algn="ctr"/>
            <a:r>
              <a:rPr lang="en-US" dirty="0"/>
              <a:t>prefix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C405C0C-6B9F-0445-8608-FD259D27CB99}"/>
              </a:ext>
            </a:extLst>
          </p:cNvPr>
          <p:cNvCxnSpPr>
            <a:cxnSpLocks/>
          </p:cNvCxnSpPr>
          <p:nvPr/>
        </p:nvCxnSpPr>
        <p:spPr>
          <a:xfrm flipV="1">
            <a:off x="2124030" y="5743360"/>
            <a:ext cx="0" cy="280282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6406BFB-B8D8-C543-9993-D6419755496F}"/>
              </a:ext>
            </a:extLst>
          </p:cNvPr>
          <p:cNvSpPr txBox="1"/>
          <p:nvPr/>
        </p:nvSpPr>
        <p:spPr>
          <a:xfrm>
            <a:off x="2724155" y="4763769"/>
            <a:ext cx="1691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8-byte</a:t>
            </a:r>
          </a:p>
          <a:p>
            <a:pPr algn="ctr"/>
            <a:r>
              <a:rPr lang="en-US" dirty="0"/>
              <a:t>pointer to overflow pages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5A23448-9271-0344-9AC9-B1E1D1F79965}"/>
              </a:ext>
            </a:extLst>
          </p:cNvPr>
          <p:cNvCxnSpPr>
            <a:cxnSpLocks/>
            <a:endCxn id="53" idx="2"/>
          </p:cNvCxnSpPr>
          <p:nvPr/>
        </p:nvCxnSpPr>
        <p:spPr>
          <a:xfrm flipV="1">
            <a:off x="2871763" y="5687099"/>
            <a:ext cx="698084" cy="412045"/>
          </a:xfrm>
          <a:prstGeom prst="line">
            <a:avLst/>
          </a:prstGeom>
          <a:ln w="9525">
            <a:solidFill>
              <a:schemeClr val="tx1"/>
            </a:solidFill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98D079E-E533-7A45-97AD-6F05039A0732}"/>
              </a:ext>
            </a:extLst>
          </p:cNvPr>
          <p:cNvSpPr/>
          <p:nvPr/>
        </p:nvSpPr>
        <p:spPr>
          <a:xfrm>
            <a:off x="5401269" y="3810955"/>
            <a:ext cx="2248646" cy="22703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6" name="Table 21">
            <a:extLst>
              <a:ext uri="{FF2B5EF4-FFF2-40B4-BE49-F238E27FC236}">
                <a16:creationId xmlns:a16="http://schemas.microsoft.com/office/drawing/2014/main" id="{29BEB187-FBDF-9E43-ADBD-D4E2E1243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5527"/>
              </p:ext>
            </p:extLst>
          </p:nvPr>
        </p:nvGraphicFramePr>
        <p:xfrm>
          <a:off x="5417346" y="3825682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201828EB-934C-0B45-B665-2D9FE7466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160692"/>
              </p:ext>
            </p:extLst>
          </p:nvPr>
        </p:nvGraphicFramePr>
        <p:xfrm>
          <a:off x="5430082" y="4211249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Univ. Ave. Waterloo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93694B09-9B8C-B641-AB87-D9B38126CD64}"/>
              </a:ext>
            </a:extLst>
          </p:cNvPr>
          <p:cNvSpPr txBox="1"/>
          <p:nvPr/>
        </p:nvSpPr>
        <p:spPr>
          <a:xfrm>
            <a:off x="5802267" y="6008001"/>
            <a:ext cx="1632841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address.ovf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2" name="Table 21">
            <a:extLst>
              <a:ext uri="{FF2B5EF4-FFF2-40B4-BE49-F238E27FC236}">
                <a16:creationId xmlns:a16="http://schemas.microsoft.com/office/drawing/2014/main" id="{5C0CA959-48BE-D149-A8A1-CC433F9F6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943782"/>
              </p:ext>
            </p:extLst>
          </p:nvPr>
        </p:nvGraphicFramePr>
        <p:xfrm>
          <a:off x="5430082" y="4589321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099BFD9E-53F3-6F48-A966-B324FBC45EF1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3269308" y="4398873"/>
            <a:ext cx="2211291" cy="189393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96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3" grpId="0"/>
      <p:bldP spid="40" grpId="0"/>
      <p:bldP spid="41" grpId="0"/>
      <p:bldP spid="49" grpId="0"/>
      <p:bldP spid="51" grpId="0"/>
      <p:bldP spid="53" grpId="0"/>
      <p:bldP spid="60" grpId="0" animBg="1"/>
      <p:bldP spid="7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NULL Values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17</a:t>
            </a:fld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-12174" y="775678"/>
            <a:ext cx="9127921" cy="3266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Several possible approaches.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Store special NULL values for each data type as regular values</a:t>
            </a: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E.g.: -2^63 for 8-byte int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Store NULL bits in the page</a:t>
            </a: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Assume columnar storage and (fixed-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name can be NULL</a:t>
            </a: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 means NULL 0 means NULL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Other alternatives may be possible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003F51-52BF-C249-B95B-951B09C9B186}"/>
              </a:ext>
            </a:extLst>
          </p:cNvPr>
          <p:cNvSpPr/>
          <p:nvPr/>
        </p:nvSpPr>
        <p:spPr>
          <a:xfrm>
            <a:off x="2788100" y="4199616"/>
            <a:ext cx="2248646" cy="22703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9DF2BC-0397-774A-B588-0FA4DA6EA54D}"/>
              </a:ext>
            </a:extLst>
          </p:cNvPr>
          <p:cNvSpPr txBox="1"/>
          <p:nvPr/>
        </p:nvSpPr>
        <p:spPr>
          <a:xfrm>
            <a:off x="2683977" y="6335975"/>
            <a:ext cx="2242821" cy="456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name.mkd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Table 21">
            <a:extLst>
              <a:ext uri="{FF2B5EF4-FFF2-40B4-BE49-F238E27FC236}">
                <a16:creationId xmlns:a16="http://schemas.microsoft.com/office/drawing/2014/main" id="{4EC55D79-CDCE-274F-9B86-7CFC7BDAB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525135"/>
              </p:ext>
            </p:extLst>
          </p:nvPr>
        </p:nvGraphicFramePr>
        <p:xfrm>
          <a:off x="2803090" y="4606418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 err="1"/>
                        <a:t>xxxxxxxxxxxxxxxxxxxx</a:t>
                      </a:r>
                      <a:endParaRPr lang="en-US" sz="1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24" name="Table 21">
            <a:extLst>
              <a:ext uri="{FF2B5EF4-FFF2-40B4-BE49-F238E27FC236}">
                <a16:creationId xmlns:a16="http://schemas.microsoft.com/office/drawing/2014/main" id="{DD396B58-3D5D-5949-98DD-32320ED52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855303"/>
              </p:ext>
            </p:extLst>
          </p:nvPr>
        </p:nvGraphicFramePr>
        <p:xfrm>
          <a:off x="2804177" y="4214343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Alice Munro\0\0….\0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A898CB5-4A39-2D47-B1CE-63CCDC052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733540"/>
              </p:ext>
            </p:extLst>
          </p:nvPr>
        </p:nvGraphicFramePr>
        <p:xfrm>
          <a:off x="2803090" y="5017350"/>
          <a:ext cx="221983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9833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Bob \0\0\0….\0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graphicFrame>
        <p:nvGraphicFramePr>
          <p:cNvPr id="36" name="Table 21">
            <a:extLst>
              <a:ext uri="{FF2B5EF4-FFF2-40B4-BE49-F238E27FC236}">
                <a16:creationId xmlns:a16="http://schemas.microsoft.com/office/drawing/2014/main" id="{88DA105A-0D8F-E544-A25A-1058CA063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337976"/>
              </p:ext>
            </p:extLst>
          </p:nvPr>
        </p:nvGraphicFramePr>
        <p:xfrm>
          <a:off x="4097310" y="6099092"/>
          <a:ext cx="90308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821">
                  <a:extLst>
                    <a:ext uri="{9D8B030D-6E8A-4147-A177-3AD203B41FA5}">
                      <a16:colId xmlns:a16="http://schemas.microsoft.com/office/drawing/2014/main" val="1219927245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1727528194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264840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845446"/>
                  </a:ext>
                </a:extLst>
              </a:tr>
            </a:tbl>
          </a:graphicData>
        </a:graphic>
      </p:graphicFrame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B15C909-67FD-DE43-AD1D-748BA7C228CB}"/>
              </a:ext>
            </a:extLst>
          </p:cNvPr>
          <p:cNvCxnSpPr>
            <a:cxnSpLocks/>
          </p:cNvCxnSpPr>
          <p:nvPr/>
        </p:nvCxnSpPr>
        <p:spPr>
          <a:xfrm>
            <a:off x="5078709" y="6291005"/>
            <a:ext cx="2848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EF43D8E-E3DF-754C-80EF-303901900E04}"/>
              </a:ext>
            </a:extLst>
          </p:cNvPr>
          <p:cNvSpPr/>
          <p:nvPr/>
        </p:nvSpPr>
        <p:spPr>
          <a:xfrm>
            <a:off x="5363521" y="5970487"/>
            <a:ext cx="2207635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NULL bits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280D551-74ED-3841-B7E3-1E600FEFEEF0}"/>
              </a:ext>
            </a:extLst>
          </p:cNvPr>
          <p:cNvCxnSpPr>
            <a:cxnSpLocks/>
          </p:cNvCxnSpPr>
          <p:nvPr/>
        </p:nvCxnSpPr>
        <p:spPr>
          <a:xfrm>
            <a:off x="5048729" y="4805825"/>
            <a:ext cx="284812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DECFEF2-37EE-E64A-9B6E-1FBF0517ABD3}"/>
              </a:ext>
            </a:extLst>
          </p:cNvPr>
          <p:cNvSpPr/>
          <p:nvPr/>
        </p:nvSpPr>
        <p:spPr>
          <a:xfrm>
            <a:off x="5329461" y="4520419"/>
            <a:ext cx="2207635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arbitrary value</a:t>
            </a:r>
          </a:p>
        </p:txBody>
      </p:sp>
    </p:spTree>
    <p:extLst>
      <p:ext uri="{BB962C8B-B14F-4D97-AF65-F5344CB8AC3E}">
        <p14:creationId xmlns:p14="http://schemas.microsoft.com/office/powerpoint/2010/main" val="245715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38" grpId="0"/>
      <p:bldP spid="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Summary of Physical Data Design Alternatives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18</a:t>
            </a:fld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0" y="758856"/>
            <a:ext cx="9127921" cy="60369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High-level: row-oriented vs columnar but row-oriented can be hybrid (PAX)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Variable-length fields and fields that can be NULL require more sophisticated design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any physical design we showed, other alternatives are possible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practice physical design is principled art!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tradeoff, choices, and complications exist: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Deletions of tuples (can leave gaps in pages or shift tuples)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Fields larger than page sizes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Tuple versions (some systems, e.g., Postgres, support multiple version of tuples so users can keep track of how each record changed)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Compression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Some crazy ideas put rows from multiple tables into same pages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other designs</a:t>
            </a:r>
          </a:p>
        </p:txBody>
      </p:sp>
    </p:spTree>
    <p:extLst>
      <p:ext uri="{BB962C8B-B14F-4D97-AF65-F5344CB8AC3E}">
        <p14:creationId xmlns:p14="http://schemas.microsoft.com/office/powerpoint/2010/main" val="100339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464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 &amp; Finish Physical File Organization Designs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Row-oriented Physical Design (Recap)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(PAX) Physical Design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 for Variable-length Fields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 for NULLs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Database Indices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5 Index Designs in Increasing Level of Robustness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Indices In Practice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64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Functionality of Indices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20</a:t>
            </a:fld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0" y="758856"/>
            <a:ext cx="6520757" cy="5113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Indices are the primary mechanism to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retrieve records quickly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search records in sort order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SELECT * FROM </a:t>
            </a:r>
            <a:r>
              <a:rPr lang="en-US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Students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WHERE </a:t>
            </a:r>
            <a:r>
              <a:rPr lang="en-US" sz="2000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912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SELECT * FROM </a:t>
            </a:r>
            <a:r>
              <a:rPr lang="en-US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Students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WHERE </a:t>
            </a:r>
            <a:r>
              <a:rPr lang="en-US" sz="2000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100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Default way to find records:: sequential scans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Read each page and each record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be very slow for large tables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a file sorted on some columns: </a:t>
            </a: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now do binary search</a:t>
            </a:r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Key Question: How to do this efficiently?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F48F442-81FF-2047-AB14-E3F743FDD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704926"/>
              </p:ext>
            </p:extLst>
          </p:nvPr>
        </p:nvGraphicFramePr>
        <p:xfrm>
          <a:off x="6869878" y="1499179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123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Milhouse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142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Bart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279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345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Martin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A10B8FD-4730-F44F-B2E7-FCD2BE998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157285"/>
              </p:ext>
            </p:extLst>
          </p:nvPr>
        </p:nvGraphicFramePr>
        <p:xfrm>
          <a:off x="6869878" y="2794579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456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Ralph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512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679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Sherri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697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Terri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AACCECA-B7F9-A042-925F-FA0E180C1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755144"/>
              </p:ext>
            </p:extLst>
          </p:nvPr>
        </p:nvGraphicFramePr>
        <p:xfrm>
          <a:off x="6869878" y="4089979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912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Windel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997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4193A10-9ED7-A642-A6AD-631BAB7E1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821011"/>
              </p:ext>
            </p:extLst>
          </p:nvPr>
        </p:nvGraphicFramePr>
        <p:xfrm>
          <a:off x="6869878" y="5625921"/>
          <a:ext cx="1991043" cy="9144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708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…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…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…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E70647D-96E2-E94D-9028-DF7979B63CB6}"/>
              </a:ext>
            </a:extLst>
          </p:cNvPr>
          <p:cNvSpPr txBox="1"/>
          <p:nvPr/>
        </p:nvSpPr>
        <p:spPr>
          <a:xfrm>
            <a:off x="7443989" y="5256589"/>
            <a:ext cx="88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7AE272-DB28-464B-97D0-498E9589AB50}"/>
              </a:ext>
            </a:extLst>
          </p:cNvPr>
          <p:cNvSpPr txBox="1"/>
          <p:nvPr/>
        </p:nvSpPr>
        <p:spPr>
          <a:xfrm rot="16200000">
            <a:off x="6153955" y="1924113"/>
            <a:ext cx="88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4E8FBA-1FC2-F543-9A3D-08D6E01F8BDA}"/>
              </a:ext>
            </a:extLst>
          </p:cNvPr>
          <p:cNvSpPr txBox="1"/>
          <p:nvPr/>
        </p:nvSpPr>
        <p:spPr>
          <a:xfrm rot="16200000">
            <a:off x="6153955" y="3276599"/>
            <a:ext cx="88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1AED3D-B18C-4048-AFD0-8CD1F1C101AE}"/>
              </a:ext>
            </a:extLst>
          </p:cNvPr>
          <p:cNvSpPr txBox="1"/>
          <p:nvPr/>
        </p:nvSpPr>
        <p:spPr>
          <a:xfrm rot="16200000">
            <a:off x="6141076" y="4489155"/>
            <a:ext cx="88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704184-0984-FF45-9431-0FD36C703483}"/>
              </a:ext>
            </a:extLst>
          </p:cNvPr>
          <p:cNvSpPr txBox="1"/>
          <p:nvPr/>
        </p:nvSpPr>
        <p:spPr>
          <a:xfrm rot="16200000">
            <a:off x="6153955" y="5859775"/>
            <a:ext cx="88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 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620B0C-644D-184B-B8F6-0903AC5B6F50}"/>
              </a:ext>
            </a:extLst>
          </p:cNvPr>
          <p:cNvSpPr txBox="1"/>
          <p:nvPr/>
        </p:nvSpPr>
        <p:spPr>
          <a:xfrm>
            <a:off x="7080861" y="6488668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ECFC38C-4056-644C-A31A-A48607FD61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231452"/>
              </p:ext>
            </p:extLst>
          </p:nvPr>
        </p:nvGraphicFramePr>
        <p:xfrm>
          <a:off x="6859717" y="978582"/>
          <a:ext cx="1884680" cy="3048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ID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name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mark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64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Functionality of Indices (2)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21</a:t>
            </a:fld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0" y="758856"/>
            <a:ext cx="9015211" cy="1420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Indices: are persistent data structures that are stored along with table files that allow fast search.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 example of a simple index: can be much smaller than the original 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620B0C-644D-184B-B8F6-0903AC5B6F50}"/>
              </a:ext>
            </a:extLst>
          </p:cNvPr>
          <p:cNvSpPr txBox="1"/>
          <p:nvPr/>
        </p:nvSpPr>
        <p:spPr>
          <a:xfrm>
            <a:off x="2817310" y="6488668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91A2F2-E87A-5342-995D-0DE793A65E16}"/>
              </a:ext>
            </a:extLst>
          </p:cNvPr>
          <p:cNvSpPr txBox="1"/>
          <p:nvPr/>
        </p:nvSpPr>
        <p:spPr>
          <a:xfrm>
            <a:off x="5333403" y="5713222"/>
            <a:ext cx="1444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name.ind</a:t>
            </a:r>
            <a:endParaRPr lang="en-US" dirty="0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817EE677-35EB-6449-8AB3-CA564C2C7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84626"/>
              </p:ext>
            </p:extLst>
          </p:nvPr>
        </p:nvGraphicFramePr>
        <p:xfrm>
          <a:off x="5345805" y="2678668"/>
          <a:ext cx="1444943" cy="30480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5B9BD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5B9BD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5B9BD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Bart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Martin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Milhouse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Ralph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Sherri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Terri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Windel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2" name="Line 18">
            <a:extLst>
              <a:ext uri="{FF2B5EF4-FFF2-40B4-BE49-F238E27FC236}">
                <a16:creationId xmlns:a16="http://schemas.microsoft.com/office/drawing/2014/main" id="{0EFEDC03-8321-DC46-A144-87BD83817E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60005" y="2831068"/>
            <a:ext cx="838200" cy="3048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53" name="Line 19">
            <a:extLst>
              <a:ext uri="{FF2B5EF4-FFF2-40B4-BE49-F238E27FC236}">
                <a16:creationId xmlns:a16="http://schemas.microsoft.com/office/drawing/2014/main" id="{5FB12D48-C8F5-D049-9CAD-7D8E8304E0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60005" y="3135868"/>
            <a:ext cx="838200" cy="3048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54" name="Line 20">
            <a:extLst>
              <a:ext uri="{FF2B5EF4-FFF2-40B4-BE49-F238E27FC236}">
                <a16:creationId xmlns:a16="http://schemas.microsoft.com/office/drawing/2014/main" id="{130A8C2E-36F6-4D49-B372-28CDF1A2DD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60005" y="3440668"/>
            <a:ext cx="838200" cy="19812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55" name="Line 21">
            <a:extLst>
              <a:ext uri="{FF2B5EF4-FFF2-40B4-BE49-F238E27FC236}">
                <a16:creationId xmlns:a16="http://schemas.microsoft.com/office/drawing/2014/main" id="{D80AA6AA-33B3-2A40-BFC7-686ADCB334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60005" y="3742780"/>
            <a:ext cx="838200" cy="45719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56" name="Line 22">
            <a:extLst>
              <a:ext uri="{FF2B5EF4-FFF2-40B4-BE49-F238E27FC236}">
                <a16:creationId xmlns:a16="http://schemas.microsoft.com/office/drawing/2014/main" id="{AD8AF2EE-BACF-AE4F-957F-77D7404F158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60005" y="2831068"/>
            <a:ext cx="838200" cy="12700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57" name="Line 23">
            <a:extLst>
              <a:ext uri="{FF2B5EF4-FFF2-40B4-BE49-F238E27FC236}">
                <a16:creationId xmlns:a16="http://schemas.microsoft.com/office/drawing/2014/main" id="{B236D96D-9FEC-2E43-837E-D2C7CB11F1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60005" y="4393168"/>
            <a:ext cx="838200" cy="381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58" name="Line 24">
            <a:extLst>
              <a:ext uri="{FF2B5EF4-FFF2-40B4-BE49-F238E27FC236}">
                <a16:creationId xmlns:a16="http://schemas.microsoft.com/office/drawing/2014/main" id="{EF1E32A4-B6E7-0D41-8194-0324E8CE39E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60005" y="4126468"/>
            <a:ext cx="838200" cy="5461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59" name="Line 25">
            <a:extLst>
              <a:ext uri="{FF2B5EF4-FFF2-40B4-BE49-F238E27FC236}">
                <a16:creationId xmlns:a16="http://schemas.microsoft.com/office/drawing/2014/main" id="{A40EF794-3612-2140-BDCE-46843CC29F8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60005" y="4736068"/>
            <a:ext cx="838200" cy="2159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60" name="Line 26">
            <a:extLst>
              <a:ext uri="{FF2B5EF4-FFF2-40B4-BE49-F238E27FC236}">
                <a16:creationId xmlns:a16="http://schemas.microsoft.com/office/drawing/2014/main" id="{E8CA99FB-BA62-EF4F-BEDD-F5E54752306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60005" y="5040868"/>
            <a:ext cx="838200" cy="2032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61" name="Line 27">
            <a:extLst>
              <a:ext uri="{FF2B5EF4-FFF2-40B4-BE49-F238E27FC236}">
                <a16:creationId xmlns:a16="http://schemas.microsoft.com/office/drawing/2014/main" id="{A9BCD89C-A81E-3244-A99E-994B95C45F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60005" y="5498068"/>
            <a:ext cx="838200" cy="2286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309E6268-D47E-0A4B-A5BB-C02A016B3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516251"/>
              </p:ext>
            </p:extLst>
          </p:nvPr>
        </p:nvGraphicFramePr>
        <p:xfrm>
          <a:off x="2596167" y="2678668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123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Milhouse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142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Bart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279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345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Martin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7E1E0A61-E241-8546-8B67-BE8B35850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204948"/>
              </p:ext>
            </p:extLst>
          </p:nvPr>
        </p:nvGraphicFramePr>
        <p:xfrm>
          <a:off x="2596167" y="3974068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456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Ralph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512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679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Sherri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697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Terri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E25A2F35-A53F-E447-9C84-C4A244BE5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96059"/>
              </p:ext>
            </p:extLst>
          </p:nvPr>
        </p:nvGraphicFramePr>
        <p:xfrm>
          <a:off x="2596167" y="5269468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912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Windel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997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8" name="Line 19">
            <a:extLst>
              <a:ext uri="{FF2B5EF4-FFF2-40B4-BE49-F238E27FC236}">
                <a16:creationId xmlns:a16="http://schemas.microsoft.com/office/drawing/2014/main" id="{88D454AF-F5AC-A544-AA8C-2A6B2B4BA0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60005" y="3135867"/>
            <a:ext cx="838200" cy="2900681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</p:spTree>
    <p:extLst>
      <p:ext uri="{BB962C8B-B14F-4D97-AF65-F5344CB8AC3E}">
        <p14:creationId xmlns:p14="http://schemas.microsoft.com/office/powerpoint/2010/main" val="92639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Naïve Approach for Keeping a Table Sorted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22</a:t>
            </a:fld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-1" y="758856"/>
            <a:ext cx="8976575" cy="234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Sorting: primary technique to find things &amp; data quickly!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Once a file is sorted, we can do binary search on the pages of the file.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to keep a relation file in sorted order (e.g.,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students.mkd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)?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Assume a sequence of insertions. 2 records/page. Sort on ID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Simple/naïve approach: Shift-based (index-less) sorting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</p:spTree>
    <p:extLst>
      <p:ext uri="{BB962C8B-B14F-4D97-AF65-F5344CB8AC3E}">
        <p14:creationId xmlns:p14="http://schemas.microsoft.com/office/powerpoint/2010/main" val="3576189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Naïve Approach for Keeping a Table Sorted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F95730C-8ECA-2B41-B5B3-46C4AC172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116120"/>
              </p:ext>
            </p:extLst>
          </p:nvPr>
        </p:nvGraphicFramePr>
        <p:xfrm>
          <a:off x="4021426" y="1285051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8DAC01-4FA8-E74E-AD96-1522E9AA8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388889"/>
              </p:ext>
            </p:extLst>
          </p:nvPr>
        </p:nvGraphicFramePr>
        <p:xfrm>
          <a:off x="594997" y="1285051"/>
          <a:ext cx="2011363" cy="3048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953141873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187827719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3546626136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402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9E2E5C-A6BF-6345-9720-512B9B13600C}"/>
              </a:ext>
            </a:extLst>
          </p:cNvPr>
          <p:cNvSpPr txBox="1"/>
          <p:nvPr/>
        </p:nvSpPr>
        <p:spPr>
          <a:xfrm>
            <a:off x="594996" y="890724"/>
            <a:ext cx="2011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Insertion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2BC9DB-01D0-9E44-9198-F30DEDFB75C8}"/>
              </a:ext>
            </a:extLst>
          </p:cNvPr>
          <p:cNvSpPr txBox="1"/>
          <p:nvPr/>
        </p:nvSpPr>
        <p:spPr>
          <a:xfrm>
            <a:off x="3995667" y="906373"/>
            <a:ext cx="201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PAGES</a:t>
            </a:r>
          </a:p>
        </p:txBody>
      </p:sp>
    </p:spTree>
    <p:extLst>
      <p:ext uri="{BB962C8B-B14F-4D97-AF65-F5344CB8AC3E}">
        <p14:creationId xmlns:p14="http://schemas.microsoft.com/office/powerpoint/2010/main" val="254833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Naïve Approach for Keeping a Table Sorted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24</a:t>
            </a:fld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8DAC01-4FA8-E74E-AD96-1522E9AA8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826319"/>
              </p:ext>
            </p:extLst>
          </p:nvPr>
        </p:nvGraphicFramePr>
        <p:xfrm>
          <a:off x="594997" y="1285051"/>
          <a:ext cx="2011363" cy="3048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953141873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187827719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3546626136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512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402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9E2E5C-A6BF-6345-9720-512B9B13600C}"/>
              </a:ext>
            </a:extLst>
          </p:cNvPr>
          <p:cNvSpPr txBox="1"/>
          <p:nvPr/>
        </p:nvSpPr>
        <p:spPr>
          <a:xfrm>
            <a:off x="594996" y="890724"/>
            <a:ext cx="2011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Insertion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2BC9DB-01D0-9E44-9198-F30DEDFB75C8}"/>
              </a:ext>
            </a:extLst>
          </p:cNvPr>
          <p:cNvSpPr txBox="1"/>
          <p:nvPr/>
        </p:nvSpPr>
        <p:spPr>
          <a:xfrm>
            <a:off x="3995667" y="906373"/>
            <a:ext cx="201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PAGES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850AA1B-05D1-C642-B228-26CD52B31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036893"/>
              </p:ext>
            </p:extLst>
          </p:nvPr>
        </p:nvGraphicFramePr>
        <p:xfrm>
          <a:off x="4021426" y="1285051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279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F202EFC-3DCB-1E4A-8603-53EC28FDD93B}"/>
              </a:ext>
            </a:extLst>
          </p:cNvPr>
          <p:cNvSpPr txBox="1"/>
          <p:nvPr/>
        </p:nvSpPr>
        <p:spPr>
          <a:xfrm rot="16200000">
            <a:off x="5901853" y="13938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1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520396A-F298-654A-89CD-AE65B221A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406735"/>
              </p:ext>
            </p:extLst>
          </p:nvPr>
        </p:nvGraphicFramePr>
        <p:xfrm>
          <a:off x="4021426" y="1285051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9F7323B8-6F2C-7E4B-923F-61D917C89F30}"/>
              </a:ext>
            </a:extLst>
          </p:cNvPr>
          <p:cNvSpPr txBox="1"/>
          <p:nvPr/>
        </p:nvSpPr>
        <p:spPr>
          <a:xfrm rot="16200000">
            <a:off x="5901853" y="13938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669287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Naïve Approach for Keeping a Table Sorted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25</a:t>
            </a:fld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8DAC01-4FA8-E74E-AD96-1522E9AA8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815117"/>
              </p:ext>
            </p:extLst>
          </p:nvPr>
        </p:nvGraphicFramePr>
        <p:xfrm>
          <a:off x="594997" y="1285051"/>
          <a:ext cx="2011363" cy="3048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953141873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187827719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3546626136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279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402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9E2E5C-A6BF-6345-9720-512B9B13600C}"/>
              </a:ext>
            </a:extLst>
          </p:cNvPr>
          <p:cNvSpPr txBox="1"/>
          <p:nvPr/>
        </p:nvSpPr>
        <p:spPr>
          <a:xfrm>
            <a:off x="594996" y="890724"/>
            <a:ext cx="2011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Insertion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2BC9DB-01D0-9E44-9198-F30DEDFB75C8}"/>
              </a:ext>
            </a:extLst>
          </p:cNvPr>
          <p:cNvSpPr txBox="1"/>
          <p:nvPr/>
        </p:nvSpPr>
        <p:spPr>
          <a:xfrm>
            <a:off x="3995667" y="906373"/>
            <a:ext cx="201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178DCA5-599A-044C-A3F0-F42C0515C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08147"/>
              </p:ext>
            </p:extLst>
          </p:nvPr>
        </p:nvGraphicFramePr>
        <p:xfrm>
          <a:off x="4021426" y="1285051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279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0EBDA41-DB82-6E48-AE56-E2239BDB065B}"/>
              </a:ext>
            </a:extLst>
          </p:cNvPr>
          <p:cNvSpPr txBox="1"/>
          <p:nvPr/>
        </p:nvSpPr>
        <p:spPr>
          <a:xfrm rot="16200000">
            <a:off x="5901853" y="13938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1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1B74DB1-FB5A-AE40-B90D-757261612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081855"/>
              </p:ext>
            </p:extLst>
          </p:nvPr>
        </p:nvGraphicFramePr>
        <p:xfrm>
          <a:off x="4021426" y="1285051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512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136E3E2-29F2-274A-9CC3-7351D0A45F32}"/>
              </a:ext>
            </a:extLst>
          </p:cNvPr>
          <p:cNvSpPr txBox="1"/>
          <p:nvPr/>
        </p:nvSpPr>
        <p:spPr>
          <a:xfrm rot="16200000">
            <a:off x="5901853" y="13938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3420070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Naïve Approach for Keeping a Table Sorted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26</a:t>
            </a:fld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8DAC01-4FA8-E74E-AD96-1522E9AA8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669986"/>
              </p:ext>
            </p:extLst>
          </p:nvPr>
        </p:nvGraphicFramePr>
        <p:xfrm>
          <a:off x="594997" y="1285051"/>
          <a:ext cx="2011363" cy="3048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953141873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187827719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3546626136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912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Windel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402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9E2E5C-A6BF-6345-9720-512B9B13600C}"/>
              </a:ext>
            </a:extLst>
          </p:cNvPr>
          <p:cNvSpPr txBox="1"/>
          <p:nvPr/>
        </p:nvSpPr>
        <p:spPr>
          <a:xfrm>
            <a:off x="594996" y="890724"/>
            <a:ext cx="2011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Insertion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2BC9DB-01D0-9E44-9198-F30DEDFB75C8}"/>
              </a:ext>
            </a:extLst>
          </p:cNvPr>
          <p:cNvSpPr txBox="1"/>
          <p:nvPr/>
        </p:nvSpPr>
        <p:spPr>
          <a:xfrm>
            <a:off x="3995667" y="906373"/>
            <a:ext cx="201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DF503AD-0E88-C544-9F8E-A9AEF9CF8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220065"/>
              </p:ext>
            </p:extLst>
          </p:nvPr>
        </p:nvGraphicFramePr>
        <p:xfrm>
          <a:off x="4021426" y="1285051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279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512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442B2C5-9801-8247-A5A5-DA6C45573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827404"/>
              </p:ext>
            </p:extLst>
          </p:nvPr>
        </p:nvGraphicFramePr>
        <p:xfrm>
          <a:off x="4008547" y="2113727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0FC43A6-71E6-414F-AF9C-16C28F56BBB2}"/>
              </a:ext>
            </a:extLst>
          </p:cNvPr>
          <p:cNvSpPr txBox="1"/>
          <p:nvPr/>
        </p:nvSpPr>
        <p:spPr>
          <a:xfrm rot="16200000">
            <a:off x="5901853" y="13938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B9759-0AF4-F14E-806B-EE6558F4975F}"/>
              </a:ext>
            </a:extLst>
          </p:cNvPr>
          <p:cNvSpPr txBox="1"/>
          <p:nvPr/>
        </p:nvSpPr>
        <p:spPr>
          <a:xfrm rot="16200000">
            <a:off x="5901853" y="2195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006733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Naïve Approach for Keeping a Table Sorted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27</a:t>
            </a:fld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8DAC01-4FA8-E74E-AD96-1522E9AA8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914551"/>
              </p:ext>
            </p:extLst>
          </p:nvPr>
        </p:nvGraphicFramePr>
        <p:xfrm>
          <a:off x="594997" y="1285051"/>
          <a:ext cx="2011363" cy="3048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953141873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187827719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3546626136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345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Martin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402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9E2E5C-A6BF-6345-9720-512B9B13600C}"/>
              </a:ext>
            </a:extLst>
          </p:cNvPr>
          <p:cNvSpPr txBox="1"/>
          <p:nvPr/>
        </p:nvSpPr>
        <p:spPr>
          <a:xfrm>
            <a:off x="594996" y="890724"/>
            <a:ext cx="2011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Insertion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2BC9DB-01D0-9E44-9198-F30DEDFB75C8}"/>
              </a:ext>
            </a:extLst>
          </p:cNvPr>
          <p:cNvSpPr txBox="1"/>
          <p:nvPr/>
        </p:nvSpPr>
        <p:spPr>
          <a:xfrm>
            <a:off x="3995667" y="906373"/>
            <a:ext cx="201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B3F2F2E-F149-B746-BF7D-BFA695450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727848"/>
              </p:ext>
            </p:extLst>
          </p:nvPr>
        </p:nvGraphicFramePr>
        <p:xfrm>
          <a:off x="4021426" y="1285051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279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512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6F304CF-1BE4-A04C-A2A4-EF72B758A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238828"/>
              </p:ext>
            </p:extLst>
          </p:nvPr>
        </p:nvGraphicFramePr>
        <p:xfrm>
          <a:off x="4008547" y="2113727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912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Windel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D4B6C3E-8F9D-AE48-A0C6-C2EE47D3FA41}"/>
              </a:ext>
            </a:extLst>
          </p:cNvPr>
          <p:cNvSpPr txBox="1"/>
          <p:nvPr/>
        </p:nvSpPr>
        <p:spPr>
          <a:xfrm rot="16200000">
            <a:off x="5901853" y="13938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CB81E9-3786-BF44-88F5-BADF5A51F0E8}"/>
              </a:ext>
            </a:extLst>
          </p:cNvPr>
          <p:cNvSpPr txBox="1"/>
          <p:nvPr/>
        </p:nvSpPr>
        <p:spPr>
          <a:xfrm rot="16200000">
            <a:off x="5901853" y="2195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2713523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Naïve Approach for Keeping a Table Sorted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28</a:t>
            </a:fld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8DAC01-4FA8-E74E-AD96-1522E9AA8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95123"/>
              </p:ext>
            </p:extLst>
          </p:nvPr>
        </p:nvGraphicFramePr>
        <p:xfrm>
          <a:off x="594997" y="1285051"/>
          <a:ext cx="2011363" cy="3048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953141873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187827719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3546626136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697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Terri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402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9E2E5C-A6BF-6345-9720-512B9B13600C}"/>
              </a:ext>
            </a:extLst>
          </p:cNvPr>
          <p:cNvSpPr txBox="1"/>
          <p:nvPr/>
        </p:nvSpPr>
        <p:spPr>
          <a:xfrm>
            <a:off x="594996" y="890724"/>
            <a:ext cx="2011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Insertion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2BC9DB-01D0-9E44-9198-F30DEDFB75C8}"/>
              </a:ext>
            </a:extLst>
          </p:cNvPr>
          <p:cNvSpPr txBox="1"/>
          <p:nvPr/>
        </p:nvSpPr>
        <p:spPr>
          <a:xfrm>
            <a:off x="3995667" y="906373"/>
            <a:ext cx="201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60CC0C6-543D-3B43-97DE-172E3BE80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159419"/>
              </p:ext>
            </p:extLst>
          </p:nvPr>
        </p:nvGraphicFramePr>
        <p:xfrm>
          <a:off x="4021426" y="1285051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279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345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Martin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70D4BEB-B1DF-094B-9EFF-FF9736116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682677"/>
              </p:ext>
            </p:extLst>
          </p:nvPr>
        </p:nvGraphicFramePr>
        <p:xfrm>
          <a:off x="4021426" y="2113727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512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277758F-DECB-4843-AB1F-24A485AD6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583894"/>
              </p:ext>
            </p:extLst>
          </p:nvPr>
        </p:nvGraphicFramePr>
        <p:xfrm>
          <a:off x="4021426" y="2887598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912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Windel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3B9DB84-750E-CF4F-B14A-08A7DC6C9582}"/>
              </a:ext>
            </a:extLst>
          </p:cNvPr>
          <p:cNvSpPr txBox="1"/>
          <p:nvPr/>
        </p:nvSpPr>
        <p:spPr>
          <a:xfrm rot="16200000">
            <a:off x="5901853" y="13938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DA9B00-89D6-7645-A164-361DB8FE2A3C}"/>
              </a:ext>
            </a:extLst>
          </p:cNvPr>
          <p:cNvSpPr txBox="1"/>
          <p:nvPr/>
        </p:nvSpPr>
        <p:spPr>
          <a:xfrm rot="16200000">
            <a:off x="5901853" y="2195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631F14-9321-A34E-B95E-69A82034DF9C}"/>
              </a:ext>
            </a:extLst>
          </p:cNvPr>
          <p:cNvSpPr txBox="1"/>
          <p:nvPr/>
        </p:nvSpPr>
        <p:spPr>
          <a:xfrm rot="16200000">
            <a:off x="5901853" y="300514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2439669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Naïve Approach for Keeping a Table Sorted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29</a:t>
            </a:fld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8DAC01-4FA8-E74E-AD96-1522E9AA8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568372"/>
              </p:ext>
            </p:extLst>
          </p:nvPr>
        </p:nvGraphicFramePr>
        <p:xfrm>
          <a:off x="594997" y="1285051"/>
          <a:ext cx="2011363" cy="3048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953141873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187827719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3546626136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123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Milhouse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4402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9E2E5C-A6BF-6345-9720-512B9B13600C}"/>
              </a:ext>
            </a:extLst>
          </p:cNvPr>
          <p:cNvSpPr txBox="1"/>
          <p:nvPr/>
        </p:nvSpPr>
        <p:spPr>
          <a:xfrm>
            <a:off x="594996" y="890724"/>
            <a:ext cx="2011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Insertion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2BC9DB-01D0-9E44-9198-F30DEDFB75C8}"/>
              </a:ext>
            </a:extLst>
          </p:cNvPr>
          <p:cNvSpPr txBox="1"/>
          <p:nvPr/>
        </p:nvSpPr>
        <p:spPr>
          <a:xfrm>
            <a:off x="3995667" y="906373"/>
            <a:ext cx="201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4ED9EA5-4227-7740-B9EF-968316F69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711902"/>
              </p:ext>
            </p:extLst>
          </p:nvPr>
        </p:nvGraphicFramePr>
        <p:xfrm>
          <a:off x="4021426" y="1285051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279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345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Martin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7D85A23-4A23-0A4C-AC30-0B0A1A315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356247"/>
              </p:ext>
            </p:extLst>
          </p:nvPr>
        </p:nvGraphicFramePr>
        <p:xfrm>
          <a:off x="4021426" y="2113727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512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697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Terri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E890E0F-D83A-664A-8F37-9A577FAEB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683916"/>
              </p:ext>
            </p:extLst>
          </p:nvPr>
        </p:nvGraphicFramePr>
        <p:xfrm>
          <a:off x="4021426" y="2887598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912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Windel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2CD1AAB-844D-0446-B429-7924800483FB}"/>
              </a:ext>
            </a:extLst>
          </p:cNvPr>
          <p:cNvSpPr txBox="1"/>
          <p:nvPr/>
        </p:nvSpPr>
        <p:spPr>
          <a:xfrm rot="16200000">
            <a:off x="5901853" y="13938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928B10-A966-4549-863C-9457C92274D3}"/>
              </a:ext>
            </a:extLst>
          </p:cNvPr>
          <p:cNvSpPr txBox="1"/>
          <p:nvPr/>
        </p:nvSpPr>
        <p:spPr>
          <a:xfrm rot="16200000">
            <a:off x="5901853" y="2195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AC9CC6-A285-6341-9874-1669A9ED6ABD}"/>
              </a:ext>
            </a:extLst>
          </p:cNvPr>
          <p:cNvSpPr txBox="1"/>
          <p:nvPr/>
        </p:nvSpPr>
        <p:spPr>
          <a:xfrm rot="16200000">
            <a:off x="5901853" y="300514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1120082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Naïve Approach for Keeping a Table Sorted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F95730C-8ECA-2B41-B5B3-46C4AC172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498420"/>
              </p:ext>
            </p:extLst>
          </p:nvPr>
        </p:nvGraphicFramePr>
        <p:xfrm>
          <a:off x="4021426" y="1285051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123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Milhouse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279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9E2E5C-A6BF-6345-9720-512B9B13600C}"/>
              </a:ext>
            </a:extLst>
          </p:cNvPr>
          <p:cNvSpPr txBox="1"/>
          <p:nvPr/>
        </p:nvSpPr>
        <p:spPr>
          <a:xfrm>
            <a:off x="594996" y="890724"/>
            <a:ext cx="2011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Next Insertion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2BC9DB-01D0-9E44-9198-F30DEDFB75C8}"/>
              </a:ext>
            </a:extLst>
          </p:cNvPr>
          <p:cNvSpPr txBox="1"/>
          <p:nvPr/>
        </p:nvSpPr>
        <p:spPr>
          <a:xfrm>
            <a:off x="3995667" y="906373"/>
            <a:ext cx="201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PAGES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FE1E99B-2441-AD49-9DC3-9E8504F13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367494"/>
              </p:ext>
            </p:extLst>
          </p:nvPr>
        </p:nvGraphicFramePr>
        <p:xfrm>
          <a:off x="4021426" y="2113727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345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Martin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512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7BBE69A-D2A4-AA43-A3FE-5636F889B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954459"/>
              </p:ext>
            </p:extLst>
          </p:nvPr>
        </p:nvGraphicFramePr>
        <p:xfrm>
          <a:off x="4021426" y="2887598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697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Terri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7AE4C6C-C1DE-1943-BAA8-985B7D0DB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404776"/>
              </p:ext>
            </p:extLst>
          </p:nvPr>
        </p:nvGraphicFramePr>
        <p:xfrm>
          <a:off x="4021426" y="3697762"/>
          <a:ext cx="2011363" cy="6096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912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Windel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06CCA91-BBCA-7F48-8F96-EADF6990BA81}"/>
              </a:ext>
            </a:extLst>
          </p:cNvPr>
          <p:cNvSpPr txBox="1"/>
          <p:nvPr/>
        </p:nvSpPr>
        <p:spPr>
          <a:xfrm rot="16200000">
            <a:off x="5901853" y="139389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F73BDA-D33A-4F4A-8619-0F79A70350F1}"/>
              </a:ext>
            </a:extLst>
          </p:cNvPr>
          <p:cNvSpPr txBox="1"/>
          <p:nvPr/>
        </p:nvSpPr>
        <p:spPr>
          <a:xfrm rot="16200000">
            <a:off x="5901853" y="2195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D4C24B-95AC-DD4B-BEFA-17F46D489E12}"/>
              </a:ext>
            </a:extLst>
          </p:cNvPr>
          <p:cNvSpPr txBox="1"/>
          <p:nvPr/>
        </p:nvSpPr>
        <p:spPr>
          <a:xfrm rot="16200000">
            <a:off x="5901853" y="3005146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538E25-54FF-8C42-9F53-A5D37708FDBB}"/>
              </a:ext>
            </a:extLst>
          </p:cNvPr>
          <p:cNvSpPr txBox="1"/>
          <p:nvPr/>
        </p:nvSpPr>
        <p:spPr>
          <a:xfrm rot="16200000">
            <a:off x="5901853" y="3789309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pg</a:t>
            </a:r>
            <a:r>
              <a:rPr lang="en-US" dirty="0"/>
              <a:t> 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21039-B33F-644C-A27D-E6C7ADC8455F}"/>
              </a:ext>
            </a:extLst>
          </p:cNvPr>
          <p:cNvSpPr/>
          <p:nvPr/>
        </p:nvSpPr>
        <p:spPr>
          <a:xfrm>
            <a:off x="0" y="4312002"/>
            <a:ext cx="8976575" cy="1881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Very simple to implement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Each insertion could require up to 2xb many I/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(to read and right pages) if the table has b pages.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Will not scale. Not practical.</a:t>
            </a:r>
          </a:p>
        </p:txBody>
      </p:sp>
    </p:spTree>
    <p:extLst>
      <p:ext uri="{BB962C8B-B14F-4D97-AF65-F5344CB8AC3E}">
        <p14:creationId xmlns:p14="http://schemas.microsoft.com/office/powerpoint/2010/main" val="368797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3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 Approach: Single-level Dense Index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31</a:t>
            </a:fld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21039-B33F-644C-A27D-E6C7ADC8455F}"/>
              </a:ext>
            </a:extLst>
          </p:cNvPr>
          <p:cNvSpPr/>
          <p:nvPr/>
        </p:nvSpPr>
        <p:spPr>
          <a:xfrm>
            <a:off x="-78179" y="660123"/>
            <a:ext cx="4781994" cy="557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Lookup: find the record in index &amp; follow pointer (page &amp; offset)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index file is disk-based: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Same problem as naïve solution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But at a smaller scale b/c the index is smaller (a projection).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index is in memory: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Optimal I/O. Only store the record in the relation file but no sorting (called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unclustered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index)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99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Con: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Index cannot get very large.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2708BE-C6E6-B54C-8BE6-FFE1D25B077F}"/>
              </a:ext>
            </a:extLst>
          </p:cNvPr>
          <p:cNvSpPr txBox="1"/>
          <p:nvPr/>
        </p:nvSpPr>
        <p:spPr>
          <a:xfrm>
            <a:off x="4979510" y="4682721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EC400C-9283-314A-9CE9-E3B8883A5216}"/>
              </a:ext>
            </a:extLst>
          </p:cNvPr>
          <p:cNvSpPr txBox="1"/>
          <p:nvPr/>
        </p:nvSpPr>
        <p:spPr>
          <a:xfrm>
            <a:off x="7012408" y="4071335"/>
            <a:ext cx="226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name.idx</a:t>
            </a:r>
            <a:endParaRPr lang="en-US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E0A2A17-A7D0-5042-B62F-F40BB6B74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265778"/>
              </p:ext>
            </p:extLst>
          </p:nvPr>
        </p:nvGraphicFramePr>
        <p:xfrm>
          <a:off x="7399663" y="872721"/>
          <a:ext cx="1444943" cy="30480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5B9BD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5B9BD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5B9BD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Bart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Martin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Milhouse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Ralph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Sherri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Terri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Windel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" name="Line 18">
            <a:extLst>
              <a:ext uri="{FF2B5EF4-FFF2-40B4-BE49-F238E27FC236}">
                <a16:creationId xmlns:a16="http://schemas.microsoft.com/office/drawing/2014/main" id="{86A2DC5B-1DEA-2C42-8682-E3E6557024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13863" y="1025121"/>
            <a:ext cx="838200" cy="3048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25" name="Line 19">
            <a:extLst>
              <a:ext uri="{FF2B5EF4-FFF2-40B4-BE49-F238E27FC236}">
                <a16:creationId xmlns:a16="http://schemas.microsoft.com/office/drawing/2014/main" id="{EF264335-F87A-E74A-9C09-1D2D8D646C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13863" y="1329921"/>
            <a:ext cx="838200" cy="3048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26" name="Line 20">
            <a:extLst>
              <a:ext uri="{FF2B5EF4-FFF2-40B4-BE49-F238E27FC236}">
                <a16:creationId xmlns:a16="http://schemas.microsoft.com/office/drawing/2014/main" id="{7C22DF5F-9B2C-B848-8DE4-1789B2C842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13863" y="1634721"/>
            <a:ext cx="838200" cy="19812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29" name="Line 21">
            <a:extLst>
              <a:ext uri="{FF2B5EF4-FFF2-40B4-BE49-F238E27FC236}">
                <a16:creationId xmlns:a16="http://schemas.microsoft.com/office/drawing/2014/main" id="{B577995F-86CA-1B4A-940F-14AF0DF9CA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13863" y="1936833"/>
            <a:ext cx="838200" cy="45719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30" name="Line 22">
            <a:extLst>
              <a:ext uri="{FF2B5EF4-FFF2-40B4-BE49-F238E27FC236}">
                <a16:creationId xmlns:a16="http://schemas.microsoft.com/office/drawing/2014/main" id="{4C6105DA-B5AA-664A-AC6F-A3CA33D59B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13863" y="1025121"/>
            <a:ext cx="838200" cy="12700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31" name="Line 23">
            <a:extLst>
              <a:ext uri="{FF2B5EF4-FFF2-40B4-BE49-F238E27FC236}">
                <a16:creationId xmlns:a16="http://schemas.microsoft.com/office/drawing/2014/main" id="{085FF666-7BE3-F246-B86F-1798CB3C5A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13863" y="2587221"/>
            <a:ext cx="838200" cy="381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32" name="Line 24">
            <a:extLst>
              <a:ext uri="{FF2B5EF4-FFF2-40B4-BE49-F238E27FC236}">
                <a16:creationId xmlns:a16="http://schemas.microsoft.com/office/drawing/2014/main" id="{1184881E-2602-9A4E-A8EE-3AF7458EA15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13863" y="2320521"/>
            <a:ext cx="838200" cy="5461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33" name="Line 25">
            <a:extLst>
              <a:ext uri="{FF2B5EF4-FFF2-40B4-BE49-F238E27FC236}">
                <a16:creationId xmlns:a16="http://schemas.microsoft.com/office/drawing/2014/main" id="{3E9E1B46-3E17-1143-9DB6-357F1B447F2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13863" y="2930121"/>
            <a:ext cx="838200" cy="2159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35" name="Line 26">
            <a:extLst>
              <a:ext uri="{FF2B5EF4-FFF2-40B4-BE49-F238E27FC236}">
                <a16:creationId xmlns:a16="http://schemas.microsoft.com/office/drawing/2014/main" id="{70CCAF98-855A-7B49-BCFB-E36FEDD750D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13863" y="3234921"/>
            <a:ext cx="838200" cy="2032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sp>
        <p:nvSpPr>
          <p:cNvPr id="36" name="Line 27">
            <a:extLst>
              <a:ext uri="{FF2B5EF4-FFF2-40B4-BE49-F238E27FC236}">
                <a16:creationId xmlns:a16="http://schemas.microsoft.com/office/drawing/2014/main" id="{A8081441-209C-9940-93C2-FCDF822CBD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13863" y="3692121"/>
            <a:ext cx="838200" cy="228600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CB786F1-915E-1F43-9BEE-948FEE83A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501187"/>
              </p:ext>
            </p:extLst>
          </p:nvPr>
        </p:nvGraphicFramePr>
        <p:xfrm>
          <a:off x="4650025" y="872721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123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Milhouse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142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Bart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279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345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Martin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F5E749C1-A632-8B44-B77A-28303D855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929387"/>
              </p:ext>
            </p:extLst>
          </p:nvPr>
        </p:nvGraphicFramePr>
        <p:xfrm>
          <a:off x="4650025" y="2168121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456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Ralph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512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679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Sherri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697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Terri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F5619FC8-D976-A249-B905-A0F862280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120688"/>
              </p:ext>
            </p:extLst>
          </p:nvPr>
        </p:nvGraphicFramePr>
        <p:xfrm>
          <a:off x="4650025" y="3463521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912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Windel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997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Line 19">
            <a:extLst>
              <a:ext uri="{FF2B5EF4-FFF2-40B4-BE49-F238E27FC236}">
                <a16:creationId xmlns:a16="http://schemas.microsoft.com/office/drawing/2014/main" id="{86B69F81-E03B-0941-9745-98B582C725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13863" y="1329920"/>
            <a:ext cx="838200" cy="2900681"/>
          </a:xfrm>
          <a:prstGeom prst="line">
            <a:avLst/>
          </a:prstGeom>
          <a:noFill/>
          <a:ln w="25400">
            <a:solidFill>
              <a:srgbClr val="4472C4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</a:endParaRPr>
          </a:p>
        </p:txBody>
      </p:sp>
    </p:spTree>
    <p:extLst>
      <p:ext uri="{BB962C8B-B14F-4D97-AF65-F5344CB8AC3E}">
        <p14:creationId xmlns:p14="http://schemas.microsoft.com/office/powerpoint/2010/main" val="107172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Approach: Single-level Sparse Index w/ Overflows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32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21039-B33F-644C-A27D-E6C7ADC8455F}"/>
              </a:ext>
            </a:extLst>
          </p:cNvPr>
          <p:cNvSpPr/>
          <p:nvPr/>
        </p:nvSpPr>
        <p:spPr>
          <a:xfrm>
            <a:off x="16077" y="721289"/>
            <a:ext cx="9144000" cy="234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Suppose the sort column keys have a relatively stable domain and the table is not expected to grow significantly.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do an initial sort upon data ingestion and keep a sparse-index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Below: Just showing the sort column not entire rows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Lookup: Find page, follow pointer, scan page (&amp; overflow pages (soon))</a:t>
            </a:r>
          </a:p>
        </p:txBody>
      </p:sp>
      <p:grpSp>
        <p:nvGrpSpPr>
          <p:cNvPr id="45" name="Group 36">
            <a:extLst>
              <a:ext uri="{FF2B5EF4-FFF2-40B4-BE49-F238E27FC236}">
                <a16:creationId xmlns:a16="http://schemas.microsoft.com/office/drawing/2014/main" id="{9ECD2B40-18ED-2244-9348-DF45B2B7908F}"/>
              </a:ext>
            </a:extLst>
          </p:cNvPr>
          <p:cNvGrpSpPr>
            <a:grpSpLocks/>
          </p:cNvGrpSpPr>
          <p:nvPr/>
        </p:nvGrpSpPr>
        <p:grpSpPr bwMode="auto">
          <a:xfrm>
            <a:off x="248702" y="3088366"/>
            <a:ext cx="7332663" cy="1227138"/>
            <a:chOff x="181" y="2635"/>
            <a:chExt cx="4619" cy="773"/>
          </a:xfrm>
        </p:grpSpPr>
        <p:sp>
          <p:nvSpPr>
            <p:cNvPr id="46" name="Rectangle 19">
              <a:extLst>
                <a:ext uri="{FF2B5EF4-FFF2-40B4-BE49-F238E27FC236}">
                  <a16:creationId xmlns:a16="http://schemas.microsoft.com/office/drawing/2014/main" id="{B2F080E5-EEA1-6148-A946-FA7EF53DC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832"/>
              <a:ext cx="965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100, 123, 192, 200</a:t>
              </a:r>
            </a:p>
          </p:txBody>
        </p:sp>
        <p:sp>
          <p:nvSpPr>
            <p:cNvPr id="47" name="Rectangle 20">
              <a:extLst>
                <a:ext uri="{FF2B5EF4-FFF2-40B4-BE49-F238E27FC236}">
                  <a16:creationId xmlns:a16="http://schemas.microsoft.com/office/drawing/2014/main" id="{A352B535-FE02-4E40-84D9-E7881F6F0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2832"/>
              <a:ext cx="86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901, 996</a:t>
              </a:r>
            </a:p>
          </p:txBody>
        </p:sp>
        <p:sp>
          <p:nvSpPr>
            <p:cNvPr id="49" name="Line 22">
              <a:extLst>
                <a:ext uri="{FF2B5EF4-FFF2-40B4-BE49-F238E27FC236}">
                  <a16:creationId xmlns:a16="http://schemas.microsoft.com/office/drawing/2014/main" id="{A6101A8F-2E58-9A45-9B26-6DDDC43E62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3052"/>
              <a:ext cx="168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23">
              <a:extLst>
                <a:ext uri="{FF2B5EF4-FFF2-40B4-BE49-F238E27FC236}">
                  <a16:creationId xmlns:a16="http://schemas.microsoft.com/office/drawing/2014/main" id="{5BD3B688-06A1-954B-A3B4-A5BB5B15F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3052"/>
              <a:ext cx="1091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24">
              <a:extLst>
                <a:ext uri="{FF2B5EF4-FFF2-40B4-BE49-F238E27FC236}">
                  <a16:creationId xmlns:a16="http://schemas.microsoft.com/office/drawing/2014/main" id="{BEA8091F-F35F-C847-A57A-005EF9D34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7" y="3014"/>
              <a:ext cx="274" cy="3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26">
              <a:extLst>
                <a:ext uri="{FF2B5EF4-FFF2-40B4-BE49-F238E27FC236}">
                  <a16:creationId xmlns:a16="http://schemas.microsoft.com/office/drawing/2014/main" id="{E72CE486-A2EB-D24A-B038-F6CD7660D9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052"/>
              <a:ext cx="1248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Box 27">
              <a:extLst>
                <a:ext uri="{FF2B5EF4-FFF2-40B4-BE49-F238E27FC236}">
                  <a16:creationId xmlns:a16="http://schemas.microsoft.com/office/drawing/2014/main" id="{0AF408FE-40FB-D744-8F42-3450C9D83D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" y="2635"/>
              <a:ext cx="923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latin typeface="+mn-lt"/>
                </a:rPr>
                <a:t>Sparse Index pages</a:t>
              </a:r>
            </a:p>
          </p:txBody>
        </p:sp>
        <p:sp>
          <p:nvSpPr>
            <p:cNvPr id="56" name="Line 33">
              <a:extLst>
                <a:ext uri="{FF2B5EF4-FFF2-40B4-BE49-F238E27FC236}">
                  <a16:creationId xmlns:a16="http://schemas.microsoft.com/office/drawing/2014/main" id="{030E23B1-86E1-AA4A-AB52-9A7BF80B4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3052"/>
              <a:ext cx="64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35">
            <a:extLst>
              <a:ext uri="{FF2B5EF4-FFF2-40B4-BE49-F238E27FC236}">
                <a16:creationId xmlns:a16="http://schemas.microsoft.com/office/drawing/2014/main" id="{7CAF65D4-B290-A548-9234-49B29B84EA43}"/>
              </a:ext>
            </a:extLst>
          </p:cNvPr>
          <p:cNvGrpSpPr>
            <a:grpSpLocks/>
          </p:cNvGrpSpPr>
          <p:nvPr/>
        </p:nvGrpSpPr>
        <p:grpSpPr bwMode="auto">
          <a:xfrm>
            <a:off x="342364" y="4315498"/>
            <a:ext cx="8382000" cy="685800"/>
            <a:chOff x="240" y="3408"/>
            <a:chExt cx="5280" cy="432"/>
          </a:xfrm>
        </p:grpSpPr>
        <p:sp>
          <p:nvSpPr>
            <p:cNvPr id="58" name="Rectangle 5">
              <a:extLst>
                <a:ext uri="{FF2B5EF4-FFF2-40B4-BE49-F238E27FC236}">
                  <a16:creationId xmlns:a16="http://schemas.microsoft.com/office/drawing/2014/main" id="{0DE8605F-BB88-654C-A201-990BA8A2D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100, 108,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119, 121</a:t>
              </a:r>
            </a:p>
          </p:txBody>
        </p:sp>
        <p:sp>
          <p:nvSpPr>
            <p:cNvPr id="59" name="Rectangle 6">
              <a:extLst>
                <a:ext uri="{FF2B5EF4-FFF2-40B4-BE49-F238E27FC236}">
                  <a16:creationId xmlns:a16="http://schemas.microsoft.com/office/drawing/2014/main" id="{1AFED22F-CCE8-9D4A-9F82-CC4DAA44E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123, 129,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0" name="Rectangle 7">
              <a:extLst>
                <a:ext uri="{FF2B5EF4-FFF2-40B4-BE49-F238E27FC236}">
                  <a16:creationId xmlns:a16="http://schemas.microsoft.com/office/drawing/2014/main" id="{BA30DAD2-C865-AE45-873E-81372AB1A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901, 907,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1" name="Rectangle 8">
              <a:extLst>
                <a:ext uri="{FF2B5EF4-FFF2-40B4-BE49-F238E27FC236}">
                  <a16:creationId xmlns:a16="http://schemas.microsoft.com/office/drawing/2014/main" id="{F7608E2C-8FA4-854B-A847-33D69B4A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996, 997,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8" name="Rectangle 13">
              <a:extLst>
                <a:ext uri="{FF2B5EF4-FFF2-40B4-BE49-F238E27FC236}">
                  <a16:creationId xmlns:a16="http://schemas.microsoft.com/office/drawing/2014/main" id="{B210888A-0499-864D-9DA0-9DB85091C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192, 197,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9" name="Rectangle 34">
              <a:extLst>
                <a:ext uri="{FF2B5EF4-FFF2-40B4-BE49-F238E27FC236}">
                  <a16:creationId xmlns:a16="http://schemas.microsoft.com/office/drawing/2014/main" id="{7B9C1E56-6C07-A040-94A6-D6A112323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200, 202,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</p:grpSp>
      <p:sp>
        <p:nvSpPr>
          <p:cNvPr id="72" name="Line 40">
            <a:extLst>
              <a:ext uri="{FF2B5EF4-FFF2-40B4-BE49-F238E27FC236}">
                <a16:creationId xmlns:a16="http://schemas.microsoft.com/office/drawing/2014/main" id="{7DFAAAEF-A7A3-F147-8587-9AD70B6FCB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61764" y="3690029"/>
            <a:ext cx="484188" cy="62547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F36F37-FB51-5E4E-A4F0-F781181522A1}"/>
              </a:ext>
            </a:extLst>
          </p:cNvPr>
          <p:cNvSpPr txBox="1"/>
          <p:nvPr/>
        </p:nvSpPr>
        <p:spPr>
          <a:xfrm rot="16200000">
            <a:off x="8123460" y="4456114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F499D50-D740-6246-A5B9-C32EC1E6A07E}"/>
              </a:ext>
            </a:extLst>
          </p:cNvPr>
          <p:cNvSpPr txBox="1"/>
          <p:nvPr/>
        </p:nvSpPr>
        <p:spPr>
          <a:xfrm rot="16200000">
            <a:off x="6070400" y="3391063"/>
            <a:ext cx="106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ID.ind</a:t>
            </a:r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3BA11F9-DC77-4941-A02C-E526E9C4D8E5}"/>
              </a:ext>
            </a:extLst>
          </p:cNvPr>
          <p:cNvSpPr/>
          <p:nvPr/>
        </p:nvSpPr>
        <p:spPr>
          <a:xfrm>
            <a:off x="-51336" y="5413283"/>
            <a:ext cx="9144000" cy="1420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Need the data pages sorted (called clustered index)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Advantage over dense index: much smaller (can be a few orders of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magn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Insertions require chaining &amp; deletions can lead to empty pages (soon)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A64E1-7274-F34D-A9BE-3A92EE5F8BAF}"/>
              </a:ext>
            </a:extLst>
          </p:cNvPr>
          <p:cNvSpPr txBox="1"/>
          <p:nvPr/>
        </p:nvSpPr>
        <p:spPr>
          <a:xfrm>
            <a:off x="421184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696AFFF-34EC-FE4A-8E02-5C17CD892D23}"/>
              </a:ext>
            </a:extLst>
          </p:cNvPr>
          <p:cNvSpPr txBox="1"/>
          <p:nvPr/>
        </p:nvSpPr>
        <p:spPr>
          <a:xfrm>
            <a:off x="1561564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8ACB7EE-06D2-FC4E-9558-975C7195C750}"/>
              </a:ext>
            </a:extLst>
          </p:cNvPr>
          <p:cNvSpPr txBox="1"/>
          <p:nvPr/>
        </p:nvSpPr>
        <p:spPr>
          <a:xfrm>
            <a:off x="6170077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7580925-F3E9-F64E-BEF6-65234C6F274D}"/>
              </a:ext>
            </a:extLst>
          </p:cNvPr>
          <p:cNvSpPr txBox="1"/>
          <p:nvPr/>
        </p:nvSpPr>
        <p:spPr>
          <a:xfrm>
            <a:off x="7677413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04A9766-E730-DB48-AE48-A9AF3D0AC2A6}"/>
              </a:ext>
            </a:extLst>
          </p:cNvPr>
          <p:cNvSpPr txBox="1"/>
          <p:nvPr/>
        </p:nvSpPr>
        <p:spPr>
          <a:xfrm>
            <a:off x="4479316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2A39F47-270F-E642-B1E4-AD3D12FBA6FC}"/>
              </a:ext>
            </a:extLst>
          </p:cNvPr>
          <p:cNvSpPr txBox="1"/>
          <p:nvPr/>
        </p:nvSpPr>
        <p:spPr>
          <a:xfrm>
            <a:off x="3265739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pg3</a:t>
            </a:r>
          </a:p>
        </p:txBody>
      </p:sp>
    </p:spTree>
    <p:extLst>
      <p:ext uri="{BB962C8B-B14F-4D97-AF65-F5344CB8AC3E}">
        <p14:creationId xmlns:p14="http://schemas.microsoft.com/office/powerpoint/2010/main" val="202884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/>
      <p:bldP spid="74" grpId="0"/>
      <p:bldP spid="3" grpId="0"/>
      <p:bldP spid="77" grpId="0"/>
      <p:bldP spid="78" grpId="0"/>
      <p:bldP spid="79" grpId="0"/>
      <p:bldP spid="80" grpId="0"/>
      <p:bldP spid="8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Note on Clustered Indices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33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21039-B33F-644C-A27D-E6C7ADC8455F}"/>
              </a:ext>
            </a:extLst>
          </p:cNvPr>
          <p:cNvSpPr/>
          <p:nvPr/>
        </p:nvSpPr>
        <p:spPr>
          <a:xfrm>
            <a:off x="16077" y="796594"/>
            <a:ext cx="9144000" cy="2805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When a relation file has a clustered index, i.e., when pages are sorted, we do not necessarily need the pages to be sorted.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a file has b pages, as long as we can recover the full sort order with b I/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(ignoring I/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read the sparse index), we get similar benefits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Below design will have similar performance as previous slide if we read pages sequentially through sparse index</a:t>
            </a:r>
          </a:p>
        </p:txBody>
      </p:sp>
      <p:grpSp>
        <p:nvGrpSpPr>
          <p:cNvPr id="45" name="Group 36">
            <a:extLst>
              <a:ext uri="{FF2B5EF4-FFF2-40B4-BE49-F238E27FC236}">
                <a16:creationId xmlns:a16="http://schemas.microsoft.com/office/drawing/2014/main" id="{9ECD2B40-18ED-2244-9348-DF45B2B7908F}"/>
              </a:ext>
            </a:extLst>
          </p:cNvPr>
          <p:cNvGrpSpPr>
            <a:grpSpLocks/>
          </p:cNvGrpSpPr>
          <p:nvPr/>
        </p:nvGrpSpPr>
        <p:grpSpPr bwMode="auto">
          <a:xfrm>
            <a:off x="449581" y="3659164"/>
            <a:ext cx="7092951" cy="914400"/>
            <a:chOff x="240" y="2832"/>
            <a:chExt cx="4468" cy="576"/>
          </a:xfrm>
        </p:grpSpPr>
        <p:sp>
          <p:nvSpPr>
            <p:cNvPr id="46" name="Rectangle 19">
              <a:extLst>
                <a:ext uri="{FF2B5EF4-FFF2-40B4-BE49-F238E27FC236}">
                  <a16:creationId xmlns:a16="http://schemas.microsoft.com/office/drawing/2014/main" id="{B2F080E5-EEA1-6148-A946-FA7EF53DC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832"/>
              <a:ext cx="965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100, 123, 192, 200</a:t>
              </a:r>
            </a:p>
          </p:txBody>
        </p:sp>
        <p:sp>
          <p:nvSpPr>
            <p:cNvPr id="47" name="Rectangle 20">
              <a:extLst>
                <a:ext uri="{FF2B5EF4-FFF2-40B4-BE49-F238E27FC236}">
                  <a16:creationId xmlns:a16="http://schemas.microsoft.com/office/drawing/2014/main" id="{A352B535-FE02-4E40-84D9-E7881F6F0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2832"/>
              <a:ext cx="86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901, 996</a:t>
              </a:r>
            </a:p>
          </p:txBody>
        </p:sp>
        <p:sp>
          <p:nvSpPr>
            <p:cNvPr id="49" name="Line 22">
              <a:extLst>
                <a:ext uri="{FF2B5EF4-FFF2-40B4-BE49-F238E27FC236}">
                  <a16:creationId xmlns:a16="http://schemas.microsoft.com/office/drawing/2014/main" id="{A6101A8F-2E58-9A45-9B26-6DDDC43E62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3052"/>
              <a:ext cx="168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23">
              <a:extLst>
                <a:ext uri="{FF2B5EF4-FFF2-40B4-BE49-F238E27FC236}">
                  <a16:creationId xmlns:a16="http://schemas.microsoft.com/office/drawing/2014/main" id="{5BD3B688-06A1-954B-A3B4-A5BB5B15FF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9" y="3052"/>
              <a:ext cx="2609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24">
              <a:extLst>
                <a:ext uri="{FF2B5EF4-FFF2-40B4-BE49-F238E27FC236}">
                  <a16:creationId xmlns:a16="http://schemas.microsoft.com/office/drawing/2014/main" id="{BEA8091F-F35F-C847-A57A-005EF9D349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99" y="3014"/>
              <a:ext cx="468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26">
              <a:extLst>
                <a:ext uri="{FF2B5EF4-FFF2-40B4-BE49-F238E27FC236}">
                  <a16:creationId xmlns:a16="http://schemas.microsoft.com/office/drawing/2014/main" id="{E72CE486-A2EB-D24A-B038-F6CD7660D9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3" y="3052"/>
              <a:ext cx="2459" cy="3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33">
              <a:extLst>
                <a:ext uri="{FF2B5EF4-FFF2-40B4-BE49-F238E27FC236}">
                  <a16:creationId xmlns:a16="http://schemas.microsoft.com/office/drawing/2014/main" id="{030E23B1-86E1-AA4A-AB52-9A7BF80B4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3052"/>
              <a:ext cx="64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35">
            <a:extLst>
              <a:ext uri="{FF2B5EF4-FFF2-40B4-BE49-F238E27FC236}">
                <a16:creationId xmlns:a16="http://schemas.microsoft.com/office/drawing/2014/main" id="{7CAF65D4-B290-A548-9234-49B29B84EA43}"/>
              </a:ext>
            </a:extLst>
          </p:cNvPr>
          <p:cNvGrpSpPr>
            <a:grpSpLocks/>
          </p:cNvGrpSpPr>
          <p:nvPr/>
        </p:nvGrpSpPr>
        <p:grpSpPr bwMode="auto">
          <a:xfrm>
            <a:off x="449580" y="4557685"/>
            <a:ext cx="8201025" cy="701675"/>
            <a:chOff x="240" y="3398"/>
            <a:chExt cx="5166" cy="442"/>
          </a:xfrm>
        </p:grpSpPr>
        <p:sp>
          <p:nvSpPr>
            <p:cNvPr id="58" name="Rectangle 5">
              <a:extLst>
                <a:ext uri="{FF2B5EF4-FFF2-40B4-BE49-F238E27FC236}">
                  <a16:creationId xmlns:a16="http://schemas.microsoft.com/office/drawing/2014/main" id="{0DE8605F-BB88-654C-A201-990BA8A2D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100, 108,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119, 121</a:t>
              </a:r>
            </a:p>
          </p:txBody>
        </p:sp>
        <p:sp>
          <p:nvSpPr>
            <p:cNvPr id="59" name="Rectangle 6">
              <a:extLst>
                <a:ext uri="{FF2B5EF4-FFF2-40B4-BE49-F238E27FC236}">
                  <a16:creationId xmlns:a16="http://schemas.microsoft.com/office/drawing/2014/main" id="{1AFED22F-CCE8-9D4A-9F82-CC4DAA44E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123, 129,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0" name="Rectangle 7">
              <a:extLst>
                <a:ext uri="{FF2B5EF4-FFF2-40B4-BE49-F238E27FC236}">
                  <a16:creationId xmlns:a16="http://schemas.microsoft.com/office/drawing/2014/main" id="{BA30DAD2-C865-AE45-873E-81372AB1A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901, 907,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1" name="Rectangle 8">
              <a:extLst>
                <a:ext uri="{FF2B5EF4-FFF2-40B4-BE49-F238E27FC236}">
                  <a16:creationId xmlns:a16="http://schemas.microsoft.com/office/drawing/2014/main" id="{F7608E2C-8FA4-854B-A847-33D69B4A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" y="339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996, 997,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8" name="Rectangle 13">
              <a:extLst>
                <a:ext uri="{FF2B5EF4-FFF2-40B4-BE49-F238E27FC236}">
                  <a16:creationId xmlns:a16="http://schemas.microsoft.com/office/drawing/2014/main" id="{B210888A-0499-864D-9DA0-9DB85091C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sz="1400" dirty="0">
                  <a:latin typeface="Prestige12 BT" panose="02070509030506020304" pitchFamily="49" charset="0"/>
                </a:rPr>
                <a:t>200, 202,</a:t>
              </a:r>
              <a:br>
                <a:rPr lang="en-US" sz="1400" dirty="0">
                  <a:latin typeface="Prestige12 BT" panose="02070509030506020304" pitchFamily="49" charset="0"/>
                </a:rPr>
              </a:br>
              <a:r>
                <a:rPr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9" name="Rectangle 34">
              <a:extLst>
                <a:ext uri="{FF2B5EF4-FFF2-40B4-BE49-F238E27FC236}">
                  <a16:creationId xmlns:a16="http://schemas.microsoft.com/office/drawing/2014/main" id="{7B9C1E56-6C07-A040-94A6-D6A112323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sz="1400" dirty="0">
                  <a:latin typeface="Prestige12 BT" panose="02070509030506020304" pitchFamily="49" charset="0"/>
                </a:rPr>
                <a:t>192, 197,</a:t>
              </a:r>
              <a:br>
                <a:rPr lang="en-US" sz="1400" dirty="0">
                  <a:latin typeface="Prestige12 BT" panose="02070509030506020304" pitchFamily="49" charset="0"/>
                </a:rPr>
              </a:br>
              <a:r>
                <a:rPr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</p:grpSp>
      <p:sp>
        <p:nvSpPr>
          <p:cNvPr id="72" name="Line 40">
            <a:extLst>
              <a:ext uri="{FF2B5EF4-FFF2-40B4-BE49-F238E27FC236}">
                <a16:creationId xmlns:a16="http://schemas.microsoft.com/office/drawing/2014/main" id="{7DFAAAEF-A7A3-F147-8587-9AD70B6FCB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3167" y="3948091"/>
            <a:ext cx="910431" cy="549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F36F37-FB51-5E4E-A4F0-F781181522A1}"/>
              </a:ext>
            </a:extLst>
          </p:cNvPr>
          <p:cNvSpPr txBox="1"/>
          <p:nvPr/>
        </p:nvSpPr>
        <p:spPr>
          <a:xfrm rot="16200000">
            <a:off x="8127644" y="4714176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F499D50-D740-6246-A5B9-C32EC1E6A07E}"/>
              </a:ext>
            </a:extLst>
          </p:cNvPr>
          <p:cNvSpPr txBox="1"/>
          <p:nvPr/>
        </p:nvSpPr>
        <p:spPr>
          <a:xfrm rot="16200000">
            <a:off x="6177616" y="3649125"/>
            <a:ext cx="106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ID.ind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33BD42-A135-0D4D-A4CA-AA47CBBC41D0}"/>
              </a:ext>
            </a:extLst>
          </p:cNvPr>
          <p:cNvSpPr txBox="1"/>
          <p:nvPr/>
        </p:nvSpPr>
        <p:spPr>
          <a:xfrm>
            <a:off x="421184" y="52522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312A61-471C-7340-BB23-162A7EDBBFB7}"/>
              </a:ext>
            </a:extLst>
          </p:cNvPr>
          <p:cNvSpPr txBox="1"/>
          <p:nvPr/>
        </p:nvSpPr>
        <p:spPr>
          <a:xfrm>
            <a:off x="1561564" y="52522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EA1BCF-BE02-9847-A48E-2F17694A61C5}"/>
              </a:ext>
            </a:extLst>
          </p:cNvPr>
          <p:cNvSpPr txBox="1"/>
          <p:nvPr/>
        </p:nvSpPr>
        <p:spPr>
          <a:xfrm>
            <a:off x="6170077" y="52522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F92B89-E235-6F48-8432-895E8F34E34B}"/>
              </a:ext>
            </a:extLst>
          </p:cNvPr>
          <p:cNvSpPr txBox="1"/>
          <p:nvPr/>
        </p:nvSpPr>
        <p:spPr>
          <a:xfrm>
            <a:off x="7677413" y="52522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2C82F6-C33D-9F4A-AAB9-973DB5D2694F}"/>
              </a:ext>
            </a:extLst>
          </p:cNvPr>
          <p:cNvSpPr txBox="1"/>
          <p:nvPr/>
        </p:nvSpPr>
        <p:spPr>
          <a:xfrm>
            <a:off x="4479316" y="52522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4B4DB3-6300-1F47-BE50-57CC13713D2C}"/>
              </a:ext>
            </a:extLst>
          </p:cNvPr>
          <p:cNvSpPr txBox="1"/>
          <p:nvPr/>
        </p:nvSpPr>
        <p:spPr>
          <a:xfrm>
            <a:off x="3265739" y="52522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pg3</a:t>
            </a:r>
          </a:p>
        </p:txBody>
      </p:sp>
    </p:spTree>
    <p:extLst>
      <p:ext uri="{BB962C8B-B14F-4D97-AF65-F5344CB8AC3E}">
        <p14:creationId xmlns:p14="http://schemas.microsoft.com/office/powerpoint/2010/main" val="99947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/>
      <p:bldP spid="74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Approach: Single-level Sparse Index w/ Overflows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34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21039-B33F-644C-A27D-E6C7ADC8455F}"/>
              </a:ext>
            </a:extLst>
          </p:cNvPr>
          <p:cNvSpPr/>
          <p:nvPr/>
        </p:nvSpPr>
        <p:spPr>
          <a:xfrm>
            <a:off x="16077" y="796594"/>
            <a:ext cx="9144000" cy="496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Handing Insertions</a:t>
            </a:r>
          </a:p>
        </p:txBody>
      </p:sp>
      <p:grpSp>
        <p:nvGrpSpPr>
          <p:cNvPr id="45" name="Group 36">
            <a:extLst>
              <a:ext uri="{FF2B5EF4-FFF2-40B4-BE49-F238E27FC236}">
                <a16:creationId xmlns:a16="http://schemas.microsoft.com/office/drawing/2014/main" id="{9ECD2B40-18ED-2244-9348-DF45B2B7908F}"/>
              </a:ext>
            </a:extLst>
          </p:cNvPr>
          <p:cNvGrpSpPr>
            <a:grpSpLocks/>
          </p:cNvGrpSpPr>
          <p:nvPr/>
        </p:nvGrpSpPr>
        <p:grpSpPr bwMode="auto">
          <a:xfrm>
            <a:off x="248702" y="2148205"/>
            <a:ext cx="7332663" cy="1227138"/>
            <a:chOff x="181" y="2635"/>
            <a:chExt cx="4619" cy="773"/>
          </a:xfrm>
        </p:grpSpPr>
        <p:sp>
          <p:nvSpPr>
            <p:cNvPr id="46" name="Rectangle 19">
              <a:extLst>
                <a:ext uri="{FF2B5EF4-FFF2-40B4-BE49-F238E27FC236}">
                  <a16:creationId xmlns:a16="http://schemas.microsoft.com/office/drawing/2014/main" id="{B2F080E5-EEA1-6148-A946-FA7EF53DC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832"/>
              <a:ext cx="965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100, 123, 192, 200</a:t>
              </a:r>
            </a:p>
          </p:txBody>
        </p:sp>
        <p:sp>
          <p:nvSpPr>
            <p:cNvPr id="47" name="Rectangle 20">
              <a:extLst>
                <a:ext uri="{FF2B5EF4-FFF2-40B4-BE49-F238E27FC236}">
                  <a16:creationId xmlns:a16="http://schemas.microsoft.com/office/drawing/2014/main" id="{A352B535-FE02-4E40-84D9-E7881F6F0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2832"/>
              <a:ext cx="86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901, 996</a:t>
              </a:r>
            </a:p>
          </p:txBody>
        </p:sp>
        <p:sp>
          <p:nvSpPr>
            <p:cNvPr id="49" name="Line 22">
              <a:extLst>
                <a:ext uri="{FF2B5EF4-FFF2-40B4-BE49-F238E27FC236}">
                  <a16:creationId xmlns:a16="http://schemas.microsoft.com/office/drawing/2014/main" id="{A6101A8F-2E58-9A45-9B26-6DDDC43E62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3052"/>
              <a:ext cx="168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23">
              <a:extLst>
                <a:ext uri="{FF2B5EF4-FFF2-40B4-BE49-F238E27FC236}">
                  <a16:creationId xmlns:a16="http://schemas.microsoft.com/office/drawing/2014/main" id="{5BD3B688-06A1-954B-A3B4-A5BB5B15F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3052"/>
              <a:ext cx="1091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24">
              <a:extLst>
                <a:ext uri="{FF2B5EF4-FFF2-40B4-BE49-F238E27FC236}">
                  <a16:creationId xmlns:a16="http://schemas.microsoft.com/office/drawing/2014/main" id="{BEA8091F-F35F-C847-A57A-005EF9D34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7" y="3014"/>
              <a:ext cx="274" cy="3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26">
              <a:extLst>
                <a:ext uri="{FF2B5EF4-FFF2-40B4-BE49-F238E27FC236}">
                  <a16:creationId xmlns:a16="http://schemas.microsoft.com/office/drawing/2014/main" id="{E72CE486-A2EB-D24A-B038-F6CD7660D9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052"/>
              <a:ext cx="1248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Box 27">
              <a:extLst>
                <a:ext uri="{FF2B5EF4-FFF2-40B4-BE49-F238E27FC236}">
                  <a16:creationId xmlns:a16="http://schemas.microsoft.com/office/drawing/2014/main" id="{0AF408FE-40FB-D744-8F42-3450C9D83D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" y="2635"/>
              <a:ext cx="923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latin typeface="+mn-lt"/>
                </a:rPr>
                <a:t>Sparse Index pages</a:t>
              </a:r>
            </a:p>
          </p:txBody>
        </p:sp>
        <p:sp>
          <p:nvSpPr>
            <p:cNvPr id="56" name="Line 33">
              <a:extLst>
                <a:ext uri="{FF2B5EF4-FFF2-40B4-BE49-F238E27FC236}">
                  <a16:creationId xmlns:a16="http://schemas.microsoft.com/office/drawing/2014/main" id="{030E23B1-86E1-AA4A-AB52-9A7BF80B4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3052"/>
              <a:ext cx="64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35">
            <a:extLst>
              <a:ext uri="{FF2B5EF4-FFF2-40B4-BE49-F238E27FC236}">
                <a16:creationId xmlns:a16="http://schemas.microsoft.com/office/drawing/2014/main" id="{7CAF65D4-B290-A548-9234-49B29B84EA43}"/>
              </a:ext>
            </a:extLst>
          </p:cNvPr>
          <p:cNvGrpSpPr>
            <a:grpSpLocks/>
          </p:cNvGrpSpPr>
          <p:nvPr/>
        </p:nvGrpSpPr>
        <p:grpSpPr bwMode="auto">
          <a:xfrm>
            <a:off x="342364" y="3375337"/>
            <a:ext cx="8382000" cy="1222375"/>
            <a:chOff x="240" y="3408"/>
            <a:chExt cx="5280" cy="770"/>
          </a:xfrm>
        </p:grpSpPr>
        <p:sp>
          <p:nvSpPr>
            <p:cNvPr id="58" name="Rectangle 5">
              <a:extLst>
                <a:ext uri="{FF2B5EF4-FFF2-40B4-BE49-F238E27FC236}">
                  <a16:creationId xmlns:a16="http://schemas.microsoft.com/office/drawing/2014/main" id="{0DE8605F-BB88-654C-A201-990BA8A2D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100, 108,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119, 121</a:t>
              </a:r>
            </a:p>
          </p:txBody>
        </p:sp>
        <p:sp>
          <p:nvSpPr>
            <p:cNvPr id="59" name="Rectangle 6">
              <a:extLst>
                <a:ext uri="{FF2B5EF4-FFF2-40B4-BE49-F238E27FC236}">
                  <a16:creationId xmlns:a16="http://schemas.microsoft.com/office/drawing/2014/main" id="{1AFED22F-CCE8-9D4A-9F82-CC4DAA44E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123, 129,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0" name="Rectangle 7">
              <a:extLst>
                <a:ext uri="{FF2B5EF4-FFF2-40B4-BE49-F238E27FC236}">
                  <a16:creationId xmlns:a16="http://schemas.microsoft.com/office/drawing/2014/main" id="{BA30DAD2-C865-AE45-873E-81372AB1A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901, 907,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1" name="Rectangle 8">
              <a:extLst>
                <a:ext uri="{FF2B5EF4-FFF2-40B4-BE49-F238E27FC236}">
                  <a16:creationId xmlns:a16="http://schemas.microsoft.com/office/drawing/2014/main" id="{F7608E2C-8FA4-854B-A847-33D69B4A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996, 997,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7" name="Text Box 12">
              <a:extLst>
                <a:ext uri="{FF2B5EF4-FFF2-40B4-BE49-F238E27FC236}">
                  <a16:creationId xmlns:a16="http://schemas.microsoft.com/office/drawing/2014/main" id="{2D27E0BC-7C86-884D-AE88-FD6DD9D267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3926"/>
              <a:ext cx="2013" cy="252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latin typeface="+mn-lt"/>
                </a:rPr>
                <a:t>Data pages (original relation)</a:t>
              </a:r>
            </a:p>
          </p:txBody>
        </p:sp>
        <p:sp>
          <p:nvSpPr>
            <p:cNvPr id="68" name="Rectangle 13">
              <a:extLst>
                <a:ext uri="{FF2B5EF4-FFF2-40B4-BE49-F238E27FC236}">
                  <a16:creationId xmlns:a16="http://schemas.microsoft.com/office/drawing/2014/main" id="{B210888A-0499-864D-9DA0-9DB85091C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192, 197,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9" name="Rectangle 34">
              <a:extLst>
                <a:ext uri="{FF2B5EF4-FFF2-40B4-BE49-F238E27FC236}">
                  <a16:creationId xmlns:a16="http://schemas.microsoft.com/office/drawing/2014/main" id="{7B9C1E56-6C07-A040-94A6-D6A112323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200, 202,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</p:grpSp>
      <p:sp>
        <p:nvSpPr>
          <p:cNvPr id="72" name="Line 40">
            <a:extLst>
              <a:ext uri="{FF2B5EF4-FFF2-40B4-BE49-F238E27FC236}">
                <a16:creationId xmlns:a16="http://schemas.microsoft.com/office/drawing/2014/main" id="{7DFAAAEF-A7A3-F147-8587-9AD70B6FCB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61764" y="2749868"/>
            <a:ext cx="484188" cy="62547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F36F37-FB51-5E4E-A4F0-F781181522A1}"/>
              </a:ext>
            </a:extLst>
          </p:cNvPr>
          <p:cNvSpPr txBox="1"/>
          <p:nvPr/>
        </p:nvSpPr>
        <p:spPr>
          <a:xfrm rot="16200000">
            <a:off x="8123460" y="3515953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F499D50-D740-6246-A5B9-C32EC1E6A07E}"/>
              </a:ext>
            </a:extLst>
          </p:cNvPr>
          <p:cNvSpPr txBox="1"/>
          <p:nvPr/>
        </p:nvSpPr>
        <p:spPr>
          <a:xfrm rot="16200000">
            <a:off x="6070400" y="2450902"/>
            <a:ext cx="106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ID.idx</a:t>
            </a:r>
            <a:endParaRPr lang="en-US" dirty="0"/>
          </a:p>
        </p:txBody>
      </p:sp>
      <p:sp>
        <p:nvSpPr>
          <p:cNvPr id="29" name="Text Box 25">
            <a:extLst>
              <a:ext uri="{FF2B5EF4-FFF2-40B4-BE49-F238E27FC236}">
                <a16:creationId xmlns:a16="http://schemas.microsoft.com/office/drawing/2014/main" id="{4758A70E-0109-5D41-97B9-8E1DDEF53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69" y="1425520"/>
            <a:ext cx="47003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defTabSz="914400">
              <a:buFont typeface="Wingdings" pitchFamily="2" charset="2"/>
              <a:buNone/>
            </a:pPr>
            <a:r>
              <a:rPr lang="en-US" dirty="0">
                <a:solidFill>
                  <a:srgbClr val="ED7D31"/>
                </a:solidFill>
                <a:latin typeface="Candara" panose="020E0502030303020204"/>
              </a:rPr>
              <a:t>Example: insert  tuple with key </a:t>
            </a:r>
            <a:r>
              <a:rPr lang="en-US" dirty="0">
                <a:solidFill>
                  <a:srgbClr val="ED7D31"/>
                </a:solidFill>
                <a:latin typeface="Prestige12 BT" panose="02070509030506020304" pitchFamily="49" charset="0"/>
              </a:rPr>
              <a:t>107</a:t>
            </a:r>
          </a:p>
        </p:txBody>
      </p:sp>
      <p:grpSp>
        <p:nvGrpSpPr>
          <p:cNvPr id="35" name="Group 92">
            <a:extLst>
              <a:ext uri="{FF2B5EF4-FFF2-40B4-BE49-F238E27FC236}">
                <a16:creationId xmlns:a16="http://schemas.microsoft.com/office/drawing/2014/main" id="{3D5687A7-CC39-7843-B8A9-734DDC2EDE1A}"/>
              </a:ext>
            </a:extLst>
          </p:cNvPr>
          <p:cNvGrpSpPr>
            <a:grpSpLocks/>
          </p:cNvGrpSpPr>
          <p:nvPr/>
        </p:nvGrpSpPr>
        <p:grpSpPr bwMode="auto">
          <a:xfrm>
            <a:off x="93920" y="3974490"/>
            <a:ext cx="2389188" cy="914400"/>
            <a:chOff x="32" y="2400"/>
            <a:chExt cx="1505" cy="576"/>
          </a:xfrm>
        </p:grpSpPr>
        <p:sp>
          <p:nvSpPr>
            <p:cNvPr id="36" name="Rectangle 27">
              <a:extLst>
                <a:ext uri="{FF2B5EF4-FFF2-40B4-BE49-F238E27FC236}">
                  <a16:creationId xmlns:a16="http://schemas.microsoft.com/office/drawing/2014/main" id="{F40B6FDB-F181-0E4F-8BCC-79D9159F6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544"/>
              <a:ext cx="720" cy="432"/>
            </a:xfrm>
            <a:prstGeom prst="rect">
              <a:avLst/>
            </a:prstGeom>
            <a:noFill/>
            <a:ln w="25400">
              <a:solidFill>
                <a:srgbClr val="ED7D3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stige12 BT" panose="02070509030506020304" pitchFamily="49" charset="0"/>
                </a:rPr>
                <a:t>107</a:t>
              </a:r>
              <a:b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stige12 BT" panose="02070509030506020304" pitchFamily="49" charset="0"/>
                </a:rPr>
              </a:b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stige12 BT" panose="02070509030506020304" pitchFamily="49" charset="0"/>
              </a:endParaRPr>
            </a:p>
          </p:txBody>
        </p:sp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34840798-AC71-DA4D-BAB9-FBA6D0835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" y="2606"/>
              <a:ext cx="10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ndara" panose="020E0502030303020204"/>
                </a:rPr>
                <a:t>Overflow block</a:t>
              </a:r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DA3D371D-C8BB-B84E-8A3A-7D1AC9231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" y="2400"/>
              <a:ext cx="208" cy="192"/>
            </a:xfrm>
            <a:custGeom>
              <a:avLst/>
              <a:gdLst>
                <a:gd name="T0" fmla="*/ 208 w 208"/>
                <a:gd name="T1" fmla="*/ 48 h 192"/>
                <a:gd name="T2" fmla="*/ 112 w 208"/>
                <a:gd name="T3" fmla="*/ 0 h 192"/>
                <a:gd name="T4" fmla="*/ 16 w 208"/>
                <a:gd name="T5" fmla="*/ 48 h 192"/>
                <a:gd name="T6" fmla="*/ 16 w 208"/>
                <a:gd name="T7" fmla="*/ 144 h 192"/>
                <a:gd name="T8" fmla="*/ 112 w 208"/>
                <a:gd name="T9" fmla="*/ 192 h 192"/>
                <a:gd name="T10" fmla="*/ 208 w 208"/>
                <a:gd name="T11" fmla="*/ 144 h 1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8"/>
                <a:gd name="T19" fmla="*/ 0 h 192"/>
                <a:gd name="T20" fmla="*/ 208 w 208"/>
                <a:gd name="T21" fmla="*/ 192 h 1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8" h="192">
                  <a:moveTo>
                    <a:pt x="208" y="48"/>
                  </a:moveTo>
                  <a:cubicBezTo>
                    <a:pt x="176" y="24"/>
                    <a:pt x="144" y="0"/>
                    <a:pt x="112" y="0"/>
                  </a:cubicBezTo>
                  <a:cubicBezTo>
                    <a:pt x="80" y="0"/>
                    <a:pt x="32" y="24"/>
                    <a:pt x="16" y="48"/>
                  </a:cubicBezTo>
                  <a:cubicBezTo>
                    <a:pt x="0" y="72"/>
                    <a:pt x="0" y="120"/>
                    <a:pt x="16" y="144"/>
                  </a:cubicBezTo>
                  <a:cubicBezTo>
                    <a:pt x="32" y="168"/>
                    <a:pt x="80" y="192"/>
                    <a:pt x="112" y="192"/>
                  </a:cubicBezTo>
                  <a:cubicBezTo>
                    <a:pt x="144" y="192"/>
                    <a:pt x="176" y="168"/>
                    <a:pt x="208" y="144"/>
                  </a:cubicBezTo>
                </a:path>
              </a:pathLst>
            </a:custGeom>
            <a:noFill/>
            <a:ln w="25400">
              <a:solidFill>
                <a:srgbClr val="ED7D3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</a:endParaRPr>
            </a:p>
          </p:txBody>
        </p:sp>
      </p:grpSp>
      <p:sp>
        <p:nvSpPr>
          <p:cNvPr id="39" name="Text Box 31">
            <a:extLst>
              <a:ext uri="{FF2B5EF4-FFF2-40B4-BE49-F238E27FC236}">
                <a16:creationId xmlns:a16="http://schemas.microsoft.com/office/drawing/2014/main" id="{392EC9A2-A38D-9245-A56E-0C98D838F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88" y="1768416"/>
            <a:ext cx="45528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dirty="0">
                <a:solidFill>
                  <a:srgbClr val="FF0000"/>
                </a:solidFill>
                <a:latin typeface="+mn-lt"/>
              </a:rPr>
              <a:t>Example: delete tuple with key </a:t>
            </a:r>
            <a:r>
              <a:rPr lang="en-US" dirty="0">
                <a:solidFill>
                  <a:srgbClr val="FF0000"/>
                </a:solidFill>
                <a:latin typeface="Prestige12 BT" panose="02070509030506020304" pitchFamily="49" charset="0"/>
              </a:rPr>
              <a:t>129</a:t>
            </a:r>
          </a:p>
        </p:txBody>
      </p:sp>
      <p:sp>
        <p:nvSpPr>
          <p:cNvPr id="40" name="Line 32">
            <a:extLst>
              <a:ext uri="{FF2B5EF4-FFF2-40B4-BE49-F238E27FC236}">
                <a16:creationId xmlns:a16="http://schemas.microsoft.com/office/drawing/2014/main" id="{AABFA35E-CB11-534D-8DC9-DFAAB554CD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30936" y="3515159"/>
            <a:ext cx="437803" cy="209434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25EC9D52-2FFE-AA42-B705-34B245B451F2}"/>
              </a:ext>
            </a:extLst>
          </p:cNvPr>
          <p:cNvSpPr txBox="1">
            <a:spLocks/>
          </p:cNvSpPr>
          <p:nvPr/>
        </p:nvSpPr>
        <p:spPr>
          <a:xfrm>
            <a:off x="16077" y="4998088"/>
            <a:ext cx="8973377" cy="1723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Overflow chains and empty data blocks degrade performance</a:t>
            </a:r>
          </a:p>
          <a:p>
            <a:pPr marL="914400" lvl="1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there is significant </a:t>
            </a:r>
            <a:r>
              <a:rPr lang="en-US" sz="20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distribution skew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records can go into one long chain, so lookups require scanning all data in worst-case.</a:t>
            </a:r>
          </a:p>
        </p:txBody>
      </p:sp>
    </p:spTree>
    <p:extLst>
      <p:ext uri="{BB962C8B-B14F-4D97-AF65-F5344CB8AC3E}">
        <p14:creationId xmlns:p14="http://schemas.microsoft.com/office/powerpoint/2010/main" val="415572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9" grpId="0" autoUpdateAnimBg="0"/>
      <p:bldP spid="40" grpId="0" animBg="1"/>
      <p:bldP spid="41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Approach: Single-level Sparse Index w/ Overflows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35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21039-B33F-644C-A27D-E6C7ADC8455F}"/>
              </a:ext>
            </a:extLst>
          </p:cNvPr>
          <p:cNvSpPr/>
          <p:nvPr/>
        </p:nvSpPr>
        <p:spPr>
          <a:xfrm>
            <a:off x="16077" y="796594"/>
            <a:ext cx="9149394" cy="3266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Index size smaller than dense index (1 key/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ptr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index per page), so can be larger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still become very large (GBs) for large tables.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Need overflows, which is not robust, if table grows significantly over time (e.g., most pages can become overflows, leading to large scans)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lead to empty pages (but less of an issue in practice)</a:t>
            </a:r>
          </a:p>
        </p:txBody>
      </p:sp>
      <p:grpSp>
        <p:nvGrpSpPr>
          <p:cNvPr id="45" name="Group 36">
            <a:extLst>
              <a:ext uri="{FF2B5EF4-FFF2-40B4-BE49-F238E27FC236}">
                <a16:creationId xmlns:a16="http://schemas.microsoft.com/office/drawing/2014/main" id="{9ECD2B40-18ED-2244-9348-DF45B2B7908F}"/>
              </a:ext>
            </a:extLst>
          </p:cNvPr>
          <p:cNvGrpSpPr>
            <a:grpSpLocks/>
          </p:cNvGrpSpPr>
          <p:nvPr/>
        </p:nvGrpSpPr>
        <p:grpSpPr bwMode="auto">
          <a:xfrm>
            <a:off x="248702" y="4041399"/>
            <a:ext cx="7332663" cy="1227138"/>
            <a:chOff x="181" y="2635"/>
            <a:chExt cx="4619" cy="773"/>
          </a:xfrm>
        </p:grpSpPr>
        <p:sp>
          <p:nvSpPr>
            <p:cNvPr id="46" name="Rectangle 19">
              <a:extLst>
                <a:ext uri="{FF2B5EF4-FFF2-40B4-BE49-F238E27FC236}">
                  <a16:creationId xmlns:a16="http://schemas.microsoft.com/office/drawing/2014/main" id="{B2F080E5-EEA1-6148-A946-FA7EF53DC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832"/>
              <a:ext cx="965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100, 123, 192, 200</a:t>
              </a:r>
            </a:p>
          </p:txBody>
        </p:sp>
        <p:sp>
          <p:nvSpPr>
            <p:cNvPr id="47" name="Rectangle 20">
              <a:extLst>
                <a:ext uri="{FF2B5EF4-FFF2-40B4-BE49-F238E27FC236}">
                  <a16:creationId xmlns:a16="http://schemas.microsoft.com/office/drawing/2014/main" id="{A352B535-FE02-4E40-84D9-E7881F6F0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2832"/>
              <a:ext cx="86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901, 996</a:t>
              </a:r>
            </a:p>
          </p:txBody>
        </p:sp>
        <p:sp>
          <p:nvSpPr>
            <p:cNvPr id="49" name="Line 22">
              <a:extLst>
                <a:ext uri="{FF2B5EF4-FFF2-40B4-BE49-F238E27FC236}">
                  <a16:creationId xmlns:a16="http://schemas.microsoft.com/office/drawing/2014/main" id="{A6101A8F-2E58-9A45-9B26-6DDDC43E62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3052"/>
              <a:ext cx="168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23">
              <a:extLst>
                <a:ext uri="{FF2B5EF4-FFF2-40B4-BE49-F238E27FC236}">
                  <a16:creationId xmlns:a16="http://schemas.microsoft.com/office/drawing/2014/main" id="{5BD3B688-06A1-954B-A3B4-A5BB5B15F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3052"/>
              <a:ext cx="1091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24">
              <a:extLst>
                <a:ext uri="{FF2B5EF4-FFF2-40B4-BE49-F238E27FC236}">
                  <a16:creationId xmlns:a16="http://schemas.microsoft.com/office/drawing/2014/main" id="{BEA8091F-F35F-C847-A57A-005EF9D34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7" y="3014"/>
              <a:ext cx="274" cy="3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26">
              <a:extLst>
                <a:ext uri="{FF2B5EF4-FFF2-40B4-BE49-F238E27FC236}">
                  <a16:creationId xmlns:a16="http://schemas.microsoft.com/office/drawing/2014/main" id="{E72CE486-A2EB-D24A-B038-F6CD7660D9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052"/>
              <a:ext cx="1248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Box 27">
              <a:extLst>
                <a:ext uri="{FF2B5EF4-FFF2-40B4-BE49-F238E27FC236}">
                  <a16:creationId xmlns:a16="http://schemas.microsoft.com/office/drawing/2014/main" id="{0AF408FE-40FB-D744-8F42-3450C9D83D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" y="2635"/>
              <a:ext cx="923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latin typeface="+mn-lt"/>
                </a:rPr>
                <a:t>Sparse Index pages</a:t>
              </a:r>
            </a:p>
          </p:txBody>
        </p:sp>
        <p:sp>
          <p:nvSpPr>
            <p:cNvPr id="56" name="Line 33">
              <a:extLst>
                <a:ext uri="{FF2B5EF4-FFF2-40B4-BE49-F238E27FC236}">
                  <a16:creationId xmlns:a16="http://schemas.microsoft.com/office/drawing/2014/main" id="{030E23B1-86E1-AA4A-AB52-9A7BF80B4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3052"/>
              <a:ext cx="64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35">
            <a:extLst>
              <a:ext uri="{FF2B5EF4-FFF2-40B4-BE49-F238E27FC236}">
                <a16:creationId xmlns:a16="http://schemas.microsoft.com/office/drawing/2014/main" id="{7CAF65D4-B290-A548-9234-49B29B84EA43}"/>
              </a:ext>
            </a:extLst>
          </p:cNvPr>
          <p:cNvGrpSpPr>
            <a:grpSpLocks/>
          </p:cNvGrpSpPr>
          <p:nvPr/>
        </p:nvGrpSpPr>
        <p:grpSpPr bwMode="auto">
          <a:xfrm>
            <a:off x="342364" y="5268531"/>
            <a:ext cx="8382000" cy="685800"/>
            <a:chOff x="240" y="3408"/>
            <a:chExt cx="5280" cy="432"/>
          </a:xfrm>
        </p:grpSpPr>
        <p:sp>
          <p:nvSpPr>
            <p:cNvPr id="58" name="Rectangle 5">
              <a:extLst>
                <a:ext uri="{FF2B5EF4-FFF2-40B4-BE49-F238E27FC236}">
                  <a16:creationId xmlns:a16="http://schemas.microsoft.com/office/drawing/2014/main" id="{0DE8605F-BB88-654C-A201-990BA8A2D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100, 108,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119, 121</a:t>
              </a:r>
            </a:p>
          </p:txBody>
        </p:sp>
        <p:sp>
          <p:nvSpPr>
            <p:cNvPr id="59" name="Rectangle 6">
              <a:extLst>
                <a:ext uri="{FF2B5EF4-FFF2-40B4-BE49-F238E27FC236}">
                  <a16:creationId xmlns:a16="http://schemas.microsoft.com/office/drawing/2014/main" id="{1AFED22F-CCE8-9D4A-9F82-CC4DAA44E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123, 129,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0" name="Rectangle 7">
              <a:extLst>
                <a:ext uri="{FF2B5EF4-FFF2-40B4-BE49-F238E27FC236}">
                  <a16:creationId xmlns:a16="http://schemas.microsoft.com/office/drawing/2014/main" id="{BA30DAD2-C865-AE45-873E-81372AB1A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901, 907,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1" name="Rectangle 8">
              <a:extLst>
                <a:ext uri="{FF2B5EF4-FFF2-40B4-BE49-F238E27FC236}">
                  <a16:creationId xmlns:a16="http://schemas.microsoft.com/office/drawing/2014/main" id="{F7608E2C-8FA4-854B-A847-33D69B4A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996, 997,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8" name="Rectangle 13">
              <a:extLst>
                <a:ext uri="{FF2B5EF4-FFF2-40B4-BE49-F238E27FC236}">
                  <a16:creationId xmlns:a16="http://schemas.microsoft.com/office/drawing/2014/main" id="{B210888A-0499-864D-9DA0-9DB85091C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192, 197,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69" name="Rectangle 34">
              <a:extLst>
                <a:ext uri="{FF2B5EF4-FFF2-40B4-BE49-F238E27FC236}">
                  <a16:creationId xmlns:a16="http://schemas.microsoft.com/office/drawing/2014/main" id="{7B9C1E56-6C07-A040-94A6-D6A112323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200, 202,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</p:grpSp>
      <p:sp>
        <p:nvSpPr>
          <p:cNvPr id="72" name="Line 40">
            <a:extLst>
              <a:ext uri="{FF2B5EF4-FFF2-40B4-BE49-F238E27FC236}">
                <a16:creationId xmlns:a16="http://schemas.microsoft.com/office/drawing/2014/main" id="{7DFAAAEF-A7A3-F147-8587-9AD70B6FCB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61764" y="4643062"/>
            <a:ext cx="484188" cy="62547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F36F37-FB51-5E4E-A4F0-F781181522A1}"/>
              </a:ext>
            </a:extLst>
          </p:cNvPr>
          <p:cNvSpPr txBox="1"/>
          <p:nvPr/>
        </p:nvSpPr>
        <p:spPr>
          <a:xfrm rot="16200000">
            <a:off x="8123460" y="5409147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F499D50-D740-6246-A5B9-C32EC1E6A07E}"/>
              </a:ext>
            </a:extLst>
          </p:cNvPr>
          <p:cNvSpPr txBox="1"/>
          <p:nvPr/>
        </p:nvSpPr>
        <p:spPr>
          <a:xfrm rot="16200000">
            <a:off x="6070400" y="4344096"/>
            <a:ext cx="106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ID.idx</a:t>
            </a:r>
            <a:endParaRPr lang="en-US" dirty="0"/>
          </a:p>
        </p:txBody>
      </p:sp>
      <p:grpSp>
        <p:nvGrpSpPr>
          <p:cNvPr id="35" name="Group 92">
            <a:extLst>
              <a:ext uri="{FF2B5EF4-FFF2-40B4-BE49-F238E27FC236}">
                <a16:creationId xmlns:a16="http://schemas.microsoft.com/office/drawing/2014/main" id="{3D5687A7-CC39-7843-B8A9-734DDC2EDE1A}"/>
              </a:ext>
            </a:extLst>
          </p:cNvPr>
          <p:cNvGrpSpPr>
            <a:grpSpLocks/>
          </p:cNvGrpSpPr>
          <p:nvPr/>
        </p:nvGrpSpPr>
        <p:grpSpPr bwMode="auto">
          <a:xfrm>
            <a:off x="93920" y="5867684"/>
            <a:ext cx="2389188" cy="914400"/>
            <a:chOff x="32" y="2400"/>
            <a:chExt cx="1505" cy="576"/>
          </a:xfrm>
        </p:grpSpPr>
        <p:sp>
          <p:nvSpPr>
            <p:cNvPr id="36" name="Rectangle 27">
              <a:extLst>
                <a:ext uri="{FF2B5EF4-FFF2-40B4-BE49-F238E27FC236}">
                  <a16:creationId xmlns:a16="http://schemas.microsoft.com/office/drawing/2014/main" id="{F40B6FDB-F181-0E4F-8BCC-79D9159F6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544"/>
              <a:ext cx="720" cy="432"/>
            </a:xfrm>
            <a:prstGeom prst="rect">
              <a:avLst/>
            </a:prstGeom>
            <a:noFill/>
            <a:ln w="25400">
              <a:solidFill>
                <a:srgbClr val="ED7D3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stige12 BT" panose="02070509030506020304" pitchFamily="49" charset="0"/>
                </a:rPr>
                <a:t>107</a:t>
              </a:r>
              <a:b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stige12 BT" panose="02070509030506020304" pitchFamily="49" charset="0"/>
                </a:rPr>
              </a:b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stige12 BT" panose="02070509030506020304" pitchFamily="49" charset="0"/>
              </a:endParaRPr>
            </a:p>
          </p:txBody>
        </p:sp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34840798-AC71-DA4D-BAB9-FBA6D0835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" y="2606"/>
              <a:ext cx="10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ndara" panose="020E0502030303020204"/>
                </a:rPr>
                <a:t>Overflow block</a:t>
              </a:r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DA3D371D-C8BB-B84E-8A3A-7D1AC9231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" y="2400"/>
              <a:ext cx="208" cy="192"/>
            </a:xfrm>
            <a:custGeom>
              <a:avLst/>
              <a:gdLst>
                <a:gd name="T0" fmla="*/ 208 w 208"/>
                <a:gd name="T1" fmla="*/ 48 h 192"/>
                <a:gd name="T2" fmla="*/ 112 w 208"/>
                <a:gd name="T3" fmla="*/ 0 h 192"/>
                <a:gd name="T4" fmla="*/ 16 w 208"/>
                <a:gd name="T5" fmla="*/ 48 h 192"/>
                <a:gd name="T6" fmla="*/ 16 w 208"/>
                <a:gd name="T7" fmla="*/ 144 h 192"/>
                <a:gd name="T8" fmla="*/ 112 w 208"/>
                <a:gd name="T9" fmla="*/ 192 h 192"/>
                <a:gd name="T10" fmla="*/ 208 w 208"/>
                <a:gd name="T11" fmla="*/ 144 h 1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8"/>
                <a:gd name="T19" fmla="*/ 0 h 192"/>
                <a:gd name="T20" fmla="*/ 208 w 208"/>
                <a:gd name="T21" fmla="*/ 192 h 1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8" h="192">
                  <a:moveTo>
                    <a:pt x="208" y="48"/>
                  </a:moveTo>
                  <a:cubicBezTo>
                    <a:pt x="176" y="24"/>
                    <a:pt x="144" y="0"/>
                    <a:pt x="112" y="0"/>
                  </a:cubicBezTo>
                  <a:cubicBezTo>
                    <a:pt x="80" y="0"/>
                    <a:pt x="32" y="24"/>
                    <a:pt x="16" y="48"/>
                  </a:cubicBezTo>
                  <a:cubicBezTo>
                    <a:pt x="0" y="72"/>
                    <a:pt x="0" y="120"/>
                    <a:pt x="16" y="144"/>
                  </a:cubicBezTo>
                  <a:cubicBezTo>
                    <a:pt x="32" y="168"/>
                    <a:pt x="80" y="192"/>
                    <a:pt x="112" y="192"/>
                  </a:cubicBezTo>
                  <a:cubicBezTo>
                    <a:pt x="144" y="192"/>
                    <a:pt x="176" y="168"/>
                    <a:pt x="208" y="144"/>
                  </a:cubicBezTo>
                </a:path>
              </a:pathLst>
            </a:custGeom>
            <a:noFill/>
            <a:ln w="25400">
              <a:solidFill>
                <a:srgbClr val="ED7D3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</a:endParaRPr>
            </a:p>
          </p:txBody>
        </p:sp>
      </p:grpSp>
      <p:sp>
        <p:nvSpPr>
          <p:cNvPr id="40" name="Line 32">
            <a:extLst>
              <a:ext uri="{FF2B5EF4-FFF2-40B4-BE49-F238E27FC236}">
                <a16:creationId xmlns:a16="http://schemas.microsoft.com/office/drawing/2014/main" id="{AABFA35E-CB11-534D-8DC9-DFAAB554CD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30936" y="5408353"/>
            <a:ext cx="437803" cy="209434"/>
          </a:xfrm>
          <a:prstGeom prst="line">
            <a:avLst/>
          </a:prstGeom>
          <a:noFill/>
          <a:ln w="38100" cap="rnd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838AFA8-61F6-0F48-8201-A6ADCF2C90EE}"/>
              </a:ext>
            </a:extLst>
          </p:cNvPr>
          <p:cNvSpPr/>
          <p:nvPr/>
        </p:nvSpPr>
        <p:spPr>
          <a:xfrm>
            <a:off x="424119" y="2173254"/>
            <a:ext cx="6361113" cy="489397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6E4D1E2-36A1-CB4F-AD45-4F2AFC2F9529}"/>
              </a:ext>
            </a:extLst>
          </p:cNvPr>
          <p:cNvSpPr/>
          <p:nvPr/>
        </p:nvSpPr>
        <p:spPr>
          <a:xfrm>
            <a:off x="424119" y="2737678"/>
            <a:ext cx="8668545" cy="1330351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DAD14-198B-F942-9850-9D916E2095C9}"/>
              </a:ext>
            </a:extLst>
          </p:cNvPr>
          <p:cNvSpPr txBox="1"/>
          <p:nvPr/>
        </p:nvSpPr>
        <p:spPr>
          <a:xfrm>
            <a:off x="3153395" y="1266297"/>
            <a:ext cx="2266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 w/ multi-level indices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3A09CD-E94B-B049-9FDE-37E7390CE95C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902299" y="1912628"/>
            <a:ext cx="384437" cy="206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C8DD6BF-171E-0E40-8FDE-65EDC48B4F1E}"/>
              </a:ext>
            </a:extLst>
          </p:cNvPr>
          <p:cNvSpPr txBox="1"/>
          <p:nvPr/>
        </p:nvSpPr>
        <p:spPr>
          <a:xfrm>
            <a:off x="7327056" y="1309249"/>
            <a:ext cx="1833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 w/ splitting/merging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3B31D68-C22B-6C4C-A341-51C76FA6D0D6}"/>
              </a:ext>
            </a:extLst>
          </p:cNvPr>
          <p:cNvCxnSpPr>
            <a:cxnSpLocks/>
            <a:stCxn id="48" idx="2"/>
          </p:cNvCxnSpPr>
          <p:nvPr/>
        </p:nvCxnSpPr>
        <p:spPr>
          <a:xfrm flipH="1">
            <a:off x="7321662" y="1955580"/>
            <a:ext cx="921905" cy="7390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57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2" grpId="0" animBg="1"/>
      <p:bldP spid="5" grpId="0"/>
      <p:bldP spid="4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Approach: Multi-level Indices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36</a:t>
            </a:fld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F36F37-FB51-5E4E-A4F0-F781181522A1}"/>
              </a:ext>
            </a:extLst>
          </p:cNvPr>
          <p:cNvSpPr txBox="1"/>
          <p:nvPr/>
        </p:nvSpPr>
        <p:spPr>
          <a:xfrm rot="16200000">
            <a:off x="8174796" y="5744001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F499D50-D740-6246-A5B9-C32EC1E6A07E}"/>
              </a:ext>
            </a:extLst>
          </p:cNvPr>
          <p:cNvSpPr txBox="1"/>
          <p:nvPr/>
        </p:nvSpPr>
        <p:spPr>
          <a:xfrm rot="16200000">
            <a:off x="8429167" y="4563040"/>
            <a:ext cx="106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ID.idx</a:t>
            </a:r>
            <a:endParaRPr lang="en-US" dirty="0"/>
          </a:p>
        </p:txBody>
      </p:sp>
      <p:grpSp>
        <p:nvGrpSpPr>
          <p:cNvPr id="35" name="Group 92">
            <a:extLst>
              <a:ext uri="{FF2B5EF4-FFF2-40B4-BE49-F238E27FC236}">
                <a16:creationId xmlns:a16="http://schemas.microsoft.com/office/drawing/2014/main" id="{3D5687A7-CC39-7843-B8A9-734DDC2EDE1A}"/>
              </a:ext>
            </a:extLst>
          </p:cNvPr>
          <p:cNvGrpSpPr>
            <a:grpSpLocks/>
          </p:cNvGrpSpPr>
          <p:nvPr/>
        </p:nvGrpSpPr>
        <p:grpSpPr bwMode="auto">
          <a:xfrm>
            <a:off x="145256" y="5867685"/>
            <a:ext cx="2389188" cy="914400"/>
            <a:chOff x="32" y="2400"/>
            <a:chExt cx="1505" cy="576"/>
          </a:xfrm>
        </p:grpSpPr>
        <p:sp>
          <p:nvSpPr>
            <p:cNvPr id="36" name="Rectangle 27">
              <a:extLst>
                <a:ext uri="{FF2B5EF4-FFF2-40B4-BE49-F238E27FC236}">
                  <a16:creationId xmlns:a16="http://schemas.microsoft.com/office/drawing/2014/main" id="{F40B6FDB-F181-0E4F-8BCC-79D9159F6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544"/>
              <a:ext cx="720" cy="432"/>
            </a:xfrm>
            <a:prstGeom prst="rect">
              <a:avLst/>
            </a:prstGeom>
            <a:noFill/>
            <a:ln w="25400">
              <a:solidFill>
                <a:srgbClr val="ED7D3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stige12 BT" panose="02070509030506020304" pitchFamily="49" charset="0"/>
                </a:rPr>
                <a:t>107</a:t>
              </a:r>
              <a:b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stige12 BT" panose="02070509030506020304" pitchFamily="49" charset="0"/>
                </a:rPr>
              </a:b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stige12 BT" panose="02070509030506020304" pitchFamily="49" charset="0"/>
              </a:endParaRPr>
            </a:p>
          </p:txBody>
        </p:sp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34840798-AC71-DA4D-BAB9-FBA6D0835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" y="2606"/>
              <a:ext cx="10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ndara" panose="020E0502030303020204"/>
                </a:rPr>
                <a:t>Overflow block</a:t>
              </a:r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DA3D371D-C8BB-B84E-8A3A-7D1AC9231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" y="2400"/>
              <a:ext cx="208" cy="192"/>
            </a:xfrm>
            <a:custGeom>
              <a:avLst/>
              <a:gdLst>
                <a:gd name="T0" fmla="*/ 208 w 208"/>
                <a:gd name="T1" fmla="*/ 48 h 192"/>
                <a:gd name="T2" fmla="*/ 112 w 208"/>
                <a:gd name="T3" fmla="*/ 0 h 192"/>
                <a:gd name="T4" fmla="*/ 16 w 208"/>
                <a:gd name="T5" fmla="*/ 48 h 192"/>
                <a:gd name="T6" fmla="*/ 16 w 208"/>
                <a:gd name="T7" fmla="*/ 144 h 192"/>
                <a:gd name="T8" fmla="*/ 112 w 208"/>
                <a:gd name="T9" fmla="*/ 192 h 192"/>
                <a:gd name="T10" fmla="*/ 208 w 208"/>
                <a:gd name="T11" fmla="*/ 144 h 1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8"/>
                <a:gd name="T19" fmla="*/ 0 h 192"/>
                <a:gd name="T20" fmla="*/ 208 w 208"/>
                <a:gd name="T21" fmla="*/ 192 h 1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8" h="192">
                  <a:moveTo>
                    <a:pt x="208" y="48"/>
                  </a:moveTo>
                  <a:cubicBezTo>
                    <a:pt x="176" y="24"/>
                    <a:pt x="144" y="0"/>
                    <a:pt x="112" y="0"/>
                  </a:cubicBezTo>
                  <a:cubicBezTo>
                    <a:pt x="80" y="0"/>
                    <a:pt x="32" y="24"/>
                    <a:pt x="16" y="48"/>
                  </a:cubicBezTo>
                  <a:cubicBezTo>
                    <a:pt x="0" y="72"/>
                    <a:pt x="0" y="120"/>
                    <a:pt x="16" y="144"/>
                  </a:cubicBezTo>
                  <a:cubicBezTo>
                    <a:pt x="32" y="168"/>
                    <a:pt x="80" y="192"/>
                    <a:pt x="112" y="192"/>
                  </a:cubicBezTo>
                  <a:cubicBezTo>
                    <a:pt x="144" y="192"/>
                    <a:pt x="176" y="168"/>
                    <a:pt x="208" y="144"/>
                  </a:cubicBezTo>
                </a:path>
              </a:pathLst>
            </a:custGeom>
            <a:noFill/>
            <a:ln w="25400">
              <a:solidFill>
                <a:srgbClr val="ED7D3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</a:endParaRPr>
            </a:p>
          </p:txBody>
        </p:sp>
      </p:grpSp>
      <p:grpSp>
        <p:nvGrpSpPr>
          <p:cNvPr id="85" name="Group 37">
            <a:extLst>
              <a:ext uri="{FF2B5EF4-FFF2-40B4-BE49-F238E27FC236}">
                <a16:creationId xmlns:a16="http://schemas.microsoft.com/office/drawing/2014/main" id="{072F7E91-43A6-A14C-AAE9-91A2019BC0C2}"/>
              </a:ext>
            </a:extLst>
          </p:cNvPr>
          <p:cNvGrpSpPr>
            <a:grpSpLocks/>
          </p:cNvGrpSpPr>
          <p:nvPr/>
        </p:nvGrpSpPr>
        <p:grpSpPr bwMode="auto">
          <a:xfrm>
            <a:off x="2143680" y="3456163"/>
            <a:ext cx="4572000" cy="914400"/>
            <a:chOff x="1392" y="2256"/>
            <a:chExt cx="2880" cy="576"/>
          </a:xfrm>
        </p:grpSpPr>
        <p:sp>
          <p:nvSpPr>
            <p:cNvPr id="86" name="Rectangle 15">
              <a:extLst>
                <a:ext uri="{FF2B5EF4-FFF2-40B4-BE49-F238E27FC236}">
                  <a16:creationId xmlns:a16="http://schemas.microsoft.com/office/drawing/2014/main" id="{9EFCE89A-65DC-344B-A614-3F58D7A4C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256"/>
              <a:ext cx="1248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200, …, 901</a:t>
              </a:r>
            </a:p>
          </p:txBody>
        </p:sp>
        <p:sp>
          <p:nvSpPr>
            <p:cNvPr id="87" name="Line 16">
              <a:extLst>
                <a:ext uri="{FF2B5EF4-FFF2-40B4-BE49-F238E27FC236}">
                  <a16:creationId xmlns:a16="http://schemas.microsoft.com/office/drawing/2014/main" id="{4129E909-3EDA-164D-B79F-9E016CF7D5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2496"/>
              <a:ext cx="1488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17">
              <a:extLst>
                <a:ext uri="{FF2B5EF4-FFF2-40B4-BE49-F238E27FC236}">
                  <a16:creationId xmlns:a16="http://schemas.microsoft.com/office/drawing/2014/main" id="{4DA4A4A3-AB69-C34B-8B17-3B59E66A5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496"/>
              <a:ext cx="48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32">
              <a:extLst>
                <a:ext uri="{FF2B5EF4-FFF2-40B4-BE49-F238E27FC236}">
                  <a16:creationId xmlns:a16="http://schemas.microsoft.com/office/drawing/2014/main" id="{40CC95BF-FAF7-A640-9096-7CBA679F2C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2496"/>
              <a:ext cx="384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0" name="Group 36">
            <a:extLst>
              <a:ext uri="{FF2B5EF4-FFF2-40B4-BE49-F238E27FC236}">
                <a16:creationId xmlns:a16="http://schemas.microsoft.com/office/drawing/2014/main" id="{5F7EFBC5-D8F6-1743-AF1A-EA45B494B4B1}"/>
              </a:ext>
            </a:extLst>
          </p:cNvPr>
          <p:cNvGrpSpPr>
            <a:grpSpLocks/>
          </p:cNvGrpSpPr>
          <p:nvPr/>
        </p:nvGrpSpPr>
        <p:grpSpPr bwMode="auto">
          <a:xfrm>
            <a:off x="314880" y="4354691"/>
            <a:ext cx="7696200" cy="930275"/>
            <a:chOff x="240" y="2822"/>
            <a:chExt cx="4848" cy="586"/>
          </a:xfrm>
        </p:grpSpPr>
        <p:sp>
          <p:nvSpPr>
            <p:cNvPr id="91" name="Rectangle 19">
              <a:extLst>
                <a:ext uri="{FF2B5EF4-FFF2-40B4-BE49-F238E27FC236}">
                  <a16:creationId xmlns:a16="http://schemas.microsoft.com/office/drawing/2014/main" id="{4C285C74-FDEE-9F4D-8425-08B6047C8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832"/>
              <a:ext cx="1200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123, …, 192</a:t>
              </a:r>
            </a:p>
          </p:txBody>
        </p:sp>
        <p:sp>
          <p:nvSpPr>
            <p:cNvPr id="92" name="Rectangle 20">
              <a:extLst>
                <a:ext uri="{FF2B5EF4-FFF2-40B4-BE49-F238E27FC236}">
                  <a16:creationId xmlns:a16="http://schemas.microsoft.com/office/drawing/2014/main" id="{A56E9408-E968-5042-9F13-BE805443F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832"/>
              <a:ext cx="86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901, …, 996</a:t>
              </a:r>
            </a:p>
          </p:txBody>
        </p:sp>
        <p:sp>
          <p:nvSpPr>
            <p:cNvPr id="93" name="Text Box 21">
              <a:extLst>
                <a:ext uri="{FF2B5EF4-FFF2-40B4-BE49-F238E27FC236}">
                  <a16:creationId xmlns:a16="http://schemas.microsoft.com/office/drawing/2014/main" id="{D011A9B1-38EA-4141-A62D-A02747BDF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858"/>
              <a:ext cx="18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solidFill>
                    <a:schemeClr val="tx2"/>
                  </a:solidFill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94" name="Line 22">
              <a:extLst>
                <a:ext uri="{FF2B5EF4-FFF2-40B4-BE49-F238E27FC236}">
                  <a16:creationId xmlns:a16="http://schemas.microsoft.com/office/drawing/2014/main" id="{D944B0F1-FD09-C14F-AE9D-06DAB5273F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3072"/>
              <a:ext cx="129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23">
              <a:extLst>
                <a:ext uri="{FF2B5EF4-FFF2-40B4-BE49-F238E27FC236}">
                  <a16:creationId xmlns:a16="http://schemas.microsoft.com/office/drawing/2014/main" id="{097F3E8F-0FB2-5243-9455-00B95C2B10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3072"/>
              <a:ext cx="864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24">
              <a:extLst>
                <a:ext uri="{FF2B5EF4-FFF2-40B4-BE49-F238E27FC236}">
                  <a16:creationId xmlns:a16="http://schemas.microsoft.com/office/drawing/2014/main" id="{5B759E3A-CA55-974C-8420-7628F1F70D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3072"/>
              <a:ext cx="480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25">
              <a:extLst>
                <a:ext uri="{FF2B5EF4-FFF2-40B4-BE49-F238E27FC236}">
                  <a16:creationId xmlns:a16="http://schemas.microsoft.com/office/drawing/2014/main" id="{1ABB6C9B-3A57-2147-9E7A-96A60C7C6E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3072"/>
              <a:ext cx="57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26">
              <a:extLst>
                <a:ext uri="{FF2B5EF4-FFF2-40B4-BE49-F238E27FC236}">
                  <a16:creationId xmlns:a16="http://schemas.microsoft.com/office/drawing/2014/main" id="{B749E36F-6ABA-AF44-89FC-83ECBC2F0D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3072"/>
              <a:ext cx="144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Text Box 27">
              <a:extLst>
                <a:ext uri="{FF2B5EF4-FFF2-40B4-BE49-F238E27FC236}">
                  <a16:creationId xmlns:a16="http://schemas.microsoft.com/office/drawing/2014/main" id="{C356DD59-B7E3-E643-BA5C-858D83AA9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" y="2822"/>
              <a:ext cx="97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latin typeface="+mn-lt"/>
                </a:rPr>
                <a:t>Index blocks</a:t>
              </a:r>
            </a:p>
          </p:txBody>
        </p:sp>
        <p:sp>
          <p:nvSpPr>
            <p:cNvPr id="100" name="Rectangle 31">
              <a:extLst>
                <a:ext uri="{FF2B5EF4-FFF2-40B4-BE49-F238E27FC236}">
                  <a16:creationId xmlns:a16="http://schemas.microsoft.com/office/drawing/2014/main" id="{AD7DD418-5BCC-EC40-AA67-F3908B027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832"/>
              <a:ext cx="86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200, …    </a:t>
              </a:r>
            </a:p>
          </p:txBody>
        </p:sp>
        <p:sp>
          <p:nvSpPr>
            <p:cNvPr id="101" name="Line 33">
              <a:extLst>
                <a:ext uri="{FF2B5EF4-FFF2-40B4-BE49-F238E27FC236}">
                  <a16:creationId xmlns:a16="http://schemas.microsoft.com/office/drawing/2014/main" id="{3D276C4C-7535-394A-B76C-774089E2BF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4" y="3072"/>
              <a:ext cx="288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" name="Group 35">
            <a:extLst>
              <a:ext uri="{FF2B5EF4-FFF2-40B4-BE49-F238E27FC236}">
                <a16:creationId xmlns:a16="http://schemas.microsoft.com/office/drawing/2014/main" id="{4AA2E0B5-F433-D349-B5F3-AF530114DC9C}"/>
              </a:ext>
            </a:extLst>
          </p:cNvPr>
          <p:cNvGrpSpPr>
            <a:grpSpLocks/>
          </p:cNvGrpSpPr>
          <p:nvPr/>
        </p:nvGrpSpPr>
        <p:grpSpPr bwMode="auto">
          <a:xfrm>
            <a:off x="314880" y="5284963"/>
            <a:ext cx="8382000" cy="1146175"/>
            <a:chOff x="240" y="3408"/>
            <a:chExt cx="5280" cy="722"/>
          </a:xfrm>
        </p:grpSpPr>
        <p:sp>
          <p:nvSpPr>
            <p:cNvPr id="103" name="Rectangle 5">
              <a:extLst>
                <a:ext uri="{FF2B5EF4-FFF2-40B4-BE49-F238E27FC236}">
                  <a16:creationId xmlns:a16="http://schemas.microsoft.com/office/drawing/2014/main" id="{5A291768-0266-EF4B-9EFC-F433D137D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100, 108,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119, 121</a:t>
              </a:r>
            </a:p>
          </p:txBody>
        </p:sp>
        <p:sp>
          <p:nvSpPr>
            <p:cNvPr id="104" name="Rectangle 6">
              <a:extLst>
                <a:ext uri="{FF2B5EF4-FFF2-40B4-BE49-F238E27FC236}">
                  <a16:creationId xmlns:a16="http://schemas.microsoft.com/office/drawing/2014/main" id="{3E126D4F-C586-A24B-B41A-FAC14AFE3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123, 129,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105" name="Rectangle 7">
              <a:extLst>
                <a:ext uri="{FF2B5EF4-FFF2-40B4-BE49-F238E27FC236}">
                  <a16:creationId xmlns:a16="http://schemas.microsoft.com/office/drawing/2014/main" id="{F3089F7A-CE68-4345-A3D0-211AF7D37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901, 907,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106" name="Rectangle 8">
              <a:extLst>
                <a:ext uri="{FF2B5EF4-FFF2-40B4-BE49-F238E27FC236}">
                  <a16:creationId xmlns:a16="http://schemas.microsoft.com/office/drawing/2014/main" id="{2E209BA0-EDAE-DA49-8804-59E386E08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996, 997,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107" name="Text Box 9">
              <a:extLst>
                <a:ext uri="{FF2B5EF4-FFF2-40B4-BE49-F238E27FC236}">
                  <a16:creationId xmlns:a16="http://schemas.microsoft.com/office/drawing/2014/main" id="{763AE390-0254-AC4B-A801-519895B22F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3" y="3537"/>
              <a:ext cx="184" cy="19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108" name="Text Box 10">
              <a:extLst>
                <a:ext uri="{FF2B5EF4-FFF2-40B4-BE49-F238E27FC236}">
                  <a16:creationId xmlns:a16="http://schemas.microsoft.com/office/drawing/2014/main" id="{65A7D08D-71DE-EC4C-B31A-591D563BF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6" y="3537"/>
              <a:ext cx="184" cy="19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109" name="Text Box 11">
              <a:extLst>
                <a:ext uri="{FF2B5EF4-FFF2-40B4-BE49-F238E27FC236}">
                  <a16:creationId xmlns:a16="http://schemas.microsoft.com/office/drawing/2014/main" id="{FE08A92E-E920-6242-AAF5-254AE274C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7" y="3537"/>
              <a:ext cx="184" cy="194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110" name="Text Box 12">
              <a:extLst>
                <a:ext uri="{FF2B5EF4-FFF2-40B4-BE49-F238E27FC236}">
                  <a16:creationId xmlns:a16="http://schemas.microsoft.com/office/drawing/2014/main" id="{02DA05F6-EFE1-364F-8DFE-375613F6D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878"/>
              <a:ext cx="909" cy="252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latin typeface="+mn-lt"/>
                </a:rPr>
                <a:t>Data blocks</a:t>
              </a:r>
            </a:p>
          </p:txBody>
        </p:sp>
        <p:sp>
          <p:nvSpPr>
            <p:cNvPr id="111" name="Rectangle 13">
              <a:extLst>
                <a:ext uri="{FF2B5EF4-FFF2-40B4-BE49-F238E27FC236}">
                  <a16:creationId xmlns:a16="http://schemas.microsoft.com/office/drawing/2014/main" id="{3341B189-9A59-6042-A65B-C250ABA86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192, 197,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112" name="Rectangle 34">
              <a:extLst>
                <a:ext uri="{FF2B5EF4-FFF2-40B4-BE49-F238E27FC236}">
                  <a16:creationId xmlns:a16="http://schemas.microsoft.com/office/drawing/2014/main" id="{0B1BC56F-8E67-D448-AA72-F21E5EA6D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200, 202,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</p:grpSp>
      <p:sp>
        <p:nvSpPr>
          <p:cNvPr id="113" name="Text Box 38">
            <a:extLst>
              <a:ext uri="{FF2B5EF4-FFF2-40B4-BE49-F238E27FC236}">
                <a16:creationId xmlns:a16="http://schemas.microsoft.com/office/drawing/2014/main" id="{40E687EF-B1D2-864B-A2EF-07F67147F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993" y="3075163"/>
            <a:ext cx="30412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dirty="0">
                <a:solidFill>
                  <a:schemeClr val="accent5"/>
                </a:solidFill>
                <a:latin typeface="+mn-lt"/>
              </a:rPr>
              <a:t>Example: look up </a:t>
            </a:r>
            <a:r>
              <a:rPr lang="en-US" dirty="0">
                <a:solidFill>
                  <a:schemeClr val="accent5"/>
                </a:solidFill>
                <a:latin typeface="Prestige12 BT" panose="02070509030506020304" pitchFamily="49" charset="0"/>
              </a:rPr>
              <a:t>197</a:t>
            </a:r>
          </a:p>
        </p:txBody>
      </p:sp>
      <p:sp>
        <p:nvSpPr>
          <p:cNvPr id="114" name="Line 39">
            <a:extLst>
              <a:ext uri="{FF2B5EF4-FFF2-40B4-BE49-F238E27FC236}">
                <a16:creationId xmlns:a16="http://schemas.microsoft.com/office/drawing/2014/main" id="{2A2D4C83-E58D-B347-BB54-BCF41CFC6B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9957" y="3837160"/>
            <a:ext cx="2362200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" name="Line 40">
            <a:extLst>
              <a:ext uri="{FF2B5EF4-FFF2-40B4-BE49-F238E27FC236}">
                <a16:creationId xmlns:a16="http://schemas.microsoft.com/office/drawing/2014/main" id="{3FE7829B-CB0A-5540-9948-C80A5937EA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34280" y="4751566"/>
            <a:ext cx="762000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B809961-EE04-1F4A-8E26-DF7946BCF094}"/>
              </a:ext>
            </a:extLst>
          </p:cNvPr>
          <p:cNvSpPr/>
          <p:nvPr/>
        </p:nvSpPr>
        <p:spPr>
          <a:xfrm>
            <a:off x="16077" y="796594"/>
            <a:ext cx="9149394" cy="1420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an index is too large, can put other layers of sparse indices on the index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Forms a tree and allows the system to keep higher-level indices in memory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Cand do depth-1 many I/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lookups (ignoring overflows)</a:t>
            </a:r>
          </a:p>
        </p:txBody>
      </p:sp>
    </p:spTree>
    <p:extLst>
      <p:ext uri="{BB962C8B-B14F-4D97-AF65-F5344CB8AC3E}">
        <p14:creationId xmlns:p14="http://schemas.microsoft.com/office/powerpoint/2010/main" val="248247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utoUpdateAnimBg="0"/>
      <p:bldP spid="114" grpId="0" animBg="1"/>
      <p:bldP spid="1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30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Approach: B/B+ Tree Indices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66280" y="6479375"/>
            <a:ext cx="2133600" cy="365125"/>
          </a:xfrm>
        </p:spPr>
        <p:txBody>
          <a:bodyPr/>
          <a:lstStyle/>
          <a:p>
            <a:fld id="{AFAD4509-1FB2-2540-A246-CEF93BA68631}" type="slidenum">
              <a:rPr lang="en-US" smtClean="0"/>
              <a:t>37</a:t>
            </a:fld>
            <a:endParaRPr lang="en-US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B809961-EE04-1F4A-8E26-DF7946BCF094}"/>
              </a:ext>
            </a:extLst>
          </p:cNvPr>
          <p:cNvSpPr/>
          <p:nvPr/>
        </p:nvSpPr>
        <p:spPr>
          <a:xfrm>
            <a:off x="50486" y="663808"/>
            <a:ext cx="9149394" cy="2805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Multi-level sparse indices on a first level of pages that is either: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actual relation pages (if clustered)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dense index on the relation pages (works for clustered or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unclustered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leaf level consists of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chained pages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Forms a k-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ary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balanced tree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Instead of overflow pages uses splitting and merging of pages at any layer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FEEFB3-5559-7840-86B6-069723449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3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982BB6-F28A-5142-9319-7B9D0F98F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850B49-59D8-6E4B-B856-2A35E6D7D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53778A2-ECCA-1347-8E43-1569BAB2F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064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5E0FC7F-550D-8C42-A156-305CFB207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064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C695144-362B-124E-B9C5-7E32BF8BD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9064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7717BDB-C2EC-504F-929E-D336A0489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263" y="475624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FDF9ED7-B5C0-9048-A9F8-F155BBE8C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064" y="475624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50DCEC-47A8-C144-8418-EE8419174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051" y="3483676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52" name="Text Box 14">
            <a:extLst>
              <a:ext uri="{FF2B5EF4-FFF2-40B4-BE49-F238E27FC236}">
                <a16:creationId xmlns:a16="http://schemas.microsoft.com/office/drawing/2014/main" id="{654C097A-C4DA-B440-84EC-4C20CDA29F9A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146051" y="5815013"/>
            <a:ext cx="4921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3</a:t>
            </a:r>
          </a:p>
        </p:txBody>
      </p:sp>
      <p:sp>
        <p:nvSpPr>
          <p:cNvPr id="53" name="Text Box 15">
            <a:extLst>
              <a:ext uri="{FF2B5EF4-FFF2-40B4-BE49-F238E27FC236}">
                <a16:creationId xmlns:a16="http://schemas.microsoft.com/office/drawing/2014/main" id="{A4A78680-225F-E64B-821C-19699F40E0A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527051" y="5811838"/>
            <a:ext cx="4921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5</a:t>
            </a:r>
          </a:p>
        </p:txBody>
      </p:sp>
      <p:sp>
        <p:nvSpPr>
          <p:cNvPr id="54" name="Text Box 16">
            <a:extLst>
              <a:ext uri="{FF2B5EF4-FFF2-40B4-BE49-F238E27FC236}">
                <a16:creationId xmlns:a16="http://schemas.microsoft.com/office/drawing/2014/main" id="{67AFABD2-2980-FE4F-9D10-8DC606C29611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908051" y="5735638"/>
            <a:ext cx="492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11</a:t>
            </a:r>
          </a:p>
        </p:txBody>
      </p:sp>
      <p:sp>
        <p:nvSpPr>
          <p:cNvPr id="55" name="Text Box 17">
            <a:extLst>
              <a:ext uri="{FF2B5EF4-FFF2-40B4-BE49-F238E27FC236}">
                <a16:creationId xmlns:a16="http://schemas.microsoft.com/office/drawing/2014/main" id="{45E2D66B-2E6B-9744-8075-ABADA9EDF015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1671638" y="5737225"/>
            <a:ext cx="492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30</a:t>
            </a:r>
          </a:p>
        </p:txBody>
      </p:sp>
      <p:sp>
        <p:nvSpPr>
          <p:cNvPr id="56" name="Text Box 18">
            <a:extLst>
              <a:ext uri="{FF2B5EF4-FFF2-40B4-BE49-F238E27FC236}">
                <a16:creationId xmlns:a16="http://schemas.microsoft.com/office/drawing/2014/main" id="{E5BC9066-E812-8D45-BA36-EBF8EE32486B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2051051" y="5751513"/>
            <a:ext cx="492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35</a:t>
            </a:r>
          </a:p>
        </p:txBody>
      </p:sp>
      <p:sp>
        <p:nvSpPr>
          <p:cNvPr id="57" name="Text Box 19">
            <a:extLst>
              <a:ext uri="{FF2B5EF4-FFF2-40B4-BE49-F238E27FC236}">
                <a16:creationId xmlns:a16="http://schemas.microsoft.com/office/drawing/2014/main" id="{B0EFA3FF-9ECF-D245-9A30-FA6B963A1C15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3194051" y="5661025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 dirty="0">
                <a:latin typeface="Prestige12 BT" panose="02070509030506020304" pitchFamily="49" charset="0"/>
              </a:rPr>
              <a:t>100</a:t>
            </a:r>
          </a:p>
        </p:txBody>
      </p:sp>
      <p:sp>
        <p:nvSpPr>
          <p:cNvPr id="58" name="Text Box 20">
            <a:extLst>
              <a:ext uri="{FF2B5EF4-FFF2-40B4-BE49-F238E27FC236}">
                <a16:creationId xmlns:a16="http://schemas.microsoft.com/office/drawing/2014/main" id="{004C11DC-286B-6742-97BC-59CF0DE9EDA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3575051" y="5662613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 dirty="0">
                <a:latin typeface="Prestige12 BT" panose="02070509030506020304" pitchFamily="49" charset="0"/>
              </a:rPr>
              <a:t>101</a:t>
            </a:r>
          </a:p>
        </p:txBody>
      </p:sp>
      <p:sp>
        <p:nvSpPr>
          <p:cNvPr id="59" name="Text Box 21">
            <a:extLst>
              <a:ext uri="{FF2B5EF4-FFF2-40B4-BE49-F238E27FC236}">
                <a16:creationId xmlns:a16="http://schemas.microsoft.com/office/drawing/2014/main" id="{18EE8476-61E9-344E-993C-DAEFF1AFCDF0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3956051" y="5675313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110</a:t>
            </a:r>
          </a:p>
        </p:txBody>
      </p:sp>
      <p:sp>
        <p:nvSpPr>
          <p:cNvPr id="60" name="Text Box 22">
            <a:extLst>
              <a:ext uri="{FF2B5EF4-FFF2-40B4-BE49-F238E27FC236}">
                <a16:creationId xmlns:a16="http://schemas.microsoft.com/office/drawing/2014/main" id="{C2593AB9-A6E0-7C40-98BD-2D244ABE3EC1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4718051" y="5659438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120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20D1C88E-45FC-EC4C-8230-D45066CF8274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5099051" y="5662613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130</a:t>
            </a:r>
          </a:p>
        </p:txBody>
      </p:sp>
      <p:sp>
        <p:nvSpPr>
          <p:cNvPr id="62" name="Text Box 24">
            <a:extLst>
              <a:ext uri="{FF2B5EF4-FFF2-40B4-BE49-F238E27FC236}">
                <a16:creationId xmlns:a16="http://schemas.microsoft.com/office/drawing/2014/main" id="{5652AA08-F5AD-5E4E-B2CA-D831482F5095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6259514" y="5662613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150</a:t>
            </a:r>
          </a:p>
        </p:txBody>
      </p:sp>
      <p:sp>
        <p:nvSpPr>
          <p:cNvPr id="65" name="Text Box 25">
            <a:extLst>
              <a:ext uri="{FF2B5EF4-FFF2-40B4-BE49-F238E27FC236}">
                <a16:creationId xmlns:a16="http://schemas.microsoft.com/office/drawing/2014/main" id="{E5635100-BAD0-5F4F-9161-A1A2C652B942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6640514" y="5659438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156</a:t>
            </a:r>
          </a:p>
        </p:txBody>
      </p:sp>
      <p:sp>
        <p:nvSpPr>
          <p:cNvPr id="66" name="Text Box 26">
            <a:extLst>
              <a:ext uri="{FF2B5EF4-FFF2-40B4-BE49-F238E27FC236}">
                <a16:creationId xmlns:a16="http://schemas.microsoft.com/office/drawing/2014/main" id="{4C5368ED-FA3A-0F4F-9C64-0BFA76AE1328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7021514" y="5646738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179</a:t>
            </a:r>
          </a:p>
        </p:txBody>
      </p:sp>
      <p:sp>
        <p:nvSpPr>
          <p:cNvPr id="67" name="Text Box 27">
            <a:extLst>
              <a:ext uri="{FF2B5EF4-FFF2-40B4-BE49-F238E27FC236}">
                <a16:creationId xmlns:a16="http://schemas.microsoft.com/office/drawing/2014/main" id="{4A9FE0D5-F530-8C46-B854-565B9251A4AD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7781926" y="5659438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180</a:t>
            </a:r>
          </a:p>
        </p:txBody>
      </p:sp>
      <p:sp>
        <p:nvSpPr>
          <p:cNvPr id="68" name="Text Box 28">
            <a:extLst>
              <a:ext uri="{FF2B5EF4-FFF2-40B4-BE49-F238E27FC236}">
                <a16:creationId xmlns:a16="http://schemas.microsoft.com/office/drawing/2014/main" id="{ECFC1558-8898-7842-90D2-C27BB25FEAE0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8162926" y="5662613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200</a:t>
            </a:r>
          </a:p>
        </p:txBody>
      </p:sp>
      <p:sp>
        <p:nvSpPr>
          <p:cNvPr id="69" name="Text Box 29">
            <a:extLst>
              <a:ext uri="{FF2B5EF4-FFF2-40B4-BE49-F238E27FC236}">
                <a16:creationId xmlns:a16="http://schemas.microsoft.com/office/drawing/2014/main" id="{466E684B-98E2-5D4B-8F28-E1ACF21812B6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961303" y="4845140"/>
            <a:ext cx="492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 dirty="0">
                <a:latin typeface="Prestige12 BT" panose="02070509030506020304" pitchFamily="49" charset="0"/>
              </a:rPr>
              <a:t>30</a:t>
            </a:r>
          </a:p>
        </p:txBody>
      </p:sp>
      <p:sp>
        <p:nvSpPr>
          <p:cNvPr id="70" name="Text Box 30">
            <a:extLst>
              <a:ext uri="{FF2B5EF4-FFF2-40B4-BE49-F238E27FC236}">
                <a16:creationId xmlns:a16="http://schemas.microsoft.com/office/drawing/2014/main" id="{9EACCBC4-5C4D-774E-BB9B-2FBF94F5A596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3567141" y="3481584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 dirty="0">
                <a:latin typeface="Prestige12 BT" panose="02070509030506020304" pitchFamily="49" charset="0"/>
              </a:rPr>
              <a:t>100</a:t>
            </a:r>
          </a:p>
        </p:txBody>
      </p:sp>
      <p:sp>
        <p:nvSpPr>
          <p:cNvPr id="71" name="Text Box 31">
            <a:extLst>
              <a:ext uri="{FF2B5EF4-FFF2-40B4-BE49-F238E27FC236}">
                <a16:creationId xmlns:a16="http://schemas.microsoft.com/office/drawing/2014/main" id="{A319A430-F1DE-CC43-BB1D-66B2CD1AEDAE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5480051" y="4754653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120</a:t>
            </a:r>
          </a:p>
        </p:txBody>
      </p:sp>
      <p:sp>
        <p:nvSpPr>
          <p:cNvPr id="72" name="Text Box 32">
            <a:extLst>
              <a:ext uri="{FF2B5EF4-FFF2-40B4-BE49-F238E27FC236}">
                <a16:creationId xmlns:a16="http://schemas.microsoft.com/office/drawing/2014/main" id="{38F509E1-B01E-4941-9A93-0F86129380C0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5861051" y="4756240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150</a:t>
            </a:r>
          </a:p>
        </p:txBody>
      </p:sp>
      <p:sp>
        <p:nvSpPr>
          <p:cNvPr id="75" name="Text Box 33">
            <a:extLst>
              <a:ext uri="{FF2B5EF4-FFF2-40B4-BE49-F238E27FC236}">
                <a16:creationId xmlns:a16="http://schemas.microsoft.com/office/drawing/2014/main" id="{E6F60AF5-9FAF-4A4B-8173-E2CF53F14871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6242051" y="4756240"/>
            <a:ext cx="4921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2000">
                <a:latin typeface="Prestige12 BT" panose="02070509030506020304" pitchFamily="49" charset="0"/>
              </a:rPr>
              <a:t>180</a:t>
            </a:r>
          </a:p>
        </p:txBody>
      </p:sp>
      <p:sp>
        <p:nvSpPr>
          <p:cNvPr id="76" name="Line 34">
            <a:extLst>
              <a:ext uri="{FF2B5EF4-FFF2-40B4-BE49-F238E27FC236}">
                <a16:creationId xmlns:a16="http://schemas.microsoft.com/office/drawing/2014/main" id="{04A489D0-72F2-B84D-B0F5-0E364E208B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28057" y="3916453"/>
            <a:ext cx="2438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77" name="Line 35">
            <a:extLst>
              <a:ext uri="{FF2B5EF4-FFF2-40B4-BE49-F238E27FC236}">
                <a16:creationId xmlns:a16="http://schemas.microsoft.com/office/drawing/2014/main" id="{2743BE74-3778-F240-9320-60BA24ACD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7813" y="3916453"/>
            <a:ext cx="1752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78" name="Line 36">
            <a:extLst>
              <a:ext uri="{FF2B5EF4-FFF2-40B4-BE49-F238E27FC236}">
                <a16:creationId xmlns:a16="http://schemas.microsoft.com/office/drawing/2014/main" id="{7C837CCF-40E3-0644-8CDB-BD79C24D98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662" y="5125842"/>
            <a:ext cx="346075" cy="53835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79" name="Line 37">
            <a:extLst>
              <a:ext uri="{FF2B5EF4-FFF2-40B4-BE49-F238E27FC236}">
                <a16:creationId xmlns:a16="http://schemas.microsoft.com/office/drawing/2014/main" id="{77E2A83D-DA02-C046-849A-DD0A8955E8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1449" y="5217408"/>
            <a:ext cx="887414" cy="44679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80" name="Line 38">
            <a:extLst>
              <a:ext uri="{FF2B5EF4-FFF2-40B4-BE49-F238E27FC236}">
                <a16:creationId xmlns:a16="http://schemas.microsoft.com/office/drawing/2014/main" id="{454B1BBC-7A1F-1645-A1B5-5B64136FD3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2862" y="5125842"/>
            <a:ext cx="1701799" cy="53835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81" name="Line 39">
            <a:extLst>
              <a:ext uri="{FF2B5EF4-FFF2-40B4-BE49-F238E27FC236}">
                <a16:creationId xmlns:a16="http://schemas.microsoft.com/office/drawing/2014/main" id="{BC205E4A-9E74-F940-8ED8-E88FF9C13E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0664" y="5186452"/>
            <a:ext cx="573085" cy="47774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82" name="Line 40">
            <a:extLst>
              <a:ext uri="{FF2B5EF4-FFF2-40B4-BE49-F238E27FC236}">
                <a16:creationId xmlns:a16="http://schemas.microsoft.com/office/drawing/2014/main" id="{B724754B-6469-7349-8039-406A234F46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0460" y="5217408"/>
            <a:ext cx="584204" cy="44679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83" name="Line 41">
            <a:extLst>
              <a:ext uri="{FF2B5EF4-FFF2-40B4-BE49-F238E27FC236}">
                <a16:creationId xmlns:a16="http://schemas.microsoft.com/office/drawing/2014/main" id="{69B8A97D-E6EA-774A-BF77-F2AB6FFDF3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1460" y="5202534"/>
            <a:ext cx="1727204" cy="46166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84" name="Line 42">
            <a:extLst>
              <a:ext uri="{FF2B5EF4-FFF2-40B4-BE49-F238E27FC236}">
                <a16:creationId xmlns:a16="http://schemas.microsoft.com/office/drawing/2014/main" id="{DBAC69E2-8B9E-814D-B2C6-13387F070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915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17" name="Line 43">
            <a:extLst>
              <a:ext uri="{FF2B5EF4-FFF2-40B4-BE49-F238E27FC236}">
                <a16:creationId xmlns:a16="http://schemas.microsoft.com/office/drawing/2014/main" id="{FBD07699-0622-9543-8B22-13F7219168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915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18" name="Line 44">
            <a:extLst>
              <a:ext uri="{FF2B5EF4-FFF2-40B4-BE49-F238E27FC236}">
                <a16:creationId xmlns:a16="http://schemas.microsoft.com/office/drawing/2014/main" id="{02466FC6-6306-ED4C-91D8-47F1BEEEB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2915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19" name="Line 45">
            <a:extLst>
              <a:ext uri="{FF2B5EF4-FFF2-40B4-BE49-F238E27FC236}">
                <a16:creationId xmlns:a16="http://schemas.microsoft.com/office/drawing/2014/main" id="{CB1DDD91-0A05-B647-B8D9-75D77B9E01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7063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0" name="Line 46">
            <a:extLst>
              <a:ext uri="{FF2B5EF4-FFF2-40B4-BE49-F238E27FC236}">
                <a16:creationId xmlns:a16="http://schemas.microsoft.com/office/drawing/2014/main" id="{8164DA3B-0001-F44D-AEAF-596D7C1C14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8063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1" name="Line 47">
            <a:extLst>
              <a:ext uri="{FF2B5EF4-FFF2-40B4-BE49-F238E27FC236}">
                <a16:creationId xmlns:a16="http://schemas.microsoft.com/office/drawing/2014/main" id="{99D00960-ACFE-8243-9DCA-7E7A7B797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4153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2" name="Line 48">
            <a:extLst>
              <a:ext uri="{FF2B5EF4-FFF2-40B4-BE49-F238E27FC236}">
                <a16:creationId xmlns:a16="http://schemas.microsoft.com/office/drawing/2014/main" id="{AAAD1721-48E3-7C4A-AC86-76C6D0D145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5153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3" name="Line 49">
            <a:extLst>
              <a:ext uri="{FF2B5EF4-FFF2-40B4-BE49-F238E27FC236}">
                <a16:creationId xmlns:a16="http://schemas.microsoft.com/office/drawing/2014/main" id="{147F64BD-B79B-A144-AA3A-B6852AB04D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6153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4" name="Line 50">
            <a:extLst>
              <a:ext uri="{FF2B5EF4-FFF2-40B4-BE49-F238E27FC236}">
                <a16:creationId xmlns:a16="http://schemas.microsoft.com/office/drawing/2014/main" id="{51A17595-6B09-164B-95BD-66A7C19F23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448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5" name="Line 51">
            <a:extLst>
              <a:ext uri="{FF2B5EF4-FFF2-40B4-BE49-F238E27FC236}">
                <a16:creationId xmlns:a16="http://schemas.microsoft.com/office/drawing/2014/main" id="{396F2673-EB87-0A41-B17D-A9866C75D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3364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6" name="Line 52">
            <a:extLst>
              <a:ext uri="{FF2B5EF4-FFF2-40B4-BE49-F238E27FC236}">
                <a16:creationId xmlns:a16="http://schemas.microsoft.com/office/drawing/2014/main" id="{C1CADE9F-3CBF-7C45-A1F9-FAE794E89D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9864" y="61595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7" name="Line 53">
            <a:extLst>
              <a:ext uri="{FF2B5EF4-FFF2-40B4-BE49-F238E27FC236}">
                <a16:creationId xmlns:a16="http://schemas.microsoft.com/office/drawing/2014/main" id="{1EB55B6D-82F6-B042-AEFD-8BE5D6F3DC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0864" y="61595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8" name="Line 54">
            <a:extLst>
              <a:ext uri="{FF2B5EF4-FFF2-40B4-BE49-F238E27FC236}">
                <a16:creationId xmlns:a16="http://schemas.microsoft.com/office/drawing/2014/main" id="{4E2FE7C5-773E-9841-9605-6413207EBA4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1864" y="61595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29" name="Line 55">
            <a:extLst>
              <a:ext uri="{FF2B5EF4-FFF2-40B4-BE49-F238E27FC236}">
                <a16:creationId xmlns:a16="http://schemas.microsoft.com/office/drawing/2014/main" id="{73AFDE70-A90D-DC48-8572-6E40CB84C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3864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30" name="Line 56">
            <a:extLst>
              <a:ext uri="{FF2B5EF4-FFF2-40B4-BE49-F238E27FC236}">
                <a16:creationId xmlns:a16="http://schemas.microsoft.com/office/drawing/2014/main" id="{AE574B28-5260-0C46-A80B-851F538BAA7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4864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31" name="Line 57">
            <a:extLst>
              <a:ext uri="{FF2B5EF4-FFF2-40B4-BE49-F238E27FC236}">
                <a16:creationId xmlns:a16="http://schemas.microsoft.com/office/drawing/2014/main" id="{7731B355-6B3C-964F-9D2E-8773FA75B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8263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32" name="Line 58">
            <a:extLst>
              <a:ext uri="{FF2B5EF4-FFF2-40B4-BE49-F238E27FC236}">
                <a16:creationId xmlns:a16="http://schemas.microsoft.com/office/drawing/2014/main" id="{42AA2007-1650-464C-9A48-143D3B479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2263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33" name="Line 59">
            <a:extLst>
              <a:ext uri="{FF2B5EF4-FFF2-40B4-BE49-F238E27FC236}">
                <a16:creationId xmlns:a16="http://schemas.microsoft.com/office/drawing/2014/main" id="{4A88190A-4BFE-344A-B5D4-3826B98204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6263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34" name="Line 60">
            <a:extLst>
              <a:ext uri="{FF2B5EF4-FFF2-40B4-BE49-F238E27FC236}">
                <a16:creationId xmlns:a16="http://schemas.microsoft.com/office/drawing/2014/main" id="{B4E9760D-91E9-7D49-AD5A-0A8237B762E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0264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35" name="Line 61">
            <a:extLst>
              <a:ext uri="{FF2B5EF4-FFF2-40B4-BE49-F238E27FC236}">
                <a16:creationId xmlns:a16="http://schemas.microsoft.com/office/drawing/2014/main" id="{3CD3F64B-7A81-DA4B-B339-CCFDD3D2C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4264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Prestige12 BT" panose="02070509030506020304" pitchFamily="49" charset="0"/>
            </a:endParaRPr>
          </a:p>
        </p:txBody>
      </p:sp>
      <p:sp>
        <p:nvSpPr>
          <p:cNvPr id="136" name="Text Box 62">
            <a:extLst>
              <a:ext uri="{FF2B5EF4-FFF2-40B4-BE49-F238E27FC236}">
                <a16:creationId xmlns:a16="http://schemas.microsoft.com/office/drawing/2014/main" id="{35C9B69D-E836-1F4C-9F64-B9E89F86D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444" y="3846106"/>
            <a:ext cx="20746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dirty="0">
                <a:solidFill>
                  <a:schemeClr val="accent2"/>
                </a:solidFill>
                <a:latin typeface="+mn-lt"/>
              </a:rPr>
              <a:t>Max fan-out: 4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C10A9B5-CEDB-1641-B33F-81B17B505581}"/>
              </a:ext>
            </a:extLst>
          </p:cNvPr>
          <p:cNvSpPr txBox="1"/>
          <p:nvPr/>
        </p:nvSpPr>
        <p:spPr>
          <a:xfrm>
            <a:off x="421184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65F6022-7816-F247-8FD7-7051C9A12B15}"/>
              </a:ext>
            </a:extLst>
          </p:cNvPr>
          <p:cNvSpPr txBox="1"/>
          <p:nvPr/>
        </p:nvSpPr>
        <p:spPr>
          <a:xfrm>
            <a:off x="1561564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pg2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8107932-27C7-8B49-9046-123678F176E5}"/>
              </a:ext>
            </a:extLst>
          </p:cNvPr>
          <p:cNvSpPr txBox="1"/>
          <p:nvPr/>
        </p:nvSpPr>
        <p:spPr>
          <a:xfrm>
            <a:off x="6170077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pg5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113CB04-2332-CD4F-BFA9-72BEA8E091F3}"/>
              </a:ext>
            </a:extLst>
          </p:cNvPr>
          <p:cNvSpPr txBox="1"/>
          <p:nvPr/>
        </p:nvSpPr>
        <p:spPr>
          <a:xfrm>
            <a:off x="7677413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pg6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AD44A70-E4BC-0C46-BC09-7FB789D76D4D}"/>
              </a:ext>
            </a:extLst>
          </p:cNvPr>
          <p:cNvSpPr txBox="1"/>
          <p:nvPr/>
        </p:nvSpPr>
        <p:spPr>
          <a:xfrm>
            <a:off x="4479316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pg4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0D24EE6-D83C-1141-9FED-39599D4882B4}"/>
              </a:ext>
            </a:extLst>
          </p:cNvPr>
          <p:cNvSpPr txBox="1"/>
          <p:nvPr/>
        </p:nvSpPr>
        <p:spPr>
          <a:xfrm>
            <a:off x="3265739" y="5047802"/>
            <a:ext cx="81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pg3</a:t>
            </a:r>
          </a:p>
        </p:txBody>
      </p:sp>
    </p:spTree>
    <p:extLst>
      <p:ext uri="{BB962C8B-B14F-4D97-AF65-F5344CB8AC3E}">
        <p14:creationId xmlns:p14="http://schemas.microsoft.com/office/powerpoint/2010/main" val="135099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/>
      <p:bldP spid="138" grpId="0"/>
      <p:bldP spid="139" grpId="0"/>
      <p:bldP spid="140" grpId="0"/>
      <p:bldP spid="141" grpId="0"/>
      <p:bldP spid="14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626100" y="1786403"/>
            <a:ext cx="2151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Max fan-out: 4</a:t>
            </a: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3721100" y="1781640"/>
            <a:ext cx="7620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3797300" y="216264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 rot="10800000">
            <a:off x="3822542" y="2197748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 rot="10800000">
            <a:off x="4203542" y="2178698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 rot="10800000">
            <a:off x="4584542" y="2178698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2197100" y="2619840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 flipH="1">
            <a:off x="3644900" y="2619840"/>
            <a:ext cx="6096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>
            <a:off x="4635500" y="2619840"/>
            <a:ext cx="533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5016500" y="2619840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17"/>
              <p:cNvSpPr txBox="1">
                <a:spLocks noChangeArrowheads="1"/>
              </p:cNvSpPr>
              <p:nvPr/>
            </p:nvSpPr>
            <p:spPr bwMode="auto">
              <a:xfrm>
                <a:off x="743973" y="3512015"/>
                <a:ext cx="1923027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to keys </a:t>
                </a:r>
                <a:b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100≤</m:t>
                      </m:r>
                      <m:r>
                        <a:rPr kumimoji="0" lang="en-US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0" lang="en-US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&lt;120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3973" y="3512015"/>
                <a:ext cx="1923027" cy="707886"/>
              </a:xfrm>
              <a:prstGeom prst="rect">
                <a:avLst/>
              </a:prstGeom>
              <a:blipFill>
                <a:blip r:embed="rId4"/>
                <a:stretch>
                  <a:fillRect t="-35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Box 18"/>
              <p:cNvSpPr txBox="1">
                <a:spLocks noChangeArrowheads="1"/>
              </p:cNvSpPr>
              <p:nvPr/>
            </p:nvSpPr>
            <p:spPr bwMode="auto">
              <a:xfrm>
                <a:off x="2590800" y="3512015"/>
                <a:ext cx="1923027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to keys</a:t>
                </a:r>
                <a:b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120≤</m:t>
                      </m:r>
                      <m:r>
                        <a:rPr kumimoji="0" lang="en-US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0" lang="en-US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&lt;150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0800" y="3512015"/>
                <a:ext cx="1923027" cy="707886"/>
              </a:xfrm>
              <a:prstGeom prst="rect">
                <a:avLst/>
              </a:prstGeom>
              <a:blipFill>
                <a:blip r:embed="rId5"/>
                <a:stretch>
                  <a:fillRect t="-35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Box 19"/>
              <p:cNvSpPr txBox="1">
                <a:spLocks noChangeArrowheads="1"/>
              </p:cNvSpPr>
              <p:nvPr/>
            </p:nvSpPr>
            <p:spPr bwMode="auto">
              <a:xfrm>
                <a:off x="4401573" y="3512015"/>
                <a:ext cx="1923027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to keys</a:t>
                </a:r>
                <a:b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150≤</m:t>
                      </m:r>
                      <m:r>
                        <a:rPr kumimoji="0" lang="en-US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0" lang="en-US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&lt;180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1573" y="3512015"/>
                <a:ext cx="1923027" cy="707886"/>
              </a:xfrm>
              <a:prstGeom prst="rect">
                <a:avLst/>
              </a:prstGeom>
              <a:blipFill>
                <a:blip r:embed="rId6"/>
                <a:stretch>
                  <a:fillRect t="-35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Box 20"/>
              <p:cNvSpPr txBox="1">
                <a:spLocks noChangeArrowheads="1"/>
              </p:cNvSpPr>
              <p:nvPr/>
            </p:nvSpPr>
            <p:spPr bwMode="auto">
              <a:xfrm>
                <a:off x="6231211" y="3512015"/>
                <a:ext cx="1160189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to keys</a:t>
                </a:r>
                <a:b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180≤</m:t>
                      </m:r>
                      <m:r>
                        <a:rPr kumimoji="0" lang="en-US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1211" y="3512015"/>
                <a:ext cx="1160189" cy="707886"/>
              </a:xfrm>
              <a:prstGeom prst="rect">
                <a:avLst/>
              </a:prstGeom>
              <a:blipFill>
                <a:blip r:embed="rId7"/>
                <a:stretch>
                  <a:fillRect l="-1075" t="-35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Box 21"/>
          <p:cNvSpPr txBox="1">
            <a:spLocks noChangeArrowheads="1"/>
          </p:cNvSpPr>
          <p:nvPr/>
        </p:nvSpPr>
        <p:spPr bwMode="auto">
          <a:xfrm>
            <a:off x="2378075" y="2208678"/>
            <a:ext cx="1350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Non-leaf</a:t>
            </a:r>
          </a:p>
        </p:txBody>
      </p:sp>
      <p:sp>
        <p:nvSpPr>
          <p:cNvPr id="20" name="Rectangle 24"/>
          <p:cNvSpPr>
            <a:spLocks noChangeArrowheads="1"/>
          </p:cNvSpPr>
          <p:nvPr/>
        </p:nvSpPr>
        <p:spPr bwMode="auto">
          <a:xfrm>
            <a:off x="2290763" y="485504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 rot="10800000">
            <a:off x="2316005" y="4866335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22" name="Text Box 26"/>
          <p:cNvSpPr txBox="1">
            <a:spLocks noChangeArrowheads="1"/>
          </p:cNvSpPr>
          <p:nvPr/>
        </p:nvSpPr>
        <p:spPr bwMode="auto">
          <a:xfrm rot="10800000">
            <a:off x="2677220" y="4871871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130</a:t>
            </a:r>
          </a:p>
        </p:txBody>
      </p:sp>
      <p:sp>
        <p:nvSpPr>
          <p:cNvPr id="23" name="Line 27"/>
          <p:cNvSpPr>
            <a:spLocks noChangeShapeType="1"/>
          </p:cNvSpPr>
          <p:nvPr/>
        </p:nvSpPr>
        <p:spPr bwMode="auto">
          <a:xfrm>
            <a:off x="2532063" y="536304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Line 28"/>
          <p:cNvSpPr>
            <a:spLocks noChangeShapeType="1"/>
          </p:cNvSpPr>
          <p:nvPr/>
        </p:nvSpPr>
        <p:spPr bwMode="auto">
          <a:xfrm>
            <a:off x="2913063" y="536304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Line 29"/>
          <p:cNvSpPr>
            <a:spLocks noChangeShapeType="1"/>
          </p:cNvSpPr>
          <p:nvPr/>
        </p:nvSpPr>
        <p:spPr bwMode="auto">
          <a:xfrm>
            <a:off x="3509963" y="515984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Line 30"/>
          <p:cNvSpPr>
            <a:spLocks noChangeShapeType="1"/>
          </p:cNvSpPr>
          <p:nvPr/>
        </p:nvSpPr>
        <p:spPr bwMode="auto">
          <a:xfrm flipH="1">
            <a:off x="2900363" y="4245440"/>
            <a:ext cx="3810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31"/>
              <p:cNvSpPr>
                <a:spLocks noChangeArrowheads="1"/>
              </p:cNvSpPr>
              <p:nvPr/>
            </p:nvSpPr>
            <p:spPr bwMode="auto">
              <a:xfrm>
                <a:off x="1282700" y="5750390"/>
                <a:ext cx="4000069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to records with these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values;</a:t>
                </a:r>
                <a:b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or, store records directly in leaves</a:t>
                </a:r>
              </a:p>
            </p:txBody>
          </p:sp>
        </mc:Choice>
        <mc:Fallback>
          <p:sp>
            <p:nvSpPr>
              <p:cNvPr id="27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2700" y="5750390"/>
                <a:ext cx="4000069" cy="707886"/>
              </a:xfrm>
              <a:prstGeom prst="rect">
                <a:avLst/>
              </a:prstGeom>
              <a:blipFill>
                <a:blip r:embed="rId8"/>
                <a:stretch>
                  <a:fillRect l="-1262" t="-3509" r="-631" b="-140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32"/>
          <p:cNvSpPr>
            <a:spLocks noChangeArrowheads="1"/>
          </p:cNvSpPr>
          <p:nvPr/>
        </p:nvSpPr>
        <p:spPr bwMode="auto">
          <a:xfrm>
            <a:off x="3797300" y="4970928"/>
            <a:ext cx="35317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 next leaf node in sequence</a:t>
            </a:r>
          </a:p>
        </p:txBody>
      </p:sp>
      <p:sp>
        <p:nvSpPr>
          <p:cNvPr id="29" name="Text Box 33"/>
          <p:cNvSpPr txBox="1">
            <a:spLocks noChangeArrowheads="1"/>
          </p:cNvSpPr>
          <p:nvPr/>
        </p:nvSpPr>
        <p:spPr bwMode="auto">
          <a:xfrm>
            <a:off x="1511300" y="4910603"/>
            <a:ext cx="7841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Leaf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 Box 36"/>
              <p:cNvSpPr txBox="1">
                <a:spLocks noChangeArrowheads="1"/>
              </p:cNvSpPr>
              <p:nvPr/>
            </p:nvSpPr>
            <p:spPr bwMode="auto">
              <a:xfrm>
                <a:off x="3040202" y="1041865"/>
                <a:ext cx="1160189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•"/>
                  <a:defRPr kumimoji="1" sz="2400">
                    <a:solidFill>
                      <a:schemeClr val="tx1"/>
                    </a:solidFill>
                    <a:latin typeface="AmeriGarmnd BT" pitchFamily="18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to keys</a:t>
                </a:r>
                <a:b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100≤</m:t>
                      </m:r>
                      <m:r>
                        <a:rPr kumimoji="0" lang="en-US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0" name="Text 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0202" y="1041865"/>
                <a:ext cx="1160189" cy="707886"/>
              </a:xfrm>
              <a:prstGeom prst="rect">
                <a:avLst/>
              </a:prstGeom>
              <a:blipFill>
                <a:blip r:embed="rId9"/>
                <a:stretch>
                  <a:fillRect l="-1087" t="-535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B8FAF41-3162-D048-A572-0B7612853668}"/>
              </a:ext>
            </a:extLst>
          </p:cNvPr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409EB7B-F0C8-AD4E-B6AD-40D202550E98}"/>
              </a:ext>
            </a:extLst>
          </p:cNvPr>
          <p:cNvSpPr txBox="1"/>
          <p:nvPr/>
        </p:nvSpPr>
        <p:spPr>
          <a:xfrm>
            <a:off x="16078" y="64300"/>
            <a:ext cx="914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Sample B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-tree Nodes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042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/>
      <p:bldP spid="28" grpId="0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" y="881651"/>
                <a:ext cx="9132141" cy="5264622"/>
              </a:xfrm>
            </p:spPr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Height constraint: all leaves at the same lowest level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Fan-out constraint: all nodes at least half full </a:t>
                </a:r>
                <a:b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(except root)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	    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Max #   	Max #		Min #		Min #</a:t>
                </a:r>
                <a:br>
                  <a:rPr lang="en-US" sz="2400" u="sng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24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	    pointers	keys	    active pointers	 keys	</a:t>
                </a:r>
              </a:p>
              <a:p>
                <a:pPr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Non-leaf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−1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⌈</m:t>
                    </m:r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/2⌉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⌈</m:t>
                    </m:r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/2⌉−1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Root	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−1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2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1</m:t>
                    </m:r>
                  </m:oMath>
                </a14:m>
                <a:endParaRPr lang="en-US" sz="2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None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Leaf	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−1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⌊</m:t>
                    </m:r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/2⌋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	 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⌊</m:t>
                    </m:r>
                    <m:r>
                      <a:rPr lang="en-US" sz="2400" i="1" dirty="0">
                        <a:latin typeface="Cambria Math"/>
                      </a:rPr>
                      <m:t>𝑓</m:t>
                    </m:r>
                    <m:r>
                      <a:rPr lang="en-US" sz="2400" i="1" dirty="0">
                        <a:latin typeface="Cambria Math"/>
                      </a:rPr>
                      <m:t>/2⌋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881651"/>
                <a:ext cx="9132141" cy="5264622"/>
              </a:xfrm>
              <a:blipFill>
                <a:blip r:embed="rId4"/>
                <a:stretch>
                  <a:fillRect l="-1250" t="-1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4192" y="6470884"/>
            <a:ext cx="2139808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F6FCF7-AE86-5245-B1D0-8409EF9FABC1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3C0CDE1-170B-0B47-8AE4-B6E995D9EB05}"/>
              </a:ext>
            </a:extLst>
          </p:cNvPr>
          <p:cNvSpPr txBox="1"/>
          <p:nvPr/>
        </p:nvSpPr>
        <p:spPr>
          <a:xfrm>
            <a:off x="-66842" y="64300"/>
            <a:ext cx="9210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-tree Balancing Properties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073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103696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* FROM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WHERE 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179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* FROM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WHERE </a:t>
            </a:r>
            <a:r>
              <a:rPr lang="en-US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32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9063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43063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167063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691064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215064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739064" y="56642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957263" y="42926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453064" y="42926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929063" y="314960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 rot="10800000">
            <a:off x="145892" y="5820543"/>
            <a:ext cx="492443" cy="23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 rot="10800000">
            <a:off x="526892" y="5817368"/>
            <a:ext cx="492443" cy="23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 rot="10800000">
            <a:off x="907892" y="5756351"/>
            <a:ext cx="492443" cy="35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 rot="10800000">
            <a:off x="1671479" y="5748416"/>
            <a:ext cx="492443" cy="377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 rot="10800000">
            <a:off x="2050892" y="5762704"/>
            <a:ext cx="492443" cy="377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 rot="10800000">
            <a:off x="3193892" y="5677876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 rot="10800000">
            <a:off x="3574892" y="567946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101</a:t>
            </a: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 rot="10800000">
            <a:off x="3955892" y="5701686"/>
            <a:ext cx="492443" cy="50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110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 rot="10800000">
            <a:off x="4717892" y="567628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 rot="10800000">
            <a:off x="5098892" y="567946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130</a:t>
            </a: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 rot="10800000">
            <a:off x="6259355" y="567946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 rot="10800000">
            <a:off x="6640355" y="567628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 rot="10800000">
            <a:off x="7021355" y="566358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179</a:t>
            </a: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 rot="10800000">
            <a:off x="7781767" y="567628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 rot="10800000">
            <a:off x="8162767" y="567946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 rot="10800000">
            <a:off x="961144" y="4392691"/>
            <a:ext cx="492443" cy="377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 rot="10800000">
            <a:off x="3920994" y="316435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 rot="10800000">
            <a:off x="5479892" y="430786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 rot="10800000">
            <a:off x="5860892" y="4309451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 rot="10800000">
            <a:off x="6241892" y="4309451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 flipH="1">
            <a:off x="1566863" y="3530600"/>
            <a:ext cx="2438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4310063" y="3530600"/>
            <a:ext cx="1752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Line 36"/>
          <p:cNvSpPr>
            <a:spLocks noChangeShapeType="1"/>
          </p:cNvSpPr>
          <p:nvPr/>
        </p:nvSpPr>
        <p:spPr bwMode="auto">
          <a:xfrm flipH="1">
            <a:off x="728663" y="4673600"/>
            <a:ext cx="3048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Line 37"/>
          <p:cNvSpPr>
            <a:spLocks noChangeShapeType="1"/>
          </p:cNvSpPr>
          <p:nvPr/>
        </p:nvSpPr>
        <p:spPr bwMode="auto">
          <a:xfrm>
            <a:off x="1338263" y="4673600"/>
            <a:ext cx="990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Line 38"/>
          <p:cNvSpPr>
            <a:spLocks noChangeShapeType="1"/>
          </p:cNvSpPr>
          <p:nvPr/>
        </p:nvSpPr>
        <p:spPr bwMode="auto">
          <a:xfrm flipH="1">
            <a:off x="3852863" y="4749800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Line 39"/>
          <p:cNvSpPr>
            <a:spLocks noChangeShapeType="1"/>
          </p:cNvSpPr>
          <p:nvPr/>
        </p:nvSpPr>
        <p:spPr bwMode="auto">
          <a:xfrm flipH="1">
            <a:off x="5300664" y="4749800"/>
            <a:ext cx="6096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Line 40"/>
          <p:cNvSpPr>
            <a:spLocks noChangeShapeType="1"/>
          </p:cNvSpPr>
          <p:nvPr/>
        </p:nvSpPr>
        <p:spPr bwMode="auto">
          <a:xfrm>
            <a:off x="6291264" y="4749800"/>
            <a:ext cx="533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Line 41"/>
          <p:cNvSpPr>
            <a:spLocks noChangeShapeType="1"/>
          </p:cNvSpPr>
          <p:nvPr/>
        </p:nvSpPr>
        <p:spPr bwMode="auto">
          <a:xfrm>
            <a:off x="6672264" y="4749800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Line 42"/>
          <p:cNvSpPr>
            <a:spLocks noChangeShapeType="1"/>
          </p:cNvSpPr>
          <p:nvPr/>
        </p:nvSpPr>
        <p:spPr bwMode="auto">
          <a:xfrm>
            <a:off x="380915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Line 43"/>
          <p:cNvSpPr>
            <a:spLocks noChangeShapeType="1"/>
          </p:cNvSpPr>
          <p:nvPr/>
        </p:nvSpPr>
        <p:spPr bwMode="auto">
          <a:xfrm>
            <a:off x="761915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Line 44"/>
          <p:cNvSpPr>
            <a:spLocks noChangeShapeType="1"/>
          </p:cNvSpPr>
          <p:nvPr/>
        </p:nvSpPr>
        <p:spPr bwMode="auto">
          <a:xfrm>
            <a:off x="1142915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Line 45"/>
          <p:cNvSpPr>
            <a:spLocks noChangeShapeType="1"/>
          </p:cNvSpPr>
          <p:nvPr/>
        </p:nvSpPr>
        <p:spPr bwMode="auto">
          <a:xfrm>
            <a:off x="1897063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Line 46"/>
          <p:cNvSpPr>
            <a:spLocks noChangeShapeType="1"/>
          </p:cNvSpPr>
          <p:nvPr/>
        </p:nvSpPr>
        <p:spPr bwMode="auto">
          <a:xfrm>
            <a:off x="2278063" y="6121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Line 47"/>
          <p:cNvSpPr>
            <a:spLocks noChangeShapeType="1"/>
          </p:cNvSpPr>
          <p:nvPr/>
        </p:nvSpPr>
        <p:spPr bwMode="auto">
          <a:xfrm>
            <a:off x="3444153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Line 48"/>
          <p:cNvSpPr>
            <a:spLocks noChangeShapeType="1"/>
          </p:cNvSpPr>
          <p:nvPr/>
        </p:nvSpPr>
        <p:spPr bwMode="auto">
          <a:xfrm>
            <a:off x="3825153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Line 49"/>
          <p:cNvSpPr>
            <a:spLocks noChangeShapeType="1"/>
          </p:cNvSpPr>
          <p:nvPr/>
        </p:nvSpPr>
        <p:spPr bwMode="auto">
          <a:xfrm>
            <a:off x="4206153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Line 50"/>
          <p:cNvSpPr>
            <a:spLocks noChangeShapeType="1"/>
          </p:cNvSpPr>
          <p:nvPr/>
        </p:nvSpPr>
        <p:spPr bwMode="auto">
          <a:xfrm>
            <a:off x="4943448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Line 51"/>
          <p:cNvSpPr>
            <a:spLocks noChangeShapeType="1"/>
          </p:cNvSpPr>
          <p:nvPr/>
        </p:nvSpPr>
        <p:spPr bwMode="auto">
          <a:xfrm>
            <a:off x="5313364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Line 52"/>
          <p:cNvSpPr>
            <a:spLocks noChangeShapeType="1"/>
          </p:cNvSpPr>
          <p:nvPr/>
        </p:nvSpPr>
        <p:spPr bwMode="auto">
          <a:xfrm>
            <a:off x="6519864" y="61595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Line 53"/>
          <p:cNvSpPr>
            <a:spLocks noChangeShapeType="1"/>
          </p:cNvSpPr>
          <p:nvPr/>
        </p:nvSpPr>
        <p:spPr bwMode="auto">
          <a:xfrm>
            <a:off x="6900864" y="61595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Line 54"/>
          <p:cNvSpPr>
            <a:spLocks noChangeShapeType="1"/>
          </p:cNvSpPr>
          <p:nvPr/>
        </p:nvSpPr>
        <p:spPr bwMode="auto">
          <a:xfrm>
            <a:off x="7281864" y="61595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Line 55"/>
          <p:cNvSpPr>
            <a:spLocks noChangeShapeType="1"/>
          </p:cNvSpPr>
          <p:nvPr/>
        </p:nvSpPr>
        <p:spPr bwMode="auto">
          <a:xfrm>
            <a:off x="8043864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Line 56"/>
          <p:cNvSpPr>
            <a:spLocks noChangeShapeType="1"/>
          </p:cNvSpPr>
          <p:nvPr/>
        </p:nvSpPr>
        <p:spPr bwMode="auto">
          <a:xfrm>
            <a:off x="8424864" y="6172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Line 57"/>
          <p:cNvSpPr>
            <a:spLocks noChangeShapeType="1"/>
          </p:cNvSpPr>
          <p:nvPr/>
        </p:nvSpPr>
        <p:spPr bwMode="auto">
          <a:xfrm>
            <a:off x="1338263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Line 58"/>
          <p:cNvSpPr>
            <a:spLocks noChangeShapeType="1"/>
          </p:cNvSpPr>
          <p:nvPr/>
        </p:nvSpPr>
        <p:spPr bwMode="auto">
          <a:xfrm>
            <a:off x="2862263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Line 59"/>
          <p:cNvSpPr>
            <a:spLocks noChangeShapeType="1"/>
          </p:cNvSpPr>
          <p:nvPr/>
        </p:nvSpPr>
        <p:spPr bwMode="auto">
          <a:xfrm>
            <a:off x="4386263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Line 60"/>
          <p:cNvSpPr>
            <a:spLocks noChangeShapeType="1"/>
          </p:cNvSpPr>
          <p:nvPr/>
        </p:nvSpPr>
        <p:spPr bwMode="auto">
          <a:xfrm>
            <a:off x="5910264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Line 61"/>
          <p:cNvSpPr>
            <a:spLocks noChangeShapeType="1"/>
          </p:cNvSpPr>
          <p:nvPr/>
        </p:nvSpPr>
        <p:spPr bwMode="auto">
          <a:xfrm>
            <a:off x="7434264" y="59690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 Box 62"/>
          <p:cNvSpPr txBox="1">
            <a:spLocks noChangeArrowheads="1"/>
          </p:cNvSpPr>
          <p:nvPr/>
        </p:nvSpPr>
        <p:spPr bwMode="auto">
          <a:xfrm>
            <a:off x="6148389" y="3078163"/>
            <a:ext cx="2151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Max fan-out: 4</a:t>
            </a:r>
          </a:p>
        </p:txBody>
      </p:sp>
      <p:sp>
        <p:nvSpPr>
          <p:cNvPr id="63" name="Line 62"/>
          <p:cNvSpPr>
            <a:spLocks noChangeShapeType="1"/>
          </p:cNvSpPr>
          <p:nvPr/>
        </p:nvSpPr>
        <p:spPr bwMode="auto">
          <a:xfrm>
            <a:off x="4310063" y="3529807"/>
            <a:ext cx="1752600" cy="762000"/>
          </a:xfrm>
          <a:prstGeom prst="line">
            <a:avLst/>
          </a:prstGeom>
          <a:noFill/>
          <a:ln w="635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Line 63"/>
          <p:cNvSpPr>
            <a:spLocks noChangeShapeType="1"/>
          </p:cNvSpPr>
          <p:nvPr/>
        </p:nvSpPr>
        <p:spPr bwMode="auto">
          <a:xfrm>
            <a:off x="6297613" y="4757738"/>
            <a:ext cx="533400" cy="914400"/>
          </a:xfrm>
          <a:prstGeom prst="line">
            <a:avLst/>
          </a:prstGeom>
          <a:noFill/>
          <a:ln w="635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" name="Group 137"/>
          <p:cNvGrpSpPr>
            <a:grpSpLocks/>
          </p:cNvGrpSpPr>
          <p:nvPr/>
        </p:nvGrpSpPr>
        <p:grpSpPr bwMode="auto">
          <a:xfrm>
            <a:off x="7021598" y="5660726"/>
            <a:ext cx="492125" cy="968375"/>
            <a:chOff x="4422" y="3400"/>
            <a:chExt cx="310" cy="610"/>
          </a:xfrm>
        </p:grpSpPr>
        <p:sp>
          <p:nvSpPr>
            <p:cNvPr id="66" name="Line 64"/>
            <p:cNvSpPr>
              <a:spLocks noChangeShapeType="1"/>
            </p:cNvSpPr>
            <p:nvPr/>
          </p:nvSpPr>
          <p:spPr bwMode="auto">
            <a:xfrm>
              <a:off x="4586" y="3722"/>
              <a:ext cx="0" cy="288"/>
            </a:xfrm>
            <a:prstGeom prst="line">
              <a:avLst/>
            </a:prstGeom>
            <a:noFill/>
            <a:ln w="63500">
              <a:solidFill>
                <a:schemeClr val="accent2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Text Box 65"/>
            <p:cNvSpPr txBox="1">
              <a:spLocks noChangeArrowheads="1"/>
            </p:cNvSpPr>
            <p:nvPr/>
          </p:nvSpPr>
          <p:spPr bwMode="auto">
            <a:xfrm rot="10800000">
              <a:off x="4422" y="3400"/>
              <a:ext cx="31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179</a:t>
              </a:r>
            </a:p>
          </p:txBody>
        </p:sp>
      </p:grpSp>
      <p:sp>
        <p:nvSpPr>
          <p:cNvPr id="68" name="Line 66"/>
          <p:cNvSpPr>
            <a:spLocks noChangeShapeType="1"/>
          </p:cNvSpPr>
          <p:nvPr/>
        </p:nvSpPr>
        <p:spPr bwMode="auto">
          <a:xfrm flipH="1">
            <a:off x="1580371" y="3529013"/>
            <a:ext cx="2438400" cy="7620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Line 67"/>
          <p:cNvSpPr>
            <a:spLocks noChangeShapeType="1"/>
          </p:cNvSpPr>
          <p:nvPr/>
        </p:nvSpPr>
        <p:spPr bwMode="auto">
          <a:xfrm>
            <a:off x="1339476" y="4680085"/>
            <a:ext cx="990600" cy="990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Box 70"/>
          <p:cNvSpPr txBox="1">
            <a:spLocks noChangeArrowheads="1"/>
          </p:cNvSpPr>
          <p:nvPr/>
        </p:nvSpPr>
        <p:spPr bwMode="auto">
          <a:xfrm>
            <a:off x="2135273" y="5063828"/>
            <a:ext cx="15183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Not found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8084772-477D-864F-A161-73EC59BA46E6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8337AF6-5963-5D48-B4AF-86089AC3C86D}"/>
              </a:ext>
            </a:extLst>
          </p:cNvPr>
          <p:cNvSpPr txBox="1"/>
          <p:nvPr/>
        </p:nvSpPr>
        <p:spPr>
          <a:xfrm>
            <a:off x="-66842" y="64300"/>
            <a:ext cx="9210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Lookups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964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8" grpId="0" animBg="1"/>
      <p:bldP spid="69" grpId="0" animBg="1"/>
      <p:bldP spid="70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571451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 * FROM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WHERE </a:t>
            </a:r>
            <a:r>
              <a:rPr lang="en-US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32 AND </a:t>
            </a:r>
            <a:r>
              <a:rPr lang="en-US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179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9063" y="47885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43063" y="47885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167063" y="47885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691064" y="47885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215064" y="47885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739064" y="47885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957263" y="34169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453064" y="34169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929063" y="22739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 rot="10800000">
            <a:off x="145892" y="4944936"/>
            <a:ext cx="492443" cy="23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 rot="10800000">
            <a:off x="526892" y="4941761"/>
            <a:ext cx="492443" cy="23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 rot="10800000">
            <a:off x="907892" y="4880744"/>
            <a:ext cx="492443" cy="35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 rot="10800000">
            <a:off x="1671479" y="4872809"/>
            <a:ext cx="492443" cy="377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 rot="10800000">
            <a:off x="2050892" y="4887097"/>
            <a:ext cx="492443" cy="377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 rot="10800000">
            <a:off x="3193892" y="480226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 rot="10800000">
            <a:off x="3574892" y="4803857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101</a:t>
            </a: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 rot="10800000">
            <a:off x="3955892" y="4826079"/>
            <a:ext cx="492443" cy="50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110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 rot="10800000">
            <a:off x="4717892" y="4800682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 rot="10800000">
            <a:off x="5098892" y="4803857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130</a:t>
            </a: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 rot="10800000">
            <a:off x="6259355" y="4803857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 rot="10800000">
            <a:off x="6640355" y="4800682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 rot="10800000">
            <a:off x="7021355" y="4787982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179</a:t>
            </a: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 rot="10800000">
            <a:off x="7781767" y="4800682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 rot="10800000">
            <a:off x="8162767" y="4803857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 rot="10800000">
            <a:off x="961144" y="3517084"/>
            <a:ext cx="492443" cy="377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 rot="10800000">
            <a:off x="3920994" y="2288752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 rot="10800000">
            <a:off x="5479892" y="3432257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 rot="10800000">
            <a:off x="5860892" y="343384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 rot="10800000">
            <a:off x="6241892" y="343384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 flipH="1">
            <a:off x="1566863" y="2654993"/>
            <a:ext cx="2438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4310063" y="2654993"/>
            <a:ext cx="1752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Line 36"/>
          <p:cNvSpPr>
            <a:spLocks noChangeShapeType="1"/>
          </p:cNvSpPr>
          <p:nvPr/>
        </p:nvSpPr>
        <p:spPr bwMode="auto">
          <a:xfrm flipH="1">
            <a:off x="728663" y="3797993"/>
            <a:ext cx="3048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Line 37"/>
          <p:cNvSpPr>
            <a:spLocks noChangeShapeType="1"/>
          </p:cNvSpPr>
          <p:nvPr/>
        </p:nvSpPr>
        <p:spPr bwMode="auto">
          <a:xfrm>
            <a:off x="1338263" y="3797993"/>
            <a:ext cx="990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Line 38"/>
          <p:cNvSpPr>
            <a:spLocks noChangeShapeType="1"/>
          </p:cNvSpPr>
          <p:nvPr/>
        </p:nvSpPr>
        <p:spPr bwMode="auto">
          <a:xfrm flipH="1">
            <a:off x="3852863" y="3874193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Line 39"/>
          <p:cNvSpPr>
            <a:spLocks noChangeShapeType="1"/>
          </p:cNvSpPr>
          <p:nvPr/>
        </p:nvSpPr>
        <p:spPr bwMode="auto">
          <a:xfrm flipH="1">
            <a:off x="5300664" y="3874193"/>
            <a:ext cx="6096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Line 40"/>
          <p:cNvSpPr>
            <a:spLocks noChangeShapeType="1"/>
          </p:cNvSpPr>
          <p:nvPr/>
        </p:nvSpPr>
        <p:spPr bwMode="auto">
          <a:xfrm>
            <a:off x="6291264" y="3874193"/>
            <a:ext cx="533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Line 41"/>
          <p:cNvSpPr>
            <a:spLocks noChangeShapeType="1"/>
          </p:cNvSpPr>
          <p:nvPr/>
        </p:nvSpPr>
        <p:spPr bwMode="auto">
          <a:xfrm>
            <a:off x="6672264" y="3874193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Line 42"/>
          <p:cNvSpPr>
            <a:spLocks noChangeShapeType="1"/>
          </p:cNvSpPr>
          <p:nvPr/>
        </p:nvSpPr>
        <p:spPr bwMode="auto">
          <a:xfrm>
            <a:off x="380915" y="52457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Line 43"/>
          <p:cNvSpPr>
            <a:spLocks noChangeShapeType="1"/>
          </p:cNvSpPr>
          <p:nvPr/>
        </p:nvSpPr>
        <p:spPr bwMode="auto">
          <a:xfrm>
            <a:off x="761915" y="52457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Line 44"/>
          <p:cNvSpPr>
            <a:spLocks noChangeShapeType="1"/>
          </p:cNvSpPr>
          <p:nvPr/>
        </p:nvSpPr>
        <p:spPr bwMode="auto">
          <a:xfrm>
            <a:off x="1142915" y="52457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Line 45"/>
          <p:cNvSpPr>
            <a:spLocks noChangeShapeType="1"/>
          </p:cNvSpPr>
          <p:nvPr/>
        </p:nvSpPr>
        <p:spPr bwMode="auto">
          <a:xfrm>
            <a:off x="1897063" y="52457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Line 46"/>
          <p:cNvSpPr>
            <a:spLocks noChangeShapeType="1"/>
          </p:cNvSpPr>
          <p:nvPr/>
        </p:nvSpPr>
        <p:spPr bwMode="auto">
          <a:xfrm>
            <a:off x="2278063" y="52457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Line 47"/>
          <p:cNvSpPr>
            <a:spLocks noChangeShapeType="1"/>
          </p:cNvSpPr>
          <p:nvPr/>
        </p:nvSpPr>
        <p:spPr bwMode="auto">
          <a:xfrm>
            <a:off x="3444153" y="52965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Line 48"/>
          <p:cNvSpPr>
            <a:spLocks noChangeShapeType="1"/>
          </p:cNvSpPr>
          <p:nvPr/>
        </p:nvSpPr>
        <p:spPr bwMode="auto">
          <a:xfrm>
            <a:off x="3825153" y="52965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Line 49"/>
          <p:cNvSpPr>
            <a:spLocks noChangeShapeType="1"/>
          </p:cNvSpPr>
          <p:nvPr/>
        </p:nvSpPr>
        <p:spPr bwMode="auto">
          <a:xfrm>
            <a:off x="4206153" y="52965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Line 50"/>
          <p:cNvSpPr>
            <a:spLocks noChangeShapeType="1"/>
          </p:cNvSpPr>
          <p:nvPr/>
        </p:nvSpPr>
        <p:spPr bwMode="auto">
          <a:xfrm>
            <a:off x="4943448" y="52965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Line 51"/>
          <p:cNvSpPr>
            <a:spLocks noChangeShapeType="1"/>
          </p:cNvSpPr>
          <p:nvPr/>
        </p:nvSpPr>
        <p:spPr bwMode="auto">
          <a:xfrm>
            <a:off x="5313364" y="52965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Line 52"/>
          <p:cNvSpPr>
            <a:spLocks noChangeShapeType="1"/>
          </p:cNvSpPr>
          <p:nvPr/>
        </p:nvSpPr>
        <p:spPr bwMode="auto">
          <a:xfrm>
            <a:off x="6519864" y="52838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Line 53"/>
          <p:cNvSpPr>
            <a:spLocks noChangeShapeType="1"/>
          </p:cNvSpPr>
          <p:nvPr/>
        </p:nvSpPr>
        <p:spPr bwMode="auto">
          <a:xfrm>
            <a:off x="6900864" y="52838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Line 54"/>
          <p:cNvSpPr>
            <a:spLocks noChangeShapeType="1"/>
          </p:cNvSpPr>
          <p:nvPr/>
        </p:nvSpPr>
        <p:spPr bwMode="auto">
          <a:xfrm>
            <a:off x="7281864" y="52838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Line 55"/>
          <p:cNvSpPr>
            <a:spLocks noChangeShapeType="1"/>
          </p:cNvSpPr>
          <p:nvPr/>
        </p:nvSpPr>
        <p:spPr bwMode="auto">
          <a:xfrm>
            <a:off x="8043864" y="52965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Line 56"/>
          <p:cNvSpPr>
            <a:spLocks noChangeShapeType="1"/>
          </p:cNvSpPr>
          <p:nvPr/>
        </p:nvSpPr>
        <p:spPr bwMode="auto">
          <a:xfrm>
            <a:off x="8424864" y="52965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Line 57"/>
          <p:cNvSpPr>
            <a:spLocks noChangeShapeType="1"/>
          </p:cNvSpPr>
          <p:nvPr/>
        </p:nvSpPr>
        <p:spPr bwMode="auto">
          <a:xfrm>
            <a:off x="1338263" y="5093393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Line 58"/>
          <p:cNvSpPr>
            <a:spLocks noChangeShapeType="1"/>
          </p:cNvSpPr>
          <p:nvPr/>
        </p:nvSpPr>
        <p:spPr bwMode="auto">
          <a:xfrm>
            <a:off x="2862263" y="5093393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Line 59"/>
          <p:cNvSpPr>
            <a:spLocks noChangeShapeType="1"/>
          </p:cNvSpPr>
          <p:nvPr/>
        </p:nvSpPr>
        <p:spPr bwMode="auto">
          <a:xfrm>
            <a:off x="4386263" y="5093393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Line 60"/>
          <p:cNvSpPr>
            <a:spLocks noChangeShapeType="1"/>
          </p:cNvSpPr>
          <p:nvPr/>
        </p:nvSpPr>
        <p:spPr bwMode="auto">
          <a:xfrm>
            <a:off x="5910264" y="5093393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Line 61"/>
          <p:cNvSpPr>
            <a:spLocks noChangeShapeType="1"/>
          </p:cNvSpPr>
          <p:nvPr/>
        </p:nvSpPr>
        <p:spPr bwMode="auto">
          <a:xfrm>
            <a:off x="7434264" y="5093393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 Box 62"/>
          <p:cNvSpPr txBox="1">
            <a:spLocks noChangeArrowheads="1"/>
          </p:cNvSpPr>
          <p:nvPr/>
        </p:nvSpPr>
        <p:spPr bwMode="auto">
          <a:xfrm>
            <a:off x="6148389" y="2202556"/>
            <a:ext cx="2151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Max fan-out: 4</a:t>
            </a:r>
          </a:p>
        </p:txBody>
      </p:sp>
      <p:sp>
        <p:nvSpPr>
          <p:cNvPr id="63" name="Line 66"/>
          <p:cNvSpPr>
            <a:spLocks noChangeShapeType="1"/>
          </p:cNvSpPr>
          <p:nvPr/>
        </p:nvSpPr>
        <p:spPr bwMode="auto">
          <a:xfrm flipH="1">
            <a:off x="1551019" y="2658919"/>
            <a:ext cx="2438400" cy="7620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Line 67"/>
          <p:cNvSpPr>
            <a:spLocks noChangeShapeType="1"/>
          </p:cNvSpPr>
          <p:nvPr/>
        </p:nvSpPr>
        <p:spPr bwMode="auto">
          <a:xfrm>
            <a:off x="1366869" y="3813032"/>
            <a:ext cx="990600" cy="990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" name="Group 109"/>
          <p:cNvGrpSpPr>
            <a:grpSpLocks/>
          </p:cNvGrpSpPr>
          <p:nvPr/>
        </p:nvGrpSpPr>
        <p:grpSpPr bwMode="auto">
          <a:xfrm>
            <a:off x="2900394" y="4805220"/>
            <a:ext cx="4232275" cy="965200"/>
            <a:chOff x="1830" y="2800"/>
            <a:chExt cx="2666" cy="608"/>
          </a:xfrm>
        </p:grpSpPr>
        <p:sp>
          <p:nvSpPr>
            <p:cNvPr id="66" name="Line 69"/>
            <p:cNvSpPr>
              <a:spLocks noChangeShapeType="1"/>
            </p:cNvSpPr>
            <p:nvPr/>
          </p:nvSpPr>
          <p:spPr bwMode="auto">
            <a:xfrm>
              <a:off x="1830" y="2984"/>
              <a:ext cx="192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Text Box 85"/>
            <p:cNvSpPr txBox="1">
              <a:spLocks noChangeArrowheads="1"/>
            </p:cNvSpPr>
            <p:nvPr/>
          </p:nvSpPr>
          <p:spPr bwMode="auto">
            <a:xfrm rot="10800000">
              <a:off x="2015" y="2801"/>
              <a:ext cx="31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100</a:t>
              </a:r>
            </a:p>
          </p:txBody>
        </p:sp>
        <p:sp>
          <p:nvSpPr>
            <p:cNvPr id="68" name="Text Box 86"/>
            <p:cNvSpPr txBox="1">
              <a:spLocks noChangeArrowheads="1"/>
            </p:cNvSpPr>
            <p:nvPr/>
          </p:nvSpPr>
          <p:spPr bwMode="auto">
            <a:xfrm rot="10800000">
              <a:off x="2255" y="2802"/>
              <a:ext cx="31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101</a:t>
              </a:r>
            </a:p>
          </p:txBody>
        </p:sp>
        <p:sp>
          <p:nvSpPr>
            <p:cNvPr id="69" name="Text Box 87"/>
            <p:cNvSpPr txBox="1">
              <a:spLocks noChangeArrowheads="1"/>
            </p:cNvSpPr>
            <p:nvPr/>
          </p:nvSpPr>
          <p:spPr bwMode="auto">
            <a:xfrm rot="10800000">
              <a:off x="2495" y="2814"/>
              <a:ext cx="310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110</a:t>
              </a:r>
            </a:p>
          </p:txBody>
        </p:sp>
        <p:sp>
          <p:nvSpPr>
            <p:cNvPr id="70" name="Text Box 88"/>
            <p:cNvSpPr txBox="1">
              <a:spLocks noChangeArrowheads="1"/>
            </p:cNvSpPr>
            <p:nvPr/>
          </p:nvSpPr>
          <p:spPr bwMode="auto">
            <a:xfrm rot="10800000">
              <a:off x="2975" y="2800"/>
              <a:ext cx="31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120</a:t>
              </a:r>
            </a:p>
          </p:txBody>
        </p:sp>
        <p:sp>
          <p:nvSpPr>
            <p:cNvPr id="71" name="Text Box 89"/>
            <p:cNvSpPr txBox="1">
              <a:spLocks noChangeArrowheads="1"/>
            </p:cNvSpPr>
            <p:nvPr/>
          </p:nvSpPr>
          <p:spPr bwMode="auto">
            <a:xfrm rot="10800000">
              <a:off x="3215" y="2802"/>
              <a:ext cx="31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130</a:t>
              </a:r>
            </a:p>
          </p:txBody>
        </p:sp>
        <p:sp>
          <p:nvSpPr>
            <p:cNvPr id="72" name="Text Box 90"/>
            <p:cNvSpPr txBox="1">
              <a:spLocks noChangeArrowheads="1"/>
            </p:cNvSpPr>
            <p:nvPr/>
          </p:nvSpPr>
          <p:spPr bwMode="auto">
            <a:xfrm rot="10800000">
              <a:off x="3946" y="2802"/>
              <a:ext cx="31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150</a:t>
              </a:r>
            </a:p>
          </p:txBody>
        </p:sp>
        <p:sp>
          <p:nvSpPr>
            <p:cNvPr id="73" name="Text Box 91"/>
            <p:cNvSpPr txBox="1">
              <a:spLocks noChangeArrowheads="1"/>
            </p:cNvSpPr>
            <p:nvPr/>
          </p:nvSpPr>
          <p:spPr bwMode="auto">
            <a:xfrm rot="10800000">
              <a:off x="4186" y="2800"/>
              <a:ext cx="31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156</a:t>
              </a:r>
            </a:p>
          </p:txBody>
        </p:sp>
        <p:sp>
          <p:nvSpPr>
            <p:cNvPr id="74" name="Line 94"/>
            <p:cNvSpPr>
              <a:spLocks noChangeShapeType="1"/>
            </p:cNvSpPr>
            <p:nvPr/>
          </p:nvSpPr>
          <p:spPr bwMode="auto">
            <a:xfrm>
              <a:off x="2785" y="2983"/>
              <a:ext cx="192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Line 95"/>
            <p:cNvSpPr>
              <a:spLocks noChangeShapeType="1"/>
            </p:cNvSpPr>
            <p:nvPr/>
          </p:nvSpPr>
          <p:spPr bwMode="auto">
            <a:xfrm>
              <a:off x="3745" y="2983"/>
              <a:ext cx="192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Line 96"/>
            <p:cNvSpPr>
              <a:spLocks noChangeShapeType="1"/>
            </p:cNvSpPr>
            <p:nvPr/>
          </p:nvSpPr>
          <p:spPr bwMode="auto">
            <a:xfrm>
              <a:off x="2173" y="3120"/>
              <a:ext cx="0" cy="28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Line 97"/>
            <p:cNvSpPr>
              <a:spLocks noChangeShapeType="1"/>
            </p:cNvSpPr>
            <p:nvPr/>
          </p:nvSpPr>
          <p:spPr bwMode="auto">
            <a:xfrm>
              <a:off x="2413" y="3120"/>
              <a:ext cx="0" cy="28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Line 98"/>
            <p:cNvSpPr>
              <a:spLocks noChangeShapeType="1"/>
            </p:cNvSpPr>
            <p:nvPr/>
          </p:nvSpPr>
          <p:spPr bwMode="auto">
            <a:xfrm>
              <a:off x="2653" y="3120"/>
              <a:ext cx="0" cy="28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Line 99"/>
            <p:cNvSpPr>
              <a:spLocks noChangeShapeType="1"/>
            </p:cNvSpPr>
            <p:nvPr/>
          </p:nvSpPr>
          <p:spPr bwMode="auto">
            <a:xfrm>
              <a:off x="3120" y="3120"/>
              <a:ext cx="0" cy="28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Line 100"/>
            <p:cNvSpPr>
              <a:spLocks noChangeShapeType="1"/>
            </p:cNvSpPr>
            <p:nvPr/>
          </p:nvSpPr>
          <p:spPr bwMode="auto">
            <a:xfrm>
              <a:off x="3353" y="3120"/>
              <a:ext cx="0" cy="28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Line 101"/>
            <p:cNvSpPr>
              <a:spLocks noChangeShapeType="1"/>
            </p:cNvSpPr>
            <p:nvPr/>
          </p:nvSpPr>
          <p:spPr bwMode="auto">
            <a:xfrm>
              <a:off x="4101" y="3120"/>
              <a:ext cx="0" cy="28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Line 102"/>
            <p:cNvSpPr>
              <a:spLocks noChangeShapeType="1"/>
            </p:cNvSpPr>
            <p:nvPr/>
          </p:nvSpPr>
          <p:spPr bwMode="auto">
            <a:xfrm>
              <a:off x="4354" y="3120"/>
              <a:ext cx="0" cy="28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3" name="Text Box 104"/>
          <p:cNvSpPr txBox="1">
            <a:spLocks noChangeArrowheads="1"/>
          </p:cNvSpPr>
          <p:nvPr/>
        </p:nvSpPr>
        <p:spPr bwMode="auto">
          <a:xfrm>
            <a:off x="2301906" y="3941619"/>
            <a:ext cx="17091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Look up 32…</a:t>
            </a:r>
          </a:p>
        </p:txBody>
      </p:sp>
      <p:sp>
        <p:nvSpPr>
          <p:cNvPr id="84" name="Text Box 105"/>
          <p:cNvSpPr txBox="1">
            <a:spLocks noChangeArrowheads="1"/>
          </p:cNvSpPr>
          <p:nvPr/>
        </p:nvSpPr>
        <p:spPr bwMode="auto">
          <a:xfrm>
            <a:off x="1682781" y="5833919"/>
            <a:ext cx="62824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And follow next-leaf pointers until you hit upper bound</a:t>
            </a:r>
          </a:p>
        </p:txBody>
      </p:sp>
      <p:grpSp>
        <p:nvGrpSpPr>
          <p:cNvPr id="85" name="Group 108"/>
          <p:cNvGrpSpPr>
            <a:grpSpLocks/>
          </p:cNvGrpSpPr>
          <p:nvPr/>
        </p:nvGrpSpPr>
        <p:grpSpPr bwMode="auto">
          <a:xfrm>
            <a:off x="2062194" y="4889357"/>
            <a:ext cx="492125" cy="857250"/>
            <a:chOff x="1295" y="2861"/>
            <a:chExt cx="310" cy="540"/>
          </a:xfrm>
        </p:grpSpPr>
        <p:sp>
          <p:nvSpPr>
            <p:cNvPr id="86" name="Text Box 106"/>
            <p:cNvSpPr txBox="1">
              <a:spLocks noChangeArrowheads="1"/>
            </p:cNvSpPr>
            <p:nvPr/>
          </p:nvSpPr>
          <p:spPr bwMode="auto">
            <a:xfrm rot="10800000">
              <a:off x="1295" y="2861"/>
              <a:ext cx="31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35</a:t>
              </a:r>
            </a:p>
          </p:txBody>
        </p:sp>
        <p:sp>
          <p:nvSpPr>
            <p:cNvPr id="87" name="Line 107"/>
            <p:cNvSpPr>
              <a:spLocks noChangeShapeType="1"/>
            </p:cNvSpPr>
            <p:nvPr/>
          </p:nvSpPr>
          <p:spPr bwMode="auto">
            <a:xfrm>
              <a:off x="1433" y="3113"/>
              <a:ext cx="0" cy="28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9DD7F2C-AA63-124E-AB42-C0DACCCC48DC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F01D0431-0D52-5A46-9F69-7ECEB3FCA340}"/>
              </a:ext>
            </a:extLst>
          </p:cNvPr>
          <p:cNvSpPr txBox="1"/>
          <p:nvPr/>
        </p:nvSpPr>
        <p:spPr>
          <a:xfrm>
            <a:off x="-66842" y="64300"/>
            <a:ext cx="9210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Range Query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825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83" grpId="0" autoUpdateAnimBg="0"/>
      <p:bldP spid="84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37" y="903053"/>
            <a:ext cx="8173014" cy="493865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Insert a record with search key value 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9063" y="47885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43063" y="47885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167063" y="47885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691064" y="47885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215064" y="47885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739064" y="47885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957263" y="34169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453064" y="34169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929063" y="2273993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 rot="10800000">
            <a:off x="145892" y="4944936"/>
            <a:ext cx="492443" cy="23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 rot="10800000">
            <a:off x="526892" y="4941761"/>
            <a:ext cx="492443" cy="235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 rot="10800000">
            <a:off x="907892" y="4880744"/>
            <a:ext cx="492443" cy="358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 rot="10800000">
            <a:off x="1671479" y="4872809"/>
            <a:ext cx="492443" cy="377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 rot="10800000">
            <a:off x="2050892" y="4887097"/>
            <a:ext cx="492443" cy="377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 rot="10800000">
            <a:off x="3193892" y="480226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 rot="10800000">
            <a:off x="3574892" y="4803857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101</a:t>
            </a: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 rot="10800000">
            <a:off x="3955892" y="4826079"/>
            <a:ext cx="492443" cy="50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110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 rot="10800000">
            <a:off x="4717892" y="4800682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 rot="10800000">
            <a:off x="5098892" y="4803857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130</a:t>
            </a: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 rot="10800000">
            <a:off x="6259355" y="4803857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 rot="10800000">
            <a:off x="6640355" y="4800682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 rot="10800000">
            <a:off x="7021355" y="4787982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179</a:t>
            </a: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 rot="10800000">
            <a:off x="7781767" y="4800682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 rot="10800000">
            <a:off x="8162767" y="4803857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 rot="10800000">
            <a:off x="961144" y="3517084"/>
            <a:ext cx="492443" cy="377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30" name="Text Box 30"/>
          <p:cNvSpPr txBox="1">
            <a:spLocks noChangeArrowheads="1"/>
          </p:cNvSpPr>
          <p:nvPr/>
        </p:nvSpPr>
        <p:spPr bwMode="auto">
          <a:xfrm rot="10800000">
            <a:off x="3920994" y="2288752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 rot="10800000">
            <a:off x="5479892" y="3432257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 rot="10800000">
            <a:off x="5860892" y="343384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 rot="10800000">
            <a:off x="6241892" y="343384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 flipH="1">
            <a:off x="1566863" y="2654993"/>
            <a:ext cx="2438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4310063" y="2654993"/>
            <a:ext cx="1752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Line 36"/>
          <p:cNvSpPr>
            <a:spLocks noChangeShapeType="1"/>
          </p:cNvSpPr>
          <p:nvPr/>
        </p:nvSpPr>
        <p:spPr bwMode="auto">
          <a:xfrm flipH="1">
            <a:off x="728663" y="3797993"/>
            <a:ext cx="3048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Line 37"/>
          <p:cNvSpPr>
            <a:spLocks noChangeShapeType="1"/>
          </p:cNvSpPr>
          <p:nvPr/>
        </p:nvSpPr>
        <p:spPr bwMode="auto">
          <a:xfrm>
            <a:off x="1338263" y="3797993"/>
            <a:ext cx="990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Line 38"/>
          <p:cNvSpPr>
            <a:spLocks noChangeShapeType="1"/>
          </p:cNvSpPr>
          <p:nvPr/>
        </p:nvSpPr>
        <p:spPr bwMode="auto">
          <a:xfrm flipH="1">
            <a:off x="3852863" y="3874193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Line 39"/>
          <p:cNvSpPr>
            <a:spLocks noChangeShapeType="1"/>
          </p:cNvSpPr>
          <p:nvPr/>
        </p:nvSpPr>
        <p:spPr bwMode="auto">
          <a:xfrm flipH="1">
            <a:off x="5300664" y="3874193"/>
            <a:ext cx="6096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Line 40"/>
          <p:cNvSpPr>
            <a:spLocks noChangeShapeType="1"/>
          </p:cNvSpPr>
          <p:nvPr/>
        </p:nvSpPr>
        <p:spPr bwMode="auto">
          <a:xfrm>
            <a:off x="6291264" y="3874193"/>
            <a:ext cx="533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Line 41"/>
          <p:cNvSpPr>
            <a:spLocks noChangeShapeType="1"/>
          </p:cNvSpPr>
          <p:nvPr/>
        </p:nvSpPr>
        <p:spPr bwMode="auto">
          <a:xfrm>
            <a:off x="6672264" y="3874193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Line 42"/>
          <p:cNvSpPr>
            <a:spLocks noChangeShapeType="1"/>
          </p:cNvSpPr>
          <p:nvPr/>
        </p:nvSpPr>
        <p:spPr bwMode="auto">
          <a:xfrm>
            <a:off x="380915" y="52457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Line 43"/>
          <p:cNvSpPr>
            <a:spLocks noChangeShapeType="1"/>
          </p:cNvSpPr>
          <p:nvPr/>
        </p:nvSpPr>
        <p:spPr bwMode="auto">
          <a:xfrm>
            <a:off x="761915" y="52457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Line 44"/>
          <p:cNvSpPr>
            <a:spLocks noChangeShapeType="1"/>
          </p:cNvSpPr>
          <p:nvPr/>
        </p:nvSpPr>
        <p:spPr bwMode="auto">
          <a:xfrm>
            <a:off x="1142915" y="52457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Line 45"/>
          <p:cNvSpPr>
            <a:spLocks noChangeShapeType="1"/>
          </p:cNvSpPr>
          <p:nvPr/>
        </p:nvSpPr>
        <p:spPr bwMode="auto">
          <a:xfrm>
            <a:off x="1897063" y="52457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Line 46"/>
          <p:cNvSpPr>
            <a:spLocks noChangeShapeType="1"/>
          </p:cNvSpPr>
          <p:nvPr/>
        </p:nvSpPr>
        <p:spPr bwMode="auto">
          <a:xfrm>
            <a:off x="2278063" y="52457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Line 47"/>
          <p:cNvSpPr>
            <a:spLocks noChangeShapeType="1"/>
          </p:cNvSpPr>
          <p:nvPr/>
        </p:nvSpPr>
        <p:spPr bwMode="auto">
          <a:xfrm>
            <a:off x="3444153" y="52965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Line 48"/>
          <p:cNvSpPr>
            <a:spLocks noChangeShapeType="1"/>
          </p:cNvSpPr>
          <p:nvPr/>
        </p:nvSpPr>
        <p:spPr bwMode="auto">
          <a:xfrm>
            <a:off x="3825153" y="52965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Line 49"/>
          <p:cNvSpPr>
            <a:spLocks noChangeShapeType="1"/>
          </p:cNvSpPr>
          <p:nvPr/>
        </p:nvSpPr>
        <p:spPr bwMode="auto">
          <a:xfrm>
            <a:off x="4206153" y="52965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Line 50"/>
          <p:cNvSpPr>
            <a:spLocks noChangeShapeType="1"/>
          </p:cNvSpPr>
          <p:nvPr/>
        </p:nvSpPr>
        <p:spPr bwMode="auto">
          <a:xfrm>
            <a:off x="4943448" y="52965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Line 51"/>
          <p:cNvSpPr>
            <a:spLocks noChangeShapeType="1"/>
          </p:cNvSpPr>
          <p:nvPr/>
        </p:nvSpPr>
        <p:spPr bwMode="auto">
          <a:xfrm>
            <a:off x="5313364" y="52965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Line 52"/>
          <p:cNvSpPr>
            <a:spLocks noChangeShapeType="1"/>
          </p:cNvSpPr>
          <p:nvPr/>
        </p:nvSpPr>
        <p:spPr bwMode="auto">
          <a:xfrm>
            <a:off x="6519864" y="52838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Line 53"/>
          <p:cNvSpPr>
            <a:spLocks noChangeShapeType="1"/>
          </p:cNvSpPr>
          <p:nvPr/>
        </p:nvSpPr>
        <p:spPr bwMode="auto">
          <a:xfrm>
            <a:off x="6900864" y="52838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Line 54"/>
          <p:cNvSpPr>
            <a:spLocks noChangeShapeType="1"/>
          </p:cNvSpPr>
          <p:nvPr/>
        </p:nvSpPr>
        <p:spPr bwMode="auto">
          <a:xfrm>
            <a:off x="7281864" y="52838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Line 55"/>
          <p:cNvSpPr>
            <a:spLocks noChangeShapeType="1"/>
          </p:cNvSpPr>
          <p:nvPr/>
        </p:nvSpPr>
        <p:spPr bwMode="auto">
          <a:xfrm>
            <a:off x="8043864" y="52965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Line 56"/>
          <p:cNvSpPr>
            <a:spLocks noChangeShapeType="1"/>
          </p:cNvSpPr>
          <p:nvPr/>
        </p:nvSpPr>
        <p:spPr bwMode="auto">
          <a:xfrm>
            <a:off x="8424864" y="529659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Line 57"/>
          <p:cNvSpPr>
            <a:spLocks noChangeShapeType="1"/>
          </p:cNvSpPr>
          <p:nvPr/>
        </p:nvSpPr>
        <p:spPr bwMode="auto">
          <a:xfrm>
            <a:off x="1338263" y="5093393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Line 58"/>
          <p:cNvSpPr>
            <a:spLocks noChangeShapeType="1"/>
          </p:cNvSpPr>
          <p:nvPr/>
        </p:nvSpPr>
        <p:spPr bwMode="auto">
          <a:xfrm>
            <a:off x="2862263" y="5093393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Line 59"/>
          <p:cNvSpPr>
            <a:spLocks noChangeShapeType="1"/>
          </p:cNvSpPr>
          <p:nvPr/>
        </p:nvSpPr>
        <p:spPr bwMode="auto">
          <a:xfrm>
            <a:off x="4386263" y="5093393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Line 60"/>
          <p:cNvSpPr>
            <a:spLocks noChangeShapeType="1"/>
          </p:cNvSpPr>
          <p:nvPr/>
        </p:nvSpPr>
        <p:spPr bwMode="auto">
          <a:xfrm>
            <a:off x="5910264" y="5093393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Line 61"/>
          <p:cNvSpPr>
            <a:spLocks noChangeShapeType="1"/>
          </p:cNvSpPr>
          <p:nvPr/>
        </p:nvSpPr>
        <p:spPr bwMode="auto">
          <a:xfrm>
            <a:off x="7434264" y="5093393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 Box 62"/>
          <p:cNvSpPr txBox="1">
            <a:spLocks noChangeArrowheads="1"/>
          </p:cNvSpPr>
          <p:nvPr/>
        </p:nvSpPr>
        <p:spPr bwMode="auto">
          <a:xfrm>
            <a:off x="6148389" y="2202556"/>
            <a:ext cx="2151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Max fan-out: 4</a:t>
            </a:r>
          </a:p>
        </p:txBody>
      </p:sp>
      <p:sp>
        <p:nvSpPr>
          <p:cNvPr id="88" name="Line 66"/>
          <p:cNvSpPr>
            <a:spLocks noChangeShapeType="1"/>
          </p:cNvSpPr>
          <p:nvPr/>
        </p:nvSpPr>
        <p:spPr bwMode="auto">
          <a:xfrm flipH="1">
            <a:off x="1544638" y="2667462"/>
            <a:ext cx="2438400" cy="7620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Line 67"/>
          <p:cNvSpPr>
            <a:spLocks noChangeShapeType="1"/>
          </p:cNvSpPr>
          <p:nvPr/>
        </p:nvSpPr>
        <p:spPr bwMode="auto">
          <a:xfrm>
            <a:off x="1360488" y="3821575"/>
            <a:ext cx="990600" cy="990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Box 68"/>
          <p:cNvSpPr txBox="1">
            <a:spLocks noChangeArrowheads="1"/>
          </p:cNvSpPr>
          <p:nvPr/>
        </p:nvSpPr>
        <p:spPr bwMode="auto">
          <a:xfrm>
            <a:off x="2286000" y="3556462"/>
            <a:ext cx="271901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Look up where the</a:t>
            </a:r>
            <a:b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inserted key</a:t>
            </a:r>
            <a:b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should go…</a:t>
            </a:r>
          </a:p>
        </p:txBody>
      </p:sp>
      <p:grpSp>
        <p:nvGrpSpPr>
          <p:cNvPr id="91" name="Group 72"/>
          <p:cNvGrpSpPr>
            <a:grpSpLocks/>
          </p:cNvGrpSpPr>
          <p:nvPr/>
        </p:nvGrpSpPr>
        <p:grpSpPr bwMode="auto">
          <a:xfrm>
            <a:off x="1830389" y="4677237"/>
            <a:ext cx="554038" cy="860425"/>
            <a:chOff x="1153" y="2866"/>
            <a:chExt cx="349" cy="542"/>
          </a:xfrm>
        </p:grpSpPr>
        <p:sp>
          <p:nvSpPr>
            <p:cNvPr id="92" name="Text Box 69"/>
            <p:cNvSpPr txBox="1">
              <a:spLocks noChangeArrowheads="1"/>
            </p:cNvSpPr>
            <p:nvPr/>
          </p:nvSpPr>
          <p:spPr bwMode="auto">
            <a:xfrm rot="10800000">
              <a:off x="1153" y="2866"/>
              <a:ext cx="349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32</a:t>
              </a:r>
            </a:p>
          </p:txBody>
        </p:sp>
        <p:sp>
          <p:nvSpPr>
            <p:cNvPr id="93" name="Line 70"/>
            <p:cNvSpPr>
              <a:spLocks noChangeShapeType="1"/>
            </p:cNvSpPr>
            <p:nvPr/>
          </p:nvSpPr>
          <p:spPr bwMode="auto">
            <a:xfrm>
              <a:off x="1312" y="3120"/>
              <a:ext cx="0" cy="28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4" name="Text Box 71"/>
          <p:cNvSpPr txBox="1">
            <a:spLocks noChangeArrowheads="1"/>
          </p:cNvSpPr>
          <p:nvPr/>
        </p:nvSpPr>
        <p:spPr bwMode="auto">
          <a:xfrm>
            <a:off x="1066800" y="5842462"/>
            <a:ext cx="32816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And insert it right there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878F74E-5372-1B4D-BC70-09FC28235E12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1148D83-C709-D141-A159-C1BE8305B21F}"/>
              </a:ext>
            </a:extLst>
          </p:cNvPr>
          <p:cNvSpPr txBox="1"/>
          <p:nvPr/>
        </p:nvSpPr>
        <p:spPr>
          <a:xfrm>
            <a:off x="11858" y="64300"/>
            <a:ext cx="9132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Insertion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714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90" grpId="0" autoUpdateAnimBg="0"/>
      <p:bldP spid="94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78" y="843566"/>
            <a:ext cx="8173014" cy="71750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Insert a record with search key value 152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Rectangle 89"/>
          <p:cNvSpPr>
            <a:spLocks noChangeArrowheads="1"/>
          </p:cNvSpPr>
          <p:nvPr/>
        </p:nvSpPr>
        <p:spPr bwMode="auto">
          <a:xfrm>
            <a:off x="3167063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Rectangle 90"/>
          <p:cNvSpPr>
            <a:spLocks noChangeArrowheads="1"/>
          </p:cNvSpPr>
          <p:nvPr/>
        </p:nvSpPr>
        <p:spPr bwMode="auto">
          <a:xfrm>
            <a:off x="4691064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Rectangle 91"/>
          <p:cNvSpPr>
            <a:spLocks noChangeArrowheads="1"/>
          </p:cNvSpPr>
          <p:nvPr/>
        </p:nvSpPr>
        <p:spPr bwMode="auto">
          <a:xfrm>
            <a:off x="6215064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Rectangle 92"/>
          <p:cNvSpPr>
            <a:spLocks noChangeArrowheads="1"/>
          </p:cNvSpPr>
          <p:nvPr/>
        </p:nvSpPr>
        <p:spPr bwMode="auto">
          <a:xfrm>
            <a:off x="7739064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 94"/>
          <p:cNvSpPr>
            <a:spLocks noChangeArrowheads="1"/>
          </p:cNvSpPr>
          <p:nvPr/>
        </p:nvSpPr>
        <p:spPr bwMode="auto">
          <a:xfrm>
            <a:off x="5453064" y="30401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Rectangle 95"/>
          <p:cNvSpPr>
            <a:spLocks noChangeArrowheads="1"/>
          </p:cNvSpPr>
          <p:nvPr/>
        </p:nvSpPr>
        <p:spPr bwMode="auto">
          <a:xfrm>
            <a:off x="3929063" y="18971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Box 19"/>
          <p:cNvSpPr txBox="1">
            <a:spLocks noChangeArrowheads="1"/>
          </p:cNvSpPr>
          <p:nvPr/>
        </p:nvSpPr>
        <p:spPr bwMode="auto">
          <a:xfrm rot="10800000">
            <a:off x="3193892" y="4425426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103" name="Text Box 20"/>
          <p:cNvSpPr txBox="1">
            <a:spLocks noChangeArrowheads="1"/>
          </p:cNvSpPr>
          <p:nvPr/>
        </p:nvSpPr>
        <p:spPr bwMode="auto">
          <a:xfrm rot="10800000">
            <a:off x="3574892" y="44270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101</a:t>
            </a:r>
          </a:p>
        </p:txBody>
      </p:sp>
      <p:sp>
        <p:nvSpPr>
          <p:cNvPr id="104" name="Text Box 21"/>
          <p:cNvSpPr txBox="1">
            <a:spLocks noChangeArrowheads="1"/>
          </p:cNvSpPr>
          <p:nvPr/>
        </p:nvSpPr>
        <p:spPr bwMode="auto">
          <a:xfrm rot="10800000">
            <a:off x="3955892" y="4449236"/>
            <a:ext cx="492443" cy="50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110</a:t>
            </a:r>
          </a:p>
        </p:txBody>
      </p:sp>
      <p:sp>
        <p:nvSpPr>
          <p:cNvPr id="105" name="Text Box 22"/>
          <p:cNvSpPr txBox="1">
            <a:spLocks noChangeArrowheads="1"/>
          </p:cNvSpPr>
          <p:nvPr/>
        </p:nvSpPr>
        <p:spPr bwMode="auto">
          <a:xfrm rot="10800000">
            <a:off x="4717892" y="44238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106" name="Text Box 23"/>
          <p:cNvSpPr txBox="1">
            <a:spLocks noChangeArrowheads="1"/>
          </p:cNvSpPr>
          <p:nvPr/>
        </p:nvSpPr>
        <p:spPr bwMode="auto">
          <a:xfrm rot="10800000">
            <a:off x="5098892" y="44270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130</a:t>
            </a:r>
          </a:p>
        </p:txBody>
      </p:sp>
      <p:sp>
        <p:nvSpPr>
          <p:cNvPr id="107" name="Text Box 24"/>
          <p:cNvSpPr txBox="1">
            <a:spLocks noChangeArrowheads="1"/>
          </p:cNvSpPr>
          <p:nvPr/>
        </p:nvSpPr>
        <p:spPr bwMode="auto">
          <a:xfrm rot="10800000">
            <a:off x="6259355" y="44270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108" name="Text Box 25"/>
          <p:cNvSpPr txBox="1">
            <a:spLocks noChangeArrowheads="1"/>
          </p:cNvSpPr>
          <p:nvPr/>
        </p:nvSpPr>
        <p:spPr bwMode="auto">
          <a:xfrm rot="10800000">
            <a:off x="6640355" y="44238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sp>
        <p:nvSpPr>
          <p:cNvPr id="109" name="Text Box 26"/>
          <p:cNvSpPr txBox="1">
            <a:spLocks noChangeArrowheads="1"/>
          </p:cNvSpPr>
          <p:nvPr/>
        </p:nvSpPr>
        <p:spPr bwMode="auto">
          <a:xfrm rot="10800000">
            <a:off x="7021355" y="44111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179</a:t>
            </a:r>
          </a:p>
        </p:txBody>
      </p:sp>
      <p:sp>
        <p:nvSpPr>
          <p:cNvPr id="110" name="Text Box 27"/>
          <p:cNvSpPr txBox="1">
            <a:spLocks noChangeArrowheads="1"/>
          </p:cNvSpPr>
          <p:nvPr/>
        </p:nvSpPr>
        <p:spPr bwMode="auto">
          <a:xfrm rot="10800000">
            <a:off x="7781767" y="44238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111" name="Text Box 28"/>
          <p:cNvSpPr txBox="1">
            <a:spLocks noChangeArrowheads="1"/>
          </p:cNvSpPr>
          <p:nvPr/>
        </p:nvSpPr>
        <p:spPr bwMode="auto">
          <a:xfrm rot="10800000">
            <a:off x="8162767" y="44270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</a:p>
        </p:txBody>
      </p:sp>
      <p:sp>
        <p:nvSpPr>
          <p:cNvPr id="113" name="Text Box 30"/>
          <p:cNvSpPr txBox="1">
            <a:spLocks noChangeArrowheads="1"/>
          </p:cNvSpPr>
          <p:nvPr/>
        </p:nvSpPr>
        <p:spPr bwMode="auto">
          <a:xfrm rot="10800000">
            <a:off x="3920994" y="191190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114" name="Text Box 31"/>
          <p:cNvSpPr txBox="1">
            <a:spLocks noChangeArrowheads="1"/>
          </p:cNvSpPr>
          <p:nvPr/>
        </p:nvSpPr>
        <p:spPr bwMode="auto">
          <a:xfrm rot="10800000">
            <a:off x="5479892" y="30554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115" name="Text Box 32"/>
          <p:cNvSpPr txBox="1">
            <a:spLocks noChangeArrowheads="1"/>
          </p:cNvSpPr>
          <p:nvPr/>
        </p:nvSpPr>
        <p:spPr bwMode="auto">
          <a:xfrm rot="10800000">
            <a:off x="5860892" y="3057001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116" name="Text Box 33"/>
          <p:cNvSpPr txBox="1">
            <a:spLocks noChangeArrowheads="1"/>
          </p:cNvSpPr>
          <p:nvPr/>
        </p:nvSpPr>
        <p:spPr bwMode="auto">
          <a:xfrm rot="10800000">
            <a:off x="6241892" y="3057001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117" name="Line 34"/>
          <p:cNvSpPr>
            <a:spLocks noChangeShapeType="1"/>
          </p:cNvSpPr>
          <p:nvPr/>
        </p:nvSpPr>
        <p:spPr bwMode="auto">
          <a:xfrm flipH="1">
            <a:off x="1566863" y="2278150"/>
            <a:ext cx="2438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Line 35"/>
          <p:cNvSpPr>
            <a:spLocks noChangeShapeType="1"/>
          </p:cNvSpPr>
          <p:nvPr/>
        </p:nvSpPr>
        <p:spPr bwMode="auto">
          <a:xfrm>
            <a:off x="4310063" y="2278150"/>
            <a:ext cx="1752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Line 38"/>
          <p:cNvSpPr>
            <a:spLocks noChangeShapeType="1"/>
          </p:cNvSpPr>
          <p:nvPr/>
        </p:nvSpPr>
        <p:spPr bwMode="auto">
          <a:xfrm flipH="1">
            <a:off x="3852863" y="3497350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Line 39"/>
          <p:cNvSpPr>
            <a:spLocks noChangeShapeType="1"/>
          </p:cNvSpPr>
          <p:nvPr/>
        </p:nvSpPr>
        <p:spPr bwMode="auto">
          <a:xfrm flipH="1">
            <a:off x="5300664" y="3497350"/>
            <a:ext cx="6096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Line 40"/>
          <p:cNvSpPr>
            <a:spLocks noChangeShapeType="1"/>
          </p:cNvSpPr>
          <p:nvPr/>
        </p:nvSpPr>
        <p:spPr bwMode="auto">
          <a:xfrm>
            <a:off x="6291264" y="3497350"/>
            <a:ext cx="533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Line 41"/>
          <p:cNvSpPr>
            <a:spLocks noChangeShapeType="1"/>
          </p:cNvSpPr>
          <p:nvPr/>
        </p:nvSpPr>
        <p:spPr bwMode="auto">
          <a:xfrm>
            <a:off x="6672264" y="3497350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Line 47"/>
          <p:cNvSpPr>
            <a:spLocks noChangeShapeType="1"/>
          </p:cNvSpPr>
          <p:nvPr/>
        </p:nvSpPr>
        <p:spPr bwMode="auto">
          <a:xfrm>
            <a:off x="3444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Line 48"/>
          <p:cNvSpPr>
            <a:spLocks noChangeShapeType="1"/>
          </p:cNvSpPr>
          <p:nvPr/>
        </p:nvSpPr>
        <p:spPr bwMode="auto">
          <a:xfrm>
            <a:off x="3825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Line 49"/>
          <p:cNvSpPr>
            <a:spLocks noChangeShapeType="1"/>
          </p:cNvSpPr>
          <p:nvPr/>
        </p:nvSpPr>
        <p:spPr bwMode="auto">
          <a:xfrm>
            <a:off x="4206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Line 50"/>
          <p:cNvSpPr>
            <a:spLocks noChangeShapeType="1"/>
          </p:cNvSpPr>
          <p:nvPr/>
        </p:nvSpPr>
        <p:spPr bwMode="auto">
          <a:xfrm>
            <a:off x="4943448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Line 51"/>
          <p:cNvSpPr>
            <a:spLocks noChangeShapeType="1"/>
          </p:cNvSpPr>
          <p:nvPr/>
        </p:nvSpPr>
        <p:spPr bwMode="auto">
          <a:xfrm>
            <a:off x="5313364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Line 52"/>
          <p:cNvSpPr>
            <a:spLocks noChangeShapeType="1"/>
          </p:cNvSpPr>
          <p:nvPr/>
        </p:nvSpPr>
        <p:spPr bwMode="auto">
          <a:xfrm>
            <a:off x="6519864" y="49070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Line 53"/>
          <p:cNvSpPr>
            <a:spLocks noChangeShapeType="1"/>
          </p:cNvSpPr>
          <p:nvPr/>
        </p:nvSpPr>
        <p:spPr bwMode="auto">
          <a:xfrm>
            <a:off x="6900864" y="49070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Line 54"/>
          <p:cNvSpPr>
            <a:spLocks noChangeShapeType="1"/>
          </p:cNvSpPr>
          <p:nvPr/>
        </p:nvSpPr>
        <p:spPr bwMode="auto">
          <a:xfrm>
            <a:off x="7281864" y="49070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Line 55"/>
          <p:cNvSpPr>
            <a:spLocks noChangeShapeType="1"/>
          </p:cNvSpPr>
          <p:nvPr/>
        </p:nvSpPr>
        <p:spPr bwMode="auto">
          <a:xfrm>
            <a:off x="8043864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Line 56"/>
          <p:cNvSpPr>
            <a:spLocks noChangeShapeType="1"/>
          </p:cNvSpPr>
          <p:nvPr/>
        </p:nvSpPr>
        <p:spPr bwMode="auto">
          <a:xfrm>
            <a:off x="8424864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Line 58"/>
          <p:cNvSpPr>
            <a:spLocks noChangeShapeType="1"/>
          </p:cNvSpPr>
          <p:nvPr/>
        </p:nvSpPr>
        <p:spPr bwMode="auto">
          <a:xfrm>
            <a:off x="2862263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Line 59"/>
          <p:cNvSpPr>
            <a:spLocks noChangeShapeType="1"/>
          </p:cNvSpPr>
          <p:nvPr/>
        </p:nvSpPr>
        <p:spPr bwMode="auto">
          <a:xfrm>
            <a:off x="4386263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Line 60"/>
          <p:cNvSpPr>
            <a:spLocks noChangeShapeType="1"/>
          </p:cNvSpPr>
          <p:nvPr/>
        </p:nvSpPr>
        <p:spPr bwMode="auto">
          <a:xfrm>
            <a:off x="5910264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Line 61"/>
          <p:cNvSpPr>
            <a:spLocks noChangeShapeType="1"/>
          </p:cNvSpPr>
          <p:nvPr/>
        </p:nvSpPr>
        <p:spPr bwMode="auto">
          <a:xfrm>
            <a:off x="7434264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Text Box 62"/>
          <p:cNvSpPr txBox="1">
            <a:spLocks noChangeArrowheads="1"/>
          </p:cNvSpPr>
          <p:nvPr/>
        </p:nvSpPr>
        <p:spPr bwMode="auto">
          <a:xfrm>
            <a:off x="6148389" y="1825713"/>
            <a:ext cx="2151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Max fan-out: 4</a:t>
            </a:r>
          </a:p>
        </p:txBody>
      </p:sp>
      <p:sp>
        <p:nvSpPr>
          <p:cNvPr id="146" name="Line 67"/>
          <p:cNvSpPr>
            <a:spLocks noChangeShapeType="1"/>
          </p:cNvSpPr>
          <p:nvPr/>
        </p:nvSpPr>
        <p:spPr bwMode="auto">
          <a:xfrm>
            <a:off x="4303047" y="2271080"/>
            <a:ext cx="1752600" cy="7620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Line 68"/>
          <p:cNvSpPr>
            <a:spLocks noChangeShapeType="1"/>
          </p:cNvSpPr>
          <p:nvPr/>
        </p:nvSpPr>
        <p:spPr bwMode="auto">
          <a:xfrm>
            <a:off x="6278591" y="3490280"/>
            <a:ext cx="533400" cy="9144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8" name="Group 72"/>
          <p:cNvGrpSpPr>
            <a:grpSpLocks/>
          </p:cNvGrpSpPr>
          <p:nvPr/>
        </p:nvGrpSpPr>
        <p:grpSpPr bwMode="auto">
          <a:xfrm>
            <a:off x="6429405" y="4218945"/>
            <a:ext cx="492125" cy="904875"/>
            <a:chOff x="3887" y="2838"/>
            <a:chExt cx="310" cy="570"/>
          </a:xfrm>
        </p:grpSpPr>
        <p:sp>
          <p:nvSpPr>
            <p:cNvPr id="149" name="Text Box 69"/>
            <p:cNvSpPr txBox="1">
              <a:spLocks noChangeArrowheads="1"/>
            </p:cNvSpPr>
            <p:nvPr/>
          </p:nvSpPr>
          <p:spPr bwMode="auto">
            <a:xfrm rot="10800000">
              <a:off x="3887" y="2838"/>
              <a:ext cx="31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152</a:t>
              </a:r>
            </a:p>
          </p:txBody>
        </p:sp>
        <p:sp>
          <p:nvSpPr>
            <p:cNvPr id="150" name="Line 70"/>
            <p:cNvSpPr>
              <a:spLocks noChangeShapeType="1"/>
            </p:cNvSpPr>
            <p:nvPr/>
          </p:nvSpPr>
          <p:spPr bwMode="auto">
            <a:xfrm>
              <a:off x="4043" y="3120"/>
              <a:ext cx="0" cy="28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1" name="Text Box 71"/>
          <p:cNvSpPr txBox="1">
            <a:spLocks noChangeArrowheads="1"/>
          </p:cNvSpPr>
          <p:nvPr/>
        </p:nvSpPr>
        <p:spPr bwMode="auto">
          <a:xfrm>
            <a:off x="5299731" y="5489494"/>
            <a:ext cx="28905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Node is already full!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B2D7003-8DA5-A04B-921F-56EE607B837A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763236B-7C04-644B-B057-4DE2BF900D96}"/>
              </a:ext>
            </a:extLst>
          </p:cNvPr>
          <p:cNvSpPr txBox="1"/>
          <p:nvPr/>
        </p:nvSpPr>
        <p:spPr>
          <a:xfrm>
            <a:off x="11858" y="64300"/>
            <a:ext cx="9132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Another Insertion Example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964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147" grpId="0" animBg="1"/>
      <p:bldP spid="151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167063" y="4411749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691064" y="4411749"/>
            <a:ext cx="1295400" cy="5334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215064" y="4411749"/>
            <a:ext cx="1295400" cy="5334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739064" y="4411749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453064" y="3040149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29063" y="1897149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19"/>
          <p:cNvSpPr txBox="1">
            <a:spLocks noChangeArrowheads="1"/>
          </p:cNvSpPr>
          <p:nvPr/>
        </p:nvSpPr>
        <p:spPr bwMode="auto">
          <a:xfrm rot="10800000">
            <a:off x="3193892" y="4425425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 rot="10800000">
            <a:off x="3574892" y="4427012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130</a:t>
            </a:r>
          </a:p>
        </p:txBody>
      </p:sp>
      <p:sp>
        <p:nvSpPr>
          <p:cNvPr id="14" name="Text Box 22"/>
          <p:cNvSpPr txBox="1">
            <a:spLocks noChangeArrowheads="1"/>
          </p:cNvSpPr>
          <p:nvPr/>
        </p:nvSpPr>
        <p:spPr bwMode="auto">
          <a:xfrm rot="10800000">
            <a:off x="4717892" y="4423838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 rot="10800000">
            <a:off x="6208094" y="4423838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sp>
        <p:nvSpPr>
          <p:cNvPr id="18" name="Text Box 26"/>
          <p:cNvSpPr txBox="1">
            <a:spLocks noChangeArrowheads="1"/>
          </p:cNvSpPr>
          <p:nvPr/>
        </p:nvSpPr>
        <p:spPr bwMode="auto">
          <a:xfrm rot="10800000">
            <a:off x="6589094" y="4411138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179</a:t>
            </a:r>
          </a:p>
        </p:txBody>
      </p:sp>
      <p:sp>
        <p:nvSpPr>
          <p:cNvPr id="19" name="Text Box 27"/>
          <p:cNvSpPr txBox="1">
            <a:spLocks noChangeArrowheads="1"/>
          </p:cNvSpPr>
          <p:nvPr/>
        </p:nvSpPr>
        <p:spPr bwMode="auto">
          <a:xfrm rot="10800000">
            <a:off x="7781767" y="4423838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 rot="10800000">
            <a:off x="8162767" y="4427013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</a:p>
        </p:txBody>
      </p:sp>
      <p:sp>
        <p:nvSpPr>
          <p:cNvPr id="21" name="Text Box 30"/>
          <p:cNvSpPr txBox="1">
            <a:spLocks noChangeArrowheads="1"/>
          </p:cNvSpPr>
          <p:nvPr/>
        </p:nvSpPr>
        <p:spPr bwMode="auto">
          <a:xfrm rot="10800000">
            <a:off x="3920994" y="1911908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22" name="Text Box 31"/>
          <p:cNvSpPr txBox="1">
            <a:spLocks noChangeArrowheads="1"/>
          </p:cNvSpPr>
          <p:nvPr/>
        </p:nvSpPr>
        <p:spPr bwMode="auto">
          <a:xfrm rot="10800000">
            <a:off x="5479892" y="3055413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23" name="Text Box 32"/>
          <p:cNvSpPr txBox="1">
            <a:spLocks noChangeArrowheads="1"/>
          </p:cNvSpPr>
          <p:nvPr/>
        </p:nvSpPr>
        <p:spPr bwMode="auto">
          <a:xfrm rot="10800000">
            <a:off x="5860892" y="3057000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24" name="Text Box 33"/>
          <p:cNvSpPr txBox="1">
            <a:spLocks noChangeArrowheads="1"/>
          </p:cNvSpPr>
          <p:nvPr/>
        </p:nvSpPr>
        <p:spPr bwMode="auto">
          <a:xfrm rot="10800000">
            <a:off x="6241892" y="3057000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25" name="Line 34"/>
          <p:cNvSpPr>
            <a:spLocks noChangeShapeType="1"/>
          </p:cNvSpPr>
          <p:nvPr/>
        </p:nvSpPr>
        <p:spPr bwMode="auto">
          <a:xfrm flipH="1">
            <a:off x="1566863" y="2278149"/>
            <a:ext cx="2438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Line 35"/>
          <p:cNvSpPr>
            <a:spLocks noChangeShapeType="1"/>
          </p:cNvSpPr>
          <p:nvPr/>
        </p:nvSpPr>
        <p:spPr bwMode="auto">
          <a:xfrm>
            <a:off x="4310063" y="2278149"/>
            <a:ext cx="1752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Line 38"/>
          <p:cNvSpPr>
            <a:spLocks noChangeShapeType="1"/>
          </p:cNvSpPr>
          <p:nvPr/>
        </p:nvSpPr>
        <p:spPr bwMode="auto">
          <a:xfrm flipH="1">
            <a:off x="2294022" y="3497349"/>
            <a:ext cx="3235240" cy="91122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Line 39"/>
          <p:cNvSpPr>
            <a:spLocks noChangeShapeType="1"/>
          </p:cNvSpPr>
          <p:nvPr/>
        </p:nvSpPr>
        <p:spPr bwMode="auto">
          <a:xfrm flipH="1">
            <a:off x="3825153" y="3497349"/>
            <a:ext cx="2085111" cy="904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Line 41"/>
          <p:cNvSpPr>
            <a:spLocks noChangeShapeType="1"/>
          </p:cNvSpPr>
          <p:nvPr/>
        </p:nvSpPr>
        <p:spPr bwMode="auto">
          <a:xfrm>
            <a:off x="6672264" y="3497349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Line 47"/>
          <p:cNvSpPr>
            <a:spLocks noChangeShapeType="1"/>
          </p:cNvSpPr>
          <p:nvPr/>
        </p:nvSpPr>
        <p:spPr bwMode="auto">
          <a:xfrm>
            <a:off x="3444153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Line 48"/>
          <p:cNvSpPr>
            <a:spLocks noChangeShapeType="1"/>
          </p:cNvSpPr>
          <p:nvPr/>
        </p:nvSpPr>
        <p:spPr bwMode="auto">
          <a:xfrm>
            <a:off x="3825153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Line 50"/>
          <p:cNvSpPr>
            <a:spLocks noChangeShapeType="1"/>
          </p:cNvSpPr>
          <p:nvPr/>
        </p:nvSpPr>
        <p:spPr bwMode="auto">
          <a:xfrm>
            <a:off x="4943448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Line 53"/>
          <p:cNvSpPr>
            <a:spLocks noChangeShapeType="1"/>
          </p:cNvSpPr>
          <p:nvPr/>
        </p:nvSpPr>
        <p:spPr bwMode="auto">
          <a:xfrm>
            <a:off x="6468603" y="49070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Line 54"/>
          <p:cNvSpPr>
            <a:spLocks noChangeShapeType="1"/>
          </p:cNvSpPr>
          <p:nvPr/>
        </p:nvSpPr>
        <p:spPr bwMode="auto">
          <a:xfrm>
            <a:off x="6849603" y="49070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Line 55"/>
          <p:cNvSpPr>
            <a:spLocks noChangeShapeType="1"/>
          </p:cNvSpPr>
          <p:nvPr/>
        </p:nvSpPr>
        <p:spPr bwMode="auto">
          <a:xfrm>
            <a:off x="8043864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Line 56"/>
          <p:cNvSpPr>
            <a:spLocks noChangeShapeType="1"/>
          </p:cNvSpPr>
          <p:nvPr/>
        </p:nvSpPr>
        <p:spPr bwMode="auto">
          <a:xfrm>
            <a:off x="8424864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Line 58"/>
          <p:cNvSpPr>
            <a:spLocks noChangeShapeType="1"/>
          </p:cNvSpPr>
          <p:nvPr/>
        </p:nvSpPr>
        <p:spPr bwMode="auto">
          <a:xfrm>
            <a:off x="2862263" y="4716549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Line 59"/>
          <p:cNvSpPr>
            <a:spLocks noChangeShapeType="1"/>
          </p:cNvSpPr>
          <p:nvPr/>
        </p:nvSpPr>
        <p:spPr bwMode="auto">
          <a:xfrm>
            <a:off x="4386263" y="4716549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Line 60"/>
          <p:cNvSpPr>
            <a:spLocks noChangeShapeType="1"/>
          </p:cNvSpPr>
          <p:nvPr/>
        </p:nvSpPr>
        <p:spPr bwMode="auto">
          <a:xfrm>
            <a:off x="5910264" y="4716549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Line 61"/>
          <p:cNvSpPr>
            <a:spLocks noChangeShapeType="1"/>
          </p:cNvSpPr>
          <p:nvPr/>
        </p:nvSpPr>
        <p:spPr bwMode="auto">
          <a:xfrm>
            <a:off x="7434264" y="4716549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Box 62"/>
          <p:cNvSpPr txBox="1">
            <a:spLocks noChangeArrowheads="1"/>
          </p:cNvSpPr>
          <p:nvPr/>
        </p:nvSpPr>
        <p:spPr bwMode="auto">
          <a:xfrm>
            <a:off x="6148389" y="1825712"/>
            <a:ext cx="2151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Max fan-out: 4</a:t>
            </a:r>
          </a:p>
        </p:txBody>
      </p:sp>
      <p:sp>
        <p:nvSpPr>
          <p:cNvPr id="47" name="Line 68"/>
          <p:cNvSpPr>
            <a:spLocks noChangeShapeType="1"/>
          </p:cNvSpPr>
          <p:nvPr/>
        </p:nvSpPr>
        <p:spPr bwMode="auto">
          <a:xfrm>
            <a:off x="6438252" y="3657601"/>
            <a:ext cx="373739" cy="747078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Group 72"/>
          <p:cNvGrpSpPr>
            <a:grpSpLocks/>
          </p:cNvGrpSpPr>
          <p:nvPr/>
        </p:nvGrpSpPr>
        <p:grpSpPr bwMode="auto">
          <a:xfrm>
            <a:off x="5054600" y="4429232"/>
            <a:ext cx="492125" cy="957268"/>
            <a:chOff x="3887" y="2838"/>
            <a:chExt cx="310" cy="603"/>
          </a:xfrm>
        </p:grpSpPr>
        <p:sp>
          <p:nvSpPr>
            <p:cNvPr id="49" name="Text Box 69"/>
            <p:cNvSpPr txBox="1">
              <a:spLocks noChangeArrowheads="1"/>
            </p:cNvSpPr>
            <p:nvPr/>
          </p:nvSpPr>
          <p:spPr bwMode="auto">
            <a:xfrm rot="10800000">
              <a:off x="3887" y="2838"/>
              <a:ext cx="31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152</a:t>
              </a:r>
            </a:p>
          </p:txBody>
        </p:sp>
        <p:sp>
          <p:nvSpPr>
            <p:cNvPr id="50" name="Line 70"/>
            <p:cNvSpPr>
              <a:spLocks noChangeShapeType="1"/>
            </p:cNvSpPr>
            <p:nvPr/>
          </p:nvSpPr>
          <p:spPr bwMode="auto">
            <a:xfrm>
              <a:off x="4043" y="3153"/>
              <a:ext cx="0" cy="28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1635932" y="4411749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Box 19"/>
          <p:cNvSpPr txBox="1">
            <a:spLocks noChangeArrowheads="1"/>
          </p:cNvSpPr>
          <p:nvPr/>
        </p:nvSpPr>
        <p:spPr bwMode="auto">
          <a:xfrm rot="10800000">
            <a:off x="1662761" y="4425425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53" name="Text Box 20"/>
          <p:cNvSpPr txBox="1">
            <a:spLocks noChangeArrowheads="1"/>
          </p:cNvSpPr>
          <p:nvPr/>
        </p:nvSpPr>
        <p:spPr bwMode="auto">
          <a:xfrm rot="10800000">
            <a:off x="2043761" y="4427013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101</a:t>
            </a:r>
          </a:p>
        </p:txBody>
      </p:sp>
      <p:sp>
        <p:nvSpPr>
          <p:cNvPr id="54" name="Text Box 21"/>
          <p:cNvSpPr txBox="1">
            <a:spLocks noChangeArrowheads="1"/>
          </p:cNvSpPr>
          <p:nvPr/>
        </p:nvSpPr>
        <p:spPr bwMode="auto">
          <a:xfrm rot="10800000">
            <a:off x="2424761" y="4449235"/>
            <a:ext cx="492443" cy="50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110</a:t>
            </a:r>
          </a:p>
        </p:txBody>
      </p:sp>
      <p:sp>
        <p:nvSpPr>
          <p:cNvPr id="55" name="Line 47"/>
          <p:cNvSpPr>
            <a:spLocks noChangeShapeType="1"/>
          </p:cNvSpPr>
          <p:nvPr/>
        </p:nvSpPr>
        <p:spPr bwMode="auto">
          <a:xfrm>
            <a:off x="1913022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Line 48"/>
          <p:cNvSpPr>
            <a:spLocks noChangeShapeType="1"/>
          </p:cNvSpPr>
          <p:nvPr/>
        </p:nvSpPr>
        <p:spPr bwMode="auto">
          <a:xfrm>
            <a:off x="2294022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Line 49"/>
          <p:cNvSpPr>
            <a:spLocks noChangeShapeType="1"/>
          </p:cNvSpPr>
          <p:nvPr/>
        </p:nvSpPr>
        <p:spPr bwMode="auto">
          <a:xfrm>
            <a:off x="2675022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Line 58"/>
          <p:cNvSpPr>
            <a:spLocks noChangeShapeType="1"/>
          </p:cNvSpPr>
          <p:nvPr/>
        </p:nvSpPr>
        <p:spPr bwMode="auto">
          <a:xfrm>
            <a:off x="1331132" y="4716549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Line 38"/>
          <p:cNvSpPr>
            <a:spLocks noChangeShapeType="1"/>
          </p:cNvSpPr>
          <p:nvPr/>
        </p:nvSpPr>
        <p:spPr bwMode="auto">
          <a:xfrm flipH="1">
            <a:off x="5302249" y="3494900"/>
            <a:ext cx="976649" cy="90729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 Box 113"/>
          <p:cNvSpPr txBox="1">
            <a:spLocks noChangeArrowheads="1"/>
          </p:cNvSpPr>
          <p:nvPr/>
        </p:nvSpPr>
        <p:spPr bwMode="auto">
          <a:xfrm rot="10800000">
            <a:off x="6091687" y="329490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61332" y="3669674"/>
            <a:ext cx="401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Need to add to parent node a pointer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 the newly created node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29428" y="2714910"/>
            <a:ext cx="22220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Now this node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becomes full!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053F89E-F97A-D74D-AF16-13BCDBF34C0C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2834443-7840-A843-8EB5-8FCCDE8864F1}"/>
              </a:ext>
            </a:extLst>
          </p:cNvPr>
          <p:cNvSpPr txBox="1"/>
          <p:nvPr/>
        </p:nvSpPr>
        <p:spPr>
          <a:xfrm>
            <a:off x="11858" y="64300"/>
            <a:ext cx="9132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Node Splitting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356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61" grpId="0"/>
      <p:bldP spid="62" grpId="0"/>
      <p:bldP spid="6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3171103" y="3048112"/>
            <a:ext cx="1295400" cy="5334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167063" y="4411749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691064" y="4411749"/>
            <a:ext cx="1295400" cy="5334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215064" y="4411749"/>
            <a:ext cx="1295400" cy="5334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739064" y="4411749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453064" y="3040149"/>
            <a:ext cx="1295400" cy="5334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29063" y="1897149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19"/>
          <p:cNvSpPr txBox="1">
            <a:spLocks noChangeArrowheads="1"/>
          </p:cNvSpPr>
          <p:nvPr/>
        </p:nvSpPr>
        <p:spPr bwMode="auto">
          <a:xfrm rot="10800000">
            <a:off x="3193892" y="4425425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 rot="10800000">
            <a:off x="3574892" y="4427012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130</a:t>
            </a:r>
          </a:p>
        </p:txBody>
      </p:sp>
      <p:sp>
        <p:nvSpPr>
          <p:cNvPr id="13" name="Text Box 22"/>
          <p:cNvSpPr txBox="1">
            <a:spLocks noChangeArrowheads="1"/>
          </p:cNvSpPr>
          <p:nvPr/>
        </p:nvSpPr>
        <p:spPr bwMode="auto">
          <a:xfrm rot="10800000">
            <a:off x="4717892" y="4423838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14" name="Text Box 25"/>
          <p:cNvSpPr txBox="1">
            <a:spLocks noChangeArrowheads="1"/>
          </p:cNvSpPr>
          <p:nvPr/>
        </p:nvSpPr>
        <p:spPr bwMode="auto">
          <a:xfrm rot="10800000">
            <a:off x="6208094" y="4423838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sp>
        <p:nvSpPr>
          <p:cNvPr id="15" name="Text Box 26"/>
          <p:cNvSpPr txBox="1">
            <a:spLocks noChangeArrowheads="1"/>
          </p:cNvSpPr>
          <p:nvPr/>
        </p:nvSpPr>
        <p:spPr bwMode="auto">
          <a:xfrm rot="10800000">
            <a:off x="6589094" y="4411138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179</a:t>
            </a:r>
          </a:p>
        </p:txBody>
      </p:sp>
      <p:sp>
        <p:nvSpPr>
          <p:cNvPr id="16" name="Text Box 27"/>
          <p:cNvSpPr txBox="1">
            <a:spLocks noChangeArrowheads="1"/>
          </p:cNvSpPr>
          <p:nvPr/>
        </p:nvSpPr>
        <p:spPr bwMode="auto">
          <a:xfrm rot="10800000">
            <a:off x="7781767" y="4423838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17" name="Text Box 28"/>
          <p:cNvSpPr txBox="1">
            <a:spLocks noChangeArrowheads="1"/>
          </p:cNvSpPr>
          <p:nvPr/>
        </p:nvSpPr>
        <p:spPr bwMode="auto">
          <a:xfrm rot="10800000">
            <a:off x="8162767" y="4427013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</a:p>
        </p:txBody>
      </p:sp>
      <p:sp>
        <p:nvSpPr>
          <p:cNvPr id="18" name="Text Box 30"/>
          <p:cNvSpPr txBox="1">
            <a:spLocks noChangeArrowheads="1"/>
          </p:cNvSpPr>
          <p:nvPr/>
        </p:nvSpPr>
        <p:spPr bwMode="auto">
          <a:xfrm rot="10800000">
            <a:off x="3920994" y="1911908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21" name="Text Box 33"/>
          <p:cNvSpPr txBox="1">
            <a:spLocks noChangeArrowheads="1"/>
          </p:cNvSpPr>
          <p:nvPr/>
        </p:nvSpPr>
        <p:spPr bwMode="auto">
          <a:xfrm rot="10800000">
            <a:off x="5482667" y="3057000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22" name="Line 34"/>
          <p:cNvSpPr>
            <a:spLocks noChangeShapeType="1"/>
          </p:cNvSpPr>
          <p:nvPr/>
        </p:nvSpPr>
        <p:spPr bwMode="auto">
          <a:xfrm flipH="1">
            <a:off x="1566863" y="2278149"/>
            <a:ext cx="2438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Line 35"/>
          <p:cNvSpPr>
            <a:spLocks noChangeShapeType="1"/>
          </p:cNvSpPr>
          <p:nvPr/>
        </p:nvSpPr>
        <p:spPr bwMode="auto">
          <a:xfrm flipH="1">
            <a:off x="3771179" y="2278148"/>
            <a:ext cx="538884" cy="78850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Line 38"/>
          <p:cNvSpPr>
            <a:spLocks noChangeShapeType="1"/>
          </p:cNvSpPr>
          <p:nvPr/>
        </p:nvSpPr>
        <p:spPr bwMode="auto">
          <a:xfrm flipH="1">
            <a:off x="2294022" y="3494900"/>
            <a:ext cx="1010995" cy="91367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Line 39"/>
          <p:cNvSpPr>
            <a:spLocks noChangeShapeType="1"/>
          </p:cNvSpPr>
          <p:nvPr/>
        </p:nvSpPr>
        <p:spPr bwMode="auto">
          <a:xfrm>
            <a:off x="3623699" y="3494900"/>
            <a:ext cx="201454" cy="90729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Line 41"/>
          <p:cNvSpPr>
            <a:spLocks noChangeShapeType="1"/>
          </p:cNvSpPr>
          <p:nvPr/>
        </p:nvSpPr>
        <p:spPr bwMode="auto">
          <a:xfrm>
            <a:off x="5882309" y="3467682"/>
            <a:ext cx="2466355" cy="94406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Line 47"/>
          <p:cNvSpPr>
            <a:spLocks noChangeShapeType="1"/>
          </p:cNvSpPr>
          <p:nvPr/>
        </p:nvSpPr>
        <p:spPr bwMode="auto">
          <a:xfrm>
            <a:off x="3444153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Line 48"/>
          <p:cNvSpPr>
            <a:spLocks noChangeShapeType="1"/>
          </p:cNvSpPr>
          <p:nvPr/>
        </p:nvSpPr>
        <p:spPr bwMode="auto">
          <a:xfrm>
            <a:off x="3825153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Line 50"/>
          <p:cNvSpPr>
            <a:spLocks noChangeShapeType="1"/>
          </p:cNvSpPr>
          <p:nvPr/>
        </p:nvSpPr>
        <p:spPr bwMode="auto">
          <a:xfrm>
            <a:off x="4943448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Line 53"/>
          <p:cNvSpPr>
            <a:spLocks noChangeShapeType="1"/>
          </p:cNvSpPr>
          <p:nvPr/>
        </p:nvSpPr>
        <p:spPr bwMode="auto">
          <a:xfrm>
            <a:off x="6468603" y="49070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Line 54"/>
          <p:cNvSpPr>
            <a:spLocks noChangeShapeType="1"/>
          </p:cNvSpPr>
          <p:nvPr/>
        </p:nvSpPr>
        <p:spPr bwMode="auto">
          <a:xfrm>
            <a:off x="6849603" y="49070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Line 55"/>
          <p:cNvSpPr>
            <a:spLocks noChangeShapeType="1"/>
          </p:cNvSpPr>
          <p:nvPr/>
        </p:nvSpPr>
        <p:spPr bwMode="auto">
          <a:xfrm>
            <a:off x="8043864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Line 56"/>
          <p:cNvSpPr>
            <a:spLocks noChangeShapeType="1"/>
          </p:cNvSpPr>
          <p:nvPr/>
        </p:nvSpPr>
        <p:spPr bwMode="auto">
          <a:xfrm>
            <a:off x="8424864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Line 58"/>
          <p:cNvSpPr>
            <a:spLocks noChangeShapeType="1"/>
          </p:cNvSpPr>
          <p:nvPr/>
        </p:nvSpPr>
        <p:spPr bwMode="auto">
          <a:xfrm>
            <a:off x="2862263" y="4716549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Line 59"/>
          <p:cNvSpPr>
            <a:spLocks noChangeShapeType="1"/>
          </p:cNvSpPr>
          <p:nvPr/>
        </p:nvSpPr>
        <p:spPr bwMode="auto">
          <a:xfrm>
            <a:off x="4386263" y="4716549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Line 60"/>
          <p:cNvSpPr>
            <a:spLocks noChangeShapeType="1"/>
          </p:cNvSpPr>
          <p:nvPr/>
        </p:nvSpPr>
        <p:spPr bwMode="auto">
          <a:xfrm>
            <a:off x="5910264" y="4716549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Line 61"/>
          <p:cNvSpPr>
            <a:spLocks noChangeShapeType="1"/>
          </p:cNvSpPr>
          <p:nvPr/>
        </p:nvSpPr>
        <p:spPr bwMode="auto">
          <a:xfrm>
            <a:off x="7434264" y="4716549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Box 62"/>
          <p:cNvSpPr txBox="1">
            <a:spLocks noChangeArrowheads="1"/>
          </p:cNvSpPr>
          <p:nvPr/>
        </p:nvSpPr>
        <p:spPr bwMode="auto">
          <a:xfrm>
            <a:off x="6148389" y="1825712"/>
            <a:ext cx="2151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Max fan-out: 4</a:t>
            </a:r>
          </a:p>
        </p:txBody>
      </p:sp>
      <p:sp>
        <p:nvSpPr>
          <p:cNvPr id="39" name="Line 68"/>
          <p:cNvSpPr>
            <a:spLocks noChangeShapeType="1"/>
          </p:cNvSpPr>
          <p:nvPr/>
        </p:nvSpPr>
        <p:spPr bwMode="auto">
          <a:xfrm>
            <a:off x="5515136" y="3494900"/>
            <a:ext cx="1296855" cy="909779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Group 72"/>
          <p:cNvGrpSpPr>
            <a:grpSpLocks/>
          </p:cNvGrpSpPr>
          <p:nvPr/>
        </p:nvGrpSpPr>
        <p:grpSpPr bwMode="auto">
          <a:xfrm>
            <a:off x="5054600" y="4429232"/>
            <a:ext cx="492125" cy="957268"/>
            <a:chOff x="3887" y="2838"/>
            <a:chExt cx="310" cy="603"/>
          </a:xfrm>
        </p:grpSpPr>
        <p:sp>
          <p:nvSpPr>
            <p:cNvPr id="41" name="Text Box 69"/>
            <p:cNvSpPr txBox="1">
              <a:spLocks noChangeArrowheads="1"/>
            </p:cNvSpPr>
            <p:nvPr/>
          </p:nvSpPr>
          <p:spPr bwMode="auto">
            <a:xfrm rot="10800000">
              <a:off x="3887" y="2838"/>
              <a:ext cx="31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152</a:t>
              </a:r>
            </a:p>
          </p:txBody>
        </p:sp>
        <p:sp>
          <p:nvSpPr>
            <p:cNvPr id="42" name="Line 70"/>
            <p:cNvSpPr>
              <a:spLocks noChangeShapeType="1"/>
            </p:cNvSpPr>
            <p:nvPr/>
          </p:nvSpPr>
          <p:spPr bwMode="auto">
            <a:xfrm>
              <a:off x="4043" y="3153"/>
              <a:ext cx="0" cy="28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1635932" y="4411749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Box 19"/>
          <p:cNvSpPr txBox="1">
            <a:spLocks noChangeArrowheads="1"/>
          </p:cNvSpPr>
          <p:nvPr/>
        </p:nvSpPr>
        <p:spPr bwMode="auto">
          <a:xfrm rot="10800000">
            <a:off x="1662761" y="4425425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45" name="Text Box 20"/>
          <p:cNvSpPr txBox="1">
            <a:spLocks noChangeArrowheads="1"/>
          </p:cNvSpPr>
          <p:nvPr/>
        </p:nvSpPr>
        <p:spPr bwMode="auto">
          <a:xfrm rot="10800000">
            <a:off x="2043761" y="4427013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101</a:t>
            </a:r>
          </a:p>
        </p:txBody>
      </p:sp>
      <p:sp>
        <p:nvSpPr>
          <p:cNvPr id="46" name="Text Box 21"/>
          <p:cNvSpPr txBox="1">
            <a:spLocks noChangeArrowheads="1"/>
          </p:cNvSpPr>
          <p:nvPr/>
        </p:nvSpPr>
        <p:spPr bwMode="auto">
          <a:xfrm rot="10800000">
            <a:off x="2424761" y="4449235"/>
            <a:ext cx="492443" cy="50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110</a:t>
            </a:r>
          </a:p>
        </p:txBody>
      </p:sp>
      <p:sp>
        <p:nvSpPr>
          <p:cNvPr id="47" name="Line 47"/>
          <p:cNvSpPr>
            <a:spLocks noChangeShapeType="1"/>
          </p:cNvSpPr>
          <p:nvPr/>
        </p:nvSpPr>
        <p:spPr bwMode="auto">
          <a:xfrm>
            <a:off x="1913022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Line 48"/>
          <p:cNvSpPr>
            <a:spLocks noChangeShapeType="1"/>
          </p:cNvSpPr>
          <p:nvPr/>
        </p:nvSpPr>
        <p:spPr bwMode="auto">
          <a:xfrm>
            <a:off x="2294022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Line 49"/>
          <p:cNvSpPr>
            <a:spLocks noChangeShapeType="1"/>
          </p:cNvSpPr>
          <p:nvPr/>
        </p:nvSpPr>
        <p:spPr bwMode="auto">
          <a:xfrm>
            <a:off x="2675022" y="491974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Line 58"/>
          <p:cNvSpPr>
            <a:spLocks noChangeShapeType="1"/>
          </p:cNvSpPr>
          <p:nvPr/>
        </p:nvSpPr>
        <p:spPr bwMode="auto">
          <a:xfrm>
            <a:off x="1331132" y="4716549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Line 38"/>
          <p:cNvSpPr>
            <a:spLocks noChangeShapeType="1"/>
          </p:cNvSpPr>
          <p:nvPr/>
        </p:nvSpPr>
        <p:spPr bwMode="auto">
          <a:xfrm>
            <a:off x="3975517" y="3494900"/>
            <a:ext cx="1326732" cy="90729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Box 31"/>
          <p:cNvSpPr txBox="1">
            <a:spLocks noChangeArrowheads="1"/>
          </p:cNvSpPr>
          <p:nvPr/>
        </p:nvSpPr>
        <p:spPr bwMode="auto">
          <a:xfrm rot="10800000">
            <a:off x="3197931" y="3063376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57" name="Text Box 32"/>
          <p:cNvSpPr txBox="1">
            <a:spLocks noChangeArrowheads="1"/>
          </p:cNvSpPr>
          <p:nvPr/>
        </p:nvSpPr>
        <p:spPr bwMode="auto">
          <a:xfrm rot="10800000">
            <a:off x="3578931" y="3064963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60" name="Line 35"/>
          <p:cNvSpPr>
            <a:spLocks noChangeShapeType="1"/>
          </p:cNvSpPr>
          <p:nvPr/>
        </p:nvSpPr>
        <p:spPr bwMode="auto">
          <a:xfrm>
            <a:off x="4614141" y="2287377"/>
            <a:ext cx="1423467" cy="766536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 Box 30"/>
          <p:cNvSpPr txBox="1">
            <a:spLocks noChangeArrowheads="1"/>
          </p:cNvSpPr>
          <p:nvPr/>
        </p:nvSpPr>
        <p:spPr bwMode="auto">
          <a:xfrm rot="10800000">
            <a:off x="4215881" y="1910965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97314" y="2314271"/>
            <a:ext cx="4019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Need to add to parent node a pointer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 the newly created node</a:t>
            </a:r>
          </a:p>
        </p:txBody>
      </p:sp>
      <p:sp>
        <p:nvSpPr>
          <p:cNvPr id="64" name="Rectangle 60"/>
          <p:cNvSpPr txBox="1">
            <a:spLocks noChangeArrowheads="1"/>
          </p:cNvSpPr>
          <p:nvPr/>
        </p:nvSpPr>
        <p:spPr>
          <a:xfrm>
            <a:off x="195263" y="5347068"/>
            <a:ext cx="8686800" cy="137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 the worst case, node splitting can “propagate” all the way up to the root of the tree (not illustrated here)</a:t>
            </a:r>
          </a:p>
          <a:p>
            <a:pPr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Splitting the root introduces a new root of fan-out 2 and causes the tree to grow “up” by one level (this is why roots can have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&lt; f/2-1 keys)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50E4BFD-97E6-7F4F-827F-9547358F487C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571E8BD-2622-9743-9A41-8D3B8D4DC0FC}"/>
              </a:ext>
            </a:extLst>
          </p:cNvPr>
          <p:cNvSpPr txBox="1"/>
          <p:nvPr/>
        </p:nvSpPr>
        <p:spPr>
          <a:xfrm>
            <a:off x="11858" y="64300"/>
            <a:ext cx="9132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More Node Splitting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339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uiExpand="1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708" y="796689"/>
            <a:ext cx="8173014" cy="5264622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Delete a record with search key value 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167063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691064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215064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739064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453064" y="30401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29063" y="18971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19"/>
          <p:cNvSpPr txBox="1">
            <a:spLocks noChangeArrowheads="1"/>
          </p:cNvSpPr>
          <p:nvPr/>
        </p:nvSpPr>
        <p:spPr bwMode="auto">
          <a:xfrm rot="10800000">
            <a:off x="3193892" y="4425426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 rot="10800000">
            <a:off x="3574892" y="44270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101</a:t>
            </a:r>
          </a:p>
        </p:txBody>
      </p:sp>
      <p:sp>
        <p:nvSpPr>
          <p:cNvPr id="13" name="Text Box 21"/>
          <p:cNvSpPr txBox="1">
            <a:spLocks noChangeArrowheads="1"/>
          </p:cNvSpPr>
          <p:nvPr/>
        </p:nvSpPr>
        <p:spPr bwMode="auto">
          <a:xfrm rot="10800000">
            <a:off x="3955892" y="4449236"/>
            <a:ext cx="492443" cy="50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110</a:t>
            </a:r>
          </a:p>
        </p:txBody>
      </p:sp>
      <p:sp>
        <p:nvSpPr>
          <p:cNvPr id="14" name="Text Box 22"/>
          <p:cNvSpPr txBox="1">
            <a:spLocks noChangeArrowheads="1"/>
          </p:cNvSpPr>
          <p:nvPr/>
        </p:nvSpPr>
        <p:spPr bwMode="auto">
          <a:xfrm rot="10800000">
            <a:off x="4717892" y="44238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15" name="Text Box 23"/>
          <p:cNvSpPr txBox="1">
            <a:spLocks noChangeArrowheads="1"/>
          </p:cNvSpPr>
          <p:nvPr/>
        </p:nvSpPr>
        <p:spPr bwMode="auto">
          <a:xfrm rot="10800000">
            <a:off x="5098892" y="44270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130</a:t>
            </a:r>
          </a:p>
        </p:txBody>
      </p:sp>
      <p:sp>
        <p:nvSpPr>
          <p:cNvPr id="16" name="Text Box 24"/>
          <p:cNvSpPr txBox="1">
            <a:spLocks noChangeArrowheads="1"/>
          </p:cNvSpPr>
          <p:nvPr/>
        </p:nvSpPr>
        <p:spPr bwMode="auto">
          <a:xfrm rot="10800000">
            <a:off x="6259355" y="44270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 rot="10800000">
            <a:off x="6640355" y="44238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sp>
        <p:nvSpPr>
          <p:cNvPr id="18" name="Text Box 26"/>
          <p:cNvSpPr txBox="1">
            <a:spLocks noChangeArrowheads="1"/>
          </p:cNvSpPr>
          <p:nvPr/>
        </p:nvSpPr>
        <p:spPr bwMode="auto">
          <a:xfrm rot="10800000">
            <a:off x="7021355" y="44111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179</a:t>
            </a:r>
          </a:p>
        </p:txBody>
      </p:sp>
      <p:sp>
        <p:nvSpPr>
          <p:cNvPr id="19" name="Text Box 27"/>
          <p:cNvSpPr txBox="1">
            <a:spLocks noChangeArrowheads="1"/>
          </p:cNvSpPr>
          <p:nvPr/>
        </p:nvSpPr>
        <p:spPr bwMode="auto">
          <a:xfrm rot="10800000">
            <a:off x="7781767" y="44238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 rot="10800000">
            <a:off x="8162767" y="44270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</a:p>
        </p:txBody>
      </p:sp>
      <p:sp>
        <p:nvSpPr>
          <p:cNvPr id="21" name="Text Box 30"/>
          <p:cNvSpPr txBox="1">
            <a:spLocks noChangeArrowheads="1"/>
          </p:cNvSpPr>
          <p:nvPr/>
        </p:nvSpPr>
        <p:spPr bwMode="auto">
          <a:xfrm rot="10800000">
            <a:off x="3920994" y="191190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22" name="Text Box 31"/>
          <p:cNvSpPr txBox="1">
            <a:spLocks noChangeArrowheads="1"/>
          </p:cNvSpPr>
          <p:nvPr/>
        </p:nvSpPr>
        <p:spPr bwMode="auto">
          <a:xfrm rot="10800000">
            <a:off x="5479892" y="30554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23" name="Text Box 32"/>
          <p:cNvSpPr txBox="1">
            <a:spLocks noChangeArrowheads="1"/>
          </p:cNvSpPr>
          <p:nvPr/>
        </p:nvSpPr>
        <p:spPr bwMode="auto">
          <a:xfrm rot="10800000">
            <a:off x="5860892" y="3057001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24" name="Text Box 33"/>
          <p:cNvSpPr txBox="1">
            <a:spLocks noChangeArrowheads="1"/>
          </p:cNvSpPr>
          <p:nvPr/>
        </p:nvSpPr>
        <p:spPr bwMode="auto">
          <a:xfrm rot="10800000">
            <a:off x="6241892" y="3057001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25" name="Line 34"/>
          <p:cNvSpPr>
            <a:spLocks noChangeShapeType="1"/>
          </p:cNvSpPr>
          <p:nvPr/>
        </p:nvSpPr>
        <p:spPr bwMode="auto">
          <a:xfrm flipH="1">
            <a:off x="1566863" y="2278150"/>
            <a:ext cx="2438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Line 35"/>
          <p:cNvSpPr>
            <a:spLocks noChangeShapeType="1"/>
          </p:cNvSpPr>
          <p:nvPr/>
        </p:nvSpPr>
        <p:spPr bwMode="auto">
          <a:xfrm>
            <a:off x="4310063" y="2278150"/>
            <a:ext cx="1752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Line 38"/>
          <p:cNvSpPr>
            <a:spLocks noChangeShapeType="1"/>
          </p:cNvSpPr>
          <p:nvPr/>
        </p:nvSpPr>
        <p:spPr bwMode="auto">
          <a:xfrm flipH="1">
            <a:off x="3852863" y="3497350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Line 39"/>
          <p:cNvSpPr>
            <a:spLocks noChangeShapeType="1"/>
          </p:cNvSpPr>
          <p:nvPr/>
        </p:nvSpPr>
        <p:spPr bwMode="auto">
          <a:xfrm flipH="1">
            <a:off x="5300664" y="3497350"/>
            <a:ext cx="6096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Line 40"/>
          <p:cNvSpPr>
            <a:spLocks noChangeShapeType="1"/>
          </p:cNvSpPr>
          <p:nvPr/>
        </p:nvSpPr>
        <p:spPr bwMode="auto">
          <a:xfrm>
            <a:off x="6291264" y="3497350"/>
            <a:ext cx="533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Line 41"/>
          <p:cNvSpPr>
            <a:spLocks noChangeShapeType="1"/>
          </p:cNvSpPr>
          <p:nvPr/>
        </p:nvSpPr>
        <p:spPr bwMode="auto">
          <a:xfrm>
            <a:off x="6672264" y="3497350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Line 47"/>
          <p:cNvSpPr>
            <a:spLocks noChangeShapeType="1"/>
          </p:cNvSpPr>
          <p:nvPr/>
        </p:nvSpPr>
        <p:spPr bwMode="auto">
          <a:xfrm>
            <a:off x="3444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Line 48"/>
          <p:cNvSpPr>
            <a:spLocks noChangeShapeType="1"/>
          </p:cNvSpPr>
          <p:nvPr/>
        </p:nvSpPr>
        <p:spPr bwMode="auto">
          <a:xfrm>
            <a:off x="3825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Line 49"/>
          <p:cNvSpPr>
            <a:spLocks noChangeShapeType="1"/>
          </p:cNvSpPr>
          <p:nvPr/>
        </p:nvSpPr>
        <p:spPr bwMode="auto">
          <a:xfrm>
            <a:off x="4206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Line 50"/>
          <p:cNvSpPr>
            <a:spLocks noChangeShapeType="1"/>
          </p:cNvSpPr>
          <p:nvPr/>
        </p:nvSpPr>
        <p:spPr bwMode="auto">
          <a:xfrm>
            <a:off x="4943448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Line 51"/>
          <p:cNvSpPr>
            <a:spLocks noChangeShapeType="1"/>
          </p:cNvSpPr>
          <p:nvPr/>
        </p:nvSpPr>
        <p:spPr bwMode="auto">
          <a:xfrm>
            <a:off x="5313364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Line 52"/>
          <p:cNvSpPr>
            <a:spLocks noChangeShapeType="1"/>
          </p:cNvSpPr>
          <p:nvPr/>
        </p:nvSpPr>
        <p:spPr bwMode="auto">
          <a:xfrm>
            <a:off x="6519864" y="49070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Line 53"/>
          <p:cNvSpPr>
            <a:spLocks noChangeShapeType="1"/>
          </p:cNvSpPr>
          <p:nvPr/>
        </p:nvSpPr>
        <p:spPr bwMode="auto">
          <a:xfrm>
            <a:off x="6900864" y="49070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Line 54"/>
          <p:cNvSpPr>
            <a:spLocks noChangeShapeType="1"/>
          </p:cNvSpPr>
          <p:nvPr/>
        </p:nvSpPr>
        <p:spPr bwMode="auto">
          <a:xfrm>
            <a:off x="7281864" y="49070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Line 55"/>
          <p:cNvSpPr>
            <a:spLocks noChangeShapeType="1"/>
          </p:cNvSpPr>
          <p:nvPr/>
        </p:nvSpPr>
        <p:spPr bwMode="auto">
          <a:xfrm>
            <a:off x="8043864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Line 56"/>
          <p:cNvSpPr>
            <a:spLocks noChangeShapeType="1"/>
          </p:cNvSpPr>
          <p:nvPr/>
        </p:nvSpPr>
        <p:spPr bwMode="auto">
          <a:xfrm>
            <a:off x="8424864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Line 58"/>
          <p:cNvSpPr>
            <a:spLocks noChangeShapeType="1"/>
          </p:cNvSpPr>
          <p:nvPr/>
        </p:nvSpPr>
        <p:spPr bwMode="auto">
          <a:xfrm>
            <a:off x="2862263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Line 59"/>
          <p:cNvSpPr>
            <a:spLocks noChangeShapeType="1"/>
          </p:cNvSpPr>
          <p:nvPr/>
        </p:nvSpPr>
        <p:spPr bwMode="auto">
          <a:xfrm>
            <a:off x="4386263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Line 60"/>
          <p:cNvSpPr>
            <a:spLocks noChangeShapeType="1"/>
          </p:cNvSpPr>
          <p:nvPr/>
        </p:nvSpPr>
        <p:spPr bwMode="auto">
          <a:xfrm>
            <a:off x="5910264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Line 61"/>
          <p:cNvSpPr>
            <a:spLocks noChangeShapeType="1"/>
          </p:cNvSpPr>
          <p:nvPr/>
        </p:nvSpPr>
        <p:spPr bwMode="auto">
          <a:xfrm>
            <a:off x="7434264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Box 62"/>
          <p:cNvSpPr txBox="1">
            <a:spLocks noChangeArrowheads="1"/>
          </p:cNvSpPr>
          <p:nvPr/>
        </p:nvSpPr>
        <p:spPr bwMode="auto">
          <a:xfrm>
            <a:off x="6148389" y="1825713"/>
            <a:ext cx="2151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Max fan-out: 4</a:t>
            </a:r>
          </a:p>
        </p:txBody>
      </p:sp>
      <p:sp>
        <p:nvSpPr>
          <p:cNvPr id="52" name="Line 45"/>
          <p:cNvSpPr>
            <a:spLocks noChangeShapeType="1"/>
          </p:cNvSpPr>
          <p:nvPr/>
        </p:nvSpPr>
        <p:spPr bwMode="auto">
          <a:xfrm>
            <a:off x="4322084" y="2275237"/>
            <a:ext cx="1752600" cy="7620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>
            <a:off x="5291139" y="3464013"/>
            <a:ext cx="609600" cy="95885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4" name="Group 56"/>
          <p:cNvGrpSpPr>
            <a:grpSpLocks/>
          </p:cNvGrpSpPr>
          <p:nvPr/>
        </p:nvGrpSpPr>
        <p:grpSpPr bwMode="auto">
          <a:xfrm>
            <a:off x="5143543" y="4442174"/>
            <a:ext cx="381000" cy="838200"/>
            <a:chOff x="3072" y="2976"/>
            <a:chExt cx="240" cy="528"/>
          </a:xfrm>
        </p:grpSpPr>
        <p:sp>
          <p:nvSpPr>
            <p:cNvPr id="55" name="Line 49"/>
            <p:cNvSpPr>
              <a:spLocks noChangeShapeType="1"/>
            </p:cNvSpPr>
            <p:nvPr/>
          </p:nvSpPr>
          <p:spPr bwMode="auto">
            <a:xfrm>
              <a:off x="3072" y="2976"/>
              <a:ext cx="240" cy="528"/>
            </a:xfrm>
            <a:prstGeom prst="line">
              <a:avLst/>
            </a:prstGeom>
            <a:noFill/>
            <a:ln w="63500" cap="rnd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Line 50"/>
            <p:cNvSpPr>
              <a:spLocks noChangeShapeType="1"/>
            </p:cNvSpPr>
            <p:nvPr/>
          </p:nvSpPr>
          <p:spPr bwMode="auto">
            <a:xfrm flipH="1">
              <a:off x="3072" y="2976"/>
              <a:ext cx="240" cy="528"/>
            </a:xfrm>
            <a:prstGeom prst="line">
              <a:avLst/>
            </a:prstGeom>
            <a:noFill/>
            <a:ln w="63500" cap="rnd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7" name="Text Box 51"/>
          <p:cNvSpPr txBox="1">
            <a:spLocks noChangeArrowheads="1"/>
          </p:cNvSpPr>
          <p:nvPr/>
        </p:nvSpPr>
        <p:spPr bwMode="auto">
          <a:xfrm>
            <a:off x="2577307" y="3162649"/>
            <a:ext cx="23583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Look up the key</a:t>
            </a:r>
            <a:br>
              <a: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 be deleted…</a:t>
            </a:r>
          </a:p>
        </p:txBody>
      </p:sp>
      <p:sp>
        <p:nvSpPr>
          <p:cNvPr id="58" name="Text Box 52"/>
          <p:cNvSpPr txBox="1">
            <a:spLocks noChangeArrowheads="1"/>
          </p:cNvSpPr>
          <p:nvPr/>
        </p:nvSpPr>
        <p:spPr bwMode="auto">
          <a:xfrm>
            <a:off x="4169569" y="5356574"/>
            <a:ext cx="18966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And delete it</a:t>
            </a:r>
          </a:p>
        </p:txBody>
      </p:sp>
      <p:sp>
        <p:nvSpPr>
          <p:cNvPr id="59" name="Text Box 53"/>
          <p:cNvSpPr txBox="1">
            <a:spLocks noChangeArrowheads="1"/>
          </p:cNvSpPr>
          <p:nvPr/>
        </p:nvSpPr>
        <p:spPr bwMode="auto">
          <a:xfrm>
            <a:off x="5312569" y="5737574"/>
            <a:ext cx="27510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Node is too empty!</a:t>
            </a:r>
          </a:p>
        </p:txBody>
      </p:sp>
      <p:grpSp>
        <p:nvGrpSpPr>
          <p:cNvPr id="60" name="Group 57"/>
          <p:cNvGrpSpPr>
            <a:grpSpLocks/>
          </p:cNvGrpSpPr>
          <p:nvPr/>
        </p:nvGrpSpPr>
        <p:grpSpPr bwMode="auto">
          <a:xfrm>
            <a:off x="5617369" y="3283299"/>
            <a:ext cx="3600450" cy="1082675"/>
            <a:chOff x="3360" y="2246"/>
            <a:chExt cx="2268" cy="682"/>
          </a:xfrm>
        </p:grpSpPr>
        <p:sp>
          <p:nvSpPr>
            <p:cNvPr id="61" name="Text Box 54"/>
            <p:cNvSpPr txBox="1">
              <a:spLocks noChangeArrowheads="1"/>
            </p:cNvSpPr>
            <p:nvPr/>
          </p:nvSpPr>
          <p:spPr bwMode="auto">
            <a:xfrm>
              <a:off x="4068" y="2246"/>
              <a:ext cx="1560" cy="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If a sibling has more</a:t>
              </a:r>
              <a:br>
                <a:rPr kumimoji="1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than enough keys,</a:t>
              </a:r>
              <a:br>
                <a:rPr kumimoji="1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steal one!</a:t>
              </a:r>
            </a:p>
          </p:txBody>
        </p:sp>
        <p:sp>
          <p:nvSpPr>
            <p:cNvPr id="62" name="Freeform 55"/>
            <p:cNvSpPr>
              <a:spLocks/>
            </p:cNvSpPr>
            <p:nvPr/>
          </p:nvSpPr>
          <p:spPr bwMode="auto">
            <a:xfrm>
              <a:off x="3360" y="2784"/>
              <a:ext cx="576" cy="144"/>
            </a:xfrm>
            <a:custGeom>
              <a:avLst/>
              <a:gdLst>
                <a:gd name="T0" fmla="*/ 576 w 576"/>
                <a:gd name="T1" fmla="*/ 144 h 144"/>
                <a:gd name="T2" fmla="*/ 288 w 576"/>
                <a:gd name="T3" fmla="*/ 0 h 144"/>
                <a:gd name="T4" fmla="*/ 0 w 576"/>
                <a:gd name="T5" fmla="*/ 144 h 144"/>
                <a:gd name="T6" fmla="*/ 0 60000 65536"/>
                <a:gd name="T7" fmla="*/ 0 60000 65536"/>
                <a:gd name="T8" fmla="*/ 0 60000 65536"/>
                <a:gd name="T9" fmla="*/ 0 w 576"/>
                <a:gd name="T10" fmla="*/ 0 h 144"/>
                <a:gd name="T11" fmla="*/ 576 w 576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144">
                  <a:moveTo>
                    <a:pt x="576" y="144"/>
                  </a:moveTo>
                  <a:cubicBezTo>
                    <a:pt x="480" y="72"/>
                    <a:pt x="384" y="0"/>
                    <a:pt x="288" y="0"/>
                  </a:cubicBezTo>
                  <a:cubicBezTo>
                    <a:pt x="192" y="0"/>
                    <a:pt x="96" y="72"/>
                    <a:pt x="0" y="144"/>
                  </a:cubicBezTo>
                </a:path>
              </a:pathLst>
            </a:custGeom>
            <a:noFill/>
            <a:ln w="63500">
              <a:solidFill>
                <a:schemeClr val="accent2"/>
              </a:solidFill>
              <a:prstDash val="sysDash"/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3D82CE4-8175-3A47-B8D4-097599540127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9028F8F-71CB-B347-B837-0759F680B4EB}"/>
              </a:ext>
            </a:extLst>
          </p:cNvPr>
          <p:cNvSpPr txBox="1"/>
          <p:nvPr/>
        </p:nvSpPr>
        <p:spPr>
          <a:xfrm>
            <a:off x="11858" y="64300"/>
            <a:ext cx="9132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Deletions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007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7" grpId="0" autoUpdateAnimBg="0"/>
      <p:bldP spid="58" grpId="0" autoUpdateAnimBg="0"/>
      <p:bldP spid="59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167063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691064" y="4411750"/>
            <a:ext cx="1295400" cy="5334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215064" y="4411750"/>
            <a:ext cx="1295400" cy="5334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739064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453064" y="30401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29063" y="18971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19"/>
          <p:cNvSpPr txBox="1">
            <a:spLocks noChangeArrowheads="1"/>
          </p:cNvSpPr>
          <p:nvPr/>
        </p:nvSpPr>
        <p:spPr bwMode="auto">
          <a:xfrm rot="10800000">
            <a:off x="3193892" y="4425426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 rot="10800000">
            <a:off x="3574892" y="44270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101</a:t>
            </a:r>
          </a:p>
        </p:txBody>
      </p:sp>
      <p:sp>
        <p:nvSpPr>
          <p:cNvPr id="13" name="Text Box 21"/>
          <p:cNvSpPr txBox="1">
            <a:spLocks noChangeArrowheads="1"/>
          </p:cNvSpPr>
          <p:nvPr/>
        </p:nvSpPr>
        <p:spPr bwMode="auto">
          <a:xfrm rot="10800000">
            <a:off x="3955892" y="4449236"/>
            <a:ext cx="492443" cy="50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110</a:t>
            </a:r>
          </a:p>
        </p:txBody>
      </p:sp>
      <p:sp>
        <p:nvSpPr>
          <p:cNvPr id="14" name="Text Box 22"/>
          <p:cNvSpPr txBox="1">
            <a:spLocks noChangeArrowheads="1"/>
          </p:cNvSpPr>
          <p:nvPr/>
        </p:nvSpPr>
        <p:spPr bwMode="auto">
          <a:xfrm rot="10800000">
            <a:off x="4717892" y="44238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16" name="Text Box 24"/>
          <p:cNvSpPr txBox="1">
            <a:spLocks noChangeArrowheads="1"/>
          </p:cNvSpPr>
          <p:nvPr/>
        </p:nvSpPr>
        <p:spPr bwMode="auto">
          <a:xfrm rot="10800000">
            <a:off x="5105619" y="4427013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 rot="10800000">
            <a:off x="6208092" y="44238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sp>
        <p:nvSpPr>
          <p:cNvPr id="18" name="Text Box 26"/>
          <p:cNvSpPr txBox="1">
            <a:spLocks noChangeArrowheads="1"/>
          </p:cNvSpPr>
          <p:nvPr/>
        </p:nvSpPr>
        <p:spPr bwMode="auto">
          <a:xfrm rot="10800000">
            <a:off x="6589092" y="44111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179</a:t>
            </a:r>
          </a:p>
        </p:txBody>
      </p:sp>
      <p:sp>
        <p:nvSpPr>
          <p:cNvPr id="19" name="Text Box 27"/>
          <p:cNvSpPr txBox="1">
            <a:spLocks noChangeArrowheads="1"/>
          </p:cNvSpPr>
          <p:nvPr/>
        </p:nvSpPr>
        <p:spPr bwMode="auto">
          <a:xfrm rot="10800000">
            <a:off x="7781767" y="44238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 rot="10800000">
            <a:off x="8162767" y="44270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</a:p>
        </p:txBody>
      </p:sp>
      <p:sp>
        <p:nvSpPr>
          <p:cNvPr id="21" name="Text Box 30"/>
          <p:cNvSpPr txBox="1">
            <a:spLocks noChangeArrowheads="1"/>
          </p:cNvSpPr>
          <p:nvPr/>
        </p:nvSpPr>
        <p:spPr bwMode="auto">
          <a:xfrm rot="10800000">
            <a:off x="3920994" y="191190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22" name="Text Box 31"/>
          <p:cNvSpPr txBox="1">
            <a:spLocks noChangeArrowheads="1"/>
          </p:cNvSpPr>
          <p:nvPr/>
        </p:nvSpPr>
        <p:spPr bwMode="auto">
          <a:xfrm rot="10800000">
            <a:off x="5479892" y="30554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23" name="Text Box 32"/>
          <p:cNvSpPr txBox="1">
            <a:spLocks noChangeArrowheads="1"/>
          </p:cNvSpPr>
          <p:nvPr/>
        </p:nvSpPr>
        <p:spPr bwMode="auto">
          <a:xfrm rot="10800000">
            <a:off x="5860892" y="3057001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24" name="Text Box 33"/>
          <p:cNvSpPr txBox="1">
            <a:spLocks noChangeArrowheads="1"/>
          </p:cNvSpPr>
          <p:nvPr/>
        </p:nvSpPr>
        <p:spPr bwMode="auto">
          <a:xfrm rot="10800000">
            <a:off x="6241892" y="3057001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25" name="Line 34"/>
          <p:cNvSpPr>
            <a:spLocks noChangeShapeType="1"/>
          </p:cNvSpPr>
          <p:nvPr/>
        </p:nvSpPr>
        <p:spPr bwMode="auto">
          <a:xfrm flipH="1">
            <a:off x="1566863" y="2278150"/>
            <a:ext cx="2438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Line 35"/>
          <p:cNvSpPr>
            <a:spLocks noChangeShapeType="1"/>
          </p:cNvSpPr>
          <p:nvPr/>
        </p:nvSpPr>
        <p:spPr bwMode="auto">
          <a:xfrm>
            <a:off x="4310063" y="2278150"/>
            <a:ext cx="1752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Line 38"/>
          <p:cNvSpPr>
            <a:spLocks noChangeShapeType="1"/>
          </p:cNvSpPr>
          <p:nvPr/>
        </p:nvSpPr>
        <p:spPr bwMode="auto">
          <a:xfrm flipH="1">
            <a:off x="3852863" y="3497350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Line 39"/>
          <p:cNvSpPr>
            <a:spLocks noChangeShapeType="1"/>
          </p:cNvSpPr>
          <p:nvPr/>
        </p:nvSpPr>
        <p:spPr bwMode="auto">
          <a:xfrm flipH="1">
            <a:off x="5300664" y="3497350"/>
            <a:ext cx="6096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Line 40"/>
          <p:cNvSpPr>
            <a:spLocks noChangeShapeType="1"/>
          </p:cNvSpPr>
          <p:nvPr/>
        </p:nvSpPr>
        <p:spPr bwMode="auto">
          <a:xfrm>
            <a:off x="6291264" y="3497350"/>
            <a:ext cx="533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Line 41"/>
          <p:cNvSpPr>
            <a:spLocks noChangeShapeType="1"/>
          </p:cNvSpPr>
          <p:nvPr/>
        </p:nvSpPr>
        <p:spPr bwMode="auto">
          <a:xfrm>
            <a:off x="6672264" y="3497350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Line 47"/>
          <p:cNvSpPr>
            <a:spLocks noChangeShapeType="1"/>
          </p:cNvSpPr>
          <p:nvPr/>
        </p:nvSpPr>
        <p:spPr bwMode="auto">
          <a:xfrm>
            <a:off x="3444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Line 48"/>
          <p:cNvSpPr>
            <a:spLocks noChangeShapeType="1"/>
          </p:cNvSpPr>
          <p:nvPr/>
        </p:nvSpPr>
        <p:spPr bwMode="auto">
          <a:xfrm>
            <a:off x="3825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Line 49"/>
          <p:cNvSpPr>
            <a:spLocks noChangeShapeType="1"/>
          </p:cNvSpPr>
          <p:nvPr/>
        </p:nvSpPr>
        <p:spPr bwMode="auto">
          <a:xfrm>
            <a:off x="4206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Line 50"/>
          <p:cNvSpPr>
            <a:spLocks noChangeShapeType="1"/>
          </p:cNvSpPr>
          <p:nvPr/>
        </p:nvSpPr>
        <p:spPr bwMode="auto">
          <a:xfrm>
            <a:off x="4943448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Line 53"/>
          <p:cNvSpPr>
            <a:spLocks noChangeShapeType="1"/>
          </p:cNvSpPr>
          <p:nvPr/>
        </p:nvSpPr>
        <p:spPr bwMode="auto">
          <a:xfrm>
            <a:off x="6468601" y="49070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Line 54"/>
          <p:cNvSpPr>
            <a:spLocks noChangeShapeType="1"/>
          </p:cNvSpPr>
          <p:nvPr/>
        </p:nvSpPr>
        <p:spPr bwMode="auto">
          <a:xfrm>
            <a:off x="6849601" y="49070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Line 55"/>
          <p:cNvSpPr>
            <a:spLocks noChangeShapeType="1"/>
          </p:cNvSpPr>
          <p:nvPr/>
        </p:nvSpPr>
        <p:spPr bwMode="auto">
          <a:xfrm>
            <a:off x="8043864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Line 56"/>
          <p:cNvSpPr>
            <a:spLocks noChangeShapeType="1"/>
          </p:cNvSpPr>
          <p:nvPr/>
        </p:nvSpPr>
        <p:spPr bwMode="auto">
          <a:xfrm>
            <a:off x="8424864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Line 58"/>
          <p:cNvSpPr>
            <a:spLocks noChangeShapeType="1"/>
          </p:cNvSpPr>
          <p:nvPr/>
        </p:nvSpPr>
        <p:spPr bwMode="auto">
          <a:xfrm>
            <a:off x="2862263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Line 59"/>
          <p:cNvSpPr>
            <a:spLocks noChangeShapeType="1"/>
          </p:cNvSpPr>
          <p:nvPr/>
        </p:nvSpPr>
        <p:spPr bwMode="auto">
          <a:xfrm>
            <a:off x="4386263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Line 60"/>
          <p:cNvSpPr>
            <a:spLocks noChangeShapeType="1"/>
          </p:cNvSpPr>
          <p:nvPr/>
        </p:nvSpPr>
        <p:spPr bwMode="auto">
          <a:xfrm>
            <a:off x="5910264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Line 61"/>
          <p:cNvSpPr>
            <a:spLocks noChangeShapeType="1"/>
          </p:cNvSpPr>
          <p:nvPr/>
        </p:nvSpPr>
        <p:spPr bwMode="auto">
          <a:xfrm>
            <a:off x="7434264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Box 62"/>
          <p:cNvSpPr txBox="1">
            <a:spLocks noChangeArrowheads="1"/>
          </p:cNvSpPr>
          <p:nvPr/>
        </p:nvSpPr>
        <p:spPr bwMode="auto">
          <a:xfrm>
            <a:off x="6148389" y="1825713"/>
            <a:ext cx="2151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Max fan-out: 4</a:t>
            </a:r>
          </a:p>
        </p:txBody>
      </p:sp>
      <p:sp>
        <p:nvSpPr>
          <p:cNvPr id="46" name="Line 45"/>
          <p:cNvSpPr>
            <a:spLocks noChangeShapeType="1"/>
          </p:cNvSpPr>
          <p:nvPr/>
        </p:nvSpPr>
        <p:spPr bwMode="auto">
          <a:xfrm>
            <a:off x="5358595" y="4907050"/>
            <a:ext cx="806" cy="4699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" name="Group 57"/>
          <p:cNvGrpSpPr>
            <a:grpSpLocks/>
          </p:cNvGrpSpPr>
          <p:nvPr/>
        </p:nvGrpSpPr>
        <p:grpSpPr bwMode="auto">
          <a:xfrm>
            <a:off x="5840300" y="2523125"/>
            <a:ext cx="492125" cy="1128713"/>
            <a:chOff x="3524" y="1737"/>
            <a:chExt cx="310" cy="711"/>
          </a:xfrm>
        </p:grpSpPr>
        <p:sp>
          <p:nvSpPr>
            <p:cNvPr id="56" name="Line 53"/>
            <p:cNvSpPr>
              <a:spLocks noChangeShapeType="1"/>
            </p:cNvSpPr>
            <p:nvPr/>
          </p:nvSpPr>
          <p:spPr bwMode="auto">
            <a:xfrm flipH="1">
              <a:off x="3552" y="2064"/>
              <a:ext cx="240" cy="384"/>
            </a:xfrm>
            <a:prstGeom prst="line">
              <a:avLst/>
            </a:prstGeom>
            <a:noFill/>
            <a:ln w="63500" cap="rnd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 Box 54"/>
            <p:cNvSpPr txBox="1">
              <a:spLocks noChangeArrowheads="1"/>
            </p:cNvSpPr>
            <p:nvPr/>
          </p:nvSpPr>
          <p:spPr bwMode="auto">
            <a:xfrm rot="10800000">
              <a:off x="3524" y="1737"/>
              <a:ext cx="31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156</a:t>
              </a:r>
            </a:p>
          </p:txBody>
        </p:sp>
      </p:grpSp>
      <p:sp>
        <p:nvSpPr>
          <p:cNvPr id="58" name="Text Box 55"/>
          <p:cNvSpPr txBox="1">
            <a:spLocks noChangeArrowheads="1"/>
          </p:cNvSpPr>
          <p:nvPr/>
        </p:nvSpPr>
        <p:spPr bwMode="auto">
          <a:xfrm>
            <a:off x="1151928" y="2999677"/>
            <a:ext cx="429155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Need to fix the key</a:t>
            </a:r>
            <a:b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 the least common ancestor </a:t>
            </a:r>
            <a:b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of the affected nodes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C5DB792-16E6-B84A-8304-733158669BF5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921E899-49CC-E64B-B4AA-DECF307EA9A1}"/>
              </a:ext>
            </a:extLst>
          </p:cNvPr>
          <p:cNvSpPr txBox="1"/>
          <p:nvPr/>
        </p:nvSpPr>
        <p:spPr>
          <a:xfrm>
            <a:off x="11858" y="64300"/>
            <a:ext cx="9132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Stealing From a Sibling Node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Box 55">
            <a:extLst>
              <a:ext uri="{FF2B5EF4-FFF2-40B4-BE49-F238E27FC236}">
                <a16:creationId xmlns:a16="http://schemas.microsoft.com/office/drawing/2014/main" id="{71BB5206-D34F-3943-B218-3E277899D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04" y="5657671"/>
            <a:ext cx="868385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If you are hacker,</a:t>
            </a:r>
            <a:r>
              <a:rPr kumimoji="1" lang="en-US" sz="2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encourage you to implement the deletion subroutine of an external B+ tree. Quite challenging!</a:t>
            </a:r>
            <a:endParaRPr kumimoji="1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347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utoUpdateAnimBg="0"/>
      <p:bldP spid="51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58" y="774380"/>
            <a:ext cx="8173014" cy="5264622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Delete a record with search key value 179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167063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691064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215064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739064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453064" y="30401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29063" y="18971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19"/>
          <p:cNvSpPr txBox="1">
            <a:spLocks noChangeArrowheads="1"/>
          </p:cNvSpPr>
          <p:nvPr/>
        </p:nvSpPr>
        <p:spPr bwMode="auto">
          <a:xfrm rot="10800000">
            <a:off x="3193892" y="4425426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 rot="10800000">
            <a:off x="3574892" y="44270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101</a:t>
            </a:r>
          </a:p>
        </p:txBody>
      </p:sp>
      <p:sp>
        <p:nvSpPr>
          <p:cNvPr id="13" name="Text Box 21"/>
          <p:cNvSpPr txBox="1">
            <a:spLocks noChangeArrowheads="1"/>
          </p:cNvSpPr>
          <p:nvPr/>
        </p:nvSpPr>
        <p:spPr bwMode="auto">
          <a:xfrm rot="10800000">
            <a:off x="3955892" y="4449236"/>
            <a:ext cx="492443" cy="50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110</a:t>
            </a:r>
          </a:p>
        </p:txBody>
      </p:sp>
      <p:sp>
        <p:nvSpPr>
          <p:cNvPr id="14" name="Text Box 22"/>
          <p:cNvSpPr txBox="1">
            <a:spLocks noChangeArrowheads="1"/>
          </p:cNvSpPr>
          <p:nvPr/>
        </p:nvSpPr>
        <p:spPr bwMode="auto">
          <a:xfrm rot="10800000">
            <a:off x="4717892" y="44238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15" name="Text Box 24"/>
          <p:cNvSpPr txBox="1">
            <a:spLocks noChangeArrowheads="1"/>
          </p:cNvSpPr>
          <p:nvPr/>
        </p:nvSpPr>
        <p:spPr bwMode="auto">
          <a:xfrm rot="10800000">
            <a:off x="5105619" y="4427013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 rot="10800000">
            <a:off x="6208092" y="44238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sp>
        <p:nvSpPr>
          <p:cNvPr id="17" name="Text Box 26"/>
          <p:cNvSpPr txBox="1">
            <a:spLocks noChangeArrowheads="1"/>
          </p:cNvSpPr>
          <p:nvPr/>
        </p:nvSpPr>
        <p:spPr bwMode="auto">
          <a:xfrm rot="10800000">
            <a:off x="6589092" y="44111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179</a:t>
            </a:r>
          </a:p>
        </p:txBody>
      </p:sp>
      <p:sp>
        <p:nvSpPr>
          <p:cNvPr id="18" name="Text Box 27"/>
          <p:cNvSpPr txBox="1">
            <a:spLocks noChangeArrowheads="1"/>
          </p:cNvSpPr>
          <p:nvPr/>
        </p:nvSpPr>
        <p:spPr bwMode="auto">
          <a:xfrm rot="10800000">
            <a:off x="7781767" y="44238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19" name="Text Box 28"/>
          <p:cNvSpPr txBox="1">
            <a:spLocks noChangeArrowheads="1"/>
          </p:cNvSpPr>
          <p:nvPr/>
        </p:nvSpPr>
        <p:spPr bwMode="auto">
          <a:xfrm rot="10800000">
            <a:off x="8162767" y="44270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</a:p>
        </p:txBody>
      </p:sp>
      <p:sp>
        <p:nvSpPr>
          <p:cNvPr id="20" name="Text Box 30"/>
          <p:cNvSpPr txBox="1">
            <a:spLocks noChangeArrowheads="1"/>
          </p:cNvSpPr>
          <p:nvPr/>
        </p:nvSpPr>
        <p:spPr bwMode="auto">
          <a:xfrm rot="10800000">
            <a:off x="3920994" y="191190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21" name="Text Box 31"/>
          <p:cNvSpPr txBox="1">
            <a:spLocks noChangeArrowheads="1"/>
          </p:cNvSpPr>
          <p:nvPr/>
        </p:nvSpPr>
        <p:spPr bwMode="auto">
          <a:xfrm rot="10800000">
            <a:off x="5479892" y="30554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22" name="Text Box 32"/>
          <p:cNvSpPr txBox="1">
            <a:spLocks noChangeArrowheads="1"/>
          </p:cNvSpPr>
          <p:nvPr/>
        </p:nvSpPr>
        <p:spPr bwMode="auto">
          <a:xfrm rot="10800000">
            <a:off x="5860892" y="3057001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sp>
        <p:nvSpPr>
          <p:cNvPr id="23" name="Text Box 33"/>
          <p:cNvSpPr txBox="1">
            <a:spLocks noChangeArrowheads="1"/>
          </p:cNvSpPr>
          <p:nvPr/>
        </p:nvSpPr>
        <p:spPr bwMode="auto">
          <a:xfrm rot="10800000">
            <a:off x="6241892" y="3057001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24" name="Line 34"/>
          <p:cNvSpPr>
            <a:spLocks noChangeShapeType="1"/>
          </p:cNvSpPr>
          <p:nvPr/>
        </p:nvSpPr>
        <p:spPr bwMode="auto">
          <a:xfrm flipH="1">
            <a:off x="1566863" y="2278150"/>
            <a:ext cx="2438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Line 35"/>
          <p:cNvSpPr>
            <a:spLocks noChangeShapeType="1"/>
          </p:cNvSpPr>
          <p:nvPr/>
        </p:nvSpPr>
        <p:spPr bwMode="auto">
          <a:xfrm>
            <a:off x="4310063" y="2278150"/>
            <a:ext cx="1752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Line 38"/>
          <p:cNvSpPr>
            <a:spLocks noChangeShapeType="1"/>
          </p:cNvSpPr>
          <p:nvPr/>
        </p:nvSpPr>
        <p:spPr bwMode="auto">
          <a:xfrm flipH="1">
            <a:off x="3852863" y="3497350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Line 39"/>
          <p:cNvSpPr>
            <a:spLocks noChangeShapeType="1"/>
          </p:cNvSpPr>
          <p:nvPr/>
        </p:nvSpPr>
        <p:spPr bwMode="auto">
          <a:xfrm flipH="1">
            <a:off x="5300664" y="3497350"/>
            <a:ext cx="6096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Line 40"/>
          <p:cNvSpPr>
            <a:spLocks noChangeShapeType="1"/>
          </p:cNvSpPr>
          <p:nvPr/>
        </p:nvSpPr>
        <p:spPr bwMode="auto">
          <a:xfrm>
            <a:off x="6291264" y="3497350"/>
            <a:ext cx="533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Line 41"/>
          <p:cNvSpPr>
            <a:spLocks noChangeShapeType="1"/>
          </p:cNvSpPr>
          <p:nvPr/>
        </p:nvSpPr>
        <p:spPr bwMode="auto">
          <a:xfrm>
            <a:off x="6672264" y="3497350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Line 47"/>
          <p:cNvSpPr>
            <a:spLocks noChangeShapeType="1"/>
          </p:cNvSpPr>
          <p:nvPr/>
        </p:nvSpPr>
        <p:spPr bwMode="auto">
          <a:xfrm>
            <a:off x="3444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Line 48"/>
          <p:cNvSpPr>
            <a:spLocks noChangeShapeType="1"/>
          </p:cNvSpPr>
          <p:nvPr/>
        </p:nvSpPr>
        <p:spPr bwMode="auto">
          <a:xfrm>
            <a:off x="3825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Line 49"/>
          <p:cNvSpPr>
            <a:spLocks noChangeShapeType="1"/>
          </p:cNvSpPr>
          <p:nvPr/>
        </p:nvSpPr>
        <p:spPr bwMode="auto">
          <a:xfrm>
            <a:off x="4206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Line 50"/>
          <p:cNvSpPr>
            <a:spLocks noChangeShapeType="1"/>
          </p:cNvSpPr>
          <p:nvPr/>
        </p:nvSpPr>
        <p:spPr bwMode="auto">
          <a:xfrm>
            <a:off x="4943448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Line 53"/>
          <p:cNvSpPr>
            <a:spLocks noChangeShapeType="1"/>
          </p:cNvSpPr>
          <p:nvPr/>
        </p:nvSpPr>
        <p:spPr bwMode="auto">
          <a:xfrm>
            <a:off x="6468601" y="49070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Line 54"/>
          <p:cNvSpPr>
            <a:spLocks noChangeShapeType="1"/>
          </p:cNvSpPr>
          <p:nvPr/>
        </p:nvSpPr>
        <p:spPr bwMode="auto">
          <a:xfrm>
            <a:off x="6849601" y="49070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Line 55"/>
          <p:cNvSpPr>
            <a:spLocks noChangeShapeType="1"/>
          </p:cNvSpPr>
          <p:nvPr/>
        </p:nvSpPr>
        <p:spPr bwMode="auto">
          <a:xfrm>
            <a:off x="8043864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Line 56"/>
          <p:cNvSpPr>
            <a:spLocks noChangeShapeType="1"/>
          </p:cNvSpPr>
          <p:nvPr/>
        </p:nvSpPr>
        <p:spPr bwMode="auto">
          <a:xfrm>
            <a:off x="8424864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Line 58"/>
          <p:cNvSpPr>
            <a:spLocks noChangeShapeType="1"/>
          </p:cNvSpPr>
          <p:nvPr/>
        </p:nvSpPr>
        <p:spPr bwMode="auto">
          <a:xfrm>
            <a:off x="2862263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Line 59"/>
          <p:cNvSpPr>
            <a:spLocks noChangeShapeType="1"/>
          </p:cNvSpPr>
          <p:nvPr/>
        </p:nvSpPr>
        <p:spPr bwMode="auto">
          <a:xfrm>
            <a:off x="4386263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Line 60"/>
          <p:cNvSpPr>
            <a:spLocks noChangeShapeType="1"/>
          </p:cNvSpPr>
          <p:nvPr/>
        </p:nvSpPr>
        <p:spPr bwMode="auto">
          <a:xfrm>
            <a:off x="5910264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Line 61"/>
          <p:cNvSpPr>
            <a:spLocks noChangeShapeType="1"/>
          </p:cNvSpPr>
          <p:nvPr/>
        </p:nvSpPr>
        <p:spPr bwMode="auto">
          <a:xfrm>
            <a:off x="7434264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Box 62"/>
          <p:cNvSpPr txBox="1">
            <a:spLocks noChangeArrowheads="1"/>
          </p:cNvSpPr>
          <p:nvPr/>
        </p:nvSpPr>
        <p:spPr bwMode="auto">
          <a:xfrm>
            <a:off x="6148389" y="1825713"/>
            <a:ext cx="2151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Max fan-out: 4</a:t>
            </a:r>
          </a:p>
        </p:txBody>
      </p:sp>
      <p:sp>
        <p:nvSpPr>
          <p:cNvPr id="48" name="Line 50"/>
          <p:cNvSpPr>
            <a:spLocks noChangeShapeType="1"/>
          </p:cNvSpPr>
          <p:nvPr/>
        </p:nvSpPr>
        <p:spPr bwMode="auto">
          <a:xfrm>
            <a:off x="5350772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9" name="Group 50"/>
          <p:cNvGrpSpPr>
            <a:grpSpLocks/>
          </p:cNvGrpSpPr>
          <p:nvPr/>
        </p:nvGrpSpPr>
        <p:grpSpPr bwMode="auto">
          <a:xfrm>
            <a:off x="6634164" y="4394288"/>
            <a:ext cx="381000" cy="838200"/>
            <a:chOff x="4032" y="2976"/>
            <a:chExt cx="240" cy="528"/>
          </a:xfrm>
        </p:grpSpPr>
        <p:sp>
          <p:nvSpPr>
            <p:cNvPr id="50" name="Line 46"/>
            <p:cNvSpPr>
              <a:spLocks noChangeShapeType="1"/>
            </p:cNvSpPr>
            <p:nvPr/>
          </p:nvSpPr>
          <p:spPr bwMode="auto">
            <a:xfrm>
              <a:off x="4032" y="2976"/>
              <a:ext cx="240" cy="528"/>
            </a:xfrm>
            <a:prstGeom prst="line">
              <a:avLst/>
            </a:prstGeom>
            <a:noFill/>
            <a:ln w="63500" cap="rnd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Line 47"/>
            <p:cNvSpPr>
              <a:spLocks noChangeShapeType="1"/>
            </p:cNvSpPr>
            <p:nvPr/>
          </p:nvSpPr>
          <p:spPr bwMode="auto">
            <a:xfrm flipH="1">
              <a:off x="4032" y="2976"/>
              <a:ext cx="240" cy="528"/>
            </a:xfrm>
            <a:prstGeom prst="line">
              <a:avLst/>
            </a:prstGeom>
            <a:noFill/>
            <a:ln w="63500" cap="rnd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2" name="Text Box 48"/>
          <p:cNvSpPr txBox="1">
            <a:spLocks noChangeArrowheads="1"/>
          </p:cNvSpPr>
          <p:nvPr/>
        </p:nvSpPr>
        <p:spPr bwMode="auto">
          <a:xfrm>
            <a:off x="3844600" y="5449002"/>
            <a:ext cx="37289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Cannot steal from siblings</a:t>
            </a:r>
          </a:p>
        </p:txBody>
      </p:sp>
      <p:sp>
        <p:nvSpPr>
          <p:cNvPr id="53" name="Text Box 49"/>
          <p:cNvSpPr txBox="1">
            <a:spLocks noChangeArrowheads="1"/>
          </p:cNvSpPr>
          <p:nvPr/>
        </p:nvSpPr>
        <p:spPr bwMode="auto">
          <a:xfrm>
            <a:off x="3844600" y="5834764"/>
            <a:ext cx="52870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Then merge (coalesce) with a sibling!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5AED4C5-6DA2-A04C-A3A8-53EB783E4293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6062FEB-1F7E-B648-8414-79C7356D65BF}"/>
              </a:ext>
            </a:extLst>
          </p:cNvPr>
          <p:cNvSpPr txBox="1"/>
          <p:nvPr/>
        </p:nvSpPr>
        <p:spPr>
          <a:xfrm>
            <a:off x="11858" y="64300"/>
            <a:ext cx="9132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Another Deletion Example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845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  <p:bldP spid="53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35" y="5484900"/>
            <a:ext cx="8907961" cy="1236575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Deletion can “propagate” all the way up to the root of the tree (not illustrated here)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the root becomes empty, the tree “shrinks” by one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167063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691064" y="44117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215064" y="4411750"/>
            <a:ext cx="1295400" cy="53340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453064" y="30401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29063" y="1897150"/>
            <a:ext cx="1295400" cy="533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19"/>
          <p:cNvSpPr txBox="1">
            <a:spLocks noChangeArrowheads="1"/>
          </p:cNvSpPr>
          <p:nvPr/>
        </p:nvSpPr>
        <p:spPr bwMode="auto">
          <a:xfrm rot="10800000">
            <a:off x="3193892" y="4425426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 rot="10800000">
            <a:off x="3574892" y="44270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101</a:t>
            </a:r>
          </a:p>
        </p:txBody>
      </p:sp>
      <p:sp>
        <p:nvSpPr>
          <p:cNvPr id="13" name="Text Box 21"/>
          <p:cNvSpPr txBox="1">
            <a:spLocks noChangeArrowheads="1"/>
          </p:cNvSpPr>
          <p:nvPr/>
        </p:nvSpPr>
        <p:spPr bwMode="auto">
          <a:xfrm rot="10800000">
            <a:off x="3955892" y="4449236"/>
            <a:ext cx="492443" cy="50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110</a:t>
            </a:r>
          </a:p>
        </p:txBody>
      </p:sp>
      <p:sp>
        <p:nvSpPr>
          <p:cNvPr id="14" name="Text Box 22"/>
          <p:cNvSpPr txBox="1">
            <a:spLocks noChangeArrowheads="1"/>
          </p:cNvSpPr>
          <p:nvPr/>
        </p:nvSpPr>
        <p:spPr bwMode="auto">
          <a:xfrm rot="10800000">
            <a:off x="4717892" y="44238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15" name="Text Box 24"/>
          <p:cNvSpPr txBox="1">
            <a:spLocks noChangeArrowheads="1"/>
          </p:cNvSpPr>
          <p:nvPr/>
        </p:nvSpPr>
        <p:spPr bwMode="auto">
          <a:xfrm rot="10800000">
            <a:off x="5105619" y="4427013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 rot="10800000">
            <a:off x="6208092" y="442383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sp>
        <p:nvSpPr>
          <p:cNvPr id="18" name="Text Box 27"/>
          <p:cNvSpPr txBox="1">
            <a:spLocks noChangeArrowheads="1"/>
          </p:cNvSpPr>
          <p:nvPr/>
        </p:nvSpPr>
        <p:spPr bwMode="auto">
          <a:xfrm rot="10800000">
            <a:off x="6595905" y="4412770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19" name="Text Box 28"/>
          <p:cNvSpPr txBox="1">
            <a:spLocks noChangeArrowheads="1"/>
          </p:cNvSpPr>
          <p:nvPr/>
        </p:nvSpPr>
        <p:spPr bwMode="auto">
          <a:xfrm rot="10800000">
            <a:off x="6976905" y="4415945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200</a:t>
            </a:r>
          </a:p>
        </p:txBody>
      </p:sp>
      <p:sp>
        <p:nvSpPr>
          <p:cNvPr id="20" name="Text Box 30"/>
          <p:cNvSpPr txBox="1">
            <a:spLocks noChangeArrowheads="1"/>
          </p:cNvSpPr>
          <p:nvPr/>
        </p:nvSpPr>
        <p:spPr bwMode="auto">
          <a:xfrm rot="10800000">
            <a:off x="3920994" y="1911909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</p:txBody>
      </p:sp>
      <p:sp>
        <p:nvSpPr>
          <p:cNvPr id="21" name="Text Box 31"/>
          <p:cNvSpPr txBox="1">
            <a:spLocks noChangeArrowheads="1"/>
          </p:cNvSpPr>
          <p:nvPr/>
        </p:nvSpPr>
        <p:spPr bwMode="auto">
          <a:xfrm rot="10800000">
            <a:off x="5479892" y="3055414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120</a:t>
            </a:r>
          </a:p>
        </p:txBody>
      </p:sp>
      <p:sp>
        <p:nvSpPr>
          <p:cNvPr id="22" name="Text Box 32"/>
          <p:cNvSpPr txBox="1">
            <a:spLocks noChangeArrowheads="1"/>
          </p:cNvSpPr>
          <p:nvPr/>
        </p:nvSpPr>
        <p:spPr bwMode="auto">
          <a:xfrm rot="10800000">
            <a:off x="5860892" y="3057001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sp>
        <p:nvSpPr>
          <p:cNvPr id="23" name="Text Box 33"/>
          <p:cNvSpPr txBox="1">
            <a:spLocks noChangeArrowheads="1"/>
          </p:cNvSpPr>
          <p:nvPr/>
        </p:nvSpPr>
        <p:spPr bwMode="auto">
          <a:xfrm rot="10800000">
            <a:off x="6241892" y="3057001"/>
            <a:ext cx="492443" cy="52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sp>
        <p:nvSpPr>
          <p:cNvPr id="24" name="Line 34"/>
          <p:cNvSpPr>
            <a:spLocks noChangeShapeType="1"/>
          </p:cNvSpPr>
          <p:nvPr/>
        </p:nvSpPr>
        <p:spPr bwMode="auto">
          <a:xfrm flipH="1">
            <a:off x="1566863" y="2278150"/>
            <a:ext cx="2438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Line 35"/>
          <p:cNvSpPr>
            <a:spLocks noChangeShapeType="1"/>
          </p:cNvSpPr>
          <p:nvPr/>
        </p:nvSpPr>
        <p:spPr bwMode="auto">
          <a:xfrm>
            <a:off x="4310063" y="2278150"/>
            <a:ext cx="1752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Line 38"/>
          <p:cNvSpPr>
            <a:spLocks noChangeShapeType="1"/>
          </p:cNvSpPr>
          <p:nvPr/>
        </p:nvSpPr>
        <p:spPr bwMode="auto">
          <a:xfrm flipH="1">
            <a:off x="3852863" y="3497350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Line 39"/>
          <p:cNvSpPr>
            <a:spLocks noChangeShapeType="1"/>
          </p:cNvSpPr>
          <p:nvPr/>
        </p:nvSpPr>
        <p:spPr bwMode="auto">
          <a:xfrm flipH="1">
            <a:off x="5300664" y="3497350"/>
            <a:ext cx="6096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Line 40"/>
          <p:cNvSpPr>
            <a:spLocks noChangeShapeType="1"/>
          </p:cNvSpPr>
          <p:nvPr/>
        </p:nvSpPr>
        <p:spPr bwMode="auto">
          <a:xfrm>
            <a:off x="6291264" y="3497350"/>
            <a:ext cx="533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Line 41"/>
          <p:cNvSpPr>
            <a:spLocks noChangeShapeType="1"/>
          </p:cNvSpPr>
          <p:nvPr/>
        </p:nvSpPr>
        <p:spPr bwMode="auto">
          <a:xfrm>
            <a:off x="6672264" y="3497350"/>
            <a:ext cx="1676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Line 47"/>
          <p:cNvSpPr>
            <a:spLocks noChangeShapeType="1"/>
          </p:cNvSpPr>
          <p:nvPr/>
        </p:nvSpPr>
        <p:spPr bwMode="auto">
          <a:xfrm>
            <a:off x="3444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Line 48"/>
          <p:cNvSpPr>
            <a:spLocks noChangeShapeType="1"/>
          </p:cNvSpPr>
          <p:nvPr/>
        </p:nvSpPr>
        <p:spPr bwMode="auto">
          <a:xfrm>
            <a:off x="3825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Line 49"/>
          <p:cNvSpPr>
            <a:spLocks noChangeShapeType="1"/>
          </p:cNvSpPr>
          <p:nvPr/>
        </p:nvSpPr>
        <p:spPr bwMode="auto">
          <a:xfrm>
            <a:off x="4206153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Line 50"/>
          <p:cNvSpPr>
            <a:spLocks noChangeShapeType="1"/>
          </p:cNvSpPr>
          <p:nvPr/>
        </p:nvSpPr>
        <p:spPr bwMode="auto">
          <a:xfrm>
            <a:off x="4943448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Line 53"/>
          <p:cNvSpPr>
            <a:spLocks noChangeShapeType="1"/>
          </p:cNvSpPr>
          <p:nvPr/>
        </p:nvSpPr>
        <p:spPr bwMode="auto">
          <a:xfrm>
            <a:off x="6468601" y="49070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Line 55"/>
          <p:cNvSpPr>
            <a:spLocks noChangeShapeType="1"/>
          </p:cNvSpPr>
          <p:nvPr/>
        </p:nvSpPr>
        <p:spPr bwMode="auto">
          <a:xfrm>
            <a:off x="6858002" y="4908681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Line 56"/>
          <p:cNvSpPr>
            <a:spLocks noChangeShapeType="1"/>
          </p:cNvSpPr>
          <p:nvPr/>
        </p:nvSpPr>
        <p:spPr bwMode="auto">
          <a:xfrm>
            <a:off x="7239002" y="4908681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Line 58"/>
          <p:cNvSpPr>
            <a:spLocks noChangeShapeType="1"/>
          </p:cNvSpPr>
          <p:nvPr/>
        </p:nvSpPr>
        <p:spPr bwMode="auto">
          <a:xfrm>
            <a:off x="2862263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Line 59"/>
          <p:cNvSpPr>
            <a:spLocks noChangeShapeType="1"/>
          </p:cNvSpPr>
          <p:nvPr/>
        </p:nvSpPr>
        <p:spPr bwMode="auto">
          <a:xfrm>
            <a:off x="4386263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Line 60"/>
          <p:cNvSpPr>
            <a:spLocks noChangeShapeType="1"/>
          </p:cNvSpPr>
          <p:nvPr/>
        </p:nvSpPr>
        <p:spPr bwMode="auto">
          <a:xfrm>
            <a:off x="5910264" y="47165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Box 62"/>
          <p:cNvSpPr txBox="1">
            <a:spLocks noChangeArrowheads="1"/>
          </p:cNvSpPr>
          <p:nvPr/>
        </p:nvSpPr>
        <p:spPr bwMode="auto">
          <a:xfrm>
            <a:off x="6148389" y="1825713"/>
            <a:ext cx="21515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Max fan-out: 4</a:t>
            </a:r>
          </a:p>
        </p:txBody>
      </p:sp>
      <p:sp>
        <p:nvSpPr>
          <p:cNvPr id="43" name="Line 50"/>
          <p:cNvSpPr>
            <a:spLocks noChangeShapeType="1"/>
          </p:cNvSpPr>
          <p:nvPr/>
        </p:nvSpPr>
        <p:spPr bwMode="auto">
          <a:xfrm>
            <a:off x="5350772" y="491975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8" name="Group 66"/>
          <p:cNvGrpSpPr>
            <a:grpSpLocks/>
          </p:cNvGrpSpPr>
          <p:nvPr/>
        </p:nvGrpSpPr>
        <p:grpSpPr bwMode="auto">
          <a:xfrm>
            <a:off x="1435938" y="2882195"/>
            <a:ext cx="6319838" cy="1306513"/>
            <a:chOff x="723" y="1961"/>
            <a:chExt cx="3981" cy="823"/>
          </a:xfrm>
        </p:grpSpPr>
        <p:grpSp>
          <p:nvGrpSpPr>
            <p:cNvPr id="49" name="Group 65"/>
            <p:cNvGrpSpPr>
              <a:grpSpLocks/>
            </p:cNvGrpSpPr>
            <p:nvPr/>
          </p:nvGrpSpPr>
          <p:grpSpPr bwMode="auto">
            <a:xfrm>
              <a:off x="3792" y="2112"/>
              <a:ext cx="240" cy="240"/>
              <a:chOff x="3792" y="2016"/>
              <a:chExt cx="240" cy="528"/>
            </a:xfrm>
          </p:grpSpPr>
          <p:sp>
            <p:nvSpPr>
              <p:cNvPr id="54" name="Line 45"/>
              <p:cNvSpPr>
                <a:spLocks noChangeShapeType="1"/>
              </p:cNvSpPr>
              <p:nvPr/>
            </p:nvSpPr>
            <p:spPr bwMode="auto">
              <a:xfrm>
                <a:off x="3792" y="2016"/>
                <a:ext cx="240" cy="528"/>
              </a:xfrm>
              <a:prstGeom prst="line">
                <a:avLst/>
              </a:prstGeom>
              <a:noFill/>
              <a:ln w="63500" cap="rnd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Line 46"/>
              <p:cNvSpPr>
                <a:spLocks noChangeShapeType="1"/>
              </p:cNvSpPr>
              <p:nvPr/>
            </p:nvSpPr>
            <p:spPr bwMode="auto">
              <a:xfrm flipH="1">
                <a:off x="3792" y="2016"/>
                <a:ext cx="240" cy="528"/>
              </a:xfrm>
              <a:prstGeom prst="line">
                <a:avLst/>
              </a:prstGeom>
              <a:noFill/>
              <a:ln w="63500" cap="rnd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0" name="Group 49"/>
            <p:cNvGrpSpPr>
              <a:grpSpLocks/>
            </p:cNvGrpSpPr>
            <p:nvPr/>
          </p:nvGrpSpPr>
          <p:grpSpPr bwMode="auto">
            <a:xfrm>
              <a:off x="4464" y="2544"/>
              <a:ext cx="240" cy="240"/>
              <a:chOff x="3840" y="2448"/>
              <a:chExt cx="240" cy="528"/>
            </a:xfrm>
          </p:grpSpPr>
          <p:sp>
            <p:nvSpPr>
              <p:cNvPr id="52" name="Line 47"/>
              <p:cNvSpPr>
                <a:spLocks noChangeShapeType="1"/>
              </p:cNvSpPr>
              <p:nvPr/>
            </p:nvSpPr>
            <p:spPr bwMode="auto">
              <a:xfrm>
                <a:off x="3840" y="2448"/>
                <a:ext cx="240" cy="528"/>
              </a:xfrm>
              <a:prstGeom prst="line">
                <a:avLst/>
              </a:prstGeom>
              <a:noFill/>
              <a:ln w="63500" cap="rnd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" name="Line 48"/>
              <p:cNvSpPr>
                <a:spLocks noChangeShapeType="1"/>
              </p:cNvSpPr>
              <p:nvPr/>
            </p:nvSpPr>
            <p:spPr bwMode="auto">
              <a:xfrm flipH="1">
                <a:off x="3840" y="2448"/>
                <a:ext cx="240" cy="528"/>
              </a:xfrm>
              <a:prstGeom prst="line">
                <a:avLst/>
              </a:prstGeom>
              <a:noFill/>
              <a:ln w="63500" cap="rnd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1" name="Text Box 50"/>
            <p:cNvSpPr txBox="1">
              <a:spLocks noChangeArrowheads="1"/>
            </p:cNvSpPr>
            <p:nvPr/>
          </p:nvSpPr>
          <p:spPr bwMode="auto">
            <a:xfrm>
              <a:off x="723" y="1961"/>
              <a:ext cx="2499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Remember to delete the</a:t>
              </a:r>
              <a:br>
                <a:rPr kumimoji="1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appropriate key from parent</a:t>
              </a:r>
            </a:p>
          </p:txBody>
        </p:sp>
      </p:grp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70E5342-36EA-094A-92A6-200AC8A68A5A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D523F4C-9165-7245-AFDC-52D04322B9D4}"/>
              </a:ext>
            </a:extLst>
          </p:cNvPr>
          <p:cNvSpPr txBox="1"/>
          <p:nvPr/>
        </p:nvSpPr>
        <p:spPr>
          <a:xfrm>
            <a:off x="11858" y="64300"/>
            <a:ext cx="9132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Merging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159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6273" y="881651"/>
                <a:ext cx="8814543" cy="5264622"/>
              </a:xfrm>
            </p:spPr>
            <p:txBody>
              <a:bodyPr>
                <a:normAutofit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How many I/O’s are required for each operation?</a:t>
                </a: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h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</a:t>
                </a:r>
                <a:r>
                  <a:rPr lang="en-US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height of the tree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Plus one or two to manipulate actual records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Plus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h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for reorganization (rare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𝑓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large)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Minus one if we cache the root in memory</a:t>
                </a:r>
              </a:p>
              <a:p>
                <a:pPr lvl="1">
                  <a:buFont typeface="Wingdings" pitchFamily="2" charset="2"/>
                  <a:buChar char="Ø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How big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h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Roughly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/>
                              </a:rPr>
                              <m:t>fanout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𝑁</m:t>
                    </m:r>
                    <m:r>
                      <a:rPr lang="en-US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number of records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Fan-out is typically large (in hundreds)—many keys and pointers can fit into one block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 4-level B</a:t>
                </a:r>
                <a:r>
                  <a:rPr lang="en-US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-tree is enough for many tables (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e..g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if f=200, then you can accommodate 1.6B rows)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6273" y="881651"/>
                <a:ext cx="8814543" cy="5264622"/>
              </a:xfrm>
              <a:blipFill>
                <a:blip r:embed="rId4"/>
                <a:stretch>
                  <a:fillRect l="-863" t="-1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E926F-F278-B34D-AA37-8AE21258DCC5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852E06-32CF-D544-9B3E-9C5EF0BA9641}"/>
              </a:ext>
            </a:extLst>
          </p:cNvPr>
          <p:cNvSpPr txBox="1"/>
          <p:nvPr/>
        </p:nvSpPr>
        <p:spPr>
          <a:xfrm>
            <a:off x="11858" y="64300"/>
            <a:ext cx="9132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Performance analysis of B</a:t>
            </a:r>
            <a:r>
              <a:rPr lang="en-US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-tree 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56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E926F-F278-B34D-AA37-8AE21258DCC5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852E06-32CF-D544-9B3E-9C5EF0BA9641}"/>
              </a:ext>
            </a:extLst>
          </p:cNvPr>
          <p:cNvSpPr txBox="1"/>
          <p:nvPr/>
        </p:nvSpPr>
        <p:spPr>
          <a:xfrm>
            <a:off x="11858" y="64300"/>
            <a:ext cx="9132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How to Keep A Table Sorted?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73EE5B-C5F8-C945-8827-67E2FEC4D481}"/>
              </a:ext>
            </a:extLst>
          </p:cNvPr>
          <p:cNvSpPr/>
          <p:nvPr/>
        </p:nvSpPr>
        <p:spPr>
          <a:xfrm>
            <a:off x="-1" y="758856"/>
            <a:ext cx="9132141" cy="958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Recall this key question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Recall further note on clustered indices and page order.</a:t>
            </a:r>
          </a:p>
        </p:txBody>
      </p:sp>
      <p:grpSp>
        <p:nvGrpSpPr>
          <p:cNvPr id="9" name="Group 36">
            <a:extLst>
              <a:ext uri="{FF2B5EF4-FFF2-40B4-BE49-F238E27FC236}">
                <a16:creationId xmlns:a16="http://schemas.microsoft.com/office/drawing/2014/main" id="{8B0E9F1E-5551-C04B-9EDF-4D019F68A0D0}"/>
              </a:ext>
            </a:extLst>
          </p:cNvPr>
          <p:cNvGrpSpPr>
            <a:grpSpLocks/>
          </p:cNvGrpSpPr>
          <p:nvPr/>
        </p:nvGrpSpPr>
        <p:grpSpPr bwMode="auto">
          <a:xfrm>
            <a:off x="484873" y="3789793"/>
            <a:ext cx="7092951" cy="914400"/>
            <a:chOff x="240" y="2832"/>
            <a:chExt cx="4468" cy="576"/>
          </a:xfrm>
        </p:grpSpPr>
        <p:sp>
          <p:nvSpPr>
            <p:cNvPr id="10" name="Rectangle 19">
              <a:extLst>
                <a:ext uri="{FF2B5EF4-FFF2-40B4-BE49-F238E27FC236}">
                  <a16:creationId xmlns:a16="http://schemas.microsoft.com/office/drawing/2014/main" id="{BCB31838-9C71-A549-BF8E-3226496CF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832"/>
              <a:ext cx="965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100, 123, 192, 200</a:t>
              </a:r>
            </a:p>
          </p:txBody>
        </p:sp>
        <p:sp>
          <p:nvSpPr>
            <p:cNvPr id="11" name="Rectangle 20">
              <a:extLst>
                <a:ext uri="{FF2B5EF4-FFF2-40B4-BE49-F238E27FC236}">
                  <a16:creationId xmlns:a16="http://schemas.microsoft.com/office/drawing/2014/main" id="{9F8572B0-31F5-0846-BA30-5F724C2A2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2832"/>
              <a:ext cx="86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901, 996</a:t>
              </a:r>
            </a:p>
          </p:txBody>
        </p:sp>
        <p:sp>
          <p:nvSpPr>
            <p:cNvPr id="12" name="Line 22">
              <a:extLst>
                <a:ext uri="{FF2B5EF4-FFF2-40B4-BE49-F238E27FC236}">
                  <a16:creationId xmlns:a16="http://schemas.microsoft.com/office/drawing/2014/main" id="{45B8F7ED-B876-8348-8D37-877B144B67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3052"/>
              <a:ext cx="168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3">
              <a:extLst>
                <a:ext uri="{FF2B5EF4-FFF2-40B4-BE49-F238E27FC236}">
                  <a16:creationId xmlns:a16="http://schemas.microsoft.com/office/drawing/2014/main" id="{243933E5-65F6-DB4E-A141-2874148E3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9" y="3052"/>
              <a:ext cx="2609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24">
              <a:extLst>
                <a:ext uri="{FF2B5EF4-FFF2-40B4-BE49-F238E27FC236}">
                  <a16:creationId xmlns:a16="http://schemas.microsoft.com/office/drawing/2014/main" id="{A818A61C-2586-524C-959A-AE7DDEDCB3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99" y="3014"/>
              <a:ext cx="468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28F9194E-7C80-214B-9045-BA554D4B69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3" y="3052"/>
              <a:ext cx="2459" cy="3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33">
              <a:extLst>
                <a:ext uri="{FF2B5EF4-FFF2-40B4-BE49-F238E27FC236}">
                  <a16:creationId xmlns:a16="http://schemas.microsoft.com/office/drawing/2014/main" id="{CA810D3A-5F85-5543-93DC-B3A7330F0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3052"/>
              <a:ext cx="64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35">
            <a:extLst>
              <a:ext uri="{FF2B5EF4-FFF2-40B4-BE49-F238E27FC236}">
                <a16:creationId xmlns:a16="http://schemas.microsoft.com/office/drawing/2014/main" id="{A26D13B4-752D-FC4A-AC4C-4CB61F9799A9}"/>
              </a:ext>
            </a:extLst>
          </p:cNvPr>
          <p:cNvGrpSpPr>
            <a:grpSpLocks/>
          </p:cNvGrpSpPr>
          <p:nvPr/>
        </p:nvGrpSpPr>
        <p:grpSpPr bwMode="auto">
          <a:xfrm>
            <a:off x="484872" y="4688314"/>
            <a:ext cx="8201025" cy="1238250"/>
            <a:chOff x="240" y="3398"/>
            <a:chExt cx="5166" cy="780"/>
          </a:xfrm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A0CC0FFE-F529-644D-B17C-F5D4F34FB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100, 108,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119, 121</a:t>
              </a:r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4938D2DE-5755-9F4F-9B8D-547512F0D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123, 129,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A324F067-7223-264D-BC16-F942036AA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901, 907,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6A98725F-301E-324A-81A0-19C9B8025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" y="339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996, 997,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E437D90A-69FC-6343-A27D-D1EFC29B2C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3926"/>
              <a:ext cx="2013" cy="252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latin typeface="+mn-lt"/>
                </a:rPr>
                <a:t>Data pages (original relation)</a:t>
              </a:r>
            </a:p>
          </p:txBody>
        </p:sp>
        <p:sp>
          <p:nvSpPr>
            <p:cNvPr id="23" name="Rectangle 13">
              <a:extLst>
                <a:ext uri="{FF2B5EF4-FFF2-40B4-BE49-F238E27FC236}">
                  <a16:creationId xmlns:a16="http://schemas.microsoft.com/office/drawing/2014/main" id="{C0E4C3F3-0B27-CA4B-9922-BEED75DFF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sz="1400" dirty="0">
                  <a:latin typeface="Prestige12 BT" panose="02070509030506020304" pitchFamily="49" charset="0"/>
                </a:rPr>
                <a:t>200, 202,</a:t>
              </a:r>
              <a:br>
                <a:rPr lang="en-US" sz="1400" dirty="0">
                  <a:latin typeface="Prestige12 BT" panose="02070509030506020304" pitchFamily="49" charset="0"/>
                </a:rPr>
              </a:br>
              <a:r>
                <a:rPr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4" name="Rectangle 34">
              <a:extLst>
                <a:ext uri="{FF2B5EF4-FFF2-40B4-BE49-F238E27FC236}">
                  <a16:creationId xmlns:a16="http://schemas.microsoft.com/office/drawing/2014/main" id="{39C4A6E1-DD37-B64A-8C33-DD819185A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sz="1400" dirty="0">
                  <a:latin typeface="Prestige12 BT" panose="02070509030506020304" pitchFamily="49" charset="0"/>
                </a:rPr>
                <a:t>192, 197,</a:t>
              </a:r>
              <a:br>
                <a:rPr lang="en-US" sz="1400" dirty="0">
                  <a:latin typeface="Prestige12 BT" panose="02070509030506020304" pitchFamily="49" charset="0"/>
                </a:rPr>
              </a:br>
              <a:r>
                <a:rPr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</p:grpSp>
      <p:sp>
        <p:nvSpPr>
          <p:cNvPr id="25" name="Line 40">
            <a:extLst>
              <a:ext uri="{FF2B5EF4-FFF2-40B4-BE49-F238E27FC236}">
                <a16:creationId xmlns:a16="http://schemas.microsoft.com/office/drawing/2014/main" id="{3C504ABF-B05C-414D-90DE-6F4CFFC614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8459" y="4078720"/>
            <a:ext cx="910431" cy="549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14C481-C6D7-124E-8B19-C438A767B2D7}"/>
              </a:ext>
            </a:extLst>
          </p:cNvPr>
          <p:cNvSpPr txBox="1"/>
          <p:nvPr/>
        </p:nvSpPr>
        <p:spPr>
          <a:xfrm rot="16200000">
            <a:off x="8162936" y="4844805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2364DB-3218-9540-A94E-E5452A8F8C97}"/>
              </a:ext>
            </a:extLst>
          </p:cNvPr>
          <p:cNvSpPr txBox="1"/>
          <p:nvPr/>
        </p:nvSpPr>
        <p:spPr>
          <a:xfrm rot="16200000">
            <a:off x="5942702" y="3833726"/>
            <a:ext cx="777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ID.ind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666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E926F-F278-B34D-AA37-8AE21258DCC5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852E06-32CF-D544-9B3E-9C5EF0BA9641}"/>
              </a:ext>
            </a:extLst>
          </p:cNvPr>
          <p:cNvSpPr txBox="1"/>
          <p:nvPr/>
        </p:nvSpPr>
        <p:spPr>
          <a:xfrm>
            <a:off x="11858" y="64300"/>
            <a:ext cx="9132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How to Keep A Table Sorted?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73EE5B-C5F8-C945-8827-67E2FEC4D481}"/>
              </a:ext>
            </a:extLst>
          </p:cNvPr>
          <p:cNvSpPr/>
          <p:nvPr/>
        </p:nvSpPr>
        <p:spPr>
          <a:xfrm>
            <a:off x="-1" y="758856"/>
            <a:ext cx="9132141" cy="234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Recall this key question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Recall further note on clustered indices and page order.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Again assume leaf nodes are tuples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RDBMSs use “B+ tree files” to store the tables, i.e., entire file is a B+ tree index, with leaf nodes storing tuples (instead of pointers to tuples)</a:t>
            </a:r>
          </a:p>
        </p:txBody>
      </p:sp>
      <p:grpSp>
        <p:nvGrpSpPr>
          <p:cNvPr id="9" name="Group 36">
            <a:extLst>
              <a:ext uri="{FF2B5EF4-FFF2-40B4-BE49-F238E27FC236}">
                <a16:creationId xmlns:a16="http://schemas.microsoft.com/office/drawing/2014/main" id="{8B0E9F1E-5551-C04B-9EDF-4D019F68A0D0}"/>
              </a:ext>
            </a:extLst>
          </p:cNvPr>
          <p:cNvGrpSpPr>
            <a:grpSpLocks/>
          </p:cNvGrpSpPr>
          <p:nvPr/>
        </p:nvGrpSpPr>
        <p:grpSpPr bwMode="auto">
          <a:xfrm>
            <a:off x="484873" y="3789793"/>
            <a:ext cx="7092951" cy="914400"/>
            <a:chOff x="240" y="2832"/>
            <a:chExt cx="4468" cy="576"/>
          </a:xfrm>
        </p:grpSpPr>
        <p:sp>
          <p:nvSpPr>
            <p:cNvPr id="10" name="Rectangle 19">
              <a:extLst>
                <a:ext uri="{FF2B5EF4-FFF2-40B4-BE49-F238E27FC236}">
                  <a16:creationId xmlns:a16="http://schemas.microsoft.com/office/drawing/2014/main" id="{BCB31838-9C71-A549-BF8E-3226496CF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832"/>
              <a:ext cx="965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100, 123, 192, 200</a:t>
              </a:r>
            </a:p>
          </p:txBody>
        </p:sp>
        <p:sp>
          <p:nvSpPr>
            <p:cNvPr id="11" name="Rectangle 20">
              <a:extLst>
                <a:ext uri="{FF2B5EF4-FFF2-40B4-BE49-F238E27FC236}">
                  <a16:creationId xmlns:a16="http://schemas.microsoft.com/office/drawing/2014/main" id="{9F8572B0-31F5-0846-BA30-5F724C2A2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2832"/>
              <a:ext cx="864" cy="28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901, 996</a:t>
              </a:r>
            </a:p>
          </p:txBody>
        </p:sp>
        <p:sp>
          <p:nvSpPr>
            <p:cNvPr id="12" name="Line 22">
              <a:extLst>
                <a:ext uri="{FF2B5EF4-FFF2-40B4-BE49-F238E27FC236}">
                  <a16:creationId xmlns:a16="http://schemas.microsoft.com/office/drawing/2014/main" id="{45B8F7ED-B876-8348-8D37-877B144B67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" y="3052"/>
              <a:ext cx="168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3">
              <a:extLst>
                <a:ext uri="{FF2B5EF4-FFF2-40B4-BE49-F238E27FC236}">
                  <a16:creationId xmlns:a16="http://schemas.microsoft.com/office/drawing/2014/main" id="{243933E5-65F6-DB4E-A141-2874148E3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9" y="3052"/>
              <a:ext cx="2609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24">
              <a:extLst>
                <a:ext uri="{FF2B5EF4-FFF2-40B4-BE49-F238E27FC236}">
                  <a16:creationId xmlns:a16="http://schemas.microsoft.com/office/drawing/2014/main" id="{A818A61C-2586-524C-959A-AE7DDEDCB3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99" y="3014"/>
              <a:ext cx="468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28F9194E-7C80-214B-9045-BA554D4B69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3" y="3052"/>
              <a:ext cx="2459" cy="3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33">
              <a:extLst>
                <a:ext uri="{FF2B5EF4-FFF2-40B4-BE49-F238E27FC236}">
                  <a16:creationId xmlns:a16="http://schemas.microsoft.com/office/drawing/2014/main" id="{CA810D3A-5F85-5543-93DC-B3A7330F0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4" y="3052"/>
              <a:ext cx="645" cy="3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35">
            <a:extLst>
              <a:ext uri="{FF2B5EF4-FFF2-40B4-BE49-F238E27FC236}">
                <a16:creationId xmlns:a16="http://schemas.microsoft.com/office/drawing/2014/main" id="{A26D13B4-752D-FC4A-AC4C-4CB61F9799A9}"/>
              </a:ext>
            </a:extLst>
          </p:cNvPr>
          <p:cNvGrpSpPr>
            <a:grpSpLocks/>
          </p:cNvGrpSpPr>
          <p:nvPr/>
        </p:nvGrpSpPr>
        <p:grpSpPr bwMode="auto">
          <a:xfrm>
            <a:off x="484872" y="4688315"/>
            <a:ext cx="8201025" cy="2097088"/>
            <a:chOff x="240" y="3398"/>
            <a:chExt cx="5166" cy="1321"/>
          </a:xfrm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A0CC0FFE-F529-644D-B17C-F5D4F34FB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100, 108,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119, 121</a:t>
              </a:r>
            </a:p>
          </p:txBody>
        </p:sp>
        <p:sp>
          <p:nvSpPr>
            <p:cNvPr id="19" name="Rectangle 6">
              <a:extLst>
                <a:ext uri="{FF2B5EF4-FFF2-40B4-BE49-F238E27FC236}">
                  <a16:creationId xmlns:a16="http://schemas.microsoft.com/office/drawing/2014/main" id="{4938D2DE-5755-9F4F-9B8D-547512F0D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123, 129,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A324F067-7223-264D-BC16-F942036AA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>
                  <a:latin typeface="Prestige12 BT" panose="02070509030506020304" pitchFamily="49" charset="0"/>
                </a:rPr>
                <a:t>901, 907,</a:t>
              </a:r>
              <a:br>
                <a:rPr kumimoji="0" lang="en-US" sz="1400">
                  <a:latin typeface="Prestige12 BT" panose="02070509030506020304" pitchFamily="49" charset="0"/>
                </a:rPr>
              </a:br>
              <a:r>
                <a:rPr kumimoji="0" lang="en-US" sz="140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6A98725F-301E-324A-81A0-19C9B8025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" y="339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1400" dirty="0">
                  <a:latin typeface="Prestige12 BT" panose="02070509030506020304" pitchFamily="49" charset="0"/>
                </a:rPr>
                <a:t>996, 997,</a:t>
              </a:r>
              <a:br>
                <a:rPr kumimoji="0" lang="en-US" sz="1400" dirty="0">
                  <a:latin typeface="Prestige12 BT" panose="02070509030506020304" pitchFamily="49" charset="0"/>
                </a:rPr>
              </a:br>
              <a:r>
                <a:rPr kumimoji="0"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E437D90A-69FC-6343-A27D-D1EFC29B2C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3" y="4467"/>
              <a:ext cx="854" cy="252"/>
            </a:xfrm>
            <a:prstGeom prst="rect">
              <a:avLst/>
            </a:prstGeom>
            <a:noFill/>
            <a:ln w="25400">
              <a:noFill/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kumimoji="1" sz="2400">
                  <a:solidFill>
                    <a:schemeClr val="tx1"/>
                  </a:solidFill>
                  <a:latin typeface="AmeriGarmnd BT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sz="2000" dirty="0">
                  <a:latin typeface="+mn-lt"/>
                </a:rPr>
                <a:t>B+ tree file</a:t>
              </a:r>
            </a:p>
          </p:txBody>
        </p:sp>
        <p:sp>
          <p:nvSpPr>
            <p:cNvPr id="23" name="Rectangle 13">
              <a:extLst>
                <a:ext uri="{FF2B5EF4-FFF2-40B4-BE49-F238E27FC236}">
                  <a16:creationId xmlns:a16="http://schemas.microsoft.com/office/drawing/2014/main" id="{C0E4C3F3-0B27-CA4B-9922-BEED75DFF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en-US" sz="1400" dirty="0">
                  <a:latin typeface="Prestige12 BT" panose="02070509030506020304" pitchFamily="49" charset="0"/>
                </a:rPr>
                <a:t>200, 202,</a:t>
              </a:r>
              <a:br>
                <a:rPr lang="en-US" sz="1400" dirty="0">
                  <a:latin typeface="Prestige12 BT" panose="02070509030506020304" pitchFamily="49" charset="0"/>
                </a:rPr>
              </a:br>
              <a:r>
                <a:rPr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  <p:sp>
          <p:nvSpPr>
            <p:cNvPr id="24" name="Rectangle 34">
              <a:extLst>
                <a:ext uri="{FF2B5EF4-FFF2-40B4-BE49-F238E27FC236}">
                  <a16:creationId xmlns:a16="http://schemas.microsoft.com/office/drawing/2014/main" id="{39C4A6E1-DD37-B64A-8C33-DD819185A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720" cy="4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  <a:buFontTx/>
                <a:buNone/>
              </a:pPr>
              <a:r>
                <a:rPr lang="en-US" sz="1400" dirty="0">
                  <a:latin typeface="Prestige12 BT" panose="02070509030506020304" pitchFamily="49" charset="0"/>
                </a:rPr>
                <a:t>192, 197,</a:t>
              </a:r>
              <a:br>
                <a:rPr lang="en-US" sz="1400" dirty="0">
                  <a:latin typeface="Prestige12 BT" panose="02070509030506020304" pitchFamily="49" charset="0"/>
                </a:rPr>
              </a:br>
              <a:r>
                <a:rPr lang="en-US" sz="1400" dirty="0">
                  <a:latin typeface="Prestige12 BT" panose="02070509030506020304" pitchFamily="49" charset="0"/>
                </a:rPr>
                <a:t>…</a:t>
              </a:r>
            </a:p>
          </p:txBody>
        </p:sp>
      </p:grpSp>
      <p:sp>
        <p:nvSpPr>
          <p:cNvPr id="25" name="Line 40">
            <a:extLst>
              <a:ext uri="{FF2B5EF4-FFF2-40B4-BE49-F238E27FC236}">
                <a16:creationId xmlns:a16="http://schemas.microsoft.com/office/drawing/2014/main" id="{3C504ABF-B05C-414D-90DE-6F4CFFC614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8459" y="4078720"/>
            <a:ext cx="910431" cy="549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14C481-C6D7-124E-8B19-C438A767B2D7}"/>
              </a:ext>
            </a:extLst>
          </p:cNvPr>
          <p:cNvSpPr txBox="1"/>
          <p:nvPr/>
        </p:nvSpPr>
        <p:spPr>
          <a:xfrm rot="16200000">
            <a:off x="8086025" y="4168691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30304646-5B72-4346-AF8E-6B969F08F8F8}"/>
              </a:ext>
            </a:extLst>
          </p:cNvPr>
          <p:cNvCxnSpPr>
            <a:cxnSpLocks/>
            <a:stCxn id="18" idx="2"/>
            <a:endCxn id="19" idx="2"/>
          </p:cNvCxnSpPr>
          <p:nvPr/>
        </p:nvCxnSpPr>
        <p:spPr>
          <a:xfrm rot="16200000" flipH="1">
            <a:off x="4585384" y="1860976"/>
            <a:ext cx="12700" cy="7058025"/>
          </a:xfrm>
          <a:prstGeom prst="curvedConnector3">
            <a:avLst>
              <a:gd name="adj1" fmla="val 786857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E3C49AC0-7BFB-FB44-81F3-ABE7036CB037}"/>
              </a:ext>
            </a:extLst>
          </p:cNvPr>
          <p:cNvCxnSpPr>
            <a:cxnSpLocks/>
            <a:stCxn id="24" idx="2"/>
            <a:endCxn id="23" idx="2"/>
          </p:cNvCxnSpPr>
          <p:nvPr/>
        </p:nvCxnSpPr>
        <p:spPr>
          <a:xfrm rot="5400000">
            <a:off x="4485372" y="4780389"/>
            <a:ext cx="12700" cy="1219200"/>
          </a:xfrm>
          <a:prstGeom prst="curvedConnector3">
            <a:avLst>
              <a:gd name="adj1" fmla="val 138856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273517DF-7ECC-BB4C-8C01-B953B78FAF5C}"/>
              </a:ext>
            </a:extLst>
          </p:cNvPr>
          <p:cNvCxnSpPr>
            <a:cxnSpLocks/>
            <a:stCxn id="19" idx="2"/>
            <a:endCxn id="24" idx="2"/>
          </p:cNvCxnSpPr>
          <p:nvPr/>
        </p:nvCxnSpPr>
        <p:spPr>
          <a:xfrm rot="5400000">
            <a:off x="6604685" y="3880277"/>
            <a:ext cx="12700" cy="3019425"/>
          </a:xfrm>
          <a:prstGeom prst="curvedConnector3">
            <a:avLst>
              <a:gd name="adj1" fmla="val 190285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3D98DD3E-30FB-7C4C-8412-5C1EA6E06970}"/>
              </a:ext>
            </a:extLst>
          </p:cNvPr>
          <p:cNvCxnSpPr>
            <a:cxnSpLocks/>
            <a:stCxn id="23" idx="2"/>
            <a:endCxn id="20" idx="2"/>
          </p:cNvCxnSpPr>
          <p:nvPr/>
        </p:nvCxnSpPr>
        <p:spPr>
          <a:xfrm rot="16200000" flipH="1">
            <a:off x="5329922" y="3935839"/>
            <a:ext cx="12700" cy="2908300"/>
          </a:xfrm>
          <a:prstGeom prst="curvedConnector3">
            <a:avLst>
              <a:gd name="adj1" fmla="val 406285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A233C501-96B0-A149-95C4-22C0F082B076}"/>
              </a:ext>
            </a:extLst>
          </p:cNvPr>
          <p:cNvCxnSpPr>
            <a:cxnSpLocks/>
            <a:stCxn id="20" idx="2"/>
            <a:endCxn id="21" idx="2"/>
          </p:cNvCxnSpPr>
          <p:nvPr/>
        </p:nvCxnSpPr>
        <p:spPr>
          <a:xfrm rot="5400000" flipH="1">
            <a:off x="4542522" y="3148440"/>
            <a:ext cx="15875" cy="4467225"/>
          </a:xfrm>
          <a:prstGeom prst="curvedConnector3">
            <a:avLst>
              <a:gd name="adj1" fmla="val -4896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9">
            <a:extLst>
              <a:ext uri="{FF2B5EF4-FFF2-40B4-BE49-F238E27FC236}">
                <a16:creationId xmlns:a16="http://schemas.microsoft.com/office/drawing/2014/main" id="{E393BFCC-39F6-644F-A926-52AD70AC9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5041" y="3107058"/>
            <a:ext cx="1531938" cy="457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kumimoji="0" lang="en-US" sz="1400" dirty="0">
                <a:latin typeface="Prestige12 BT" panose="02070509030506020304" pitchFamily="49" charset="0"/>
              </a:rPr>
              <a:t>100, </a:t>
            </a:r>
            <a:r>
              <a:rPr lang="en-US" sz="1400" dirty="0">
                <a:latin typeface="Prestige12 BT" panose="02070509030506020304" pitchFamily="49" charset="0"/>
              </a:rPr>
              <a:t>901</a:t>
            </a:r>
            <a:endParaRPr kumimoji="0" lang="en-US" sz="1400" dirty="0">
              <a:latin typeface="Prestige12 BT" panose="02070509030506020304" pitchFamily="49" charset="0"/>
            </a:endParaRPr>
          </a:p>
        </p:txBody>
      </p:sp>
      <p:sp>
        <p:nvSpPr>
          <p:cNvPr id="52" name="Line 24">
            <a:extLst>
              <a:ext uri="{FF2B5EF4-FFF2-40B4-BE49-F238E27FC236}">
                <a16:creationId xmlns:a16="http://schemas.microsoft.com/office/drawing/2014/main" id="{9FEC6E4D-C148-1D4B-8751-287ED74A75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36035" y="3399272"/>
            <a:ext cx="866774" cy="38897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Line 24">
            <a:extLst>
              <a:ext uri="{FF2B5EF4-FFF2-40B4-BE49-F238E27FC236}">
                <a16:creationId xmlns:a16="http://schemas.microsoft.com/office/drawing/2014/main" id="{9154545F-F962-ED43-8FD6-EA90B73ED8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0011" y="3399272"/>
            <a:ext cx="736968" cy="38897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62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E926F-F278-B34D-AA37-8AE21258DCC5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852E06-32CF-D544-9B3E-9C5EF0BA9641}"/>
              </a:ext>
            </a:extLst>
          </p:cNvPr>
          <p:cNvSpPr txBox="1"/>
          <p:nvPr/>
        </p:nvSpPr>
        <p:spPr>
          <a:xfrm>
            <a:off x="11858" y="64300"/>
            <a:ext cx="9132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Difference Between B and B+ Tree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6BF38A67-CB04-454C-84F8-33AAA35114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205" y="796689"/>
                <a:ext cx="9024936" cy="52646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B-tree stores pointers to records or records in non-leaf nodes too</a:t>
                </a: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3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Pro: </a:t>
                </a:r>
                <a:r>
                  <a:rPr lang="en-US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These records can be accessed with fewer I/O’s</a:t>
                </a:r>
              </a:p>
              <a:p>
                <a:pPr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300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Cons:</a:t>
                </a: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Storing more data in nodes decrease fan-out and increases </a:t>
                </a:r>
                <a14:m>
                  <m:oMath xmlns:m="http://schemas.openxmlformats.org/officeDocument/2006/math">
                    <m:r>
                      <a:rPr lang="en-US" sz="2300" i="1" dirty="0">
                        <a:latin typeface="Cambria Math"/>
                      </a:rPr>
                      <m:t>h</m:t>
                    </m:r>
                  </m:oMath>
                </a14:m>
                <a:endParaRPr lang="en-US" sz="23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Records in leaves require more I/O’s to access</a:t>
                </a:r>
                <a:endParaRPr lang="en-US" sz="23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Vast majority of the records live in leaves!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6BF38A67-CB04-454C-84F8-33AAA3511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05" y="796689"/>
                <a:ext cx="9024936" cy="5264622"/>
              </a:xfrm>
              <a:prstGeom prst="rect">
                <a:avLst/>
              </a:prstGeom>
              <a:blipFill>
                <a:blip r:embed="rId4"/>
                <a:stretch>
                  <a:fillRect l="-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4342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273" y="881651"/>
            <a:ext cx="8814543" cy="243631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No one really knows!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But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Edward M. McCreight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co-inventor with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Rudolf Bayer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has a video that says: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never resolved what B is but they had in mind: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Boeing, Bayer, and Balance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3E926F-F278-B34D-AA37-8AE21258DCC5}"/>
              </a:ext>
            </a:extLst>
          </p:cNvPr>
          <p:cNvCxnSpPr>
            <a:cxnSpLocks/>
          </p:cNvCxnSpPr>
          <p:nvPr/>
        </p:nvCxnSpPr>
        <p:spPr>
          <a:xfrm>
            <a:off x="0" y="711727"/>
            <a:ext cx="9132141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852E06-32CF-D544-9B3E-9C5EF0BA9641}"/>
              </a:ext>
            </a:extLst>
          </p:cNvPr>
          <p:cNvSpPr txBox="1"/>
          <p:nvPr/>
        </p:nvSpPr>
        <p:spPr>
          <a:xfrm>
            <a:off x="11858" y="64300"/>
            <a:ext cx="9132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What Does B Stand For?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56359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Other Common Indices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EB581E-C43F-EC43-9B33-25F876DDE682}"/>
              </a:ext>
            </a:extLst>
          </p:cNvPr>
          <p:cNvSpPr/>
          <p:nvPr/>
        </p:nvSpPr>
        <p:spPr>
          <a:xfrm>
            <a:off x="0" y="758856"/>
            <a:ext cx="5238206" cy="557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 Classes of Indices Overall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Tree-based: can do both lookups and range queries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B/B+ Trees, R Trees, Radix Tree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Hash-based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only do look ups. Cannot do range queries.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practice: handle collisions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other indices: bitmap indices, probabilistic indices, suffix arrays,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GiST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or Inverted Index for different applications and data types.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30B8A22-1AD6-8D49-BFC1-341D3047B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303825"/>
              </p:ext>
            </p:extLst>
          </p:nvPr>
        </p:nvGraphicFramePr>
        <p:xfrm>
          <a:off x="7105012" y="1499179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123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Milhouse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142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Bart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279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345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Martin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36CD089-1AD5-D44E-A5F3-E245D0ADD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656682"/>
              </p:ext>
            </p:extLst>
          </p:nvPr>
        </p:nvGraphicFramePr>
        <p:xfrm>
          <a:off x="7105012" y="2794579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456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Ralph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512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679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Sherri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697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Terri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8648E71-7B8E-E545-8A0D-81DD4F896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454714"/>
              </p:ext>
            </p:extLst>
          </p:nvPr>
        </p:nvGraphicFramePr>
        <p:xfrm>
          <a:off x="7105012" y="4089979"/>
          <a:ext cx="2011363" cy="1219200"/>
        </p:xfrm>
        <a:graphic>
          <a:graphicData uri="http://schemas.openxmlformats.org/drawingml/2006/table">
            <a:tbl>
              <a:tblPr bandRow="1">
                <a:gradFill rotWithShape="1">
                  <a:gsLst>
                    <a:gs pos="0">
                      <a:srgbClr val="A5A5A5">
                        <a:lumMod val="110000"/>
                        <a:satMod val="105000"/>
                        <a:tint val="67000"/>
                      </a:srgbClr>
                    </a:gs>
                    <a:gs pos="50000">
                      <a:srgbClr val="A5A5A5">
                        <a:lumMod val="105000"/>
                        <a:satMod val="103000"/>
                        <a:tint val="73000"/>
                      </a:srgbClr>
                    </a:gs>
                    <a:gs pos="100000">
                      <a:srgbClr val="A5A5A5">
                        <a:lumMod val="105000"/>
                        <a:satMod val="109000"/>
                        <a:tint val="81000"/>
                      </a:srgbClr>
                    </a:gs>
                  </a:gsLst>
                  <a:lin ang="5400000" scaled="0"/>
                </a:gradFill>
                <a:effectLst/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857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 dirty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912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Windel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u="none" strike="noStrike" cap="none" normalizeH="0" baseline="0">
                          <a:ln>
                            <a:noFill/>
                          </a:ln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997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A5A5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936BE7F-0300-7547-88FB-3B556AB4D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052923"/>
              </p:ext>
            </p:extLst>
          </p:nvPr>
        </p:nvGraphicFramePr>
        <p:xfrm>
          <a:off x="5088978" y="1625854"/>
          <a:ext cx="1581150" cy="329184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</a:rPr>
                        <a:t>0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Windel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Sherri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618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ndara" panose="020E050203030302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Martin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721470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Ralph, Bart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5721256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22"/>
                        </a:solidFill>
                        <a:effectLst/>
                        <a:latin typeface="Prestige12 BT" panose="020705090305060203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6011429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Nelson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973295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Milhouse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639434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Terri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314457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240315"/>
                  </a:ext>
                </a:extLst>
              </a:tr>
              <a:tr h="19961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22"/>
                          </a:solidFill>
                          <a:effectLst/>
                          <a:latin typeface="Prestige12 BT" panose="02070509030506020304" pitchFamily="49" charset="0"/>
                        </a:rPr>
                        <a:t>Jessica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674139"/>
                  </a:ext>
                </a:extLst>
              </a:tr>
            </a:tbl>
          </a:graphicData>
        </a:graphic>
      </p:graphicFrame>
      <p:sp>
        <p:nvSpPr>
          <p:cNvPr id="24" name="Line 40">
            <a:extLst>
              <a:ext uri="{FF2B5EF4-FFF2-40B4-BE49-F238E27FC236}">
                <a16:creationId xmlns:a16="http://schemas.microsoft.com/office/drawing/2014/main" id="{0116AB8F-55BF-AD4A-BCD4-B043C7D8D2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0671" y="1746821"/>
            <a:ext cx="930026" cy="285130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6F003-F4D9-6840-8D1A-CCB14F58E14D}"/>
              </a:ext>
            </a:extLst>
          </p:cNvPr>
          <p:cNvSpPr txBox="1"/>
          <p:nvPr/>
        </p:nvSpPr>
        <p:spPr>
          <a:xfrm>
            <a:off x="5088978" y="1186442"/>
            <a:ext cx="1581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Hash Table</a:t>
            </a:r>
          </a:p>
        </p:txBody>
      </p:sp>
      <p:sp>
        <p:nvSpPr>
          <p:cNvPr id="26" name="Line 40">
            <a:extLst>
              <a:ext uri="{FF2B5EF4-FFF2-40B4-BE49-F238E27FC236}">
                <a16:creationId xmlns:a16="http://schemas.microsoft.com/office/drawing/2014/main" id="{E9D75309-D2EA-6C45-9BD1-AD46C4838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0671" y="2296095"/>
            <a:ext cx="930026" cy="121920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40">
            <a:extLst>
              <a:ext uri="{FF2B5EF4-FFF2-40B4-BE49-F238E27FC236}">
                <a16:creationId xmlns:a16="http://schemas.microsoft.com/office/drawing/2014/main" id="{9AF5D6F7-5BFF-DB4C-A40C-5C8C96550B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80671" y="2602945"/>
            <a:ext cx="927692" cy="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40">
            <a:extLst>
              <a:ext uri="{FF2B5EF4-FFF2-40B4-BE49-F238E27FC236}">
                <a16:creationId xmlns:a16="http://schemas.microsoft.com/office/drawing/2014/main" id="{849E9C80-3DF3-AB48-A876-0B0458B634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7890" y="2966021"/>
            <a:ext cx="1230472" cy="76782"/>
          </a:xfrm>
          <a:prstGeom prst="line">
            <a:avLst/>
          </a:prstGeom>
          <a:noFill/>
          <a:ln w="25400">
            <a:solidFill>
              <a:schemeClr val="accent6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40">
            <a:extLst>
              <a:ext uri="{FF2B5EF4-FFF2-40B4-BE49-F238E27FC236}">
                <a16:creationId xmlns:a16="http://schemas.microsoft.com/office/drawing/2014/main" id="{6A3CECCA-0BC0-254E-931E-3BD319F1C2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2839" y="2019251"/>
            <a:ext cx="934695" cy="1132970"/>
          </a:xfrm>
          <a:prstGeom prst="line">
            <a:avLst/>
          </a:prstGeom>
          <a:noFill/>
          <a:ln w="25400">
            <a:solidFill>
              <a:schemeClr val="accent6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40">
            <a:extLst>
              <a:ext uri="{FF2B5EF4-FFF2-40B4-BE49-F238E27FC236}">
                <a16:creationId xmlns:a16="http://schemas.microsoft.com/office/drawing/2014/main" id="{7C3E48CE-6244-AF42-B9CF-8F2AD37E62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1429" y="3267652"/>
            <a:ext cx="930026" cy="40164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40">
            <a:extLst>
              <a:ext uri="{FF2B5EF4-FFF2-40B4-BE49-F238E27FC236}">
                <a16:creationId xmlns:a16="http://schemas.microsoft.com/office/drawing/2014/main" id="{9A1514E1-596D-8548-B1AA-88D4EA2631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3829" y="1676740"/>
            <a:ext cx="873775" cy="22608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40">
            <a:extLst>
              <a:ext uri="{FF2B5EF4-FFF2-40B4-BE49-F238E27FC236}">
                <a16:creationId xmlns:a16="http://schemas.microsoft.com/office/drawing/2014/main" id="{F1CC3792-A630-5B47-A8AA-76CA67E15F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6002" y="3937576"/>
            <a:ext cx="930026" cy="34703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40">
            <a:extLst>
              <a:ext uri="{FF2B5EF4-FFF2-40B4-BE49-F238E27FC236}">
                <a16:creationId xmlns:a16="http://schemas.microsoft.com/office/drawing/2014/main" id="{AE55B07A-1657-F149-B1CD-B105F33B3D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3829" y="4205859"/>
            <a:ext cx="871441" cy="3470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40">
            <a:extLst>
              <a:ext uri="{FF2B5EF4-FFF2-40B4-BE49-F238E27FC236}">
                <a16:creationId xmlns:a16="http://schemas.microsoft.com/office/drawing/2014/main" id="{F652E603-B731-4040-984C-0EA7D3F253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83830" y="2296095"/>
            <a:ext cx="829202" cy="2523979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40">
            <a:extLst>
              <a:ext uri="{FF2B5EF4-FFF2-40B4-BE49-F238E27FC236}">
                <a16:creationId xmlns:a16="http://schemas.microsoft.com/office/drawing/2014/main" id="{F51028CD-69F5-6F48-B481-C105A75C3D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6230" y="4820072"/>
            <a:ext cx="779961" cy="25692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4A25F1-9A82-0247-A35C-FDF52A2CAB4C}"/>
              </a:ext>
            </a:extLst>
          </p:cNvPr>
          <p:cNvSpPr txBox="1"/>
          <p:nvPr/>
        </p:nvSpPr>
        <p:spPr>
          <a:xfrm>
            <a:off x="7316191" y="5309179"/>
            <a:ext cx="156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students.mkd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85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" grpId="0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464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 &amp; Finish Physical File Organization Designs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Row-oriented Physical Design (Recap)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Colum-oriented Physical Design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(PAX) Physical Design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 for Variable-length Fields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Designs for NULLs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Database Indices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Index Designs in Increasing Level of Robustness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Using Indices In Practice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6092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Using Indices In Practice (1)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21039-B33F-644C-A27D-E6C7ADC8455F}"/>
              </a:ext>
            </a:extLst>
          </p:cNvPr>
          <p:cNvSpPr/>
          <p:nvPr/>
        </p:nvSpPr>
        <p:spPr>
          <a:xfrm>
            <a:off x="64326" y="664464"/>
            <a:ext cx="9143999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Indices can be defined on one ore more attributes: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CREATE INDEX</a:t>
            </a:r>
            <a:r>
              <a:rPr lang="en-US" sz="2000" dirty="0">
                <a:latin typeface="Prestige12 BT" panose="02070509030506020304" pitchFamily="49" charset="0"/>
              </a:rPr>
              <a:t> </a:t>
            </a:r>
            <a:r>
              <a:rPr lang="en-US" sz="2000" dirty="0" err="1">
                <a:latin typeface="Prestige12 BT" panose="02070509030506020304" pitchFamily="49" charset="0"/>
              </a:rPr>
              <a:t>NameIndex</a:t>
            </a:r>
            <a:r>
              <a:rPr lang="en-US" sz="2000" dirty="0">
                <a:latin typeface="Prestige12 BT" panose="020705090305060203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ON</a:t>
            </a:r>
            <a:r>
              <a:rPr lang="en-US" sz="2000" dirty="0">
                <a:latin typeface="Prestige12 BT" panose="02070509030506020304" pitchFamily="49" charset="0"/>
              </a:rPr>
              <a:t> User(</a:t>
            </a:r>
            <a:r>
              <a:rPr lang="en-US" sz="2000" dirty="0" err="1">
                <a:latin typeface="Prestige12 BT" panose="02070509030506020304" pitchFamily="49" charset="0"/>
              </a:rPr>
              <a:t>Lastname,Firstname</a:t>
            </a:r>
            <a:r>
              <a:rPr lang="en-US" sz="2000" dirty="0">
                <a:latin typeface="Prestige12 BT" panose="02070509030506020304" pitchFamily="49" charset="0"/>
              </a:rPr>
              <a:t>);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I.e., B+’s keys are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Firstname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pairs and tuples are sorted first by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LastName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then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Firstname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index would be useful for these queries: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select * from User where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‘Smith’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select * from User where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Lastname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‘Smith’ and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=‘John’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But not this query:</a:t>
            </a:r>
          </a:p>
          <a:p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select * from User where </a:t>
            </a:r>
            <a:r>
              <a:rPr lang="en-CA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Firstname</a:t>
            </a:r>
            <a:r>
              <a:rPr lang="en-CA" sz="2000" dirty="0">
                <a:latin typeface="Consolas" panose="020B0609020204030204" pitchFamily="49" charset="0"/>
                <a:cs typeface="Consolas" panose="020B0609020204030204" pitchFamily="49" charset="0"/>
              </a:rPr>
              <a:t>=‘John’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systems use indices by default on the primary key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systems use indices to implement UNIQUE constraints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CREATE TABLE Students(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studentID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int, 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sinNumber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varchar(16) UNIQUE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PRIMARY KEY 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studentID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54F540-A9A5-5441-84AA-62FE697900AB}"/>
              </a:ext>
            </a:extLst>
          </p:cNvPr>
          <p:cNvSpPr txBox="1"/>
          <p:nvPr/>
        </p:nvSpPr>
        <p:spPr>
          <a:xfrm>
            <a:off x="5421577" y="5248354"/>
            <a:ext cx="36580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Will create 2 B+ indices: </a:t>
            </a:r>
          </a:p>
          <a:p>
            <a:pPr marL="457200" indent="-457200">
              <a:buAutoNum type="arabicParenR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studentID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pPr marL="457200" indent="-457200">
              <a:buAutoNum type="arabicParenR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2) on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sinNumber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97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Using Indices In Practice (2)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21039-B33F-644C-A27D-E6C7ADC8455F}"/>
              </a:ext>
            </a:extLst>
          </p:cNvPr>
          <p:cNvSpPr/>
          <p:nvPr/>
        </p:nvSpPr>
        <p:spPr>
          <a:xfrm>
            <a:off x="64326" y="664464"/>
            <a:ext cx="9143999" cy="234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Users only create indices. They do not refer to indices in queries.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Some user queries will get much faster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B/c RDBMSs use indices during query evaluation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IndexScan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operators, or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IndexMergeJoin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(in Oracle) or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IndexNestedLoopJoin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etc.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C5AA645-BAEA-B747-805A-41DBD9CC9394}"/>
              </a:ext>
            </a:extLst>
          </p:cNvPr>
          <p:cNvGrpSpPr/>
          <p:nvPr/>
        </p:nvGrpSpPr>
        <p:grpSpPr>
          <a:xfrm>
            <a:off x="188748" y="3055317"/>
            <a:ext cx="4214524" cy="3709450"/>
            <a:chOff x="4279307" y="1902822"/>
            <a:chExt cx="4666351" cy="4310738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7725C884-C196-BE49-A277-FCCC57A459B1}"/>
                </a:ext>
              </a:extLst>
            </p:cNvPr>
            <p:cNvSpPr/>
            <p:nvPr/>
          </p:nvSpPr>
          <p:spPr>
            <a:xfrm>
              <a:off x="5119424" y="4547971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C.cid</a:t>
              </a:r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O.cid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57E6081-21E0-9145-86BD-3E6DB49828CD}"/>
                </a:ext>
              </a:extLst>
            </p:cNvPr>
            <p:cNvSpPr/>
            <p:nvPr/>
          </p:nvSpPr>
          <p:spPr>
            <a:xfrm>
              <a:off x="4279307" y="5360976"/>
              <a:ext cx="1350114" cy="85257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Table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43D151B-5072-504B-9D0A-5CE732B8D34A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 flipH="1">
              <a:off x="4954365" y="5213869"/>
              <a:ext cx="891571" cy="14710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7A74FB4-DF34-7342-A1BA-B31E7D7EF64E}"/>
                </a:ext>
              </a:extLst>
            </p:cNvPr>
            <p:cNvCxnSpPr>
              <a:cxnSpLocks/>
              <a:stCxn id="9" idx="2"/>
              <a:endCxn id="14" idx="0"/>
            </p:cNvCxnSpPr>
            <p:nvPr/>
          </p:nvCxnSpPr>
          <p:spPr>
            <a:xfrm>
              <a:off x="5845935" y="5213869"/>
              <a:ext cx="706409" cy="147068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1FA65BC-2B4F-D64B-8456-9AA441F72A09}"/>
                </a:ext>
              </a:extLst>
            </p:cNvPr>
            <p:cNvCxnSpPr>
              <a:cxnSpLocks/>
              <a:stCxn id="15" idx="2"/>
              <a:endCxn id="9" idx="0"/>
            </p:cNvCxnSpPr>
            <p:nvPr/>
          </p:nvCxnSpPr>
          <p:spPr>
            <a:xfrm flipH="1">
              <a:off x="5845936" y="3840779"/>
              <a:ext cx="1066282" cy="70719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4ADE437F-2B27-6B43-BFA2-347E18664570}"/>
                </a:ext>
              </a:extLst>
            </p:cNvPr>
            <p:cNvSpPr/>
            <p:nvPr/>
          </p:nvSpPr>
          <p:spPr>
            <a:xfrm>
              <a:off x="5877288" y="5360937"/>
              <a:ext cx="1350113" cy="8526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Table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17CDEBBB-A99C-1946-BF2F-F17828547C3D}"/>
                </a:ext>
              </a:extLst>
            </p:cNvPr>
            <p:cNvSpPr/>
            <p:nvPr/>
          </p:nvSpPr>
          <p:spPr>
            <a:xfrm>
              <a:off x="6185706" y="3174882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Join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P.pid</a:t>
              </a:r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O.pid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5FBA659E-F8A5-D249-9FE8-80D45FFD76EE}"/>
                </a:ext>
              </a:extLst>
            </p:cNvPr>
            <p:cNvSpPr/>
            <p:nvPr/>
          </p:nvSpPr>
          <p:spPr>
            <a:xfrm>
              <a:off x="7362463" y="5328635"/>
              <a:ext cx="1583195" cy="8849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Scan Table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7C267C2-07B9-494A-BB37-1C951BCA0691}"/>
                </a:ext>
              </a:extLst>
            </p:cNvPr>
            <p:cNvSpPr/>
            <p:nvPr/>
          </p:nvSpPr>
          <p:spPr>
            <a:xfrm>
              <a:off x="6128881" y="1902822"/>
              <a:ext cx="1559235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193FA14-9E2C-984A-BC45-3D488E864F49}"/>
                </a:ext>
              </a:extLst>
            </p:cNvPr>
            <p:cNvCxnSpPr>
              <a:cxnSpLocks/>
              <a:stCxn id="20" idx="2"/>
              <a:endCxn id="16" idx="0"/>
            </p:cNvCxnSpPr>
            <p:nvPr/>
          </p:nvCxnSpPr>
          <p:spPr>
            <a:xfrm>
              <a:off x="8154060" y="5182225"/>
              <a:ext cx="0" cy="14641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883BDF-BCC9-374F-9DF8-E0A7CEC7F4F4}"/>
                </a:ext>
              </a:extLst>
            </p:cNvPr>
            <p:cNvCxnSpPr>
              <a:cxnSpLocks/>
              <a:stCxn id="17" idx="2"/>
              <a:endCxn id="15" idx="0"/>
            </p:cNvCxnSpPr>
            <p:nvPr/>
          </p:nvCxnSpPr>
          <p:spPr>
            <a:xfrm>
              <a:off x="6908499" y="2568719"/>
              <a:ext cx="3719" cy="6061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7961A0EF-DBBC-A841-9F9A-FB0FBE7030A0}"/>
                </a:ext>
              </a:extLst>
            </p:cNvPr>
            <p:cNvSpPr/>
            <p:nvPr/>
          </p:nvSpPr>
          <p:spPr>
            <a:xfrm>
              <a:off x="7374442" y="4516328"/>
              <a:ext cx="1559235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Filter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117E564-DD4D-1041-8B02-BADD602E781A}"/>
                </a:ext>
              </a:extLst>
            </p:cNvPr>
            <p:cNvCxnSpPr>
              <a:cxnSpLocks/>
              <a:stCxn id="15" idx="2"/>
              <a:endCxn id="20" idx="0"/>
            </p:cNvCxnSpPr>
            <p:nvPr/>
          </p:nvCxnSpPr>
          <p:spPr>
            <a:xfrm>
              <a:off x="6912218" y="3840779"/>
              <a:ext cx="1241842" cy="675549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A1F95E3-3F62-3E49-BCC7-10949FFA0B6A}"/>
              </a:ext>
            </a:extLst>
          </p:cNvPr>
          <p:cNvGrpSpPr/>
          <p:nvPr/>
        </p:nvGrpSpPr>
        <p:grpSpPr>
          <a:xfrm>
            <a:off x="4572000" y="3055317"/>
            <a:ext cx="4248390" cy="3765231"/>
            <a:chOff x="4279307" y="1902822"/>
            <a:chExt cx="4666351" cy="4196322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115D9C3-10B6-2049-89EA-121D6C4DC43A}"/>
                </a:ext>
              </a:extLst>
            </p:cNvPr>
            <p:cNvSpPr/>
            <p:nvPr/>
          </p:nvSpPr>
          <p:spPr>
            <a:xfrm>
              <a:off x="5119424" y="4547971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L.$3=R.2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AAF7A669-A157-C24F-9742-C1BF71E6A89E}"/>
                </a:ext>
              </a:extLst>
            </p:cNvPr>
            <p:cNvSpPr/>
            <p:nvPr/>
          </p:nvSpPr>
          <p:spPr>
            <a:xfrm>
              <a:off x="4279307" y="5360978"/>
              <a:ext cx="1350114" cy="7381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FileScan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A5B2C0B-644C-014B-A077-A5DAF6378E21}"/>
                </a:ext>
              </a:extLst>
            </p:cNvPr>
            <p:cNvCxnSpPr>
              <a:cxnSpLocks/>
              <a:stCxn id="23" idx="2"/>
              <a:endCxn id="24" idx="0"/>
            </p:cNvCxnSpPr>
            <p:nvPr/>
          </p:nvCxnSpPr>
          <p:spPr>
            <a:xfrm flipH="1">
              <a:off x="4954364" y="5213868"/>
              <a:ext cx="891572" cy="147110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883AB2C-871B-A541-9744-29A338568650}"/>
                </a:ext>
              </a:extLst>
            </p:cNvPr>
            <p:cNvCxnSpPr>
              <a:cxnSpLocks/>
              <a:stCxn id="23" idx="2"/>
              <a:endCxn id="29" idx="0"/>
            </p:cNvCxnSpPr>
            <p:nvPr/>
          </p:nvCxnSpPr>
          <p:spPr>
            <a:xfrm>
              <a:off x="5845936" y="5213868"/>
              <a:ext cx="726512" cy="13224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A6965FE-C47B-684F-AB7C-DF98E233C0D7}"/>
                </a:ext>
              </a:extLst>
            </p:cNvPr>
            <p:cNvCxnSpPr>
              <a:cxnSpLocks/>
              <a:stCxn id="30" idx="2"/>
              <a:endCxn id="23" idx="0"/>
            </p:cNvCxnSpPr>
            <p:nvPr/>
          </p:nvCxnSpPr>
          <p:spPr>
            <a:xfrm flipH="1">
              <a:off x="5845936" y="3840779"/>
              <a:ext cx="1066282" cy="707192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13D795E1-CBE1-5645-8C5C-780D75F467B9}"/>
                </a:ext>
              </a:extLst>
            </p:cNvPr>
            <p:cNvSpPr/>
            <p:nvPr/>
          </p:nvSpPr>
          <p:spPr>
            <a:xfrm>
              <a:off x="5897391" y="5346110"/>
              <a:ext cx="1350113" cy="7381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FileScan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9E518663-4A80-B742-9E3C-6A8143DDC4A9}"/>
                </a:ext>
              </a:extLst>
            </p:cNvPr>
            <p:cNvSpPr/>
            <p:nvPr/>
          </p:nvSpPr>
          <p:spPr>
            <a:xfrm>
              <a:off x="6185706" y="3174882"/>
              <a:ext cx="1453023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HashJoin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L.$3=R.$3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1C44F11D-3C11-1B4B-885D-D53457588695}"/>
                </a:ext>
              </a:extLst>
            </p:cNvPr>
            <p:cNvSpPr/>
            <p:nvPr/>
          </p:nvSpPr>
          <p:spPr>
            <a:xfrm>
              <a:off x="7362462" y="5328635"/>
              <a:ext cx="1583196" cy="738163"/>
            </a:xfrm>
            <a:prstGeom prst="roundRect">
              <a:avLst/>
            </a:prstGeom>
            <a:solidFill>
              <a:schemeClr val="bg1"/>
            </a:solidFill>
            <a:ln w="3175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IndexScan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BookA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6BD07E05-06C2-A541-816E-A8471422A817}"/>
                </a:ext>
              </a:extLst>
            </p:cNvPr>
            <p:cNvSpPr/>
            <p:nvPr/>
          </p:nvSpPr>
          <p:spPr>
            <a:xfrm>
              <a:off x="6128881" y="1902822"/>
              <a:ext cx="1559235" cy="66589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Project</a:t>
              </a:r>
            </a:p>
            <a:p>
              <a:pPr algn="ctr"/>
              <a:r>
                <a:rPr lang="en-US" sz="15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cid</a:t>
              </a:r>
              <a:endParaRPr lang="en-US" sz="1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C3A7BD9-9BDD-1849-B2B8-5B4AD8E8931C}"/>
                </a:ext>
              </a:extLst>
            </p:cNvPr>
            <p:cNvCxnSpPr>
              <a:cxnSpLocks/>
              <a:stCxn id="32" idx="2"/>
              <a:endCxn id="30" idx="0"/>
            </p:cNvCxnSpPr>
            <p:nvPr/>
          </p:nvCxnSpPr>
          <p:spPr>
            <a:xfrm>
              <a:off x="6908499" y="2568719"/>
              <a:ext cx="3719" cy="606163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6FB6F06-006B-384D-BFD8-4F472A55FFE7}"/>
                </a:ext>
              </a:extLst>
            </p:cNvPr>
            <p:cNvCxnSpPr>
              <a:cxnSpLocks/>
              <a:stCxn id="30" idx="2"/>
              <a:endCxn id="31" idx="0"/>
            </p:cNvCxnSpPr>
            <p:nvPr/>
          </p:nvCxnSpPr>
          <p:spPr>
            <a:xfrm>
              <a:off x="6912218" y="3840779"/>
              <a:ext cx="1241843" cy="1487857"/>
            </a:xfrm>
            <a:prstGeom prst="line">
              <a:avLst/>
            </a:prstGeom>
            <a:ln w="1905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717E7C7-594D-C343-B7CE-74846DD8745E}"/>
              </a:ext>
            </a:extLst>
          </p:cNvPr>
          <p:cNvCxnSpPr>
            <a:cxnSpLocks/>
          </p:cNvCxnSpPr>
          <p:nvPr/>
        </p:nvCxnSpPr>
        <p:spPr>
          <a:xfrm flipH="1">
            <a:off x="4068405" y="4409673"/>
            <a:ext cx="863466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E92924C-4135-7C4F-ABBE-40DB0CFFB2B8}"/>
              </a:ext>
            </a:extLst>
          </p:cNvPr>
          <p:cNvSpPr txBox="1"/>
          <p:nvPr/>
        </p:nvSpPr>
        <p:spPr>
          <a:xfrm>
            <a:off x="3267495" y="3652806"/>
            <a:ext cx="2774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Recall Plan Transformation during Query Optimization</a:t>
            </a:r>
          </a:p>
        </p:txBody>
      </p:sp>
    </p:spTree>
    <p:extLst>
      <p:ext uri="{BB962C8B-B14F-4D97-AF65-F5344CB8AC3E}">
        <p14:creationId xmlns:p14="http://schemas.microsoft.com/office/powerpoint/2010/main" val="111131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Using Indices In Practice (3)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21039-B33F-644C-A27D-E6C7ADC8455F}"/>
              </a:ext>
            </a:extLst>
          </p:cNvPr>
          <p:cNvSpPr/>
          <p:nvPr/>
        </p:nvSpPr>
        <p:spPr>
          <a:xfrm>
            <a:off x="64326" y="664464"/>
            <a:ext cx="9143999" cy="48673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Updates will get slower because indices need to be maintained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Q: How should users pick indices given a workload W (i.e., the set of queries an application asks and their frequencies)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General Guideline: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Profile slow queries. Check if they have =, &lt;, ≤, &gt;, ≥  predicates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SELECT * FROM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WHERE 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 SELECT * FROM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WHERE 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 AND B = 27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SELECT * FROM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WHERE 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>
              <a:buFont typeface="Wingdings" pitchFamily="2" charset="2"/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SELECT * FROM </a:t>
            </a:r>
            <a:r>
              <a:rPr lang="en-US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WHERE </a:t>
            </a:r>
            <a:r>
              <a:rPr lang="en-US" sz="2000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&gt; 50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above indices on R.A, R.A and R.B multicolumn, S.C, S.D are possible indices that can speed queries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But one should weigh these benefits against slow downs due to updates</a:t>
            </a:r>
          </a:p>
        </p:txBody>
      </p:sp>
      <p:sp>
        <p:nvSpPr>
          <p:cNvPr id="37" name="Slide Number Placeholder 1">
            <a:extLst>
              <a:ext uri="{FF2B5EF4-FFF2-40B4-BE49-F238E27FC236}">
                <a16:creationId xmlns:a16="http://schemas.microsoft.com/office/drawing/2014/main" id="{563460C3-4514-D948-ABF0-B37BCB5F8CB8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7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8" y="64300"/>
            <a:ext cx="914399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  <a:t>Using Indices In Practice (4)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219" y="711727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809D11A-4EBD-1247-956D-E048FB0400AD}"/>
              </a:ext>
            </a:extLst>
          </p:cNvPr>
          <p:cNvSpPr txBox="1"/>
          <p:nvPr/>
        </p:nvSpPr>
        <p:spPr>
          <a:xfrm rot="16200000">
            <a:off x="9075212" y="3117281"/>
            <a:ext cx="63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21039-B33F-644C-A27D-E6C7ADC8455F}"/>
              </a:ext>
            </a:extLst>
          </p:cNvPr>
          <p:cNvSpPr/>
          <p:nvPr/>
        </p:nvSpPr>
        <p:spPr>
          <a:xfrm>
            <a:off x="64326" y="664464"/>
            <a:ext cx="9143999" cy="2805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RDBMSs have “Physical Design Advisor” (PDA) tool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Input: Database D (w/ existing indices), workload W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Output: A set of recommended indices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Internally PDA does a “what if” analysis: 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Uses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Query Optimizer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&amp; inspects the estimated runtimes/costs of plans the system would use for queries in W with &amp; without additional indices</a:t>
            </a:r>
          </a:p>
        </p:txBody>
      </p:sp>
      <p:sp>
        <p:nvSpPr>
          <p:cNvPr id="37" name="Slide Number Placeholder 1">
            <a:extLst>
              <a:ext uri="{FF2B5EF4-FFF2-40B4-BE49-F238E27FC236}">
                <a16:creationId xmlns:a16="http://schemas.microsoft.com/office/drawing/2014/main" id="{563460C3-4514-D948-ABF0-B37BCB5F8CB8}"/>
              </a:ext>
            </a:extLst>
          </p:cNvPr>
          <p:cNvSpPr txBox="1">
            <a:spLocks/>
          </p:cNvSpPr>
          <p:nvPr/>
        </p:nvSpPr>
        <p:spPr>
          <a:xfrm>
            <a:off x="653168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3C25A49-D822-9448-9302-C76CDD2ABCC3}"/>
              </a:ext>
            </a:extLst>
          </p:cNvPr>
          <p:cNvSpPr/>
          <p:nvPr/>
        </p:nvSpPr>
        <p:spPr>
          <a:xfrm>
            <a:off x="3853544" y="4148956"/>
            <a:ext cx="1894114" cy="10391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 Optimizer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DB7BE-4793-D140-9C0E-8307B4BB3741}"/>
              </a:ext>
            </a:extLst>
          </p:cNvPr>
          <p:cNvSpPr txBox="1"/>
          <p:nvPr/>
        </p:nvSpPr>
        <p:spPr>
          <a:xfrm>
            <a:off x="221081" y="3933512"/>
            <a:ext cx="3632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 = {&lt;Q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f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&gt;,…, &lt;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&gt;}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3B17D6-27E2-EE43-92C0-0493006490B1}"/>
              </a:ext>
            </a:extLst>
          </p:cNvPr>
          <p:cNvSpPr txBox="1"/>
          <p:nvPr/>
        </p:nvSpPr>
        <p:spPr>
          <a:xfrm>
            <a:off x="221081" y="4696571"/>
            <a:ext cx="36324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 = {R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…, R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},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      {Ind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Ind</a:t>
            </a:r>
            <a:r>
              <a:rPr lang="en-US" sz="2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Ind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z+1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76D96E-1907-6B49-B664-1AB26D2BBEAA}"/>
              </a:ext>
            </a:extLst>
          </p:cNvPr>
          <p:cNvCxnSpPr>
            <a:stCxn id="3" idx="2"/>
          </p:cNvCxnSpPr>
          <p:nvPr/>
        </p:nvCxnSpPr>
        <p:spPr>
          <a:xfrm>
            <a:off x="2037313" y="4364399"/>
            <a:ext cx="1816231" cy="3041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771A1A-3E00-E54F-BF96-BBB61F6CE879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2037313" y="4668552"/>
            <a:ext cx="1778973" cy="280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7967FC-2A10-2A4F-BC26-4F9ED1C9E275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4800601" y="5188149"/>
            <a:ext cx="0" cy="6164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48D29D-E261-814D-B2C2-F8A84E2025AE}"/>
              </a:ext>
            </a:extLst>
          </p:cNvPr>
          <p:cNvSpPr txBox="1"/>
          <p:nvPr/>
        </p:nvSpPr>
        <p:spPr>
          <a:xfrm>
            <a:off x="3853544" y="5930537"/>
            <a:ext cx="1894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Generate Plans  for each Q</a:t>
            </a:r>
            <a:r>
              <a:rPr lang="en-US" baseline="-25000" dirty="0"/>
              <a:t>i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1E0830-185E-1D44-94BA-8F1837A04E9D}"/>
              </a:ext>
            </a:extLst>
          </p:cNvPr>
          <p:cNvSpPr txBox="1"/>
          <p:nvPr/>
        </p:nvSpPr>
        <p:spPr>
          <a:xfrm>
            <a:off x="5460275" y="5684608"/>
            <a:ext cx="36998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Inspects the costs of these generated plans to recommend a set of indices to develop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107AAC-C0A3-1342-93A5-B7A7B3C10530}"/>
              </a:ext>
            </a:extLst>
          </p:cNvPr>
          <p:cNvSpPr txBox="1"/>
          <p:nvPr/>
        </p:nvSpPr>
        <p:spPr>
          <a:xfrm>
            <a:off x="418011" y="3619727"/>
            <a:ext cx="3699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can include updates</a:t>
            </a:r>
          </a:p>
        </p:txBody>
      </p:sp>
    </p:spTree>
    <p:extLst>
      <p:ext uri="{BB962C8B-B14F-4D97-AF65-F5344CB8AC3E}">
        <p14:creationId xmlns:p14="http://schemas.microsoft.com/office/powerpoint/2010/main" val="232461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9" grpId="0"/>
      <p:bldP spid="11" grpId="0"/>
      <p:bldP spid="19" grpId="0"/>
      <p:bldP spid="2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949"/>
            <a:ext cx="9073900" cy="1180160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The Halloween Problem: An Interesting Note On Challenging Problems a DBMS has to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56855"/>
            <a:ext cx="9073900" cy="333721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Story from the early days of System R: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Payroll</a:t>
            </a:r>
            <a:b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salary = salary * 1.1</a:t>
            </a:r>
            <a:b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 salary &gt;= 100000;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is a B</a:t>
            </a:r>
            <a:r>
              <a:rPr lang="en-US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-tree index on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Payroll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salary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update never stopped (why?)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Why?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could you try to solve this if you implemented System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61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B6233F-20A0-C643-91E7-43264E57518B}"/>
              </a:ext>
            </a:extLst>
          </p:cNvPr>
          <p:cNvCxnSpPr/>
          <p:nvPr/>
        </p:nvCxnSpPr>
        <p:spPr>
          <a:xfrm>
            <a:off x="0" y="1221109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6360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0.6|15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|2.7|2.7|9.6|7.4|4.6|3.6|6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4.9|7.5|10.2|4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8|5.4|14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11.3|9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7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5|3.1|6.7|8.2|11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1|15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1.8|11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5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9|6.2|16.7|22.7|8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9|6.2|16.7|22.7|8.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9|6.2|16.7|22.7|8.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9|6.2|16.7|22.7|8.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9|6.2|16.7|22.7|8.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4|63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41587</TotalTime>
  <Words>5141</Words>
  <Application>Microsoft Macintosh PowerPoint</Application>
  <PresentationFormat>On-screen Show (4:3)</PresentationFormat>
  <Paragraphs>1327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0" baseType="lpstr">
      <vt:lpstr>Arial</vt:lpstr>
      <vt:lpstr>Calibri</vt:lpstr>
      <vt:lpstr>Cambria Math</vt:lpstr>
      <vt:lpstr>Candara</vt:lpstr>
      <vt:lpstr>Consolas</vt:lpstr>
      <vt:lpstr>Prestige12 BT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Halloween Problem: An Interesting Note On Challenging Problems a DBMS has to solve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Semih Salihoglu</dc:creator>
  <cp:lastModifiedBy>Semih Salihoglu</cp:lastModifiedBy>
  <cp:revision>1749</cp:revision>
  <dcterms:created xsi:type="dcterms:W3CDTF">2016-04-06T14:30:24Z</dcterms:created>
  <dcterms:modified xsi:type="dcterms:W3CDTF">2022-02-17T05:08:56Z</dcterms:modified>
</cp:coreProperties>
</file>