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4.xml" ContentType="application/vnd.openxmlformats-officedocument.presentationml.tags+xml"/>
  <Override PartName="/ppt/notesSlides/notesSlide27.xml" ContentType="application/vnd.openxmlformats-officedocument.presentationml.notesSlide+xml"/>
  <Override PartName="/ppt/tags/tag25.xml" ContentType="application/vnd.openxmlformats-officedocument.presentationml.tags+xml"/>
  <Override PartName="/ppt/notesSlides/notesSlide28.xml" ContentType="application/vnd.openxmlformats-officedocument.presentationml.notesSlide+xml"/>
  <Override PartName="/ppt/tags/tag26.xml" ContentType="application/vnd.openxmlformats-officedocument.presentationml.tags+xml"/>
  <Override PartName="/ppt/notesSlides/notesSlide29.xml" ContentType="application/vnd.openxmlformats-officedocument.presentationml.notesSlide+xml"/>
  <Override PartName="/ppt/tags/tag27.xml" ContentType="application/vnd.openxmlformats-officedocument.presentationml.tags+xml"/>
  <Override PartName="/ppt/notesSlides/notesSlide30.xml" ContentType="application/vnd.openxmlformats-officedocument.presentationml.notesSlide+xml"/>
  <Override PartName="/ppt/tags/tag28.xml" ContentType="application/vnd.openxmlformats-officedocument.presentationml.tags+xml"/>
  <Override PartName="/ppt/notesSlides/notesSlide31.xml" ContentType="application/vnd.openxmlformats-officedocument.presentationml.notesSlide+xml"/>
  <Override PartName="/ppt/tags/tag29.xml" ContentType="application/vnd.openxmlformats-officedocument.presentationml.tags+xml"/>
  <Override PartName="/ppt/notesSlides/notesSlide32.xml" ContentType="application/vnd.openxmlformats-officedocument.presentationml.notesSlide+xml"/>
  <Override PartName="/ppt/tags/tag30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1.xml" ContentType="application/vnd.openxmlformats-officedocument.presentationml.tags+xml"/>
  <Override PartName="/ppt/notesSlides/notesSlide35.xml" ContentType="application/vnd.openxmlformats-officedocument.presentationml.notesSlide+xml"/>
  <Override PartName="/ppt/tags/tag32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33.xml" ContentType="application/vnd.openxmlformats-officedocument.presentationml.tags+xml"/>
  <Override PartName="/ppt/notesSlides/notesSlide38.xml" ContentType="application/vnd.openxmlformats-officedocument.presentationml.notesSlide+xml"/>
  <Override PartName="/ppt/tags/tag34.xml" ContentType="application/vnd.openxmlformats-officedocument.presentationml.tags+xml"/>
  <Override PartName="/ppt/notesSlides/notesSlide39.xml" ContentType="application/vnd.openxmlformats-officedocument.presentationml.notesSlide+xml"/>
  <Override PartName="/ppt/tags/tag35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36.xml" ContentType="application/vnd.openxmlformats-officedocument.presentationml.tags+xml"/>
  <Override PartName="/ppt/notesSlides/notesSlide42.xml" ContentType="application/vnd.openxmlformats-officedocument.presentationml.notesSlide+xml"/>
  <Override PartName="/ppt/tags/tag37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38.xml" ContentType="application/vnd.openxmlformats-officedocument.presentationml.tags+xml"/>
  <Override PartName="/ppt/notesSlides/notesSlide4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tags/tag39.xml" ContentType="application/vnd.openxmlformats-officedocument.presentationml.tags+xml"/>
  <Override PartName="/ppt/notesSlides/notesSlide46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47.xml" ContentType="application/vnd.openxmlformats-officedocument.presentationml.notesSlide+xml"/>
  <Override PartName="/ppt/tags/tag40.xml" ContentType="application/vnd.openxmlformats-officedocument.presentationml.tags+xml"/>
  <Override PartName="/ppt/notesSlides/notesSlide48.xml" ContentType="application/vnd.openxmlformats-officedocument.presentationml.notesSlide+xml"/>
  <Override PartName="/ppt/tags/tag41.xml" ContentType="application/vnd.openxmlformats-officedocument.presentationml.tags+xml"/>
  <Override PartName="/ppt/notesSlides/notesSlide49.xml" ContentType="application/vnd.openxmlformats-officedocument.presentationml.notesSlide+xml"/>
  <Override PartName="/ppt/ink/ink34.xml" ContentType="application/inkml+xml"/>
  <Override PartName="/ppt/tags/tag42.xml" ContentType="application/vnd.openxmlformats-officedocument.presentationml.tags+xml"/>
  <Override PartName="/ppt/notesSlides/notesSlide50.xml" ContentType="application/vnd.openxmlformats-officedocument.presentationml.notesSlide+xml"/>
  <Override PartName="/ppt/tags/tag43.xml" ContentType="application/vnd.openxmlformats-officedocument.presentationml.tags+xml"/>
  <Override PartName="/ppt/notesSlides/notesSlide51.xml" ContentType="application/vnd.openxmlformats-officedocument.presentationml.notesSlide+xml"/>
  <Override PartName="/ppt/tags/tag44.xml" ContentType="application/vnd.openxmlformats-officedocument.presentationml.tags+xml"/>
  <Override PartName="/ppt/notesSlides/notesSlide52.xml" ContentType="application/vnd.openxmlformats-officedocument.presentationml.notesSlide+xml"/>
  <Override PartName="/ppt/tags/tag45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46.xml" ContentType="application/vnd.openxmlformats-officedocument.presentationml.tags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60"/>
  </p:notesMasterIdLst>
  <p:sldIdLst>
    <p:sldId id="256" r:id="rId2"/>
    <p:sldId id="258" r:id="rId3"/>
    <p:sldId id="341" r:id="rId4"/>
    <p:sldId id="259" r:id="rId5"/>
    <p:sldId id="327" r:id="rId6"/>
    <p:sldId id="302" r:id="rId7"/>
    <p:sldId id="303" r:id="rId8"/>
    <p:sldId id="304" r:id="rId9"/>
    <p:sldId id="305" r:id="rId10"/>
    <p:sldId id="306" r:id="rId11"/>
    <p:sldId id="307" r:id="rId12"/>
    <p:sldId id="324" r:id="rId13"/>
    <p:sldId id="308" r:id="rId14"/>
    <p:sldId id="328" r:id="rId15"/>
    <p:sldId id="310" r:id="rId16"/>
    <p:sldId id="313" r:id="rId17"/>
    <p:sldId id="312" r:id="rId18"/>
    <p:sldId id="314" r:id="rId19"/>
    <p:sldId id="316" r:id="rId20"/>
    <p:sldId id="332" r:id="rId21"/>
    <p:sldId id="333" r:id="rId22"/>
    <p:sldId id="329" r:id="rId23"/>
    <p:sldId id="331" r:id="rId24"/>
    <p:sldId id="317" r:id="rId25"/>
    <p:sldId id="334" r:id="rId26"/>
    <p:sldId id="335" r:id="rId27"/>
    <p:sldId id="336" r:id="rId28"/>
    <p:sldId id="337" r:id="rId29"/>
    <p:sldId id="338" r:id="rId30"/>
    <p:sldId id="339" r:id="rId31"/>
    <p:sldId id="318" r:id="rId32"/>
    <p:sldId id="342" r:id="rId33"/>
    <p:sldId id="343" r:id="rId34"/>
    <p:sldId id="345" r:id="rId35"/>
    <p:sldId id="348" r:id="rId36"/>
    <p:sldId id="349" r:id="rId37"/>
    <p:sldId id="350" r:id="rId38"/>
    <p:sldId id="320" r:id="rId39"/>
    <p:sldId id="319" r:id="rId40"/>
    <p:sldId id="321" r:id="rId41"/>
    <p:sldId id="352" r:id="rId42"/>
    <p:sldId id="323" r:id="rId43"/>
    <p:sldId id="353" r:id="rId44"/>
    <p:sldId id="354" r:id="rId45"/>
    <p:sldId id="326" r:id="rId46"/>
    <p:sldId id="368" r:id="rId47"/>
    <p:sldId id="369" r:id="rId48"/>
    <p:sldId id="357" r:id="rId49"/>
    <p:sldId id="359" r:id="rId50"/>
    <p:sldId id="358" r:id="rId51"/>
    <p:sldId id="360" r:id="rId52"/>
    <p:sldId id="361" r:id="rId53"/>
    <p:sldId id="362" r:id="rId54"/>
    <p:sldId id="367" r:id="rId55"/>
    <p:sldId id="363" r:id="rId56"/>
    <p:sldId id="364" r:id="rId57"/>
    <p:sldId id="366" r:id="rId58"/>
    <p:sldId id="355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62331" autoAdjust="0"/>
  </p:normalViewPr>
  <p:slideViewPr>
    <p:cSldViewPr snapToGrid="0">
      <p:cViewPr varScale="1">
        <p:scale>
          <a:sx n="62" d="100"/>
          <a:sy n="62" d="100"/>
        </p:scale>
        <p:origin x="13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31.115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846 702,'3'-2,"54"-37,2 3,1 2,2 2,85-29,48 1,2 9,272-36,416-3,-871 88,777-35,5-1,-313-4,273-21,3 36,658 100,-48 33,-524-44,64 0,-12-1,-5 27,-399-16,-337-42,170 56,-262-65,-1 3,84 43,-122-52,-1 0,0 1,25 24,-36-28,-1 0,0 1,-1 0,-1 1,0 0,10 20,-15-25,-1 1,0-1,-1 1,0 0,0 0,-1 0,0 0,-1 1,0-1,-1 0,0 1,-1-1,0 0,0 1,-1-1,-1 0,0 0,-5 14,0-9,0 0,0 0,-1-1,-1 0,-1 0,0-2,0 1,-1-1,-1-1,-22 16,-7 1,-1-2,-87 38,-103 25,167-65,-1130 321,-32-139,440-115,-351 43,859-98,-1598 183,895-161,-2-40,104-27,0-24,-119-3,200 4,8-53,469 29,9-22,307 76,-32-10,-49-23,77 30,1 0,0-1,1 0,-1 0,1-1,1-1,-1 1,1-1,-11-15,16 19,1 0,0 0,-1 0,2 0,-1-1,0 1,1-1,0 1,0-1,0 0,0 1,1-1,0 0,0 0,0 0,1 1,-1-1,1 0,0 1,1-1,1-5,4-5,0 0,1 0,1 1,0 1,11-14,25-28,79-74,67-41,-174 155,609-476,26 35,-512 360,-48 32,4-3,122-66,-200 123,-1 1,2 1,-1 1,1 0,0 1,1 1,-1 1,35-3,-28 10,-14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1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1 250,'0'0,"0"0,0 0,3-3,24-25,1 1,2 1,0 2,2 1,0 1,2 2,46-20,-64 33,1 0,1 2,-1 0,1 1,19-3,-26 6,0 0,1 1,-1 0,0 1,1 0,-1 1,0 0,0 1,14 5,-10-1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2.26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1 191,'0'0,"0"0,20-10,19-9,20-7,18-3,13-4,-8 5,-18 6,-20 7,-17 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3.136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60 14,'-60'-13,"81"40,37 42,84 134,-36-46,-100-148,114 148,-94-127,1 0,57 47,-81-74,0-1,0 0,0 0,0 0,1 0,-1 0,0-1,1 1,-1-1,1 0,0 0,-1-1,7 2,-7-3,0 1,0-1,0 0,-1 1,1-1,0 0,0-1,-1 1,1 0,-1-1,1 1,-1-1,0 0,0 0,1 0,-1 0,3-5,10-13,0-1,14-28,-17 26,2 1,24-31,-17 32,0 0,1 1,1 2,1 0,1 1,0 2,45-21,-41 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4.025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1 198,'2'22,"8"21,2 0,1-1,25 51,-13-29,-16-38,-6-18,0 1,0-1,0 0,1 0,0 0,7 8,-11-16,0 1,0-1,0 0,0 0,0 0,1 0,-1 0,0 1,0-1,0 0,0 0,1 0,-1 0,0 0,0 0,1 0,-1 0,0 0,0 1,0-1,1 0,-1 0,0 0,0 0,0 0,1-1,-1 1,0 0,0 0,1 0,-1 0,0 0,0 0,0 0,1 0,-1 0,0 0,0-1,0 1,0 0,1 0,-1 0,0 0,0-1,0 1,0 0,0 0,0 0,0 0,1-1,-1 1,0 0,0 0,0-1,0 1,0 0,0-1,4-14,0-21,-2-1,-3-53,2-27,0 91,2 0,1 1,1 0,1 0,16-42,-18 59,-1 0,1 1,1 0,0 0,0 0,0 0,1 1,-1 0,10-7,-10 9,0 1,0 0,0 0,1 1,-1-1,1 1,-1 0,1 1,0-1,0 1,0 0,0 1,0-1,9 2,-1 0,1 2,-1 0,0 0,0 1,-1 1,1 1,-1 0,0 0,0 1,-1 1,18 14,-2 1,-2 1,0 1,34 44,-30-30,-3 2,-1 1,38 88,-60-120,1-1,-1 1,11 13,-13-21,1 1,-1 0,1-1,-1 1,1-1,0 0,0 0,0 0,0-1,0 1,1-1,-1 1,6 0,-1 0,1 0,0-1,0 0,0 0,0-1,0 0,17-3,-10-1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5.32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0 441,'0'0,"0"0,3 2,18 25,0 1,29 55,25 69,-23-45,-43-93,-9-14,0 1,0-1,0 0,0 0,1 0,-1 0,0 0,0 0,0 0,0 0,0 0,0 0,0 0,1 0,-1 0,0 0,0 0,0 0,0 0,0 0,0 0,0 0,0 0,1 0,-1 0,0 0,0 0,0-1,0 1,0 0,0 0,0 0,0 0,0 0,0 0,1 0,-1 0,0 0,0 0,0-1,0 1,0 0,0 0,0 0,0 0,0 0,0 0,0 0,0 0,0-1,0 1,0 0,0 0,0 0,0 0,0 0,0 0,0-1,-2-32,0 17,0-33,2 0,2 0,2 0,3 0,1 1,3 0,1 1,3 0,38-84,-41 110,0 0,1 0,1 1,1 0,26-24,-32 34,1 1,0 1,1 0,0 0,0 1,1 1,0 0,0 0,0 1,1 1,20-5,-28 8,0 0,0 1,0-1,0 1,0 0,0 1,0-1,0 1,7 2,-11-2,1-1,-1 1,0-1,1 1,-1 0,0 0,0 0,1 0,-1 0,0 0,0 0,0 0,0 0,0 0,0 1,-1-1,1 0,0 1,-1-1,1 0,-1 1,1-1,-1 1,0-1,1 1,-1-1,0 1,0-1,0 1,0-1,-1 1,1-1,-1 4,-3 13,-1 0,-13 28,-4 16,12-25,2 1,1 0,-3 62,10-76,0 0,1-1,2 1,0 0,2-1,0 0,10 25,-12-39,1 0,0 0,1 0,0-1,1 1,0-1,7 8,-10-13,0 0,0-1,0 1,0 0,1-1,-1 0,1 0,0 0,-1 0,1-1,0 1,0-1,0 0,0 0,0-1,1 1,-1-1,0 0,5 0,-1-1,0-1,0-1,-1 1,1-1,-1-1,0 1,1-1,-1 0,-1-1,1 0,-1 0,0 0,0-1,0 1,-1-2,0 1,5-8,4-6,-1-2,-1 0,0 0,10-31,-14 30,-1 0,-1 0,-1 0,-1-1,-1 0,-1 0,-3-47,0 59,-1 0,0 0,-1 1,0-1,-1 0,0 1,-11-19,11 23,0 0,-1 1,0-1,0 1,-1 0,0 1,0-1,0 1,-1 0,0 1,0-1,-10-4,7 6,0-1,0 1,0 1,0 0,-1 0,1 1,0 1,-1 0,1 0,-1 1,1 0,0 0,0 2,-14 3,16-3,0-1,0 1,0 1,0 0,1 0,0 0,0 1,0 0,0 0,1 1,0 0,0 0,0 0,1 1,0 0,0 0,1 0,-4 9,4-3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5.71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1,'0'0,"0"0,0 0,0 26,5 23,8 17,9 11,9 5,9 2,10-6,7-10,3-17,5-18,2-18,-9-12,-15-7,-15-2,-11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6.840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0 934,'1'24,"4"19,2-1,2 0,1 0,3-1,27 64,-17-56,2 0,3-2,1-1,36 42,-43-60,38 35,-49-54,-1 0,2 0,-1-1,1-1,0 0,21 9,-30-15,0 0,0 1,1-1,-1 0,1-1,-1 1,1-1,-1 1,1-1,-1 0,1-1,-1 1,1 0,-1-1,1 0,-1 0,0 0,1 0,-1-1,0 1,0-1,5-3,-4 1,0 0,0 0,0 0,-1-1,0 1,0-1,0 0,0 0,-1 0,0 0,0 0,0-1,1-8,2-15,-2-1,-1 0,-2-39,-1 33,6-53,-5 86,0-1,1 1,0 0,-1-1,1 1,1 0,-1 0,0 0,1 0,-1 0,1 0,0 0,3-3,-3 4,1 0,-1 1,1-1,-1 1,1-1,-1 1,1 0,0 0,-1 1,1-1,0 0,0 1,0 0,0-1,4 2,6-2,0 1,0-2,0 0,0 0,0-1,-1-1,1 0,-1 0,0-2,0 1,-1-1,0-1,0 0,0-1,-1 0,0-1,-1 0,0 0,0-1,-1 0,0 0,0-1,-2 0,1-1,8-20,-12 22,-1 0,1 0,-2 0,1 0,-1-1,-1 1,0 0,0-1,-4-18,3 21,-1 0,0 1,-1-1,0 0,0 1,0 0,-1-1,0 2,-1-1,1 0,-1 1,-12-12,16 16,-1 1,0-1,-1 0,1 0,0 1,0-1,-1 1,1 0,-1 0,1 0,-1 0,1 0,-1 0,0 1,1-1,-1 1,0 0,0 0,1 0,-1 0,0 0,1 0,-1 1,0 0,1-1,-1 1,0 0,1 0,-1 0,1 1,0-1,-1 0,-3 4,0 1,1-1,0 1,0 0,0 0,1 1,0 0,0-1,0 1,1 1,0-1,-2 8,1 1,1 0,0 0,1 0,1 1,0-1,1 1,1-1,1 0,0 0,1 0,1 0,0 0,1 0,1-1,1 0,10 19,-11-23,1 0,0-1,1 0,0 0,1 0,0-1,0 0,1-1,0 0,1-1,-1 0,1 0,1-1,-1-1,1 0,0-1,0 0,1 0,-1-1,1-1,16 1,-20-2,0-1,0-1,-1 0,1 0,0 0,-1-1,1 0,-1-1,0 0,0 0,0-1,0 0,-1 0,1-1,-1 0,8-7,-6 3,0-1,0 0,-2 0,1 0,-1-1,-1 0,0-1,0 1,-1-1,5-18,0-6,-2-1,6-64,-6-76,-4 59,0 95,-4 22,0 1,0 0,1 0,-1 0,0 0,0 0,0 0,1 0,-1 0,0 0,0 0,0 0,1 0,-1 0,0 0,0 0,0 0,1 0,-1 0,0 0,0 0,0 0,1 0,-1 1,0-1,0 0,0 0,0 0,1 0,-1 0,0 0,0 1,0-1,0 0,0 0,0 0,1 0,-1 1,0-1,0 0,0 0,0 0,0 1,0-1,0 0,0 0,0 1,15 41,-14-39,21 74,-1 1,47 111,-50-156,-17-33,-1 0,0 1,0-1,0 0,1 1,-1-1,0 0,0 0,0 1,1-1,-1 0,0 0,1 0,-1 1,0-1,1 0,-1 0,0 0,1 0,-1 0,0 0,1 0,-1 0,0 0,1 0,-1 0,0 0,1 0,-1 0,0 0,1 0,-1 0,0 0,1 0,-1 0,0 0,1-1,-1 1,0 0,0 0,1 0,-1-1,0 1,0 0,1 0,-1-1,0 1,0 0,0-1,1 1,-1 0,0 0,0-1,0 1,0 0,0-1,0 1,0 0,1-1,-1 1,0 0,0-1,-1 0,5-27,-3-59,-18-133,2 28,15 148,5 35,1 12,8 17,-12-17,15 26,1-2,2 0,0-1,44 42,-51-57,0 0,1 0,0-1,1-1,0-1,0 0,1-1,0 0,0-1,1-1,20 3,-18-5,-1-2,1 0,-1-1,0-1,1-1,-1 0,0-2,0 0,0-1,0 0,-1-2,0 0,0-1,-1 0,0-2,19-13,-20 11,0 0,0-1,-1-1,-1 0,0-1,-1 0,0-1,-1-1,-1 0,-1 0,-1 0,0-1,-1-1,-1 1,5-26,-8 20,-1 1,-1-1,-1 0,-1 0,-1 0,-1 0,-1 1,-1-1,-2 1,0 0,-1 1,-1 0,-1 0,-2 1,1 0,-20-24,22 33,-1 1,-17-17,23 25,0 0,1 0,-1 0,0 0,0 1,-1 0,1 0,0 0,-1 0,1 1,-7-1,10 1,-1 1,1 0,-1 0,1 0,0 0,-1 0,1 0,-1 0,1 0,-1 1,1-1,-1 1,1-1,0 1,-1-1,1 1,0 0,0 0,-1 0,1-1,-2 3,2-1,0 0,-1 0,1 0,0 0,1 0,-1 1,0-1,0 0,1 0,0 0,-1 1,1 3,0 3,1 1,0-1,0 1,1-1,5 17,1-6,1-1,0 0,1 0,1-1,1 0,1-1,0 0,1-1,1-1,19 17,-22-23,0 1,0-1,1-1,0-1,1 0,-1 0,1-1,1-1,-1 0,1-1,-1-1,1 0,0-1,0-1,21 0,-13-4,0-1,0 0,0-2,0-1,-1-1,0-1,-1 0,0-2,23-15,-21 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7.19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1,'0'0,"0"0,0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7.587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0,'0'0,"0"0,0 0,12 25,15 30,19 39,20 37,23 29,13 14,6 1,2-11,-8-17,-21-33,-24-37,-22-30,-16-24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7T18:49:47.96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12 920,'0'0,"-6"-26,1-28,7-28,18-21,31-11,35-4,33 3,26 8,-10 22,-28 25,-33 24,-29 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5.099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139 1840,'-107'-160,"103"155,0-1,1 1,0-1,0 0,0 0,1 0,0 0,0 0,0-1,1 1,0-1,0 1,1-1,0 1,0-1,0 1,1-1,2-7,8-24,2 1,1 1,2 0,1 1,29-43,126-153,-73 115,5 4,5 5,148-112,-117 115,4 7,245-124,-371 212,10-6,0 2,0 0,1 2,1 2,31-7,-58 15,-1 1,1 0,-1-1,1 1,0 1,-1-1,1 0,-1 1,4 0,-6-1,0 0,1 0,-1 0,0 1,0-1,1 0,-1 0,0 0,0 0,0 0,1 1,-1-1,0 0,0 0,0 0,0 0,0 1,1-1,-1 0,0 0,0 1,0-1,0 0,0 0,0 1,0-1,0 0,0 0,0 1,0-1,0 0,0 0,-10 11,5-8,0 0,-1 0,1-1,-1 0,1 0,-1 0,-8 1,-14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6.066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487 1,'0'0,"0"0,-2 1,-19 14,2-1,-1 0,2 2,0 0,1 1,-23 29,-81 155,59-94,23-44,16-28,2 0,1 2,-20 51,39-86,0 1,0-1,1 1,-1 0,0 0,1-1,0 1,0 0,0 0,0 0,0-1,0 1,1 0,-1 0,2 4,-1-6,0 1,1-1,-1 1,0-1,1 1,-1-1,1 0,-1 0,1 1,0-1,-1 0,1-1,0 1,0 0,0 0,0-1,-1 1,1-1,0 0,0 1,0-1,3 0,21 2,-1 2,0 0,0 2,0 1,-1 1,25 11,160 85,46 19,-226-114,-29-9,1 1,-1-1,0 0,0 0,0 0,0 0,0 0,0 0,0 0,1 0,-1 0,0 0,0 0,0 1,0-1,0 0,0 0,1 0,-1 0,0 0,0 0,0 0,0 0,0 0,1 0,-1 0,0 0,0-1,0 1,0 0,0 0,1 0,-1 0,0 0,0 0,0 0,0 0,0 0,0 0,0 0,0-1,1 1,-1 0,0 0,0 0,0 0,0 0,0 0,0-1,0 1,0 0,0 0,0 0,0 0,0 0,0-1,0 1,0 0,0 0,0 0,0 0,-8-11,-15-10,-56-38,64 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6.69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44,'0'0,"0"0,14-10,-7 5,0 1,1 0,0 0,-1 1,1 0,0 0,1 1,-1 0,0 1,1-1,-1 2,1-1,-1 1,0 0,1 1,-1 0,1 0,-1 1,13 4,12 6,-1 2,-1 0,46 30,-33-18,70 32,155 58,-255-111,-3-1,0 0,0 1,0 0,12 8,-22-12,-1-1,1 1,0-1,0 1,-1-1,1 1,0-1,-1 1,1 0,-1-1,1 1,-1 0,1-1,-1 1,1 0,-1 0,0 0,1-1,-1 1,0 0,0 0,0 0,1 0,-1 0,0 0,0-1,0 1,0 0,-1 0,1 0,0 0,0 0,0-1,-1 1,1 0,0 0,-2 1,0 1,-1 0,0 0,0 0,0 0,0-1,-1 1,-4 1,-153 84,98-57,-80 54,110-60,0 1,2 2,1 1,1 1,-42 59,51-60,1 0,2 0,2 2,0 0,2 1,1 0,-10 47,21-73,-1 1,1-1,0 1,1-1,0 1,0-1,1 10,-1-16,0 0,0 0,0 1,0-1,0 0,0 0,0 0,0 0,0 1,0-1,0 0,0 0,0 0,0 1,1-1,-1 0,0 0,0 0,0 0,0 1,0-1,1 0,-1 0,0 0,0 0,0 0,0 0,1 0,-1 0,0 0,0 1,0-1,1 0,-1 0,0 0,0 0,0 0,1 0,-1 0,0 0,0 0,9-8,2-10,-6 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7.426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315 1,'-11'12,"7"-7,-105 99,60-61,-75 90,121-130,1 1,-1-1,1 1,0-1,-3 8,5-10,0-1,0 1,0-1,-1 0,1 1,0-1,0 1,0-1,0 1,0-1,0 0,0 1,1-1,-1 1,0-1,0 0,0 1,0-1,0 1,1-1,-1 0,0 1,0-1,1 1,0-1,0 1,0-1,0 1,0-1,0 0,0 1,0-1,0 0,0 0,0 0,0 0,0 0,0 0,0 0,1 0,28-3,32-3,69 2,-111 4,-1 2,0 0,0 1,0 1,0 1,-1 1,34 15,-51-21,2 1,0 1,0-1,0 0,-1 1,1-1,-1 1,1 0,-1 0,1 0,-1 0,0 1,0-1,0 1,0-1,1 4,-30-3,3 1,15-3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7.95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27,'38'-11,"-8"1,-17 8,1 0,-1 1,1 0,-1 2,1-1,-1 2,1 0,20 5,-9 0,-1 2,0 0,36 21,-58-30,0 1,0 0,0 0,0 0,-1 0,1 1,0-1,-1 0,1 1,-1-1,0 1,1-1,-1 1,0 0,0 0,0-1,0 1,0 0,0 0,0 3,-1-3,0 1,-1-1,1 1,-1-1,0 0,1 1,-1-1,0 0,0 0,-1 1,1-1,0 0,-1 0,1 0,-1 0,-3 2,-23 24,-1-2,-42 30,37-31,-52 51,82-72,0 1,0-1,1 1,0-1,0 1,0 0,-4 10,7-14,-1 0,1 0,0 1,-1-1,1 0,0 0,0 1,0-1,0 0,0 1,0-1,0 0,1 0,-1 1,0-1,1 0,-1 0,1 1,-1-1,1 0,0 0,-1 0,1 0,0 0,0 0,0 0,-1 0,1 0,0 0,0-1,1 1,-1 0,0-1,0 1,0-1,0 1,1-1,1 1,16 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18.718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0 1,'12'0,"16"1,-1 1,1 1,43 11,82 31,-130-38,69 26,-1 4,-1 3,135 86,224 197,-319-215,149 159,-207-188,-4 3,-4 3,63 108,-109-162,-1 1,17 47,-32-75,-1 1,0-1,1 1,-2-1,1 1,0 0,-1-1,0 8,0-11,-1 0,1 0,0 0,-1 0,1 0,-1 0,1 0,-1 0,0 0,1 0,-1 0,0 0,0 0,0-1,0 1,1 0,-1-1,0 1,0 0,0-1,0 1,-1-1,1 1,0-1,0 0,0 0,0 1,0-1,0 0,-1 0,1 0,0 0,0 0,0 0,0-1,-3 0,-19-2,1-2,-1-1,1-1,-37-17,40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21.539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59 0,'0'0,"0"0,-11 6,8-4,0 0,-1 0,2 1,-1 0,0-1,0 1,1 0,0 0,-1 0,1 1,1-1,-1 1,0-1,1 1,-1-1,1 1,-1 6,-1 6,1 1,0 31,2-38,0 194,53 401,-34-506,-14-87,0-14,4-20,-7 14,45-136,-41 125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8:23.0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1 136,'0'0,"0"0,2-1,125-16,316-29,-38 60,-122 2,420-45,-450 12,219 10,-43 3,350-29,-648 22,-131 11,0 0,0 0,0 0,0 0,0 0,-1 0,1 0,0 0,0 0,0 0,0 0,0 0,0 0,0 0,0 0,0 1,-1-1,1 0,0 0,0 0,0 0,0 0,0 0,0 0,0 0,0 0,0 1,0-1,0 0,0 0,0 0,0 0,0 0,0 0,0 0,0 0,0 1,0-1,0 0,0 0,0 0,0 0,0 0,0 0,0 0,0 1,0-1,0 0,0 0,0 0,0 0,1 0,-1 0,0 0,0 0,0 0,0 0,0 0,0 0,0 1,0-1,0 0,1 0,-1 0,-14 13,9-9,0 0,1 0,-1 1,-3 5,5-3,0-1,1 1,0 0,0 0,1 0,0 0,0 0,0 0,1 0,0 0,2 10,2 13,12 41,-8-37,85 475,-90-490,3 48,-5-63,-1 0,0 0,-1 0,1 0,-1 0,0 0,0 0,0 0,-1 0,1 0,-1 0,-4 6,5-8,-1-1,0 1,0 0,0-1,0 0,0 1,0-1,0 0,-1 0,1 0,0-1,-1 1,1 0,0-1,-1 1,-3-1,-42-1,38 0,-139-6,-1 6,-191 25,262-13,-119 32,-71 39,-79 20,-172-11,402-80,0-5,-173-14,17-24,-117-8,135 40,131 3,-133-16,246 12,-1 0,0-1,-1 0,-24-9,38 11,-1 0,1 0,0 0,0 0,-1 0,1 0,0 0,0 0,0 0,-1 0,1-1,0 1,0 0,0 0,-1 0,1 0,0-1,0 1,0 0,0 0,-1 0,1-1,0 1,0 0,0 0,0-1,0 1,0 0,0 0,0 0,0-1,0 1,0 0,0 0,0-1,0 1,0 0,0 0,0-1,0 1,0 0,0 0,0-1,0 1,0 0,0 0,0-1,1 1,-1 0,0 0,0 0,0-1,0 1,1 0,-1 0,0 0,0 0,0 0,1-1,-1 1,19-11,-14 8,17-10,1-2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9:52.882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1375 1,'-6'21,"-19"97,-20 219,23-131,16-162,-31 200,26-190,-2-1,-29 76,40-124,-7 15,6-17,3-12,1-6,0 2,0 0,-1 0,-2-24,2 34,-1-1,0 1,0 0,0-1,0 1,0 0,-1 0,1 0,-1 0,0 0,0 0,0 0,-1 1,1-1,0 1,-1-1,0 1,1 0,-6-3,-1 1,0 0,-1 1,1-1,-1 2,0-1,1 1,-1 1,0 0,0 1,0-1,0 2,0-1,0 2,0-1,-13 5,6-1,-1 1,1 0,0 2,1 0,0 0,0 2,-22 18,-103 103,-5 5,100-102,-1-1,-1-2,-1-3,-2-2,-1-2,-95 30,137-51,6-1,-1-1,0 0,0 1,-1-2,1 1,0-1,-9 1,14-1,0 0,0 0,0 0,-1 0,1 0,0 0,0 0,0 0,0 0,0 0,0 0,-1 0,1 0,0 0,0 0,0 0,0 0,0 0,0 0,-1 0,1 0,0-1,0 1,0 0,0 0,0 0,0 0,0 0,-1 0,1 0,0 0,0 0,0-1,0 1,0 0,0 0,0 0,0 0,0 0,0 0,0 0,0-1,0 1,0 0,0 0,0 0,0 0,0 0,0-1,0 1,0 0,0 0,0 0,0 0,0 0,0 0,0-1,10-6,13-3,-7 6,0 1,1 1,-1 0,0 1,1 1,-1 1,19 2,115 27,-121-24,55 17,118 47,75 54,280 124,-536-240,-17-8,-7-5,-12-11,11 11,-53-60,28 30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9:53.613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1,'0'0,"2"0,85 22,98 30,149 72,276 97,-484-178,-124-43,-1 0,0 1,1-1,-1 1,1-1,-1 1,0 0,1-1,-1 1,0 0,0 0,0 0,0 0,1 0,-1 0,-1 0,1 1,1 1,-2-2,-1 0,1 0,-1 0,0 0,0 0,1 0,-1-1,0 1,0 0,0 0,0 0,0-1,0 1,0-1,0 1,0-1,-1 1,1-1,0 0,0 1,0-1,-2 0,-200 59,-37 11,-11 25,204-74,0 3,2 1,-48 35,86-55,-28 23,33-26,0 0,0 0,0 0,0 0,1 1,-1-1,1 1,-1-1,1 1,0-1,0 1,-1 3,2-6,0 0,0 1,0-1,0 1,0-1,0 0,0 1,0-1,0 1,0-1,0 0,0 1,0-1,1 0,-1 1,0-1,0 0,0 1,1-1,-1 0,0 1,0-1,1 0,-1 1,0-1,0 0,1 0,-1 0,0 1,1-1,-1 0,1 0,-1 0,0 0,1 1,-1-1,0 0,1 0,-1 0,1 0,-1 0,0 0,1 0,-1 0,1 0,-1-1,0 1,1 0,20-6,82-43,-82 38,-10 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49:54.130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90 1,'-35'312,"-13"153,42-343,16 219,-2-291,-8-49,0-1,0 1,0 0,0-1,0 1,0 0,0-1,0 1,0-1,1 1,-1 0,0-1,0 1,1-1,-1 1,1-1,-1 1,0-1,1 1,-1-1,1 1,-1-1,1 0,-1 1,1-1,-1 0,1 1,-1-1,1 0,0 1,-1-1,1 0,-1 0,1 0,0 0,-1 0,1 0,0 0,-1 0,1 0,-1 0,1 0,0 0,-1 0,1 0,0-1,-1 1,1 0,-1-1,1 1,-1 0,1-1,-1 1,1 0,-1-1,1 1,-1-1,1 0,4-4,0 0,0-1,7-11,-10 14,34-57,-25 38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0:28.06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0 100,'17'1,"179"28,19 2,-180-28,218 16,-200-18,-1-3,96-14,99-47,-156 37,118-19,168 13,-347 32,0 2,-1 1,0 1,35 10,-26-6,59 6,-54-14,0-2,76-13,-77 9,0 0,0 3,45 2,-68 3,250 13,0-24,-135-2,-125 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1:32.94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92,'0'0,"2"-1,5-3,1 0,0 1,0 0,0 0,0 1,0 0,0 0,0 1,1 0,-1 1,1-1,-1 2,0-1,1 1,-1 0,0 1,1 0,-1 0,13 7,21 12,71 49,-29-16,-47-32,1-1,1-3,56 20,-74-32,-1 0,2-2,-1 0,0-2,1 0,-1-1,1-1,37-5,-28-1,0-2,-1-1,53-23,82-51,-70 33,-41 23,1 3,65-20,-91 36,-1 1,1 1,0 2,1 1,-1 1,45 4,294 42,182 9,-419-53,-43-2,0 5,95 15,66 18,-193-31,1-2,82-7,132-38,7-1,-257 41,0 1,0 2,0 0,0 1,0 1,0 1,-1 1,1 0,-1 2,0 0,-1 2,27 15,19 11,82 34,-118-58,0-1,1-2,0-1,1-1,50 3,-38-8,0-3,0-1,84-18,122-49,-45 11,-152 46,105-10,214 23,-239 4,-120-3,73 1,117-12,-126-1,-18 2,73-1,-112 10,1 1,-1 0,0 1,0 2,0 0,0 1,33 13,-40-12,-1-1,1-1,0 0,1 0,-1-1,1-1,-1 0,1-1,-1 0,18-2,56-10,118-31,-72 12,192-30,-230 47,139 0,-213 12,-1 2,1 1,0 0,-1 2,0 0,0 1,0 1,0 0,-1 2,0 0,-1 1,19 13,-14-7,0-1,1 0,1-2,41 16,-42-22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1:37.4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2720,'4'-1,"-1"0,0 0,0 0,0-1,0 1,0-1,0 0,0 1,3-5,4 0,37-27,59-52,-35 25,116-80,293-169,785-371,-1234 665,27-13,100-34,-130 56,-28 6,0 0,1 0,-1 0,0 0,0 0,0 0,1 0,-1 0,0 0,0 0,0 0,1 0,-1 0,0 0,0 0,0 0,0 0,1 0,-1 0,0 0,0 0,0 1,1-1,-1 0,0 0,0 0,0 0,0 0,0 0,0 1,1-1,-1 0,0 0,0 0,0 0,0 1,0-1,0 0,0 0,0 0,0 1,0-1,0 0,0 0,0 0,0 0,0 1,-7 9,-13 9,-6-2,-1-1,0-1,-2-2,-40 15,80-35,-1-1,-1 0,1 0,8-10,1 0,-16 15,1-1,-1 1,1 0,0 0,0 0,1 1,-1-1,0 1,1 0,-1 0,1 1,0 0,0-1,0 1,-1 1,1-1,0 1,0 0,0 0,0 0,0 1,0-1,0 1,0 1,-1-1,1 1,0-1,-1 1,5 3,-7-4,-1-1,0 0,1 0,-1 0,0 0,1 0,-1 0,0 0,1 0,-1 0,0-1,1 1,-1 0,0-1,1 1,-1-1,0 0,0 1,0-1,0 0,0 0,0 0,0 0,0 0,0 0,0 0,0 0,0 0,-1 0,1 0,1-3,4-6,-1 0,8-19,-10 22,61-173,-20 51,33-69,35-98,-81 203,22-116,-50 195,0 0,-1 0,1 0,-2-1,0 1,-2-18,1 32,1-1,-1 1,0-1,0 0,0 1,0-1,-1 0,1 1,0-1,0 0,0 1,0-1,-1 1,1-1,0 0,-1 1,1-1,0 1,-1-1,1 1,-1-1,1 1,-1-1,1 1,-1 0,1-1,-1 0,0 2,0-1,0 0,1 0,-1 1,0-1,0 0,1 1,-1-1,0 1,1-1,-1 1,1-1,-1 1,0-1,1 1,0 0,-2 1,-17 32,16-28,1 0,0-1,0 1,1 0,0 0,0 0,0 0,1 1,-1-1,2 0,-1 0,1 0,1 6,1-2,0 0,1 0,1-1,0 0,0 0,0 0,9 9,16 20,2-2,1-1,2-2,54 41,-11-19,105 57,-57-50,217 76,-111-50,-229-87,17 9,-20-10,0 0,0 0,0 0,-1 0,1 0,0 0,0 0,-1 0,1 0,0 0,0 0,0 0,-1 0,1 0,0 0,0 0,0 1,0-1,-1 0,1 0,0 0,0 0,0 1,0-1,0 0,-1 0,1 0,0 0,0 1,0-1,0 0,0 0,0 0,0 1,0-1,0 0,0 0,0 1,0-1,0 0,0 0,0 0,0 1,0-1,0 0,0 0,0 0,0 1,0-1,1 0,-1 0,0 0,0 0,0 1,0-1,0 0,0 0,1 0,-1 0,0 1,-82 12,-41 9,95-15,9-1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1:38.24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0 880,'3'0,"0"1,0-1,-1 1,1-1,0 0,0 0,0 0,4-1,8 1,-10 0,270 14,2 22,-219-24,0 2,90 37,-110-35,-2 2,0 2,0 1,54 44,-89-64,61 54,-56-50,-1 1,0-1,0 2,0-1,-1 0,0 1,6 13,-21-36,4-3,1 0,0-1,2 1,0-1,2 0,-1-32,11-123,-8 174,11-100,4 0,5 0,4 2,4 1,4 1,87-177,-100 249,-19 24,1 0,0 0,0 1,0-1,0 0,0 1,0-1,0 1,0-1,0 1,0-1,0 1,1 0,-1-1,0 1,0 0,0 0,0 0,0 0,1 0,-1 0,2 1,0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1:38.9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0 779,'3'-1,"0"0,-1 1,1-1,0 1,0-1,-1 1,5 0,7-1,468-92,-306 56,460-103,-9-37,-307 64,268-80,-579 190,9-2,0 1,0 1,24-2,-27 7,-15-2,0 1,0-1,0 0,0 0,0 1,0-1,0 0,0 0,1 0,-1 1,0-1,0 0,0 0,0 1,0-1,0 0,0 0,0 0,0 1,-1-1,1 0,0 0,0 1,0-1,0 0,0 0,0 0,0 1,0-1,-1 0,1 0,0 0,0 1,-21 15,-127 57,112-56,17-8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4:22.3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232 367,'12'-1,"1"-1,-1-1,0 0,0 0,0-1,-1-1,1 0,19-12,8-3,85-33,2 6,1 4,162-30,-108 40,334-18,-409 47,-1 5,1 4,146 27,-213-24,42 15,-66-18,-1 0,1 2,-2 0,1 0,19 16,-29-21,0 1,0 0,0 1,-1-1,0 1,1 0,-2 0,1 0,0 0,-1 0,1 0,-1 1,0-1,-1 1,1 0,-1-1,0 1,0 0,0 0,-1 0,0 0,0 0,-1 9,-2-4,0 0,0 0,-1-1,0 1,-1-1,0 0,0 0,-1 0,0-1,-12 13,-10 9,-2-1,-1-2,-1-1,-37 22,-154 78,79-59,-4-5,-1-7,-3-7,-2-7,-2-6,-236 22,60-46,277-14,1-2,-1-2,-103-28,140 29,1 1,1-2,0 0,0-1,0-1,-17-13,29 20,1-1,-1 0,1 1,0-2,0 1,0 0,0 0,1-1,-1 0,1 1,0-1,0 0,1 0,-1 0,1 0,-1 0,1-1,1 1,-1 0,1-1,-1 1,1 0,0-1,1 1,-1 0,1-1,0 1,0 0,0 0,2-4,3-4,0 0,0 1,1 0,1 0,0 1,0 0,17-16,77-56,-88 71,72-49,3 2,3 5,2 4,161-60,-218 96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4:23.1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243 464,'62'-51,"2"3,2 3,2 3,2 3,1 3,2 3,1 3,141-35,-105 40,0 6,1 4,1 5,0 5,187 15,-218-2,-2 4,1 3,114 37,-151-36,-1 1,75 43,-92-44,0 2,-1 0,0 1,-2 1,22 27,-35-38,-1 1,-1 0,0 1,0 0,-1 0,0 0,-1 1,0 0,-1 0,4 17,-7-20,0-1,-1 0,0 1,0-1,-1 0,0 1,0-1,-1 0,0 0,0 0,-1 0,0 0,0-1,-1 1,0-1,-9 12,3-6,-1 0,-1-1,0 0,0-1,-1 0,-18 11,0-3,-1-2,-35 15,-12-1,-1-4,-90 19,-176 18,-325 7,454-62,-237-22,278-6,137 12,1-1,-47-16,74 20,-1-1,1 1,0-2,1 0,-11-7,18 11,1 0,-1 0,1 0,0 0,0 0,0-1,0 1,0-1,0 1,1-1,-1 0,1 1,0-1,0 0,0 0,0 0,0 0,1 0,-1 0,1-1,0 1,0-6,2 3,-1-1,1 0,1 1,-1 0,1-1,0 1,0 0,1 1,0-1,0 0,7-6,10-10,30-25,-46 43,63-52,135-84,95-20,-249 138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5:28.300"/>
    </inkml:context>
    <inkml:brush xml:id="br0">
      <inkml:brushProperty name="width" value="0.1" units="cm"/>
      <inkml:brushProperty name="height" value="0.1" units="cm"/>
      <inkml:brushProperty name="color" value="#ED7D31"/>
      <inkml:brushProperty name="ignorePressure" value="1"/>
    </inkml:brush>
  </inkml:definitions>
  <inkml:trace contextRef="#ctx0" brushRef="#br0">88 394,'23'-39,"-11"24,1 2,0-1,0 1,1 1,1 1,0 0,1 1,0 0,0 1,1 1,21-7,25-6,113-23,-158 41,538-84,8 43,462 30,-998 15,162 11,-155-8,1 2,-1 2,40 13,-67-18,1 0,-1 1,1 0,-1 1,0-1,-1 1,1 1,-1-1,11 13,-14-14,0 1,-1 0,0 0,0 1,0-1,0 1,-1-1,0 1,0 0,-1 0,0 0,0 0,0 0,0 0,-1 7,-1 0,0 0,0 0,-2 0,0 0,0-1,-1 0,0 1,-8 13,2-7,0-1,-2-1,0 0,-23 24,3-9,-2-1,-1-2,-77 49,24-27,-172 73,-110 7,233-92,-1-5,-176 18,196-40,0-6,-1-5,-128-16,-156-54,303 43,-186-75,279 98,-98-47,95 44,0-1,0 0,1 0,0-1,0 0,1 0,-12-15,18 21,1-1,-1 1,0-1,1 0,0 1,0-1,-1 0,2 0,-1 0,0 0,0 1,1-1,0 0,0 0,0 0,0 0,0 0,0 0,1 0,-1 0,1 0,0 0,0 0,0 0,0 1,1-1,-1 0,1 1,-1-1,1 1,0-1,3-2,5-4,-1 1,2-1,-1 2,1-1,0 2,13-7,50-21,1 4,114-31,-163 54,0 1,42-4,-57 9,1 1,-1 0,1 1,-1 0,1 0,-1 2,1-1,16 7,-17-3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6:13.985"/>
    </inkml:context>
    <inkml:brush xml:id="br0">
      <inkml:brushProperty name="width" value="0.1" units="cm"/>
      <inkml:brushProperty name="height" value="0.1" units="cm"/>
      <inkml:brushProperty name="color" value="#ED7D31"/>
      <inkml:brushProperty name="ignorePressure" value="1"/>
    </inkml:brush>
  </inkml:definitions>
  <inkml:trace contextRef="#ctx0" brushRef="#br0">114 511,'30'-51,"-14"33,0 0,1 0,1 2,0 0,1 1,1 1,0 1,1 0,0 2,1 0,26-8,34-8,147-30,-206 52,699-107,10 55,598 38,-1293 20,209 15,-200-10,0 1,-1 3,53 18,-87-24,0 0,0 1,0 0,-1 1,0 0,0 1,0 0,-1 0,15 15,-19-16,0 1,-1-1,0 1,0 0,0 0,-1 0,0 0,0 1,-1-1,0 1,0 0,-1-1,0 1,-1 0,1 10,-2-2,-1 1,0 0,-1 0,0-1,-2 0,0 0,0 0,-11 19,4-11,-2-1,-1 0,-1-1,-29 31,3-11,-2-3,-1-1,-101 63,32-34,-223 94,-143 8,302-118,-1-7,-228 24,254-54,-1-6,1-6,-168-21,-202-71,394 57,-243-98,363 127,-127-62,122 58,2 0,-1-1,1 0,0-1,1-1,0 0,-14-19,23 27,-1 0,1 0,0 0,0-1,1 1,-1-1,1 0,0 1,0-1,0 0,0 0,0 0,1 1,0-1,0 0,0 0,0 0,1 0,-1 0,1 0,0 1,0-1,0 0,1 1,-1-1,1 1,0-1,0 1,0 0,1 0,-1 0,5-4,5-5,1 1,0 0,1 1,0 1,0 0,18-7,63-28,3 4,146-39,-210 70,0 2,54-6,-73 12,0 0,0 1,0 1,0 1,0 0,-1 1,1 0,21 8,-20-3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2:56:21.689"/>
    </inkml:context>
    <inkml:brush xml:id="br0">
      <inkml:brushProperty name="width" value="0.1" units="cm"/>
      <inkml:brushProperty name="height" value="0.1" units="cm"/>
      <inkml:brushProperty name="color" value="#ED7D31"/>
      <inkml:brushProperty name="ignorePressure" value="1"/>
    </inkml:brush>
  </inkml:definitions>
  <inkml:trace contextRef="#ctx0" brushRef="#br0">74 334,'20'-33,"-10"21,1 0,0 1,1 0,0 1,0 0,1 1,0 0,1 1,0 0,0 1,18-5,21-6,97-19,-135 34,457-71,7 37,390 24,-844 14,135 10,-129-7,-1 1,-1 1,35 12,-57-15,1-1,-1 2,0-1,0 1,-1 0,1 0,-1 1,0-1,10 11,-13-11,0 0,0 0,0 1,-1-1,1 1,-1 0,0-1,-1 1,1 0,-1 0,0 0,0 0,0 0,-1 0,0 7,0-1,-1 0,-1 0,1 0,-2 0,0-1,0 1,-1-1,-6 13,2-8,-1 0,-1 0,0 0,-20 20,3-8,-2-1,0-1,-67 40,22-21,-147 61,-93 6,198-77,-1-6,-149 17,166-36,-1-4,1-4,-110-13,-132-47,258 37,-159-63,237 82,-84-40,82 38,-1-1,1 1,0-1,1-1,-1 0,1 0,-9-12,14 17,1-1,-1 1,1 0,0 0,0 0,0-1,0 1,0-1,0 1,1 0,-1-1,1 1,0-1,-1 0,1 1,1-1,-1 1,0-1,0 1,1-1,0 1,-1-1,1 1,0 0,0-1,0 1,1 0,-1 0,0 0,1-1,0 2,2-4,4-3,0 1,1 0,0 1,0-1,0 2,12-6,41-18,2 3,96-25,-138 45,0 1,36-3,-48 7,-1 1,1 0,0 0,0 1,0 0,-1 1,1 0,14 6,-14-3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0T23:05:08.900"/>
    </inkml:context>
    <inkml:brush xml:id="br0">
      <inkml:brushProperty name="width" value="0.1" units="cm"/>
      <inkml:brushProperty name="height" value="0.1" units="cm"/>
      <inkml:brushProperty name="color" value="#ED7D31"/>
      <inkml:brushProperty name="ignorePressure" value="1"/>
    </inkml:brush>
  </inkml:definitions>
  <inkml:trace contextRef="#ctx0" brushRef="#br0">88 394,'23'-39,"-11"24,1 2,0-1,0 1,1 1,1 1,0 0,1 1,0 0,0 1,1 1,21-7,25-6,113-23,-158 41,538-84,8 43,462 30,-998 15,162 11,-155-8,1 2,-1 2,40 13,-67-18,1 0,-1 1,1 0,-1 1,0-1,-1 1,1 1,-1-1,11 13,-14-14,0 1,-1 0,0 0,0 1,0-1,0 1,-1-1,0 1,0 0,-1 0,0 0,0 0,0 0,0 0,-1 7,-1 0,0 0,0 0,-2 0,0 0,0-1,-1 0,0 1,-8 13,2-7,0-1,-2-1,0 0,-23 24,3-9,-2-1,-1-2,-77 49,24-27,-172 73,-110 7,233-92,-1-5,-176 18,196-40,0-6,-1-5,-128-16,-156-54,303 43,-186-75,279 98,-98-47,95 44,0-1,0 0,1 0,0-1,0 0,1 0,-12-15,18 21,1-1,-1 1,0-1,1 0,0 1,0-1,-1 0,2 0,-1 0,0 0,0 1,1-1,0 0,0 0,0 0,0 0,0 0,0 0,1 0,-1 0,1 0,0 0,0 0,0 0,0 1,1-1,-1 0,1 1,-1-1,1 1,0-1,3-2,5-4,-1 1,2-1,-1 2,1-1,0 2,13-7,50-21,1 4,114-31,-163 54,0 1,42-4,-57 9,1 1,-1 0,1 1,-1 0,1 0,-1 2,1-1,16 7,-17-3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31T14:31:59.20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379 362,'15'-6,"-6"1,66-31,30-14,195-66,-147 75,278-36,-240 58,215 7,-273 16,203 32,-269-24,0 3,-2 3,0 3,115 54,-156-63,-2 1,1 1,-2 0,0 2,0 0,-2 2,27 30,-40-41,0 0,-1 1,0 0,0 0,-1 0,0 0,0 1,-1 0,0 0,-1 0,0 0,0 0,-1 0,0 0,-1 1,0-1,0 0,-1 0,0 1,-1-1,0 0,0 0,-1 0,-4 9,-1-1,-1 0,-1 0,0-1,-1-1,-15 16,-5 3,-40 32,-11 1,-2-4,-121 68,-202 78,240-137,-2-7,-3-7,-3-8,-1-8,-3-7,-256 16,189-44,203-9,0-2,0-2,-65-17,91 19,2-1,-1-1,1 0,0-1,0-1,1 0,0-1,0-1,1 0,0-1,1 0,0-1,1 0,0-1,1 0,1-1,0 0,1 0,0-1,1 0,1 0,0-1,-4-19,4 3,1 1,1 0,2-1,1 0,1 0,2 1,1-1,2 1,1-1,1 1,2 1,1 0,1 0,18-34,-5 20,2 2,1 0,2 1,2 2,2 1,1 2,2 1,54-40,-41 38,2 2,2 2,0 2,3 3,0 2,109-33,-137 53,-11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0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9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41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18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81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73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11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42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45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1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63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83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29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99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33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4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00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89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65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9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50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78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4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928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26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23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36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226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57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48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32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17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868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125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331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202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34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166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26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214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35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318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52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823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584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005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506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771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850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564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71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043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848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20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5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8.png"/><Relationship Id="rId4" Type="http://schemas.openxmlformats.org/officeDocument/2006/relationships/image" Target="../media/image110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5.xml"/><Relationship Id="rId18" Type="http://schemas.openxmlformats.org/officeDocument/2006/relationships/image" Target="../media/image23.png"/><Relationship Id="rId26" Type="http://schemas.openxmlformats.org/officeDocument/2006/relationships/image" Target="../media/image27.png"/><Relationship Id="rId3" Type="http://schemas.openxmlformats.org/officeDocument/2006/relationships/notesSlide" Target="../notesSlides/notesSlide22.xml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2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1" Type="http://schemas.openxmlformats.org/officeDocument/2006/relationships/tags" Target="../tags/tag20.xml"/><Relationship Id="rId6" Type="http://schemas.openxmlformats.org/officeDocument/2006/relationships/image" Target="../media/image17.png"/><Relationship Id="rId11" Type="http://schemas.openxmlformats.org/officeDocument/2006/relationships/customXml" Target="../ink/ink4.xml"/><Relationship Id="rId24" Type="http://schemas.openxmlformats.org/officeDocument/2006/relationships/image" Target="../media/image26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19.png"/><Relationship Id="rId19" Type="http://schemas.openxmlformats.org/officeDocument/2006/relationships/customXml" Target="../ink/ink8.xml"/><Relationship Id="rId4" Type="http://schemas.openxmlformats.org/officeDocument/2006/relationships/image" Target="../media/image15.png"/><Relationship Id="rId9" Type="http://schemas.openxmlformats.org/officeDocument/2006/relationships/customXml" Target="../ink/ink3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customXml" Target="../ink/ink19.xml"/><Relationship Id="rId26" Type="http://schemas.openxmlformats.org/officeDocument/2006/relationships/customXml" Target="../ink/ink23.xml"/><Relationship Id="rId3" Type="http://schemas.openxmlformats.org/officeDocument/2006/relationships/notesSlide" Target="../notesSlides/notesSlide45.xml"/><Relationship Id="rId21" Type="http://schemas.openxmlformats.org/officeDocument/2006/relationships/image" Target="../media/image41.png"/><Relationship Id="rId34" Type="http://schemas.openxmlformats.org/officeDocument/2006/relationships/customXml" Target="../ink/ink27.xml"/><Relationship Id="rId7" Type="http://schemas.openxmlformats.org/officeDocument/2006/relationships/image" Target="../media/image34.png"/><Relationship Id="rId12" Type="http://schemas.openxmlformats.org/officeDocument/2006/relationships/customXml" Target="../ink/ink16.xml"/><Relationship Id="rId17" Type="http://schemas.openxmlformats.org/officeDocument/2006/relationships/image" Target="../media/image39.png"/><Relationship Id="rId25" Type="http://schemas.openxmlformats.org/officeDocument/2006/relationships/image" Target="../media/image43.png"/><Relationship Id="rId3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29" Type="http://schemas.openxmlformats.org/officeDocument/2006/relationships/image" Target="../media/image45.png"/><Relationship Id="rId1" Type="http://schemas.openxmlformats.org/officeDocument/2006/relationships/tags" Target="../tags/tag38.xml"/><Relationship Id="rId6" Type="http://schemas.openxmlformats.org/officeDocument/2006/relationships/customXml" Target="../ink/ink13.xml"/><Relationship Id="rId11" Type="http://schemas.openxmlformats.org/officeDocument/2006/relationships/image" Target="../media/image36.png"/><Relationship Id="rId24" Type="http://schemas.openxmlformats.org/officeDocument/2006/relationships/customXml" Target="../ink/ink22.xml"/><Relationship Id="rId32" Type="http://schemas.openxmlformats.org/officeDocument/2006/relationships/customXml" Target="../ink/ink26.xml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image" Target="../media/image42.png"/><Relationship Id="rId28" Type="http://schemas.openxmlformats.org/officeDocument/2006/relationships/customXml" Target="../ink/ink24.xml"/><Relationship Id="rId10" Type="http://schemas.openxmlformats.org/officeDocument/2006/relationships/customXml" Target="../ink/ink15.xml"/><Relationship Id="rId19" Type="http://schemas.openxmlformats.org/officeDocument/2006/relationships/image" Target="../media/image40.png"/><Relationship Id="rId31" Type="http://schemas.openxmlformats.org/officeDocument/2006/relationships/image" Target="../media/image46.png"/><Relationship Id="rId4" Type="http://schemas.openxmlformats.org/officeDocument/2006/relationships/customXml" Target="../ink/ink12.xml"/><Relationship Id="rId9" Type="http://schemas.openxmlformats.org/officeDocument/2006/relationships/image" Target="../media/image35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Relationship Id="rId27" Type="http://schemas.openxmlformats.org/officeDocument/2006/relationships/image" Target="../media/image44.png"/><Relationship Id="rId30" Type="http://schemas.openxmlformats.org/officeDocument/2006/relationships/customXml" Target="../ink/ink25.xml"/><Relationship Id="rId35" Type="http://schemas.openxmlformats.org/officeDocument/2006/relationships/image" Target="../media/image48.png"/><Relationship Id="rId8" Type="http://schemas.openxmlformats.org/officeDocument/2006/relationships/customXml" Target="../ink/ink1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50.png"/><Relationship Id="rId12" Type="http://schemas.openxmlformats.org/officeDocument/2006/relationships/customXml" Target="../ink/ink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customXml" Target="../ink/ink29.xml"/><Relationship Id="rId11" Type="http://schemas.openxmlformats.org/officeDocument/2006/relationships/customXml" Target="../ink/ink32.xml"/><Relationship Id="rId5" Type="http://schemas.openxmlformats.org/officeDocument/2006/relationships/image" Target="../media/image49.png"/><Relationship Id="rId10" Type="http://schemas.openxmlformats.org/officeDocument/2006/relationships/customXml" Target="../ink/ink31.xml"/><Relationship Id="rId4" Type="http://schemas.openxmlformats.org/officeDocument/2006/relationships/customXml" Target="../ink/ink28.xml"/><Relationship Id="rId9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image" Target="../media/image53.png"/><Relationship Id="rId5" Type="http://schemas.openxmlformats.org/officeDocument/2006/relationships/customXml" Target="../ink/ink34.xml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Relational Database Design using E/R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(Tue. June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Assignments (no work in this week), but in Week 5</a:t>
            </a:r>
          </a:p>
          <a:p>
            <a:pPr lvl="1"/>
            <a:r>
              <a:rPr lang="en-US" dirty="0"/>
              <a:t>Release assignment 1 grade and partial solution</a:t>
            </a:r>
          </a:p>
          <a:p>
            <a:pPr lvl="1"/>
            <a:r>
              <a:rPr lang="en-US" dirty="0"/>
              <a:t>Release assignment 2 </a:t>
            </a:r>
          </a:p>
          <a:p>
            <a:endParaRPr lang="en-US" dirty="0"/>
          </a:p>
          <a:p>
            <a:r>
              <a:rPr lang="en-US" dirty="0"/>
              <a:t>Teams are formed. Please find your TA’s information on </a:t>
            </a:r>
            <a:r>
              <a:rPr lang="en-US" dirty="0" err="1"/>
              <a:t>MarkUs</a:t>
            </a:r>
            <a:endParaRPr lang="en-US" dirty="0"/>
          </a:p>
          <a:p>
            <a:pPr lvl="1"/>
            <a:r>
              <a:rPr lang="en-US" dirty="0"/>
              <a:t>Start working on your project </a:t>
            </a:r>
          </a:p>
          <a:p>
            <a:pPr lvl="1"/>
            <a:r>
              <a:rPr lang="en-US" dirty="0"/>
              <a:t>Milestone 1 is due soon (&lt; 2 weeks) </a:t>
            </a:r>
          </a:p>
          <a:p>
            <a:endParaRPr lang="en-US" dirty="0"/>
          </a:p>
          <a:p>
            <a:r>
              <a:rPr lang="en-US" dirty="0"/>
              <a:t>Start early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857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BE84-13F9-4105-8613-FE87424F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Motivating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28298-9F06-470E-B37B-1DEB2F75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4F091999-C0D0-4134-A5FD-002E09363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333000" y="1606264"/>
            <a:ext cx="508918" cy="125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Profile photo for Xi He">
            <a:extLst>
              <a:ext uri="{FF2B5EF4-FFF2-40B4-BE49-F238E27FC236}">
                <a16:creationId xmlns:a16="http://schemas.microsoft.com/office/drawing/2014/main" id="{7675D2FF-18B8-4C19-9653-E6FB4580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657" y="1502916"/>
            <a:ext cx="1010665" cy="104487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B4B9194C-E801-42BB-BC38-9E0506106A14}"/>
              </a:ext>
            </a:extLst>
          </p:cNvPr>
          <p:cNvSpPr/>
          <p:nvPr/>
        </p:nvSpPr>
        <p:spPr>
          <a:xfrm>
            <a:off x="1055706" y="2377548"/>
            <a:ext cx="3580440" cy="4015370"/>
          </a:xfrm>
          <a:prstGeom prst="wedgeRoundRectCallout">
            <a:avLst>
              <a:gd name="adj1" fmla="val -57380"/>
              <a:gd name="adj2" fmla="val -52476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  <a:p>
            <a:pPr algn="ctr"/>
            <a:r>
              <a:rPr lang="en-CA" dirty="0"/>
              <a:t>It has these requirements …</a:t>
            </a:r>
            <a:endParaRPr lang="en-US" sz="1100" dirty="0"/>
          </a:p>
          <a:p>
            <a:r>
              <a:rPr lang="en-US" sz="1100" dirty="0"/>
              <a:t>Zero or more sections of a course are offered each term. Courses have names and numbers. In each term, the sections of each course are </a:t>
            </a:r>
            <a:r>
              <a:rPr lang="en-CA" sz="1100" dirty="0"/>
              <a:t>numbered starting with 1.</a:t>
            </a:r>
            <a:endParaRPr lang="en-US" sz="1100" dirty="0"/>
          </a:p>
          <a:p>
            <a:r>
              <a:rPr lang="en-US" sz="1100" dirty="0"/>
              <a:t>Most course sections are taught on-site, but a few </a:t>
            </a:r>
          </a:p>
          <a:p>
            <a:r>
              <a:rPr lang="en-US" sz="1100" dirty="0"/>
              <a:t>are taught at off-site </a:t>
            </a:r>
            <a:r>
              <a:rPr lang="en-CA" sz="1100" dirty="0"/>
              <a:t>locations.</a:t>
            </a:r>
          </a:p>
          <a:p>
            <a:r>
              <a:rPr lang="en-US" sz="1100" dirty="0"/>
              <a:t>Students have student numbers and names. Each course section is taught by a professor. A professor may teach more than one section in a term, but if a professor teaches more than one section in a term, they are always sections of the same course. Some professors do not teach every term.</a:t>
            </a:r>
          </a:p>
          <a:p>
            <a:r>
              <a:rPr lang="en-US" sz="1100" dirty="0"/>
              <a:t>Up to 50 students may be registered for a course section. Sections with 5 or fewer students are cancelled.</a:t>
            </a:r>
          </a:p>
          <a:p>
            <a:r>
              <a:rPr lang="en-US" sz="1100" dirty="0"/>
              <a:t>A student receives a mark for each course in which they are enrolled. Each student has a cumulative grade point average (GPA) which is calculated from all course marks the student has received.</a:t>
            </a:r>
            <a:endParaRPr lang="en-CA" sz="1100" dirty="0"/>
          </a:p>
          <a:p>
            <a:pPr algn="ctr"/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B289ACD-32ED-409B-8BB8-F9AA510CBCF6}"/>
              </a:ext>
            </a:extLst>
          </p:cNvPr>
          <p:cNvSpPr/>
          <p:nvPr/>
        </p:nvSpPr>
        <p:spPr>
          <a:xfrm>
            <a:off x="4958256" y="1618218"/>
            <a:ext cx="2166696" cy="545098"/>
          </a:xfrm>
          <a:prstGeom prst="wedgeRoundRectCallout">
            <a:avLst>
              <a:gd name="adj1" fmla="val 60742"/>
              <a:gd name="adj2" fmla="val -2565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 know how to use SQL now!</a:t>
            </a:r>
            <a:endParaRPr lang="en-CA" sz="11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7983DB4F-4CBC-4D1D-9CBD-1A1FEEF3C285}"/>
              </a:ext>
            </a:extLst>
          </p:cNvPr>
          <p:cNvSpPr/>
          <p:nvPr/>
        </p:nvSpPr>
        <p:spPr>
          <a:xfrm>
            <a:off x="4958255" y="2275237"/>
            <a:ext cx="2457513" cy="1508487"/>
          </a:xfrm>
          <a:prstGeom prst="wedgeRoundRectCallout">
            <a:avLst>
              <a:gd name="adj1" fmla="val 56669"/>
              <a:gd name="adj2" fmla="val -4879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tables do you want me to create?</a:t>
            </a:r>
          </a:p>
          <a:p>
            <a:pPr algn="ctr"/>
            <a:r>
              <a:rPr lang="en-CA" dirty="0"/>
              <a:t>What are the primary keys, constraints, queries, …..? 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2A4D374-337A-4A46-898E-8D24028E740F}"/>
              </a:ext>
            </a:extLst>
          </p:cNvPr>
          <p:cNvSpPr/>
          <p:nvPr/>
        </p:nvSpPr>
        <p:spPr>
          <a:xfrm>
            <a:off x="1008049" y="1618218"/>
            <a:ext cx="3580440" cy="545097"/>
          </a:xfrm>
          <a:prstGeom prst="wedgeRoundRectCallout">
            <a:avLst>
              <a:gd name="adj1" fmla="val -54518"/>
              <a:gd name="adj2" fmla="val 1632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 want to have a registrar’s database. Can you help?</a:t>
            </a:r>
            <a:endParaRPr lang="en-CA" sz="1100" dirty="0"/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1F4C8450-1145-43F4-8BCA-3B1FB4A72F41}"/>
              </a:ext>
            </a:extLst>
          </p:cNvPr>
          <p:cNvSpPr/>
          <p:nvPr/>
        </p:nvSpPr>
        <p:spPr>
          <a:xfrm>
            <a:off x="4958255" y="4106918"/>
            <a:ext cx="3709067" cy="1111470"/>
          </a:xfrm>
          <a:prstGeom prst="wedgeRoundRectCallout">
            <a:avLst>
              <a:gd name="adj1" fmla="val 36790"/>
              <a:gd name="adj2" fmla="val -123046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We still need to learn about database design </a:t>
            </a:r>
            <a:r>
              <a:rPr lang="en-CA" dirty="0">
                <a:sym typeface="Wingdings" panose="05000000000000000000" pitchFamily="2" charset="2"/>
              </a:rPr>
              <a:t> </a:t>
            </a:r>
            <a:r>
              <a:rPr lang="en-CA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812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Step 1: Understand the real-world domain being modeled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sz="2400" dirty="0"/>
              <a:t>Specify it using a </a:t>
            </a:r>
            <a:r>
              <a:rPr lang="en-US" sz="2400" dirty="0">
                <a:solidFill>
                  <a:schemeClr val="accent2"/>
                </a:solidFill>
              </a:rPr>
              <a:t>database design model 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>
                <a:solidFill>
                  <a:schemeClr val="accent2"/>
                </a:solidFill>
              </a:rPr>
              <a:t>Entity/Relationship (E/R) model</a:t>
            </a:r>
            <a:r>
              <a:rPr lang="en-US" sz="2000" dirty="0"/>
              <a:t>, Object Definition Language (ODL), UML (Unified Modeling Language)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Step 2: Translate specification to </a:t>
            </a:r>
            <a:r>
              <a:rPr lang="en-US" sz="2400" dirty="0">
                <a:solidFill>
                  <a:schemeClr val="accent2"/>
                </a:solidFill>
              </a:rPr>
              <a:t>the data model of DBMS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Relational</a:t>
            </a:r>
            <a:r>
              <a:rPr lang="en-US" sz="2000" dirty="0"/>
              <a:t>, XML, object-oriented, etc.</a:t>
            </a:r>
            <a:endParaRPr lang="en-US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Create DBMS schema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F90BD-E974-4721-A0AC-078BE6BC8D4E}"/>
              </a:ext>
            </a:extLst>
          </p:cNvPr>
          <p:cNvSpPr/>
          <p:nvPr/>
        </p:nvSpPr>
        <p:spPr>
          <a:xfrm>
            <a:off x="1068917" y="4995629"/>
            <a:ext cx="1064682" cy="758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Conceptual Design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A8509D-9577-471E-9625-B51B25D5A608}"/>
              </a:ext>
            </a:extLst>
          </p:cNvPr>
          <p:cNvSpPr/>
          <p:nvPr/>
        </p:nvSpPr>
        <p:spPr>
          <a:xfrm>
            <a:off x="2729654" y="4904189"/>
            <a:ext cx="1612054" cy="941493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Conceptual Schema</a:t>
            </a:r>
          </a:p>
          <a:p>
            <a:pPr algn="ctr"/>
            <a:r>
              <a:rPr lang="en-CA" sz="1400" dirty="0"/>
              <a:t>(E/R model)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D15981-89B5-42B0-AE4F-1C9AFBC30DD8}"/>
              </a:ext>
            </a:extLst>
          </p:cNvPr>
          <p:cNvSpPr/>
          <p:nvPr/>
        </p:nvSpPr>
        <p:spPr>
          <a:xfrm>
            <a:off x="4897125" y="4975310"/>
            <a:ext cx="1062778" cy="799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Logical Design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1AB372-FA39-47A0-B888-90F2A00508AB}"/>
              </a:ext>
            </a:extLst>
          </p:cNvPr>
          <p:cNvSpPr/>
          <p:nvPr/>
        </p:nvSpPr>
        <p:spPr>
          <a:xfrm>
            <a:off x="6463029" y="4904188"/>
            <a:ext cx="1612054" cy="941493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Logical Schema</a:t>
            </a:r>
          </a:p>
          <a:p>
            <a:pPr algn="ctr"/>
            <a:r>
              <a:rPr lang="en-CA" sz="1400" dirty="0"/>
              <a:t>(Relational model)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2FD0A4-FA6A-4E1A-B8A8-1BC842ADF48B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2133599" y="5374936"/>
            <a:ext cx="596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EBFCF5-89F8-48FA-A5B0-0F948194B813}"/>
              </a:ext>
            </a:extLst>
          </p:cNvPr>
          <p:cNvCxnSpPr>
            <a:cxnSpLocks/>
            <a:stCxn id="6" idx="6"/>
            <a:endCxn id="7" idx="1"/>
          </p:cNvCxnSpPr>
          <p:nvPr/>
        </p:nvCxnSpPr>
        <p:spPr>
          <a:xfrm>
            <a:off x="4341708" y="5374936"/>
            <a:ext cx="5554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441248-0FA0-44CF-84B6-1E249AA60C01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V="1">
            <a:off x="5959903" y="5374935"/>
            <a:ext cx="50312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9685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2491-E6A4-45B3-A518-04BB9933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E7AC-A277-416C-8F6D-A8107447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Entity-Relationship (E/R) model</a:t>
            </a:r>
          </a:p>
          <a:p>
            <a:endParaRPr lang="en-CA" dirty="0"/>
          </a:p>
          <a:p>
            <a:r>
              <a:rPr lang="en-CA" dirty="0"/>
              <a:t>Translating E/R to relational schema </a:t>
            </a:r>
          </a:p>
          <a:p>
            <a:endParaRPr lang="en-CA" dirty="0"/>
          </a:p>
          <a:p>
            <a:r>
              <a:rPr lang="en-CA" dirty="0"/>
              <a:t>Relational design principles </a:t>
            </a:r>
          </a:p>
          <a:p>
            <a:pPr marL="457200" lvl="1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146B-BC59-4366-9069-37588581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C5CAEF19-F6E9-4B06-B164-FB3F8DC1D100}"/>
              </a:ext>
            </a:extLst>
          </p:cNvPr>
          <p:cNvSpPr/>
          <p:nvPr/>
        </p:nvSpPr>
        <p:spPr>
          <a:xfrm>
            <a:off x="6760011" y="1342321"/>
            <a:ext cx="277238" cy="1756479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54458-43AB-4D5D-9126-40CF699586D4}"/>
              </a:ext>
            </a:extLst>
          </p:cNvPr>
          <p:cNvSpPr txBox="1"/>
          <p:nvPr/>
        </p:nvSpPr>
        <p:spPr>
          <a:xfrm>
            <a:off x="7591538" y="1805061"/>
            <a:ext cx="90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this </a:t>
            </a:r>
          </a:p>
          <a:p>
            <a:r>
              <a:rPr lang="en-CA" sz="2400" dirty="0">
                <a:solidFill>
                  <a:schemeClr val="accent2"/>
                </a:solidFill>
              </a:rPr>
              <a:t>week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66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about 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</a:t>
            </a:r>
            <a:r>
              <a:rPr lang="en-US" dirty="0">
                <a:solidFill>
                  <a:schemeClr val="accent2"/>
                </a:solidFill>
              </a:rPr>
              <a:t>object-relational mappers</a:t>
            </a:r>
            <a:r>
              <a:rPr lang="en-US" dirty="0"/>
              <a:t> are made popular by rapid Web development frameworks</a:t>
            </a:r>
          </a:p>
          <a:p>
            <a:endParaRPr lang="en-US" dirty="0"/>
          </a:p>
          <a:p>
            <a:r>
              <a:rPr lang="en-US" dirty="0"/>
              <a:t>But you still need designer discretion in all but simple cases</a:t>
            </a:r>
          </a:p>
          <a:p>
            <a:endParaRPr lang="en-US" dirty="0"/>
          </a:p>
          <a:p>
            <a:r>
              <a:rPr lang="en-US" dirty="0"/>
              <a:t>Each language/library has its own syntax for creating schema and for querying/modifying data</a:t>
            </a:r>
          </a:p>
          <a:p>
            <a:pPr lvl="1"/>
            <a:r>
              <a:rPr lang="en-US" dirty="0"/>
              <a:t>Quirks and limitations cause portability problems</a:t>
            </a:r>
          </a:p>
          <a:p>
            <a:pPr lvl="1"/>
            <a:r>
              <a:rPr lang="en-US" dirty="0"/>
              <a:t>They are not necessarily easier to learn than 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893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Entity-relationship (E/R)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Historically and still very popular</a:t>
            </a:r>
          </a:p>
          <a:p>
            <a:endParaRPr lang="en-US" dirty="0"/>
          </a:p>
          <a:p>
            <a:r>
              <a:rPr lang="en-US" dirty="0"/>
              <a:t>Primarily a design model—not directly implemented by DBMS</a:t>
            </a:r>
          </a:p>
          <a:p>
            <a:endParaRPr lang="en-US" dirty="0"/>
          </a:p>
          <a:p>
            <a:r>
              <a:rPr lang="en-US" dirty="0"/>
              <a:t>Designs represented by E/R diagrams</a:t>
            </a:r>
          </a:p>
          <a:p>
            <a:pPr lvl="1"/>
            <a:r>
              <a:rPr lang="en-US" dirty="0"/>
              <a:t>We use the style of E/R diagram covered by the textbook book; there are other styles/extensions</a:t>
            </a:r>
          </a:p>
          <a:p>
            <a:pPr lvl="1"/>
            <a:r>
              <a:rPr lang="en-US" dirty="0"/>
              <a:t>Very similar to UML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644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E/R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Entity</a:t>
            </a:r>
            <a:r>
              <a:rPr lang="en-US" dirty="0"/>
              <a:t>: a “thing,” like an object</a:t>
            </a:r>
          </a:p>
          <a:p>
            <a:r>
              <a:rPr lang="en-US" dirty="0">
                <a:solidFill>
                  <a:schemeClr val="accent2"/>
                </a:solidFill>
              </a:rPr>
              <a:t>Entity set</a:t>
            </a:r>
            <a:r>
              <a:rPr lang="en-US" dirty="0"/>
              <a:t>: a collection of things of the same type, like a relation of tuples or a class of objects</a:t>
            </a:r>
          </a:p>
          <a:p>
            <a:pPr lvl="1"/>
            <a:r>
              <a:rPr lang="en-US" dirty="0"/>
              <a:t>Represented as a rectangle</a:t>
            </a:r>
          </a:p>
          <a:p>
            <a:r>
              <a:rPr lang="en-US" dirty="0">
                <a:solidFill>
                  <a:schemeClr val="accent6"/>
                </a:solidFill>
              </a:rPr>
              <a:t>Relationship</a:t>
            </a:r>
            <a:r>
              <a:rPr lang="en-US" dirty="0"/>
              <a:t>: an association among entities</a:t>
            </a:r>
          </a:p>
          <a:p>
            <a:r>
              <a:rPr lang="en-US" dirty="0">
                <a:solidFill>
                  <a:schemeClr val="accent6"/>
                </a:solidFill>
              </a:rPr>
              <a:t>Relationship set</a:t>
            </a:r>
            <a:r>
              <a:rPr lang="en-US" dirty="0"/>
              <a:t>: a set of relationships of the same type (among same entity sets)</a:t>
            </a:r>
          </a:p>
          <a:p>
            <a:pPr lvl="1"/>
            <a:r>
              <a:rPr lang="en-US" dirty="0"/>
              <a:t>Represented as a diamond</a:t>
            </a:r>
          </a:p>
          <a:p>
            <a:r>
              <a:rPr lang="en-US" dirty="0">
                <a:solidFill>
                  <a:schemeClr val="accent5"/>
                </a:solidFill>
              </a:rPr>
              <a:t>Attributes</a:t>
            </a:r>
            <a:r>
              <a:rPr lang="en-US" dirty="0"/>
              <a:t>: properties of entities or relationships, like attributes of tuples or objects</a:t>
            </a:r>
          </a:p>
          <a:p>
            <a:pPr lvl="1"/>
            <a:r>
              <a:rPr lang="en-US" dirty="0"/>
              <a:t>Represented as ovals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48600" y="2743200"/>
            <a:ext cx="1066800" cy="457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48600" y="5791200"/>
            <a:ext cx="1066800" cy="457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924800" y="3200400"/>
            <a:ext cx="914400" cy="2590800"/>
            <a:chOff x="4992" y="2016"/>
            <a:chExt cx="576" cy="1632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4992" y="2736"/>
              <a:ext cx="576" cy="336"/>
            </a:xfrm>
            <a:prstGeom prst="diamond">
              <a:avLst/>
            </a:prstGeom>
            <a:solidFill>
              <a:srgbClr val="FFFFFF"/>
            </a:solidFill>
            <a:ln w="25400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5280" y="2016"/>
              <a:ext cx="0" cy="72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5280" y="3072"/>
              <a:ext cx="0" cy="576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6858000" y="6019800"/>
            <a:ext cx="2095500" cy="685800"/>
            <a:chOff x="4320" y="3792"/>
            <a:chExt cx="1320" cy="432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4320" y="3888"/>
              <a:ext cx="432" cy="192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4704" y="4032"/>
              <a:ext cx="432" cy="192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5208" y="4032"/>
              <a:ext cx="432" cy="192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V="1">
              <a:off x="4512" y="3792"/>
              <a:ext cx="432" cy="96"/>
            </a:xfrm>
            <a:prstGeom prst="lin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4896" y="3936"/>
              <a:ext cx="240" cy="96"/>
            </a:xfrm>
            <a:prstGeom prst="lin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5424" y="3936"/>
              <a:ext cx="0" cy="96"/>
            </a:xfrm>
            <a:prstGeom prst="line">
              <a:avLst/>
            </a:prstGeom>
            <a:noFill/>
            <a:ln w="25400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Oval 10">
            <a:extLst>
              <a:ext uri="{FF2B5EF4-FFF2-40B4-BE49-F238E27FC236}">
                <a16:creationId xmlns:a16="http://schemas.microsoft.com/office/drawing/2014/main" id="{1606C163-D5D5-41F9-88AB-0F447813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85" y="4618038"/>
            <a:ext cx="685800" cy="304800"/>
          </a:xfrm>
          <a:prstGeom prst="ellipse">
            <a:avLst/>
          </a:prstGeom>
          <a:noFill/>
          <a:ln w="25400">
            <a:solidFill>
              <a:schemeClr val="accent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12B41CD9-ED72-4A5D-BA28-F8C20C7E3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36485" y="4465638"/>
            <a:ext cx="685800" cy="152400"/>
          </a:xfrm>
          <a:prstGeom prst="line">
            <a:avLst/>
          </a:prstGeom>
          <a:noFill/>
          <a:ln w="25400">
            <a:solidFill>
              <a:schemeClr val="accent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86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E/R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are members of groups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A key </a:t>
            </a:r>
            <a:r>
              <a:rPr lang="en-US" dirty="0"/>
              <a:t>of an entity set is represented by </a:t>
            </a:r>
            <a:r>
              <a:rPr lang="en-US" u="sng" dirty="0">
                <a:solidFill>
                  <a:schemeClr val="accent2"/>
                </a:solidFill>
              </a:rPr>
              <a:t>underlining all attributes in the key</a:t>
            </a:r>
          </a:p>
          <a:p>
            <a:pPr lvl="1"/>
            <a:r>
              <a:rPr lang="en-US" dirty="0"/>
              <a:t>A key is a set of attributes whose values can belong to at most one entity in an entity set—like a key of a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457200" y="2209800"/>
            <a:ext cx="8001000" cy="1066800"/>
            <a:chOff x="288" y="2112"/>
            <a:chExt cx="5040" cy="67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>
                  <a:solidFill>
                    <a:schemeClr val="accent2"/>
                  </a:solidFill>
                </a:rPr>
                <a:t>gid</a:t>
              </a:r>
              <a:endParaRPr lang="en-US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>
                  <a:solidFill>
                    <a:schemeClr val="accent2"/>
                  </a:solidFill>
                </a:rPr>
                <a:t>uid</a:t>
              </a:r>
              <a:endParaRPr lang="en-US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name</a:t>
              </a: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5178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a user belongs to a group since a particular date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do the dates go?</a:t>
            </a:r>
          </a:p>
          <a:p>
            <a:pPr lvl="1"/>
            <a:r>
              <a:rPr lang="en-US" dirty="0"/>
              <a:t>With </a:t>
            </a:r>
            <a:r>
              <a:rPr lang="en-US" i="1" dirty="0"/>
              <a:t>Users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But a user can join multiple groups on different dates</a:t>
            </a:r>
          </a:p>
          <a:p>
            <a:pPr lvl="1"/>
            <a:r>
              <a:rPr lang="en-US" dirty="0"/>
              <a:t>With </a:t>
            </a:r>
            <a:r>
              <a:rPr lang="en-US" i="1" dirty="0"/>
              <a:t>Groups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But different users can join the same group on different dates</a:t>
            </a:r>
          </a:p>
          <a:p>
            <a:pPr lvl="1"/>
            <a:r>
              <a:rPr lang="en-US" dirty="0"/>
              <a:t>With </a:t>
            </a:r>
            <a:r>
              <a:rPr lang="en-US" i="1" dirty="0" err="1"/>
              <a:t>IsMemberOf</a:t>
            </a:r>
            <a:r>
              <a:rPr lang="en-US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grpSp>
        <p:nvGrpSpPr>
          <p:cNvPr id="23" name="Group 4"/>
          <p:cNvGrpSpPr>
            <a:grpSpLocks/>
          </p:cNvGrpSpPr>
          <p:nvPr/>
        </p:nvGrpSpPr>
        <p:grpSpPr bwMode="auto">
          <a:xfrm>
            <a:off x="457200" y="2363795"/>
            <a:ext cx="8001000" cy="1066800"/>
            <a:chOff x="288" y="2112"/>
            <a:chExt cx="5040" cy="672"/>
          </a:xfrm>
        </p:grpSpPr>
        <p:sp>
          <p:nvSpPr>
            <p:cNvPr id="24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26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27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4"/>
          <p:cNvGrpSpPr>
            <a:grpSpLocks/>
          </p:cNvGrpSpPr>
          <p:nvPr/>
        </p:nvGrpSpPr>
        <p:grpSpPr bwMode="auto">
          <a:xfrm>
            <a:off x="3962400" y="3278195"/>
            <a:ext cx="1066800" cy="609600"/>
            <a:chOff x="2496" y="1872"/>
            <a:chExt cx="672" cy="384"/>
          </a:xfrm>
        </p:grpSpPr>
        <p:sp>
          <p:nvSpPr>
            <p:cNvPr id="38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fromDate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870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could be multiple relationship sets between the same entity sets</a:t>
            </a:r>
          </a:p>
          <a:p>
            <a:pPr lvl="1"/>
            <a:r>
              <a:rPr lang="en-US" dirty="0"/>
              <a:t>Example: </a:t>
            </a:r>
            <a:r>
              <a:rPr lang="en-US" i="1" dirty="0"/>
              <a:t>Users</a:t>
            </a:r>
            <a:r>
              <a:rPr lang="en-US" dirty="0"/>
              <a:t> </a:t>
            </a:r>
            <a:r>
              <a:rPr lang="en-US" i="1" dirty="0" err="1"/>
              <a:t>IsMemberOf</a:t>
            </a:r>
            <a:r>
              <a:rPr lang="en-US" dirty="0"/>
              <a:t> </a:t>
            </a:r>
            <a:r>
              <a:rPr lang="en-US" i="1" dirty="0"/>
              <a:t>Groups</a:t>
            </a:r>
            <a:r>
              <a:rPr lang="en-US" dirty="0"/>
              <a:t>; </a:t>
            </a:r>
            <a:r>
              <a:rPr lang="en-US" i="1" dirty="0"/>
              <a:t>Users</a:t>
            </a:r>
            <a:r>
              <a:rPr lang="en-US" dirty="0"/>
              <a:t> </a:t>
            </a:r>
            <a:r>
              <a:rPr lang="en-US" i="1" dirty="0"/>
              <a:t>Likes Groups</a:t>
            </a:r>
          </a:p>
          <a:p>
            <a:r>
              <a:rPr lang="en-US" dirty="0"/>
              <a:t>In a relationship set, </a:t>
            </a:r>
            <a:r>
              <a:rPr lang="en-US" dirty="0">
                <a:solidFill>
                  <a:schemeClr val="accent2"/>
                </a:solidFill>
              </a:rPr>
              <a:t>each relationship is uniquely identified by the entities it connects</a:t>
            </a:r>
          </a:p>
          <a:p>
            <a:pPr lvl="1"/>
            <a:r>
              <a:rPr lang="en-US" dirty="0"/>
              <a:t>Example: Between Bart and “Dead Putting Society”, there can </a:t>
            </a:r>
            <a:r>
              <a:rPr lang="en-US" dirty="0">
                <a:solidFill>
                  <a:schemeClr val="accent2"/>
                </a:solidFill>
              </a:rPr>
              <a:t>be at most one </a:t>
            </a:r>
            <a:r>
              <a:rPr lang="en-US" i="1" dirty="0" err="1">
                <a:solidFill>
                  <a:schemeClr val="accent2"/>
                </a:solidFill>
              </a:rPr>
              <a:t>IsMemberOf</a:t>
            </a:r>
            <a:r>
              <a:rPr lang="en-US" dirty="0">
                <a:solidFill>
                  <a:schemeClr val="accent2"/>
                </a:solidFill>
              </a:rPr>
              <a:t> relationship </a:t>
            </a:r>
            <a:r>
              <a:rPr lang="en-US" dirty="0"/>
              <a:t>and </a:t>
            </a:r>
            <a:r>
              <a:rPr lang="en-US" dirty="0">
                <a:solidFill>
                  <a:schemeClr val="accent2"/>
                </a:solidFill>
              </a:rPr>
              <a:t>at most one </a:t>
            </a:r>
            <a:r>
              <a:rPr lang="en-US" i="1" dirty="0">
                <a:solidFill>
                  <a:schemeClr val="accent2"/>
                </a:solidFill>
              </a:rPr>
              <a:t>Likes</a:t>
            </a:r>
            <a:r>
              <a:rPr lang="en-US" dirty="0">
                <a:solidFill>
                  <a:schemeClr val="accent2"/>
                </a:solidFill>
              </a:rPr>
              <a:t>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C23EA8-6929-4B68-891D-B343670F8691}"/>
              </a:ext>
            </a:extLst>
          </p:cNvPr>
          <p:cNvGrpSpPr>
            <a:grpSpLocks/>
          </p:cNvGrpSpPr>
          <p:nvPr/>
        </p:nvGrpSpPr>
        <p:grpSpPr bwMode="auto">
          <a:xfrm>
            <a:off x="514348" y="4780426"/>
            <a:ext cx="8001000" cy="1066800"/>
            <a:chOff x="288" y="2112"/>
            <a:chExt cx="5040" cy="6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AF6524-EB0D-4F2B-8896-23EA9838C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B98082-E167-4E72-B682-773F3566F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4959ED-EA55-4794-986E-FAF52AF25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466ABAC-A2A8-456C-BA56-FD7D76F83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5A38439C-028C-436A-BD57-1BB4CCD2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5FFB05-F90A-4C9F-B715-E01A4EA7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2299D0-2239-4B2B-9366-2FF94146B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E8FAA18-ECC1-4118-801F-2399B8BFE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A185B06-33DF-48FB-A649-456640C60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B4F9755F-D036-4393-BB86-BF1ABA503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C8D84E45-7E50-44BD-8F51-1F1C51F24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6C2C2B7B-6147-47EE-A4FA-81B0A12A0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50DFA4B3-DB7D-4A19-BB78-B4E2B672B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Arc 21">
            <a:extLst>
              <a:ext uri="{FF2B5EF4-FFF2-40B4-BE49-F238E27FC236}">
                <a16:creationId xmlns:a16="http://schemas.microsoft.com/office/drawing/2014/main" id="{BD347647-DE0B-4509-9CE1-9022B036DE32}"/>
              </a:ext>
            </a:extLst>
          </p:cNvPr>
          <p:cNvSpPr/>
          <p:nvPr/>
        </p:nvSpPr>
        <p:spPr>
          <a:xfrm flipV="1">
            <a:off x="3333748" y="5207693"/>
            <a:ext cx="2438398" cy="825715"/>
          </a:xfrm>
          <a:prstGeom prst="arc">
            <a:avLst>
              <a:gd name="adj1" fmla="val 10816075"/>
              <a:gd name="adj2" fmla="val 4345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36F0C9EA-C1EB-4CAC-86FE-34A7B3506A08}"/>
              </a:ext>
            </a:extLst>
          </p:cNvPr>
          <p:cNvSpPr/>
          <p:nvPr/>
        </p:nvSpPr>
        <p:spPr>
          <a:xfrm>
            <a:off x="3927020" y="5739492"/>
            <a:ext cx="1371600" cy="44110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Likes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14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could be multiple relationship sets between the same entity sets</a:t>
            </a:r>
          </a:p>
          <a:p>
            <a:pPr lvl="1"/>
            <a:r>
              <a:rPr lang="en-US" dirty="0"/>
              <a:t>Example: </a:t>
            </a:r>
            <a:r>
              <a:rPr lang="en-US" i="1" dirty="0"/>
              <a:t>Users</a:t>
            </a:r>
            <a:r>
              <a:rPr lang="en-US" dirty="0"/>
              <a:t> </a:t>
            </a:r>
            <a:r>
              <a:rPr lang="en-US" i="1" dirty="0" err="1"/>
              <a:t>IsMemberOf</a:t>
            </a:r>
            <a:r>
              <a:rPr lang="en-US" dirty="0"/>
              <a:t> </a:t>
            </a:r>
            <a:r>
              <a:rPr lang="en-US" i="1" dirty="0"/>
              <a:t>Groups</a:t>
            </a:r>
            <a:r>
              <a:rPr lang="en-US" dirty="0"/>
              <a:t>; </a:t>
            </a:r>
            <a:r>
              <a:rPr lang="en-US" i="1" dirty="0"/>
              <a:t>Users</a:t>
            </a:r>
            <a:r>
              <a:rPr lang="en-US" dirty="0"/>
              <a:t> </a:t>
            </a:r>
            <a:r>
              <a:rPr lang="en-US" i="1" dirty="0"/>
              <a:t>Likes Groups</a:t>
            </a:r>
          </a:p>
          <a:p>
            <a:r>
              <a:rPr lang="en-US" dirty="0"/>
              <a:t>In a relationship set, </a:t>
            </a:r>
            <a:r>
              <a:rPr lang="en-US" dirty="0">
                <a:solidFill>
                  <a:schemeClr val="accent2"/>
                </a:solidFill>
              </a:rPr>
              <a:t>each relationship is uniquely identified by the entities it connects</a:t>
            </a:r>
          </a:p>
          <a:p>
            <a:pPr lvl="1"/>
            <a:r>
              <a:rPr lang="en-US" dirty="0"/>
              <a:t>Example: Between Bart and “Dead Putting Society”, there can be at most one </a:t>
            </a:r>
            <a:r>
              <a:rPr lang="en-US" i="1" dirty="0" err="1"/>
              <a:t>IsMemberOf</a:t>
            </a:r>
            <a:r>
              <a:rPr lang="en-US" dirty="0"/>
              <a:t> relationship and at most one </a:t>
            </a:r>
            <a:r>
              <a:rPr lang="en-US" i="1" dirty="0"/>
              <a:t>Likes</a:t>
            </a:r>
            <a:r>
              <a:rPr lang="en-US" dirty="0"/>
              <a:t> relationship</a:t>
            </a:r>
          </a:p>
          <a:p>
            <a:pPr lvl="1">
              <a:buFont typeface="Wingdings" pitchFamily="2" charset="2"/>
              <a:buChar char="F"/>
            </a:pPr>
            <a:r>
              <a:rPr lang="en-US" dirty="0">
                <a:solidFill>
                  <a:schemeClr val="accent2"/>
                </a:solidFill>
              </a:rPr>
              <a:t>What if Bart joins DPS, leaves, and rejoins? How can we modify the design to capture historical membership information?</a:t>
            </a:r>
          </a:p>
          <a:p>
            <a:pPr lvl="2">
              <a:buFont typeface="Wingdings" pitchFamily="2" charset="2"/>
              <a:buChar char="F"/>
            </a:pPr>
            <a:r>
              <a:rPr lang="en-US" dirty="0"/>
              <a:t>Make an entity set of </a:t>
            </a:r>
            <a:r>
              <a:rPr lang="en-US" i="1" dirty="0" err="1"/>
              <a:t>MembershipRecords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06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 of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/>
                  <a:t>: entity sets</a:t>
                </a:r>
                <a:endParaRPr lang="en-US" sz="2600" i="1" dirty="0"/>
              </a:p>
              <a:p>
                <a:pPr>
                  <a:lnSpc>
                    <a:spcPct val="100000"/>
                  </a:lnSpc>
                </a:pPr>
                <a:r>
                  <a:rPr lang="en-US" sz="2600" dirty="0">
                    <a:solidFill>
                      <a:schemeClr val="accent2"/>
                    </a:solidFill>
                  </a:rPr>
                  <a:t>Many-many</a:t>
                </a:r>
                <a:r>
                  <a:rPr lang="en-US" sz="2600" dirty="0"/>
                  <a:t>: Each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600" dirty="0"/>
                  <a:t> is related to 0 or more entities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/>
                  <a:t> and vice versa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Example:</a:t>
                </a:r>
                <a:endParaRPr lang="en-US" sz="2600" i="1" dirty="0"/>
              </a:p>
              <a:p>
                <a:pPr>
                  <a:lnSpc>
                    <a:spcPct val="100000"/>
                  </a:lnSpc>
                </a:pPr>
                <a:r>
                  <a:rPr lang="en-US" sz="2600" dirty="0">
                    <a:solidFill>
                      <a:schemeClr val="accent2"/>
                    </a:solidFill>
                  </a:rPr>
                  <a:t>Many-one</a:t>
                </a:r>
                <a:r>
                  <a:rPr lang="en-US" sz="2600" dirty="0"/>
                  <a:t>: Each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600" dirty="0"/>
                  <a:t> is related to 0 or 1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/>
                  <a:t>, but each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/>
                  <a:t> is related to 0 or more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2600" i="1" dirty="0"/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Example:</a:t>
                </a:r>
                <a:endParaRPr lang="en-US" sz="2600" i="1" dirty="0"/>
              </a:p>
              <a:p>
                <a:pPr>
                  <a:lnSpc>
                    <a:spcPct val="100000"/>
                  </a:lnSpc>
                </a:pPr>
                <a:r>
                  <a:rPr lang="en-US" sz="2600" dirty="0">
                    <a:solidFill>
                      <a:schemeClr val="accent2"/>
                    </a:solidFill>
                  </a:rPr>
                  <a:t>One-one</a:t>
                </a:r>
                <a:r>
                  <a:rPr lang="en-US" sz="2600" dirty="0"/>
                  <a:t>: Each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600" dirty="0"/>
                  <a:t> is related to 0 or 1 entity in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/>
                  <a:t> and vice versa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Example: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600" dirty="0"/>
                  <a:t>“One” (0 or 1) is represented by an arrow</a:t>
                </a:r>
              </a:p>
              <a:p>
                <a:pPr>
                  <a:lnSpc>
                    <a:spcPct val="100000"/>
                  </a:lnSpc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19" t="-926" b="-6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6668157" y="6425327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CD1C78-E370-4E26-AF8B-90BD7434185E}"/>
              </a:ext>
            </a:extLst>
          </p:cNvPr>
          <p:cNvGrpSpPr/>
          <p:nvPr/>
        </p:nvGrpSpPr>
        <p:grpSpPr>
          <a:xfrm>
            <a:off x="4748331" y="2563489"/>
            <a:ext cx="3976147" cy="565669"/>
            <a:chOff x="4748331" y="2563489"/>
            <a:chExt cx="3976147" cy="56566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0FB1A6-81AE-4F80-824A-E172B44CE3CA}"/>
                </a:ext>
              </a:extLst>
            </p:cNvPr>
            <p:cNvSpPr/>
            <p:nvPr/>
          </p:nvSpPr>
          <p:spPr>
            <a:xfrm>
              <a:off x="4748331" y="2656269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Users</a:t>
              </a:r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B418085C-8903-429D-9598-7A300EA1E17B}"/>
                </a:ext>
              </a:extLst>
            </p:cNvPr>
            <p:cNvSpPr/>
            <p:nvPr/>
          </p:nvSpPr>
          <p:spPr>
            <a:xfrm>
              <a:off x="6252857" y="2563489"/>
              <a:ext cx="1034144" cy="565669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11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E92136-B2E8-4122-8151-B934736EFA34}"/>
                </a:ext>
              </a:extLst>
            </p:cNvPr>
            <p:cNvSpPr/>
            <p:nvPr/>
          </p:nvSpPr>
          <p:spPr>
            <a:xfrm>
              <a:off x="7658757" y="2652423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Groups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F66AB3-D0D5-40B0-AAE3-448FBB374E72}"/>
                </a:ext>
              </a:extLst>
            </p:cNvPr>
            <p:cNvCxnSpPr>
              <a:cxnSpLocks/>
              <a:stCxn id="11" idx="3"/>
              <a:endCxn id="39" idx="1"/>
            </p:cNvCxnSpPr>
            <p:nvPr/>
          </p:nvCxnSpPr>
          <p:spPr>
            <a:xfrm>
              <a:off x="5814052" y="2846324"/>
              <a:ext cx="43880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B7529F-1ED2-483B-A61C-976793E0E20A}"/>
                </a:ext>
              </a:extLst>
            </p:cNvPr>
            <p:cNvCxnSpPr>
              <a:cxnSpLocks/>
              <a:stCxn id="39" idx="3"/>
              <a:endCxn id="41" idx="1"/>
            </p:cNvCxnSpPr>
            <p:nvPr/>
          </p:nvCxnSpPr>
          <p:spPr>
            <a:xfrm flipV="1">
              <a:off x="7287001" y="2842478"/>
              <a:ext cx="371756" cy="384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458D8DD-7BF2-47B1-A9CB-E084C2D581DC}"/>
                </a:ext>
              </a:extLst>
            </p:cNvPr>
            <p:cNvSpPr/>
            <p:nvPr/>
          </p:nvSpPr>
          <p:spPr>
            <a:xfrm>
              <a:off x="6279621" y="2698411"/>
              <a:ext cx="96372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200" i="1" dirty="0" err="1"/>
                <a:t>IsMemberOf</a:t>
              </a:r>
              <a:endParaRPr lang="en-CA" sz="1200" i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A387F9F-29DE-4C46-81F4-A313A9316C93}"/>
              </a:ext>
            </a:extLst>
          </p:cNvPr>
          <p:cNvGrpSpPr/>
          <p:nvPr/>
        </p:nvGrpSpPr>
        <p:grpSpPr>
          <a:xfrm>
            <a:off x="4713468" y="4138170"/>
            <a:ext cx="3976147" cy="565669"/>
            <a:chOff x="4748331" y="2563489"/>
            <a:chExt cx="3976147" cy="56566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7125489-7803-43D6-819E-70E3A429626A}"/>
                </a:ext>
              </a:extLst>
            </p:cNvPr>
            <p:cNvSpPr/>
            <p:nvPr/>
          </p:nvSpPr>
          <p:spPr>
            <a:xfrm>
              <a:off x="4748331" y="2656269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Groups</a:t>
              </a:r>
            </a:p>
          </p:txBody>
        </p:sp>
        <p:sp>
          <p:nvSpPr>
            <p:cNvPr id="47" name="Diamond 46">
              <a:extLst>
                <a:ext uri="{FF2B5EF4-FFF2-40B4-BE49-F238E27FC236}">
                  <a16:creationId xmlns:a16="http://schemas.microsoft.com/office/drawing/2014/main" id="{A1818FFC-E81C-4D7E-A2E0-6DB85F0DB0CC}"/>
                </a:ext>
              </a:extLst>
            </p:cNvPr>
            <p:cNvSpPr/>
            <p:nvPr/>
          </p:nvSpPr>
          <p:spPr>
            <a:xfrm>
              <a:off x="6252857" y="2563489"/>
              <a:ext cx="1034144" cy="565669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11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6BEFEC-3797-4A2B-A46C-A4A13FB25D9D}"/>
                </a:ext>
              </a:extLst>
            </p:cNvPr>
            <p:cNvSpPr/>
            <p:nvPr/>
          </p:nvSpPr>
          <p:spPr>
            <a:xfrm>
              <a:off x="7658757" y="2652423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Users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6920FAC-4E56-41C8-980E-D09DAFEA5130}"/>
                </a:ext>
              </a:extLst>
            </p:cNvPr>
            <p:cNvCxnSpPr>
              <a:cxnSpLocks/>
              <a:stCxn id="46" idx="3"/>
              <a:endCxn id="47" idx="1"/>
            </p:cNvCxnSpPr>
            <p:nvPr/>
          </p:nvCxnSpPr>
          <p:spPr>
            <a:xfrm>
              <a:off x="5814052" y="2846324"/>
              <a:ext cx="438805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BEA34D7-1884-458B-A137-B298EF88F5AF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 flipV="1">
              <a:off x="7287001" y="2842478"/>
              <a:ext cx="371756" cy="384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0D8B40A-DCB2-4F83-8691-37A65E659B05}"/>
                </a:ext>
              </a:extLst>
            </p:cNvPr>
            <p:cNvSpPr/>
            <p:nvPr/>
          </p:nvSpPr>
          <p:spPr>
            <a:xfrm>
              <a:off x="6318094" y="2698411"/>
              <a:ext cx="88678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200" i="1" dirty="0" err="1"/>
                <a:t>IsOwnedBy</a:t>
              </a:r>
              <a:endParaRPr lang="en-CA" sz="1200" i="1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B00D704-C85B-47CD-A409-D9007624D595}"/>
              </a:ext>
            </a:extLst>
          </p:cNvPr>
          <p:cNvGrpSpPr/>
          <p:nvPr/>
        </p:nvGrpSpPr>
        <p:grpSpPr>
          <a:xfrm>
            <a:off x="4665280" y="5367363"/>
            <a:ext cx="4059198" cy="565669"/>
            <a:chOff x="4748331" y="2563489"/>
            <a:chExt cx="4059198" cy="56566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3ED6DF-1F1E-4E3C-98D5-4F5B1DE0660F}"/>
                </a:ext>
              </a:extLst>
            </p:cNvPr>
            <p:cNvSpPr/>
            <p:nvPr/>
          </p:nvSpPr>
          <p:spPr>
            <a:xfrm>
              <a:off x="4748331" y="2656269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Users</a:t>
              </a:r>
            </a:p>
          </p:txBody>
        </p:sp>
        <p:sp>
          <p:nvSpPr>
            <p:cNvPr id="54" name="Diamond 53">
              <a:extLst>
                <a:ext uri="{FF2B5EF4-FFF2-40B4-BE49-F238E27FC236}">
                  <a16:creationId xmlns:a16="http://schemas.microsoft.com/office/drawing/2014/main" id="{269F7AF0-64B7-45D0-9707-0F02D52B565D}"/>
                </a:ext>
              </a:extLst>
            </p:cNvPr>
            <p:cNvSpPr/>
            <p:nvPr/>
          </p:nvSpPr>
          <p:spPr>
            <a:xfrm>
              <a:off x="6252857" y="2563489"/>
              <a:ext cx="1034144" cy="565669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11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140E5AF-E2B6-4910-AA89-8DA88D95D81E}"/>
                </a:ext>
              </a:extLst>
            </p:cNvPr>
            <p:cNvSpPr/>
            <p:nvPr/>
          </p:nvSpPr>
          <p:spPr>
            <a:xfrm>
              <a:off x="7658757" y="2652423"/>
              <a:ext cx="1148772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1400" i="1" dirty="0" err="1"/>
                <a:t>TwitterUsers</a:t>
              </a:r>
              <a:endParaRPr lang="en-CA" sz="1400" i="1" dirty="0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1F3E722-FE9B-425A-8358-82D029E51199}"/>
                </a:ext>
              </a:extLst>
            </p:cNvPr>
            <p:cNvCxnSpPr>
              <a:cxnSpLocks/>
              <a:stCxn id="53" idx="3"/>
              <a:endCxn id="54" idx="1"/>
            </p:cNvCxnSpPr>
            <p:nvPr/>
          </p:nvCxnSpPr>
          <p:spPr>
            <a:xfrm>
              <a:off x="5814052" y="2846324"/>
              <a:ext cx="438805" cy="0"/>
            </a:xfrm>
            <a:prstGeom prst="line">
              <a:avLst/>
            </a:pr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1D92F0D-C89F-4C5C-B416-2A242C663C7D}"/>
                </a:ext>
              </a:extLst>
            </p:cNvPr>
            <p:cNvCxnSpPr>
              <a:cxnSpLocks/>
              <a:stCxn id="54" idx="3"/>
              <a:endCxn id="55" idx="1"/>
            </p:cNvCxnSpPr>
            <p:nvPr/>
          </p:nvCxnSpPr>
          <p:spPr>
            <a:xfrm flipV="1">
              <a:off x="7287001" y="2842478"/>
              <a:ext cx="371756" cy="3846"/>
            </a:xfrm>
            <a:prstGeom prst="line">
              <a:avLst/>
            </a:prstGeom>
            <a:ln w="12700"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ECA3F9A-DBB1-4DE9-A7C9-C188F43AFD98}"/>
                </a:ext>
              </a:extLst>
            </p:cNvPr>
            <p:cNvSpPr/>
            <p:nvPr/>
          </p:nvSpPr>
          <p:spPr>
            <a:xfrm>
              <a:off x="6332875" y="2698411"/>
              <a:ext cx="85722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200" i="1" dirty="0" err="1"/>
                <a:t>IsLinkedTo</a:t>
              </a:r>
              <a:endParaRPr lang="en-CA" sz="1200" i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401943-D836-452A-BA07-8C92CA439724}"/>
                  </a:ext>
                </a:extLst>
              </p:cNvPr>
              <p:cNvSpPr/>
              <p:nvPr/>
            </p:nvSpPr>
            <p:spPr>
              <a:xfrm>
                <a:off x="5137445" y="2991241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401943-D836-452A-BA07-8C92CA439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445" y="2991241"/>
                <a:ext cx="3876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2236B5E-F616-44CF-85BB-30B2BDCD29BC}"/>
                  </a:ext>
                </a:extLst>
              </p:cNvPr>
              <p:cNvSpPr/>
              <p:nvPr/>
            </p:nvSpPr>
            <p:spPr>
              <a:xfrm>
                <a:off x="7984061" y="2988519"/>
                <a:ext cx="384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2236B5E-F616-44CF-85BB-30B2BDCD2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061" y="2988519"/>
                <a:ext cx="3844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ED988A8-F5E2-481D-87A6-4CBD8FAC0AD8}"/>
                  </a:ext>
                </a:extLst>
              </p:cNvPr>
              <p:cNvSpPr/>
              <p:nvPr/>
            </p:nvSpPr>
            <p:spPr>
              <a:xfrm>
                <a:off x="5134723" y="4556061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ED988A8-F5E2-481D-87A6-4CBD8FAC0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723" y="4556061"/>
                <a:ext cx="3876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4A9A431-2E69-4175-AFED-436CD8550EE6}"/>
                  </a:ext>
                </a:extLst>
              </p:cNvPr>
              <p:cNvSpPr/>
              <p:nvPr/>
            </p:nvSpPr>
            <p:spPr>
              <a:xfrm>
                <a:off x="7981339" y="4553339"/>
                <a:ext cx="384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4A9A431-2E69-4175-AFED-436CD8550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39" y="4553339"/>
                <a:ext cx="3844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D99713B-343B-4CEB-B96A-CAA2EC664494}"/>
                  </a:ext>
                </a:extLst>
              </p:cNvPr>
              <p:cNvSpPr/>
              <p:nvPr/>
            </p:nvSpPr>
            <p:spPr>
              <a:xfrm>
                <a:off x="5107511" y="5794312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D99713B-343B-4CEB-B96A-CAA2EC6644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511" y="5794312"/>
                <a:ext cx="38767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2BE8DA7-CBBC-4AF2-8EAE-69F0D93E5274}"/>
                  </a:ext>
                </a:extLst>
              </p:cNvPr>
              <p:cNvSpPr/>
              <p:nvPr/>
            </p:nvSpPr>
            <p:spPr>
              <a:xfrm>
                <a:off x="7954127" y="5791590"/>
                <a:ext cx="384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2BE8DA7-CBBC-4AF2-8EAE-69F0D93E5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127" y="5791590"/>
                <a:ext cx="38446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4625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/>
      <p:bldP spid="30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5FB3A-8113-45F4-8F88-FBD6A426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 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CABC9-FD4C-4391-9D73-7006249B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cardinality constraints determine </a:t>
            </a:r>
            <a:r>
              <a:rPr lang="en-US" dirty="0">
                <a:solidFill>
                  <a:schemeClr val="accent2"/>
                </a:solidFill>
              </a:rPr>
              <a:t>lower and upper</a:t>
            </a:r>
            <a:r>
              <a:rPr lang="en-US" dirty="0"/>
              <a:t> bounds on the number of relationships of a given relationship set in which a component </a:t>
            </a:r>
            <a:r>
              <a:rPr lang="en-CA" dirty="0"/>
              <a:t>entity may participate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0B85-1492-4066-B354-75930018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9A1D9-830E-4F1F-B791-9D16977BC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47" y="3006512"/>
            <a:ext cx="5127041" cy="1426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D8D8C-6D9A-49F5-9E0D-43373D625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794" y="4547739"/>
            <a:ext cx="6239341" cy="112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76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in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entity set may participate more than once in a relationship set</a:t>
            </a:r>
          </a:p>
          <a:p>
            <a:pPr>
              <a:buFont typeface="Wingdings" pitchFamily="2" charset="2"/>
              <a:buChar char="F"/>
            </a:pPr>
            <a:r>
              <a:rPr lang="en-US" dirty="0"/>
              <a:t>May need to label edges to distinguish </a:t>
            </a:r>
            <a:r>
              <a:rPr lang="en-US" dirty="0">
                <a:solidFill>
                  <a:schemeClr val="accent2"/>
                </a:solidFill>
              </a:rPr>
              <a:t>roles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Users may be parents of others; label needed</a:t>
            </a:r>
          </a:p>
          <a:p>
            <a:pPr lvl="1"/>
            <a:r>
              <a:rPr lang="en-US" dirty="0"/>
              <a:t>Users may be friends of each other; label not needed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3886200" y="4743451"/>
            <a:ext cx="3086100" cy="1350963"/>
            <a:chOff x="2448" y="2988"/>
            <a:chExt cx="1944" cy="851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448" y="3272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3456" y="3224"/>
              <a:ext cx="936" cy="384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IsParentOf</a:t>
              </a:r>
              <a:endParaRPr lang="en-US" i="1" dirty="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072" y="3168"/>
              <a:ext cx="624" cy="152"/>
            </a:xfrm>
            <a:custGeom>
              <a:avLst/>
              <a:gdLst>
                <a:gd name="T0" fmla="*/ 0 w 624"/>
                <a:gd name="T1" fmla="*/ 104 h 152"/>
                <a:gd name="T2" fmla="*/ 288 w 624"/>
                <a:gd name="T3" fmla="*/ 8 h 152"/>
                <a:gd name="T4" fmla="*/ 624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 flipV="1">
              <a:off x="3072" y="3512"/>
              <a:ext cx="624" cy="152"/>
            </a:xfrm>
            <a:custGeom>
              <a:avLst/>
              <a:gdLst>
                <a:gd name="T0" fmla="*/ 0 w 624"/>
                <a:gd name="T1" fmla="*/ 104 h 152"/>
                <a:gd name="T2" fmla="*/ 288 w 624"/>
                <a:gd name="T3" fmla="*/ 8 h 152"/>
                <a:gd name="T4" fmla="*/ 624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095" y="2988"/>
              <a:ext cx="515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1800" i="1" dirty="0">
                  <a:latin typeface="+mn-lt"/>
                </a:rPr>
                <a:t>parent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3165" y="3606"/>
              <a:ext cx="399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1800" i="1" dirty="0">
                  <a:latin typeface="+mn-lt"/>
                </a:rPr>
                <a:t>child</a:t>
              </a:r>
            </a:p>
          </p:txBody>
        </p: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1785938" y="4940300"/>
            <a:ext cx="2100262" cy="939800"/>
            <a:chOff x="1125" y="3112"/>
            <a:chExt cx="1323" cy="592"/>
          </a:xfrm>
        </p:grpSpPr>
        <p:sp>
          <p:nvSpPr>
            <p:cNvPr id="13" name="AutoShape 21"/>
            <p:cNvSpPr>
              <a:spLocks noChangeArrowheads="1"/>
            </p:cNvSpPr>
            <p:nvPr/>
          </p:nvSpPr>
          <p:spPr bwMode="auto">
            <a:xfrm>
              <a:off x="1125" y="3215"/>
              <a:ext cx="1008" cy="384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IsFriendOf</a:t>
              </a:r>
              <a:endParaRPr lang="en-US" i="1" dirty="0"/>
            </a:p>
          </p:txBody>
        </p:sp>
        <p:sp>
          <p:nvSpPr>
            <p:cNvPr id="14" name="Freeform 29"/>
            <p:cNvSpPr>
              <a:spLocks/>
            </p:cNvSpPr>
            <p:nvPr/>
          </p:nvSpPr>
          <p:spPr bwMode="auto">
            <a:xfrm>
              <a:off x="1632" y="3112"/>
              <a:ext cx="816" cy="152"/>
            </a:xfrm>
            <a:custGeom>
              <a:avLst/>
              <a:gdLst>
                <a:gd name="T0" fmla="*/ 0 w 624"/>
                <a:gd name="T1" fmla="*/ 104 h 152"/>
                <a:gd name="T2" fmla="*/ 7204 w 624"/>
                <a:gd name="T3" fmla="*/ 8 h 152"/>
                <a:gd name="T4" fmla="*/ 15597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3"/>
            <p:cNvSpPr>
              <a:spLocks/>
            </p:cNvSpPr>
            <p:nvPr/>
          </p:nvSpPr>
          <p:spPr bwMode="auto">
            <a:xfrm flipV="1">
              <a:off x="1632" y="3552"/>
              <a:ext cx="816" cy="152"/>
            </a:xfrm>
            <a:custGeom>
              <a:avLst/>
              <a:gdLst>
                <a:gd name="T0" fmla="*/ 0 w 624"/>
                <a:gd name="T1" fmla="*/ 104 h 152"/>
                <a:gd name="T2" fmla="*/ 7204 w 624"/>
                <a:gd name="T3" fmla="*/ 8 h 152"/>
                <a:gd name="T4" fmla="*/ 15597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647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two special relationships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07" t="2581" r="999" b="1559"/>
          <a:stretch/>
        </p:blipFill>
        <p:spPr>
          <a:xfrm>
            <a:off x="4393094" y="3304760"/>
            <a:ext cx="4164497" cy="30314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70" y="6437053"/>
            <a:ext cx="88756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Prestige12 BT" panose="02070509030506020304" pitchFamily="49" charset="0"/>
              </a:rPr>
              <a:t>http://blogs.library.duke.edu/renovation/files/2012/08/Rubenstein-Library-First-Floor-Floorplan.jpg</a:t>
            </a:r>
            <a:br>
              <a:rPr lang="en-US" sz="1050" dirty="0">
                <a:latin typeface="Prestige12 BT" panose="02070509030506020304" pitchFamily="49" charset="0"/>
              </a:rPr>
            </a:br>
            <a:r>
              <a:rPr lang="en-US" sz="1050" dirty="0">
                <a:latin typeface="Prestige12 BT" panose="02070509030506020304" pitchFamily="49" charset="0"/>
              </a:rPr>
              <a:t>http://www.sharky-jones.com/Sharkyjones/Artwork/taxonomy%20artwork/Class1.jpg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87" r="9932" b="3127"/>
          <a:stretch/>
        </p:blipFill>
        <p:spPr>
          <a:xfrm>
            <a:off x="695739" y="1103243"/>
            <a:ext cx="3488635" cy="2976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504" y="1456855"/>
            <a:ext cx="4105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 is part of/belongs to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6599" y="4925967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 is a kind of …</a:t>
            </a:r>
          </a:p>
        </p:txBody>
      </p:sp>
    </p:spTree>
    <p:extLst>
      <p:ext uri="{BB962C8B-B14F-4D97-AF65-F5344CB8AC3E}">
        <p14:creationId xmlns:p14="http://schemas.microsoft.com/office/powerpoint/2010/main" val="395813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If entity E is existence dependent on entity F, then </a:t>
            </a:r>
          </a:p>
          <a:p>
            <a:pPr lvl="1"/>
            <a:r>
              <a:rPr lang="en-US" dirty="0"/>
              <a:t>F is a dominant entity</a:t>
            </a:r>
          </a:p>
          <a:p>
            <a:pPr lvl="1"/>
            <a:r>
              <a:rPr lang="en-US" dirty="0"/>
              <a:t>E is a subordinate entity </a:t>
            </a:r>
          </a:p>
          <a:p>
            <a:pPr lvl="1"/>
            <a:r>
              <a:rPr lang="en-US" dirty="0"/>
              <a:t>Example: </a:t>
            </a:r>
            <a:r>
              <a:rPr lang="en-US" i="1" dirty="0"/>
              <a:t>Rooms</a:t>
            </a:r>
            <a:r>
              <a:rPr lang="en-US" dirty="0"/>
              <a:t> inside </a:t>
            </a:r>
            <a:r>
              <a:rPr lang="en-US" i="1" dirty="0"/>
              <a:t>Buildings</a:t>
            </a:r>
            <a:r>
              <a:rPr lang="en-US" dirty="0"/>
              <a:t> are partly identified by </a:t>
            </a:r>
            <a:r>
              <a:rPr lang="en-US" i="1" dirty="0"/>
              <a:t>Buildings</a:t>
            </a:r>
            <a:r>
              <a:rPr lang="en-US" dirty="0"/>
              <a:t>’ name</a:t>
            </a:r>
          </a:p>
          <a:p>
            <a:pPr lvl="1"/>
            <a:endParaRPr lang="en-US" dirty="0"/>
          </a:p>
          <a:p>
            <a:r>
              <a:rPr lang="en-US" dirty="0"/>
              <a:t>Weak entity set: containing subordinate entities</a:t>
            </a:r>
          </a:p>
          <a:p>
            <a:pPr lvl="1"/>
            <a:r>
              <a:rPr lang="en-US" dirty="0"/>
              <a:t>Drawn as a double rectangle</a:t>
            </a:r>
          </a:p>
          <a:p>
            <a:pPr lvl="1"/>
            <a:r>
              <a:rPr lang="en-US" dirty="0"/>
              <a:t>The relationship sets are called </a:t>
            </a:r>
            <a:r>
              <a:rPr lang="en-US" dirty="0">
                <a:solidFill>
                  <a:schemeClr val="accent2"/>
                </a:solidFill>
              </a:rPr>
              <a:t>supporting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relationship sets</a:t>
            </a:r>
            <a:r>
              <a:rPr lang="en-US" dirty="0"/>
              <a:t>, drawn as double diamonds</a:t>
            </a:r>
          </a:p>
          <a:p>
            <a:pPr lvl="1"/>
            <a:r>
              <a:rPr lang="en-US" dirty="0"/>
              <a:t>A weak entity set must have a </a:t>
            </a:r>
            <a:r>
              <a:rPr lang="en-US" dirty="0">
                <a:solidFill>
                  <a:schemeClr val="accent2"/>
                </a:solidFill>
              </a:rPr>
              <a:t>many-to-one or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one-to-one </a:t>
            </a:r>
            <a:r>
              <a:rPr lang="en-US" dirty="0"/>
              <a:t>relationship to a distinct entity set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Strong entity set: containing no subordinate entities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7312477" y="5131768"/>
            <a:ext cx="1524000" cy="609600"/>
            <a:chOff x="3744" y="3168"/>
            <a:chExt cx="960" cy="384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744" y="3168"/>
              <a:ext cx="960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792" y="3216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Rooms</a:t>
              </a:r>
            </a:p>
          </p:txBody>
        </p:sp>
      </p:grpSp>
      <p:sp>
        <p:nvSpPr>
          <p:cNvPr id="24" name="Line 6">
            <a:extLst>
              <a:ext uri="{FF2B5EF4-FFF2-40B4-BE49-F238E27FC236}">
                <a16:creationId xmlns:a16="http://schemas.microsoft.com/office/drawing/2014/main" id="{05A2998E-719E-4407-9F5D-58A5683EEF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8149" y="3835975"/>
            <a:ext cx="0" cy="36467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3821C8-0EFA-4B5C-AB41-D352F1D9A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955" y="3378776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Buildings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A62F68-BC7E-4134-975A-13F2E50D50B8}"/>
              </a:ext>
            </a:extLst>
          </p:cNvPr>
          <p:cNvGrpSpPr/>
          <p:nvPr/>
        </p:nvGrpSpPr>
        <p:grpSpPr>
          <a:xfrm>
            <a:off x="7500255" y="4200647"/>
            <a:ext cx="1143000" cy="609600"/>
            <a:chOff x="7203621" y="4260519"/>
            <a:chExt cx="1143000" cy="609600"/>
          </a:xfrm>
        </p:grpSpPr>
        <p:sp>
          <p:nvSpPr>
            <p:cNvPr id="23" name="AutoShape 5">
              <a:extLst>
                <a:ext uri="{FF2B5EF4-FFF2-40B4-BE49-F238E27FC236}">
                  <a16:creationId xmlns:a16="http://schemas.microsoft.com/office/drawing/2014/main" id="{9ED02D03-5C05-4946-8113-06DD0E918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3621" y="4260519"/>
              <a:ext cx="1143000" cy="6096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 dirty="0"/>
            </a:p>
          </p:txBody>
        </p:sp>
        <p:sp>
          <p:nvSpPr>
            <p:cNvPr id="27" name="AutoShape 9">
              <a:extLst>
                <a:ext uri="{FF2B5EF4-FFF2-40B4-BE49-F238E27FC236}">
                  <a16:creationId xmlns:a16="http://schemas.microsoft.com/office/drawing/2014/main" id="{738FF59D-9A1B-47F8-836A-A52749E68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6021" y="4336719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48300B-BC51-4C99-9771-65F9CD93F81A}"/>
              </a:ext>
            </a:extLst>
          </p:cNvPr>
          <p:cNvCxnSpPr>
            <a:stCxn id="6" idx="0"/>
            <a:endCxn id="23" idx="2"/>
          </p:cNvCxnSpPr>
          <p:nvPr/>
        </p:nvCxnSpPr>
        <p:spPr>
          <a:xfrm flipH="1" flipV="1">
            <a:off x="8071755" y="4810247"/>
            <a:ext cx="2722" cy="321521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4B61737-DDB3-4AAD-866F-1E5FBB425897}"/>
              </a:ext>
            </a:extLst>
          </p:cNvPr>
          <p:cNvSpPr/>
          <p:nvPr/>
        </p:nvSpPr>
        <p:spPr>
          <a:xfrm>
            <a:off x="7902142" y="4315178"/>
            <a:ext cx="360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In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53F827C8-DCA0-478C-8D24-9458434472DF}"/>
              </a:ext>
            </a:extLst>
          </p:cNvPr>
          <p:cNvSpPr/>
          <p:nvPr/>
        </p:nvSpPr>
        <p:spPr>
          <a:xfrm>
            <a:off x="6470528" y="4255436"/>
            <a:ext cx="1029727" cy="596844"/>
          </a:xfrm>
          <a:prstGeom prst="wedgeRoundRectCallout">
            <a:avLst>
              <a:gd name="adj1" fmla="val 91133"/>
              <a:gd name="adj2" fmla="val 56023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Implies (1,1)</a:t>
            </a:r>
            <a:endParaRPr lang="en-CA" sz="11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485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32" grpId="0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 set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Seats in rooms in building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Attributes of weak entity sets only form key relative to a given dominant entity </a:t>
            </a:r>
            <a:r>
              <a:rPr lang="en-US" sz="2400" dirty="0">
                <a:sym typeface="Wingdings" panose="05000000000000000000" pitchFamily="2" charset="2"/>
              </a:rPr>
              <a:t> discriminator (</a:t>
            </a:r>
            <a:r>
              <a:rPr lang="en-US" sz="2400" dirty="0">
                <a:solidFill>
                  <a:schemeClr val="accent2"/>
                </a:solidFill>
                <a:sym typeface="Wingdings" panose="05000000000000000000" pitchFamily="2" charset="2"/>
              </a:rPr>
              <a:t>dotted underline</a:t>
            </a:r>
            <a:r>
              <a:rPr lang="en-US" sz="2400" dirty="0">
                <a:sym typeface="Wingdings" panose="05000000000000000000" pitchFamily="2" charset="2"/>
              </a:rPr>
              <a:t>)</a:t>
            </a:r>
          </a:p>
          <a:p>
            <a:r>
              <a:rPr lang="en-US" sz="2400" dirty="0">
                <a:sym typeface="Wingdings" panose="05000000000000000000" pitchFamily="2" charset="2"/>
              </a:rPr>
              <a:t>Primary key of a weak entity set: discriminator + primary key of entity set for dominant entities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4600" y="22860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Rooms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962400" y="22098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505200" y="2514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105400" y="2514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62600" y="22860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Buildings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4114800" y="22860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590800" y="23622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7086600" y="1981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086600" y="2590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year</a:t>
            </a:r>
          </a:p>
        </p:txBody>
      </p:sp>
      <p:sp>
        <p:nvSpPr>
          <p:cNvPr id="14" name="Oval 18"/>
          <p:cNvSpPr>
            <a:spLocks noChangeArrowheads="1"/>
          </p:cNvSpPr>
          <p:nvPr/>
        </p:nvSpPr>
        <p:spPr bwMode="auto">
          <a:xfrm>
            <a:off x="1066800" y="1981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Rnumber</a:t>
            </a:r>
            <a:endParaRPr lang="en-US" i="1" dirty="0"/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1066800" y="2590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capacity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2133600" y="2209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>
            <a:off x="2133600" y="2590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4"/>
          <p:cNvSpPr>
            <a:spLocks noChangeShapeType="1"/>
          </p:cNvSpPr>
          <p:nvPr/>
        </p:nvSpPr>
        <p:spPr bwMode="auto">
          <a:xfrm flipV="1">
            <a:off x="6781800" y="2209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>
            <a:off x="6781800" y="2590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AutoShape 26"/>
          <p:cNvSpPr>
            <a:spLocks noChangeArrowheads="1"/>
          </p:cNvSpPr>
          <p:nvPr/>
        </p:nvSpPr>
        <p:spPr bwMode="auto">
          <a:xfrm>
            <a:off x="2438400" y="32004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1" name="AutoShape 27"/>
          <p:cNvSpPr>
            <a:spLocks noChangeArrowheads="1"/>
          </p:cNvSpPr>
          <p:nvPr/>
        </p:nvSpPr>
        <p:spPr bwMode="auto">
          <a:xfrm>
            <a:off x="2590800" y="32766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2514600" y="4267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Seats</a:t>
            </a:r>
          </a:p>
        </p:txBody>
      </p:sp>
      <p:sp>
        <p:nvSpPr>
          <p:cNvPr id="23" name="Rectangle 29"/>
          <p:cNvSpPr>
            <a:spLocks noChangeArrowheads="1"/>
          </p:cNvSpPr>
          <p:nvPr/>
        </p:nvSpPr>
        <p:spPr bwMode="auto">
          <a:xfrm>
            <a:off x="2590800" y="43434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>
            <a:off x="3014663" y="2743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>
            <a:off x="3016250" y="3810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34"/>
          <p:cNvSpPr>
            <a:spLocks noChangeArrowheads="1"/>
          </p:cNvSpPr>
          <p:nvPr/>
        </p:nvSpPr>
        <p:spPr bwMode="auto">
          <a:xfrm>
            <a:off x="1066800" y="3962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Snumber</a:t>
            </a:r>
            <a:endParaRPr lang="en-US" i="1" dirty="0"/>
          </a:p>
        </p:txBody>
      </p:sp>
      <p:sp>
        <p:nvSpPr>
          <p:cNvPr id="27" name="Oval 35"/>
          <p:cNvSpPr>
            <a:spLocks noChangeArrowheads="1"/>
          </p:cNvSpPr>
          <p:nvPr/>
        </p:nvSpPr>
        <p:spPr bwMode="auto">
          <a:xfrm>
            <a:off x="1066800" y="4572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L/R?</a:t>
            </a:r>
          </a:p>
        </p:txBody>
      </p:sp>
      <p:sp>
        <p:nvSpPr>
          <p:cNvPr id="28" name="Line 36"/>
          <p:cNvSpPr>
            <a:spLocks noChangeShapeType="1"/>
          </p:cNvSpPr>
          <p:nvPr/>
        </p:nvSpPr>
        <p:spPr bwMode="auto">
          <a:xfrm>
            <a:off x="2133600" y="4191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7"/>
          <p:cNvSpPr>
            <a:spLocks noChangeShapeType="1"/>
          </p:cNvSpPr>
          <p:nvPr/>
        </p:nvSpPr>
        <p:spPr bwMode="auto">
          <a:xfrm flipH="1">
            <a:off x="2133600" y="4572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C62DD5-9155-4838-9612-F187AE37C8DE}"/>
              </a:ext>
            </a:extLst>
          </p:cNvPr>
          <p:cNvCxnSpPr>
            <a:stCxn id="7" idx="0"/>
            <a:endCxn id="6" idx="1"/>
          </p:cNvCxnSpPr>
          <p:nvPr/>
        </p:nvCxnSpPr>
        <p:spPr>
          <a:xfrm>
            <a:off x="3505200" y="25146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771E4D-8774-4AE6-BCF3-1B7F901B0862}"/>
              </a:ext>
            </a:extLst>
          </p:cNvPr>
          <p:cNvCxnSpPr>
            <a:stCxn id="25" idx="1"/>
            <a:endCxn id="20" idx="2"/>
          </p:cNvCxnSpPr>
          <p:nvPr/>
        </p:nvCxnSpPr>
        <p:spPr>
          <a:xfrm flipH="1" flipV="1">
            <a:off x="3009900" y="3810000"/>
            <a:ext cx="6351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5ED7B3-D717-4823-82A3-3A9DF1ECCA85}"/>
              </a:ext>
            </a:extLst>
          </p:cNvPr>
          <p:cNvCxnSpPr>
            <a:cxnSpLocks/>
          </p:cNvCxnSpPr>
          <p:nvPr/>
        </p:nvCxnSpPr>
        <p:spPr>
          <a:xfrm flipV="1">
            <a:off x="1239357" y="2346953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705B5F4-7368-4CE5-8C05-7FDC17F9220A}"/>
              </a:ext>
            </a:extLst>
          </p:cNvPr>
          <p:cNvCxnSpPr>
            <a:cxnSpLocks/>
          </p:cNvCxnSpPr>
          <p:nvPr/>
        </p:nvCxnSpPr>
        <p:spPr>
          <a:xfrm flipV="1">
            <a:off x="1261129" y="4319995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70282AB-F6CF-4BEE-BFB9-29D35B909803}"/>
              </a:ext>
            </a:extLst>
          </p:cNvPr>
          <p:cNvSpPr/>
          <p:nvPr/>
        </p:nvSpPr>
        <p:spPr>
          <a:xfrm>
            <a:off x="4162425" y="399950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NimbusRomNo9L-Medi"/>
              </a:rPr>
              <a:t>Discriminator </a:t>
            </a:r>
            <a:r>
              <a:rPr lang="en-US" dirty="0">
                <a:latin typeface="NimbusRomNo9L-Regu"/>
              </a:rPr>
              <a:t>of a weak entity set: set of attributes that distinguish subordinate entities of the set, for a particular dominant entity</a:t>
            </a:r>
            <a:endParaRPr lang="en-CA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0473D1-0AA5-4A58-A862-A2192F6F5892}"/>
              </a:ext>
            </a:extLst>
          </p:cNvPr>
          <p:cNvCxnSpPr>
            <a:cxnSpLocks/>
          </p:cNvCxnSpPr>
          <p:nvPr/>
        </p:nvCxnSpPr>
        <p:spPr>
          <a:xfrm flipV="1">
            <a:off x="5828493" y="5801354"/>
            <a:ext cx="2216707" cy="1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E51B4C09-D472-40BC-8192-24AC4081F9C0}"/>
              </a:ext>
            </a:extLst>
          </p:cNvPr>
          <p:cNvSpPr/>
          <p:nvPr/>
        </p:nvSpPr>
        <p:spPr>
          <a:xfrm>
            <a:off x="4632044" y="1454178"/>
            <a:ext cx="2154836" cy="596844"/>
          </a:xfrm>
          <a:prstGeom prst="wedgeRoundRectCallout">
            <a:avLst>
              <a:gd name="adj1" fmla="val -101499"/>
              <a:gd name="adj2" fmla="val 8496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Key: (</a:t>
            </a:r>
            <a:r>
              <a:rPr lang="en-CA" dirty="0" err="1"/>
              <a:t>Rnumber</a:t>
            </a:r>
            <a:r>
              <a:rPr lang="en-CA" dirty="0"/>
              <a:t>, building.name)</a:t>
            </a:r>
            <a:endParaRPr lang="en-CA" sz="1100" dirty="0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91F6338C-BBC3-45F3-A666-D3C57C5EC1B4}"/>
              </a:ext>
            </a:extLst>
          </p:cNvPr>
          <p:cNvSpPr/>
          <p:nvPr/>
        </p:nvSpPr>
        <p:spPr>
          <a:xfrm>
            <a:off x="3924300" y="3259193"/>
            <a:ext cx="945797" cy="596844"/>
          </a:xfrm>
          <a:prstGeom prst="wedgeRoundRectCallout">
            <a:avLst>
              <a:gd name="adj1" fmla="val -100556"/>
              <a:gd name="adj2" fmla="val 98580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Key: ?</a:t>
            </a:r>
            <a:endParaRPr lang="en-CA" sz="11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704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2EFD9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DD7EE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DD7EE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9" grpId="0" animBg="1"/>
      <p:bldP spid="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ISA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the idea of subclasses in object-oriented programming: subclass = special case, fewer entities, and possibly more properties</a:t>
            </a:r>
          </a:p>
          <a:p>
            <a:pPr lvl="1"/>
            <a:r>
              <a:rPr lang="en-US" dirty="0"/>
              <a:t>Represented as a triangle (direction is important)</a:t>
            </a:r>
          </a:p>
          <a:p>
            <a:r>
              <a:rPr lang="en-US" dirty="0"/>
              <a:t>Example: paid users are users, but they also get avatars (yay!)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21197" y="4103142"/>
            <a:ext cx="8001000" cy="1066800"/>
            <a:chOff x="288" y="2112"/>
            <a:chExt cx="5040" cy="67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4126397" y="5017542"/>
            <a:ext cx="1066800" cy="609600"/>
            <a:chOff x="2496" y="1872"/>
            <a:chExt cx="672" cy="384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fromDate</a:t>
              </a:r>
              <a:endParaRPr lang="en-US" i="1" dirty="0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98005" y="5779606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avatar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947380" y="5703406"/>
            <a:ext cx="16002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PaidUsers</a:t>
            </a:r>
            <a:endParaRPr lang="en-US" i="1" dirty="0"/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>
            <a:off x="2274405" y="5093806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ISA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664805" y="6008206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V="1">
            <a:off x="2731605" y="4941406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flipV="1">
            <a:off x="2731605" y="5551006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3592997" y="5773947"/>
            <a:ext cx="457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/>
              <a:t>Automatically “inherits” key, attributes, relationships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22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2D7C-11F8-4529-9358-9DB845F7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extensions to E/R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A4ED-53D6-4EC0-A024-19D86BB89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Generalization: several entity sets can be abstracted by a more general entity set </a:t>
            </a:r>
          </a:p>
          <a:p>
            <a:pPr lvl="1"/>
            <a:r>
              <a:rPr lang="en-US" sz="2000" dirty="0"/>
              <a:t>Example: “ a vehicle abstracts the notion of a car and a truck”</a:t>
            </a:r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9B43-9306-4C03-A27D-3CBB11DA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CBF56-1778-4FA1-9BE3-A31F3334A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43" y="2643764"/>
            <a:ext cx="3056677" cy="189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0901D2-4DB2-43A1-BC14-335F5EE63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43" y="4539343"/>
            <a:ext cx="3298371" cy="2056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452BAB-AA25-44E1-BD69-1EF19379B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325" y="2981212"/>
            <a:ext cx="4347025" cy="31162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53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DE39-C6BC-4849-A159-933EB9C8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extensions to E/R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2508-9D9B-4343-827D-CA4FED0BE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Specialized entity sets are usually disjoint but can be declared to have entities </a:t>
            </a:r>
            <a:r>
              <a:rPr lang="en-CA" sz="2400" dirty="0"/>
              <a:t>in common</a:t>
            </a:r>
          </a:p>
          <a:p>
            <a:r>
              <a:rPr lang="en-US" sz="2400" dirty="0"/>
              <a:t>By default, specialized entity sets are disjoint.</a:t>
            </a:r>
          </a:p>
          <a:p>
            <a:pPr lvl="1"/>
            <a:r>
              <a:rPr lang="en-US" sz="2000" dirty="0"/>
              <a:t>Example: We may decide that nothing is both a car and a truck. </a:t>
            </a:r>
          </a:p>
          <a:p>
            <a:pPr lvl="1"/>
            <a:r>
              <a:rPr lang="en-US" sz="2000" dirty="0"/>
              <a:t>However, we can declare them to overlap (to accommodate utility </a:t>
            </a:r>
            <a:r>
              <a:rPr lang="en-CA" sz="2000" dirty="0"/>
              <a:t>vehicles, perhaps).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E8DD-6073-4C76-91B8-2279AD36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84EE5-D056-4DA7-BFF4-4F0A106A9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673" y="3356768"/>
            <a:ext cx="4347025" cy="3116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193C2-7932-423D-82CA-3D6B58152C96}"/>
              </a:ext>
            </a:extLst>
          </p:cNvPr>
          <p:cNvSpPr txBox="1"/>
          <p:nvPr/>
        </p:nvSpPr>
        <p:spPr>
          <a:xfrm>
            <a:off x="6261827" y="4469855"/>
            <a:ext cx="108385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OVERLAPS</a:t>
            </a:r>
            <a:endParaRPr lang="en-CA" sz="1400" b="1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459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7BBF-D926-4F29-8F14-9C4760F8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extensions to E/R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FF5B-80F5-4C6C-8E11-DC474E9B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attributes:</a:t>
            </a:r>
          </a:p>
          <a:p>
            <a:pPr lvl="1"/>
            <a:r>
              <a:rPr lang="en-US" dirty="0"/>
              <a:t>Composite attributes: composed of fixed number of other attributes</a:t>
            </a:r>
          </a:p>
          <a:p>
            <a:pPr lvl="2"/>
            <a:r>
              <a:rPr lang="en-US" dirty="0"/>
              <a:t>E.g. Address </a:t>
            </a:r>
          </a:p>
          <a:p>
            <a:pPr lvl="1"/>
            <a:r>
              <a:rPr lang="en-US" dirty="0"/>
              <a:t>Multi-valued attributes: attributes that are set-valued</a:t>
            </a:r>
          </a:p>
          <a:p>
            <a:pPr lvl="2"/>
            <a:r>
              <a:rPr lang="en-US" dirty="0"/>
              <a:t>e.g. Hobbies  (double edges)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B29D3-0D0D-4937-A7BF-9D3F5636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66793-D6A8-4378-8C87-F4DC4C915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736" y="3662680"/>
            <a:ext cx="4238814" cy="24662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910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7BBF-D926-4F29-8F14-9C4760F8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extensions to E/R models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FF5B-80F5-4C6C-8E11-DC474E9B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Aggregation: relationships can be viewed as high-level entities</a:t>
            </a:r>
          </a:p>
          <a:p>
            <a:r>
              <a:rPr lang="en-US" dirty="0"/>
              <a:t>Example: “accounts are assigned to a given student enrollment”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B29D3-0D0D-4937-A7BF-9D3F5636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1994D-1F2D-4D44-807D-AAF75F082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161" y="3290318"/>
            <a:ext cx="4848883" cy="28543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C3439D-96D4-47BB-B7A8-96EC9D7A254F}"/>
                  </a:ext>
                </a:extLst>
              </p14:cNvPr>
              <p14:cNvContentPartPr/>
              <p14:nvPr/>
            </p14:nvContentPartPr>
            <p14:xfrm>
              <a:off x="1666120" y="3842400"/>
              <a:ext cx="5182200" cy="956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C3439D-96D4-47BB-B7A8-96EC9D7A25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7480" y="3833760"/>
                <a:ext cx="5199840" cy="9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746F813-97E6-489B-BE85-76E8AF2991F0}"/>
              </a:ext>
            </a:extLst>
          </p:cNvPr>
          <p:cNvGrpSpPr/>
          <p:nvPr/>
        </p:nvGrpSpPr>
        <p:grpSpPr>
          <a:xfrm>
            <a:off x="6882520" y="2955000"/>
            <a:ext cx="2222640" cy="1246680"/>
            <a:chOff x="6882520" y="2955000"/>
            <a:chExt cx="2222640" cy="12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75E073-8933-4EEC-83CA-099F38483B93}"/>
                    </a:ext>
                  </a:extLst>
                </p14:cNvPr>
                <p14:cNvContentPartPr/>
                <p14:nvPr/>
              </p14:nvContentPartPr>
              <p14:xfrm>
                <a:off x="6925360" y="3731160"/>
                <a:ext cx="201960" cy="90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75E073-8933-4EEC-83CA-099F38483B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16720" y="3722160"/>
                  <a:ext cx="219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0E8096-BFFF-414B-A814-30AC50210720}"/>
                    </a:ext>
                  </a:extLst>
                </p14:cNvPr>
                <p14:cNvContentPartPr/>
                <p14:nvPr/>
              </p14:nvContentPartPr>
              <p14:xfrm>
                <a:off x="6932560" y="3965160"/>
                <a:ext cx="181080" cy="69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0E8096-BFFF-414B-A814-30AC502107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23920" y="3956520"/>
                  <a:ext cx="198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05A732-1C42-4832-A5BE-C9291043A753}"/>
                    </a:ext>
                  </a:extLst>
                </p14:cNvPr>
                <p14:cNvContentPartPr/>
                <p14:nvPr/>
              </p14:nvContentPartPr>
              <p14:xfrm>
                <a:off x="6882520" y="3919800"/>
                <a:ext cx="387000" cy="281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05A732-1C42-4832-A5BE-C9291043A7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73520" y="3911160"/>
                  <a:ext cx="404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F136A4-0A0A-4BBE-B54B-B31BD6D72E07}"/>
                    </a:ext>
                  </a:extLst>
                </p14:cNvPr>
                <p14:cNvContentPartPr/>
                <p14:nvPr/>
              </p14:nvContentPartPr>
              <p14:xfrm>
                <a:off x="7202560" y="3871920"/>
                <a:ext cx="358200" cy="215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F136A4-0A0A-4BBE-B54B-B31BD6D72E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93920" y="3862920"/>
                  <a:ext cx="375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3382ED-D0CD-473A-AE59-7530ED5BCD98}"/>
                    </a:ext>
                  </a:extLst>
                </p14:cNvPr>
                <p14:cNvContentPartPr/>
                <p14:nvPr/>
              </p14:nvContentPartPr>
              <p14:xfrm>
                <a:off x="7519360" y="3678600"/>
                <a:ext cx="356040" cy="308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3382ED-D0CD-473A-AE59-7530ED5BCD9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10360" y="3669600"/>
                  <a:ext cx="373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D67058-7263-4A83-B5D9-41DB31164BC8}"/>
                    </a:ext>
                  </a:extLst>
                </p14:cNvPr>
                <p14:cNvContentPartPr/>
                <p14:nvPr/>
              </p14:nvContentPartPr>
              <p14:xfrm>
                <a:off x="7861720" y="3563760"/>
                <a:ext cx="200520" cy="227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D67058-7263-4A83-B5D9-41DB31164BC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52720" y="3555120"/>
                  <a:ext cx="218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429926-0AB6-4888-A77B-AABA85F8870E}"/>
                    </a:ext>
                  </a:extLst>
                </p14:cNvPr>
                <p14:cNvContentPartPr/>
                <p14:nvPr/>
              </p14:nvContentPartPr>
              <p14:xfrm>
                <a:off x="7949200" y="3190080"/>
                <a:ext cx="978480" cy="61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429926-0AB6-4888-A77B-AABA85F887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40200" y="3181440"/>
                  <a:ext cx="9961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3070A71-9D56-45C1-8868-090552A8E454}"/>
                    </a:ext>
                  </a:extLst>
                </p14:cNvPr>
                <p14:cNvContentPartPr/>
                <p14:nvPr/>
              </p14:nvContentPartPr>
              <p14:xfrm>
                <a:off x="8754880" y="300936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3070A71-9D56-45C1-8868-090552A8E4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46240" y="3000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7A17AC-D6D3-45AC-A002-BAE86DBC9303}"/>
                    </a:ext>
                  </a:extLst>
                </p14:cNvPr>
                <p14:cNvContentPartPr/>
                <p14:nvPr/>
              </p14:nvContentPartPr>
              <p14:xfrm>
                <a:off x="8797720" y="2975880"/>
                <a:ext cx="307440" cy="499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7A17AC-D6D3-45AC-A002-BAE86DBC93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88720" y="2966880"/>
                  <a:ext cx="3250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1C5083-D58D-4D3C-8B49-3D969FA0C583}"/>
                    </a:ext>
                  </a:extLst>
                </p14:cNvPr>
                <p14:cNvContentPartPr/>
                <p14:nvPr/>
              </p14:nvContentPartPr>
              <p14:xfrm>
                <a:off x="8807080" y="2955000"/>
                <a:ext cx="282960" cy="331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1C5083-D58D-4D3C-8B49-3D969FA0C5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98440" y="2946360"/>
                  <a:ext cx="30060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70619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E/R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Entity sets</a:t>
            </a:r>
          </a:p>
          <a:p>
            <a:pPr lvl="1"/>
            <a:r>
              <a:rPr lang="en-US" dirty="0"/>
              <a:t>Keys</a:t>
            </a:r>
          </a:p>
          <a:p>
            <a:pPr lvl="1"/>
            <a:r>
              <a:rPr lang="en-US" dirty="0"/>
              <a:t>Weak entity sets</a:t>
            </a:r>
          </a:p>
          <a:p>
            <a:r>
              <a:rPr lang="en-US" dirty="0"/>
              <a:t>Relationship sets</a:t>
            </a:r>
          </a:p>
          <a:p>
            <a:pPr lvl="1"/>
            <a:r>
              <a:rPr lang="en-US" dirty="0"/>
              <a:t>Attributes of relationships</a:t>
            </a:r>
          </a:p>
          <a:p>
            <a:pPr lvl="1"/>
            <a:r>
              <a:rPr lang="en-US" dirty="0"/>
              <a:t>Multiplicity</a:t>
            </a:r>
          </a:p>
          <a:p>
            <a:pPr lvl="1"/>
            <a:r>
              <a:rPr lang="en-US" dirty="0"/>
              <a:t>Roles</a:t>
            </a:r>
          </a:p>
          <a:p>
            <a:pPr lvl="1"/>
            <a:r>
              <a:rPr lang="en-US" dirty="0"/>
              <a:t>Supporting relationships (related to weak entity)</a:t>
            </a:r>
          </a:p>
          <a:p>
            <a:pPr lvl="1"/>
            <a:r>
              <a:rPr lang="en-US" dirty="0"/>
              <a:t>ISA relationships</a:t>
            </a:r>
          </a:p>
          <a:p>
            <a:r>
              <a:rPr lang="en-US" dirty="0"/>
              <a:t>Other extensions:</a:t>
            </a:r>
          </a:p>
          <a:p>
            <a:pPr lvl="1"/>
            <a:r>
              <a:rPr lang="en-US" dirty="0"/>
              <a:t>Generalization</a:t>
            </a:r>
          </a:p>
          <a:p>
            <a:pPr lvl="1"/>
            <a:r>
              <a:rPr lang="en-US" dirty="0"/>
              <a:t>Structured attributes</a:t>
            </a:r>
          </a:p>
          <a:p>
            <a:pPr lvl="1"/>
            <a:r>
              <a:rPr lang="en-US" dirty="0"/>
              <a:t>Aggregation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74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E134-FCD3-4E83-8AFD-8F601ED8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an E/R schema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58A8-1B15-48B1-9FA3-A57310A6A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many ways to design an E-R schema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CA" dirty="0"/>
              <a:t>Points to consider</a:t>
            </a:r>
          </a:p>
          <a:p>
            <a:pPr lvl="1"/>
            <a:r>
              <a:rPr lang="en-US" dirty="0"/>
              <a:t>use attribute or entity set?</a:t>
            </a:r>
          </a:p>
          <a:p>
            <a:pPr lvl="1"/>
            <a:r>
              <a:rPr lang="en-US" dirty="0"/>
              <a:t>use entity set or relationship set?</a:t>
            </a:r>
          </a:p>
          <a:p>
            <a:pPr lvl="1"/>
            <a:r>
              <a:rPr lang="en-CA" dirty="0"/>
              <a:t>degrees of relationships?</a:t>
            </a:r>
          </a:p>
          <a:p>
            <a:pPr lvl="1"/>
            <a:r>
              <a:rPr lang="en-CA" dirty="0"/>
              <a:t>extended features?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B477-E2FB-4F84-B1A7-A37FD366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742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BE4A-30CC-41D5-B80F-3F0B4813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Attributes or Entity 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3DB5B-9728-44B7-8B7C-06B1EF74A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Example: How to model employees’ phones?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CA" sz="2400" dirty="0"/>
              <a:t>Rules of thumb:</a:t>
            </a:r>
          </a:p>
          <a:p>
            <a:pPr lvl="1"/>
            <a:r>
              <a:rPr lang="en-US" sz="2000" dirty="0"/>
              <a:t>Is it a separate object?</a:t>
            </a:r>
          </a:p>
          <a:p>
            <a:pPr lvl="1"/>
            <a:r>
              <a:rPr lang="en-US" sz="2000" dirty="0"/>
              <a:t>Do we maintain information about it?</a:t>
            </a:r>
          </a:p>
          <a:p>
            <a:pPr lvl="1"/>
            <a:r>
              <a:rPr lang="en-US" sz="2000" dirty="0"/>
              <a:t>Can several of its kind belong to a single entity?</a:t>
            </a:r>
          </a:p>
          <a:p>
            <a:pPr lvl="1"/>
            <a:r>
              <a:rPr lang="en-US" sz="2000" dirty="0"/>
              <a:t>Does it make sense to delete such an object?</a:t>
            </a:r>
          </a:p>
          <a:p>
            <a:pPr lvl="1"/>
            <a:r>
              <a:rPr lang="en-US" sz="2000" dirty="0"/>
              <a:t>Can it be missing from some of the entity set’s entities?</a:t>
            </a:r>
          </a:p>
          <a:p>
            <a:pPr lvl="1"/>
            <a:r>
              <a:rPr lang="en-US" sz="2000" dirty="0"/>
              <a:t>Can it be shared by different entities?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An affirmative answer to any of the above suggests a new entity set.</a:t>
            </a:r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5D678-84B4-47B8-8516-7CF12071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5B63DD-AA43-498C-97F6-FFB9A713EF02}"/>
              </a:ext>
            </a:extLst>
          </p:cNvPr>
          <p:cNvGrpSpPr/>
          <p:nvPr/>
        </p:nvGrpSpPr>
        <p:grpSpPr>
          <a:xfrm>
            <a:off x="706185" y="2180373"/>
            <a:ext cx="2974890" cy="694906"/>
            <a:chOff x="706185" y="2180373"/>
            <a:chExt cx="2974890" cy="694906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E73A372-55C3-4D4E-AC0A-24BFBCAF8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280" y="2449344"/>
              <a:ext cx="1313795" cy="42593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Employees</a:t>
              </a:r>
            </a:p>
          </p:txBody>
        </p:sp>
        <p:sp>
          <p:nvSpPr>
            <p:cNvPr id="6" name="Oval 10">
              <a:extLst>
                <a:ext uri="{FF2B5EF4-FFF2-40B4-BE49-F238E27FC236}">
                  <a16:creationId xmlns:a16="http://schemas.microsoft.com/office/drawing/2014/main" id="{A540DA77-C6DB-4C18-AEEE-ABE1D889D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185" y="2180373"/>
              <a:ext cx="1298556" cy="6096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sz="1600" i="1" dirty="0" err="1"/>
                <a:t>PhoneNumber</a:t>
              </a:r>
              <a:endParaRPr lang="en-US" sz="1600" i="1" dirty="0"/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05FD9C1C-B675-4C3D-9E37-5AFA96476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519680"/>
              <a:ext cx="401320" cy="81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F18C9B-C31D-4C34-93AA-31A2A57748FB}"/>
              </a:ext>
            </a:extLst>
          </p:cNvPr>
          <p:cNvGrpSpPr/>
          <p:nvPr/>
        </p:nvGrpSpPr>
        <p:grpSpPr>
          <a:xfrm>
            <a:off x="4390753" y="2360411"/>
            <a:ext cx="4208981" cy="565669"/>
            <a:chOff x="4515497" y="2563489"/>
            <a:chExt cx="4208981" cy="56566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ED8C37-99C5-4AAD-8657-39564FC4A01C}"/>
                </a:ext>
              </a:extLst>
            </p:cNvPr>
            <p:cNvSpPr/>
            <p:nvPr/>
          </p:nvSpPr>
          <p:spPr>
            <a:xfrm>
              <a:off x="4515497" y="2563490"/>
              <a:ext cx="1298555" cy="56566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Employees</a:t>
              </a:r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F5BD68D0-699B-4DD1-A811-04FB803924CD}"/>
                </a:ext>
              </a:extLst>
            </p:cNvPr>
            <p:cNvSpPr/>
            <p:nvPr/>
          </p:nvSpPr>
          <p:spPr>
            <a:xfrm>
              <a:off x="6252857" y="2563489"/>
              <a:ext cx="1034144" cy="565669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A3FA963-AA3E-4721-8193-B49E0F4FEB53}"/>
                </a:ext>
              </a:extLst>
            </p:cNvPr>
            <p:cNvSpPr/>
            <p:nvPr/>
          </p:nvSpPr>
          <p:spPr>
            <a:xfrm>
              <a:off x="7658757" y="2652423"/>
              <a:ext cx="1065721" cy="38011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i="1" dirty="0"/>
                <a:t>Phones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9D4416B-FD56-486F-AD6C-EE450918C73C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5814052" y="2846324"/>
              <a:ext cx="43880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2DEE37-037D-4D18-836C-F36E1806132F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 flipV="1">
              <a:off x="7287001" y="2842478"/>
              <a:ext cx="371756" cy="384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1018AD-FE2D-4956-A560-4379F3460695}"/>
                </a:ext>
              </a:extLst>
            </p:cNvPr>
            <p:cNvSpPr/>
            <p:nvPr/>
          </p:nvSpPr>
          <p:spPr>
            <a:xfrm>
              <a:off x="6444732" y="2698411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600" i="1" dirty="0"/>
                <a:t>owns</a:t>
              </a:r>
              <a:endParaRPr lang="en-CA" sz="1200" i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3936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E312-540D-4648-9D80-36BF3A68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 Sets or Relationships?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158B-7B47-43BA-B31A-82CF1116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representing accounts as entities, we could represent them as </a:t>
            </a:r>
            <a:r>
              <a:rPr lang="en-CA" dirty="0">
                <a:solidFill>
                  <a:schemeClr val="accent2"/>
                </a:solidFill>
              </a:rPr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41A19-43BB-48D2-BD21-F5620685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33128-FDB2-49AE-9FA1-F090003F4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41" y="2620734"/>
            <a:ext cx="5271624" cy="344993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34FAE64-D710-4E9F-848A-69B409511EE3}"/>
              </a:ext>
            </a:extLst>
          </p:cNvPr>
          <p:cNvSpPr/>
          <p:nvPr/>
        </p:nvSpPr>
        <p:spPr>
          <a:xfrm>
            <a:off x="934721" y="3790743"/>
            <a:ext cx="1857978" cy="596844"/>
          </a:xfrm>
          <a:prstGeom prst="wedgeRoundRectCallout">
            <a:avLst>
              <a:gd name="adj1" fmla="val 91835"/>
              <a:gd name="adj2" fmla="val 5432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relationships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033509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3BC0-FC37-496C-A89F-A1172615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Binary vs. N-</a:t>
            </a:r>
            <a:r>
              <a:rPr lang="en-CA" dirty="0" err="1"/>
              <a:t>ary</a:t>
            </a:r>
            <a:r>
              <a:rPr lang="en-CA" dirty="0"/>
              <a:t> Relationships?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9DC7A-9FDB-4339-80A4-3043D61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5A510-071D-411E-97A8-F01D081C0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26" y="1624693"/>
            <a:ext cx="5803283" cy="4165746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097D084-7BB0-406B-BB88-74B4B327D3F6}"/>
              </a:ext>
            </a:extLst>
          </p:cNvPr>
          <p:cNvSpPr/>
          <p:nvPr/>
        </p:nvSpPr>
        <p:spPr>
          <a:xfrm>
            <a:off x="1270001" y="3211623"/>
            <a:ext cx="1857978" cy="596844"/>
          </a:xfrm>
          <a:prstGeom prst="wedgeRoundRectCallout">
            <a:avLst>
              <a:gd name="adj1" fmla="val 91835"/>
              <a:gd name="adj2" fmla="val 5432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3-ary relationships</a:t>
            </a:r>
            <a:endParaRPr lang="en-CA" sz="11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95E132-A1DB-4224-8824-5348B03B3826}"/>
              </a:ext>
            </a:extLst>
          </p:cNvPr>
          <p:cNvSpPr/>
          <p:nvPr/>
        </p:nvSpPr>
        <p:spPr>
          <a:xfrm>
            <a:off x="4693581" y="2357120"/>
            <a:ext cx="2824480" cy="6502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CC8931-4D94-4D93-8B99-D1D62296357D}"/>
              </a:ext>
            </a:extLst>
          </p:cNvPr>
          <p:cNvSpPr/>
          <p:nvPr/>
        </p:nvSpPr>
        <p:spPr>
          <a:xfrm>
            <a:off x="1350941" y="2357120"/>
            <a:ext cx="2824480" cy="6502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B4668A-E092-40D9-B587-B4E8D67CB76C}"/>
              </a:ext>
            </a:extLst>
          </p:cNvPr>
          <p:cNvSpPr/>
          <p:nvPr/>
        </p:nvSpPr>
        <p:spPr>
          <a:xfrm>
            <a:off x="3209643" y="4487809"/>
            <a:ext cx="2286917" cy="6502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23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E459-579D-4367-B3A9-20A2729C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vs. N-</a:t>
            </a:r>
            <a:r>
              <a:rPr lang="en-US" dirty="0" err="1"/>
              <a:t>ary</a:t>
            </a:r>
            <a:r>
              <a:rPr lang="en-US" dirty="0"/>
              <a:t> Relationships (cont’d)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60F2-4E7A-434C-947D-92329C4E4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always represent a relationship on n entity sets with </a:t>
            </a:r>
            <a:r>
              <a:rPr lang="en-US" dirty="0">
                <a:solidFill>
                  <a:schemeClr val="accent2"/>
                </a:solidFill>
              </a:rPr>
              <a:t>n binary </a:t>
            </a:r>
            <a:r>
              <a:rPr lang="en-CA" dirty="0">
                <a:solidFill>
                  <a:schemeClr val="accent2"/>
                </a:solidFill>
              </a:rPr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3B3C7-E326-4780-B216-5C28C0FD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3A0D1-EED2-4613-B053-8B8BABCFE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647" y="2796287"/>
            <a:ext cx="5208117" cy="317420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F1E14C6-B9A4-4C78-B38D-07C63522B91C}"/>
              </a:ext>
            </a:extLst>
          </p:cNvPr>
          <p:cNvSpPr/>
          <p:nvPr/>
        </p:nvSpPr>
        <p:spPr>
          <a:xfrm>
            <a:off x="1960880" y="3312160"/>
            <a:ext cx="2824480" cy="127000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A2259F-BF5E-456A-888C-1799DAC9670A}"/>
              </a:ext>
            </a:extLst>
          </p:cNvPr>
          <p:cNvSpPr/>
          <p:nvPr/>
        </p:nvSpPr>
        <p:spPr>
          <a:xfrm>
            <a:off x="3568337" y="3307981"/>
            <a:ext cx="2824480" cy="127000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F28A54-AC87-487C-9F47-98E91DFB0F22}"/>
              </a:ext>
            </a:extLst>
          </p:cNvPr>
          <p:cNvSpPr/>
          <p:nvPr/>
        </p:nvSpPr>
        <p:spPr>
          <a:xfrm>
            <a:off x="3383280" y="3931920"/>
            <a:ext cx="1615440" cy="1554479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633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2F38-6FB9-49BB-976E-198B3DFB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methodology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9519D-3151-4974-9FE2-A4F8D0F29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400" dirty="0"/>
              <a:t>Recognize entity 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Recognize relationship sets and participating entity 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Recognize attributes of entity and relationship 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Define relationship types and existence dependencies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Define general cardinality constraints, keys and discriminators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Draw diagram</a:t>
            </a:r>
          </a:p>
          <a:p>
            <a:pPr marL="514350" indent="-514350">
              <a:buFont typeface="+mj-lt"/>
              <a:buAutoNum type="arabicPeriod"/>
            </a:pPr>
            <a:endParaRPr lang="en-CA" sz="2400" dirty="0"/>
          </a:p>
          <a:p>
            <a:r>
              <a:rPr lang="en-US" dirty="0"/>
              <a:t>For each step, maintain a log of assumptions motivating the choices, and of restrictions imposed by the choices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F174F-C05D-4CCC-8351-04A34DC3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163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31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pic>
        <p:nvPicPr>
          <p:cNvPr id="13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08415181-7FA8-47E4-9402-C850163FA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2275841" y="5183878"/>
            <a:ext cx="5324682" cy="1111470"/>
          </a:xfrm>
          <a:prstGeom prst="wedgeRoundRectCallout">
            <a:avLst>
              <a:gd name="adj1" fmla="val 55299"/>
              <a:gd name="adj2" fmla="val -3529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are the entity sets, relationship sets, and their attributes? What are the types of relationships and cardinality constraints, keys, discriminators?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796544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36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32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pic>
        <p:nvPicPr>
          <p:cNvPr id="13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08415181-7FA8-47E4-9402-C850163FA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5888318" y="5259708"/>
            <a:ext cx="2256363" cy="1111470"/>
          </a:xfrm>
          <a:prstGeom prst="wedgeRoundRectCallout">
            <a:avLst>
              <a:gd name="adj1" fmla="val 55299"/>
              <a:gd name="adj2" fmla="val -3529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are my entity sets? (slide 26)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31088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60A63D75-49FF-412E-827B-B31D548A7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680" y="5248942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i="1" dirty="0"/>
              <a:t>Cities</a:t>
            </a:r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2BE7EF3A-E37E-4022-95B5-774318203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680" y="6092628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i="1" dirty="0"/>
              <a:t>Counties</a:t>
            </a:r>
          </a:p>
        </p:txBody>
      </p:sp>
      <p:sp>
        <p:nvSpPr>
          <p:cNvPr id="10" name="Rectangle 42">
            <a:extLst>
              <a:ext uri="{FF2B5EF4-FFF2-40B4-BE49-F238E27FC236}">
                <a16:creationId xmlns:a16="http://schemas.microsoft.com/office/drawing/2014/main" id="{91745260-AFBC-47C2-9320-859B9962B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680" y="6016428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01424-7B3F-42AC-9F2B-ACD3EF917C61}"/>
              </a:ext>
            </a:extLst>
          </p:cNvPr>
          <p:cNvSpPr/>
          <p:nvPr/>
        </p:nvSpPr>
        <p:spPr>
          <a:xfrm>
            <a:off x="2164080" y="1615440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B47C1B-88F5-4C6E-97D9-10A074E05FDF}"/>
              </a:ext>
            </a:extLst>
          </p:cNvPr>
          <p:cNvSpPr/>
          <p:nvPr/>
        </p:nvSpPr>
        <p:spPr>
          <a:xfrm>
            <a:off x="2164080" y="1961074"/>
            <a:ext cx="1056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BA63E5-3EB4-4249-9906-5D8C35926B42}"/>
              </a:ext>
            </a:extLst>
          </p:cNvPr>
          <p:cNvSpPr/>
          <p:nvPr/>
        </p:nvSpPr>
        <p:spPr>
          <a:xfrm>
            <a:off x="2164080" y="2287209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79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8" grpId="0" animBg="1"/>
      <p:bldP spid="9" grpId="0" animBg="1"/>
      <p:bldP spid="10" grpId="0" animBg="1"/>
      <p:bldP spid="14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33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pic>
        <p:nvPicPr>
          <p:cNvPr id="13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08415181-7FA8-47E4-9402-C850163FA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5888318" y="5259708"/>
            <a:ext cx="2256363" cy="800732"/>
          </a:xfrm>
          <a:prstGeom prst="wedgeRoundRectCallout">
            <a:avLst>
              <a:gd name="adj1" fmla="val 55299"/>
              <a:gd name="adj2" fmla="val -3529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are my relationship sets?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31088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01424-7B3F-42AC-9F2B-ACD3EF917C61}"/>
              </a:ext>
            </a:extLst>
          </p:cNvPr>
          <p:cNvSpPr/>
          <p:nvPr/>
        </p:nvSpPr>
        <p:spPr>
          <a:xfrm>
            <a:off x="1762760" y="4172141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B47C1B-88F5-4C6E-97D9-10A074E05FDF}"/>
              </a:ext>
            </a:extLst>
          </p:cNvPr>
          <p:cNvSpPr/>
          <p:nvPr/>
        </p:nvSpPr>
        <p:spPr>
          <a:xfrm>
            <a:off x="4572000" y="4172140"/>
            <a:ext cx="174752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BA63E5-3EB4-4249-9906-5D8C35926B42}"/>
              </a:ext>
            </a:extLst>
          </p:cNvPr>
          <p:cNvSpPr/>
          <p:nvPr/>
        </p:nvSpPr>
        <p:spPr>
          <a:xfrm>
            <a:off x="1828800" y="4442461"/>
            <a:ext cx="1000760" cy="30024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8278-9516-44FA-93E5-A68C472B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476504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F8A8E1F-58FE-44F8-A9C4-4FDEF274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4410" y="522224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94F410-E9A4-4BD4-903A-908855B051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935" y="606044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ACF0A427-238D-4463-9268-F69572DE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636524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9F8850C-7CC2-4149-B6F4-C12CAC61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60" y="644144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5F5EDFD1-5D20-45CC-BC41-212365C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0" y="545084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C8395C-2AD8-4F4F-B807-0F308C447C1E}"/>
              </a:ext>
            </a:extLst>
          </p:cNvPr>
          <p:cNvGrpSpPr/>
          <p:nvPr/>
        </p:nvGrpSpPr>
        <p:grpSpPr>
          <a:xfrm>
            <a:off x="1845913" y="4839576"/>
            <a:ext cx="838200" cy="1143000"/>
            <a:chOff x="1838960" y="4841240"/>
            <a:chExt cx="838200" cy="1143000"/>
          </a:xfrm>
        </p:grpSpPr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E744E1D3-F86E-442B-ABE9-3F3D00A9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5527040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8CCA05C4-7551-42AF-B64D-0171786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4841240"/>
              <a:ext cx="838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D17BFC3-1B39-461E-A73D-50C78207A113}"/>
              </a:ext>
            </a:extLst>
          </p:cNvPr>
          <p:cNvSpPr/>
          <p:nvPr/>
        </p:nvSpPr>
        <p:spPr>
          <a:xfrm>
            <a:off x="4907280" y="4464465"/>
            <a:ext cx="154432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AutoShape 38">
            <a:extLst>
              <a:ext uri="{FF2B5EF4-FFF2-40B4-BE49-F238E27FC236}">
                <a16:creationId xmlns:a16="http://schemas.microsoft.com/office/drawing/2014/main" id="{FC3B2072-4A2D-4BDB-8A27-849181CF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1889" y="4007265"/>
            <a:ext cx="629578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BDA7CC5-9F31-400E-BDAF-F8AC5665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849" y="4332385"/>
            <a:ext cx="629578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403D511C-4FBA-4AE6-94FB-3035E3C3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0" y="6162439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2476AB61-6991-4492-B9E3-5656649E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0080" y="646723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C7A37F14-3402-4784-93E1-6E4A68E3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0" y="6238639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29D7456-4BCB-4EED-BFE2-850FE848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480" y="6238639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EFD751C7-F15C-499F-92DB-8597E955EE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7239"/>
            <a:ext cx="477520" cy="76201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0" grpId="0" animBg="1"/>
      <p:bldP spid="23" grpId="0" animBg="1"/>
      <p:bldP spid="24" grpId="0" animBg="1"/>
      <p:bldP spid="26" grpId="0" animBg="1"/>
      <p:bldP spid="29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34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pic>
        <p:nvPicPr>
          <p:cNvPr id="13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08415181-7FA8-47E4-9402-C850163FA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6653615" y="4116708"/>
            <a:ext cx="2256363" cy="722868"/>
          </a:xfrm>
          <a:prstGeom prst="wedgeRoundRectCallout">
            <a:avLst>
              <a:gd name="adj1" fmla="val 30083"/>
              <a:gd name="adj2" fmla="val 9120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 attributes!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31088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01424-7B3F-42AC-9F2B-ACD3EF917C61}"/>
              </a:ext>
            </a:extLst>
          </p:cNvPr>
          <p:cNvSpPr/>
          <p:nvPr/>
        </p:nvSpPr>
        <p:spPr>
          <a:xfrm>
            <a:off x="2169160" y="1639985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8278-9516-44FA-93E5-A68C472B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476504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F8A8E1F-58FE-44F8-A9C4-4FDEF274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4410" y="522224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94F410-E9A4-4BD4-903A-908855B051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935" y="606044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ACF0A427-238D-4463-9268-F69572DE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636524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9F8850C-7CC2-4149-B6F4-C12CAC61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60" y="644144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5F5EDFD1-5D20-45CC-BC41-212365C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0" y="545084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C8395C-2AD8-4F4F-B807-0F308C447C1E}"/>
              </a:ext>
            </a:extLst>
          </p:cNvPr>
          <p:cNvGrpSpPr/>
          <p:nvPr/>
        </p:nvGrpSpPr>
        <p:grpSpPr>
          <a:xfrm>
            <a:off x="1845913" y="4839576"/>
            <a:ext cx="838200" cy="1143000"/>
            <a:chOff x="1838960" y="4841240"/>
            <a:chExt cx="838200" cy="1143000"/>
          </a:xfrm>
        </p:grpSpPr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E744E1D3-F86E-442B-ABE9-3F3D00A9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5527040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8CCA05C4-7551-42AF-B64D-0171786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4841240"/>
              <a:ext cx="838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39">
            <a:extLst>
              <a:ext uri="{FF2B5EF4-FFF2-40B4-BE49-F238E27FC236}">
                <a16:creationId xmlns:a16="http://schemas.microsoft.com/office/drawing/2014/main" id="{403D511C-4FBA-4AE6-94FB-3035E3C3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0" y="6162439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2476AB61-6991-4492-B9E3-5656649E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0080" y="646723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C7A37F14-3402-4784-93E1-6E4A68E3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0" y="6238639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29D7456-4BCB-4EED-BFE2-850FE848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480" y="6238639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3E964-4926-443F-A9D3-FCC3A9C3B19A}"/>
              </a:ext>
            </a:extLst>
          </p:cNvPr>
          <p:cNvGrpSpPr/>
          <p:nvPr/>
        </p:nvGrpSpPr>
        <p:grpSpPr>
          <a:xfrm>
            <a:off x="6106160" y="6238639"/>
            <a:ext cx="1371600" cy="457200"/>
            <a:chOff x="6106160" y="6238639"/>
            <a:chExt cx="1371600" cy="457200"/>
          </a:xfrm>
        </p:grpSpPr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0CA14966-4101-4B41-B119-99CA03870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0960" y="62386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6AF7DCF6-C6B9-45C3-AC5C-942BC44C4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06160" y="646723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AD3FE7B3-8A3C-4159-A5FE-5AC3BF3C0E6B}"/>
              </a:ext>
            </a:extLst>
          </p:cNvPr>
          <p:cNvSpPr/>
          <p:nvPr/>
        </p:nvSpPr>
        <p:spPr>
          <a:xfrm>
            <a:off x="3688080" y="1544268"/>
            <a:ext cx="9906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7FBB642-19C9-418B-A432-6401574EF09B}"/>
              </a:ext>
            </a:extLst>
          </p:cNvPr>
          <p:cNvSpPr/>
          <p:nvPr/>
        </p:nvSpPr>
        <p:spPr>
          <a:xfrm>
            <a:off x="4844767" y="1542075"/>
            <a:ext cx="9906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AutoShape 38">
            <a:extLst>
              <a:ext uri="{FF2B5EF4-FFF2-40B4-BE49-F238E27FC236}">
                <a16:creationId xmlns:a16="http://schemas.microsoft.com/office/drawing/2014/main" id="{795D2056-36A4-4DC9-8C86-568E305B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665" y="1603853"/>
            <a:ext cx="629578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45F0DB-E25B-4353-BD76-8DC0A0C12109}"/>
              </a:ext>
            </a:extLst>
          </p:cNvPr>
          <p:cNvGrpSpPr/>
          <p:nvPr/>
        </p:nvGrpSpPr>
        <p:grpSpPr>
          <a:xfrm>
            <a:off x="2773680" y="4855272"/>
            <a:ext cx="2743200" cy="1371600"/>
            <a:chOff x="3505200" y="1981200"/>
            <a:chExt cx="2743200" cy="1371600"/>
          </a:xfrm>
        </p:grpSpPr>
        <p:sp>
          <p:nvSpPr>
            <p:cNvPr id="46" name="AutoShape 5">
              <a:extLst>
                <a:ext uri="{FF2B5EF4-FFF2-40B4-BE49-F238E27FC236}">
                  <a16:creationId xmlns:a16="http://schemas.microsoft.com/office/drawing/2014/main" id="{0AD12070-99D5-4E27-A2D2-A5388AFD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438400"/>
              <a:ext cx="2209800" cy="6096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IsCapitalOf</a:t>
              </a:r>
            </a:p>
          </p:txBody>
        </p:sp>
        <p:sp>
          <p:nvSpPr>
            <p:cNvPr id="47" name="Line 6">
              <a:extLst>
                <a:ext uri="{FF2B5EF4-FFF2-40B4-BE49-F238E27FC236}">
                  <a16:creationId xmlns:a16="http://schemas.microsoft.com/office/drawing/2014/main" id="{09534834-5863-439C-8F6D-B7D2FA2F8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1981200"/>
              <a:ext cx="16002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8689C462-F599-4358-A667-07F500B6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048000"/>
              <a:ext cx="1143000" cy="30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BAD8168-6B1B-40FC-9A75-326B631F2252}"/>
              </a:ext>
            </a:extLst>
          </p:cNvPr>
          <p:cNvSpPr/>
          <p:nvPr/>
        </p:nvSpPr>
        <p:spPr>
          <a:xfrm>
            <a:off x="2250440" y="1963796"/>
            <a:ext cx="956764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3BA62A0-2077-4207-872E-0AC570CFF581}"/>
              </a:ext>
            </a:extLst>
          </p:cNvPr>
          <p:cNvSpPr/>
          <p:nvPr/>
        </p:nvSpPr>
        <p:spPr>
          <a:xfrm>
            <a:off x="3701767" y="1838079"/>
            <a:ext cx="9906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928476F-346B-4DFA-A3EB-D6F455D67E82}"/>
              </a:ext>
            </a:extLst>
          </p:cNvPr>
          <p:cNvSpPr/>
          <p:nvPr/>
        </p:nvSpPr>
        <p:spPr>
          <a:xfrm>
            <a:off x="4543665" y="1849731"/>
            <a:ext cx="9906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Oval 25">
            <a:extLst>
              <a:ext uri="{FF2B5EF4-FFF2-40B4-BE49-F238E27FC236}">
                <a16:creationId xmlns:a16="http://schemas.microsoft.com/office/drawing/2014/main" id="{919CE530-2B98-41E8-8F47-34DA3CA2A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87585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742F0B21-0DB9-48F7-8FCE-98E61155D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220" y="613493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834CB2C1-CEFE-40DC-BF4D-684993A22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9540" y="643465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A412C6F1-A8B6-4109-BD4E-BB4AC6BF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8" y="636353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area</a:t>
            </a:r>
          </a:p>
        </p:txBody>
      </p:sp>
      <p:sp>
        <p:nvSpPr>
          <p:cNvPr id="53" name="Oval 13">
            <a:extLst>
              <a:ext uri="{FF2B5EF4-FFF2-40B4-BE49-F238E27FC236}">
                <a16:creationId xmlns:a16="http://schemas.microsoft.com/office/drawing/2014/main" id="{8026EC16-9A83-4109-A7AC-569A94A5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" y="44257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4" name="Oval 14">
            <a:extLst>
              <a:ext uri="{FF2B5EF4-FFF2-40B4-BE49-F238E27FC236}">
                <a16:creationId xmlns:a16="http://schemas.microsoft.com/office/drawing/2014/main" id="{61DDD1F0-D8FE-499C-9DFB-D506062D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240" y="503531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55" name="Line 15">
            <a:extLst>
              <a:ext uri="{FF2B5EF4-FFF2-40B4-BE49-F238E27FC236}">
                <a16:creationId xmlns:a16="http://schemas.microsoft.com/office/drawing/2014/main" id="{BEDB88AD-6FF4-4516-862E-4B04B8944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1760" y="4654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AB9F0735-B162-47B3-A48A-18DC7A446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760" y="5035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904713-96FD-44C5-8351-9CF97DED2CE7}"/>
              </a:ext>
            </a:extLst>
          </p:cNvPr>
          <p:cNvSpPr/>
          <p:nvPr/>
        </p:nvSpPr>
        <p:spPr>
          <a:xfrm>
            <a:off x="2111556" y="2268596"/>
            <a:ext cx="956764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3473115-4EAB-4316-85E4-12A3A6547FB7}"/>
              </a:ext>
            </a:extLst>
          </p:cNvPr>
          <p:cNvSpPr/>
          <p:nvPr/>
        </p:nvSpPr>
        <p:spPr>
          <a:xfrm>
            <a:off x="3570081" y="2204644"/>
            <a:ext cx="1274685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551DC13-65A2-4DBE-BEB5-5EB6BAC11CAE}"/>
              </a:ext>
            </a:extLst>
          </p:cNvPr>
          <p:cNvSpPr/>
          <p:nvPr/>
        </p:nvSpPr>
        <p:spPr>
          <a:xfrm>
            <a:off x="4411979" y="2216296"/>
            <a:ext cx="1274685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Line 41">
            <a:extLst>
              <a:ext uri="{FF2B5EF4-FFF2-40B4-BE49-F238E27FC236}">
                <a16:creationId xmlns:a16="http://schemas.microsoft.com/office/drawing/2014/main" id="{E67DAC14-F886-4D76-AB90-2AEBB6841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7239"/>
            <a:ext cx="477520" cy="76201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733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6" grpId="0" animBg="1"/>
      <p:bldP spid="39" grpId="0" animBg="1"/>
      <p:bldP spid="45" grpId="0" animBg="1"/>
      <p:bldP spid="35" grpId="0" animBg="1"/>
      <p:bldP spid="37" grpId="0" animBg="1"/>
      <p:bldP spid="3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35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6653615" y="4116708"/>
            <a:ext cx="2256363" cy="722868"/>
          </a:xfrm>
          <a:prstGeom prst="wedgeRoundRectCallout">
            <a:avLst>
              <a:gd name="adj1" fmla="val 30083"/>
              <a:gd name="adj2" fmla="val 9120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Relationship types?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31088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8278-9516-44FA-93E5-A68C472B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476504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F8A8E1F-58FE-44F8-A9C4-4FDEF274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4410" y="522224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94F410-E9A4-4BD4-903A-908855B051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935" y="606044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ACF0A427-238D-4463-9268-F69572DE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636524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9F8850C-7CC2-4149-B6F4-C12CAC61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60" y="644144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5F5EDFD1-5D20-45CC-BC41-212365C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0" y="545084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C8395C-2AD8-4F4F-B807-0F308C447C1E}"/>
              </a:ext>
            </a:extLst>
          </p:cNvPr>
          <p:cNvGrpSpPr/>
          <p:nvPr/>
        </p:nvGrpSpPr>
        <p:grpSpPr>
          <a:xfrm>
            <a:off x="1845913" y="4839576"/>
            <a:ext cx="838200" cy="1143000"/>
            <a:chOff x="1838960" y="4841240"/>
            <a:chExt cx="838200" cy="1143000"/>
          </a:xfrm>
        </p:grpSpPr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E744E1D3-F86E-442B-ABE9-3F3D00A9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5527040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8CCA05C4-7551-42AF-B64D-0171786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4841240"/>
              <a:ext cx="838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39">
            <a:extLst>
              <a:ext uri="{FF2B5EF4-FFF2-40B4-BE49-F238E27FC236}">
                <a16:creationId xmlns:a16="http://schemas.microsoft.com/office/drawing/2014/main" id="{403D511C-4FBA-4AE6-94FB-3035E3C3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0" y="6162439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2476AB61-6991-4492-B9E3-5656649E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0080" y="646723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C7A37F14-3402-4784-93E1-6E4A68E3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0" y="6238639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29D7456-4BCB-4EED-BFE2-850FE848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480" y="6238639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3E964-4926-443F-A9D3-FCC3A9C3B19A}"/>
              </a:ext>
            </a:extLst>
          </p:cNvPr>
          <p:cNvGrpSpPr/>
          <p:nvPr/>
        </p:nvGrpSpPr>
        <p:grpSpPr>
          <a:xfrm>
            <a:off x="6106160" y="6238639"/>
            <a:ext cx="1371600" cy="457200"/>
            <a:chOff x="6106160" y="6238639"/>
            <a:chExt cx="1371600" cy="457200"/>
          </a:xfrm>
        </p:grpSpPr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0CA14966-4101-4B41-B119-99CA03870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0960" y="62386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6AF7DCF6-C6B9-45C3-AC5C-942BC44C4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06160" y="646723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845F0DB-E25B-4353-BD76-8DC0A0C12109}"/>
              </a:ext>
            </a:extLst>
          </p:cNvPr>
          <p:cNvGrpSpPr/>
          <p:nvPr/>
        </p:nvGrpSpPr>
        <p:grpSpPr>
          <a:xfrm>
            <a:off x="2773680" y="4855272"/>
            <a:ext cx="2743200" cy="1371600"/>
            <a:chOff x="3505200" y="1981200"/>
            <a:chExt cx="2743200" cy="1371600"/>
          </a:xfrm>
        </p:grpSpPr>
        <p:sp>
          <p:nvSpPr>
            <p:cNvPr id="46" name="AutoShape 5">
              <a:extLst>
                <a:ext uri="{FF2B5EF4-FFF2-40B4-BE49-F238E27FC236}">
                  <a16:creationId xmlns:a16="http://schemas.microsoft.com/office/drawing/2014/main" id="{0AD12070-99D5-4E27-A2D2-A5388AFD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438400"/>
              <a:ext cx="2209800" cy="6096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IsCapitalOf</a:t>
              </a:r>
            </a:p>
          </p:txBody>
        </p:sp>
        <p:sp>
          <p:nvSpPr>
            <p:cNvPr id="47" name="Line 6">
              <a:extLst>
                <a:ext uri="{FF2B5EF4-FFF2-40B4-BE49-F238E27FC236}">
                  <a16:creationId xmlns:a16="http://schemas.microsoft.com/office/drawing/2014/main" id="{09534834-5863-439C-8F6D-B7D2FA2F8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1981200"/>
              <a:ext cx="16002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8689C462-F599-4358-A667-07F500B6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048000"/>
              <a:ext cx="1143000" cy="30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49" name="Oval 25">
            <a:extLst>
              <a:ext uri="{FF2B5EF4-FFF2-40B4-BE49-F238E27FC236}">
                <a16:creationId xmlns:a16="http://schemas.microsoft.com/office/drawing/2014/main" id="{919CE530-2B98-41E8-8F47-34DA3CA2A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87585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742F0B21-0DB9-48F7-8FCE-98E61155D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220" y="613493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834CB2C1-CEFE-40DC-BF4D-684993A22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9540" y="643465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A412C6F1-A8B6-4109-BD4E-BB4AC6BF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8" y="636353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area</a:t>
            </a:r>
          </a:p>
        </p:txBody>
      </p:sp>
      <p:sp>
        <p:nvSpPr>
          <p:cNvPr id="53" name="Oval 13">
            <a:extLst>
              <a:ext uri="{FF2B5EF4-FFF2-40B4-BE49-F238E27FC236}">
                <a16:creationId xmlns:a16="http://schemas.microsoft.com/office/drawing/2014/main" id="{8026EC16-9A83-4109-A7AC-569A94A5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" y="44257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4" name="Oval 14">
            <a:extLst>
              <a:ext uri="{FF2B5EF4-FFF2-40B4-BE49-F238E27FC236}">
                <a16:creationId xmlns:a16="http://schemas.microsoft.com/office/drawing/2014/main" id="{61DDD1F0-D8FE-499C-9DFB-D506062D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240" y="503531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55" name="Line 15">
            <a:extLst>
              <a:ext uri="{FF2B5EF4-FFF2-40B4-BE49-F238E27FC236}">
                <a16:creationId xmlns:a16="http://schemas.microsoft.com/office/drawing/2014/main" id="{BEDB88AD-6FF4-4516-862E-4B04B8944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1760" y="4654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AB9F0735-B162-47B3-A48A-18DC7A446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760" y="5035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41">
            <a:extLst>
              <a:ext uri="{FF2B5EF4-FFF2-40B4-BE49-F238E27FC236}">
                <a16:creationId xmlns:a16="http://schemas.microsoft.com/office/drawing/2014/main" id="{E67DAC14-F886-4D76-AB90-2AEBB6841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7239"/>
            <a:ext cx="477520" cy="76201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89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36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6544571" y="4116074"/>
            <a:ext cx="2448560" cy="722868"/>
          </a:xfrm>
          <a:prstGeom prst="wedgeRoundRectCallout">
            <a:avLst>
              <a:gd name="adj1" fmla="val 30083"/>
              <a:gd name="adj2" fmla="val 9120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Cardinality constraints of relationship sets?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188960" y="5060258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8278-9516-44FA-93E5-A68C472B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476504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F8A8E1F-58FE-44F8-A9C4-4FDEF274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4410" y="522224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94F410-E9A4-4BD4-903A-908855B051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935" y="606044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ACF0A427-238D-4463-9268-F69572DE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636524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9F8850C-7CC2-4149-B6F4-C12CAC61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60" y="644144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5F5EDFD1-5D20-45CC-BC41-212365C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0" y="545084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C8395C-2AD8-4F4F-B807-0F308C447C1E}"/>
              </a:ext>
            </a:extLst>
          </p:cNvPr>
          <p:cNvGrpSpPr/>
          <p:nvPr/>
        </p:nvGrpSpPr>
        <p:grpSpPr>
          <a:xfrm>
            <a:off x="1845913" y="4839576"/>
            <a:ext cx="838200" cy="1143000"/>
            <a:chOff x="1838960" y="4841240"/>
            <a:chExt cx="838200" cy="1143000"/>
          </a:xfrm>
        </p:grpSpPr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E744E1D3-F86E-442B-ABE9-3F3D00A9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5527040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8CCA05C4-7551-42AF-B64D-0171786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4841240"/>
              <a:ext cx="838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39">
            <a:extLst>
              <a:ext uri="{FF2B5EF4-FFF2-40B4-BE49-F238E27FC236}">
                <a16:creationId xmlns:a16="http://schemas.microsoft.com/office/drawing/2014/main" id="{403D511C-4FBA-4AE6-94FB-3035E3C3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0" y="6162439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2476AB61-6991-4492-B9E3-5656649E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0080" y="646723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C7A37F14-3402-4784-93E1-6E4A68E3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0" y="6238639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29D7456-4BCB-4EED-BFE2-850FE848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480" y="6238639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3E964-4926-443F-A9D3-FCC3A9C3B19A}"/>
              </a:ext>
            </a:extLst>
          </p:cNvPr>
          <p:cNvGrpSpPr/>
          <p:nvPr/>
        </p:nvGrpSpPr>
        <p:grpSpPr>
          <a:xfrm>
            <a:off x="6106160" y="6238639"/>
            <a:ext cx="1371600" cy="457200"/>
            <a:chOff x="6106160" y="6238639"/>
            <a:chExt cx="1371600" cy="457200"/>
          </a:xfrm>
        </p:grpSpPr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0CA14966-4101-4B41-B119-99CA03870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0960" y="62386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6AF7DCF6-C6B9-45C3-AC5C-942BC44C4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06160" y="646723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845F0DB-E25B-4353-BD76-8DC0A0C12109}"/>
              </a:ext>
            </a:extLst>
          </p:cNvPr>
          <p:cNvGrpSpPr/>
          <p:nvPr/>
        </p:nvGrpSpPr>
        <p:grpSpPr>
          <a:xfrm>
            <a:off x="2773680" y="4855272"/>
            <a:ext cx="2743200" cy="1371600"/>
            <a:chOff x="3505200" y="1981200"/>
            <a:chExt cx="2743200" cy="1371600"/>
          </a:xfrm>
        </p:grpSpPr>
        <p:sp>
          <p:nvSpPr>
            <p:cNvPr id="46" name="AutoShape 5">
              <a:extLst>
                <a:ext uri="{FF2B5EF4-FFF2-40B4-BE49-F238E27FC236}">
                  <a16:creationId xmlns:a16="http://schemas.microsoft.com/office/drawing/2014/main" id="{0AD12070-99D5-4E27-A2D2-A5388AFD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438400"/>
              <a:ext cx="2209800" cy="6096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IsCapitalOf</a:t>
              </a:r>
            </a:p>
          </p:txBody>
        </p:sp>
        <p:sp>
          <p:nvSpPr>
            <p:cNvPr id="47" name="Line 6">
              <a:extLst>
                <a:ext uri="{FF2B5EF4-FFF2-40B4-BE49-F238E27FC236}">
                  <a16:creationId xmlns:a16="http://schemas.microsoft.com/office/drawing/2014/main" id="{09534834-5863-439C-8F6D-B7D2FA2F8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1981200"/>
              <a:ext cx="16002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8689C462-F599-4358-A667-07F500B6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048000"/>
              <a:ext cx="1143000" cy="30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49" name="Oval 25">
            <a:extLst>
              <a:ext uri="{FF2B5EF4-FFF2-40B4-BE49-F238E27FC236}">
                <a16:creationId xmlns:a16="http://schemas.microsoft.com/office/drawing/2014/main" id="{919CE530-2B98-41E8-8F47-34DA3CA2A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87585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742F0B21-0DB9-48F7-8FCE-98E61155D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220" y="613493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834CB2C1-CEFE-40DC-BF4D-684993A22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9540" y="643465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A412C6F1-A8B6-4109-BD4E-BB4AC6BF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8" y="636353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area</a:t>
            </a:r>
          </a:p>
        </p:txBody>
      </p:sp>
      <p:sp>
        <p:nvSpPr>
          <p:cNvPr id="53" name="Oval 13">
            <a:extLst>
              <a:ext uri="{FF2B5EF4-FFF2-40B4-BE49-F238E27FC236}">
                <a16:creationId xmlns:a16="http://schemas.microsoft.com/office/drawing/2014/main" id="{8026EC16-9A83-4109-A7AC-569A94A5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" y="44257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4" name="Oval 14">
            <a:extLst>
              <a:ext uri="{FF2B5EF4-FFF2-40B4-BE49-F238E27FC236}">
                <a16:creationId xmlns:a16="http://schemas.microsoft.com/office/drawing/2014/main" id="{61DDD1F0-D8FE-499C-9DFB-D506062D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240" y="503531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55" name="Line 15">
            <a:extLst>
              <a:ext uri="{FF2B5EF4-FFF2-40B4-BE49-F238E27FC236}">
                <a16:creationId xmlns:a16="http://schemas.microsoft.com/office/drawing/2014/main" id="{BEDB88AD-6FF4-4516-862E-4B04B8944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1760" y="4654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AB9F0735-B162-47B3-A48A-18DC7A446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760" y="5035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41">
            <a:extLst>
              <a:ext uri="{FF2B5EF4-FFF2-40B4-BE49-F238E27FC236}">
                <a16:creationId xmlns:a16="http://schemas.microsoft.com/office/drawing/2014/main" id="{E67DAC14-F886-4D76-AB90-2AEBB6841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7239"/>
            <a:ext cx="477520" cy="76201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9EACAA-D840-41FA-85D6-3B04DCAE7D8A}"/>
              </a:ext>
            </a:extLst>
          </p:cNvPr>
          <p:cNvCxnSpPr/>
          <p:nvPr/>
        </p:nvCxnSpPr>
        <p:spPr>
          <a:xfrm flipH="1">
            <a:off x="2267585" y="5222240"/>
            <a:ext cx="6350" cy="228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ine 41">
            <a:extLst>
              <a:ext uri="{FF2B5EF4-FFF2-40B4-BE49-F238E27FC236}">
                <a16:creationId xmlns:a16="http://schemas.microsoft.com/office/drawing/2014/main" id="{A3278267-58E3-43D4-9E04-B44C9DD267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5531"/>
            <a:ext cx="477520" cy="76201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Line 6">
            <a:extLst>
              <a:ext uri="{FF2B5EF4-FFF2-40B4-BE49-F238E27FC236}">
                <a16:creationId xmlns:a16="http://schemas.microsoft.com/office/drawing/2014/main" id="{8BB56C50-096F-4CD7-ADEF-5376C8A3B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1135" y="4854418"/>
            <a:ext cx="1600200" cy="45720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BEB2D409-5935-4AC1-BA93-7967B762C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6580" y="5922072"/>
            <a:ext cx="1143000" cy="304800"/>
          </a:xfrm>
          <a:prstGeom prst="line">
            <a:avLst/>
          </a:prstGeom>
          <a:ln w="38100">
            <a:solidFill>
              <a:schemeClr val="accent2"/>
            </a:solidFill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477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E16EE2D1-18E6-4081-9203-B710FB1E87BE}"/>
              </a:ext>
            </a:extLst>
          </p:cNvPr>
          <p:cNvSpPr/>
          <p:nvPr/>
        </p:nvSpPr>
        <p:spPr>
          <a:xfrm>
            <a:off x="779557" y="1180376"/>
            <a:ext cx="8130421" cy="3616852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Design a database representing cities, counties, and states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states, record name and capital (city)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counties, record name, area, and location (state)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cities, record name, population, and location (county and state)</a:t>
            </a:r>
          </a:p>
          <a:p>
            <a:r>
              <a:rPr lang="en-US" sz="2400" dirty="0"/>
              <a:t>Assume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states are unique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counties are only unique within a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Names of cities are only unique within a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city is always located in a single county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county is always located in a single state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402EDE25-ED87-447E-AFCB-77946E789845}"/>
              </a:ext>
            </a:extLst>
          </p:cNvPr>
          <p:cNvSpPr/>
          <p:nvPr/>
        </p:nvSpPr>
        <p:spPr>
          <a:xfrm>
            <a:off x="6544571" y="4116074"/>
            <a:ext cx="2448560" cy="722868"/>
          </a:xfrm>
          <a:prstGeom prst="wedgeRoundRectCallout">
            <a:avLst>
              <a:gd name="adj1" fmla="val 30083"/>
              <a:gd name="adj2" fmla="val 9120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Keys, discriminator of entity sets?</a:t>
            </a:r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1CDA9B83-8F5A-4575-A616-EF6897BDF7FE}"/>
              </a:ext>
            </a:extLst>
          </p:cNvPr>
          <p:cNvSpPr/>
          <p:nvPr/>
        </p:nvSpPr>
        <p:spPr>
          <a:xfrm>
            <a:off x="8188960" y="5060258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8278-9516-44FA-93E5-A68C472B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476504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F8A8E1F-58FE-44F8-A9C4-4FDEF274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4410" y="522224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94F410-E9A4-4BD4-903A-908855B051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935" y="606044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ACF0A427-238D-4463-9268-F69572DE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760" y="636524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9F8850C-7CC2-4149-B6F4-C12CAC61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960" y="644144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5F5EDFD1-5D20-45CC-BC41-212365C9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0" y="545084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C8395C-2AD8-4F4F-B807-0F308C447C1E}"/>
              </a:ext>
            </a:extLst>
          </p:cNvPr>
          <p:cNvGrpSpPr/>
          <p:nvPr/>
        </p:nvGrpSpPr>
        <p:grpSpPr>
          <a:xfrm>
            <a:off x="1845913" y="4839576"/>
            <a:ext cx="838200" cy="1143000"/>
            <a:chOff x="1838960" y="4841240"/>
            <a:chExt cx="838200" cy="1143000"/>
          </a:xfrm>
        </p:grpSpPr>
        <p:sp>
          <p:nvSpPr>
            <p:cNvPr id="30" name="AutoShape 38">
              <a:extLst>
                <a:ext uri="{FF2B5EF4-FFF2-40B4-BE49-F238E27FC236}">
                  <a16:creationId xmlns:a16="http://schemas.microsoft.com/office/drawing/2014/main" id="{E744E1D3-F86E-442B-ABE9-3F3D00A9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5527040"/>
              <a:ext cx="8382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8CCA05C4-7551-42AF-B64D-0171786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960" y="4841240"/>
              <a:ext cx="838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39">
            <a:extLst>
              <a:ext uri="{FF2B5EF4-FFF2-40B4-BE49-F238E27FC236}">
                <a16:creationId xmlns:a16="http://schemas.microsoft.com/office/drawing/2014/main" id="{403D511C-4FBA-4AE6-94FB-3035E3C3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0" y="6162439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2476AB61-6991-4492-B9E3-5656649EF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0080" y="6467239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C7A37F14-3402-4784-93E1-6E4A68E3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0" y="6238639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29D7456-4BCB-4EED-BFE2-850FE8484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480" y="6238639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3E964-4926-443F-A9D3-FCC3A9C3B19A}"/>
              </a:ext>
            </a:extLst>
          </p:cNvPr>
          <p:cNvGrpSpPr/>
          <p:nvPr/>
        </p:nvGrpSpPr>
        <p:grpSpPr>
          <a:xfrm>
            <a:off x="6106160" y="6238639"/>
            <a:ext cx="1371600" cy="457200"/>
            <a:chOff x="6106160" y="6238639"/>
            <a:chExt cx="1371600" cy="457200"/>
          </a:xfrm>
        </p:grpSpPr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0CA14966-4101-4B41-B119-99CA03870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0960" y="62386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6AF7DCF6-C6B9-45C3-AC5C-942BC44C4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06160" y="646723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845F0DB-E25B-4353-BD76-8DC0A0C12109}"/>
              </a:ext>
            </a:extLst>
          </p:cNvPr>
          <p:cNvGrpSpPr/>
          <p:nvPr/>
        </p:nvGrpSpPr>
        <p:grpSpPr>
          <a:xfrm>
            <a:off x="2773680" y="4855272"/>
            <a:ext cx="2743200" cy="1371600"/>
            <a:chOff x="3505200" y="1981200"/>
            <a:chExt cx="2743200" cy="1371600"/>
          </a:xfrm>
        </p:grpSpPr>
        <p:sp>
          <p:nvSpPr>
            <p:cNvPr id="46" name="AutoShape 5">
              <a:extLst>
                <a:ext uri="{FF2B5EF4-FFF2-40B4-BE49-F238E27FC236}">
                  <a16:creationId xmlns:a16="http://schemas.microsoft.com/office/drawing/2014/main" id="{0AD12070-99D5-4E27-A2D2-A5388AFD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438400"/>
              <a:ext cx="2209800" cy="6096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IsCapitalOf</a:t>
              </a:r>
            </a:p>
          </p:txBody>
        </p:sp>
        <p:sp>
          <p:nvSpPr>
            <p:cNvPr id="47" name="Line 6">
              <a:extLst>
                <a:ext uri="{FF2B5EF4-FFF2-40B4-BE49-F238E27FC236}">
                  <a16:creationId xmlns:a16="http://schemas.microsoft.com/office/drawing/2014/main" id="{09534834-5863-439C-8F6D-B7D2FA2F8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1981200"/>
              <a:ext cx="1600200" cy="457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8689C462-F599-4358-A667-07F500B6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048000"/>
              <a:ext cx="1143000" cy="30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49" name="Oval 25">
            <a:extLst>
              <a:ext uri="{FF2B5EF4-FFF2-40B4-BE49-F238E27FC236}">
                <a16:creationId xmlns:a16="http://schemas.microsoft.com/office/drawing/2014/main" id="{919CE530-2B98-41E8-8F47-34DA3CA2A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87585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742F0B21-0DB9-48F7-8FCE-98E61155D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220" y="613493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834CB2C1-CEFE-40DC-BF4D-684993A22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9540" y="6434652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A412C6F1-A8B6-4109-BD4E-BB4AC6BF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8" y="6363532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area</a:t>
            </a:r>
          </a:p>
        </p:txBody>
      </p:sp>
      <p:sp>
        <p:nvSpPr>
          <p:cNvPr id="53" name="Oval 13">
            <a:extLst>
              <a:ext uri="{FF2B5EF4-FFF2-40B4-BE49-F238E27FC236}">
                <a16:creationId xmlns:a16="http://schemas.microsoft.com/office/drawing/2014/main" id="{8026EC16-9A83-4109-A7AC-569A94A5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" y="44257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54" name="Oval 14">
            <a:extLst>
              <a:ext uri="{FF2B5EF4-FFF2-40B4-BE49-F238E27FC236}">
                <a16:creationId xmlns:a16="http://schemas.microsoft.com/office/drawing/2014/main" id="{61DDD1F0-D8FE-499C-9DFB-D506062D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240" y="503531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55" name="Line 15">
            <a:extLst>
              <a:ext uri="{FF2B5EF4-FFF2-40B4-BE49-F238E27FC236}">
                <a16:creationId xmlns:a16="http://schemas.microsoft.com/office/drawing/2014/main" id="{BEDB88AD-6FF4-4516-862E-4B04B8944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1760" y="4654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AB9F0735-B162-47B3-A48A-18DC7A446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1760" y="503531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41">
            <a:extLst>
              <a:ext uri="{FF2B5EF4-FFF2-40B4-BE49-F238E27FC236}">
                <a16:creationId xmlns:a16="http://schemas.microsoft.com/office/drawing/2014/main" id="{E67DAC14-F886-4D76-AB90-2AEBB6841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7239"/>
            <a:ext cx="477520" cy="76201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9EACAA-D840-41FA-85D6-3B04DCAE7D8A}"/>
              </a:ext>
            </a:extLst>
          </p:cNvPr>
          <p:cNvCxnSpPr/>
          <p:nvPr/>
        </p:nvCxnSpPr>
        <p:spPr>
          <a:xfrm flipH="1">
            <a:off x="2267585" y="5222240"/>
            <a:ext cx="6350" cy="228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ine 41">
            <a:extLst>
              <a:ext uri="{FF2B5EF4-FFF2-40B4-BE49-F238E27FC236}">
                <a16:creationId xmlns:a16="http://schemas.microsoft.com/office/drawing/2014/main" id="{A3278267-58E3-43D4-9E04-B44C9DD267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9560" y="6465531"/>
            <a:ext cx="477520" cy="76201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Line 6">
            <a:extLst>
              <a:ext uri="{FF2B5EF4-FFF2-40B4-BE49-F238E27FC236}">
                <a16:creationId xmlns:a16="http://schemas.microsoft.com/office/drawing/2014/main" id="{8BB56C50-096F-4CD7-ADEF-5376C8A3B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1135" y="4854418"/>
            <a:ext cx="1600200" cy="45720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BEB2D409-5935-4AC1-BA93-7967B762C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6580" y="5922072"/>
            <a:ext cx="1143000" cy="304800"/>
          </a:xfrm>
          <a:prstGeom prst="line">
            <a:avLst/>
          </a:prstGeom>
          <a:ln w="38100">
            <a:solidFill>
              <a:schemeClr val="accent2"/>
            </a:solidFill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DA80181-11E5-49BE-9D4C-74A4E36AF9E3}"/>
              </a:ext>
            </a:extLst>
          </p:cNvPr>
          <p:cNvSpPr/>
          <p:nvPr/>
        </p:nvSpPr>
        <p:spPr>
          <a:xfrm>
            <a:off x="3878580" y="3100216"/>
            <a:ext cx="1274685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F768AE-F1BD-4B0E-B467-AE098067B8A1}"/>
              </a:ext>
            </a:extLst>
          </p:cNvPr>
          <p:cNvCxnSpPr>
            <a:cxnSpLocks/>
          </p:cNvCxnSpPr>
          <p:nvPr/>
        </p:nvCxnSpPr>
        <p:spPr>
          <a:xfrm flipV="1">
            <a:off x="6652473" y="6569272"/>
            <a:ext cx="687414" cy="1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8D850BC0-AFB6-4C6F-A7D7-EC7367B9EDFE}"/>
              </a:ext>
            </a:extLst>
          </p:cNvPr>
          <p:cNvSpPr/>
          <p:nvPr/>
        </p:nvSpPr>
        <p:spPr>
          <a:xfrm>
            <a:off x="4678680" y="3429000"/>
            <a:ext cx="252476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47F67D-82C7-47F7-A037-8E61C1CBDF52}"/>
              </a:ext>
            </a:extLst>
          </p:cNvPr>
          <p:cNvCxnSpPr>
            <a:cxnSpLocks/>
          </p:cNvCxnSpPr>
          <p:nvPr/>
        </p:nvCxnSpPr>
        <p:spPr>
          <a:xfrm flipV="1">
            <a:off x="537501" y="6200972"/>
            <a:ext cx="687414" cy="1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48C8879-9FCB-41B1-81D4-F521C9F27291}"/>
              </a:ext>
            </a:extLst>
          </p:cNvPr>
          <p:cNvCxnSpPr>
            <a:cxnSpLocks/>
          </p:cNvCxnSpPr>
          <p:nvPr/>
        </p:nvCxnSpPr>
        <p:spPr>
          <a:xfrm flipV="1">
            <a:off x="494896" y="4768412"/>
            <a:ext cx="687414" cy="1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3282B8D-2964-4B21-ABFA-2CD82FF0E185}"/>
              </a:ext>
            </a:extLst>
          </p:cNvPr>
          <p:cNvSpPr/>
          <p:nvPr/>
        </p:nvSpPr>
        <p:spPr>
          <a:xfrm>
            <a:off x="4297680" y="3733800"/>
            <a:ext cx="252476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477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8" grpId="0" animBg="1"/>
      <p:bldP spid="6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1: final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4677479"/>
                <a:ext cx="8173014" cy="2043997"/>
              </a:xfrm>
            </p:spPr>
            <p:txBody>
              <a:bodyPr/>
              <a:lstStyle/>
              <a:p>
                <a:r>
                  <a:rPr lang="en-US" dirty="0"/>
                  <a:t>Technically, nothing in this design prevents a city in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from being the capital of another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but oh well…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4677479"/>
                <a:ext cx="8173014" cy="2043997"/>
              </a:xfrm>
              <a:blipFill rotWithShape="0">
                <a:blip r:embed="rId3"/>
                <a:stretch>
                  <a:fillRect l="-1342" t="-4762" r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4600" y="17526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962400" y="2438400"/>
            <a:ext cx="22098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IsCapitalOf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505200" y="1981200"/>
            <a:ext cx="16002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590800" y="18288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13"/>
          <p:cNvSpPr>
            <a:spLocks noChangeArrowheads="1"/>
          </p:cNvSpPr>
          <p:nvPr/>
        </p:nvSpPr>
        <p:spPr bwMode="auto">
          <a:xfrm>
            <a:off x="1066800" y="1447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10" name="Oval 14"/>
          <p:cNvSpPr>
            <a:spLocks noChangeArrowheads="1"/>
          </p:cNvSpPr>
          <p:nvPr/>
        </p:nvSpPr>
        <p:spPr bwMode="auto">
          <a:xfrm>
            <a:off x="609600" y="205740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2133600" y="16764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H="1">
            <a:off x="2133600" y="20574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H="1">
            <a:off x="3016250" y="2209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 flipH="1">
            <a:off x="3025775" y="3048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2514600" y="3352800"/>
            <a:ext cx="10668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Counties</a:t>
            </a: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2590800" y="3429000"/>
            <a:ext cx="9144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25"/>
          <p:cNvSpPr>
            <a:spLocks noChangeArrowheads="1"/>
          </p:cNvSpPr>
          <p:nvPr/>
        </p:nvSpPr>
        <p:spPr bwMode="auto">
          <a:xfrm>
            <a:off x="1066800" y="3048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>
            <a:off x="2133600" y="32766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 flipH="1">
            <a:off x="2133600" y="36576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29"/>
          <p:cNvSpPr>
            <a:spLocks noChangeArrowheads="1"/>
          </p:cNvSpPr>
          <p:nvPr/>
        </p:nvSpPr>
        <p:spPr bwMode="auto">
          <a:xfrm>
            <a:off x="1066800" y="3657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area</a:t>
            </a:r>
          </a:p>
        </p:txBody>
      </p:sp>
      <p:sp>
        <p:nvSpPr>
          <p:cNvPr id="21" name="Oval 31"/>
          <p:cNvSpPr>
            <a:spLocks noChangeArrowheads="1"/>
          </p:cNvSpPr>
          <p:nvPr/>
        </p:nvSpPr>
        <p:spPr bwMode="auto">
          <a:xfrm>
            <a:off x="7162800" y="3352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22" name="Line 33"/>
          <p:cNvSpPr>
            <a:spLocks noChangeShapeType="1"/>
          </p:cNvSpPr>
          <p:nvPr/>
        </p:nvSpPr>
        <p:spPr bwMode="auto">
          <a:xfrm flipV="1">
            <a:off x="6858000" y="35814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AutoShape 35"/>
          <p:cNvSpPr>
            <a:spLocks noChangeArrowheads="1"/>
          </p:cNvSpPr>
          <p:nvPr/>
        </p:nvSpPr>
        <p:spPr bwMode="auto">
          <a:xfrm>
            <a:off x="2438400" y="24384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2590800" y="25146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4038600" y="32766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3581400" y="3581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1"/>
          <p:cNvSpPr>
            <a:spLocks noChangeShapeType="1"/>
          </p:cNvSpPr>
          <p:nvPr/>
        </p:nvSpPr>
        <p:spPr bwMode="auto">
          <a:xfrm>
            <a:off x="5181600" y="3581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42"/>
          <p:cNvSpPr>
            <a:spLocks noChangeArrowheads="1"/>
          </p:cNvSpPr>
          <p:nvPr/>
        </p:nvSpPr>
        <p:spPr bwMode="auto">
          <a:xfrm>
            <a:off x="5638800" y="33528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4191000" y="33528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0" name="Line 44"/>
          <p:cNvSpPr>
            <a:spLocks noChangeShapeType="1"/>
          </p:cNvSpPr>
          <p:nvPr/>
        </p:nvSpPr>
        <p:spPr bwMode="auto">
          <a:xfrm>
            <a:off x="5105400" y="3048000"/>
            <a:ext cx="1143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F4645D-710D-4D65-B1A5-188C58F0B7A0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>
            <a:off x="3581400" y="35814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11695F-7B21-49D9-BAC5-7586CD35696C}"/>
              </a:ext>
            </a:extLst>
          </p:cNvPr>
          <p:cNvCxnSpPr>
            <a:stCxn id="13" idx="0"/>
            <a:endCxn id="23" idx="0"/>
          </p:cNvCxnSpPr>
          <p:nvPr/>
        </p:nvCxnSpPr>
        <p:spPr>
          <a:xfrm flipH="1">
            <a:off x="3009900" y="2209800"/>
            <a:ext cx="635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8FD9CA-3975-48F0-9D5D-171D224A0D96}"/>
              </a:ext>
            </a:extLst>
          </p:cNvPr>
          <p:cNvCxnSpPr>
            <a:cxnSpLocks/>
          </p:cNvCxnSpPr>
          <p:nvPr/>
        </p:nvCxnSpPr>
        <p:spPr>
          <a:xfrm flipV="1">
            <a:off x="1255685" y="1816275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AF7206-654D-4F17-A2C4-88FADAB3411C}"/>
              </a:ext>
            </a:extLst>
          </p:cNvPr>
          <p:cNvCxnSpPr>
            <a:cxnSpLocks/>
          </p:cNvCxnSpPr>
          <p:nvPr/>
        </p:nvCxnSpPr>
        <p:spPr>
          <a:xfrm flipV="1">
            <a:off x="1334607" y="3430088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865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1:  why not good?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4060134"/>
            <a:ext cx="8173014" cy="2661341"/>
          </a:xfrm>
        </p:spPr>
        <p:txBody>
          <a:bodyPr/>
          <a:lstStyle/>
          <a:p>
            <a:r>
              <a:rPr lang="en-US" dirty="0"/>
              <a:t>County area information is repeated for every city in the county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Redundancy is bad (why?)</a:t>
            </a:r>
          </a:p>
          <a:p>
            <a:r>
              <a:rPr lang="en-US" dirty="0"/>
              <a:t>State capital should really be a city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Should “reference” entities through explicit relationships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2514600" y="17526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Cities</a:t>
            </a:r>
          </a:p>
        </p:txBody>
      </p:sp>
      <p:sp>
        <p:nvSpPr>
          <p:cNvPr id="6" name="AutoShape 24"/>
          <p:cNvSpPr>
            <a:spLocks noChangeArrowheads="1"/>
          </p:cNvSpPr>
          <p:nvPr/>
        </p:nvSpPr>
        <p:spPr bwMode="auto">
          <a:xfrm>
            <a:off x="3962400" y="16764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7" name="Line 25"/>
          <p:cNvSpPr>
            <a:spLocks noChangeShapeType="1"/>
          </p:cNvSpPr>
          <p:nvPr/>
        </p:nvSpPr>
        <p:spPr bwMode="auto">
          <a:xfrm>
            <a:off x="3505200" y="19812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6"/>
          <p:cNvSpPr>
            <a:spLocks noChangeShapeType="1"/>
          </p:cNvSpPr>
          <p:nvPr/>
        </p:nvSpPr>
        <p:spPr bwMode="auto">
          <a:xfrm>
            <a:off x="5105400" y="19812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5562600" y="17526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States</a:t>
            </a:r>
          </a:p>
        </p:txBody>
      </p:sp>
      <p:sp>
        <p:nvSpPr>
          <p:cNvPr id="10" name="AutoShape 28"/>
          <p:cNvSpPr>
            <a:spLocks noChangeArrowheads="1"/>
          </p:cNvSpPr>
          <p:nvPr/>
        </p:nvSpPr>
        <p:spPr bwMode="auto">
          <a:xfrm>
            <a:off x="4114800" y="17526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2590800" y="18288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30"/>
          <p:cNvSpPr>
            <a:spLocks noChangeArrowheads="1"/>
          </p:cNvSpPr>
          <p:nvPr/>
        </p:nvSpPr>
        <p:spPr bwMode="auto">
          <a:xfrm>
            <a:off x="7086600" y="1447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13" name="Oval 31"/>
          <p:cNvSpPr>
            <a:spLocks noChangeArrowheads="1"/>
          </p:cNvSpPr>
          <p:nvPr/>
        </p:nvSpPr>
        <p:spPr bwMode="auto">
          <a:xfrm>
            <a:off x="7086600" y="2057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capital</a:t>
            </a:r>
          </a:p>
        </p:txBody>
      </p:sp>
      <p:sp>
        <p:nvSpPr>
          <p:cNvPr id="14" name="Oval 32"/>
          <p:cNvSpPr>
            <a:spLocks noChangeArrowheads="1"/>
          </p:cNvSpPr>
          <p:nvPr/>
        </p:nvSpPr>
        <p:spPr bwMode="auto">
          <a:xfrm>
            <a:off x="1066800" y="1447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name</a:t>
            </a:r>
          </a:p>
        </p:txBody>
      </p:sp>
      <p:sp>
        <p:nvSpPr>
          <p:cNvPr id="15" name="Oval 33"/>
          <p:cNvSpPr>
            <a:spLocks noChangeArrowheads="1"/>
          </p:cNvSpPr>
          <p:nvPr/>
        </p:nvSpPr>
        <p:spPr bwMode="auto">
          <a:xfrm>
            <a:off x="609600" y="2057400"/>
            <a:ext cx="1524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population</a:t>
            </a:r>
          </a:p>
        </p:txBody>
      </p:sp>
      <p:sp>
        <p:nvSpPr>
          <p:cNvPr id="16" name="Line 34"/>
          <p:cNvSpPr>
            <a:spLocks noChangeShapeType="1"/>
          </p:cNvSpPr>
          <p:nvPr/>
        </p:nvSpPr>
        <p:spPr bwMode="auto">
          <a:xfrm>
            <a:off x="2133600" y="16764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5"/>
          <p:cNvSpPr>
            <a:spLocks noChangeShapeType="1"/>
          </p:cNvSpPr>
          <p:nvPr/>
        </p:nvSpPr>
        <p:spPr bwMode="auto">
          <a:xfrm flipH="1">
            <a:off x="2133600" y="20574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6"/>
          <p:cNvSpPr>
            <a:spLocks noChangeShapeType="1"/>
          </p:cNvSpPr>
          <p:nvPr/>
        </p:nvSpPr>
        <p:spPr bwMode="auto">
          <a:xfrm flipV="1">
            <a:off x="6781800" y="1676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7"/>
          <p:cNvSpPr>
            <a:spLocks noChangeShapeType="1"/>
          </p:cNvSpPr>
          <p:nvPr/>
        </p:nvSpPr>
        <p:spPr bwMode="auto">
          <a:xfrm>
            <a:off x="6781800" y="2057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49"/>
          <p:cNvSpPr>
            <a:spLocks noChangeArrowheads="1"/>
          </p:cNvSpPr>
          <p:nvPr/>
        </p:nvSpPr>
        <p:spPr bwMode="auto">
          <a:xfrm>
            <a:off x="609600" y="3276600"/>
            <a:ext cx="15240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county_area</a:t>
            </a:r>
          </a:p>
        </p:txBody>
      </p:sp>
      <p:sp>
        <p:nvSpPr>
          <p:cNvPr id="21" name="Line 50"/>
          <p:cNvSpPr>
            <a:spLocks noChangeShapeType="1"/>
          </p:cNvSpPr>
          <p:nvPr/>
        </p:nvSpPr>
        <p:spPr bwMode="auto">
          <a:xfrm flipH="1">
            <a:off x="2133600" y="2209800"/>
            <a:ext cx="53340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51"/>
          <p:cNvSpPr>
            <a:spLocks noChangeShapeType="1"/>
          </p:cNvSpPr>
          <p:nvPr/>
        </p:nvSpPr>
        <p:spPr bwMode="auto">
          <a:xfrm flipH="1">
            <a:off x="2133600" y="2209800"/>
            <a:ext cx="762000" cy="1295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52"/>
          <p:cNvSpPr>
            <a:spLocks noChangeArrowheads="1"/>
          </p:cNvSpPr>
          <p:nvPr/>
        </p:nvSpPr>
        <p:spPr bwMode="auto">
          <a:xfrm>
            <a:off x="609600" y="2667000"/>
            <a:ext cx="15240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county_name</a:t>
            </a:r>
            <a:endParaRPr lang="en-US" i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5E24AE-6A69-4A6E-817D-B09137972DA4}"/>
              </a:ext>
            </a:extLst>
          </p:cNvPr>
          <p:cNvCxnSpPr>
            <a:stCxn id="7" idx="0"/>
            <a:endCxn id="7" idx="1"/>
          </p:cNvCxnSpPr>
          <p:nvPr/>
        </p:nvCxnSpPr>
        <p:spPr>
          <a:xfrm>
            <a:off x="3505200" y="1981200"/>
            <a:ext cx="457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D9957B-0347-4F31-808B-1BFA7A988BCA}"/>
              </a:ext>
            </a:extLst>
          </p:cNvPr>
          <p:cNvCxnSpPr>
            <a:cxnSpLocks/>
          </p:cNvCxnSpPr>
          <p:nvPr/>
        </p:nvCxnSpPr>
        <p:spPr>
          <a:xfrm flipV="1">
            <a:off x="1239357" y="179177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838C14-5698-4143-9A92-1112FCAAE7E5}"/>
              </a:ext>
            </a:extLst>
          </p:cNvPr>
          <p:cNvCxnSpPr>
            <a:cxnSpLocks/>
          </p:cNvCxnSpPr>
          <p:nvPr/>
        </p:nvCxnSpPr>
        <p:spPr>
          <a:xfrm flipV="1">
            <a:off x="1084236" y="3065412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453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40</a:t>
            </a:fld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0F5F625-55B5-41F8-826C-09D29BBF6E6C}"/>
              </a:ext>
            </a:extLst>
          </p:cNvPr>
          <p:cNvSpPr/>
          <p:nvPr/>
        </p:nvSpPr>
        <p:spPr>
          <a:xfrm>
            <a:off x="779557" y="1180376"/>
            <a:ext cx="7744511" cy="2756193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Design a database consistent with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station has a unique name and an address, and is either an express station or a local station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train has a unique number and an engineer, and is either an express train or a local train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local train can stop at any station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An express train only stops at express stations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train can stop at a station for any number of times during a day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Train schedules are the same everyday</a:t>
            </a:r>
          </a:p>
        </p:txBody>
      </p:sp>
      <p:pic>
        <p:nvPicPr>
          <p:cNvPr id="6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C7862381-8FA8-4B1F-B21C-3896AF4CA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D40E266-EB08-4E8B-8BB4-E4C6E094F6A9}"/>
              </a:ext>
            </a:extLst>
          </p:cNvPr>
          <p:cNvSpPr/>
          <p:nvPr/>
        </p:nvSpPr>
        <p:spPr>
          <a:xfrm>
            <a:off x="2275841" y="5183878"/>
            <a:ext cx="5324682" cy="1111470"/>
          </a:xfrm>
          <a:prstGeom prst="wedgeRoundRectCallout">
            <a:avLst>
              <a:gd name="adj1" fmla="val 55299"/>
              <a:gd name="adj2" fmla="val -3529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are the entity sets, relationship sets, and their attributes? What are the types of relationships and cardinality constraints, keys, discriminators?</a:t>
            </a:r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E2AD916F-3FF4-4AE4-B886-C2E189113ECF}"/>
              </a:ext>
            </a:extLst>
          </p:cNvPr>
          <p:cNvSpPr/>
          <p:nvPr/>
        </p:nvSpPr>
        <p:spPr>
          <a:xfrm>
            <a:off x="7965440" y="5125061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757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2: first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41</a:t>
            </a:fld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0F5F625-55B5-41F8-826C-09D29BBF6E6C}"/>
              </a:ext>
            </a:extLst>
          </p:cNvPr>
          <p:cNvSpPr/>
          <p:nvPr/>
        </p:nvSpPr>
        <p:spPr>
          <a:xfrm>
            <a:off x="779558" y="1180376"/>
            <a:ext cx="7628274" cy="2756193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Design a database consistent with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station has a unique name and an address, and is either an express station or a local station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train has a unique number and an engineer, and is either an express train or a local train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local train can stop at any station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express train only stops at express stations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train can stop at a station for any number of times during a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Train schedules are the same everyday</a:t>
            </a:r>
          </a:p>
        </p:txBody>
      </p:sp>
      <p:pic>
        <p:nvPicPr>
          <p:cNvPr id="6" name="Picture 2" descr="Project manager vs. program manager. What's the difference? - Backlog">
            <a:extLst>
              <a:ext uri="{FF2B5EF4-FFF2-40B4-BE49-F238E27FC236}">
                <a16:creationId xmlns:a16="http://schemas.microsoft.com/office/drawing/2014/main" id="{C7862381-8FA8-4B1F-B21C-3896AF4CA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112693" y="1615440"/>
            <a:ext cx="336220" cy="82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87ACC5E-8B24-483F-A023-B50BCA360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848" y="516481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982B6B6F-0D3F-406C-8249-273CEFE6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648" y="508861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StopsAt</a:t>
            </a: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0697BC57-C090-4732-B091-5C64F8A0D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8448" y="539341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C61DEB66-14B3-4782-8769-D9FC04C0D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8648" y="539341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E0708E-D538-43C1-A9BF-B3DC7E277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848" y="516481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8D22E24B-3F97-4F65-9974-231259DD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848" y="45552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4D3B338D-4027-460D-A7E7-885F46AB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848" y="51648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8835DD0A-41EF-42DF-9AD0-8E17E66A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248" y="45552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E134FA93-22BC-4B3A-BC7C-88B756EDFA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5048" y="478381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97C33AB6-62A8-4F75-8B19-E46A0C40B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048" y="562201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47879A76-F86A-4CC2-BC10-E490473C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848" y="57744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E/L?</a:t>
            </a: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857219FA-31E9-42EC-9FDB-3FE65F044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048" y="539341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Oval 25">
            <a:extLst>
              <a:ext uri="{FF2B5EF4-FFF2-40B4-BE49-F238E27FC236}">
                <a16:creationId xmlns:a16="http://schemas.microsoft.com/office/drawing/2014/main" id="{6A68D028-1006-433F-BE07-11D8CCC2C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248" y="51648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22" name="Oval 26">
            <a:extLst>
              <a:ext uri="{FF2B5EF4-FFF2-40B4-BE49-F238E27FC236}">
                <a16:creationId xmlns:a16="http://schemas.microsoft.com/office/drawing/2014/main" id="{A8E05888-9BF3-4892-AFBC-ECC8F6DF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248" y="57744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E/L?</a:t>
            </a: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F461DE3D-880C-4725-BD46-8448652D11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33048" y="478381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8">
            <a:extLst>
              <a:ext uri="{FF2B5EF4-FFF2-40B4-BE49-F238E27FC236}">
                <a16:creationId xmlns:a16="http://schemas.microsoft.com/office/drawing/2014/main" id="{B2FEA6B7-E07D-4394-B84A-95D843F5FA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3048" y="562201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1975CF68-95F3-4E83-BD37-49101C37D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3048" y="539341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30">
            <a:extLst>
              <a:ext uri="{FF2B5EF4-FFF2-40B4-BE49-F238E27FC236}">
                <a16:creationId xmlns:a16="http://schemas.microsoft.com/office/drawing/2014/main" id="{ED7B4AFB-1CFE-414D-A134-30991B1AD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986" y="585061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time</a:t>
            </a:r>
          </a:p>
        </p:txBody>
      </p:sp>
      <p:sp>
        <p:nvSpPr>
          <p:cNvPr id="27" name="Line 31">
            <a:extLst>
              <a:ext uri="{FF2B5EF4-FFF2-40B4-BE49-F238E27FC236}">
                <a16:creationId xmlns:a16="http://schemas.microsoft.com/office/drawing/2014/main" id="{F22826BA-5903-42F5-8B17-73F14CD75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3023" y="569821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620642BC-183B-45FB-A466-C1D13F6A5BFE}"/>
              </a:ext>
            </a:extLst>
          </p:cNvPr>
          <p:cNvSpPr/>
          <p:nvPr/>
        </p:nvSpPr>
        <p:spPr>
          <a:xfrm>
            <a:off x="7109848" y="3614950"/>
            <a:ext cx="1066800" cy="630940"/>
          </a:xfrm>
          <a:prstGeom prst="wedgeRoundRectCallout">
            <a:avLst>
              <a:gd name="adj1" fmla="val 81449"/>
              <a:gd name="adj2" fmla="val -2300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Why not good?</a:t>
            </a:r>
          </a:p>
        </p:txBody>
      </p:sp>
      <p:sp>
        <p:nvSpPr>
          <p:cNvPr id="29" name="Smiley Face 28">
            <a:extLst>
              <a:ext uri="{FF2B5EF4-FFF2-40B4-BE49-F238E27FC236}">
                <a16:creationId xmlns:a16="http://schemas.microsoft.com/office/drawing/2014/main" id="{C204B0BE-51D0-481E-B528-C17A1865EA7B}"/>
              </a:ext>
            </a:extLst>
          </p:cNvPr>
          <p:cNvSpPr/>
          <p:nvPr/>
        </p:nvSpPr>
        <p:spPr>
          <a:xfrm>
            <a:off x="8604828" y="3429000"/>
            <a:ext cx="345440" cy="552563"/>
          </a:xfrm>
          <a:prstGeom prst="smileyFac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DCDF2A-C674-4B23-88E9-F82BF445B3BC}"/>
              </a:ext>
            </a:extLst>
          </p:cNvPr>
          <p:cNvSpPr/>
          <p:nvPr/>
        </p:nvSpPr>
        <p:spPr>
          <a:xfrm>
            <a:off x="1460114" y="1624999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AutoShape 38">
            <a:extLst>
              <a:ext uri="{FF2B5EF4-FFF2-40B4-BE49-F238E27FC236}">
                <a16:creationId xmlns:a16="http://schemas.microsoft.com/office/drawing/2014/main" id="{9C1A43C5-862E-4212-8445-87ACC90A1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579" y="2570562"/>
            <a:ext cx="629578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138CFA-1293-4FD2-A4E4-0C9CA3CFBFA8}"/>
              </a:ext>
            </a:extLst>
          </p:cNvPr>
          <p:cNvSpPr/>
          <p:nvPr/>
        </p:nvSpPr>
        <p:spPr>
          <a:xfrm>
            <a:off x="1460114" y="2189646"/>
            <a:ext cx="802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E42CF1BF-A08A-49E2-8179-EFBDE1607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801" y="2854878"/>
            <a:ext cx="629578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D383A0CD-EFB4-491D-A29E-CE09D42FBACA}"/>
              </a:ext>
            </a:extLst>
          </p:cNvPr>
          <p:cNvSpPr/>
          <p:nvPr/>
        </p:nvSpPr>
        <p:spPr>
          <a:xfrm>
            <a:off x="2028481" y="5664630"/>
            <a:ext cx="1923829" cy="999641"/>
          </a:xfrm>
          <a:prstGeom prst="wedgeRoundRectCallout">
            <a:avLst>
              <a:gd name="adj1" fmla="val -58182"/>
              <a:gd name="adj2" fmla="val -3468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Cannot prevent express trains from stopping at any local stations</a:t>
            </a: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BEA46781-29DC-4E06-9CEB-CD22FCC9ED1B}"/>
              </a:ext>
            </a:extLst>
          </p:cNvPr>
          <p:cNvSpPr/>
          <p:nvPr/>
        </p:nvSpPr>
        <p:spPr>
          <a:xfrm>
            <a:off x="2960177" y="3832382"/>
            <a:ext cx="2673186" cy="999641"/>
          </a:xfrm>
          <a:prstGeom prst="wedgeRoundRectCallout">
            <a:avLst>
              <a:gd name="adj1" fmla="val -2599"/>
              <a:gd name="adj2" fmla="val 87229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Unintended constraint: A train can stop at a station only ONCE during a day! (slide 12)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140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2: second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1981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48400" y="19812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7724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7724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2286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676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74676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86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12954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12954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133600" y="39624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133600" y="32766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5181600" y="32766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LocalStations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181600" y="39624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ExpressStations</a:t>
            </a: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1643063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6400800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>
            <a:off x="2111375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6858000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36"/>
          <p:cNvSpPr>
            <a:spLocks/>
          </p:cNvSpPr>
          <p:nvPr/>
        </p:nvSpPr>
        <p:spPr bwMode="auto">
          <a:xfrm>
            <a:off x="1955800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37"/>
          <p:cNvSpPr>
            <a:spLocks/>
          </p:cNvSpPr>
          <p:nvPr/>
        </p:nvSpPr>
        <p:spPr bwMode="auto">
          <a:xfrm>
            <a:off x="1701800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8"/>
          <p:cNvSpPr>
            <a:spLocks/>
          </p:cNvSpPr>
          <p:nvPr/>
        </p:nvSpPr>
        <p:spPr bwMode="auto">
          <a:xfrm flipH="1">
            <a:off x="6861175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39"/>
          <p:cNvSpPr>
            <a:spLocks/>
          </p:cNvSpPr>
          <p:nvPr/>
        </p:nvSpPr>
        <p:spPr bwMode="auto">
          <a:xfrm flipH="1">
            <a:off x="6861175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Speech Bubble: Rectangle with Corners Rounded 76">
            <a:extLst>
              <a:ext uri="{FF2B5EF4-FFF2-40B4-BE49-F238E27FC236}">
                <a16:creationId xmlns:a16="http://schemas.microsoft.com/office/drawing/2014/main" id="{C04FA640-BBEF-4DB5-BC24-DDBB31689813}"/>
              </a:ext>
            </a:extLst>
          </p:cNvPr>
          <p:cNvSpPr/>
          <p:nvPr/>
        </p:nvSpPr>
        <p:spPr>
          <a:xfrm>
            <a:off x="1126233" y="4803829"/>
            <a:ext cx="6523472" cy="136514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station has a unique name and an address, and is either an express station or a local 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train has a unique number and an engineer, and is either an express train or a local train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….. </a:t>
            </a:r>
          </a:p>
        </p:txBody>
      </p:sp>
    </p:spTree>
    <p:extLst>
      <p:ext uri="{BB962C8B-B14F-4D97-AF65-F5344CB8AC3E}">
        <p14:creationId xmlns:p14="http://schemas.microsoft.com/office/powerpoint/2010/main" val="4219112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38913"/>
            <a:ext cx="8801664" cy="1180160"/>
          </a:xfrm>
        </p:spPr>
        <p:txBody>
          <a:bodyPr/>
          <a:lstStyle/>
          <a:p>
            <a:r>
              <a:rPr lang="en-US" dirty="0"/>
              <a:t>Case study 2: second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1981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48400" y="19812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7724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7724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2286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676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74676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86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12954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12954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3406775" y="1371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960813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133600" y="39624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133600" y="32766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5181600" y="32766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LocalStations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181600" y="39624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ExpressStations</a:t>
            </a: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1643063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2971800" y="1981200"/>
            <a:ext cx="1981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LocalTrainStops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3048000" y="2057400"/>
            <a:ext cx="18288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6400800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>
            <a:off x="2111375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6858000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36"/>
          <p:cNvSpPr>
            <a:spLocks/>
          </p:cNvSpPr>
          <p:nvPr/>
        </p:nvSpPr>
        <p:spPr bwMode="auto">
          <a:xfrm>
            <a:off x="1955800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37"/>
          <p:cNvSpPr>
            <a:spLocks/>
          </p:cNvSpPr>
          <p:nvPr/>
        </p:nvSpPr>
        <p:spPr bwMode="auto">
          <a:xfrm>
            <a:off x="1701800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8"/>
          <p:cNvSpPr>
            <a:spLocks/>
          </p:cNvSpPr>
          <p:nvPr/>
        </p:nvSpPr>
        <p:spPr bwMode="auto">
          <a:xfrm flipH="1">
            <a:off x="6861175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39"/>
          <p:cNvSpPr>
            <a:spLocks/>
          </p:cNvSpPr>
          <p:nvPr/>
        </p:nvSpPr>
        <p:spPr bwMode="auto">
          <a:xfrm flipH="1">
            <a:off x="6861175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40"/>
          <p:cNvSpPr>
            <a:spLocks noChangeArrowheads="1"/>
          </p:cNvSpPr>
          <p:nvPr/>
        </p:nvSpPr>
        <p:spPr bwMode="auto">
          <a:xfrm>
            <a:off x="3048000" y="2590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2" name="AutoShape 41"/>
          <p:cNvSpPr>
            <a:spLocks noChangeArrowheads="1"/>
          </p:cNvSpPr>
          <p:nvPr/>
        </p:nvSpPr>
        <p:spPr bwMode="auto">
          <a:xfrm>
            <a:off x="3200400" y="2667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3" name="AutoShape 42"/>
          <p:cNvSpPr>
            <a:spLocks noChangeArrowheads="1"/>
          </p:cNvSpPr>
          <p:nvPr/>
        </p:nvSpPr>
        <p:spPr bwMode="auto">
          <a:xfrm>
            <a:off x="5105400" y="19812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4" name="Line 44"/>
          <p:cNvSpPr>
            <a:spLocks noChangeShapeType="1"/>
          </p:cNvSpPr>
          <p:nvPr/>
        </p:nvSpPr>
        <p:spPr bwMode="auto">
          <a:xfrm>
            <a:off x="3505200" y="2438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5"/>
          <p:cNvSpPr>
            <a:spLocks noChangeShapeType="1"/>
          </p:cNvSpPr>
          <p:nvPr/>
        </p:nvSpPr>
        <p:spPr bwMode="auto">
          <a:xfrm>
            <a:off x="3505200" y="3048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6"/>
          <p:cNvSpPr>
            <a:spLocks noChangeShapeType="1"/>
          </p:cNvSpPr>
          <p:nvPr/>
        </p:nvSpPr>
        <p:spPr bwMode="auto">
          <a:xfrm>
            <a:off x="4953000" y="22098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47"/>
          <p:cNvSpPr>
            <a:spLocks noChangeShapeType="1"/>
          </p:cNvSpPr>
          <p:nvPr/>
        </p:nvSpPr>
        <p:spPr bwMode="auto">
          <a:xfrm>
            <a:off x="6019800" y="2209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48"/>
          <p:cNvSpPr>
            <a:spLocks noChangeArrowheads="1"/>
          </p:cNvSpPr>
          <p:nvPr/>
        </p:nvSpPr>
        <p:spPr bwMode="auto">
          <a:xfrm>
            <a:off x="3917950" y="4267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39" name="Line 49"/>
          <p:cNvSpPr>
            <a:spLocks noChangeShapeType="1"/>
          </p:cNvSpPr>
          <p:nvPr/>
        </p:nvSpPr>
        <p:spPr bwMode="auto">
          <a:xfrm>
            <a:off x="4471988" y="4724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3429000" y="4876800"/>
            <a:ext cx="2133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ExpressTrainStops</a:t>
            </a:r>
          </a:p>
        </p:txBody>
      </p:sp>
      <p:sp>
        <p:nvSpPr>
          <p:cNvPr id="41" name="Rectangle 51"/>
          <p:cNvSpPr>
            <a:spLocks noChangeArrowheads="1"/>
          </p:cNvSpPr>
          <p:nvPr/>
        </p:nvSpPr>
        <p:spPr bwMode="auto">
          <a:xfrm>
            <a:off x="3505200" y="4953000"/>
            <a:ext cx="1981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53"/>
          <p:cNvSpPr>
            <a:spLocks noChangeShapeType="1"/>
          </p:cNvSpPr>
          <p:nvPr/>
        </p:nvSpPr>
        <p:spPr bwMode="auto">
          <a:xfrm>
            <a:off x="5562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AutoShape 54"/>
          <p:cNvSpPr>
            <a:spLocks noChangeArrowheads="1"/>
          </p:cNvSpPr>
          <p:nvPr/>
        </p:nvSpPr>
        <p:spPr bwMode="auto">
          <a:xfrm>
            <a:off x="57150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45" name="AutoShape 43"/>
          <p:cNvSpPr>
            <a:spLocks noChangeArrowheads="1"/>
          </p:cNvSpPr>
          <p:nvPr/>
        </p:nvSpPr>
        <p:spPr bwMode="auto">
          <a:xfrm>
            <a:off x="5257800" y="20574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46" name="AutoShape 55"/>
          <p:cNvSpPr>
            <a:spLocks noChangeArrowheads="1"/>
          </p:cNvSpPr>
          <p:nvPr/>
        </p:nvSpPr>
        <p:spPr bwMode="auto">
          <a:xfrm>
            <a:off x="5867400" y="4953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47" name="Line 57"/>
          <p:cNvSpPr>
            <a:spLocks noChangeShapeType="1"/>
          </p:cNvSpPr>
          <p:nvPr/>
        </p:nvSpPr>
        <p:spPr bwMode="auto">
          <a:xfrm flipV="1">
            <a:off x="61722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58"/>
          <p:cNvSpPr>
            <a:spLocks noChangeShapeType="1"/>
          </p:cNvSpPr>
          <p:nvPr/>
        </p:nvSpPr>
        <p:spPr bwMode="auto">
          <a:xfrm flipH="1">
            <a:off x="3276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AutoShape 59"/>
          <p:cNvSpPr>
            <a:spLocks noChangeArrowheads="1"/>
          </p:cNvSpPr>
          <p:nvPr/>
        </p:nvSpPr>
        <p:spPr bwMode="auto">
          <a:xfrm flipH="1">
            <a:off x="23622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0" name="AutoShape 60"/>
          <p:cNvSpPr>
            <a:spLocks noChangeArrowheads="1"/>
          </p:cNvSpPr>
          <p:nvPr/>
        </p:nvSpPr>
        <p:spPr bwMode="auto">
          <a:xfrm flipH="1">
            <a:off x="2514600" y="4953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flipH="1" flipV="1">
            <a:off x="28194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48BFE7-7B43-4AD4-A8B7-A347AA9F7115}"/>
              </a:ext>
            </a:extLst>
          </p:cNvPr>
          <p:cNvCxnSpPr>
            <a:stCxn id="48" idx="0"/>
            <a:endCxn id="49" idx="1"/>
          </p:cNvCxnSpPr>
          <p:nvPr/>
        </p:nvCxnSpPr>
        <p:spPr>
          <a:xfrm flipH="1">
            <a:off x="3276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95D97A1-569C-4D88-89CD-3BEED488F764}"/>
              </a:ext>
            </a:extLst>
          </p:cNvPr>
          <p:cNvCxnSpPr>
            <a:stCxn id="34" idx="0"/>
            <a:endCxn id="31" idx="0"/>
          </p:cNvCxnSpPr>
          <p:nvPr/>
        </p:nvCxnSpPr>
        <p:spPr>
          <a:xfrm>
            <a:off x="3505200" y="2438400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A24AEF8-F400-4FB0-AF5E-F2FB73E7827B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>
            <a:off x="4953000" y="22098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5C273F-7DE6-4778-A856-D3E6A313E19B}"/>
              </a:ext>
            </a:extLst>
          </p:cNvPr>
          <p:cNvCxnSpPr>
            <a:stCxn id="42" idx="0"/>
            <a:endCxn id="43" idx="1"/>
          </p:cNvCxnSpPr>
          <p:nvPr/>
        </p:nvCxnSpPr>
        <p:spPr>
          <a:xfrm>
            <a:off x="5562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D1F059-F582-43B7-A3D5-999996B5BC2A}"/>
              </a:ext>
            </a:extLst>
          </p:cNvPr>
          <p:cNvCxnSpPr>
            <a:cxnSpLocks/>
          </p:cNvCxnSpPr>
          <p:nvPr/>
        </p:nvCxnSpPr>
        <p:spPr>
          <a:xfrm flipV="1">
            <a:off x="3590673" y="174279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4A5106-5481-417F-8046-3E2C9EF7C402}"/>
              </a:ext>
            </a:extLst>
          </p:cNvPr>
          <p:cNvCxnSpPr>
            <a:cxnSpLocks/>
          </p:cNvCxnSpPr>
          <p:nvPr/>
        </p:nvCxnSpPr>
        <p:spPr>
          <a:xfrm flipV="1">
            <a:off x="4080531" y="460845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Speech Bubble: Rectangle with Corners Rounded 76">
            <a:extLst>
              <a:ext uri="{FF2B5EF4-FFF2-40B4-BE49-F238E27FC236}">
                <a16:creationId xmlns:a16="http://schemas.microsoft.com/office/drawing/2014/main" id="{DD04A6CB-066E-4ADE-94E0-A521C032BD5F}"/>
              </a:ext>
            </a:extLst>
          </p:cNvPr>
          <p:cNvSpPr/>
          <p:nvPr/>
        </p:nvSpPr>
        <p:spPr>
          <a:xfrm>
            <a:off x="1506209" y="5562599"/>
            <a:ext cx="6523472" cy="114300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local train can stop at any 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express train only stops at express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train can stop at a station for any number of times during a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…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95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23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2: second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1981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48400" y="19812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7724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7724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2286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676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74676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86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12954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12954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3406775" y="1371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960813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133600" y="39624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133600" y="32766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5181600" y="32766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LocalStations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181600" y="39624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ExpressStations</a:t>
            </a: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1643063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2971800" y="1981200"/>
            <a:ext cx="1981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LocalTrainStops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3048000" y="2057400"/>
            <a:ext cx="18288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6400800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>
            <a:off x="2111375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6858000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36"/>
          <p:cNvSpPr>
            <a:spLocks/>
          </p:cNvSpPr>
          <p:nvPr/>
        </p:nvSpPr>
        <p:spPr bwMode="auto">
          <a:xfrm>
            <a:off x="1955800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37"/>
          <p:cNvSpPr>
            <a:spLocks/>
          </p:cNvSpPr>
          <p:nvPr/>
        </p:nvSpPr>
        <p:spPr bwMode="auto">
          <a:xfrm>
            <a:off x="1701800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8"/>
          <p:cNvSpPr>
            <a:spLocks/>
          </p:cNvSpPr>
          <p:nvPr/>
        </p:nvSpPr>
        <p:spPr bwMode="auto">
          <a:xfrm flipH="1">
            <a:off x="6861175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39"/>
          <p:cNvSpPr>
            <a:spLocks/>
          </p:cNvSpPr>
          <p:nvPr/>
        </p:nvSpPr>
        <p:spPr bwMode="auto">
          <a:xfrm flipH="1">
            <a:off x="6861175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40"/>
          <p:cNvSpPr>
            <a:spLocks noChangeArrowheads="1"/>
          </p:cNvSpPr>
          <p:nvPr/>
        </p:nvSpPr>
        <p:spPr bwMode="auto">
          <a:xfrm>
            <a:off x="3048000" y="2590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2" name="AutoShape 41"/>
          <p:cNvSpPr>
            <a:spLocks noChangeArrowheads="1"/>
          </p:cNvSpPr>
          <p:nvPr/>
        </p:nvSpPr>
        <p:spPr bwMode="auto">
          <a:xfrm>
            <a:off x="3200400" y="2667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3" name="AutoShape 42"/>
          <p:cNvSpPr>
            <a:spLocks noChangeArrowheads="1"/>
          </p:cNvSpPr>
          <p:nvPr/>
        </p:nvSpPr>
        <p:spPr bwMode="auto">
          <a:xfrm>
            <a:off x="5105400" y="19812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4" name="Line 44"/>
          <p:cNvSpPr>
            <a:spLocks noChangeShapeType="1"/>
          </p:cNvSpPr>
          <p:nvPr/>
        </p:nvSpPr>
        <p:spPr bwMode="auto">
          <a:xfrm>
            <a:off x="3505200" y="2438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5"/>
          <p:cNvSpPr>
            <a:spLocks noChangeShapeType="1"/>
          </p:cNvSpPr>
          <p:nvPr/>
        </p:nvSpPr>
        <p:spPr bwMode="auto">
          <a:xfrm>
            <a:off x="3505200" y="3048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6"/>
          <p:cNvSpPr>
            <a:spLocks noChangeShapeType="1"/>
          </p:cNvSpPr>
          <p:nvPr/>
        </p:nvSpPr>
        <p:spPr bwMode="auto">
          <a:xfrm>
            <a:off x="4953000" y="22098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47"/>
          <p:cNvSpPr>
            <a:spLocks noChangeShapeType="1"/>
          </p:cNvSpPr>
          <p:nvPr/>
        </p:nvSpPr>
        <p:spPr bwMode="auto">
          <a:xfrm>
            <a:off x="6019800" y="2209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48"/>
          <p:cNvSpPr>
            <a:spLocks noChangeArrowheads="1"/>
          </p:cNvSpPr>
          <p:nvPr/>
        </p:nvSpPr>
        <p:spPr bwMode="auto">
          <a:xfrm>
            <a:off x="3917950" y="4267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39" name="Line 49"/>
          <p:cNvSpPr>
            <a:spLocks noChangeShapeType="1"/>
          </p:cNvSpPr>
          <p:nvPr/>
        </p:nvSpPr>
        <p:spPr bwMode="auto">
          <a:xfrm>
            <a:off x="4471988" y="4724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3429000" y="4876800"/>
            <a:ext cx="2133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ExpressTrainStops</a:t>
            </a:r>
          </a:p>
        </p:txBody>
      </p:sp>
      <p:sp>
        <p:nvSpPr>
          <p:cNvPr id="41" name="Rectangle 51"/>
          <p:cNvSpPr>
            <a:spLocks noChangeArrowheads="1"/>
          </p:cNvSpPr>
          <p:nvPr/>
        </p:nvSpPr>
        <p:spPr bwMode="auto">
          <a:xfrm>
            <a:off x="3505200" y="4953000"/>
            <a:ext cx="1981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53"/>
          <p:cNvSpPr>
            <a:spLocks noChangeShapeType="1"/>
          </p:cNvSpPr>
          <p:nvPr/>
        </p:nvSpPr>
        <p:spPr bwMode="auto">
          <a:xfrm>
            <a:off x="5562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AutoShape 54"/>
          <p:cNvSpPr>
            <a:spLocks noChangeArrowheads="1"/>
          </p:cNvSpPr>
          <p:nvPr/>
        </p:nvSpPr>
        <p:spPr bwMode="auto">
          <a:xfrm>
            <a:off x="57150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grpSp>
        <p:nvGrpSpPr>
          <p:cNvPr id="44" name="Group 62"/>
          <p:cNvGrpSpPr>
            <a:grpSpLocks/>
          </p:cNvGrpSpPr>
          <p:nvPr/>
        </p:nvGrpSpPr>
        <p:grpSpPr bwMode="auto">
          <a:xfrm>
            <a:off x="5257800" y="2057400"/>
            <a:ext cx="1219200" cy="3200400"/>
            <a:chOff x="5257800" y="2057400"/>
            <a:chExt cx="1219200" cy="3200400"/>
          </a:xfrm>
        </p:grpSpPr>
        <p:sp>
          <p:nvSpPr>
            <p:cNvPr id="45" name="AutoShape 43"/>
            <p:cNvSpPr>
              <a:spLocks noChangeArrowheads="1"/>
            </p:cNvSpPr>
            <p:nvPr/>
          </p:nvSpPr>
          <p:spPr bwMode="auto">
            <a:xfrm>
              <a:off x="5257800" y="2057400"/>
              <a:ext cx="609600" cy="3048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46" name="AutoShape 55"/>
            <p:cNvSpPr>
              <a:spLocks noChangeArrowheads="1"/>
            </p:cNvSpPr>
            <p:nvPr/>
          </p:nvSpPr>
          <p:spPr bwMode="auto">
            <a:xfrm>
              <a:off x="5867400" y="4953000"/>
              <a:ext cx="609600" cy="3048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</p:grpSp>
      <p:sp>
        <p:nvSpPr>
          <p:cNvPr id="47" name="Line 57"/>
          <p:cNvSpPr>
            <a:spLocks noChangeShapeType="1"/>
          </p:cNvSpPr>
          <p:nvPr/>
        </p:nvSpPr>
        <p:spPr bwMode="auto">
          <a:xfrm flipV="1">
            <a:off x="61722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58"/>
          <p:cNvSpPr>
            <a:spLocks noChangeShapeType="1"/>
          </p:cNvSpPr>
          <p:nvPr/>
        </p:nvSpPr>
        <p:spPr bwMode="auto">
          <a:xfrm flipH="1">
            <a:off x="3276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AutoShape 59"/>
          <p:cNvSpPr>
            <a:spLocks noChangeArrowheads="1"/>
          </p:cNvSpPr>
          <p:nvPr/>
        </p:nvSpPr>
        <p:spPr bwMode="auto">
          <a:xfrm flipH="1">
            <a:off x="23622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0" name="AutoShape 60"/>
          <p:cNvSpPr>
            <a:spLocks noChangeArrowheads="1"/>
          </p:cNvSpPr>
          <p:nvPr/>
        </p:nvSpPr>
        <p:spPr bwMode="auto">
          <a:xfrm flipH="1">
            <a:off x="2514600" y="4953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flipH="1" flipV="1">
            <a:off x="28194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62"/>
          <p:cNvSpPr txBox="1">
            <a:spLocks noChangeArrowheads="1"/>
          </p:cNvSpPr>
          <p:nvPr/>
        </p:nvSpPr>
        <p:spPr bwMode="auto">
          <a:xfrm>
            <a:off x="4643438" y="5715000"/>
            <a:ext cx="437491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  <a:latin typeface="+mn-lt"/>
              </a:rPr>
              <a:t>Is the extra complexity worth it?</a:t>
            </a:r>
          </a:p>
        </p:txBody>
      </p:sp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6019800" y="4967288"/>
            <a:ext cx="76200" cy="76200"/>
            <a:chOff x="1066800" y="5334000"/>
            <a:chExt cx="76200" cy="76200"/>
          </a:xfrm>
        </p:grpSpPr>
        <p:cxnSp>
          <p:nvCxnSpPr>
            <p:cNvPr id="66" name="Straight Connector 3"/>
            <p:cNvCxnSpPr>
              <a:cxnSpLocks noChangeShapeType="1"/>
            </p:cNvCxnSpPr>
            <p:nvPr/>
          </p:nvCxnSpPr>
          <p:spPr bwMode="auto">
            <a:xfrm>
              <a:off x="1066800" y="5334000"/>
              <a:ext cx="76200" cy="76200"/>
            </a:xfrm>
            <a:prstGeom prst="line">
              <a:avLst/>
            </a:prstGeom>
            <a:noFill/>
            <a:ln w="254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65"/>
            <p:cNvCxnSpPr>
              <a:cxnSpLocks noChangeShapeType="1"/>
            </p:cNvCxnSpPr>
            <p:nvPr/>
          </p:nvCxnSpPr>
          <p:spPr bwMode="auto">
            <a:xfrm flipV="1">
              <a:off x="1066800" y="5334000"/>
              <a:ext cx="76200" cy="76200"/>
            </a:xfrm>
            <a:prstGeom prst="line">
              <a:avLst/>
            </a:prstGeom>
            <a:noFill/>
            <a:ln w="254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" name="Group 67"/>
          <p:cNvGrpSpPr>
            <a:grpSpLocks/>
          </p:cNvGrpSpPr>
          <p:nvPr/>
        </p:nvGrpSpPr>
        <p:grpSpPr bwMode="auto">
          <a:xfrm>
            <a:off x="5445125" y="2057400"/>
            <a:ext cx="76200" cy="76200"/>
            <a:chOff x="1066800" y="5334000"/>
            <a:chExt cx="76200" cy="76200"/>
          </a:xfrm>
        </p:grpSpPr>
        <p:cxnSp>
          <p:nvCxnSpPr>
            <p:cNvPr id="69" name="Straight Connector 68"/>
            <p:cNvCxnSpPr>
              <a:cxnSpLocks noChangeShapeType="1"/>
            </p:cNvCxnSpPr>
            <p:nvPr/>
          </p:nvCxnSpPr>
          <p:spPr bwMode="auto">
            <a:xfrm>
              <a:off x="1066800" y="5334000"/>
              <a:ext cx="76200" cy="76200"/>
            </a:xfrm>
            <a:prstGeom prst="line">
              <a:avLst/>
            </a:prstGeom>
            <a:noFill/>
            <a:ln w="254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69"/>
            <p:cNvCxnSpPr>
              <a:cxnSpLocks noChangeShapeType="1"/>
            </p:cNvCxnSpPr>
            <p:nvPr/>
          </p:nvCxnSpPr>
          <p:spPr bwMode="auto">
            <a:xfrm flipV="1">
              <a:off x="1066800" y="5334000"/>
              <a:ext cx="76200" cy="76200"/>
            </a:xfrm>
            <a:prstGeom prst="line">
              <a:avLst/>
            </a:prstGeom>
            <a:noFill/>
            <a:ln w="254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TextBox 2"/>
          <p:cNvSpPr txBox="1"/>
          <p:nvPr/>
        </p:nvSpPr>
        <p:spPr>
          <a:xfrm>
            <a:off x="6617367" y="4407566"/>
            <a:ext cx="26228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chemeClr val="accent2"/>
                </a:solidFill>
              </a:rPr>
              <a:t>No double-diamonds </a:t>
            </a:r>
            <a:r>
              <a:rPr lang="en-US" sz="1600" i="1" dirty="0">
                <a:solidFill>
                  <a:schemeClr val="accent2"/>
                </a:solidFill>
              </a:rPr>
              <a:t>here </a:t>
            </a:r>
            <a:br>
              <a:rPr lang="en-US" sz="1600" i="1" dirty="0">
                <a:solidFill>
                  <a:schemeClr val="accent2"/>
                </a:solidFill>
              </a:rPr>
            </a:br>
            <a:r>
              <a:rPr lang="en-US" sz="1600" i="1" dirty="0">
                <a:solidFill>
                  <a:schemeClr val="accent2"/>
                </a:solidFill>
              </a:rPr>
              <a:t>because train </a:t>
            </a:r>
            <a:r>
              <a:rPr lang="en-US" sz="1600" i="1">
                <a:solidFill>
                  <a:schemeClr val="accent2"/>
                </a:solidFill>
              </a:rPr>
              <a:t>number + </a:t>
            </a:r>
            <a:r>
              <a:rPr lang="en-US" sz="1600" i="1" dirty="0">
                <a:solidFill>
                  <a:schemeClr val="accent2"/>
                </a:solidFill>
              </a:rPr>
              <a:t>time </a:t>
            </a:r>
            <a:br>
              <a:rPr lang="en-US" sz="1600" i="1" dirty="0">
                <a:solidFill>
                  <a:schemeClr val="accent2"/>
                </a:solidFill>
              </a:rPr>
            </a:br>
            <a:r>
              <a:rPr lang="en-US" sz="1600" i="1" dirty="0">
                <a:solidFill>
                  <a:schemeClr val="accent2"/>
                </a:solidFill>
              </a:rPr>
              <a:t>uniquely determine a stop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5543674" y="2171700"/>
            <a:ext cx="1495301" cy="2262188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6237318" y="4595812"/>
            <a:ext cx="390464" cy="357188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48BFE7-7B43-4AD4-A8B7-A347AA9F7115}"/>
              </a:ext>
            </a:extLst>
          </p:cNvPr>
          <p:cNvCxnSpPr>
            <a:stCxn id="48" idx="0"/>
            <a:endCxn id="49" idx="1"/>
          </p:cNvCxnSpPr>
          <p:nvPr/>
        </p:nvCxnSpPr>
        <p:spPr>
          <a:xfrm flipH="1">
            <a:off x="3276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95D97A1-569C-4D88-89CD-3BEED488F764}"/>
              </a:ext>
            </a:extLst>
          </p:cNvPr>
          <p:cNvCxnSpPr>
            <a:stCxn id="34" idx="0"/>
            <a:endCxn id="31" idx="0"/>
          </p:cNvCxnSpPr>
          <p:nvPr/>
        </p:nvCxnSpPr>
        <p:spPr>
          <a:xfrm>
            <a:off x="3505200" y="2438400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A24AEF8-F400-4FB0-AF5E-F2FB73E7827B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>
            <a:off x="4953000" y="22098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5C273F-7DE6-4778-A856-D3E6A313E19B}"/>
              </a:ext>
            </a:extLst>
          </p:cNvPr>
          <p:cNvCxnSpPr>
            <a:stCxn id="42" idx="0"/>
            <a:endCxn id="43" idx="1"/>
          </p:cNvCxnSpPr>
          <p:nvPr/>
        </p:nvCxnSpPr>
        <p:spPr>
          <a:xfrm>
            <a:off x="5562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D1F059-F582-43B7-A3D5-999996B5BC2A}"/>
              </a:ext>
            </a:extLst>
          </p:cNvPr>
          <p:cNvCxnSpPr>
            <a:cxnSpLocks/>
          </p:cNvCxnSpPr>
          <p:nvPr/>
        </p:nvCxnSpPr>
        <p:spPr>
          <a:xfrm flipV="1">
            <a:off x="3590673" y="174279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4A5106-5481-417F-8046-3E2C9EF7C402}"/>
              </a:ext>
            </a:extLst>
          </p:cNvPr>
          <p:cNvCxnSpPr>
            <a:cxnSpLocks/>
          </p:cNvCxnSpPr>
          <p:nvPr/>
        </p:nvCxnSpPr>
        <p:spPr>
          <a:xfrm flipV="1">
            <a:off x="4080531" y="460845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1383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996A-D323-406C-B244-5CD7263A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0B39D-FBF1-4024-9C0C-17E43611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A Registrar’s Database: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600" dirty="0"/>
              <a:t>Zero or more sections of a course are offered each term. Courses have names and numbers. In each term, the sections of each course are </a:t>
            </a:r>
            <a:r>
              <a:rPr lang="en-CA" sz="2600" dirty="0"/>
              <a:t>numbered starting with 1.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Most course sections are taught on-site, but a few are taught at off-site </a:t>
            </a:r>
            <a:r>
              <a:rPr lang="en-CA" sz="2600" dirty="0"/>
              <a:t>locations.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Students have student numbers and names.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Each course section is taught by a professor. A professor may teach more than one section in a term, but if a professor teaches more than one section in a term, they are always sections of the same course. Some professors do not teach every term.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Up to 50 students may be registered for a course section. Sections with 5 or fewer students are cancelled.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 student receives a mark for each course in which they are enrolled. Each student has a cumulative grade point average (GPA) which is calculated from all course marks the student has received.</a:t>
            </a:r>
            <a:endParaRPr lang="en-CA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0F5C-1B6B-4B0D-A159-2936D5B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89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C79D3A-3988-4A1F-B939-D9A52CB88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/>
              <a:t>Try it (5 mins)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D0AE0A-773F-43B2-BEA7-49C704826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8459" y="4750893"/>
            <a:ext cx="3065478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nalogue wall clock">
            <a:extLst>
              <a:ext uri="{FF2B5EF4-FFF2-40B4-BE49-F238E27FC236}">
                <a16:creationId xmlns:a16="http://schemas.microsoft.com/office/drawing/2014/main" id="{DBD20A53-1E01-4393-95D9-E2083678D0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36" r="31349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12DED-01B3-4F85-8B20-8890980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460" y="603504"/>
            <a:ext cx="411480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Aft>
                <a:spcPts val="600"/>
              </a:spcAft>
              <a:defRPr/>
            </a:pPr>
            <a:fld id="{44C99FA5-7995-46A9-A97E-16E38AD58950}" type="slidenum">
              <a:rPr lang="en-US" sz="1300">
                <a:solidFill>
                  <a:srgbClr val="FFFFFF"/>
                </a:solidFill>
                <a:latin typeface="Calibri" panose="020F0502020204030204"/>
              </a:rPr>
              <a:pPr algn="ctr">
                <a:spcAft>
                  <a:spcPts val="600"/>
                </a:spcAft>
                <a:defRPr/>
              </a:pPr>
              <a:t>46</a:t>
            </a:fld>
            <a:endParaRPr lang="en-US" sz="13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0268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C04D-5436-4608-88A4-C5D2231F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/>
              <a:t>What is your solution?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2B772-1C92-4794-9DB6-BA39D906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8459" y="4750893"/>
            <a:ext cx="3065478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ight bulb on yellow background with sketched light beams and cord">
            <a:extLst>
              <a:ext uri="{FF2B5EF4-FFF2-40B4-BE49-F238E27FC236}">
                <a16:creationId xmlns:a16="http://schemas.microsoft.com/office/drawing/2014/main" id="{0CC9E129-55E4-44DF-AEAA-73E8A324C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93" r="4235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F8941-1493-4AB7-886E-215E8CFE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460" y="603504"/>
            <a:ext cx="411480" cy="548640"/>
          </a:xfrm>
          <a:prstGeom prst="ellipse">
            <a:avLst/>
          </a:prstGeom>
          <a:solidFill>
            <a:srgbClr val="7F7F7F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Aft>
                <a:spcPts val="600"/>
              </a:spcAft>
              <a:defRPr/>
            </a:pPr>
            <a:fld id="{44C99FA5-7995-46A9-A97E-16E38AD58950}" type="slidenum">
              <a:rPr lang="en-US" sz="1300">
                <a:solidFill>
                  <a:srgbClr val="FFFFFF"/>
                </a:solidFill>
                <a:latin typeface="Calibri" panose="020F0502020204030204"/>
              </a:rPr>
              <a:pPr algn="ctr">
                <a:spcAft>
                  <a:spcPts val="600"/>
                </a:spcAft>
                <a:defRPr/>
              </a:pPr>
              <a:t>47</a:t>
            </a:fld>
            <a:endParaRPr lang="en-US" sz="13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6722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996A-D323-406C-B244-5CD7263A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0B39D-FBF1-4024-9C0C-17E43611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A Registrar’s Database: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600" dirty="0"/>
              <a:t>Zero or more sections of a course are offered each term. Courses have names and numbers. In each term, the sections of each course are </a:t>
            </a:r>
            <a:r>
              <a:rPr lang="en-CA" sz="2600" dirty="0"/>
              <a:t>numbered starting with 1.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Most course sections are taught on-site, but a few are taught at off-site </a:t>
            </a:r>
            <a:r>
              <a:rPr lang="en-CA" sz="2600" dirty="0"/>
              <a:t>locations.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Students have student numbers and names.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Each course section is taught by a professor. A professor may teach more than one section in a term, but if a professor teaches more than one section in a term, they are always sections of the same course. Some professors do not teach every term.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Up to 50 students may be registered for a course section. Sections with 5 or fewer students are cancelled.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 student receives a mark for each course in which they are enrolled. Each student has a cumulative grade point average (GPA) which is calculated from all course marks the student has received.</a:t>
            </a:r>
            <a:endParaRPr lang="en-CA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0F5C-1B6B-4B0D-A159-2936D5B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70134-A220-4F66-A170-65F89F794AB9}"/>
              </a:ext>
            </a:extLst>
          </p:cNvPr>
          <p:cNvSpPr/>
          <p:nvPr/>
        </p:nvSpPr>
        <p:spPr>
          <a:xfrm>
            <a:off x="6483285" y="1818396"/>
            <a:ext cx="1056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B511B-BD36-4324-8B7A-3F37B2349151}"/>
              </a:ext>
            </a:extLst>
          </p:cNvPr>
          <p:cNvSpPr/>
          <p:nvPr/>
        </p:nvSpPr>
        <p:spPr>
          <a:xfrm>
            <a:off x="4428843" y="2084163"/>
            <a:ext cx="1259035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3BCCC9-C9D7-42D2-ABCB-A57750777F44}"/>
              </a:ext>
            </a:extLst>
          </p:cNvPr>
          <p:cNvSpPr/>
          <p:nvPr/>
        </p:nvSpPr>
        <p:spPr>
          <a:xfrm>
            <a:off x="1007131" y="3300116"/>
            <a:ext cx="1085141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6325B-E9BF-4B20-9AB6-88010A59F13A}"/>
              </a:ext>
            </a:extLst>
          </p:cNvPr>
          <p:cNvSpPr/>
          <p:nvPr/>
        </p:nvSpPr>
        <p:spPr>
          <a:xfrm>
            <a:off x="4328935" y="3648835"/>
            <a:ext cx="1085141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605B0C-841D-487F-901E-5F8F398799D0}"/>
              </a:ext>
            </a:extLst>
          </p:cNvPr>
          <p:cNvGrpSpPr/>
          <p:nvPr/>
        </p:nvGrpSpPr>
        <p:grpSpPr>
          <a:xfrm>
            <a:off x="4352937" y="1107592"/>
            <a:ext cx="2704680" cy="1356840"/>
            <a:chOff x="4352937" y="1107592"/>
            <a:chExt cx="2704680" cy="13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A52B4D-2453-4B1F-AF09-5A15EA3664B1}"/>
                    </a:ext>
                  </a:extLst>
                </p14:cNvPr>
                <p14:cNvContentPartPr/>
                <p14:nvPr/>
              </p14:nvContentPartPr>
              <p14:xfrm>
                <a:off x="5084817" y="1395592"/>
                <a:ext cx="644760" cy="662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A52B4D-2453-4B1F-AF09-5A15EA3664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6177" y="1386592"/>
                  <a:ext cx="66240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CA5AF6-57A8-4D71-8790-622F1BFF88ED}"/>
                    </a:ext>
                  </a:extLst>
                </p14:cNvPr>
                <p14:cNvContentPartPr/>
                <p14:nvPr/>
              </p14:nvContentPartPr>
              <p14:xfrm>
                <a:off x="5770977" y="1108672"/>
                <a:ext cx="267840" cy="382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CA5AF6-57A8-4D71-8790-622F1BFF88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62337" y="1100032"/>
                  <a:ext cx="285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D5957B-49D5-4A51-BDB6-22EBDF4BDC8D}"/>
                    </a:ext>
                  </a:extLst>
                </p14:cNvPr>
                <p14:cNvContentPartPr/>
                <p14:nvPr/>
              </p14:nvContentPartPr>
              <p14:xfrm>
                <a:off x="5975457" y="1107592"/>
                <a:ext cx="317520" cy="423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D5957B-49D5-4A51-BDB6-22EBDF4BDC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66457" y="1098592"/>
                  <a:ext cx="3351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E5128F-9E2B-47A5-9E4C-2C6472E12B47}"/>
                    </a:ext>
                  </a:extLst>
                </p14:cNvPr>
                <p14:cNvContentPartPr/>
                <p14:nvPr/>
              </p14:nvContentPartPr>
              <p14:xfrm>
                <a:off x="5848017" y="1218832"/>
                <a:ext cx="169200" cy="14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E5128F-9E2B-47A5-9E4C-2C6472E12B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39017" y="1210192"/>
                  <a:ext cx="186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BE9C86-A485-4416-809D-55B2767C393B}"/>
                    </a:ext>
                  </a:extLst>
                </p14:cNvPr>
                <p14:cNvContentPartPr/>
                <p14:nvPr/>
              </p14:nvContentPartPr>
              <p14:xfrm>
                <a:off x="5953497" y="1201552"/>
                <a:ext cx="134640" cy="15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BE9C86-A485-4416-809D-55B2767C39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44497" y="1192552"/>
                  <a:ext cx="152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67E544-D3B9-4B15-9D09-523CDD327657}"/>
                    </a:ext>
                  </a:extLst>
                </p14:cNvPr>
                <p14:cNvContentPartPr/>
                <p14:nvPr/>
              </p14:nvContentPartPr>
              <p14:xfrm>
                <a:off x="6299097" y="1255552"/>
                <a:ext cx="758520" cy="59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67E544-D3B9-4B15-9D09-523CDD3276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0097" y="1246912"/>
                  <a:ext cx="77616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F51FB6-436B-4E61-9ED7-521D59BE66C9}"/>
                    </a:ext>
                  </a:extLst>
                </p14:cNvPr>
                <p14:cNvContentPartPr/>
                <p14:nvPr/>
              </p14:nvContentPartPr>
              <p14:xfrm>
                <a:off x="4352937" y="2027392"/>
                <a:ext cx="52920" cy="388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F51FB6-436B-4E61-9ED7-521D59BE66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43937" y="2018392"/>
                  <a:ext cx="705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68559A-C472-47BB-95A0-8E774B964F2E}"/>
                    </a:ext>
                  </a:extLst>
                </p14:cNvPr>
                <p14:cNvContentPartPr/>
                <p14:nvPr/>
              </p14:nvContentPartPr>
              <p14:xfrm>
                <a:off x="4401537" y="1994632"/>
                <a:ext cx="1477440" cy="46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68559A-C472-47BB-95A0-8E774B964F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92897" y="1985992"/>
                  <a:ext cx="1495080" cy="48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28DB4C-64AE-4E1F-8D5B-6ED278363CFD}"/>
              </a:ext>
            </a:extLst>
          </p:cNvPr>
          <p:cNvGrpSpPr/>
          <p:nvPr/>
        </p:nvGrpSpPr>
        <p:grpSpPr>
          <a:xfrm>
            <a:off x="4579017" y="2448232"/>
            <a:ext cx="889920" cy="1256760"/>
            <a:chOff x="4579017" y="2448232"/>
            <a:chExt cx="889920" cy="12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7CD4E4-6837-4941-BB20-9E5B1819EA5F}"/>
                    </a:ext>
                  </a:extLst>
                </p14:cNvPr>
                <p14:cNvContentPartPr/>
                <p14:nvPr/>
              </p14:nvContentPartPr>
              <p14:xfrm>
                <a:off x="4579017" y="2448232"/>
                <a:ext cx="542520" cy="765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7CD4E4-6837-4941-BB20-9E5B1819EA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1377" y="2430592"/>
                  <a:ext cx="57816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2BC70D9-BECC-49B8-BC83-C7725CF77DF7}"/>
                    </a:ext>
                  </a:extLst>
                </p14:cNvPr>
                <p14:cNvContentPartPr/>
                <p14:nvPr/>
              </p14:nvContentPartPr>
              <p14:xfrm>
                <a:off x="4975737" y="2845312"/>
                <a:ext cx="493200" cy="33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2BC70D9-BECC-49B8-BC83-C7725CF77D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58097" y="2827672"/>
                  <a:ext cx="5288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FD1DF6-00A2-451B-ADB3-D195FC7E2D4C}"/>
                    </a:ext>
                  </a:extLst>
                </p14:cNvPr>
                <p14:cNvContentPartPr/>
                <p14:nvPr/>
              </p14:nvContentPartPr>
              <p14:xfrm>
                <a:off x="5076177" y="3234472"/>
                <a:ext cx="43560" cy="470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FD1DF6-00A2-451B-ADB3-D195FC7E2D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58537" y="3216832"/>
                  <a:ext cx="79200" cy="50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FB96447-87C3-439B-B3E0-BBA2DF6CAC8E}"/>
                  </a:ext>
                </a:extLst>
              </p14:cNvPr>
              <p14:cNvContentPartPr/>
              <p14:nvPr/>
            </p14:nvContentPartPr>
            <p14:xfrm>
              <a:off x="2959737" y="3824512"/>
              <a:ext cx="1198440" cy="66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FB96447-87C3-439B-B3E0-BBA2DF6CAC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41737" y="3806512"/>
                <a:ext cx="12340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00D633D-692C-4FC6-9C78-CF4BFC39E52D}"/>
                  </a:ext>
                </a:extLst>
              </p14:cNvPr>
              <p14:cNvContentPartPr/>
              <p14:nvPr/>
            </p14:nvContentPartPr>
            <p14:xfrm>
              <a:off x="3295617" y="5029072"/>
              <a:ext cx="3167640" cy="127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00D633D-692C-4FC6-9C78-CF4BFC39E52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77617" y="5011072"/>
                <a:ext cx="320328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32D4D78-76BE-4587-8008-3BAEB1F37323}"/>
              </a:ext>
            </a:extLst>
          </p:cNvPr>
          <p:cNvGrpSpPr/>
          <p:nvPr/>
        </p:nvGrpSpPr>
        <p:grpSpPr>
          <a:xfrm>
            <a:off x="1864617" y="2276512"/>
            <a:ext cx="2539800" cy="979200"/>
            <a:chOff x="1864617" y="2276512"/>
            <a:chExt cx="2539800" cy="9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FA7021-FB17-4B6E-8FD8-6FC9CFF009A4}"/>
                    </a:ext>
                  </a:extLst>
                </p14:cNvPr>
                <p14:cNvContentPartPr/>
                <p14:nvPr/>
              </p14:nvContentPartPr>
              <p14:xfrm>
                <a:off x="1864617" y="2276512"/>
                <a:ext cx="1494360" cy="979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FA7021-FB17-4B6E-8FD8-6FC9CFF009A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46617" y="2258512"/>
                  <a:ext cx="153000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6C7F803-0E8E-4308-BBB0-1CD59C41A027}"/>
                    </a:ext>
                  </a:extLst>
                </p14:cNvPr>
                <p14:cNvContentPartPr/>
                <p14:nvPr/>
              </p14:nvContentPartPr>
              <p14:xfrm>
                <a:off x="2813937" y="2482432"/>
                <a:ext cx="529920" cy="45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6C7F803-0E8E-4308-BBB0-1CD59C41A0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95937" y="2464432"/>
                  <a:ext cx="5655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25F79F-179F-4F62-9534-5F9052DC83B6}"/>
                    </a:ext>
                  </a:extLst>
                </p14:cNvPr>
                <p14:cNvContentPartPr/>
                <p14:nvPr/>
              </p14:nvContentPartPr>
              <p14:xfrm>
                <a:off x="3328017" y="2284432"/>
                <a:ext cx="1076400" cy="280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25F79F-179F-4F62-9534-5F9052DC83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10017" y="2266792"/>
                  <a:ext cx="1112040" cy="31644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19030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996A-D323-406C-B244-5CD7263A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0B39D-FBF1-4024-9C0C-17E43611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dirty="0"/>
              <a:t>A Registrar’s Database: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600" dirty="0"/>
              <a:t>Zero or more sections of a course are offered each term. Courses have names and numbers. In each term, the sections of each course are </a:t>
            </a:r>
            <a:r>
              <a:rPr lang="en-CA" sz="2600" dirty="0"/>
              <a:t>numbered starting with 1.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Most course sections are taught on-site, but a few are taught at off-site </a:t>
            </a:r>
            <a:r>
              <a:rPr lang="en-CA" sz="2600" dirty="0"/>
              <a:t>locations.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Students have student numbers and names.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Each course section is taught by a professor. A professor may teach more than one section in a term, but if a professor teaches more than one section in a term, they are always sections of the same course. Some professors do not teach every term.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Up to 50 students may be registered for a course section. Sections with 5 or fewer students are cancelled.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 student receives a mark for each course in which they are enrolled. Each student has a cumulative grade point average (GPA) which is calculated from all course marks the student has received.</a:t>
            </a:r>
            <a:endParaRPr lang="en-CA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0F5C-1B6B-4B0D-A159-2936D5B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70134-A220-4F66-A170-65F89F794AB9}"/>
              </a:ext>
            </a:extLst>
          </p:cNvPr>
          <p:cNvSpPr/>
          <p:nvPr/>
        </p:nvSpPr>
        <p:spPr>
          <a:xfrm>
            <a:off x="6483285" y="1818396"/>
            <a:ext cx="1056640" cy="265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B511B-BD36-4324-8B7A-3F37B2349151}"/>
              </a:ext>
            </a:extLst>
          </p:cNvPr>
          <p:cNvSpPr/>
          <p:nvPr/>
        </p:nvSpPr>
        <p:spPr>
          <a:xfrm>
            <a:off x="4428843" y="2084163"/>
            <a:ext cx="1259035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3BCCC9-C9D7-42D2-ABCB-A57750777F44}"/>
              </a:ext>
            </a:extLst>
          </p:cNvPr>
          <p:cNvSpPr/>
          <p:nvPr/>
        </p:nvSpPr>
        <p:spPr>
          <a:xfrm>
            <a:off x="1007131" y="3300116"/>
            <a:ext cx="1085141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6325B-E9BF-4B20-9AB6-88010A59F13A}"/>
              </a:ext>
            </a:extLst>
          </p:cNvPr>
          <p:cNvSpPr/>
          <p:nvPr/>
        </p:nvSpPr>
        <p:spPr>
          <a:xfrm>
            <a:off x="4328935" y="3648835"/>
            <a:ext cx="1085141" cy="2577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AF6EFB-CFE2-4D3C-92B6-BB5142FA0DDA}"/>
              </a:ext>
            </a:extLst>
          </p:cNvPr>
          <p:cNvGrpSpPr/>
          <p:nvPr/>
        </p:nvGrpSpPr>
        <p:grpSpPr>
          <a:xfrm>
            <a:off x="997377" y="2008312"/>
            <a:ext cx="2111040" cy="369000"/>
            <a:chOff x="997377" y="2008312"/>
            <a:chExt cx="211104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A2B957-55BA-444D-81A4-61870482C448}"/>
                    </a:ext>
                  </a:extLst>
                </p14:cNvPr>
                <p14:cNvContentPartPr/>
                <p14:nvPr/>
              </p14:nvContentPartPr>
              <p14:xfrm>
                <a:off x="997377" y="2011192"/>
                <a:ext cx="937440" cy="36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A2B957-55BA-444D-81A4-61870482C4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9377" y="1993192"/>
                  <a:ext cx="9730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0DE1D2-1474-41A3-8B29-9456D4596D4D}"/>
                    </a:ext>
                  </a:extLst>
                </p14:cNvPr>
                <p14:cNvContentPartPr/>
                <p14:nvPr/>
              </p14:nvContentPartPr>
              <p14:xfrm>
                <a:off x="2124177" y="2008312"/>
                <a:ext cx="984240" cy="36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0DE1D2-1474-41A3-8B29-9456D4596D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6537" y="1990672"/>
                  <a:ext cx="1019880" cy="40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9C917F8-B18E-41DB-BAD6-4DDB30B56399}"/>
                  </a:ext>
                </a:extLst>
              </p14:cNvPr>
              <p14:cNvContentPartPr/>
              <p14:nvPr/>
            </p14:nvContentPartPr>
            <p14:xfrm>
              <a:off x="1007131" y="2290552"/>
              <a:ext cx="1164600" cy="383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9C917F8-B18E-41DB-BAD6-4DDB30B563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9491" y="2272912"/>
                <a:ext cx="120024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CFA9AA5-1D4C-4443-B23E-0CED4F357345}"/>
                  </a:ext>
                </a:extLst>
              </p14:cNvPr>
              <p14:cNvContentPartPr/>
              <p14:nvPr/>
            </p14:nvContentPartPr>
            <p14:xfrm>
              <a:off x="2470677" y="3156013"/>
              <a:ext cx="1510858" cy="497859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CFA9AA5-1D4C-4443-B23E-0CED4F3573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53038" y="3138374"/>
                <a:ext cx="1546497" cy="533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3293335-D3FD-4392-ACDC-49A9BD3DF2FC}"/>
                  </a:ext>
                </a:extLst>
              </p14:cNvPr>
              <p14:cNvContentPartPr/>
              <p14:nvPr/>
            </p14:nvContentPartPr>
            <p14:xfrm>
              <a:off x="4480955" y="3328311"/>
              <a:ext cx="987982" cy="325561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3293335-D3FD-4392-ACDC-49A9BD3DF2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62959" y="3310324"/>
                <a:ext cx="1023614" cy="361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7BF315B-1A59-477C-AD08-A6688C37DE4F}"/>
                  </a:ext>
                </a:extLst>
              </p14:cNvPr>
              <p14:cNvContentPartPr/>
              <p14:nvPr/>
            </p14:nvContentPartPr>
            <p14:xfrm>
              <a:off x="3321524" y="2027325"/>
              <a:ext cx="1164600" cy="383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7BF315B-1A59-477C-AD08-A6688C37DE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03884" y="2009685"/>
                <a:ext cx="1200240" cy="4194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0716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67087E-B73A-4A70-9A43-DFFB8F7A355C}"/>
              </a:ext>
            </a:extLst>
          </p:cNvPr>
          <p:cNvSpPr/>
          <p:nvPr/>
        </p:nvSpPr>
        <p:spPr>
          <a:xfrm>
            <a:off x="3417376" y="1929539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41C68-8ADE-4BC6-8536-30AEFDAC0A6B}"/>
              </a:ext>
            </a:extLst>
          </p:cNvPr>
          <p:cNvSpPr/>
          <p:nvPr/>
        </p:nvSpPr>
        <p:spPr>
          <a:xfrm>
            <a:off x="2595968" y="327630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C835D-7269-435B-85D6-891F762A3861}"/>
              </a:ext>
            </a:extLst>
          </p:cNvPr>
          <p:cNvSpPr/>
          <p:nvPr/>
        </p:nvSpPr>
        <p:spPr>
          <a:xfrm>
            <a:off x="3583097" y="3710979"/>
            <a:ext cx="1078903" cy="1141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22673-54D1-4F5E-9DF3-64AF1E83BF69}"/>
              </a:ext>
            </a:extLst>
          </p:cNvPr>
          <p:cNvSpPr/>
          <p:nvPr/>
        </p:nvSpPr>
        <p:spPr>
          <a:xfrm>
            <a:off x="4101885" y="5129075"/>
            <a:ext cx="107890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AEC95F-297B-49D4-81F5-058476284C49}"/>
              </a:ext>
            </a:extLst>
          </p:cNvPr>
          <p:cNvSpPr/>
          <p:nvPr/>
        </p:nvSpPr>
        <p:spPr>
          <a:xfrm>
            <a:off x="3769962" y="4555639"/>
            <a:ext cx="107890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09C0B-88B4-44CD-89BC-A39CF669E3D1}"/>
              </a:ext>
            </a:extLst>
          </p:cNvPr>
          <p:cNvSpPr/>
          <p:nvPr/>
        </p:nvSpPr>
        <p:spPr>
          <a:xfrm>
            <a:off x="2110833" y="5029922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0899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41C68-8ADE-4BC6-8536-30AEFDAC0A6B}"/>
              </a:ext>
            </a:extLst>
          </p:cNvPr>
          <p:cNvSpPr/>
          <p:nvPr/>
        </p:nvSpPr>
        <p:spPr>
          <a:xfrm>
            <a:off x="2595968" y="327630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C835D-7269-435B-85D6-891F762A3861}"/>
              </a:ext>
            </a:extLst>
          </p:cNvPr>
          <p:cNvSpPr/>
          <p:nvPr/>
        </p:nvSpPr>
        <p:spPr>
          <a:xfrm>
            <a:off x="3583097" y="3710979"/>
            <a:ext cx="1078903" cy="1141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22673-54D1-4F5E-9DF3-64AF1E83BF69}"/>
              </a:ext>
            </a:extLst>
          </p:cNvPr>
          <p:cNvSpPr/>
          <p:nvPr/>
        </p:nvSpPr>
        <p:spPr>
          <a:xfrm>
            <a:off x="4101885" y="5129075"/>
            <a:ext cx="107890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AEC95F-297B-49D4-81F5-058476284C49}"/>
              </a:ext>
            </a:extLst>
          </p:cNvPr>
          <p:cNvSpPr/>
          <p:nvPr/>
        </p:nvSpPr>
        <p:spPr>
          <a:xfrm>
            <a:off x="3769962" y="4555639"/>
            <a:ext cx="107890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09C0B-88B4-44CD-89BC-A39CF669E3D1}"/>
              </a:ext>
            </a:extLst>
          </p:cNvPr>
          <p:cNvSpPr/>
          <p:nvPr/>
        </p:nvSpPr>
        <p:spPr>
          <a:xfrm>
            <a:off x="2110833" y="5029922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05815187-1681-4529-A88F-A274D351FAD9}"/>
              </a:ext>
            </a:extLst>
          </p:cNvPr>
          <p:cNvSpPr/>
          <p:nvPr/>
        </p:nvSpPr>
        <p:spPr>
          <a:xfrm>
            <a:off x="863273" y="6167134"/>
            <a:ext cx="7417454" cy="650017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</a:rPr>
              <a:t>Zero or more sections </a:t>
            </a:r>
            <a:r>
              <a:rPr lang="en-US" sz="1600" dirty="0"/>
              <a:t>of a course are offered each term. Courses have names and numbers. </a:t>
            </a:r>
            <a:r>
              <a:rPr lang="en-US" sz="1600" dirty="0">
                <a:solidFill>
                  <a:schemeClr val="accent2"/>
                </a:solidFill>
              </a:rPr>
              <a:t>In each term, the sections of each course are </a:t>
            </a:r>
            <a:r>
              <a:rPr lang="en-CA" sz="1600" dirty="0">
                <a:solidFill>
                  <a:schemeClr val="accent2"/>
                </a:solidFill>
              </a:rPr>
              <a:t>numbered starting with 1.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768DE3-A123-4EE0-B2B1-72162ACCB074}"/>
              </a:ext>
            </a:extLst>
          </p:cNvPr>
          <p:cNvCxnSpPr/>
          <p:nvPr/>
        </p:nvCxnSpPr>
        <p:spPr>
          <a:xfrm flipV="1">
            <a:off x="4166617" y="2860303"/>
            <a:ext cx="0" cy="416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ECA81B-93C6-46FF-80CE-31C1BA272A08}"/>
              </a:ext>
            </a:extLst>
          </p:cNvPr>
          <p:cNvCxnSpPr/>
          <p:nvPr/>
        </p:nvCxnSpPr>
        <p:spPr>
          <a:xfrm>
            <a:off x="2335576" y="1795750"/>
            <a:ext cx="749147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432B5F2A-36E9-49AD-BAD0-81B4DC19C054}"/>
              </a:ext>
            </a:extLst>
          </p:cNvPr>
          <p:cNvSpPr/>
          <p:nvPr/>
        </p:nvSpPr>
        <p:spPr>
          <a:xfrm>
            <a:off x="342337" y="1929539"/>
            <a:ext cx="1615062" cy="650017"/>
          </a:xfrm>
          <a:prstGeom prst="wedgeRectCallout">
            <a:avLst>
              <a:gd name="adj1" fmla="val 57706"/>
              <a:gd name="adj2" fmla="val -9003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it is unique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67AACB-1089-4BC3-A22E-881531C1096C}"/>
              </a:ext>
            </a:extLst>
          </p:cNvPr>
          <p:cNvCxnSpPr/>
          <p:nvPr/>
        </p:nvCxnSpPr>
        <p:spPr>
          <a:xfrm>
            <a:off x="2335576" y="3016786"/>
            <a:ext cx="74914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34E962-8D41-41B8-B66F-99C77D7CAD35}"/>
              </a:ext>
            </a:extLst>
          </p:cNvPr>
          <p:cNvCxnSpPr/>
          <p:nvPr/>
        </p:nvCxnSpPr>
        <p:spPr>
          <a:xfrm>
            <a:off x="5462531" y="3158039"/>
            <a:ext cx="74914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D2C73708-FC30-4B27-9A7C-249A89D935EF}"/>
              </a:ext>
            </a:extLst>
          </p:cNvPr>
          <p:cNvSpPr/>
          <p:nvPr/>
        </p:nvSpPr>
        <p:spPr>
          <a:xfrm>
            <a:off x="6710356" y="2013644"/>
            <a:ext cx="2135998" cy="1133378"/>
          </a:xfrm>
          <a:prstGeom prst="wedgeRectCallout">
            <a:avLst>
              <a:gd name="adj1" fmla="val -86906"/>
              <a:gd name="adj2" fmla="val 4216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(</a:t>
            </a:r>
            <a:r>
              <a:rPr lang="en-CA" dirty="0" err="1"/>
              <a:t>term,sectionNum</a:t>
            </a:r>
            <a:r>
              <a:rPr lang="en-CA" dirty="0"/>
              <a:t>) is unique given the </a:t>
            </a:r>
            <a:r>
              <a:rPr lang="en-CA" dirty="0" err="1"/>
              <a:t>courseNum</a:t>
            </a:r>
            <a:endParaRPr lang="en-CA" dirty="0"/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D3B8555D-29C2-4EF5-A5D2-7132C3157C8E}"/>
              </a:ext>
            </a:extLst>
          </p:cNvPr>
          <p:cNvSpPr/>
          <p:nvPr/>
        </p:nvSpPr>
        <p:spPr>
          <a:xfrm>
            <a:off x="133055" y="3138019"/>
            <a:ext cx="2135998" cy="1133378"/>
          </a:xfrm>
          <a:prstGeom prst="wedgeRectCallout">
            <a:avLst>
              <a:gd name="adj1" fmla="val 53384"/>
              <a:gd name="adj2" fmla="val -62818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Question: can we place “term” as an attribute of Course?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ACC69C-15EF-462E-8D85-906AEED8F67D}"/>
              </a:ext>
            </a:extLst>
          </p:cNvPr>
          <p:cNvSpPr/>
          <p:nvPr/>
        </p:nvSpPr>
        <p:spPr>
          <a:xfrm>
            <a:off x="3417763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61E360C4-F358-46F2-A445-B7473C251CF8}"/>
              </a:ext>
            </a:extLst>
          </p:cNvPr>
          <p:cNvSpPr/>
          <p:nvPr/>
        </p:nvSpPr>
        <p:spPr>
          <a:xfrm>
            <a:off x="4769105" y="1776730"/>
            <a:ext cx="1724162" cy="626405"/>
          </a:xfrm>
          <a:prstGeom prst="wedgeRectCallout">
            <a:avLst>
              <a:gd name="adj1" fmla="val -91673"/>
              <a:gd name="adj2" fmla="val 14279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Optional, but good to state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27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5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41C68-8ADE-4BC6-8536-30AEFDAC0A6B}"/>
              </a:ext>
            </a:extLst>
          </p:cNvPr>
          <p:cNvSpPr/>
          <p:nvPr/>
        </p:nvSpPr>
        <p:spPr>
          <a:xfrm>
            <a:off x="2595968" y="327630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09C0B-88B4-44CD-89BC-A39CF669E3D1}"/>
              </a:ext>
            </a:extLst>
          </p:cNvPr>
          <p:cNvSpPr/>
          <p:nvPr/>
        </p:nvSpPr>
        <p:spPr>
          <a:xfrm>
            <a:off x="2110833" y="5029922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6D4E510-E2E5-4EE2-87B1-849E7EF5DF35}"/>
              </a:ext>
            </a:extLst>
          </p:cNvPr>
          <p:cNvSpPr/>
          <p:nvPr/>
        </p:nvSpPr>
        <p:spPr>
          <a:xfrm>
            <a:off x="863273" y="6360340"/>
            <a:ext cx="7417454" cy="45681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sz="1600" dirty="0"/>
              <a:t>Most course sections </a:t>
            </a:r>
            <a:r>
              <a:rPr lang="en-US" sz="1600" dirty="0">
                <a:solidFill>
                  <a:schemeClr val="accent2"/>
                </a:solidFill>
              </a:rPr>
              <a:t>are taught on-site</a:t>
            </a:r>
            <a:r>
              <a:rPr lang="en-US" sz="1600" dirty="0"/>
              <a:t>, but a few are taught </a:t>
            </a:r>
            <a:r>
              <a:rPr lang="en-US" sz="1600" dirty="0">
                <a:solidFill>
                  <a:schemeClr val="accent2"/>
                </a:solidFill>
              </a:rPr>
              <a:t>at off-site </a:t>
            </a:r>
            <a:r>
              <a:rPr lang="en-CA" sz="1600" dirty="0">
                <a:solidFill>
                  <a:schemeClr val="accent2"/>
                </a:solidFill>
              </a:rPr>
              <a:t>locations</a:t>
            </a:r>
            <a:r>
              <a:rPr lang="en-CA" sz="16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5DC2C6-656D-4561-B50B-06D28C1D4411}"/>
                  </a:ext>
                </a:extLst>
              </p14:cNvPr>
              <p14:cNvContentPartPr/>
              <p14:nvPr/>
            </p14:nvContentPartPr>
            <p14:xfrm>
              <a:off x="7086600" y="6296785"/>
              <a:ext cx="1162080" cy="583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5DC2C6-656D-4561-B50B-06D28C1D44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68960" y="6278785"/>
                <a:ext cx="1197720" cy="6195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33883F6-9295-467D-A2E0-168F9B4675A4}"/>
              </a:ext>
            </a:extLst>
          </p:cNvPr>
          <p:cNvSpPr/>
          <p:nvPr/>
        </p:nvSpPr>
        <p:spPr>
          <a:xfrm>
            <a:off x="3640344" y="3873783"/>
            <a:ext cx="1581652" cy="186600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664227-54AE-4692-8ED4-9FA8DCADB254}"/>
              </a:ext>
            </a:extLst>
          </p:cNvPr>
          <p:cNvSpPr/>
          <p:nvPr/>
        </p:nvSpPr>
        <p:spPr>
          <a:xfrm>
            <a:off x="3417763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558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41C68-8ADE-4BC6-8536-30AEFDAC0A6B}"/>
              </a:ext>
            </a:extLst>
          </p:cNvPr>
          <p:cNvSpPr/>
          <p:nvPr/>
        </p:nvSpPr>
        <p:spPr>
          <a:xfrm>
            <a:off x="2595968" y="327630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09C0B-88B4-44CD-89BC-A39CF669E3D1}"/>
              </a:ext>
            </a:extLst>
          </p:cNvPr>
          <p:cNvSpPr/>
          <p:nvPr/>
        </p:nvSpPr>
        <p:spPr>
          <a:xfrm>
            <a:off x="2110833" y="5029922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B609A1B-C559-4A02-B536-AD79206341C6}"/>
              </a:ext>
            </a:extLst>
          </p:cNvPr>
          <p:cNvSpPr/>
          <p:nvPr/>
        </p:nvSpPr>
        <p:spPr>
          <a:xfrm>
            <a:off x="863273" y="6081520"/>
            <a:ext cx="7417454" cy="73563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Each </a:t>
            </a:r>
            <a:r>
              <a:rPr lang="en-US" sz="1600" dirty="0">
                <a:solidFill>
                  <a:schemeClr val="accent2"/>
                </a:solidFill>
              </a:rPr>
              <a:t>course section is taught by a professor</a:t>
            </a:r>
            <a:r>
              <a:rPr lang="en-US" sz="1600" dirty="0"/>
              <a:t>. </a:t>
            </a:r>
            <a:r>
              <a:rPr lang="en-US" sz="1600" dirty="0">
                <a:solidFill>
                  <a:schemeClr val="accent2"/>
                </a:solidFill>
              </a:rPr>
              <a:t>A professor may teach more than one section in a term</a:t>
            </a:r>
            <a:r>
              <a:rPr lang="en-US" sz="1600" dirty="0"/>
              <a:t>, but if a professor teaches </a:t>
            </a:r>
            <a:r>
              <a:rPr lang="en-US" sz="1600" dirty="0">
                <a:solidFill>
                  <a:schemeClr val="accent2"/>
                </a:solidFill>
              </a:rPr>
              <a:t>more than one section in a term</a:t>
            </a:r>
            <a:r>
              <a:rPr lang="en-US" sz="1600" dirty="0"/>
              <a:t>, they are always sections of the same course. Some professors do not teach every term.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96604B-F7A1-4819-9823-87D9C95D18EA}"/>
              </a:ext>
            </a:extLst>
          </p:cNvPr>
          <p:cNvCxnSpPr>
            <a:cxnSpLocks/>
          </p:cNvCxnSpPr>
          <p:nvPr/>
        </p:nvCxnSpPr>
        <p:spPr>
          <a:xfrm flipH="1">
            <a:off x="2862146" y="3471747"/>
            <a:ext cx="765717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3BF67-9DD3-4733-9D32-9F6DEAF8E3D1}"/>
              </a:ext>
            </a:extLst>
          </p:cNvPr>
          <p:cNvSpPr/>
          <p:nvPr/>
        </p:nvSpPr>
        <p:spPr>
          <a:xfrm>
            <a:off x="2110833" y="4296483"/>
            <a:ext cx="705173" cy="28671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9A3D6B-CBDD-46CA-B619-DC03BBA51926}"/>
              </a:ext>
            </a:extLst>
          </p:cNvPr>
          <p:cNvSpPr/>
          <p:nvPr/>
        </p:nvSpPr>
        <p:spPr>
          <a:xfrm>
            <a:off x="3428037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6BFC8-A08D-4F18-BE3E-9AAE733ADDF4}"/>
              </a:ext>
            </a:extLst>
          </p:cNvPr>
          <p:cNvSpPr/>
          <p:nvPr/>
        </p:nvSpPr>
        <p:spPr>
          <a:xfrm>
            <a:off x="2595967" y="3293374"/>
            <a:ext cx="705173" cy="28671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(1,1)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3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41C68-8ADE-4BC6-8536-30AEFDAC0A6B}"/>
              </a:ext>
            </a:extLst>
          </p:cNvPr>
          <p:cNvSpPr/>
          <p:nvPr/>
        </p:nvSpPr>
        <p:spPr>
          <a:xfrm>
            <a:off x="2595968" y="327630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B609A1B-C559-4A02-B536-AD79206341C6}"/>
              </a:ext>
            </a:extLst>
          </p:cNvPr>
          <p:cNvSpPr/>
          <p:nvPr/>
        </p:nvSpPr>
        <p:spPr>
          <a:xfrm>
            <a:off x="863273" y="6081520"/>
            <a:ext cx="7417454" cy="73563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Each </a:t>
            </a:r>
            <a:r>
              <a:rPr lang="en-US" sz="1600" dirty="0">
                <a:solidFill>
                  <a:schemeClr val="accent2"/>
                </a:solidFill>
              </a:rPr>
              <a:t>course section is taught by a professor</a:t>
            </a:r>
            <a:r>
              <a:rPr lang="en-US" sz="1600" dirty="0"/>
              <a:t>. </a:t>
            </a:r>
            <a:r>
              <a:rPr lang="en-US" sz="1600" dirty="0">
                <a:solidFill>
                  <a:schemeClr val="accent2"/>
                </a:solidFill>
              </a:rPr>
              <a:t>A professor may teach more than one section in a term</a:t>
            </a:r>
            <a:r>
              <a:rPr lang="en-US" sz="1600" dirty="0"/>
              <a:t>, but if a professor teaches </a:t>
            </a:r>
            <a:r>
              <a:rPr lang="en-US" sz="1600" dirty="0">
                <a:solidFill>
                  <a:schemeClr val="accent2"/>
                </a:solidFill>
              </a:rPr>
              <a:t>more than one section in a term</a:t>
            </a:r>
            <a:r>
              <a:rPr lang="en-US" sz="1600" dirty="0"/>
              <a:t>, they are always sections of the same course. Some professors do not teach every term.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96604B-F7A1-4819-9823-87D9C95D18EA}"/>
              </a:ext>
            </a:extLst>
          </p:cNvPr>
          <p:cNvCxnSpPr>
            <a:cxnSpLocks/>
          </p:cNvCxnSpPr>
          <p:nvPr/>
        </p:nvCxnSpPr>
        <p:spPr>
          <a:xfrm flipH="1">
            <a:off x="2862146" y="3471747"/>
            <a:ext cx="765717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3BF67-9DD3-4733-9D32-9F6DEAF8E3D1}"/>
              </a:ext>
            </a:extLst>
          </p:cNvPr>
          <p:cNvSpPr/>
          <p:nvPr/>
        </p:nvSpPr>
        <p:spPr>
          <a:xfrm>
            <a:off x="2110833" y="4296483"/>
            <a:ext cx="705173" cy="28671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9A3D6B-CBDD-46CA-B619-DC03BBA51926}"/>
              </a:ext>
            </a:extLst>
          </p:cNvPr>
          <p:cNvSpPr/>
          <p:nvPr/>
        </p:nvSpPr>
        <p:spPr>
          <a:xfrm>
            <a:off x="3428037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6BFC8-A08D-4F18-BE3E-9AAE733ADDF4}"/>
              </a:ext>
            </a:extLst>
          </p:cNvPr>
          <p:cNvSpPr/>
          <p:nvPr/>
        </p:nvSpPr>
        <p:spPr>
          <a:xfrm>
            <a:off x="2595967" y="3293374"/>
            <a:ext cx="705173" cy="28671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(1,1)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AAFC16-87A9-4CB2-B0EC-3E75C2009534}"/>
              </a:ext>
            </a:extLst>
          </p:cNvPr>
          <p:cNvSpPr/>
          <p:nvPr/>
        </p:nvSpPr>
        <p:spPr>
          <a:xfrm>
            <a:off x="1856091" y="5033330"/>
            <a:ext cx="2181653" cy="104819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6BF2AD64-CE83-4EAE-BDEF-68A81520CF14}"/>
              </a:ext>
            </a:extLst>
          </p:cNvPr>
          <p:cNvSpPr/>
          <p:nvPr/>
        </p:nvSpPr>
        <p:spPr>
          <a:xfrm>
            <a:off x="0" y="3513762"/>
            <a:ext cx="2274335" cy="1061166"/>
          </a:xfrm>
          <a:prstGeom prst="wedgeRectCallout">
            <a:avLst>
              <a:gd name="adj1" fmla="val 52445"/>
              <a:gd name="adj2" fmla="val 70298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Can “Professor” be an attribute of Section?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795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FCB5F-C139-49BA-AEE0-B1B97AE71E18}"/>
              </a:ext>
            </a:extLst>
          </p:cNvPr>
          <p:cNvSpPr/>
          <p:nvPr/>
        </p:nvSpPr>
        <p:spPr>
          <a:xfrm>
            <a:off x="4859531" y="3347635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887DA-D083-4D47-94C1-9F9A2B963251}"/>
              </a:ext>
            </a:extLst>
          </p:cNvPr>
          <p:cNvSpPr/>
          <p:nvPr/>
        </p:nvSpPr>
        <p:spPr>
          <a:xfrm>
            <a:off x="5919530" y="4434957"/>
            <a:ext cx="1581653" cy="594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BAA52-0BB7-4E38-942D-053E2920FC79}"/>
              </a:ext>
            </a:extLst>
          </p:cNvPr>
          <p:cNvSpPr/>
          <p:nvPr/>
        </p:nvSpPr>
        <p:spPr>
          <a:xfrm>
            <a:off x="6084361" y="3419664"/>
            <a:ext cx="1899308" cy="119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B609A1B-C559-4A02-B536-AD79206341C6}"/>
              </a:ext>
            </a:extLst>
          </p:cNvPr>
          <p:cNvSpPr/>
          <p:nvPr/>
        </p:nvSpPr>
        <p:spPr>
          <a:xfrm>
            <a:off x="863273" y="6081520"/>
            <a:ext cx="7417454" cy="73563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sz="1600" dirty="0"/>
              <a:t>Up to 50 students may be registered for a course section. Sections with 5 or fewer students are cancelled.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3BF67-9DD3-4733-9D32-9F6DEAF8E3D1}"/>
              </a:ext>
            </a:extLst>
          </p:cNvPr>
          <p:cNvSpPr/>
          <p:nvPr/>
        </p:nvSpPr>
        <p:spPr>
          <a:xfrm>
            <a:off x="2110833" y="4296483"/>
            <a:ext cx="705173" cy="28671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9A3D6B-CBDD-46CA-B619-DC03BBA51926}"/>
              </a:ext>
            </a:extLst>
          </p:cNvPr>
          <p:cNvSpPr/>
          <p:nvPr/>
        </p:nvSpPr>
        <p:spPr>
          <a:xfrm>
            <a:off x="3428037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6BFC8-A08D-4F18-BE3E-9AAE733ADDF4}"/>
              </a:ext>
            </a:extLst>
          </p:cNvPr>
          <p:cNvSpPr/>
          <p:nvPr/>
        </p:nvSpPr>
        <p:spPr>
          <a:xfrm>
            <a:off x="4974084" y="3348585"/>
            <a:ext cx="945446" cy="28576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(6,50)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D966AE-B4B5-4AA4-B2D7-B1AE3F40E640}"/>
              </a:ext>
            </a:extLst>
          </p:cNvPr>
          <p:cNvSpPr/>
          <p:nvPr/>
        </p:nvSpPr>
        <p:spPr>
          <a:xfrm>
            <a:off x="5484528" y="4362928"/>
            <a:ext cx="705173" cy="28671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545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8BE6-1266-4D0C-BAD5-4E6ECA76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(Exercise) cont.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25725-F90C-45E1-B567-0768E74D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4533B-82F8-4079-B8C9-BF45756B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244-FC7D-4AF2-A650-7F5B9B8DD557}"/>
              </a:ext>
            </a:extLst>
          </p:cNvPr>
          <p:cNvSpPr/>
          <p:nvPr/>
        </p:nvSpPr>
        <p:spPr>
          <a:xfrm>
            <a:off x="3417376" y="2860303"/>
            <a:ext cx="705173" cy="28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6B609A1B-C559-4A02-B536-AD79206341C6}"/>
              </a:ext>
            </a:extLst>
          </p:cNvPr>
          <p:cNvSpPr/>
          <p:nvPr/>
        </p:nvSpPr>
        <p:spPr>
          <a:xfrm>
            <a:off x="863273" y="6081520"/>
            <a:ext cx="7417454" cy="73563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A student receives a </a:t>
            </a:r>
            <a:r>
              <a:rPr lang="en-US" sz="1600" dirty="0">
                <a:solidFill>
                  <a:schemeClr val="accent2"/>
                </a:solidFill>
              </a:rPr>
              <a:t>mark</a:t>
            </a:r>
            <a:r>
              <a:rPr lang="en-US" sz="1600" dirty="0"/>
              <a:t> for each course in which they are enrolled. Each student has </a:t>
            </a:r>
            <a:r>
              <a:rPr lang="en-US" sz="1600" dirty="0">
                <a:solidFill>
                  <a:schemeClr val="accent2"/>
                </a:solidFill>
              </a:rPr>
              <a:t>a cumulative grade point average (GPA) </a:t>
            </a:r>
            <a:r>
              <a:rPr lang="en-US" sz="1600" dirty="0"/>
              <a:t>which is calculated from all course marks the student has received.</a:t>
            </a:r>
            <a:endParaRPr lang="en-CA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3BF67-9DD3-4733-9D32-9F6DEAF8E3D1}"/>
              </a:ext>
            </a:extLst>
          </p:cNvPr>
          <p:cNvSpPr/>
          <p:nvPr/>
        </p:nvSpPr>
        <p:spPr>
          <a:xfrm>
            <a:off x="2110833" y="4296483"/>
            <a:ext cx="705173" cy="28671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9A3D6B-CBDD-46CA-B619-DC03BBA51926}"/>
              </a:ext>
            </a:extLst>
          </p:cNvPr>
          <p:cNvSpPr/>
          <p:nvPr/>
        </p:nvSpPr>
        <p:spPr>
          <a:xfrm>
            <a:off x="3428037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D966AE-B4B5-4AA4-B2D7-B1AE3F40E640}"/>
              </a:ext>
            </a:extLst>
          </p:cNvPr>
          <p:cNvSpPr/>
          <p:nvPr/>
        </p:nvSpPr>
        <p:spPr>
          <a:xfrm>
            <a:off x="5484528" y="4362928"/>
            <a:ext cx="705173" cy="28671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FB8D3-C54F-4AA0-B8FA-04AAB1693AB7}"/>
              </a:ext>
            </a:extLst>
          </p:cNvPr>
          <p:cNvSpPr/>
          <p:nvPr/>
        </p:nvSpPr>
        <p:spPr>
          <a:xfrm>
            <a:off x="6078770" y="3693770"/>
            <a:ext cx="1801509" cy="7356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CDB3654A-EDA6-4987-A601-2D60F11961A2}"/>
              </a:ext>
            </a:extLst>
          </p:cNvPr>
          <p:cNvSpPr/>
          <p:nvPr/>
        </p:nvSpPr>
        <p:spPr>
          <a:xfrm>
            <a:off x="6641969" y="1305522"/>
            <a:ext cx="2274335" cy="1336651"/>
          </a:xfrm>
          <a:prstGeom prst="wedgeRectCallout">
            <a:avLst>
              <a:gd name="adj1" fmla="val -93468"/>
              <a:gd name="adj2" fmla="val 139048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Can “</a:t>
            </a:r>
            <a:r>
              <a:rPr lang="en-CA" dirty="0" err="1"/>
              <a:t>EnrolledIn</a:t>
            </a:r>
            <a:r>
              <a:rPr lang="en-CA" dirty="0"/>
              <a:t>” be a relationship set between Course and Student instead?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BE468175-69E7-4743-94CA-83123D5B5DB7}"/>
              </a:ext>
            </a:extLst>
          </p:cNvPr>
          <p:cNvSpPr/>
          <p:nvPr/>
        </p:nvSpPr>
        <p:spPr>
          <a:xfrm>
            <a:off x="6641969" y="2742379"/>
            <a:ext cx="2274335" cy="735631"/>
          </a:xfrm>
          <a:prstGeom prst="wedgeRectCallout">
            <a:avLst>
              <a:gd name="adj1" fmla="val -96179"/>
              <a:gd name="adj2" fmla="val 1015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No, we may not be able to specify “(6,50)”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1A509-7991-4045-8C99-A7476FE82FE7}"/>
              </a:ext>
            </a:extLst>
          </p:cNvPr>
          <p:cNvSpPr/>
          <p:nvPr/>
        </p:nvSpPr>
        <p:spPr>
          <a:xfrm>
            <a:off x="5977627" y="4472351"/>
            <a:ext cx="1801509" cy="55757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DAE1E28B-CF70-4084-883E-7D7152E6EEC9}"/>
              </a:ext>
            </a:extLst>
          </p:cNvPr>
          <p:cNvSpPr/>
          <p:nvPr/>
        </p:nvSpPr>
        <p:spPr>
          <a:xfrm>
            <a:off x="7356297" y="4658171"/>
            <a:ext cx="1560007" cy="987344"/>
          </a:xfrm>
          <a:prstGeom prst="wedgeRectCallout">
            <a:avLst>
              <a:gd name="adj1" fmla="val -105939"/>
              <a:gd name="adj2" fmla="val 128613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We did not capture this requirement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601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E548-48FA-4321-92A0-D869B768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3: possible solution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96DD-E68A-46F5-9C6B-BE7A1EBDB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B71A9-6CE8-4CBA-868A-C4B27632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3B6F6-D568-467C-9552-78F65894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66" y="1342321"/>
            <a:ext cx="5483404" cy="48935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346BD1-DB02-43E5-A223-0759A12D5F00}"/>
              </a:ext>
            </a:extLst>
          </p:cNvPr>
          <p:cNvSpPr/>
          <p:nvPr/>
        </p:nvSpPr>
        <p:spPr>
          <a:xfrm>
            <a:off x="3428037" y="1929539"/>
            <a:ext cx="705173" cy="28671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(0,*)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FBC1036A-B46D-469D-B237-06944CF002B6}"/>
              </a:ext>
            </a:extLst>
          </p:cNvPr>
          <p:cNvSpPr/>
          <p:nvPr/>
        </p:nvSpPr>
        <p:spPr>
          <a:xfrm>
            <a:off x="863273" y="6081520"/>
            <a:ext cx="7417454" cy="735631"/>
          </a:xfrm>
          <a:prstGeom prst="wedgeRoundRectCallout">
            <a:avLst>
              <a:gd name="adj1" fmla="val -54366"/>
              <a:gd name="adj2" fmla="val -31728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A student receives a </a:t>
            </a:r>
            <a:r>
              <a:rPr lang="en-US" sz="1600" dirty="0">
                <a:solidFill>
                  <a:schemeClr val="accent2"/>
                </a:solidFill>
              </a:rPr>
              <a:t>mark</a:t>
            </a:r>
            <a:r>
              <a:rPr lang="en-US" sz="1600" dirty="0"/>
              <a:t> for each course in which they are enrolled. Each student has </a:t>
            </a:r>
            <a:r>
              <a:rPr lang="en-US" sz="1600" dirty="0">
                <a:solidFill>
                  <a:schemeClr val="accent2"/>
                </a:solidFill>
              </a:rPr>
              <a:t>a cumulative grade point average (GPA) </a:t>
            </a:r>
            <a:r>
              <a:rPr lang="en-US" sz="1600" dirty="0"/>
              <a:t>which is calculated from all course marks the student has received.</a:t>
            </a:r>
            <a:endParaRPr lang="en-CA" sz="160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4C81933-A019-4655-8749-B328C0F1445D}"/>
              </a:ext>
            </a:extLst>
          </p:cNvPr>
          <p:cNvSpPr/>
          <p:nvPr/>
        </p:nvSpPr>
        <p:spPr>
          <a:xfrm>
            <a:off x="7356297" y="4658171"/>
            <a:ext cx="1560007" cy="987344"/>
          </a:xfrm>
          <a:prstGeom prst="wedgeRectCallout">
            <a:avLst>
              <a:gd name="adj1" fmla="val -105939"/>
              <a:gd name="adj2" fmla="val 128613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We did not capture this requirement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EFF40ECF-9294-4BE4-A3EC-D49B01C5B7CC}"/>
              </a:ext>
            </a:extLst>
          </p:cNvPr>
          <p:cNvSpPr/>
          <p:nvPr/>
        </p:nvSpPr>
        <p:spPr>
          <a:xfrm>
            <a:off x="342337" y="1929539"/>
            <a:ext cx="1615062" cy="650017"/>
          </a:xfrm>
          <a:prstGeom prst="wedgeRectCallout">
            <a:avLst>
              <a:gd name="adj1" fmla="val 57706"/>
              <a:gd name="adj2" fmla="val -9003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it is unique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022AEBDE-1408-4B38-8A0D-FA33C7934516}"/>
              </a:ext>
            </a:extLst>
          </p:cNvPr>
          <p:cNvSpPr/>
          <p:nvPr/>
        </p:nvSpPr>
        <p:spPr>
          <a:xfrm>
            <a:off x="6710356" y="2013644"/>
            <a:ext cx="2135998" cy="1133378"/>
          </a:xfrm>
          <a:prstGeom prst="wedgeRectCallout">
            <a:avLst>
              <a:gd name="adj1" fmla="val -86906"/>
              <a:gd name="adj2" fmla="val 4216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(</a:t>
            </a:r>
            <a:r>
              <a:rPr lang="en-CA" dirty="0" err="1"/>
              <a:t>term,sectionNum</a:t>
            </a:r>
            <a:r>
              <a:rPr lang="en-CA" dirty="0"/>
              <a:t>) is unique given the </a:t>
            </a:r>
            <a:r>
              <a:rPr lang="en-CA" dirty="0" err="1"/>
              <a:t>courseNum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62446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8988-9638-4A7C-B720-7E5DF9A9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you have learned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3EB-763C-4991-A412-20380E3D4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chemeClr val="accent2"/>
                </a:solidFill>
              </a:rPr>
              <a:t>Entity-Relationship (E/R) model</a:t>
            </a:r>
          </a:p>
          <a:p>
            <a:endParaRPr lang="en-CA" dirty="0"/>
          </a:p>
          <a:p>
            <a:r>
              <a:rPr lang="en-CA" dirty="0"/>
              <a:t>Next: Translating E/R to relational schema </a:t>
            </a:r>
          </a:p>
          <a:p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C0F79-9338-4EEA-BEC6-F5FEA16D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282BCD-13B4-4B72-B3FB-ED2717428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34290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Rooms</a:t>
            </a: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BDF7F3B4-1E3F-474F-9FCA-F7521AC56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33528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C951E86B-78AD-4564-9B87-C693F4D31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05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44AB2316-8AFC-4A93-A06C-1F3508E28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004C98-F533-49A6-B9DF-78166AAB6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4290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Buildings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FFDF1B87-E630-4751-A40A-2F9935201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4290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E0466EB-0EFC-402F-8D34-8E5434E70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35052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AB1008E1-C9AD-4717-B7AC-D12CBF2D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3124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B1F3C96B-6CDF-4302-B4E2-4E779EC1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3733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year</a:t>
            </a:r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63F27BDC-2E1B-47AE-BEE9-AEEEA3932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124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Rnumber</a:t>
            </a:r>
            <a:endParaRPr lang="en-US" i="1" dirty="0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38A3056E-6B77-40BC-A966-F46975B71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733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capacity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EF469B2D-79B5-47B4-9B68-5ECD5A4BE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450" y="3352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45A018CB-8E02-4249-9271-0B87FF68EE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3733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E3AFA4D6-B1EE-4371-A959-BAD5F47E52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3650" y="3352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8E845A74-FA17-4CF2-9830-213638A5E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650" y="3733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AutoShape 26">
            <a:extLst>
              <a:ext uri="{FF2B5EF4-FFF2-40B4-BE49-F238E27FC236}">
                <a16:creationId xmlns:a16="http://schemas.microsoft.com/office/drawing/2014/main" id="{BD9EE63D-EB70-4F93-B97D-01E6B8080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3434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8" name="AutoShape 27">
            <a:extLst>
              <a:ext uri="{FF2B5EF4-FFF2-40B4-BE49-F238E27FC236}">
                <a16:creationId xmlns:a16="http://schemas.microsoft.com/office/drawing/2014/main" id="{E15D5DF3-D509-47EC-821F-FF0EDD852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44196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4F01DB-2710-4A52-9F4F-11A3F2CD8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5410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Seats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9A110-D703-4246-8EBA-7D3DAA982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54864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D37B9D01-1648-4C00-83CD-DC85912CD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6513" y="3886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D27F457-6F3F-4B65-8607-EEC22B9AC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4953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Oval 34">
            <a:extLst>
              <a:ext uri="{FF2B5EF4-FFF2-40B4-BE49-F238E27FC236}">
                <a16:creationId xmlns:a16="http://schemas.microsoft.com/office/drawing/2014/main" id="{9B3C0E5E-A3BB-4BB9-8596-61CF822E3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105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Snumber</a:t>
            </a:r>
            <a:endParaRPr lang="en-US" i="1" dirty="0"/>
          </a:p>
        </p:txBody>
      </p:sp>
      <p:sp>
        <p:nvSpPr>
          <p:cNvPr id="34" name="Oval 35">
            <a:extLst>
              <a:ext uri="{FF2B5EF4-FFF2-40B4-BE49-F238E27FC236}">
                <a16:creationId xmlns:a16="http://schemas.microsoft.com/office/drawing/2014/main" id="{CA7F66AF-69C3-430B-922D-D373798C2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715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L/R?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A55F290-E900-463F-99C6-6DCD0123C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450" y="5334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E6CB1FFA-A98F-449E-9906-AB969745EC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5715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0F7A91-C2B2-452E-A63D-7996C452AD83}"/>
              </a:ext>
            </a:extLst>
          </p:cNvPr>
          <p:cNvCxnSpPr>
            <a:stCxn id="14" idx="0"/>
            <a:endCxn id="13" idx="1"/>
          </p:cNvCxnSpPr>
          <p:nvPr/>
        </p:nvCxnSpPr>
        <p:spPr>
          <a:xfrm>
            <a:off x="3067050" y="36576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C0B6B7-DF86-4EE0-86F7-58935CD4D2DC}"/>
              </a:ext>
            </a:extLst>
          </p:cNvPr>
          <p:cNvCxnSpPr>
            <a:stCxn id="32" idx="1"/>
            <a:endCxn id="27" idx="2"/>
          </p:cNvCxnSpPr>
          <p:nvPr/>
        </p:nvCxnSpPr>
        <p:spPr>
          <a:xfrm flipH="1" flipV="1">
            <a:off x="2571750" y="4953000"/>
            <a:ext cx="6351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E93CCA-730B-489A-B0E9-FF34BB524338}"/>
              </a:ext>
            </a:extLst>
          </p:cNvPr>
          <p:cNvCxnSpPr>
            <a:cxnSpLocks/>
          </p:cNvCxnSpPr>
          <p:nvPr/>
        </p:nvCxnSpPr>
        <p:spPr>
          <a:xfrm flipV="1">
            <a:off x="801207" y="3489953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4EB342D-EB3E-4586-8FA4-DD9FA33EC845}"/>
              </a:ext>
            </a:extLst>
          </p:cNvPr>
          <p:cNvCxnSpPr>
            <a:cxnSpLocks/>
          </p:cNvCxnSpPr>
          <p:nvPr/>
        </p:nvCxnSpPr>
        <p:spPr>
          <a:xfrm flipV="1">
            <a:off x="822979" y="5462995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30CC299-2B67-4AEA-9124-65EF57FC5324}"/>
              </a:ext>
            </a:extLst>
          </p:cNvPr>
          <p:cNvSpPr txBox="1"/>
          <p:nvPr/>
        </p:nvSpPr>
        <p:spPr>
          <a:xfrm>
            <a:off x="4030111" y="4876800"/>
            <a:ext cx="49318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Building </a:t>
            </a:r>
            <a:r>
              <a:rPr lang="en-US" sz="2000" dirty="0"/>
              <a:t>(</a:t>
            </a:r>
            <a:r>
              <a:rPr lang="en-US" sz="2000" i="1" u="sng" dirty="0"/>
              <a:t>name</a:t>
            </a:r>
            <a:r>
              <a:rPr lang="en-US" sz="2000" dirty="0"/>
              <a:t>, </a:t>
            </a:r>
            <a:r>
              <a:rPr lang="en-US" sz="2000" i="1" dirty="0"/>
              <a:t>year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Room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dirty="0"/>
              <a:t>capacity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Seat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u="sng" dirty="0" err="1"/>
              <a:t>seat_number</a:t>
            </a:r>
            <a:r>
              <a:rPr lang="en-US" sz="2000" dirty="0"/>
              <a:t>, </a:t>
            </a:r>
            <a:r>
              <a:rPr lang="en-US" sz="2000" i="1" dirty="0" err="1"/>
              <a:t>left_or_right</a:t>
            </a:r>
            <a:r>
              <a:rPr lang="en-US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318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9.9|10.5|18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7|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14|27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|6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10.4|15|6|1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|16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6|7.4|19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5.3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24|23.5|2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16|16.7|36.3|14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0.1|43.2|27.9|2.1|23|24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|16.4|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7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8.9|23.2|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8.7|6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2.5|8.2|9.8|1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4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6.6|7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9.2|7.1|8.9|7.9|11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|24.3|6.7|15.6|5.6|2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15.9|3.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6|5.4|15.5|10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7.9|3.4|5.2|4.3|11.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7|8.3|24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6.2|12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|25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30.8|2.8|16.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46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10.7|5.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4.7|8.6|12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7|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1|19.4|37.7|12|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5|4.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4|36.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24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9.7|29.2|9.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4288</Words>
  <Application>Microsoft Office PowerPoint</Application>
  <PresentationFormat>On-screen Show (4:3)</PresentationFormat>
  <Paragraphs>758</Paragraphs>
  <Slides>58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NimbusRomNo9L-Medi</vt:lpstr>
      <vt:lpstr>NimbusRomNo9L-Regu</vt:lpstr>
      <vt:lpstr>Prestige12 BT</vt:lpstr>
      <vt:lpstr>Arial</vt:lpstr>
      <vt:lpstr>Calibri</vt:lpstr>
      <vt:lpstr>Cambria Math</vt:lpstr>
      <vt:lpstr>Candara</vt:lpstr>
      <vt:lpstr>Wingdings</vt:lpstr>
      <vt:lpstr>Office Theme</vt:lpstr>
      <vt:lpstr>Relational Database Design using E/R</vt:lpstr>
      <vt:lpstr>Announcements (Tue. June 01)</vt:lpstr>
      <vt:lpstr>Motivating Example</vt:lpstr>
      <vt:lpstr>Database Design</vt:lpstr>
      <vt:lpstr>Database Design</vt:lpstr>
      <vt:lpstr>But what about ORM?</vt:lpstr>
      <vt:lpstr>Entity-relationship (E/R) model</vt:lpstr>
      <vt:lpstr>E/R basics</vt:lpstr>
      <vt:lpstr>An example E/R diagram</vt:lpstr>
      <vt:lpstr>Attributes of relationships</vt:lpstr>
      <vt:lpstr>More on relationships</vt:lpstr>
      <vt:lpstr>More on relationships</vt:lpstr>
      <vt:lpstr>Multiplicity of relationships</vt:lpstr>
      <vt:lpstr>General cardinality constraints</vt:lpstr>
      <vt:lpstr>Roles in relationships</vt:lpstr>
      <vt:lpstr>Next: two special relationships</vt:lpstr>
      <vt:lpstr>Weak entity sets</vt:lpstr>
      <vt:lpstr>Weak entity set examples</vt:lpstr>
      <vt:lpstr>ISA relationships</vt:lpstr>
      <vt:lpstr>Other extensions to E/R models</vt:lpstr>
      <vt:lpstr>Other extensions to E/R models</vt:lpstr>
      <vt:lpstr>Other extensions to E/R models</vt:lpstr>
      <vt:lpstr>Other extensions to E/R models</vt:lpstr>
      <vt:lpstr>Summary of E/R concepts</vt:lpstr>
      <vt:lpstr>Designing an E/R schema</vt:lpstr>
      <vt:lpstr>Attributes or Entity Sets?</vt:lpstr>
      <vt:lpstr>Entity Sets or Relationships?</vt:lpstr>
      <vt:lpstr>Binary vs. N-ary Relationships?</vt:lpstr>
      <vt:lpstr>Binary vs. N-ary Relationships (cont’d)</vt:lpstr>
      <vt:lpstr>A simple methodology </vt:lpstr>
      <vt:lpstr>Case study 1</vt:lpstr>
      <vt:lpstr>Case study 1</vt:lpstr>
      <vt:lpstr>Case study 1</vt:lpstr>
      <vt:lpstr>Case study 1</vt:lpstr>
      <vt:lpstr>Case study 1</vt:lpstr>
      <vt:lpstr>Case study 1</vt:lpstr>
      <vt:lpstr>Case study 1</vt:lpstr>
      <vt:lpstr>Case study 1: final design</vt:lpstr>
      <vt:lpstr>Case study 1:  why not good?</vt:lpstr>
      <vt:lpstr>Case study 2</vt:lpstr>
      <vt:lpstr>Case study 2: first design</vt:lpstr>
      <vt:lpstr>Case study 2: second design</vt:lpstr>
      <vt:lpstr>Case study 2: second design</vt:lpstr>
      <vt:lpstr>Case study 2: second design</vt:lpstr>
      <vt:lpstr>Case study 3 (Exercise) </vt:lpstr>
      <vt:lpstr>Try it (5 mins) </vt:lpstr>
      <vt:lpstr>What is your solution?</vt:lpstr>
      <vt:lpstr>Case study 3 (Exercise) </vt:lpstr>
      <vt:lpstr>Case study 3 (Exercise) </vt:lpstr>
      <vt:lpstr>Case study 3 (Exercise) cont. </vt:lpstr>
      <vt:lpstr>Case study 3 (Exercise) cont.  </vt:lpstr>
      <vt:lpstr>Case study 3 (Exercise) cont. </vt:lpstr>
      <vt:lpstr>Case study 3 (Exercise) cont. </vt:lpstr>
      <vt:lpstr>Case study 3 (Exercise) cont. </vt:lpstr>
      <vt:lpstr>Case study 3 (Exercise) cont. </vt:lpstr>
      <vt:lpstr>Case study 3 (Exercise) cont. </vt:lpstr>
      <vt:lpstr>Case study 3: possible solution</vt:lpstr>
      <vt:lpstr>What you have learned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2021-07-27T02:21:17Z</dcterms:created>
  <dcterms:modified xsi:type="dcterms:W3CDTF">2021-07-27T02:21:26Z</dcterms:modified>
</cp:coreProperties>
</file>