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20" r:id="rId2"/>
    <p:sldId id="401" r:id="rId3"/>
    <p:sldId id="410" r:id="rId4"/>
    <p:sldId id="581" r:id="rId5"/>
    <p:sldId id="587" r:id="rId6"/>
    <p:sldId id="538" r:id="rId7"/>
    <p:sldId id="541" r:id="rId8"/>
    <p:sldId id="540" r:id="rId9"/>
    <p:sldId id="542" r:id="rId10"/>
    <p:sldId id="582" r:id="rId11"/>
    <p:sldId id="544" r:id="rId12"/>
    <p:sldId id="545" r:id="rId13"/>
    <p:sldId id="546" r:id="rId14"/>
    <p:sldId id="550" r:id="rId15"/>
    <p:sldId id="547" r:id="rId16"/>
    <p:sldId id="551" r:id="rId17"/>
    <p:sldId id="552" r:id="rId18"/>
    <p:sldId id="553" r:id="rId19"/>
    <p:sldId id="554" r:id="rId20"/>
    <p:sldId id="555" r:id="rId21"/>
    <p:sldId id="556" r:id="rId22"/>
    <p:sldId id="557" r:id="rId23"/>
    <p:sldId id="558" r:id="rId24"/>
    <p:sldId id="559" r:id="rId25"/>
    <p:sldId id="560" r:id="rId26"/>
    <p:sldId id="583" r:id="rId27"/>
    <p:sldId id="563" r:id="rId28"/>
    <p:sldId id="562" r:id="rId29"/>
    <p:sldId id="564" r:id="rId30"/>
    <p:sldId id="566" r:id="rId31"/>
    <p:sldId id="570" r:id="rId32"/>
    <p:sldId id="571" r:id="rId33"/>
    <p:sldId id="572" r:id="rId34"/>
    <p:sldId id="584" r:id="rId35"/>
    <p:sldId id="573" r:id="rId36"/>
    <p:sldId id="568" r:id="rId37"/>
    <p:sldId id="574" r:id="rId38"/>
    <p:sldId id="575" r:id="rId39"/>
    <p:sldId id="576" r:id="rId40"/>
    <p:sldId id="577" r:id="rId41"/>
    <p:sldId id="579" r:id="rId42"/>
    <p:sldId id="578" r:id="rId43"/>
    <p:sldId id="585" r:id="rId44"/>
    <p:sldId id="580" r:id="rId45"/>
    <p:sldId id="586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40"/>
    <p:restoredTop sz="82041" autoAdjust="0"/>
  </p:normalViewPr>
  <p:slideViewPr>
    <p:cSldViewPr snapToGrid="0" snapToObjects="1">
      <p:cViewPr varScale="1">
        <p:scale>
          <a:sx n="104" d="100"/>
          <a:sy n="104" d="100"/>
        </p:scale>
        <p:origin x="2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11/9/21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1453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571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4777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199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5020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52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07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2761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4775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36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366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291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3017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4993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7052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797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3268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9941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3562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51235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3186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3984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902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815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7470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2759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63706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9446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16249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2364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each join order is 1 plan. So the DP algorithm enumerates a set of logical plans.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5968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76255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6548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0321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94801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31436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37941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50186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66982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2972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0371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0692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0243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11/9/21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waterloo.zoom.us/meeting/register/tJAqdeCtqzwjGtCPTmlo5uMy_lOJFuRPkqj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s.duke.edu/courses/compsci516/cps216/spring03/papers/selinger-etal-1979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713303"/>
            <a:ext cx="9144001" cy="169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Lectures 15-16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Query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 9-11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Prof. Thomas Neumann DSG Seminar (Don’t miss!)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Nov 15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at 10:30am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Register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Send me an email if you want to join the student meeting</a:t>
            </a: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55823FF-67D6-8D4C-A9E7-A3D326695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326" y="3047041"/>
            <a:ext cx="6400799" cy="360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6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Recall: Overview of Compilation Steps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05181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6B4FB90-0C74-C34B-A47F-18B12C7AB418}"/>
              </a:ext>
            </a:extLst>
          </p:cNvPr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1A9B7D-BD03-E846-9FE5-263EA3CCE8FD}"/>
              </a:ext>
            </a:extLst>
          </p:cNvPr>
          <p:cNvSpPr txBox="1"/>
          <p:nvPr/>
        </p:nvSpPr>
        <p:spPr>
          <a:xfrm>
            <a:off x="273253" y="1222633"/>
            <a:ext cx="135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WHERE…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0B456A-7D39-D048-A3C5-DF28E90EB6D4}"/>
              </a:ext>
            </a:extLst>
          </p:cNvPr>
          <p:cNvSpPr/>
          <p:nvPr/>
        </p:nvSpPr>
        <p:spPr>
          <a:xfrm>
            <a:off x="1930400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25E0C81-D3F4-F343-A7EE-C86E2FF1EB4A}"/>
              </a:ext>
            </a:extLst>
          </p:cNvPr>
          <p:cNvSpPr/>
          <p:nvPr/>
        </p:nvSpPr>
        <p:spPr>
          <a:xfrm>
            <a:off x="5632452" y="1441914"/>
            <a:ext cx="1054100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079481-D228-974A-AD36-63943CB00F63}"/>
              </a:ext>
            </a:extLst>
          </p:cNvPr>
          <p:cNvSpPr/>
          <p:nvPr/>
        </p:nvSpPr>
        <p:spPr>
          <a:xfrm>
            <a:off x="7444774" y="1441914"/>
            <a:ext cx="1393624" cy="4826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FE47A2-C3F1-2545-AC07-7AA9774C6861}"/>
              </a:ext>
            </a:extLst>
          </p:cNvPr>
          <p:cNvSpPr/>
          <p:nvPr/>
        </p:nvSpPr>
        <p:spPr>
          <a:xfrm>
            <a:off x="7320505" y="3421746"/>
            <a:ext cx="164216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Plan Translator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4CD3D65-EE4B-E042-B38C-29696326C0AD}"/>
              </a:ext>
            </a:extLst>
          </p:cNvPr>
          <p:cNvSpPr/>
          <p:nvPr/>
        </p:nvSpPr>
        <p:spPr>
          <a:xfrm>
            <a:off x="3259212" y="3421746"/>
            <a:ext cx="1638542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6E4EDBA-1C09-0B4B-AB9F-F1CCE9CDC1F1}"/>
              </a:ext>
            </a:extLst>
          </p:cNvPr>
          <p:cNvSpPr/>
          <p:nvPr/>
        </p:nvSpPr>
        <p:spPr>
          <a:xfrm>
            <a:off x="599193" y="3421746"/>
            <a:ext cx="1638543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Plan Translator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7A979C-5BB8-A74D-AA5F-0BD3190A8946}"/>
              </a:ext>
            </a:extLst>
          </p:cNvPr>
          <p:cNvSpPr/>
          <p:nvPr/>
        </p:nvSpPr>
        <p:spPr>
          <a:xfrm>
            <a:off x="3432272" y="5730615"/>
            <a:ext cx="1406324" cy="653583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Executor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406774-9B16-254C-84E3-93B5596AC790}"/>
              </a:ext>
            </a:extLst>
          </p:cNvPr>
          <p:cNvGrpSpPr/>
          <p:nvPr/>
        </p:nvGrpSpPr>
        <p:grpSpPr>
          <a:xfrm>
            <a:off x="2932956" y="1560738"/>
            <a:ext cx="2673397" cy="1544322"/>
            <a:chOff x="42785" y="1819538"/>
            <a:chExt cx="5098876" cy="248821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5C5343D-4383-0C48-A45E-18FDAEA514D6}"/>
                </a:ext>
              </a:extLst>
            </p:cNvPr>
            <p:cNvSpPr/>
            <p:nvPr/>
          </p:nvSpPr>
          <p:spPr>
            <a:xfrm>
              <a:off x="2120437" y="1819538"/>
              <a:ext cx="1054100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Root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F579873-2B95-C44E-96FE-9409AAF2B963}"/>
                </a:ext>
              </a:extLst>
            </p:cNvPr>
            <p:cNvSpPr/>
            <p:nvPr/>
          </p:nvSpPr>
          <p:spPr>
            <a:xfrm>
              <a:off x="42785" y="2591803"/>
              <a:ext cx="1086188" cy="48258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89BEDEE-9E32-7B42-9E54-30AE423F09BC}"/>
                </a:ext>
              </a:extLst>
            </p:cNvPr>
            <p:cNvSpPr/>
            <p:nvPr/>
          </p:nvSpPr>
          <p:spPr>
            <a:xfrm>
              <a:off x="1221875" y="2591801"/>
              <a:ext cx="490667" cy="50142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4404581-78B2-C54F-883F-6CF888972CC5}"/>
                </a:ext>
              </a:extLst>
            </p:cNvPr>
            <p:cNvSpPr/>
            <p:nvPr/>
          </p:nvSpPr>
          <p:spPr>
            <a:xfrm>
              <a:off x="1798370" y="2591803"/>
              <a:ext cx="1148308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TABLES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0BEF217-4F66-B440-9A5B-4F038C44E664}"/>
                </a:ext>
              </a:extLst>
            </p:cNvPr>
            <p:cNvSpPr/>
            <p:nvPr/>
          </p:nvSpPr>
          <p:spPr>
            <a:xfrm>
              <a:off x="3234025" y="2600020"/>
              <a:ext cx="484828" cy="49398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0648D50-1556-5744-82E2-65A21A62DFDC}"/>
                </a:ext>
              </a:extLst>
            </p:cNvPr>
            <p:cNvSpPr/>
            <p:nvPr/>
          </p:nvSpPr>
          <p:spPr>
            <a:xfrm>
              <a:off x="3906548" y="2591784"/>
              <a:ext cx="955713" cy="4826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CON.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1D807E2-3356-EA4A-BD8B-A94563D70DF9}"/>
                </a:ext>
              </a:extLst>
            </p:cNvPr>
            <p:cNvSpPr/>
            <p:nvPr/>
          </p:nvSpPr>
          <p:spPr>
            <a:xfrm>
              <a:off x="988613" y="3293832"/>
              <a:ext cx="1148310" cy="48260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F1B9C7-32DB-D740-98E2-7699AEC4C4B5}"/>
                </a:ext>
              </a:extLst>
            </p:cNvPr>
            <p:cNvSpPr/>
            <p:nvPr/>
          </p:nvSpPr>
          <p:spPr>
            <a:xfrm>
              <a:off x="2292864" y="3293832"/>
              <a:ext cx="1019635" cy="49398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51C4606-1B85-EF43-889E-437EC65DA45E}"/>
                </a:ext>
              </a:extLst>
            </p:cNvPr>
            <p:cNvSpPr/>
            <p:nvPr/>
          </p:nvSpPr>
          <p:spPr>
            <a:xfrm>
              <a:off x="4036904" y="3288776"/>
              <a:ext cx="695000" cy="34613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5D916D2-CF5A-4D44-A213-42C1B48E7CA4}"/>
                </a:ext>
              </a:extLst>
            </p:cNvPr>
            <p:cNvSpPr/>
            <p:nvPr/>
          </p:nvSpPr>
          <p:spPr>
            <a:xfrm>
              <a:off x="3515946" y="3825152"/>
              <a:ext cx="695002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694FEDB-EC89-F942-A393-4999AC84B188}"/>
                </a:ext>
              </a:extLst>
            </p:cNvPr>
            <p:cNvSpPr/>
            <p:nvPr/>
          </p:nvSpPr>
          <p:spPr>
            <a:xfrm>
              <a:off x="4582861" y="3784228"/>
              <a:ext cx="558800" cy="4826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753604-1CB0-6546-97EF-CD7B2FE2E2E8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5880" y="2302138"/>
              <a:ext cx="2061607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73A5F8-7FA1-004B-900F-D3E39E1C4F79}"/>
                </a:ext>
              </a:extLst>
            </p:cNvPr>
            <p:cNvCxnSpPr>
              <a:cxnSpLocks/>
              <a:stCxn id="23" idx="2"/>
              <a:endCxn id="25" idx="0"/>
            </p:cNvCxnSpPr>
            <p:nvPr/>
          </p:nvCxnSpPr>
          <p:spPr>
            <a:xfrm flipH="1">
              <a:off x="1467208" y="2302138"/>
              <a:ext cx="1180279" cy="2896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BD3821-5462-FD46-9AD6-A5A86B45EFB4}"/>
                </a:ext>
              </a:extLst>
            </p:cNvPr>
            <p:cNvCxnSpPr>
              <a:cxnSpLocks/>
              <a:stCxn id="23" idx="2"/>
              <a:endCxn id="28" idx="0"/>
            </p:cNvCxnSpPr>
            <p:nvPr/>
          </p:nvCxnSpPr>
          <p:spPr>
            <a:xfrm flipH="1">
              <a:off x="2372525" y="2302138"/>
              <a:ext cx="274962" cy="28966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B73EC0-CA00-AF45-831B-D7CB1C470029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2647487" y="2302138"/>
              <a:ext cx="828953" cy="29788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7A3E5F-79C2-E246-AF0C-46A096445EB2}"/>
                </a:ext>
              </a:extLst>
            </p:cNvPr>
            <p:cNvCxnSpPr>
              <a:cxnSpLocks/>
              <a:stCxn id="23" idx="2"/>
              <a:endCxn id="30" idx="0"/>
            </p:cNvCxnSpPr>
            <p:nvPr/>
          </p:nvCxnSpPr>
          <p:spPr>
            <a:xfrm>
              <a:off x="2647487" y="2302138"/>
              <a:ext cx="1736917" cy="2896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3221CE-308E-FA43-AD78-E67303E0F0BD}"/>
                </a:ext>
              </a:extLst>
            </p:cNvPr>
            <p:cNvCxnSpPr>
              <a:cxnSpLocks/>
              <a:stCxn id="28" idx="2"/>
              <a:endCxn id="32" idx="0"/>
            </p:cNvCxnSpPr>
            <p:nvPr/>
          </p:nvCxnSpPr>
          <p:spPr>
            <a:xfrm flipH="1">
              <a:off x="1562768" y="3074403"/>
              <a:ext cx="809757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C60AC93-8735-7845-842D-E063288A3D2C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>
            <a:xfrm>
              <a:off x="2372525" y="3074403"/>
              <a:ext cx="430158" cy="21943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DCD9D6-2F68-F048-B6AE-0619ED133345}"/>
                </a:ext>
              </a:extLst>
            </p:cNvPr>
            <p:cNvCxnSpPr>
              <a:cxnSpLocks/>
              <a:stCxn id="30" idx="2"/>
              <a:endCxn id="35" idx="0"/>
            </p:cNvCxnSpPr>
            <p:nvPr/>
          </p:nvCxnSpPr>
          <p:spPr>
            <a:xfrm>
              <a:off x="4384404" y="3074383"/>
              <a:ext cx="0" cy="21439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2D3CB5C-5794-AF4F-A502-23F3E1115714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flipH="1">
              <a:off x="3863448" y="3634911"/>
              <a:ext cx="520957" cy="19024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CBDE71A-092D-6F48-A77F-24022E6E9C8F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>
              <a:off x="4384405" y="3634911"/>
              <a:ext cx="477856" cy="14931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DF296EB-8FBE-9A41-91C1-F097D66891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408157" y="1683214"/>
            <a:ext cx="522243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9EF478-1531-C04F-B12B-6A9396F7D711}"/>
              </a:ext>
            </a:extLst>
          </p:cNvPr>
          <p:cNvCxnSpPr>
            <a:cxnSpLocks/>
          </p:cNvCxnSpPr>
          <p:nvPr/>
        </p:nvCxnSpPr>
        <p:spPr>
          <a:xfrm flipH="1">
            <a:off x="2981555" y="1684298"/>
            <a:ext cx="105156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1862E8E-8C1A-334E-A761-15FBFBBBC229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4574968" y="1683214"/>
            <a:ext cx="1043833" cy="27288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F19121C-8254-604E-B3E1-E623047CEC3A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6686552" y="1683214"/>
            <a:ext cx="758222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B657A8B-E08D-0044-B5E1-56D5F3F75653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V="1">
            <a:off x="8141586" y="1924514"/>
            <a:ext cx="0" cy="1497232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1E0CFCD-89B4-694D-AD40-972ECAD2B9B1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761487" y="3748538"/>
            <a:ext cx="559018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FDA2587-8753-754C-8180-C0F664EFCB22}"/>
              </a:ext>
            </a:extLst>
          </p:cNvPr>
          <p:cNvCxnSpPr>
            <a:cxnSpLocks/>
          </p:cNvCxnSpPr>
          <p:nvPr/>
        </p:nvCxnSpPr>
        <p:spPr>
          <a:xfrm>
            <a:off x="4904401" y="3744621"/>
            <a:ext cx="895157" cy="3917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5AE919D-ACE0-924E-B486-66211DFB70C3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237736" y="3748538"/>
            <a:ext cx="102147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B1E1FBA-F515-7D4A-9CCB-ABADA90D892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411395" y="4075329"/>
            <a:ext cx="7070" cy="638479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5C29BDC-5208-A64E-B9DD-21EAED5A41B1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328517" y="6057407"/>
            <a:ext cx="110375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E1FA97-E3F5-0A4D-AF57-24B34E7F5424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838596" y="6057407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3" name="Table 21">
            <a:extLst>
              <a:ext uri="{FF2B5EF4-FFF2-40B4-BE49-F238E27FC236}">
                <a16:creationId xmlns:a16="http://schemas.microsoft.com/office/drawing/2014/main" id="{8006FDE9-67F2-324C-8E6F-14577A455EA1}"/>
              </a:ext>
            </a:extLst>
          </p:cNvPr>
          <p:cNvGraphicFramePr>
            <a:graphicFrameLocks noGrp="1"/>
          </p:cNvGraphicFramePr>
          <p:nvPr/>
        </p:nvGraphicFramePr>
        <p:xfrm>
          <a:off x="5799558" y="5616144"/>
          <a:ext cx="749173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173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  <a:tr h="2826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821865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63AF38F7-CA2F-C442-985E-089CDAD2DFA9}"/>
              </a:ext>
            </a:extLst>
          </p:cNvPr>
          <p:cNvSpPr txBox="1"/>
          <p:nvPr/>
        </p:nvSpPr>
        <p:spPr>
          <a:xfrm>
            <a:off x="3975399" y="956852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AST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51B06-FA42-D249-96C8-6E6CDE88C585}"/>
              </a:ext>
            </a:extLst>
          </p:cNvPr>
          <p:cNvSpPr txBox="1"/>
          <p:nvPr/>
        </p:nvSpPr>
        <p:spPr>
          <a:xfrm>
            <a:off x="415816" y="754406"/>
            <a:ext cx="739576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AEBF72-4545-0A47-99F5-34726B3FE0AD}"/>
              </a:ext>
            </a:extLst>
          </p:cNvPr>
          <p:cNvSpPr txBox="1"/>
          <p:nvPr/>
        </p:nvSpPr>
        <p:spPr>
          <a:xfrm>
            <a:off x="5697810" y="2592640"/>
            <a:ext cx="1522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 Plan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97B1E0-40D2-424B-9971-6DC32521A1F1}"/>
              </a:ext>
            </a:extLst>
          </p:cNvPr>
          <p:cNvSpPr txBox="1"/>
          <p:nvPr/>
        </p:nvSpPr>
        <p:spPr>
          <a:xfrm>
            <a:off x="62281" y="4146102"/>
            <a:ext cx="1131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AE18236F-8A40-7F4D-9C88-0E8F9F7EF85E}"/>
              </a:ext>
            </a:extLst>
          </p:cNvPr>
          <p:cNvGrpSpPr/>
          <p:nvPr/>
        </p:nvGrpSpPr>
        <p:grpSpPr>
          <a:xfrm>
            <a:off x="5216395" y="3365978"/>
            <a:ext cx="2091409" cy="1681370"/>
            <a:chOff x="5229095" y="3365978"/>
            <a:chExt cx="2091409" cy="1681370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4BDE5981-F42E-E843-892A-50BCACD01E72}"/>
                </a:ext>
              </a:extLst>
            </p:cNvPr>
            <p:cNvGrpSpPr/>
            <p:nvPr/>
          </p:nvGrpSpPr>
          <p:grpSpPr>
            <a:xfrm>
              <a:off x="5229095" y="3365978"/>
              <a:ext cx="1635163" cy="1681370"/>
              <a:chOff x="2601582" y="1429298"/>
              <a:chExt cx="1635163" cy="1681370"/>
            </a:xfrm>
          </p:grpSpPr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24248049-F0AE-7A4F-B958-9C6F54273656}"/>
                  </a:ext>
                </a:extLst>
              </p:cNvPr>
              <p:cNvSpPr/>
              <p:nvPr/>
            </p:nvSpPr>
            <p:spPr>
              <a:xfrm>
                <a:off x="3207442" y="1916010"/>
                <a:ext cx="1008958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AB785425-B0CF-6A4A-8DEE-62C8E3529AAC}"/>
                  </a:ext>
                </a:extLst>
              </p:cNvPr>
              <p:cNvSpPr/>
              <p:nvPr/>
            </p:nvSpPr>
            <p:spPr>
              <a:xfrm>
                <a:off x="2601582" y="2412225"/>
                <a:ext cx="1008958" cy="69844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 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Tbl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 &lt; price</a:t>
                </a:r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E0A2D00-03E1-7741-9081-84915034887B}"/>
                  </a:ext>
                </a:extLst>
              </p:cNvPr>
              <p:cNvCxnSpPr>
                <a:cxnSpLocks/>
                <a:stCxn id="225" idx="2"/>
                <a:endCxn id="226" idx="0"/>
              </p:cNvCxnSpPr>
              <p:nvPr/>
            </p:nvCxnSpPr>
            <p:spPr>
              <a:xfrm flipH="1">
                <a:off x="3106061" y="2278165"/>
                <a:ext cx="605860" cy="1340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B8DF3779-49CD-204A-BBF2-DA4403C08452}"/>
                  </a:ext>
                </a:extLst>
              </p:cNvPr>
              <p:cNvCxnSpPr>
                <a:cxnSpLocks/>
                <a:stCxn id="225" idx="2"/>
                <a:endCxn id="224" idx="0"/>
              </p:cNvCxnSpPr>
              <p:nvPr/>
            </p:nvCxnSpPr>
            <p:spPr>
              <a:xfrm>
                <a:off x="3711921" y="2278165"/>
                <a:ext cx="524824" cy="17336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5D3B7EFB-E733-0A43-B8BC-9CCF463712DF}"/>
                  </a:ext>
                </a:extLst>
              </p:cNvPr>
              <p:cNvSpPr/>
              <p:nvPr/>
            </p:nvSpPr>
            <p:spPr>
              <a:xfrm>
                <a:off x="3296343" y="1429298"/>
                <a:ext cx="837631" cy="36215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9B0071DE-CA7F-8544-8592-2CBAFB2F3EB5}"/>
                  </a:ext>
                </a:extLst>
              </p:cNvPr>
              <p:cNvCxnSpPr>
                <a:cxnSpLocks/>
                <a:stCxn id="229" idx="2"/>
                <a:endCxn id="225" idx="0"/>
              </p:cNvCxnSpPr>
              <p:nvPr/>
            </p:nvCxnSpPr>
            <p:spPr>
              <a:xfrm flipH="1">
                <a:off x="3711921" y="1791453"/>
                <a:ext cx="3238" cy="124557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Rounded Rectangle 223">
              <a:extLst>
                <a:ext uri="{FF2B5EF4-FFF2-40B4-BE49-F238E27FC236}">
                  <a16:creationId xmlns:a16="http://schemas.microsoft.com/office/drawing/2014/main" id="{8EF8B94D-4D03-344C-842F-73A07E96EE8B}"/>
                </a:ext>
              </a:extLst>
            </p:cNvPr>
            <p:cNvSpPr/>
            <p:nvPr/>
          </p:nvSpPr>
          <p:spPr>
            <a:xfrm>
              <a:off x="6408012" y="4388209"/>
              <a:ext cx="912492" cy="6198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Tbl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=3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0896CEE8-40AC-F44C-97E7-B40E8FC9209C}"/>
              </a:ext>
            </a:extLst>
          </p:cNvPr>
          <p:cNvGrpSpPr/>
          <p:nvPr/>
        </p:nvGrpSpPr>
        <p:grpSpPr>
          <a:xfrm>
            <a:off x="246204" y="4713808"/>
            <a:ext cx="2191297" cy="1908176"/>
            <a:chOff x="4937309" y="1423497"/>
            <a:chExt cx="2191297" cy="1908176"/>
          </a:xfrm>
        </p:grpSpPr>
        <p:sp>
          <p:nvSpPr>
            <p:cNvPr id="232" name="Rounded Rectangle 231">
              <a:extLst>
                <a:ext uri="{FF2B5EF4-FFF2-40B4-BE49-F238E27FC236}">
                  <a16:creationId xmlns:a16="http://schemas.microsoft.com/office/drawing/2014/main" id="{209776B4-59D8-1048-ADE8-E466C20EF3D5}"/>
                </a:ext>
              </a:extLst>
            </p:cNvPr>
            <p:cNvSpPr/>
            <p:nvPr/>
          </p:nvSpPr>
          <p:spPr>
            <a:xfrm>
              <a:off x="5594783" y="1910209"/>
              <a:ext cx="1008958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L.$2=R.$3</a:t>
              </a:r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38597988-22E3-7641-9E95-66785425FCFD}"/>
                </a:ext>
              </a:extLst>
            </p:cNvPr>
            <p:cNvSpPr/>
            <p:nvPr/>
          </p:nvSpPr>
          <p:spPr>
            <a:xfrm>
              <a:off x="5020464" y="2434572"/>
              <a:ext cx="912492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$2=5</a:t>
              </a:r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7419D018-C279-5646-B981-77230E34F615}"/>
                </a:ext>
              </a:extLst>
            </p:cNvPr>
            <p:cNvSpPr/>
            <p:nvPr/>
          </p:nvSpPr>
          <p:spPr>
            <a:xfrm>
              <a:off x="4937309" y="2969518"/>
              <a:ext cx="1078799" cy="362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8CD00AED-46A7-E14B-A190-95CAFCC12177}"/>
                </a:ext>
              </a:extLst>
            </p:cNvPr>
            <p:cNvSpPr/>
            <p:nvPr/>
          </p:nvSpPr>
          <p:spPr>
            <a:xfrm>
              <a:off x="6107130" y="2434572"/>
              <a:ext cx="1021476" cy="3642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cust.mkd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D8AC49C-2D4D-4246-B2CE-6019F38D2C69}"/>
                </a:ext>
              </a:extLst>
            </p:cNvPr>
            <p:cNvCxnSpPr>
              <a:cxnSpLocks/>
              <a:stCxn id="232" idx="2"/>
              <a:endCxn id="233" idx="0"/>
            </p:cNvCxnSpPr>
            <p:nvPr/>
          </p:nvCxnSpPr>
          <p:spPr>
            <a:xfrm flipH="1">
              <a:off x="5476710" y="2272364"/>
              <a:ext cx="622552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E816DA63-9FD5-424D-B52C-2ECD77EC653E}"/>
                </a:ext>
              </a:extLst>
            </p:cNvPr>
            <p:cNvCxnSpPr>
              <a:cxnSpLocks/>
              <a:stCxn id="233" idx="2"/>
              <a:endCxn id="234" idx="0"/>
            </p:cNvCxnSpPr>
            <p:nvPr/>
          </p:nvCxnSpPr>
          <p:spPr>
            <a:xfrm flipH="1">
              <a:off x="5476709" y="2796727"/>
              <a:ext cx="1" cy="1727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73E14BB-92D9-B44B-A530-6AC601DA3F6A}"/>
                </a:ext>
              </a:extLst>
            </p:cNvPr>
            <p:cNvCxnSpPr>
              <a:cxnSpLocks/>
              <a:stCxn id="232" idx="2"/>
              <a:endCxn id="235" idx="0"/>
            </p:cNvCxnSpPr>
            <p:nvPr/>
          </p:nvCxnSpPr>
          <p:spPr>
            <a:xfrm>
              <a:off x="6099262" y="2272364"/>
              <a:ext cx="518606" cy="16220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ounded Rectangle 238">
              <a:extLst>
                <a:ext uri="{FF2B5EF4-FFF2-40B4-BE49-F238E27FC236}">
                  <a16:creationId xmlns:a16="http://schemas.microsoft.com/office/drawing/2014/main" id="{D7D531F4-1EEA-704C-B987-1B97673E42C7}"/>
                </a:ext>
              </a:extLst>
            </p:cNvPr>
            <p:cNvSpPr/>
            <p:nvPr/>
          </p:nvSpPr>
          <p:spPr>
            <a:xfrm>
              <a:off x="5683684" y="1423497"/>
              <a:ext cx="837631" cy="36215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$5</a:t>
              </a:r>
            </a:p>
          </p:txBody>
        </p: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CDFA83F-8485-B342-9F94-40EFC29AA3C4}"/>
                </a:ext>
              </a:extLst>
            </p:cNvPr>
            <p:cNvCxnSpPr>
              <a:cxnSpLocks/>
              <a:stCxn id="239" idx="2"/>
              <a:endCxn id="232" idx="0"/>
            </p:cNvCxnSpPr>
            <p:nvPr/>
          </p:nvCxnSpPr>
          <p:spPr>
            <a:xfrm flipH="1">
              <a:off x="6099262" y="1785652"/>
              <a:ext cx="3238" cy="1245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2F1801-76C2-1B4E-B6D4-2FECDB24853D}"/>
              </a:ext>
            </a:extLst>
          </p:cNvPr>
          <p:cNvSpPr/>
          <p:nvPr/>
        </p:nvSpPr>
        <p:spPr>
          <a:xfrm>
            <a:off x="3259212" y="3429000"/>
            <a:ext cx="1638542" cy="64632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7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0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4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Goal of Query Optimization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65FB5-CA1B-894D-960D-1CA4CB78398A}"/>
              </a:ext>
            </a:extLst>
          </p:cNvPr>
          <p:cNvSpPr txBox="1"/>
          <p:nvPr/>
        </p:nvSpPr>
        <p:spPr>
          <a:xfrm>
            <a:off x="106924" y="770444"/>
            <a:ext cx="90605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 ultimately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executes to answer a query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Given a query Q, many equivalent physical plans exist: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equivalent logical plans exist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D91A1-ED92-CD42-8007-2874409CC528}"/>
              </a:ext>
            </a:extLst>
          </p:cNvPr>
          <p:cNvSpPr txBox="1"/>
          <p:nvPr/>
        </p:nvSpPr>
        <p:spPr>
          <a:xfrm>
            <a:off x="2660069" y="2178619"/>
            <a:ext cx="415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D50B79-76DE-6742-89A7-9DC7FB5EEA04}"/>
              </a:ext>
            </a:extLst>
          </p:cNvPr>
          <p:cNvSpPr txBox="1"/>
          <p:nvPr/>
        </p:nvSpPr>
        <p:spPr>
          <a:xfrm>
            <a:off x="0" y="2849771"/>
            <a:ext cx="2481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Logical Plans: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E03898-E187-734C-AF7F-CE332A077751}"/>
              </a:ext>
            </a:extLst>
          </p:cNvPr>
          <p:cNvGrpSpPr/>
          <p:nvPr/>
        </p:nvGrpSpPr>
        <p:grpSpPr>
          <a:xfrm>
            <a:off x="16080" y="3361047"/>
            <a:ext cx="3073110" cy="3335462"/>
            <a:chOff x="16080" y="3361047"/>
            <a:chExt cx="3073110" cy="33354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6966E8-DA33-0E4D-A305-BB83E2262816}"/>
                </a:ext>
              </a:extLst>
            </p:cNvPr>
            <p:cNvGrpSpPr/>
            <p:nvPr/>
          </p:nvGrpSpPr>
          <p:grpSpPr>
            <a:xfrm>
              <a:off x="16080" y="3361047"/>
              <a:ext cx="3073110" cy="3335462"/>
              <a:chOff x="1752601" y="2186474"/>
              <a:chExt cx="4267821" cy="4124053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FD61E26-FA4C-5E41-9B44-32AB7F161B65}"/>
                  </a:ext>
                </a:extLst>
              </p:cNvPr>
              <p:cNvSpPr/>
              <p:nvPr/>
            </p:nvSpPr>
            <p:spPr>
              <a:xfrm>
                <a:off x="2555877" y="4831623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B8B01DB-32E4-E942-8FA7-93E348432BBD}"/>
                  </a:ext>
                </a:extLst>
              </p:cNvPr>
              <p:cNvSpPr/>
              <p:nvPr/>
            </p:nvSpPr>
            <p:spPr>
              <a:xfrm>
                <a:off x="1752601" y="5644630"/>
                <a:ext cx="1350113" cy="66589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94D8364-37E1-654F-BA9A-30B5A14E2DBD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 flipH="1">
                <a:off x="2427658" y="5497520"/>
                <a:ext cx="854731" cy="14711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E65A816-1187-4447-89FB-518E10547FE9}"/>
                  </a:ext>
                </a:extLst>
              </p:cNvPr>
              <p:cNvCxnSpPr>
                <a:cxnSpLocks/>
                <a:stCxn id="9" idx="2"/>
                <a:endCxn id="14" idx="0"/>
              </p:cNvCxnSpPr>
              <p:nvPr/>
            </p:nvCxnSpPr>
            <p:spPr>
              <a:xfrm>
                <a:off x="3282389" y="5497520"/>
                <a:ext cx="850221" cy="13224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2D9149F-7847-9045-B3AC-8D21F879E8AE}"/>
                  </a:ext>
                </a:extLst>
              </p:cNvPr>
              <p:cNvCxnSpPr>
                <a:cxnSpLocks/>
                <a:stCxn id="15" idx="2"/>
                <a:endCxn id="9" idx="0"/>
              </p:cNvCxnSpPr>
              <p:nvPr/>
            </p:nvCxnSpPr>
            <p:spPr>
              <a:xfrm flipH="1">
                <a:off x="3282389" y="4549661"/>
                <a:ext cx="1041035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44D87AE-2C1A-E244-8127-BF9421E56CB9}"/>
                  </a:ext>
                </a:extLst>
              </p:cNvPr>
              <p:cNvSpPr/>
              <p:nvPr/>
            </p:nvSpPr>
            <p:spPr>
              <a:xfrm>
                <a:off x="3457553" y="5629764"/>
                <a:ext cx="1350114" cy="66025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FC630CCA-570A-534F-A3A6-25790D192193}"/>
                  </a:ext>
                </a:extLst>
              </p:cNvPr>
              <p:cNvSpPr/>
              <p:nvPr/>
            </p:nvSpPr>
            <p:spPr>
              <a:xfrm>
                <a:off x="3596911" y="3883764"/>
                <a:ext cx="1453022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BE6B24BE-232C-C441-A954-4EEA554C0CE9}"/>
                  </a:ext>
                </a:extLst>
              </p:cNvPr>
              <p:cNvSpPr/>
              <p:nvPr/>
            </p:nvSpPr>
            <p:spPr>
              <a:xfrm>
                <a:off x="4643415" y="4831623"/>
                <a:ext cx="1377007" cy="6658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B94550C-7F21-F640-9C94-AA96419AADD6}"/>
                  </a:ext>
                </a:extLst>
              </p:cNvPr>
              <p:cNvSpPr/>
              <p:nvPr/>
            </p:nvSpPr>
            <p:spPr>
              <a:xfrm>
                <a:off x="3659265" y="2186474"/>
                <a:ext cx="1341691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F2AB482-404F-2B49-B4A5-A7A7827D1E3D}"/>
                  </a:ext>
                </a:extLst>
              </p:cNvPr>
              <p:cNvSpPr/>
              <p:nvPr/>
            </p:nvSpPr>
            <p:spPr>
              <a:xfrm>
                <a:off x="3480494" y="3043611"/>
                <a:ext cx="169635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A493D83-7C2B-CF4E-AF72-7BB0F5B0753B}"/>
                  </a:ext>
                </a:extLst>
              </p:cNvPr>
              <p:cNvCxnSpPr>
                <a:cxnSpLocks/>
                <a:stCxn id="15" idx="2"/>
                <a:endCxn id="16" idx="0"/>
              </p:cNvCxnSpPr>
              <p:nvPr/>
            </p:nvCxnSpPr>
            <p:spPr>
              <a:xfrm>
                <a:off x="4323423" y="4549661"/>
                <a:ext cx="1008496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FAE3088-74A7-A048-BF83-9F916436E1D1}"/>
                  </a:ext>
                </a:extLst>
              </p:cNvPr>
              <p:cNvCxnSpPr>
                <a:cxnSpLocks/>
                <a:stCxn id="18" idx="2"/>
                <a:endCxn id="15" idx="0"/>
              </p:cNvCxnSpPr>
              <p:nvPr/>
            </p:nvCxnSpPr>
            <p:spPr>
              <a:xfrm flipH="1">
                <a:off x="4323423" y="3709508"/>
                <a:ext cx="5248" cy="17425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7DF3947-511F-4643-A6F8-1C7F33C57F1D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 flipH="1">
                <a:off x="4328671" y="2852371"/>
                <a:ext cx="1440" cy="191239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D0155FA-CD5C-4F4D-912D-FBDE0241901E}"/>
                </a:ext>
              </a:extLst>
            </p:cNvPr>
            <p:cNvSpPr txBox="1"/>
            <p:nvPr/>
          </p:nvSpPr>
          <p:spPr>
            <a:xfrm>
              <a:off x="226036" y="3889710"/>
              <a:ext cx="835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0DDDF17-2FAF-9E4D-8588-5B463F71DC37}"/>
              </a:ext>
            </a:extLst>
          </p:cNvPr>
          <p:cNvGrpSpPr/>
          <p:nvPr/>
        </p:nvGrpSpPr>
        <p:grpSpPr>
          <a:xfrm>
            <a:off x="3282299" y="3361047"/>
            <a:ext cx="3073110" cy="3335462"/>
            <a:chOff x="3282299" y="3361047"/>
            <a:chExt cx="3073110" cy="333546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D0B2874-1164-FA45-BB2B-B4DED31625A5}"/>
                </a:ext>
              </a:extLst>
            </p:cNvPr>
            <p:cNvGrpSpPr/>
            <p:nvPr/>
          </p:nvGrpSpPr>
          <p:grpSpPr>
            <a:xfrm>
              <a:off x="3282299" y="3361047"/>
              <a:ext cx="3073110" cy="3335462"/>
              <a:chOff x="1752601" y="2186474"/>
              <a:chExt cx="4267821" cy="4124054"/>
            </a:xfrm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3E3C3F7F-7196-FB47-8664-A2E30B72A06D}"/>
                  </a:ext>
                </a:extLst>
              </p:cNvPr>
              <p:cNvSpPr/>
              <p:nvPr/>
            </p:nvSpPr>
            <p:spPr>
              <a:xfrm>
                <a:off x="2555877" y="4831623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080B907D-008F-4646-82ED-73A93F01A772}"/>
                  </a:ext>
                </a:extLst>
              </p:cNvPr>
              <p:cNvSpPr/>
              <p:nvPr/>
            </p:nvSpPr>
            <p:spPr>
              <a:xfrm>
                <a:off x="1752601" y="5644630"/>
                <a:ext cx="1350113" cy="66589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40B1591-C118-B546-9117-6C8778418830}"/>
                  </a:ext>
                </a:extLst>
              </p:cNvPr>
              <p:cNvCxnSpPr>
                <a:cxnSpLocks/>
                <a:stCxn id="51" idx="2"/>
                <a:endCxn id="52" idx="0"/>
              </p:cNvCxnSpPr>
              <p:nvPr/>
            </p:nvCxnSpPr>
            <p:spPr>
              <a:xfrm flipH="1">
                <a:off x="2427658" y="5497520"/>
                <a:ext cx="854731" cy="14711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93894AD-1135-D749-ACDC-4537D69C7847}"/>
                  </a:ext>
                </a:extLst>
              </p:cNvPr>
              <p:cNvCxnSpPr>
                <a:cxnSpLocks/>
                <a:stCxn id="51" idx="2"/>
                <a:endCxn id="56" idx="0"/>
              </p:cNvCxnSpPr>
              <p:nvPr/>
            </p:nvCxnSpPr>
            <p:spPr>
              <a:xfrm>
                <a:off x="3282389" y="5497521"/>
                <a:ext cx="850221" cy="132243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15ABBE5-947F-2A48-845D-B202003A55C5}"/>
                  </a:ext>
                </a:extLst>
              </p:cNvPr>
              <p:cNvCxnSpPr>
                <a:cxnSpLocks/>
                <a:stCxn id="57" idx="2"/>
                <a:endCxn id="51" idx="0"/>
              </p:cNvCxnSpPr>
              <p:nvPr/>
            </p:nvCxnSpPr>
            <p:spPr>
              <a:xfrm flipH="1">
                <a:off x="3282389" y="4549661"/>
                <a:ext cx="1041035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750014D3-16BF-3C4A-8C01-A552722B7D92}"/>
                  </a:ext>
                </a:extLst>
              </p:cNvPr>
              <p:cNvSpPr/>
              <p:nvPr/>
            </p:nvSpPr>
            <p:spPr>
              <a:xfrm>
                <a:off x="3457553" y="5629764"/>
                <a:ext cx="1350114" cy="680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4EA71655-4624-7248-B821-23C0B31138CE}"/>
                  </a:ext>
                </a:extLst>
              </p:cNvPr>
              <p:cNvSpPr/>
              <p:nvPr/>
            </p:nvSpPr>
            <p:spPr>
              <a:xfrm>
                <a:off x="3596911" y="3883764"/>
                <a:ext cx="1453022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90B7A6D4-C637-B544-AA21-64D1A38B74D7}"/>
                  </a:ext>
                </a:extLst>
              </p:cNvPr>
              <p:cNvSpPr/>
              <p:nvPr/>
            </p:nvSpPr>
            <p:spPr>
              <a:xfrm>
                <a:off x="4643415" y="4831623"/>
                <a:ext cx="1377007" cy="6658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B91D2949-70AC-E74B-9929-BBF18CC519FC}"/>
                  </a:ext>
                </a:extLst>
              </p:cNvPr>
              <p:cNvSpPr/>
              <p:nvPr/>
            </p:nvSpPr>
            <p:spPr>
              <a:xfrm>
                <a:off x="3659265" y="2186474"/>
                <a:ext cx="1341691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8BF1BB3E-23EA-8D4D-B878-16245822D0E1}"/>
                  </a:ext>
                </a:extLst>
              </p:cNvPr>
              <p:cNvSpPr/>
              <p:nvPr/>
            </p:nvSpPr>
            <p:spPr>
              <a:xfrm>
                <a:off x="3480494" y="3043611"/>
                <a:ext cx="169635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07B277D-237C-1045-B7DC-BA629FD8719B}"/>
                  </a:ext>
                </a:extLst>
              </p:cNvPr>
              <p:cNvCxnSpPr>
                <a:cxnSpLocks/>
                <a:stCxn id="57" idx="2"/>
                <a:endCxn id="58" idx="0"/>
              </p:cNvCxnSpPr>
              <p:nvPr/>
            </p:nvCxnSpPr>
            <p:spPr>
              <a:xfrm>
                <a:off x="4323423" y="4549661"/>
                <a:ext cx="1008496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E93D3EE-C055-5D4C-ABE4-D4E70A847056}"/>
                  </a:ext>
                </a:extLst>
              </p:cNvPr>
              <p:cNvCxnSpPr>
                <a:cxnSpLocks/>
                <a:stCxn id="60" idx="2"/>
                <a:endCxn id="57" idx="0"/>
              </p:cNvCxnSpPr>
              <p:nvPr/>
            </p:nvCxnSpPr>
            <p:spPr>
              <a:xfrm flipH="1">
                <a:off x="4323423" y="3709508"/>
                <a:ext cx="5248" cy="17425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7CF89B3-B91D-B443-BB57-23789F84C078}"/>
                  </a:ext>
                </a:extLst>
              </p:cNvPr>
              <p:cNvCxnSpPr>
                <a:cxnSpLocks/>
                <a:stCxn id="59" idx="2"/>
                <a:endCxn id="60" idx="0"/>
              </p:cNvCxnSpPr>
              <p:nvPr/>
            </p:nvCxnSpPr>
            <p:spPr>
              <a:xfrm flipH="1">
                <a:off x="4328671" y="2852371"/>
                <a:ext cx="1440" cy="191239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2872DF2-5E78-9A4F-B846-CE88A87CFA62}"/>
                </a:ext>
              </a:extLst>
            </p:cNvPr>
            <p:cNvSpPr txBox="1"/>
            <p:nvPr/>
          </p:nvSpPr>
          <p:spPr>
            <a:xfrm>
              <a:off x="3763943" y="3889710"/>
              <a:ext cx="6154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C60F0E-3D2A-854D-B172-328CEA95EA25}"/>
              </a:ext>
            </a:extLst>
          </p:cNvPr>
          <p:cNvGrpSpPr/>
          <p:nvPr/>
        </p:nvGrpSpPr>
        <p:grpSpPr>
          <a:xfrm>
            <a:off x="6022125" y="3299259"/>
            <a:ext cx="3085260" cy="3397250"/>
            <a:chOff x="6022125" y="3299259"/>
            <a:chExt cx="3085260" cy="339725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438F424-62D3-5D41-967F-512795B1DD78}"/>
                </a:ext>
              </a:extLst>
            </p:cNvPr>
            <p:cNvGrpSpPr/>
            <p:nvPr/>
          </p:nvGrpSpPr>
          <p:grpSpPr>
            <a:xfrm>
              <a:off x="6022125" y="3299259"/>
              <a:ext cx="3085260" cy="3397250"/>
              <a:chOff x="1752601" y="2186474"/>
              <a:chExt cx="4284695" cy="4200453"/>
            </a:xfrm>
          </p:grpSpPr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AA8E2356-F76C-C94D-BB24-D313AB46A5C5}"/>
                  </a:ext>
                </a:extLst>
              </p:cNvPr>
              <p:cNvSpPr/>
              <p:nvPr/>
            </p:nvSpPr>
            <p:spPr>
              <a:xfrm>
                <a:off x="2555877" y="4908027"/>
                <a:ext cx="1453024" cy="66589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FCA27B0F-FB0C-2E4B-9C6C-E613A7D943CC}"/>
                  </a:ext>
                </a:extLst>
              </p:cNvPr>
              <p:cNvSpPr/>
              <p:nvPr/>
            </p:nvSpPr>
            <p:spPr>
              <a:xfrm>
                <a:off x="1752601" y="5721029"/>
                <a:ext cx="1350114" cy="66589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55184120-ED9C-464D-9D87-5426A929C792}"/>
                  </a:ext>
                </a:extLst>
              </p:cNvPr>
              <p:cNvCxnSpPr>
                <a:cxnSpLocks/>
                <a:stCxn id="67" idx="2"/>
                <a:endCxn id="68" idx="0"/>
              </p:cNvCxnSpPr>
              <p:nvPr/>
            </p:nvCxnSpPr>
            <p:spPr>
              <a:xfrm flipH="1">
                <a:off x="2427658" y="5573924"/>
                <a:ext cx="854731" cy="147105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4442F36-38E5-194B-B069-33C1738C8CA1}"/>
                  </a:ext>
                </a:extLst>
              </p:cNvPr>
              <p:cNvCxnSpPr>
                <a:cxnSpLocks/>
                <a:stCxn id="67" idx="2"/>
                <a:endCxn id="72" idx="0"/>
              </p:cNvCxnSpPr>
              <p:nvPr/>
            </p:nvCxnSpPr>
            <p:spPr>
              <a:xfrm>
                <a:off x="3282389" y="5573925"/>
                <a:ext cx="850222" cy="13223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1F4EED2-3024-6842-B1C1-2D8515CBFDF2}"/>
                  </a:ext>
                </a:extLst>
              </p:cNvPr>
              <p:cNvCxnSpPr>
                <a:cxnSpLocks/>
                <a:stCxn id="76" idx="2"/>
                <a:endCxn id="67" idx="0"/>
              </p:cNvCxnSpPr>
              <p:nvPr/>
            </p:nvCxnSpPr>
            <p:spPr>
              <a:xfrm flipH="1">
                <a:off x="3282389" y="3709508"/>
                <a:ext cx="717483" cy="1198519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ounded Rectangle 71">
                <a:extLst>
                  <a:ext uri="{FF2B5EF4-FFF2-40B4-BE49-F238E27FC236}">
                    <a16:creationId xmlns:a16="http://schemas.microsoft.com/office/drawing/2014/main" id="{BBA082C5-9515-264C-8D5C-5BF0BEDEA89F}"/>
                  </a:ext>
                </a:extLst>
              </p:cNvPr>
              <p:cNvSpPr/>
              <p:nvPr/>
            </p:nvSpPr>
            <p:spPr>
              <a:xfrm>
                <a:off x="3457553" y="5706164"/>
                <a:ext cx="1350114" cy="66176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3D5C1A6A-0F9A-EB4A-B264-4EC61A8AC131}"/>
                  </a:ext>
                </a:extLst>
              </p:cNvPr>
              <p:cNvSpPr/>
              <p:nvPr/>
            </p:nvSpPr>
            <p:spPr>
              <a:xfrm>
                <a:off x="4317353" y="4067106"/>
                <a:ext cx="171994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515D121A-32CB-1843-8F72-F79722532F86}"/>
                  </a:ext>
                </a:extLst>
              </p:cNvPr>
              <p:cNvSpPr/>
              <p:nvPr/>
            </p:nvSpPr>
            <p:spPr>
              <a:xfrm>
                <a:off x="4488967" y="4908015"/>
                <a:ext cx="1377007" cy="6658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</p:txBody>
          </p: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BCA80DD-62B1-134C-A63C-DA1138FBA0EF}"/>
                  </a:ext>
                </a:extLst>
              </p:cNvPr>
              <p:cNvSpPr/>
              <p:nvPr/>
            </p:nvSpPr>
            <p:spPr>
              <a:xfrm>
                <a:off x="3316047" y="2186474"/>
                <a:ext cx="1341691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0EC2A8D4-D974-E243-9F09-1E7497DC21BF}"/>
                  </a:ext>
                </a:extLst>
              </p:cNvPr>
              <p:cNvSpPr/>
              <p:nvPr/>
            </p:nvSpPr>
            <p:spPr>
              <a:xfrm>
                <a:off x="3273360" y="3043611"/>
                <a:ext cx="1453024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A6AC1F6-111E-464B-A3EC-5E6DFC1FCBA7}"/>
                  </a:ext>
                </a:extLst>
              </p:cNvPr>
              <p:cNvCxnSpPr>
                <a:cxnSpLocks/>
                <a:stCxn id="73" idx="2"/>
                <a:endCxn id="74" idx="0"/>
              </p:cNvCxnSpPr>
              <p:nvPr/>
            </p:nvCxnSpPr>
            <p:spPr>
              <a:xfrm>
                <a:off x="5177325" y="4733003"/>
                <a:ext cx="146" cy="175013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2CD467C-048F-8C43-B7D1-30B52310202B}"/>
                  </a:ext>
                </a:extLst>
              </p:cNvPr>
              <p:cNvCxnSpPr>
                <a:cxnSpLocks/>
                <a:stCxn id="76" idx="2"/>
                <a:endCxn id="73" idx="0"/>
              </p:cNvCxnSpPr>
              <p:nvPr/>
            </p:nvCxnSpPr>
            <p:spPr>
              <a:xfrm>
                <a:off x="3999872" y="3709508"/>
                <a:ext cx="1177453" cy="357598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F401CD9-59A7-7A48-B564-0A41792D4825}"/>
                  </a:ext>
                </a:extLst>
              </p:cNvPr>
              <p:cNvCxnSpPr>
                <a:cxnSpLocks/>
                <a:stCxn id="75" idx="2"/>
                <a:endCxn id="76" idx="0"/>
              </p:cNvCxnSpPr>
              <p:nvPr/>
            </p:nvCxnSpPr>
            <p:spPr>
              <a:xfrm>
                <a:off x="3986893" y="2852371"/>
                <a:ext cx="12979" cy="191241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13BBAE2-E648-724D-9096-70D4B2810417}"/>
                </a:ext>
              </a:extLst>
            </p:cNvPr>
            <p:cNvSpPr txBox="1"/>
            <p:nvPr/>
          </p:nvSpPr>
          <p:spPr>
            <a:xfrm>
              <a:off x="6315609" y="3889710"/>
              <a:ext cx="6154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58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Goal of Query Optimization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65FB5-CA1B-894D-960D-1CA4CB78398A}"/>
              </a:ext>
            </a:extLst>
          </p:cNvPr>
          <p:cNvSpPr txBox="1"/>
          <p:nvPr/>
        </p:nvSpPr>
        <p:spPr>
          <a:xfrm>
            <a:off x="106924" y="770444"/>
            <a:ext cx="90605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 ultimately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physical plan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executes to answer a query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Given a query Q, many equivalent physical plans exist: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Many equivalent logical plans exist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logical plan can have many equivalent physical plans.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D91A1-ED92-CD42-8007-2874409CC528}"/>
              </a:ext>
            </a:extLst>
          </p:cNvPr>
          <p:cNvSpPr txBox="1"/>
          <p:nvPr/>
        </p:nvSpPr>
        <p:spPr>
          <a:xfrm>
            <a:off x="2660069" y="2178619"/>
            <a:ext cx="415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cid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FROM Customer C, Order O, Product P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C.cid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O.cid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P.pid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AND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P.name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BookA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D50B79-76DE-6742-89A7-9DC7FB5EEA04}"/>
              </a:ext>
            </a:extLst>
          </p:cNvPr>
          <p:cNvSpPr txBox="1"/>
          <p:nvPr/>
        </p:nvSpPr>
        <p:spPr>
          <a:xfrm>
            <a:off x="0" y="2849771"/>
            <a:ext cx="2481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Physical Plans: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186A1D-7996-A145-A4A7-1290E9A6E5DC}"/>
              </a:ext>
            </a:extLst>
          </p:cNvPr>
          <p:cNvGrpSpPr/>
          <p:nvPr/>
        </p:nvGrpSpPr>
        <p:grpSpPr>
          <a:xfrm>
            <a:off x="1286232" y="3203450"/>
            <a:ext cx="3073110" cy="3335462"/>
            <a:chOff x="1286232" y="3203450"/>
            <a:chExt cx="3073110" cy="333546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6966E8-DA33-0E4D-A305-BB83E2262816}"/>
                </a:ext>
              </a:extLst>
            </p:cNvPr>
            <p:cNvGrpSpPr/>
            <p:nvPr/>
          </p:nvGrpSpPr>
          <p:grpSpPr>
            <a:xfrm>
              <a:off x="1286232" y="3203450"/>
              <a:ext cx="3073110" cy="3335462"/>
              <a:chOff x="1752601" y="2186474"/>
              <a:chExt cx="4267821" cy="4124053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FD61E26-FA4C-5E41-9B44-32AB7F161B65}"/>
                  </a:ext>
                </a:extLst>
              </p:cNvPr>
              <p:cNvSpPr/>
              <p:nvPr/>
            </p:nvSpPr>
            <p:spPr>
              <a:xfrm>
                <a:off x="2555877" y="4831623"/>
                <a:ext cx="145302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P.pid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O.pid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B8B01DB-32E4-E942-8FA7-93E348432BBD}"/>
                  </a:ext>
                </a:extLst>
              </p:cNvPr>
              <p:cNvSpPr/>
              <p:nvPr/>
            </p:nvSpPr>
            <p:spPr>
              <a:xfrm>
                <a:off x="1752601" y="5644630"/>
                <a:ext cx="1350113" cy="66589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Product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94D8364-37E1-654F-BA9A-30B5A14E2DBD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 flipH="1">
                <a:off x="2427658" y="5497520"/>
                <a:ext cx="854731" cy="14711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E65A816-1187-4447-89FB-518E10547FE9}"/>
                  </a:ext>
                </a:extLst>
              </p:cNvPr>
              <p:cNvCxnSpPr>
                <a:cxnSpLocks/>
                <a:stCxn id="9" idx="2"/>
                <a:endCxn id="14" idx="0"/>
              </p:cNvCxnSpPr>
              <p:nvPr/>
            </p:nvCxnSpPr>
            <p:spPr>
              <a:xfrm>
                <a:off x="3282389" y="5497520"/>
                <a:ext cx="850221" cy="132244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2D9149F-7847-9045-B3AC-8D21F879E8AE}"/>
                  </a:ext>
                </a:extLst>
              </p:cNvPr>
              <p:cNvCxnSpPr>
                <a:cxnSpLocks/>
                <a:stCxn id="15" idx="2"/>
                <a:endCxn id="9" idx="0"/>
              </p:cNvCxnSpPr>
              <p:nvPr/>
            </p:nvCxnSpPr>
            <p:spPr>
              <a:xfrm flipH="1">
                <a:off x="3282389" y="4549661"/>
                <a:ext cx="1041035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244D87AE-2C1A-E244-8127-BF9421E56CB9}"/>
                  </a:ext>
                </a:extLst>
              </p:cNvPr>
              <p:cNvSpPr/>
              <p:nvPr/>
            </p:nvSpPr>
            <p:spPr>
              <a:xfrm>
                <a:off x="3457553" y="5629764"/>
                <a:ext cx="1350114" cy="66025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Order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FC630CCA-570A-534F-A3A6-25790D192193}"/>
                  </a:ext>
                </a:extLst>
              </p:cNvPr>
              <p:cNvSpPr/>
              <p:nvPr/>
            </p:nvSpPr>
            <p:spPr>
              <a:xfrm>
                <a:off x="3596911" y="3883764"/>
                <a:ext cx="1453022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HashJoin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C.cid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O.cid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BE6B24BE-232C-C441-A954-4EEA554C0CE9}"/>
                  </a:ext>
                </a:extLst>
              </p:cNvPr>
              <p:cNvSpPr/>
              <p:nvPr/>
            </p:nvSpPr>
            <p:spPr>
              <a:xfrm>
                <a:off x="4643415" y="4831623"/>
                <a:ext cx="1377007" cy="6658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Scan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B94550C-7F21-F640-9C94-AA96419AADD6}"/>
                  </a:ext>
                </a:extLst>
              </p:cNvPr>
              <p:cNvSpPr/>
              <p:nvPr/>
            </p:nvSpPr>
            <p:spPr>
              <a:xfrm>
                <a:off x="3659265" y="2186474"/>
                <a:ext cx="1341691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</a:t>
                </a:r>
              </a:p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cid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F2AB482-404F-2B49-B4A5-A7A7827D1E3D}"/>
                  </a:ext>
                </a:extLst>
              </p:cNvPr>
              <p:cNvSpPr/>
              <p:nvPr/>
            </p:nvSpPr>
            <p:spPr>
              <a:xfrm>
                <a:off x="3480494" y="3043611"/>
                <a:ext cx="1696353" cy="66589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name=</a:t>
                </a:r>
                <a:r>
                  <a:rPr 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BookA</a:t>
                </a:r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A493D83-7C2B-CF4E-AF72-7BB0F5B0753B}"/>
                  </a:ext>
                </a:extLst>
              </p:cNvPr>
              <p:cNvCxnSpPr>
                <a:cxnSpLocks/>
                <a:stCxn id="15" idx="2"/>
                <a:endCxn id="16" idx="0"/>
              </p:cNvCxnSpPr>
              <p:nvPr/>
            </p:nvCxnSpPr>
            <p:spPr>
              <a:xfrm>
                <a:off x="4323423" y="4549661"/>
                <a:ext cx="1008496" cy="28196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FAE3088-74A7-A048-BF83-9F916436E1D1}"/>
                  </a:ext>
                </a:extLst>
              </p:cNvPr>
              <p:cNvCxnSpPr>
                <a:cxnSpLocks/>
                <a:stCxn id="18" idx="2"/>
                <a:endCxn id="15" idx="0"/>
              </p:cNvCxnSpPr>
              <p:nvPr/>
            </p:nvCxnSpPr>
            <p:spPr>
              <a:xfrm flipH="1">
                <a:off x="4323423" y="3709508"/>
                <a:ext cx="5248" cy="174256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7DF3947-511F-4643-A6F8-1C7F33C57F1D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 flipH="1">
                <a:off x="4328671" y="2852371"/>
                <a:ext cx="1440" cy="191239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D0155FA-CD5C-4F4D-912D-FBDE0241901E}"/>
                </a:ext>
              </a:extLst>
            </p:cNvPr>
            <p:cNvSpPr txBox="1"/>
            <p:nvPr/>
          </p:nvSpPr>
          <p:spPr>
            <a:xfrm>
              <a:off x="1717650" y="3853292"/>
              <a:ext cx="835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1,1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A878F0-0926-FC49-AAE3-3E543D99446E}"/>
              </a:ext>
            </a:extLst>
          </p:cNvPr>
          <p:cNvGrpSpPr/>
          <p:nvPr/>
        </p:nvGrpSpPr>
        <p:grpSpPr>
          <a:xfrm>
            <a:off x="5218012" y="3194282"/>
            <a:ext cx="2980784" cy="3613913"/>
            <a:chOff x="5218012" y="3194282"/>
            <a:chExt cx="2980784" cy="3613913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CE0F7E75-E417-174C-96A2-99F18389D5D0}"/>
                </a:ext>
              </a:extLst>
            </p:cNvPr>
            <p:cNvSpPr/>
            <p:nvPr/>
          </p:nvSpPr>
          <p:spPr>
            <a:xfrm>
              <a:off x="5704097" y="5172991"/>
              <a:ext cx="1046272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MergeJoin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1E9EFC6B-3C51-9749-A5FB-AA6D68A00878}"/>
                </a:ext>
              </a:extLst>
            </p:cNvPr>
            <p:cNvSpPr/>
            <p:nvPr/>
          </p:nvSpPr>
          <p:spPr>
            <a:xfrm>
              <a:off x="5218012" y="6269629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E019EF4-A7AA-6C4B-876F-1DB24D6038D6}"/>
                </a:ext>
              </a:extLst>
            </p:cNvPr>
            <p:cNvCxnSpPr>
              <a:cxnSpLocks/>
              <a:stCxn id="94" idx="2"/>
              <a:endCxn id="82" idx="0"/>
            </p:cNvCxnSpPr>
            <p:nvPr/>
          </p:nvCxnSpPr>
          <p:spPr>
            <a:xfrm>
              <a:off x="5696609" y="6096073"/>
              <a:ext cx="7488" cy="1735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B7E0555-5682-1540-AA98-38E15F65945C}"/>
                </a:ext>
              </a:extLst>
            </p:cNvPr>
            <p:cNvCxnSpPr>
              <a:cxnSpLocks/>
              <a:stCxn id="100" idx="2"/>
              <a:endCxn id="86" idx="0"/>
            </p:cNvCxnSpPr>
            <p:nvPr/>
          </p:nvCxnSpPr>
          <p:spPr>
            <a:xfrm>
              <a:off x="6768988" y="6096073"/>
              <a:ext cx="10722" cy="1658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C7CA3A7-0156-E54B-A25E-566F64F5B683}"/>
                </a:ext>
              </a:extLst>
            </p:cNvPr>
            <p:cNvCxnSpPr>
              <a:cxnSpLocks/>
              <a:stCxn id="87" idx="2"/>
              <a:endCxn id="81" idx="0"/>
            </p:cNvCxnSpPr>
            <p:nvPr/>
          </p:nvCxnSpPr>
          <p:spPr>
            <a:xfrm flipH="1">
              <a:off x="6227233" y="5043801"/>
              <a:ext cx="749613" cy="12919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3EF771DD-1EBE-A142-9D6E-0A7306DD8447}"/>
                </a:ext>
              </a:extLst>
            </p:cNvPr>
            <p:cNvSpPr/>
            <p:nvPr/>
          </p:nvSpPr>
          <p:spPr>
            <a:xfrm>
              <a:off x="6293625" y="6261886"/>
              <a:ext cx="972170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E06129FD-A2A7-354D-98B7-2F179B9F119A}"/>
                </a:ext>
              </a:extLst>
            </p:cNvPr>
            <p:cNvSpPr/>
            <p:nvPr/>
          </p:nvSpPr>
          <p:spPr>
            <a:xfrm>
              <a:off x="6453710" y="4505235"/>
              <a:ext cx="1046271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F439320C-0A31-C14C-A7DF-BB13146CAC39}"/>
                </a:ext>
              </a:extLst>
            </p:cNvPr>
            <p:cNvSpPr/>
            <p:nvPr/>
          </p:nvSpPr>
          <p:spPr>
            <a:xfrm>
              <a:off x="7207261" y="5333632"/>
              <a:ext cx="991535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C1D65ECA-DFB7-4C41-98C1-1BCEBD5A6DF0}"/>
                </a:ext>
              </a:extLst>
            </p:cNvPr>
            <p:cNvSpPr/>
            <p:nvPr/>
          </p:nvSpPr>
          <p:spPr>
            <a:xfrm>
              <a:off x="6498609" y="3194282"/>
              <a:ext cx="966105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023357C1-34EF-8443-B45A-0BCA1D67BDCA}"/>
                </a:ext>
              </a:extLst>
            </p:cNvPr>
            <p:cNvSpPr/>
            <p:nvPr/>
          </p:nvSpPr>
          <p:spPr>
            <a:xfrm>
              <a:off x="6369882" y="3850448"/>
              <a:ext cx="1221485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9A87B39-E12A-E14B-B050-346465AC5DD3}"/>
                </a:ext>
              </a:extLst>
            </p:cNvPr>
            <p:cNvCxnSpPr>
              <a:cxnSpLocks/>
              <a:stCxn id="87" idx="2"/>
              <a:endCxn id="88" idx="0"/>
            </p:cNvCxnSpPr>
            <p:nvPr/>
          </p:nvCxnSpPr>
          <p:spPr>
            <a:xfrm>
              <a:off x="6976846" y="5043801"/>
              <a:ext cx="726183" cy="28983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3D7DEBE-6B5E-C64D-BDA2-A9BD2A1211A3}"/>
                </a:ext>
              </a:extLst>
            </p:cNvPr>
            <p:cNvCxnSpPr>
              <a:cxnSpLocks/>
              <a:stCxn id="90" idx="2"/>
              <a:endCxn id="87" idx="0"/>
            </p:cNvCxnSpPr>
            <p:nvPr/>
          </p:nvCxnSpPr>
          <p:spPr>
            <a:xfrm flipH="1">
              <a:off x="6976846" y="4389014"/>
              <a:ext cx="3779" cy="11622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B9EB794-E7AA-3A4B-91CB-45AB312CF8E9}"/>
                </a:ext>
              </a:extLst>
            </p:cNvPr>
            <p:cNvCxnSpPr>
              <a:cxnSpLocks/>
              <a:stCxn id="89" idx="2"/>
              <a:endCxn id="90" idx="0"/>
            </p:cNvCxnSpPr>
            <p:nvPr/>
          </p:nvCxnSpPr>
          <p:spPr>
            <a:xfrm flipH="1">
              <a:off x="6980625" y="3732848"/>
              <a:ext cx="1037" cy="11760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21A63465-6A28-3446-A55A-F8F4CA73B737}"/>
                </a:ext>
              </a:extLst>
            </p:cNvPr>
            <p:cNvSpPr/>
            <p:nvPr/>
          </p:nvSpPr>
          <p:spPr>
            <a:xfrm>
              <a:off x="5255063" y="5856579"/>
              <a:ext cx="883091" cy="239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Sort(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84A88B3-E9D3-9341-9761-11FAD8CD7E30}"/>
                </a:ext>
              </a:extLst>
            </p:cNvPr>
            <p:cNvCxnSpPr>
              <a:cxnSpLocks/>
              <a:stCxn id="81" idx="2"/>
              <a:endCxn id="94" idx="0"/>
            </p:cNvCxnSpPr>
            <p:nvPr/>
          </p:nvCxnSpPr>
          <p:spPr>
            <a:xfrm flipH="1">
              <a:off x="5696609" y="5711557"/>
              <a:ext cx="530624" cy="14502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59E3B711-079A-3148-B4A5-7BC59539B8F8}"/>
                </a:ext>
              </a:extLst>
            </p:cNvPr>
            <p:cNvSpPr/>
            <p:nvPr/>
          </p:nvSpPr>
          <p:spPr>
            <a:xfrm>
              <a:off x="6367766" y="5834533"/>
              <a:ext cx="802443" cy="2615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Sort(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BCE882D4-83DA-2C46-97B0-45472986BB32}"/>
                </a:ext>
              </a:extLst>
            </p:cNvPr>
            <p:cNvCxnSpPr>
              <a:cxnSpLocks/>
              <a:stCxn id="81" idx="2"/>
              <a:endCxn id="100" idx="0"/>
            </p:cNvCxnSpPr>
            <p:nvPr/>
          </p:nvCxnSpPr>
          <p:spPr>
            <a:xfrm>
              <a:off x="6227233" y="5711557"/>
              <a:ext cx="541755" cy="12297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D993F3A-42EC-E945-A050-9832470FE8A2}"/>
                </a:ext>
              </a:extLst>
            </p:cNvPr>
            <p:cNvSpPr txBox="1"/>
            <p:nvPr/>
          </p:nvSpPr>
          <p:spPr>
            <a:xfrm>
              <a:off x="5503321" y="3878556"/>
              <a:ext cx="835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1,2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4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Goal of Query Optimization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65FB5-CA1B-894D-960D-1CA4CB78398A}"/>
              </a:ext>
            </a:extLst>
          </p:cNvPr>
          <p:cNvSpPr txBox="1"/>
          <p:nvPr/>
        </p:nvSpPr>
        <p:spPr>
          <a:xfrm>
            <a:off x="106924" y="770444"/>
            <a:ext cx="9060547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Ultimately: Given Q, pick the “best” physical plan for Q: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Best: often means fastest, could mean “cheapest”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DBMS developers are more humble: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Pick a reasonably good plan. Do not pick a very bad plan!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plan spectrum of join-heavy queries</a:t>
            </a:r>
          </a:p>
        </p:txBody>
      </p:sp>
      <p:pic>
        <p:nvPicPr>
          <p:cNvPr id="114" name="Picture 113" descr="Chart, scatter chart&#10;&#10;Description automatically generated">
            <a:extLst>
              <a:ext uri="{FF2B5EF4-FFF2-40B4-BE49-F238E27FC236}">
                <a16:creationId xmlns:a16="http://schemas.microsoft.com/office/drawing/2014/main" id="{2FF294B3-5C8D-704A-8BB8-EE9C654BF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28" y="3848477"/>
            <a:ext cx="1878636" cy="2679192"/>
          </a:xfrm>
          <a:prstGeom prst="rect">
            <a:avLst/>
          </a:prstGeom>
        </p:spPr>
      </p:pic>
      <p:pic>
        <p:nvPicPr>
          <p:cNvPr id="116" name="Picture 115" descr="Chart, scatter chart&#10;&#10;Description automatically generated">
            <a:extLst>
              <a:ext uri="{FF2B5EF4-FFF2-40B4-BE49-F238E27FC236}">
                <a16:creationId xmlns:a16="http://schemas.microsoft.com/office/drawing/2014/main" id="{DC450C53-A8FC-BC4E-88C2-0EC47C39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76" y="3846992"/>
            <a:ext cx="2133600" cy="2680677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36F68972-8BB3-1D49-8BEE-D0B4FC043102}"/>
              </a:ext>
            </a:extLst>
          </p:cNvPr>
          <p:cNvSpPr txBox="1"/>
          <p:nvPr/>
        </p:nvSpPr>
        <p:spPr>
          <a:xfrm>
            <a:off x="16079" y="6435215"/>
            <a:ext cx="9060547" cy="38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Mhedhbi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Salihoglu, </a:t>
            </a:r>
            <a:r>
              <a:rPr lang="en-US" sz="1400" i="1" dirty="0"/>
              <a:t>Optimizing Subgraph Queries by Combining Binary and Worst-Case Optimal Joins, VLDB 2019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72FEE42-D7A5-8044-A829-8F99BB69892E}"/>
              </a:ext>
            </a:extLst>
          </p:cNvPr>
          <p:cNvCxnSpPr>
            <a:cxnSpLocks/>
            <a:endCxn id="120" idx="2"/>
          </p:cNvCxnSpPr>
          <p:nvPr/>
        </p:nvCxnSpPr>
        <p:spPr>
          <a:xfrm flipH="1" flipV="1">
            <a:off x="4719258" y="3963305"/>
            <a:ext cx="2114028" cy="300536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8ECB1464-BCE9-8044-B736-436AB277E494}"/>
              </a:ext>
            </a:extLst>
          </p:cNvPr>
          <p:cNvSpPr txBox="1"/>
          <p:nvPr/>
        </p:nvSpPr>
        <p:spPr>
          <a:xfrm>
            <a:off x="3521682" y="3425914"/>
            <a:ext cx="2395151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Don’t pick these!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DDC4A06-6504-9843-AE7E-73DD83C3D905}"/>
              </a:ext>
            </a:extLst>
          </p:cNvPr>
          <p:cNvCxnSpPr>
            <a:cxnSpLocks/>
            <a:endCxn id="120" idx="2"/>
          </p:cNvCxnSpPr>
          <p:nvPr/>
        </p:nvCxnSpPr>
        <p:spPr>
          <a:xfrm flipV="1">
            <a:off x="2605229" y="3963305"/>
            <a:ext cx="2114029" cy="383076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088604A-0903-8043-BDEA-6570ED687CE5}"/>
              </a:ext>
            </a:extLst>
          </p:cNvPr>
          <p:cNvSpPr txBox="1"/>
          <p:nvPr/>
        </p:nvSpPr>
        <p:spPr>
          <a:xfrm>
            <a:off x="3521682" y="5879557"/>
            <a:ext cx="2769964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Pick one of these!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2889943-2B4D-6B4D-9F86-BB8D6071B9E1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3274541" y="5782962"/>
            <a:ext cx="1632123" cy="9659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C14115C-B6D5-6F40-B73C-3DF20C62E59D}"/>
              </a:ext>
            </a:extLst>
          </p:cNvPr>
          <p:cNvCxnSpPr>
            <a:cxnSpLocks/>
            <a:endCxn id="127" idx="0"/>
          </p:cNvCxnSpPr>
          <p:nvPr/>
        </p:nvCxnSpPr>
        <p:spPr>
          <a:xfrm flipH="1">
            <a:off x="4906664" y="5845583"/>
            <a:ext cx="1384982" cy="3397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5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uild="allAtOnce"/>
      <p:bldP spid="127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Overview of Query Opt. Techniques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65FB5-CA1B-894D-960D-1CA4CB78398A}"/>
              </a:ext>
            </a:extLst>
          </p:cNvPr>
          <p:cNvSpPr txBox="1"/>
          <p:nvPr/>
        </p:nvSpPr>
        <p:spPr>
          <a:xfrm>
            <a:off x="475736" y="807082"/>
            <a:ext cx="5993028" cy="472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Enumerate a logical plan space (often enumerates all join orders)</a:t>
            </a:r>
          </a:p>
          <a:p>
            <a:pPr lvl="1" algn="ctr">
              <a:lnSpc>
                <a:spcPct val="20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one or more of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(optionally) enumerate a physical plan space:</a:t>
            </a:r>
          </a:p>
          <a:p>
            <a:pPr algn="ctr">
              <a:lnSpc>
                <a:spcPct val="20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i,1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i,2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i,t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3.   Pick the best P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i,1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268136-68F9-A24E-94FB-4DD6A2828EC2}"/>
              </a:ext>
            </a:extLst>
          </p:cNvPr>
          <p:cNvSpPr txBox="1"/>
          <p:nvPr/>
        </p:nvSpPr>
        <p:spPr>
          <a:xfrm>
            <a:off x="5671751" y="1628681"/>
            <a:ext cx="3632888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Options for steps 1 &amp; 2: 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Rule-based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Cost-based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Hybrid rule/cost-based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F00636-0543-CD4A-BB53-5F3581B96C9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670854" y="2038865"/>
            <a:ext cx="1000897" cy="62025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A0B1E8-DE6D-D84A-809E-1EADF12116C1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023022" y="2659124"/>
            <a:ext cx="648729" cy="103044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EFE303E-BD02-A841-9BC8-FEF1727EB4DB}"/>
              </a:ext>
            </a:extLst>
          </p:cNvPr>
          <p:cNvSpPr txBox="1"/>
          <p:nvPr/>
        </p:nvSpPr>
        <p:spPr>
          <a:xfrm>
            <a:off x="1363362" y="5231980"/>
            <a:ext cx="6417277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common approach: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Step 1 is cost-based or hybrid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Step 2 is rule-based</a:t>
            </a: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EA3E3E19-E7CB-BE43-BEF6-421CBDCF3722}"/>
              </a:ext>
            </a:extLst>
          </p:cNvPr>
          <p:cNvSpPr/>
          <p:nvPr/>
        </p:nvSpPr>
        <p:spPr>
          <a:xfrm>
            <a:off x="2662882" y="2425767"/>
            <a:ext cx="172994" cy="345990"/>
          </a:xfrm>
          <a:prstGeom prst="leftBracket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FDF4E1-2491-304D-829C-BB969E108F1F}"/>
              </a:ext>
            </a:extLst>
          </p:cNvPr>
          <p:cNvSpPr txBox="1"/>
          <p:nvPr/>
        </p:nvSpPr>
        <p:spPr>
          <a:xfrm>
            <a:off x="-11765" y="2244819"/>
            <a:ext cx="278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(extended) relational algebraic expressions</a:t>
            </a:r>
          </a:p>
        </p:txBody>
      </p:sp>
    </p:spTree>
    <p:extLst>
      <p:ext uri="{BB962C8B-B14F-4D97-AF65-F5344CB8AC3E}">
        <p14:creationId xmlns:p14="http://schemas.microsoft.com/office/powerpoint/2010/main" val="271901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8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57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46F245-E121-A243-A656-ED05CC596E57}"/>
              </a:ext>
            </a:extLst>
          </p:cNvPr>
          <p:cNvGrpSpPr/>
          <p:nvPr/>
        </p:nvGrpSpPr>
        <p:grpSpPr>
          <a:xfrm>
            <a:off x="1058680" y="1593412"/>
            <a:ext cx="3073110" cy="3335462"/>
            <a:chOff x="1752601" y="2186474"/>
            <a:chExt cx="4267821" cy="412405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E2E8646-4252-984B-B887-9509BF341D4F}"/>
                </a:ext>
              </a:extLst>
            </p:cNvPr>
            <p:cNvSpPr/>
            <p:nvPr/>
          </p:nvSpPr>
          <p:spPr>
            <a:xfrm>
              <a:off x="2555877" y="4831623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FF49A83-7AE3-1B4E-879C-1953C5DE2358}"/>
                </a:ext>
              </a:extLst>
            </p:cNvPr>
            <p:cNvSpPr/>
            <p:nvPr/>
          </p:nvSpPr>
          <p:spPr>
            <a:xfrm>
              <a:off x="1752601" y="5644630"/>
              <a:ext cx="1350113" cy="6658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20A163-7F37-EA4A-A65C-449CA23D26A4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2427658" y="5497520"/>
              <a:ext cx="854731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DFF9A0-BCEB-5047-AA1B-819ADD641631}"/>
                </a:ext>
              </a:extLst>
            </p:cNvPr>
            <p:cNvCxnSpPr>
              <a:cxnSpLocks/>
              <a:stCxn id="13" idx="2"/>
              <a:endCxn id="21" idx="0"/>
            </p:cNvCxnSpPr>
            <p:nvPr/>
          </p:nvCxnSpPr>
          <p:spPr>
            <a:xfrm>
              <a:off x="3282389" y="5497520"/>
              <a:ext cx="850221" cy="132244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8DA646-45B8-3D46-8B0A-E1DF628BADB8}"/>
                </a:ext>
              </a:extLst>
            </p:cNvPr>
            <p:cNvCxnSpPr>
              <a:cxnSpLocks/>
              <a:stCxn id="22" idx="2"/>
              <a:endCxn id="13" idx="0"/>
            </p:cNvCxnSpPr>
            <p:nvPr/>
          </p:nvCxnSpPr>
          <p:spPr>
            <a:xfrm flipH="1">
              <a:off x="3282389" y="4549661"/>
              <a:ext cx="1041035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3D8D0ED-6EDE-1246-8FEC-C872D0021246}"/>
                </a:ext>
              </a:extLst>
            </p:cNvPr>
            <p:cNvSpPr/>
            <p:nvPr/>
          </p:nvSpPr>
          <p:spPr>
            <a:xfrm>
              <a:off x="3457553" y="5629764"/>
              <a:ext cx="1350114" cy="6602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9B31EE6-34F5-C547-9C73-E3D47E195A74}"/>
                </a:ext>
              </a:extLst>
            </p:cNvPr>
            <p:cNvSpPr/>
            <p:nvPr/>
          </p:nvSpPr>
          <p:spPr>
            <a:xfrm>
              <a:off x="3596911" y="3883764"/>
              <a:ext cx="1453022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032E3EE-BF09-A34D-A59C-2F584011A9C4}"/>
                </a:ext>
              </a:extLst>
            </p:cNvPr>
            <p:cNvSpPr/>
            <p:nvPr/>
          </p:nvSpPr>
          <p:spPr>
            <a:xfrm>
              <a:off x="4643415" y="4831623"/>
              <a:ext cx="1377007" cy="6658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F81A7D8-27BC-1F44-AD17-B8FDEA16C851}"/>
                </a:ext>
              </a:extLst>
            </p:cNvPr>
            <p:cNvSpPr/>
            <p:nvPr/>
          </p:nvSpPr>
          <p:spPr>
            <a:xfrm>
              <a:off x="3659265" y="2186474"/>
              <a:ext cx="1341691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CE7508A-AE37-DF4D-B9EC-7743B687B1EB}"/>
                </a:ext>
              </a:extLst>
            </p:cNvPr>
            <p:cNvSpPr/>
            <p:nvPr/>
          </p:nvSpPr>
          <p:spPr>
            <a:xfrm>
              <a:off x="3480494" y="3043611"/>
              <a:ext cx="169635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9612A0-B2BF-F545-AD0B-8FB43E04B5E9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4323423" y="4549661"/>
              <a:ext cx="1008496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FA038C-F183-5443-8810-DD8CF2F0C2CF}"/>
                </a:ext>
              </a:extLst>
            </p:cNvPr>
            <p:cNvCxnSpPr>
              <a:cxnSpLocks/>
              <a:stCxn id="27" idx="2"/>
              <a:endCxn id="22" idx="0"/>
            </p:cNvCxnSpPr>
            <p:nvPr/>
          </p:nvCxnSpPr>
          <p:spPr>
            <a:xfrm flipH="1">
              <a:off x="4323423" y="3709508"/>
              <a:ext cx="5248" cy="1742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DE7356-CA6A-D94D-9F8E-14184EE04AF1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flipH="1">
              <a:off x="4328671" y="2852371"/>
              <a:ext cx="1440" cy="19123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833E605-0CE0-1946-9392-9BF09AB70A2C}"/>
              </a:ext>
            </a:extLst>
          </p:cNvPr>
          <p:cNvGrpSpPr/>
          <p:nvPr/>
        </p:nvGrpSpPr>
        <p:grpSpPr>
          <a:xfrm>
            <a:off x="5197596" y="1578789"/>
            <a:ext cx="3073110" cy="3335462"/>
            <a:chOff x="1752601" y="2186474"/>
            <a:chExt cx="4267821" cy="4124054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5E1AD246-43C1-F142-AD79-9CC5F293D8BC}"/>
                </a:ext>
              </a:extLst>
            </p:cNvPr>
            <p:cNvSpPr/>
            <p:nvPr/>
          </p:nvSpPr>
          <p:spPr>
            <a:xfrm>
              <a:off x="2555877" y="4831623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5A18033-E808-CC43-83A3-853D22EE8402}"/>
                </a:ext>
              </a:extLst>
            </p:cNvPr>
            <p:cNvSpPr/>
            <p:nvPr/>
          </p:nvSpPr>
          <p:spPr>
            <a:xfrm>
              <a:off x="1752601" y="5644630"/>
              <a:ext cx="1350113" cy="6658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DA0284-28BD-2F43-A0B6-D11884F70895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flipH="1">
              <a:off x="2427658" y="5497520"/>
              <a:ext cx="854731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39535B8-4A3A-3E47-ACF2-7BD2C18BB267}"/>
                </a:ext>
              </a:extLst>
            </p:cNvPr>
            <p:cNvCxnSpPr>
              <a:cxnSpLocks/>
              <a:stCxn id="32" idx="2"/>
              <a:endCxn id="37" idx="0"/>
            </p:cNvCxnSpPr>
            <p:nvPr/>
          </p:nvCxnSpPr>
          <p:spPr>
            <a:xfrm>
              <a:off x="3282389" y="5497521"/>
              <a:ext cx="850221" cy="13224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4D1299C-7109-C145-8FED-E18EB71EAD8A}"/>
                </a:ext>
              </a:extLst>
            </p:cNvPr>
            <p:cNvCxnSpPr>
              <a:cxnSpLocks/>
              <a:stCxn id="38" idx="2"/>
              <a:endCxn id="32" idx="0"/>
            </p:cNvCxnSpPr>
            <p:nvPr/>
          </p:nvCxnSpPr>
          <p:spPr>
            <a:xfrm flipH="1">
              <a:off x="3282389" y="4549661"/>
              <a:ext cx="1041035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004B2361-5311-6247-9065-40B9C6AC861A}"/>
                </a:ext>
              </a:extLst>
            </p:cNvPr>
            <p:cNvSpPr/>
            <p:nvPr/>
          </p:nvSpPr>
          <p:spPr>
            <a:xfrm>
              <a:off x="3457553" y="5629764"/>
              <a:ext cx="1350114" cy="6807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DA13591-4A7D-6C43-A99C-961C68864A06}"/>
                </a:ext>
              </a:extLst>
            </p:cNvPr>
            <p:cNvSpPr/>
            <p:nvPr/>
          </p:nvSpPr>
          <p:spPr>
            <a:xfrm>
              <a:off x="3596911" y="3883764"/>
              <a:ext cx="1453022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C917F299-5BCD-834F-A3AC-A006CB06B029}"/>
                </a:ext>
              </a:extLst>
            </p:cNvPr>
            <p:cNvSpPr/>
            <p:nvPr/>
          </p:nvSpPr>
          <p:spPr>
            <a:xfrm>
              <a:off x="4643415" y="4831623"/>
              <a:ext cx="1377007" cy="6658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6C40E30-881B-8647-8DE1-EDE474304B7B}"/>
                </a:ext>
              </a:extLst>
            </p:cNvPr>
            <p:cNvSpPr/>
            <p:nvPr/>
          </p:nvSpPr>
          <p:spPr>
            <a:xfrm>
              <a:off x="3659265" y="2186474"/>
              <a:ext cx="1341691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CA844F90-DCC3-DF40-886D-925741BED50B}"/>
                </a:ext>
              </a:extLst>
            </p:cNvPr>
            <p:cNvSpPr/>
            <p:nvPr/>
          </p:nvSpPr>
          <p:spPr>
            <a:xfrm>
              <a:off x="3480494" y="3043611"/>
              <a:ext cx="169635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F68B449-EADE-EC4D-875E-99AD70699445}"/>
                </a:ext>
              </a:extLst>
            </p:cNvPr>
            <p:cNvCxnSpPr>
              <a:cxnSpLocks/>
              <a:stCxn id="38" idx="2"/>
              <a:endCxn id="39" idx="0"/>
            </p:cNvCxnSpPr>
            <p:nvPr/>
          </p:nvCxnSpPr>
          <p:spPr>
            <a:xfrm>
              <a:off x="4323423" y="4549661"/>
              <a:ext cx="1008496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86B2D2E-32DB-AE4E-8E44-A4FDC31BE8B5}"/>
                </a:ext>
              </a:extLst>
            </p:cNvPr>
            <p:cNvCxnSpPr>
              <a:cxnSpLocks/>
              <a:stCxn id="41" idx="2"/>
              <a:endCxn id="38" idx="0"/>
            </p:cNvCxnSpPr>
            <p:nvPr/>
          </p:nvCxnSpPr>
          <p:spPr>
            <a:xfrm flipH="1">
              <a:off x="4323423" y="3709508"/>
              <a:ext cx="5248" cy="1742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3869404-EC9A-0A4F-BD67-591265B4C2C8}"/>
                </a:ext>
              </a:extLst>
            </p:cNvPr>
            <p:cNvCxnSpPr>
              <a:cxnSpLocks/>
              <a:stCxn id="40" idx="2"/>
              <a:endCxn id="41" idx="0"/>
            </p:cNvCxnSpPr>
            <p:nvPr/>
          </p:nvCxnSpPr>
          <p:spPr>
            <a:xfrm flipH="1">
              <a:off x="4328671" y="2852371"/>
              <a:ext cx="1440" cy="19123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46CD102-0D8D-CC4B-82A3-9BB4B02F3E83}"/>
              </a:ext>
            </a:extLst>
          </p:cNvPr>
          <p:cNvSpPr txBox="1"/>
          <p:nvPr/>
        </p:nvSpPr>
        <p:spPr>
          <a:xfrm>
            <a:off x="83452" y="773927"/>
            <a:ext cx="906054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R (’70s): First prototype relational DBMS from IBM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F977E8B-6D64-8F49-9AB5-5C0B05887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74" y="1380075"/>
            <a:ext cx="1422400" cy="1422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F5492A2-1D4D-FD49-A379-F8B591911675}"/>
              </a:ext>
            </a:extLst>
          </p:cNvPr>
          <p:cNvSpPr/>
          <p:nvPr/>
        </p:nvSpPr>
        <p:spPr>
          <a:xfrm>
            <a:off x="-62032" y="2831661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Patricia Selinger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43D9A1-CE37-5D46-B67D-3EC84D141BEC}"/>
              </a:ext>
            </a:extLst>
          </p:cNvPr>
          <p:cNvSpPr txBox="1"/>
          <p:nvPr/>
        </p:nvSpPr>
        <p:spPr>
          <a:xfrm>
            <a:off x="16079" y="4934932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 each enumerated log/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plan, e.g., 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 Cost(L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 is the estimate of the system for how good/bad 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Pick min cost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012F3-DEC2-B746-9FA5-C6BDEA794F0B}"/>
              </a:ext>
            </a:extLst>
          </p:cNvPr>
          <p:cNvSpPr/>
          <p:nvPr/>
        </p:nvSpPr>
        <p:spPr>
          <a:xfrm>
            <a:off x="58738" y="6580346"/>
            <a:ext cx="836857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Access Path Selection in a Relational Database Management, Selinger et al. 1979, SIGMOD</a:t>
            </a:r>
            <a:endParaRPr lang="en-US" sz="1300" b="0" i="0" dirty="0">
              <a:effectLst/>
              <a:latin typeface="Calibri" panose="020F0502020204030204" pitchFamily="34" charset="0"/>
              <a:cs typeface="Calibri" panose="020F050202020403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10143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46F245-E121-A243-A656-ED05CC596E57}"/>
              </a:ext>
            </a:extLst>
          </p:cNvPr>
          <p:cNvGrpSpPr/>
          <p:nvPr/>
        </p:nvGrpSpPr>
        <p:grpSpPr>
          <a:xfrm>
            <a:off x="5987438" y="1406217"/>
            <a:ext cx="3073110" cy="3335462"/>
            <a:chOff x="1752601" y="2186474"/>
            <a:chExt cx="4267821" cy="412405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E2E8646-4252-984B-B887-9509BF341D4F}"/>
                </a:ext>
              </a:extLst>
            </p:cNvPr>
            <p:cNvSpPr/>
            <p:nvPr/>
          </p:nvSpPr>
          <p:spPr>
            <a:xfrm>
              <a:off x="2555877" y="4831623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FF49A83-7AE3-1B4E-879C-1953C5DE2358}"/>
                </a:ext>
              </a:extLst>
            </p:cNvPr>
            <p:cNvSpPr/>
            <p:nvPr/>
          </p:nvSpPr>
          <p:spPr>
            <a:xfrm>
              <a:off x="1752601" y="5644630"/>
              <a:ext cx="1350113" cy="6658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20A163-7F37-EA4A-A65C-449CA23D26A4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2427658" y="5497520"/>
              <a:ext cx="854731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DFF9A0-BCEB-5047-AA1B-819ADD641631}"/>
                </a:ext>
              </a:extLst>
            </p:cNvPr>
            <p:cNvCxnSpPr>
              <a:cxnSpLocks/>
              <a:stCxn id="13" idx="2"/>
              <a:endCxn id="21" idx="0"/>
            </p:cNvCxnSpPr>
            <p:nvPr/>
          </p:nvCxnSpPr>
          <p:spPr>
            <a:xfrm>
              <a:off x="3282389" y="5497520"/>
              <a:ext cx="850221" cy="132244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8DA646-45B8-3D46-8B0A-E1DF628BADB8}"/>
                </a:ext>
              </a:extLst>
            </p:cNvPr>
            <p:cNvCxnSpPr>
              <a:cxnSpLocks/>
              <a:stCxn id="22" idx="2"/>
              <a:endCxn id="13" idx="0"/>
            </p:cNvCxnSpPr>
            <p:nvPr/>
          </p:nvCxnSpPr>
          <p:spPr>
            <a:xfrm flipH="1">
              <a:off x="3282389" y="4549661"/>
              <a:ext cx="1041035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3D8D0ED-6EDE-1246-8FEC-C872D0021246}"/>
                </a:ext>
              </a:extLst>
            </p:cNvPr>
            <p:cNvSpPr/>
            <p:nvPr/>
          </p:nvSpPr>
          <p:spPr>
            <a:xfrm>
              <a:off x="3457553" y="5629764"/>
              <a:ext cx="1350114" cy="6602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9B31EE6-34F5-C547-9C73-E3D47E195A74}"/>
                </a:ext>
              </a:extLst>
            </p:cNvPr>
            <p:cNvSpPr/>
            <p:nvPr/>
          </p:nvSpPr>
          <p:spPr>
            <a:xfrm>
              <a:off x="3596911" y="3883764"/>
              <a:ext cx="1453022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032E3EE-BF09-A34D-A59C-2F584011A9C4}"/>
                </a:ext>
              </a:extLst>
            </p:cNvPr>
            <p:cNvSpPr/>
            <p:nvPr/>
          </p:nvSpPr>
          <p:spPr>
            <a:xfrm>
              <a:off x="4643415" y="4831623"/>
              <a:ext cx="1377007" cy="6658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F81A7D8-27BC-1F44-AD17-B8FDEA16C851}"/>
                </a:ext>
              </a:extLst>
            </p:cNvPr>
            <p:cNvSpPr/>
            <p:nvPr/>
          </p:nvSpPr>
          <p:spPr>
            <a:xfrm>
              <a:off x="3659265" y="2186474"/>
              <a:ext cx="1341691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CE7508A-AE37-DF4D-B9EC-7743B687B1EB}"/>
                </a:ext>
              </a:extLst>
            </p:cNvPr>
            <p:cNvSpPr/>
            <p:nvPr/>
          </p:nvSpPr>
          <p:spPr>
            <a:xfrm>
              <a:off x="3480494" y="3043611"/>
              <a:ext cx="169635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9612A0-B2BF-F545-AD0B-8FB43E04B5E9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4323423" y="4549661"/>
              <a:ext cx="1008496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FA038C-F183-5443-8810-DD8CF2F0C2CF}"/>
                </a:ext>
              </a:extLst>
            </p:cNvPr>
            <p:cNvCxnSpPr>
              <a:cxnSpLocks/>
              <a:stCxn id="27" idx="2"/>
              <a:endCxn id="22" idx="0"/>
            </p:cNvCxnSpPr>
            <p:nvPr/>
          </p:nvCxnSpPr>
          <p:spPr>
            <a:xfrm flipH="1">
              <a:off x="4323423" y="3709508"/>
              <a:ext cx="5248" cy="1742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DE7356-CA6A-D94D-9F8E-14184EE04AF1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flipH="1">
              <a:off x="4328671" y="2852371"/>
              <a:ext cx="1440" cy="19123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46CD102-0D8D-CC4B-82A3-9BB4B02F3E83}"/>
              </a:ext>
            </a:extLst>
          </p:cNvPr>
          <p:cNvSpPr txBox="1"/>
          <p:nvPr/>
        </p:nvSpPr>
        <p:spPr>
          <a:xfrm>
            <a:off x="83452" y="773927"/>
            <a:ext cx="9060548" cy="5107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Naturally: cost definition is broken into costs of operators.</a:t>
            </a:r>
          </a:p>
          <a:p>
            <a:pPr lvl="1">
              <a:lnSpc>
                <a:spcPct val="150000"/>
              </a:lnSpc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Cost(L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= ∑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cost(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∈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cost metrics or components: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# I/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 plan will make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# tuples that will pass through operators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# runtime of algorithm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running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e.g., nested loop join of R, S: |R|*|S|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Combination of above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any reasonable metric: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Need to estimate cardinality, i.e., size, of tuples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will process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D87BAC-F0BB-724E-93A6-D2CFC4F670DC}"/>
              </a:ext>
            </a:extLst>
          </p:cNvPr>
          <p:cNvSpPr txBox="1"/>
          <p:nvPr/>
        </p:nvSpPr>
        <p:spPr>
          <a:xfrm>
            <a:off x="498926" y="6040893"/>
            <a:ext cx="82296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(notorious) cardinality estimation problem!</a:t>
            </a:r>
          </a:p>
        </p:txBody>
      </p:sp>
    </p:spTree>
    <p:extLst>
      <p:ext uri="{BB962C8B-B14F-4D97-AF65-F5344CB8AC3E}">
        <p14:creationId xmlns:p14="http://schemas.microsoft.com/office/powerpoint/2010/main" val="37376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Cardinality Estimation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46F245-E121-A243-A656-ED05CC596E57}"/>
              </a:ext>
            </a:extLst>
          </p:cNvPr>
          <p:cNvGrpSpPr/>
          <p:nvPr/>
        </p:nvGrpSpPr>
        <p:grpSpPr>
          <a:xfrm>
            <a:off x="5987438" y="881235"/>
            <a:ext cx="3073110" cy="3335462"/>
            <a:chOff x="1752601" y="2186474"/>
            <a:chExt cx="4267821" cy="412405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E2E8646-4252-984B-B887-9509BF341D4F}"/>
                </a:ext>
              </a:extLst>
            </p:cNvPr>
            <p:cNvSpPr/>
            <p:nvPr/>
          </p:nvSpPr>
          <p:spPr>
            <a:xfrm>
              <a:off x="2555877" y="4831623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FF49A83-7AE3-1B4E-879C-1953C5DE2358}"/>
                </a:ext>
              </a:extLst>
            </p:cNvPr>
            <p:cNvSpPr/>
            <p:nvPr/>
          </p:nvSpPr>
          <p:spPr>
            <a:xfrm>
              <a:off x="1752601" y="5644630"/>
              <a:ext cx="1350113" cy="66589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20A163-7F37-EA4A-A65C-449CA23D26A4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flipH="1">
              <a:off x="2427658" y="5497520"/>
              <a:ext cx="854731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DFF9A0-BCEB-5047-AA1B-819ADD641631}"/>
                </a:ext>
              </a:extLst>
            </p:cNvPr>
            <p:cNvCxnSpPr>
              <a:cxnSpLocks/>
              <a:stCxn id="13" idx="2"/>
              <a:endCxn id="21" idx="0"/>
            </p:cNvCxnSpPr>
            <p:nvPr/>
          </p:nvCxnSpPr>
          <p:spPr>
            <a:xfrm>
              <a:off x="3282389" y="5497520"/>
              <a:ext cx="850221" cy="132244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8DA646-45B8-3D46-8B0A-E1DF628BADB8}"/>
                </a:ext>
              </a:extLst>
            </p:cNvPr>
            <p:cNvCxnSpPr>
              <a:cxnSpLocks/>
              <a:stCxn id="22" idx="2"/>
              <a:endCxn id="13" idx="0"/>
            </p:cNvCxnSpPr>
            <p:nvPr/>
          </p:nvCxnSpPr>
          <p:spPr>
            <a:xfrm flipH="1">
              <a:off x="3282389" y="4549661"/>
              <a:ext cx="1041035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3D8D0ED-6EDE-1246-8FEC-C872D0021246}"/>
                </a:ext>
              </a:extLst>
            </p:cNvPr>
            <p:cNvSpPr/>
            <p:nvPr/>
          </p:nvSpPr>
          <p:spPr>
            <a:xfrm>
              <a:off x="3457553" y="5629764"/>
              <a:ext cx="1350114" cy="66025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9B31EE6-34F5-C547-9C73-E3D47E195A74}"/>
                </a:ext>
              </a:extLst>
            </p:cNvPr>
            <p:cNvSpPr/>
            <p:nvPr/>
          </p:nvSpPr>
          <p:spPr>
            <a:xfrm>
              <a:off x="3596911" y="3883764"/>
              <a:ext cx="1453022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032E3EE-BF09-A34D-A59C-2F584011A9C4}"/>
                </a:ext>
              </a:extLst>
            </p:cNvPr>
            <p:cNvSpPr/>
            <p:nvPr/>
          </p:nvSpPr>
          <p:spPr>
            <a:xfrm>
              <a:off x="4643415" y="4831623"/>
              <a:ext cx="1377007" cy="6658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F81A7D8-27BC-1F44-AD17-B8FDEA16C851}"/>
                </a:ext>
              </a:extLst>
            </p:cNvPr>
            <p:cNvSpPr/>
            <p:nvPr/>
          </p:nvSpPr>
          <p:spPr>
            <a:xfrm>
              <a:off x="3659265" y="2186474"/>
              <a:ext cx="1341691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CE7508A-AE37-DF4D-B9EC-7743B687B1EB}"/>
                </a:ext>
              </a:extLst>
            </p:cNvPr>
            <p:cNvSpPr/>
            <p:nvPr/>
          </p:nvSpPr>
          <p:spPr>
            <a:xfrm>
              <a:off x="3480494" y="3043611"/>
              <a:ext cx="169635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9612A0-B2BF-F545-AD0B-8FB43E04B5E9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4323423" y="4549661"/>
              <a:ext cx="1008496" cy="2819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FA038C-F183-5443-8810-DD8CF2F0C2CF}"/>
                </a:ext>
              </a:extLst>
            </p:cNvPr>
            <p:cNvCxnSpPr>
              <a:cxnSpLocks/>
              <a:stCxn id="27" idx="2"/>
              <a:endCxn id="22" idx="0"/>
            </p:cNvCxnSpPr>
            <p:nvPr/>
          </p:nvCxnSpPr>
          <p:spPr>
            <a:xfrm flipH="1">
              <a:off x="4323423" y="3709508"/>
              <a:ext cx="5248" cy="17425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DE7356-CA6A-D94D-9F8E-14184EE04AF1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flipH="1">
              <a:off x="4328671" y="2852371"/>
              <a:ext cx="1440" cy="19123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2" y="773927"/>
                <a:ext cx="7747588" cy="413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a database 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D: 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(A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1,1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,…,A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1,m1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), …, 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(A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n,1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,…,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n,mn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 (sub-) query Q (a relational algebra expression)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is the |Q|?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𝐵𝑜𝑜𝑘𝐴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𝑃𝑟𝑜𝑑𝑢𝑐𝑡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𝑃𝑟𝑜𝑑𝑢𝑐𝑡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𝑂𝑟𝑑𝑒𝑟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𝐵𝑜𝑜𝑘𝐴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𝑃𝑟𝑜𝑑𝑢𝑐𝑡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𝑂𝑟𝑑𝑒𝑟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𝐶𝑢𝑠𝑡𝑜𝑚𝑒𝑟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)?</a:t>
                </a: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2" y="773927"/>
                <a:ext cx="7747588" cy="4130746"/>
              </a:xfrm>
              <a:prstGeom prst="rect">
                <a:avLst/>
              </a:prstGeom>
              <a:blipFill>
                <a:blip r:embed="rId3"/>
                <a:stretch>
                  <a:fillRect l="-818" b="-2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7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 High-level Card. Estimation Techniques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58737" y="749213"/>
                <a:ext cx="9060549" cy="6169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Sampling-based: 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While optimizing Q, sample relations to make an estimate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Summary/statistics-based: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statistics about D to make estimates</a:t>
                </a: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Possible statistics: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|R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|: size of each relation</a:t>
                </a: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𝐴𝑗</m:t>
                        </m:r>
                      </m:sub>
                    </m:sSub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# distinct values in column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Histograms: Distribution of values on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Also use known constraints: </a:t>
                </a:r>
              </a:p>
              <a:p>
                <a:pPr marL="1828800" lvl="3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FK constraint from R to 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endParaRPr lang="en-US" sz="2400" b="0" dirty="0">
                  <a:latin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2 common </a:t>
                </a:r>
                <a:r>
                  <a:rPr lang="en-US" sz="22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simplification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assumptions (no other good reason):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uniformity; (ii) independence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7" y="749213"/>
                <a:ext cx="9060549" cy="6169702"/>
              </a:xfrm>
              <a:prstGeom prst="rect">
                <a:avLst/>
              </a:prstGeom>
              <a:blipFill>
                <a:blip r:embed="rId3"/>
                <a:stretch>
                  <a:fillRect l="-699" b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2C5D18A-61D4-9548-839A-E19688AEFFED}"/>
              </a:ext>
            </a:extLst>
          </p:cNvPr>
          <p:cNvGrpSpPr/>
          <p:nvPr/>
        </p:nvGrpSpPr>
        <p:grpSpPr>
          <a:xfrm>
            <a:off x="6577914" y="3342501"/>
            <a:ext cx="2059458" cy="2056029"/>
            <a:chOff x="6577914" y="3429000"/>
            <a:chExt cx="2059458" cy="20560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D7A16F-C164-8440-B5A0-B101BFEF9C54}"/>
                </a:ext>
              </a:extLst>
            </p:cNvPr>
            <p:cNvSpPr/>
            <p:nvPr/>
          </p:nvSpPr>
          <p:spPr>
            <a:xfrm>
              <a:off x="6697362" y="3892399"/>
              <a:ext cx="570471" cy="105648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&lt;10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73BDE68-6BD1-C544-B5A1-016D93EBFE6E}"/>
                </a:ext>
              </a:extLst>
            </p:cNvPr>
            <p:cNvSpPr/>
            <p:nvPr/>
          </p:nvSpPr>
          <p:spPr>
            <a:xfrm>
              <a:off x="7327556" y="4257351"/>
              <a:ext cx="570471" cy="6915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[10-20]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30B7E0F-8ECE-A942-8EFE-62D5199E1E73}"/>
                </a:ext>
              </a:extLst>
            </p:cNvPr>
            <p:cNvSpPr/>
            <p:nvPr/>
          </p:nvSpPr>
          <p:spPr>
            <a:xfrm>
              <a:off x="7950542" y="3429000"/>
              <a:ext cx="570471" cy="15196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&gt;20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0B9402-C9C8-B047-B8F8-B2641F0E9B1C}"/>
                </a:ext>
              </a:extLst>
            </p:cNvPr>
            <p:cNvCxnSpPr/>
            <p:nvPr/>
          </p:nvCxnSpPr>
          <p:spPr>
            <a:xfrm>
              <a:off x="6647934" y="5053914"/>
              <a:ext cx="1989438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5C70F7-4DE1-3A41-A283-88BED64E054F}"/>
                </a:ext>
              </a:extLst>
            </p:cNvPr>
            <p:cNvSpPr txBox="1"/>
            <p:nvPr/>
          </p:nvSpPr>
          <p:spPr>
            <a:xfrm>
              <a:off x="6577914" y="5115697"/>
              <a:ext cx="19678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Histogram on R</a:t>
              </a:r>
              <a:r>
                <a:rPr lang="en-US" baseline="-25000" dirty="0"/>
                <a:t>i</a:t>
              </a:r>
              <a:r>
                <a:rPr lang="en-US" dirty="0"/>
                <a:t>(</a:t>
              </a:r>
              <a:r>
                <a:rPr lang="en-US" dirty="0" err="1"/>
                <a:t>A</a:t>
              </a:r>
              <a:r>
                <a:rPr lang="en-US" baseline="-25000" dirty="0" err="1"/>
                <a:t>j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896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272526" y="2828835"/>
            <a:ext cx="9044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Example Statistics-based Estimation Techniques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55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Selections with Equality Predicates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5848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Suppose the following information is available: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Size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Number of distinct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values in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Assumptions: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Values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en-US" sz="22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uniformly distributed 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 ∈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f>
                      <m:fPr>
                        <m:type m:val="skw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Selectivity factor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𝑃𝑟𝑜𝑑𝑢𝑐𝑡</m:t>
                        </m:r>
                      </m:e>
                    </m:d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𝑃𝑟𝑜𝑑𝑢𝑐𝑡</m:t>
                        </m:r>
                      </m:e>
                    </m:d>
                    <m:r>
                      <a:rPr lang="en-CA" sz="2000" i="1">
                        <a:latin typeface="Cambria Math" panose="02040503050406030204" pitchFamily="18" charset="0"/>
                      </a:rPr>
                      <m:t>|=50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𝐵𝑜𝑜𝑘𝐴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𝑃𝑟𝑜𝑑𝑢𝑐𝑡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1000/50 = 20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5848332"/>
              </a:xfrm>
              <a:prstGeom prst="rect">
                <a:avLst/>
              </a:prstGeom>
              <a:blipFill>
                <a:blip r:embed="rId3"/>
                <a:stretch>
                  <a:fillRect l="-700" b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28ED1F-13CC-8A48-B93F-BBA9E4892B3F}"/>
              </a:ext>
            </a:extLst>
          </p:cNvPr>
          <p:cNvCxnSpPr>
            <a:cxnSpLocks/>
          </p:cNvCxnSpPr>
          <p:nvPr/>
        </p:nvCxnSpPr>
        <p:spPr>
          <a:xfrm flipV="1">
            <a:off x="5074509" y="3181866"/>
            <a:ext cx="753762" cy="24713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74D7BE-CA1E-334B-90A7-EC72793E7D32}"/>
              </a:ext>
            </a:extLst>
          </p:cNvPr>
          <p:cNvSpPr txBox="1"/>
          <p:nvPr/>
        </p:nvSpPr>
        <p:spPr>
          <a:xfrm>
            <a:off x="5552303" y="2754949"/>
            <a:ext cx="347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wild assumption, often doesn’t hold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EBDE9-4924-794F-BB9A-6BD853D94A80}"/>
              </a:ext>
            </a:extLst>
          </p:cNvPr>
          <p:cNvSpPr txBox="1"/>
          <p:nvPr/>
        </p:nvSpPr>
        <p:spPr>
          <a:xfrm>
            <a:off x="5090984" y="3958298"/>
            <a:ext cx="34722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fair assumption, often holds (b/c users search things they put in the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D67A51-816A-3649-9918-D0A812345642}"/>
              </a:ext>
            </a:extLst>
          </p:cNvPr>
          <p:cNvCxnSpPr>
            <a:cxnSpLocks/>
          </p:cNvCxnSpPr>
          <p:nvPr/>
        </p:nvCxnSpPr>
        <p:spPr>
          <a:xfrm>
            <a:off x="2564027" y="4238367"/>
            <a:ext cx="2687595" cy="17299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50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Conjunctive Predicates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6033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∧ 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Additional assumption:</a:t>
                </a:r>
              </a:p>
              <a:p>
                <a:pPr lvl="1">
                  <a:lnSpc>
                    <a:spcPts val="388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en-US" sz="22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independent</a:t>
                </a:r>
              </a:p>
              <a:p>
                <a:pPr marL="1257300" lvl="2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Counter example: age and salary</a:t>
                </a:r>
              </a:p>
              <a:p>
                <a:pPr marL="342900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f>
                      <m:fPr>
                        <m:type m:val="skw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⋅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Reduce total size by all selectivity factors</a:t>
                </a:r>
              </a:p>
              <a:p>
                <a:pPr marL="800100" lvl="1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Directly derived from standard probability rules:</a:t>
                </a:r>
              </a:p>
              <a:p>
                <a:pPr marL="1257300" lvl="2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= p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(E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= p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E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E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independent:</a:t>
                </a:r>
              </a:p>
              <a:p>
                <a:pPr marL="1714500" lvl="3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∧ E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 = p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* p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0" lvl="3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Ex: </a:t>
                </a:r>
                <a:r>
                  <a:rPr lang="en-US" sz="22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(heads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∧ dice=6) = 1/2 * 1/6 = 1/12</a:t>
                </a:r>
              </a:p>
              <a:p>
                <a:pPr marL="342900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𝑃𝑟𝑜𝑑</m:t>
                        </m:r>
                      </m:e>
                    </m:d>
                    <m:r>
                      <a:rPr lang="en-US" sz="2200" dirty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𝑛𝑎𝑚𝑒</m:t>
                        </m:r>
                      </m:sub>
                    </m:sSub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𝑃𝑟𝑜𝑑</m:t>
                        </m:r>
                      </m:e>
                    </m:d>
                    <m:r>
                      <a:rPr lang="en-CA" sz="2000" i="1">
                        <a:latin typeface="Cambria Math" panose="02040503050406030204" pitchFamily="18" charset="0"/>
                      </a:rPr>
                      <m:t>|=50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𝑚𝑒𝑟𝑐h𝑎𝑛𝑡</m:t>
                        </m:r>
                      </m:sub>
                    </m:sSub>
                    <m:d>
                      <m:d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𝑃𝑟𝑜𝑑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4</a:t>
                </a:r>
              </a:p>
              <a:p>
                <a:pPr marL="800100" lvl="1" indent="-342900">
                  <a:lnSpc>
                    <a:spcPts val="388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𝐵𝑜𝑜𝑘𝐴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∧ 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𝑚𝑎𝑟𝑐h𝑎𝑛𝑡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𝑃𝑟𝑜𝑑𝑢𝑐𝑡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1000/(50*4) = 5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6033126"/>
              </a:xfrm>
              <a:prstGeom prst="rect">
                <a:avLst/>
              </a:prstGeom>
              <a:blipFill>
                <a:blip r:embed="rId3"/>
                <a:stretch>
                  <a:fillRect l="-700" b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8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Negated and Disjunctive Predicates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4945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≠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1−</m:t>
                        </m:r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Selectivity factor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¬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(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selectivity factor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∨ 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No! Tuples satisfying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counted twice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only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latin typeface="Cambria Math"/>
                          </a:rPr>
                          <m:t> ∨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(b/c then A=u and A=v are disjoint)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Inclusion-exclusion principle from probability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4945136"/>
              </a:xfrm>
              <a:prstGeom prst="rect">
                <a:avLst/>
              </a:prstGeom>
              <a:blipFill>
                <a:blip r:embed="rId3"/>
                <a:stretch>
                  <a:fillRect l="-700" b="-10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8795B1E-9C2A-034E-B729-3D6CE5C34BB0}"/>
              </a:ext>
            </a:extLst>
          </p:cNvPr>
          <p:cNvGrpSpPr/>
          <p:nvPr/>
        </p:nvGrpSpPr>
        <p:grpSpPr>
          <a:xfrm>
            <a:off x="2590801" y="5630047"/>
            <a:ext cx="4254844" cy="1163651"/>
            <a:chOff x="1919416" y="5173463"/>
            <a:chExt cx="4254844" cy="162023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375A46-1603-D544-8015-4A6C8D5BD9BE}"/>
                </a:ext>
              </a:extLst>
            </p:cNvPr>
            <p:cNvSpPr/>
            <p:nvPr/>
          </p:nvSpPr>
          <p:spPr>
            <a:xfrm>
              <a:off x="3472249" y="5408864"/>
              <a:ext cx="2677297" cy="138483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4BF4DE7-B20D-A040-9C59-55DE3C78973F}"/>
                </a:ext>
              </a:extLst>
            </p:cNvPr>
            <p:cNvSpPr/>
            <p:nvPr/>
          </p:nvSpPr>
          <p:spPr>
            <a:xfrm>
              <a:off x="1919416" y="5408864"/>
              <a:ext cx="2677297" cy="1384836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86AFB1-4EBB-334B-8146-D396072A8AE7}"/>
                </a:ext>
              </a:extLst>
            </p:cNvPr>
            <p:cNvSpPr txBox="1"/>
            <p:nvPr/>
          </p:nvSpPr>
          <p:spPr>
            <a:xfrm>
              <a:off x="1919416" y="5212587"/>
              <a:ext cx="679622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A=u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FD2F9-2FC8-474D-868F-0AE09280BBA7}"/>
                </a:ext>
              </a:extLst>
            </p:cNvPr>
            <p:cNvSpPr txBox="1"/>
            <p:nvPr/>
          </p:nvSpPr>
          <p:spPr>
            <a:xfrm>
              <a:off x="3611554" y="5760907"/>
              <a:ext cx="9267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A=u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∧</a:t>
              </a:r>
              <a:r>
                <a:rPr lang="en-US" dirty="0"/>
                <a:t> B=v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56FC99-73CB-194A-BBA8-6F5792B662CC}"/>
                </a:ext>
              </a:extLst>
            </p:cNvPr>
            <p:cNvSpPr txBox="1"/>
            <p:nvPr/>
          </p:nvSpPr>
          <p:spPr>
            <a:xfrm>
              <a:off x="5247501" y="5173463"/>
              <a:ext cx="926759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B=v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26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Range Predicates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323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200" i="1"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sz="22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Case 1: Suppose the DBMS knew actual projection values: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</a:rPr>
                  <a:t>Then range queries are a generalization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latin typeface="Cambria Math"/>
                          </a:rPr>
                          <m:t> ∨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i="1">
                            <a:latin typeface="Cambria Math"/>
                          </a:rPr>
                          <m:t>=</m:t>
                        </m:r>
                        <m:r>
                          <a:rPr lang="en-US" sz="2200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sz="2200" i="1">
                        <a:latin typeface="Cambria Math"/>
                      </a:rPr>
                      <m:t>𝑅</m:t>
                    </m:r>
                    <m:r>
                      <a:rPr lang="en-US" sz="2200" i="1">
                        <a:latin typeface="Cambria Math"/>
                      </a:rPr>
                      <m:t> </m:t>
                    </m:r>
                  </m:oMath>
                </a14:m>
                <a:endParaRPr lang="en-US" sz="2200" b="0" dirty="0">
                  <a:latin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200" i="1">
                            <a:latin typeface="Cambria Math"/>
                          </a:rPr>
                          <m:t>𝑢</m:t>
                        </m:r>
                        <m:r>
                          <a:rPr lang="en-US" sz="2200" i="1">
                            <a:latin typeface="Cambria Math"/>
                          </a:rPr>
                          <m:t> </m:t>
                        </m:r>
                      </m:sub>
                    </m:sSub>
                    <m:r>
                      <a:rPr lang="en-US" sz="2200" i="1" smtClean="0">
                        <a:latin typeface="Cambria Math"/>
                      </a:rPr>
                      <m:t>𝑅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|#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𝑣𝑎𝑙𝑠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</m:den>
                        </m:f>
                        <m:r>
                          <a:rPr lang="en-US" sz="2200" i="1" dirty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m:rPr>
                        <m:nor/>
                      </m:rPr>
                      <a: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?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200" dirty="0"/>
                  <a:t>A was an int column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  <m:r>
                          <a:rPr lang="en-US" sz="2200" i="1" dirty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1, 2, 3, 4, 5</m:t>
                        </m:r>
                      </m:e>
                    </m:d>
                  </m:oMath>
                </a14:m>
                <a:endParaRPr lang="en-US" sz="2200" dirty="0">
                  <a:latin typeface="Arial" panose="020B0604020202020204" pitchFamily="34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𝐴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/>
                      </a:rPr>
                      <m:t>𝑅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∗3/5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3230564"/>
              </a:xfrm>
              <a:prstGeom prst="rect">
                <a:avLst/>
              </a:prstGeom>
              <a:blipFill>
                <a:blip r:embed="rId3"/>
                <a:stretch>
                  <a:fillRect l="-700" b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95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Case 2 of Range Predicates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542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Case 2: We don’t know actual values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Not enough information!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Just pick a </a:t>
                </a:r>
                <a:r>
                  <a:rPr lang="en-US" sz="22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magic constant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e.g.,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f>
                      <m:fPr>
                        <m:type m:val="skw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more information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Largest </a:t>
                </a: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>
                        <a:solidFill>
                          <a:schemeClr val="tx1"/>
                        </a:solidFill>
                        <a:latin typeface="Cambria Math"/>
                      </a:rPr>
                      <m:t>high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Smallest </a:t>
                </a: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value: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low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⋅</m:t>
                    </m:r>
                    <m:f>
                      <m:f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high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high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low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d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practice: sometimes the second highest and lowest are used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highest and the lowest are often used by inexperienced database designer to represent invalid values!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5421421"/>
              </a:xfrm>
              <a:prstGeom prst="rect">
                <a:avLst/>
              </a:prstGeom>
              <a:blipFill>
                <a:blip r:embed="rId3"/>
                <a:stretch>
                  <a:fillRect l="-700" b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7E15B5-59E4-4B40-9102-813892079B9F}"/>
              </a:ext>
            </a:extLst>
          </p:cNvPr>
          <p:cNvGraphicFramePr>
            <a:graphicFrameLocks noGrp="1"/>
          </p:cNvGraphicFramePr>
          <p:nvPr/>
        </p:nvGraphicFramePr>
        <p:xfrm>
          <a:off x="5516217" y="3243580"/>
          <a:ext cx="3190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0">
                  <a:extLst>
                    <a:ext uri="{9D8B030D-6E8A-4147-A177-3AD203B41FA5}">
                      <a16:colId xmlns:a16="http://schemas.microsoft.com/office/drawing/2014/main" val="2124441230"/>
                    </a:ext>
                  </a:extLst>
                </a:gridCol>
                <a:gridCol w="638040">
                  <a:extLst>
                    <a:ext uri="{9D8B030D-6E8A-4147-A177-3AD203B41FA5}">
                      <a16:colId xmlns:a16="http://schemas.microsoft.com/office/drawing/2014/main" val="1759801609"/>
                    </a:ext>
                  </a:extLst>
                </a:gridCol>
                <a:gridCol w="638040">
                  <a:extLst>
                    <a:ext uri="{9D8B030D-6E8A-4147-A177-3AD203B41FA5}">
                      <a16:colId xmlns:a16="http://schemas.microsoft.com/office/drawing/2014/main" val="1882032260"/>
                    </a:ext>
                  </a:extLst>
                </a:gridCol>
                <a:gridCol w="638040">
                  <a:extLst>
                    <a:ext uri="{9D8B030D-6E8A-4147-A177-3AD203B41FA5}">
                      <a16:colId xmlns:a16="http://schemas.microsoft.com/office/drawing/2014/main" val="3355836864"/>
                    </a:ext>
                  </a:extLst>
                </a:gridCol>
                <a:gridCol w="638040">
                  <a:extLst>
                    <a:ext uri="{9D8B030D-6E8A-4147-A177-3AD203B41FA5}">
                      <a16:colId xmlns:a16="http://schemas.microsoft.com/office/drawing/2014/main" val="351372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58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CFC90-37EB-7B43-8B6C-46DD1A56CB17}"/>
                  </a:ext>
                </a:extLst>
              </p:cNvPr>
              <p:cNvSpPr txBox="1"/>
              <p:nvPr/>
            </p:nvSpPr>
            <p:spPr>
              <a:xfrm>
                <a:off x="6756567" y="3894493"/>
                <a:ext cx="19780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h𝑖𝑔h</m:t>
                      </m:r>
                      <m:d>
                        <m:d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CFC90-37EB-7B43-8B6C-46DD1A56C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567" y="3894493"/>
                <a:ext cx="197801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ket 7">
            <a:extLst>
              <a:ext uri="{FF2B5EF4-FFF2-40B4-BE49-F238E27FC236}">
                <a16:creationId xmlns:a16="http://schemas.microsoft.com/office/drawing/2014/main" id="{34F0B772-6B27-8142-81A3-5431BAC0B05A}"/>
              </a:ext>
            </a:extLst>
          </p:cNvPr>
          <p:cNvSpPr/>
          <p:nvPr/>
        </p:nvSpPr>
        <p:spPr>
          <a:xfrm rot="16200000">
            <a:off x="7661092" y="2843533"/>
            <a:ext cx="168968" cy="1730616"/>
          </a:xfrm>
          <a:prstGeom prst="leftBracket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8197AB8F-8904-0A40-BB84-72EDD545A5E4}"/>
              </a:ext>
            </a:extLst>
          </p:cNvPr>
          <p:cNvSpPr/>
          <p:nvPr/>
        </p:nvSpPr>
        <p:spPr>
          <a:xfrm rot="5400000">
            <a:off x="6981991" y="1511816"/>
            <a:ext cx="191284" cy="3094667"/>
          </a:xfrm>
          <a:prstGeom prst="leftBracket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38919-978C-E54B-8B0B-94DA318E12B3}"/>
                  </a:ext>
                </a:extLst>
              </p:cNvPr>
              <p:cNvSpPr txBox="1"/>
              <p:nvPr/>
            </p:nvSpPr>
            <p:spPr>
              <a:xfrm>
                <a:off x="5751504" y="2536909"/>
                <a:ext cx="27196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h𝑖𝑔h</m:t>
                      </m:r>
                      <m:d>
                        <m:d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𝑙𝑜𝑤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038919-978C-E54B-8B0B-94DA318E1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504" y="2536909"/>
                <a:ext cx="271962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25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Equi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-Join of Two Relations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5001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⋈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Assumption: containment of value sets: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 tuple in the “smaller” relation (one with fewer distinct values for the join attribute) joins with a tuple in the other relation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 is,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</m:s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Certainly not true in general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holds in the common case of foreign key joins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f>
                      <m:f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⋅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Selectivity factor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5001626"/>
              </a:xfrm>
              <a:prstGeom prst="rect">
                <a:avLst/>
              </a:prstGeom>
              <a:blipFill>
                <a:blip r:embed="rId3"/>
                <a:stretch>
                  <a:fillRect l="-700" b="-20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5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Equi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-Join of Two Relations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6CD102-0D8D-CC4B-82A3-9BB4B02F3E83}"/>
              </a:ext>
            </a:extLst>
          </p:cNvPr>
          <p:cNvSpPr txBox="1"/>
          <p:nvPr/>
        </p:nvSpPr>
        <p:spPr>
          <a:xfrm>
            <a:off x="83451" y="773927"/>
            <a:ext cx="9060549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6769CAE-31EC-5E40-AFF5-3E0D8C173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583306"/>
              </p:ext>
            </p:extLst>
          </p:nvPr>
        </p:nvGraphicFramePr>
        <p:xfrm>
          <a:off x="2092411" y="1612593"/>
          <a:ext cx="150340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702">
                  <a:extLst>
                    <a:ext uri="{9D8B030D-6E8A-4147-A177-3AD203B41FA5}">
                      <a16:colId xmlns:a16="http://schemas.microsoft.com/office/drawing/2014/main" val="718383995"/>
                    </a:ext>
                  </a:extLst>
                </a:gridCol>
                <a:gridCol w="751702">
                  <a:extLst>
                    <a:ext uri="{9D8B030D-6E8A-4147-A177-3AD203B41FA5}">
                      <a16:colId xmlns:a16="http://schemas.microsoft.com/office/drawing/2014/main" val="2872811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72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62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77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090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US" baseline="-25000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470112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DF26CC10-AEBB-E548-8D00-8975357AB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9706"/>
              </p:ext>
            </p:extLst>
          </p:nvPr>
        </p:nvGraphicFramePr>
        <p:xfrm>
          <a:off x="4885039" y="1612593"/>
          <a:ext cx="150340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702">
                  <a:extLst>
                    <a:ext uri="{9D8B030D-6E8A-4147-A177-3AD203B41FA5}">
                      <a16:colId xmlns:a16="http://schemas.microsoft.com/office/drawing/2014/main" val="718383995"/>
                    </a:ext>
                  </a:extLst>
                </a:gridCol>
                <a:gridCol w="751702">
                  <a:extLst>
                    <a:ext uri="{9D8B030D-6E8A-4147-A177-3AD203B41FA5}">
                      <a16:colId xmlns:a16="http://schemas.microsoft.com/office/drawing/2014/main" val="2872811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72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62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77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11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8202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E76B09-A0AB-E14D-B6C2-89706F94E2CA}"/>
              </a:ext>
            </a:extLst>
          </p:cNvPr>
          <p:cNvSpPr txBox="1"/>
          <p:nvPr/>
        </p:nvSpPr>
        <p:spPr>
          <a:xfrm>
            <a:off x="2479588" y="1181706"/>
            <a:ext cx="729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263FED-D403-D244-8A17-9C1C4C8ACE5D}"/>
              </a:ext>
            </a:extLst>
          </p:cNvPr>
          <p:cNvSpPr txBox="1"/>
          <p:nvPr/>
        </p:nvSpPr>
        <p:spPr>
          <a:xfrm>
            <a:off x="5262903" y="1238370"/>
            <a:ext cx="729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629691-B8BA-714B-9AC9-A37FB2767BEB}"/>
                  </a:ext>
                </a:extLst>
              </p:cNvPr>
              <p:cNvSpPr/>
              <p:nvPr/>
            </p:nvSpPr>
            <p:spPr>
              <a:xfrm>
                <a:off x="2363494" y="3649168"/>
                <a:ext cx="13100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𝑅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dirty="0"/>
                        <m:t>a</m:t>
                      </m:r>
                      <m:r>
                        <m:rPr>
                          <m:nor/>
                        </m:rPr>
                        <a:rPr lang="en-US" baseline="-25000" dirty="0"/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629691-B8BA-714B-9AC9-A37FB2767B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494" y="3649168"/>
                <a:ext cx="131003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3329E8F-5096-204B-9F38-661DE92615CA}"/>
                  </a:ext>
                </a:extLst>
              </p:cNvPr>
              <p:cNvSpPr/>
              <p:nvPr/>
            </p:nvSpPr>
            <p:spPr>
              <a:xfrm>
                <a:off x="5069886" y="3583402"/>
                <a:ext cx="15578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dirty="0"/>
                        <m:t>a</m:t>
                      </m:r>
                      <m:r>
                        <m:rPr>
                          <m:nor/>
                        </m:rPr>
                        <a:rPr lang="en-US" baseline="-25000" dirty="0"/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/>
                        <m:t>a</m:t>
                      </m:r>
                      <m:r>
                        <m:rPr>
                          <m:nor/>
                        </m:rPr>
                        <a:rPr lang="en-US" b="0" i="0" baseline="-25000" dirty="0" smtClean="0"/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3329E8F-5096-204B-9F38-661DE9261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86" y="3583402"/>
                <a:ext cx="155786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6C0E41-5A3C-5440-ABCD-F22E2F847262}"/>
                  </a:ext>
                </a:extLst>
              </p:cNvPr>
              <p:cNvSpPr txBox="1"/>
              <p:nvPr/>
            </p:nvSpPr>
            <p:spPr>
              <a:xfrm>
                <a:off x="41725" y="3950443"/>
                <a:ext cx="9060549" cy="2367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≈</m:t>
                    </m:r>
                    <m:f>
                      <m:f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⋅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22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sz="220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𝑆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  <m:r>
                      <a:rPr lang="en-US" sz="2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4x4/2 = 8 (correct)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had picked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dirty="0">
                            <a:latin typeface="Cambria Math"/>
                          </a:rPr>
                          <m:t>m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fName>
                      <m:e>
                        <m:d>
                          <m:d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latin typeface="Cambria Math"/>
                                  </a:rPr>
                                  <m:t>𝑅</m:t>
                                </m:r>
                              </m:e>
                            </m:d>
                            <m:r>
                              <a:rPr lang="en-US" sz="2200" i="1" dirty="0">
                                <a:latin typeface="Cambria Math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dirty="0">
                                        <a:latin typeface="Cambria Math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2200" i="1" dirty="0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200" i="1" dirty="0">
                                    <a:latin typeface="Cambria Math"/>
                                  </a:rPr>
                                  <m:t>𝑆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we’d over-estimate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Intuitively a fraction of tuples from the large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r-domain table will join with each tuple from smaller-domain table (not vice versa)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6C0E41-5A3C-5440-ABCD-F22E2F847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5" y="3950443"/>
                <a:ext cx="9060549" cy="2367443"/>
              </a:xfrm>
              <a:prstGeom prst="rect">
                <a:avLst/>
              </a:prstGeom>
              <a:blipFill>
                <a:blip r:embed="rId5"/>
                <a:stretch>
                  <a:fillRect l="-700" b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23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Other Estimations Techniques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6CD102-0D8D-CC4B-82A3-9BB4B02F3E83}"/>
              </a:ext>
            </a:extLst>
          </p:cNvPr>
          <p:cNvSpPr txBox="1"/>
          <p:nvPr/>
        </p:nvSpPr>
        <p:spPr>
          <a:xfrm>
            <a:off x="83451" y="773927"/>
            <a:ext cx="9060549" cy="404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Using similar ideas, we can estimate the size of projection, duplicate elimination, union, difference, aggregation (with grouping)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Lots of assumptions and very rough estimation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Accurate estimate is not needed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Maybe okay if we overestimate or underestimate consistently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practice: Very very difficult but very important for the optimizer.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B/c: ultimate goal is to help estimate costs of operators &amp; plans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we badly underestimate an expression =&gt; may lead to bad plans</a:t>
            </a:r>
          </a:p>
        </p:txBody>
      </p:sp>
    </p:spTree>
    <p:extLst>
      <p:ext uri="{BB962C8B-B14F-4D97-AF65-F5344CB8AC3E}">
        <p14:creationId xmlns:p14="http://schemas.microsoft.com/office/powerpoint/2010/main" val="360349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Poor Optimizer Choice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198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cost(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): # input tuples processed.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begChr m:val="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1M but DBMS underestimates as 1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|R2| = 1M and |R3| = 1K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output of join has the size of the minimum input relation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6CD102-0D8D-CC4B-82A3-9BB4B02F3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1983941"/>
              </a:xfrm>
              <a:prstGeom prst="rect">
                <a:avLst/>
              </a:prstGeom>
              <a:blipFill>
                <a:blip r:embed="rId3"/>
                <a:stretch>
                  <a:fillRect l="-700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6B26ED2-2317-3B4E-ACB7-629245787618}"/>
              </a:ext>
            </a:extLst>
          </p:cNvPr>
          <p:cNvGrpSpPr/>
          <p:nvPr/>
        </p:nvGrpSpPr>
        <p:grpSpPr>
          <a:xfrm>
            <a:off x="1145178" y="3769025"/>
            <a:ext cx="3414168" cy="2467876"/>
            <a:chOff x="1145178" y="3888473"/>
            <a:chExt cx="3414168" cy="246787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DC91E08-A251-DE42-B98C-F68908150D92}"/>
                </a:ext>
              </a:extLst>
            </p:cNvPr>
            <p:cNvSpPr/>
            <p:nvPr/>
          </p:nvSpPr>
          <p:spPr>
            <a:xfrm>
              <a:off x="1723588" y="4715392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35D3D78-5BF5-CE4A-A5F4-9762841A55E9}"/>
                </a:ext>
              </a:extLst>
            </p:cNvPr>
            <p:cNvSpPr/>
            <p:nvPr/>
          </p:nvSpPr>
          <p:spPr>
            <a:xfrm>
              <a:off x="1145178" y="5817783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A295960-696A-0243-B963-B56D24075FE2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1631263" y="5253958"/>
              <a:ext cx="758622" cy="5638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EBFD279-4236-9941-8D52-D6A87D5A1B85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>
              <a:off x="2389885" y="5253958"/>
              <a:ext cx="469055" cy="5518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71B3F2-D926-0847-996C-A598C0892E37}"/>
                </a:ext>
              </a:extLst>
            </p:cNvPr>
            <p:cNvCxnSpPr>
              <a:cxnSpLocks/>
              <a:stCxn id="13" idx="2"/>
              <a:endCxn id="7" idx="0"/>
            </p:cNvCxnSpPr>
            <p:nvPr/>
          </p:nvCxnSpPr>
          <p:spPr>
            <a:xfrm flipH="1">
              <a:off x="2389885" y="4427039"/>
              <a:ext cx="802849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28805E-43B3-F54A-9643-C934162F9801}"/>
                </a:ext>
              </a:extLst>
            </p:cNvPr>
            <p:cNvSpPr/>
            <p:nvPr/>
          </p:nvSpPr>
          <p:spPr>
            <a:xfrm>
              <a:off x="2372855" y="5805760"/>
              <a:ext cx="972170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FAFCE825-C6BA-3E4D-B720-413D70958A17}"/>
                </a:ext>
              </a:extLst>
            </p:cNvPr>
            <p:cNvSpPr/>
            <p:nvPr/>
          </p:nvSpPr>
          <p:spPr>
            <a:xfrm>
              <a:off x="2526394" y="3888473"/>
              <a:ext cx="1332679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DF2176E-E4F4-9740-9A57-AD5B1E9A970F}"/>
                </a:ext>
              </a:extLst>
            </p:cNvPr>
            <p:cNvSpPr/>
            <p:nvPr/>
          </p:nvSpPr>
          <p:spPr>
            <a:xfrm>
              <a:off x="3226753" y="4715392"/>
              <a:ext cx="1332593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357806-FC04-A743-AB06-859590385B6E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3192734" y="4427039"/>
              <a:ext cx="70031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177CAE-1F02-9444-A25B-B31890383694}"/>
              </a:ext>
            </a:extLst>
          </p:cNvPr>
          <p:cNvGrpSpPr/>
          <p:nvPr/>
        </p:nvGrpSpPr>
        <p:grpSpPr>
          <a:xfrm>
            <a:off x="4967613" y="3769025"/>
            <a:ext cx="3414168" cy="2467876"/>
            <a:chOff x="4967613" y="3769025"/>
            <a:chExt cx="3414168" cy="2467876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3E79933-FD69-C843-A6B9-B7A5DCE5F6AF}"/>
                </a:ext>
              </a:extLst>
            </p:cNvPr>
            <p:cNvSpPr/>
            <p:nvPr/>
          </p:nvSpPr>
          <p:spPr>
            <a:xfrm>
              <a:off x="5546023" y="4595944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DF5412A-B681-CF43-AF2D-0C2C4683BBAE}"/>
                </a:ext>
              </a:extLst>
            </p:cNvPr>
            <p:cNvSpPr/>
            <p:nvPr/>
          </p:nvSpPr>
          <p:spPr>
            <a:xfrm>
              <a:off x="4967613" y="5698335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58A5DAB-AA20-CE42-ABA2-7218E68845B1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flipH="1">
              <a:off x="5453698" y="5134510"/>
              <a:ext cx="758622" cy="5638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95ED537-EE4B-0743-86B5-0D3E4BC587EA}"/>
                </a:ext>
              </a:extLst>
            </p:cNvPr>
            <p:cNvCxnSpPr>
              <a:cxnSpLocks/>
              <a:stCxn id="28" idx="2"/>
              <a:endCxn id="33" idx="0"/>
            </p:cNvCxnSpPr>
            <p:nvPr/>
          </p:nvCxnSpPr>
          <p:spPr>
            <a:xfrm>
              <a:off x="6212320" y="5134510"/>
              <a:ext cx="469055" cy="5518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EE36291-5FB8-F140-9A21-8E4E7079B2C1}"/>
                </a:ext>
              </a:extLst>
            </p:cNvPr>
            <p:cNvCxnSpPr>
              <a:cxnSpLocks/>
              <a:stCxn id="34" idx="2"/>
              <a:endCxn id="28" idx="0"/>
            </p:cNvCxnSpPr>
            <p:nvPr/>
          </p:nvCxnSpPr>
          <p:spPr>
            <a:xfrm flipH="1">
              <a:off x="6212320" y="4307591"/>
              <a:ext cx="802849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3E1708B8-D3D1-F947-AF8F-78F863E36DE1}"/>
                </a:ext>
              </a:extLst>
            </p:cNvPr>
            <p:cNvSpPr/>
            <p:nvPr/>
          </p:nvSpPr>
          <p:spPr>
            <a:xfrm>
              <a:off x="6195290" y="5686312"/>
              <a:ext cx="972170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0AB2CA2E-A0D4-EC49-B388-E788CE214345}"/>
                </a:ext>
              </a:extLst>
            </p:cNvPr>
            <p:cNvSpPr/>
            <p:nvPr/>
          </p:nvSpPr>
          <p:spPr>
            <a:xfrm>
              <a:off x="6348829" y="3769025"/>
              <a:ext cx="1332679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9D02071-A987-4A4A-96F3-1D670771F9FD}"/>
                </a:ext>
              </a:extLst>
            </p:cNvPr>
            <p:cNvSpPr/>
            <p:nvPr/>
          </p:nvSpPr>
          <p:spPr>
            <a:xfrm>
              <a:off x="7049188" y="4595944"/>
              <a:ext cx="1332593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2048D7-5DA7-224F-A2DC-ACDF8A6F9CD5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>
              <a:off x="7015169" y="4307591"/>
              <a:ext cx="70031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538F57E-64C6-9C42-A6F1-97052009B646}"/>
              </a:ext>
            </a:extLst>
          </p:cNvPr>
          <p:cNvSpPr txBox="1"/>
          <p:nvPr/>
        </p:nvSpPr>
        <p:spPr>
          <a:xfrm>
            <a:off x="1344886" y="6363686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F90D0A-FA9A-164B-B6C2-7729B02E171F}"/>
              </a:ext>
            </a:extLst>
          </p:cNvPr>
          <p:cNvSpPr txBox="1"/>
          <p:nvPr/>
        </p:nvSpPr>
        <p:spPr>
          <a:xfrm>
            <a:off x="2618719" y="6366663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8B4389-CAE0-1C4D-A9E3-768F29FD2718}"/>
              </a:ext>
            </a:extLst>
          </p:cNvPr>
          <p:cNvSpPr txBox="1"/>
          <p:nvPr/>
        </p:nvSpPr>
        <p:spPr>
          <a:xfrm>
            <a:off x="2212899" y="4248774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BD280C-3207-E148-AA5F-D28C827D5C03}"/>
              </a:ext>
            </a:extLst>
          </p:cNvPr>
          <p:cNvSpPr txBox="1"/>
          <p:nvPr/>
        </p:nvSpPr>
        <p:spPr>
          <a:xfrm>
            <a:off x="3619463" y="5084939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3F1C57-49CB-5D4B-90FA-ADDA1922E214}"/>
              </a:ext>
            </a:extLst>
          </p:cNvPr>
          <p:cNvSpPr txBox="1"/>
          <p:nvPr/>
        </p:nvSpPr>
        <p:spPr>
          <a:xfrm>
            <a:off x="3008447" y="3405958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40798D-CB15-4545-A39A-78DC56A179D9}"/>
              </a:ext>
            </a:extLst>
          </p:cNvPr>
          <p:cNvSpPr txBox="1"/>
          <p:nvPr/>
        </p:nvSpPr>
        <p:spPr>
          <a:xfrm>
            <a:off x="5162354" y="6217133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9D2286-73A5-9B43-859E-1C8963C70AD2}"/>
              </a:ext>
            </a:extLst>
          </p:cNvPr>
          <p:cNvSpPr txBox="1"/>
          <p:nvPr/>
        </p:nvSpPr>
        <p:spPr>
          <a:xfrm>
            <a:off x="6429362" y="6182936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025564-A2EF-0241-A2ED-D60DDE75CE5F}"/>
              </a:ext>
            </a:extLst>
          </p:cNvPr>
          <p:cNvSpPr txBox="1"/>
          <p:nvPr/>
        </p:nvSpPr>
        <p:spPr>
          <a:xfrm>
            <a:off x="5938802" y="4296142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331A19-679A-1D43-88AD-DFB466D0FC55}"/>
              </a:ext>
            </a:extLst>
          </p:cNvPr>
          <p:cNvSpPr txBox="1"/>
          <p:nvPr/>
        </p:nvSpPr>
        <p:spPr>
          <a:xfrm>
            <a:off x="6786917" y="3409577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1F1424-E576-AF4E-9C5C-5538579E2879}"/>
              </a:ext>
            </a:extLst>
          </p:cNvPr>
          <p:cNvSpPr txBox="1"/>
          <p:nvPr/>
        </p:nvSpPr>
        <p:spPr>
          <a:xfrm>
            <a:off x="7512737" y="5130185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DEA5F8-46AE-DE45-B11F-C2C6FAB32D76}"/>
              </a:ext>
            </a:extLst>
          </p:cNvPr>
          <p:cNvSpPr txBox="1"/>
          <p:nvPr/>
        </p:nvSpPr>
        <p:spPr>
          <a:xfrm>
            <a:off x="1723588" y="2803465"/>
            <a:ext cx="2848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Estimated Cost: 2</a:t>
            </a:r>
          </a:p>
          <a:p>
            <a:r>
              <a:rPr lang="en-US" dirty="0"/>
              <a:t>(ignoring in relations)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44E861-473D-CF4A-80F7-5E8A8768D0E8}"/>
              </a:ext>
            </a:extLst>
          </p:cNvPr>
          <p:cNvSpPr txBox="1"/>
          <p:nvPr/>
        </p:nvSpPr>
        <p:spPr>
          <a:xfrm>
            <a:off x="5938802" y="2803465"/>
            <a:ext cx="228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Estimated Cost: 1001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645C1B-944D-B746-9D3B-27366354E779}"/>
              </a:ext>
            </a:extLst>
          </p:cNvPr>
          <p:cNvSpPr txBox="1"/>
          <p:nvPr/>
        </p:nvSpPr>
        <p:spPr>
          <a:xfrm>
            <a:off x="1428515" y="3505789"/>
            <a:ext cx="780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62702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9" grpId="0"/>
      <p:bldP spid="40" grpId="0"/>
      <p:bldP spid="41" grpId="0"/>
      <p:bldP spid="42" grpId="0"/>
      <p:bldP spid="43" grpId="0"/>
      <p:bldP spid="44" grpId="0"/>
      <p:bldP spid="46" grpId="0"/>
      <p:bldP spid="47" grpId="0"/>
      <p:bldP spid="48" grpId="0"/>
      <p:bldP spid="26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Poor Optimizer Choice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C91E08-A251-DE42-B98C-F68908150D92}"/>
              </a:ext>
            </a:extLst>
          </p:cNvPr>
          <p:cNvSpPr/>
          <p:nvPr/>
        </p:nvSpPr>
        <p:spPr>
          <a:xfrm>
            <a:off x="1723588" y="4715392"/>
            <a:ext cx="1332593" cy="5385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5D3D78-5BF5-CE4A-A5F4-9762841A55E9}"/>
              </a:ext>
            </a:extLst>
          </p:cNvPr>
          <p:cNvSpPr/>
          <p:nvPr/>
        </p:nvSpPr>
        <p:spPr>
          <a:xfrm>
            <a:off x="1145178" y="5817783"/>
            <a:ext cx="972170" cy="5385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295960-696A-0243-B963-B56D24075FE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1631263" y="5253958"/>
            <a:ext cx="758622" cy="5638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BFD279-4236-9941-8D52-D6A87D5A1B85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2389885" y="5253958"/>
            <a:ext cx="469055" cy="55180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71B3F2-D926-0847-996C-A598C0892E37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2389885" y="4427039"/>
            <a:ext cx="802849" cy="28835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28805E-43B3-F54A-9643-C934162F9801}"/>
              </a:ext>
            </a:extLst>
          </p:cNvPr>
          <p:cNvSpPr/>
          <p:nvPr/>
        </p:nvSpPr>
        <p:spPr>
          <a:xfrm>
            <a:off x="2372855" y="5805760"/>
            <a:ext cx="972170" cy="5340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AFCE825-C6BA-3E4D-B720-413D70958A17}"/>
              </a:ext>
            </a:extLst>
          </p:cNvPr>
          <p:cNvSpPr/>
          <p:nvPr/>
        </p:nvSpPr>
        <p:spPr>
          <a:xfrm>
            <a:off x="2526394" y="3888473"/>
            <a:ext cx="1332679" cy="53856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DF2176E-E4F4-9740-9A57-AD5B1E9A970F}"/>
              </a:ext>
            </a:extLst>
          </p:cNvPr>
          <p:cNvSpPr/>
          <p:nvPr/>
        </p:nvSpPr>
        <p:spPr>
          <a:xfrm>
            <a:off x="3226753" y="4715392"/>
            <a:ext cx="1332593" cy="5385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357806-FC04-A743-AB06-859590385B6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3192734" y="4427039"/>
            <a:ext cx="700316" cy="28835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38F57E-64C6-9C42-A6F1-97052009B646}"/>
              </a:ext>
            </a:extLst>
          </p:cNvPr>
          <p:cNvSpPr txBox="1"/>
          <p:nvPr/>
        </p:nvSpPr>
        <p:spPr>
          <a:xfrm>
            <a:off x="1183696" y="6363686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F90D0A-FA9A-164B-B6C2-7729B02E171F}"/>
              </a:ext>
            </a:extLst>
          </p:cNvPr>
          <p:cNvSpPr txBox="1"/>
          <p:nvPr/>
        </p:nvSpPr>
        <p:spPr>
          <a:xfrm>
            <a:off x="2618719" y="6366663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8B4389-CAE0-1C4D-A9E3-768F29FD2718}"/>
              </a:ext>
            </a:extLst>
          </p:cNvPr>
          <p:cNvSpPr txBox="1"/>
          <p:nvPr/>
        </p:nvSpPr>
        <p:spPr>
          <a:xfrm>
            <a:off x="2100636" y="4326700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BD280C-3207-E148-AA5F-D28C827D5C03}"/>
              </a:ext>
            </a:extLst>
          </p:cNvPr>
          <p:cNvSpPr txBox="1"/>
          <p:nvPr/>
        </p:nvSpPr>
        <p:spPr>
          <a:xfrm>
            <a:off x="3741963" y="5241562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3F1C57-49CB-5D4B-90FA-ADDA1922E214}"/>
              </a:ext>
            </a:extLst>
          </p:cNvPr>
          <p:cNvSpPr txBox="1"/>
          <p:nvPr/>
        </p:nvSpPr>
        <p:spPr>
          <a:xfrm>
            <a:off x="3016908" y="3531537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025564-A2EF-0241-A2ED-D60DDE75CE5F}"/>
              </a:ext>
            </a:extLst>
          </p:cNvPr>
          <p:cNvSpPr txBox="1"/>
          <p:nvPr/>
        </p:nvSpPr>
        <p:spPr>
          <a:xfrm>
            <a:off x="5785828" y="4199083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331A19-679A-1D43-88AD-DFB466D0FC55}"/>
              </a:ext>
            </a:extLst>
          </p:cNvPr>
          <p:cNvSpPr txBox="1"/>
          <p:nvPr/>
        </p:nvSpPr>
        <p:spPr>
          <a:xfrm>
            <a:off x="6817830" y="3431686"/>
            <a:ext cx="5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CBD285-8C7C-734E-9DEF-52A5DF9CFE59}"/>
              </a:ext>
            </a:extLst>
          </p:cNvPr>
          <p:cNvGrpSpPr/>
          <p:nvPr/>
        </p:nvGrpSpPr>
        <p:grpSpPr>
          <a:xfrm>
            <a:off x="4967613" y="3769025"/>
            <a:ext cx="3414168" cy="2817440"/>
            <a:chOff x="4967613" y="3769025"/>
            <a:chExt cx="3414168" cy="28174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51AF848-902A-A540-8482-F4DC240D4AB5}"/>
                </a:ext>
              </a:extLst>
            </p:cNvPr>
            <p:cNvGrpSpPr/>
            <p:nvPr/>
          </p:nvGrpSpPr>
          <p:grpSpPr>
            <a:xfrm>
              <a:off x="4967613" y="3769025"/>
              <a:ext cx="3414168" cy="2817440"/>
              <a:chOff x="4967613" y="3769025"/>
              <a:chExt cx="3414168" cy="2817440"/>
            </a:xfrm>
          </p:grpSpPr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D3E79933-FD69-C843-A6B9-B7A5DCE5F6AF}"/>
                  </a:ext>
                </a:extLst>
              </p:cNvPr>
              <p:cNvSpPr/>
              <p:nvPr/>
            </p:nvSpPr>
            <p:spPr>
              <a:xfrm>
                <a:off x="5546023" y="4595944"/>
                <a:ext cx="1332593" cy="53856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8DF5412A-B681-CF43-AF2D-0C2C4683BBAE}"/>
                  </a:ext>
                </a:extLst>
              </p:cNvPr>
              <p:cNvSpPr/>
              <p:nvPr/>
            </p:nvSpPr>
            <p:spPr>
              <a:xfrm>
                <a:off x="4967613" y="5698335"/>
                <a:ext cx="972170" cy="53856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R2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58A5DAB-AA20-CE42-ABA2-7218E68845B1}"/>
                  </a:ext>
                </a:extLst>
              </p:cNvPr>
              <p:cNvCxnSpPr>
                <a:cxnSpLocks/>
                <a:stCxn id="28" idx="2"/>
                <a:endCxn id="29" idx="0"/>
              </p:cNvCxnSpPr>
              <p:nvPr/>
            </p:nvCxnSpPr>
            <p:spPr>
              <a:xfrm flipH="1">
                <a:off x="5453698" y="5134510"/>
                <a:ext cx="758622" cy="563825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95ED537-EE4B-0743-86B5-0D3E4BC587EA}"/>
                  </a:ext>
                </a:extLst>
              </p:cNvPr>
              <p:cNvCxnSpPr>
                <a:cxnSpLocks/>
                <a:stCxn id="28" idx="2"/>
                <a:endCxn id="33" idx="0"/>
              </p:cNvCxnSpPr>
              <p:nvPr/>
            </p:nvCxnSpPr>
            <p:spPr>
              <a:xfrm>
                <a:off x="6212320" y="5134510"/>
                <a:ext cx="469055" cy="551802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DEE36291-5FB8-F140-9A21-8E4E7079B2C1}"/>
                  </a:ext>
                </a:extLst>
              </p:cNvPr>
              <p:cNvCxnSpPr>
                <a:cxnSpLocks/>
                <a:stCxn id="34" idx="2"/>
                <a:endCxn id="28" idx="0"/>
              </p:cNvCxnSpPr>
              <p:nvPr/>
            </p:nvCxnSpPr>
            <p:spPr>
              <a:xfrm flipH="1">
                <a:off x="6212320" y="4307591"/>
                <a:ext cx="802849" cy="288353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3E1708B8-D3D1-F947-AF8F-78F863E36DE1}"/>
                  </a:ext>
                </a:extLst>
              </p:cNvPr>
              <p:cNvSpPr/>
              <p:nvPr/>
            </p:nvSpPr>
            <p:spPr>
              <a:xfrm>
                <a:off x="6195290" y="5686312"/>
                <a:ext cx="972170" cy="53400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R3</a:t>
                </a:r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0AB2CA2E-A0D4-EC49-B388-E788CE214345}"/>
                  </a:ext>
                </a:extLst>
              </p:cNvPr>
              <p:cNvSpPr/>
              <p:nvPr/>
            </p:nvSpPr>
            <p:spPr>
              <a:xfrm>
                <a:off x="6348829" y="3769025"/>
                <a:ext cx="1332679" cy="53856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9D02071-A987-4A4A-96F3-1D670771F9FD}"/>
                  </a:ext>
                </a:extLst>
              </p:cNvPr>
              <p:cNvSpPr/>
              <p:nvPr/>
            </p:nvSpPr>
            <p:spPr>
              <a:xfrm>
                <a:off x="7049188" y="4595944"/>
                <a:ext cx="1332593" cy="5385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R1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62048D7-5DA7-224F-A2DC-ACDF8A6F9CD5}"/>
                  </a:ext>
                </a:extLst>
              </p:cNvPr>
              <p:cNvCxnSpPr>
                <a:cxnSpLocks/>
                <a:stCxn id="34" idx="2"/>
                <a:endCxn id="35" idx="0"/>
              </p:cNvCxnSpPr>
              <p:nvPr/>
            </p:nvCxnSpPr>
            <p:spPr>
              <a:xfrm>
                <a:off x="7015169" y="4307591"/>
                <a:ext cx="700316" cy="288353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340798D-CB15-4545-A39A-78DC56A179D9}"/>
                  </a:ext>
                </a:extLst>
              </p:cNvPr>
              <p:cNvSpPr txBox="1"/>
              <p:nvPr/>
            </p:nvSpPr>
            <p:spPr>
              <a:xfrm>
                <a:off x="5162354" y="6217133"/>
                <a:ext cx="578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1M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9D2286-73A5-9B43-859E-1C8963C70AD2}"/>
                  </a:ext>
                </a:extLst>
              </p:cNvPr>
              <p:cNvSpPr txBox="1"/>
              <p:nvPr/>
            </p:nvSpPr>
            <p:spPr>
              <a:xfrm>
                <a:off x="6429362" y="6182936"/>
                <a:ext cx="5784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1K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1F1424-E576-AF4E-9C5C-5538579E2879}"/>
                </a:ext>
              </a:extLst>
            </p:cNvPr>
            <p:cNvSpPr txBox="1"/>
            <p:nvPr/>
          </p:nvSpPr>
          <p:spPr>
            <a:xfrm>
              <a:off x="7420412" y="5128534"/>
              <a:ext cx="578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D5EF84-1D46-6947-B1A2-E14A0D006367}"/>
                  </a:ext>
                </a:extLst>
              </p:cNvPr>
              <p:cNvSpPr txBox="1"/>
              <p:nvPr/>
            </p:nvSpPr>
            <p:spPr>
              <a:xfrm>
                <a:off x="83451" y="773927"/>
                <a:ext cx="9060549" cy="198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cost(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en-US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): # input tuples processed.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begChr m:val=""/>
                        <m:endChr m:val="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1M but DBMS underestimates as 1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|R2| = 1M and |R3| = 1K</a:t>
                </a:r>
              </a:p>
              <a:p>
                <a:pPr marL="342900" indent="-342900">
                  <a:lnSpc>
                    <a:spcPts val="304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output of join has the size of the minimum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D5EF84-1D46-6947-B1A2-E14A0D006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" y="773927"/>
                <a:ext cx="9060549" cy="1983941"/>
              </a:xfrm>
              <a:prstGeom prst="rect">
                <a:avLst/>
              </a:prstGeom>
              <a:blipFill>
                <a:blip r:embed="rId3"/>
                <a:stretch>
                  <a:fillRect l="-700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F92BB770-F092-B14C-92F6-90467DD825FF}"/>
              </a:ext>
            </a:extLst>
          </p:cNvPr>
          <p:cNvSpPr txBox="1"/>
          <p:nvPr/>
        </p:nvSpPr>
        <p:spPr>
          <a:xfrm>
            <a:off x="2327447" y="2964417"/>
            <a:ext cx="238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Cost: 1M + 1K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EE14C4-A4C2-1B43-9C91-A0320C7DFE24}"/>
              </a:ext>
            </a:extLst>
          </p:cNvPr>
          <p:cNvSpPr txBox="1"/>
          <p:nvPr/>
        </p:nvSpPr>
        <p:spPr>
          <a:xfrm>
            <a:off x="6131133" y="2932650"/>
            <a:ext cx="175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Cost: 2K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FBCD4A-FEA4-1B45-87C9-A4ACE03C325B}"/>
              </a:ext>
            </a:extLst>
          </p:cNvPr>
          <p:cNvSpPr txBox="1"/>
          <p:nvPr/>
        </p:nvSpPr>
        <p:spPr>
          <a:xfrm>
            <a:off x="7803415" y="3183420"/>
            <a:ext cx="8833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02958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6" grpId="0"/>
      <p:bldP spid="47" grpId="0"/>
      <p:bldP spid="50" grpId="0"/>
      <p:bldP spid="51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10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Widely Adopted Join Order Optimizer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71909" y="6534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759D45-B822-024A-B6FE-37536D330E6E}"/>
              </a:ext>
            </a:extLst>
          </p:cNvPr>
          <p:cNvSpPr txBox="1"/>
          <p:nvPr/>
        </p:nvSpPr>
        <p:spPr>
          <a:xfrm>
            <a:off x="16079" y="807082"/>
            <a:ext cx="9089430" cy="493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Recall: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Enumerate a logical plan space (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often enumerates all join orders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L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widely used optimization algorithm is to use dynamic programming: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Consider a join only query: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R1 NATURAL JOIN R2 NATURAL JOIN … NATURAL JOIN Rn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Q = R1 ⋈ R2 ⋈ … ⋈ Rn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 not-necessarily a ``chain’’ query. It could be in any form,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R1(A, B) ⋈ R2(B, C) ⋈ R3(C, A) ⋈ R4(A, B, C) </a:t>
            </a:r>
          </a:p>
        </p:txBody>
      </p:sp>
    </p:spTree>
    <p:extLst>
      <p:ext uri="{BB962C8B-B14F-4D97-AF65-F5344CB8AC3E}">
        <p14:creationId xmlns:p14="http://schemas.microsoft.com/office/powerpoint/2010/main" val="373931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Plan Space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71909" y="65343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759D45-B822-024A-B6FE-37536D330E6E}"/>
              </a:ext>
            </a:extLst>
          </p:cNvPr>
          <p:cNvSpPr txBox="1"/>
          <p:nvPr/>
        </p:nvSpPr>
        <p:spPr>
          <a:xfrm>
            <a:off x="16079" y="807082"/>
            <a:ext cx="9089430" cy="2018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its most general form Plan Space=All possible join plan ``trees’’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practice: If possible you’d avoid plans that do Cartesian Products</a:t>
            </a: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Thought experiment: What does optimal tree L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look like?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4954F8-CC83-7A42-A1EA-B956863124DE}"/>
              </a:ext>
            </a:extLst>
          </p:cNvPr>
          <p:cNvGrpSpPr/>
          <p:nvPr/>
        </p:nvGrpSpPr>
        <p:grpSpPr>
          <a:xfrm>
            <a:off x="3455264" y="2894444"/>
            <a:ext cx="2380987" cy="1365486"/>
            <a:chOff x="1723589" y="3888473"/>
            <a:chExt cx="2380987" cy="1365486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98C91D2F-FE0F-8840-A577-1F7E988DADD9}"/>
                </a:ext>
              </a:extLst>
            </p:cNvPr>
            <p:cNvSpPr/>
            <p:nvPr/>
          </p:nvSpPr>
          <p:spPr>
            <a:xfrm>
              <a:off x="1723589" y="4715392"/>
              <a:ext cx="877824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5F38714-3CB4-B04C-8B75-96F0A3BAF7E7}"/>
                </a:ext>
              </a:extLst>
            </p:cNvPr>
            <p:cNvCxnSpPr>
              <a:cxnSpLocks/>
              <a:stCxn id="61" idx="2"/>
              <a:endCxn id="55" idx="0"/>
            </p:cNvCxnSpPr>
            <p:nvPr/>
          </p:nvCxnSpPr>
          <p:spPr>
            <a:xfrm flipH="1">
              <a:off x="2162501" y="4427039"/>
              <a:ext cx="784517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5114357-641A-3043-8A36-E9C44CCEA8E6}"/>
                </a:ext>
              </a:extLst>
            </p:cNvPr>
            <p:cNvSpPr/>
            <p:nvPr/>
          </p:nvSpPr>
          <p:spPr>
            <a:xfrm>
              <a:off x="2526394" y="3888473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D1CFC9CA-7348-EF4E-9CD3-E027884277EC}"/>
                </a:ext>
              </a:extLst>
            </p:cNvPr>
            <p:cNvSpPr/>
            <p:nvPr/>
          </p:nvSpPr>
          <p:spPr>
            <a:xfrm>
              <a:off x="3226752" y="4715392"/>
              <a:ext cx="877824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Q-X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4123069-5899-3A4C-B62B-16CBACA6F89D}"/>
                </a:ext>
              </a:extLst>
            </p:cNvPr>
            <p:cNvCxnSpPr>
              <a:cxnSpLocks/>
              <a:stCxn id="61" idx="2"/>
              <a:endCxn id="62" idx="0"/>
            </p:cNvCxnSpPr>
            <p:nvPr/>
          </p:nvCxnSpPr>
          <p:spPr>
            <a:xfrm>
              <a:off x="2947018" y="4427039"/>
              <a:ext cx="71864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E1E5B69-CB53-DB48-95DE-E791185EA9C0}"/>
              </a:ext>
            </a:extLst>
          </p:cNvPr>
          <p:cNvGrpSpPr/>
          <p:nvPr/>
        </p:nvGrpSpPr>
        <p:grpSpPr>
          <a:xfrm>
            <a:off x="2884125" y="2894444"/>
            <a:ext cx="2962016" cy="2467876"/>
            <a:chOff x="1145178" y="3888473"/>
            <a:chExt cx="2962016" cy="2467876"/>
          </a:xfrm>
        </p:grpSpPr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3E600D5F-E79A-AD4B-8270-98DB7EB4D585}"/>
                </a:ext>
              </a:extLst>
            </p:cNvPr>
            <p:cNvSpPr/>
            <p:nvPr/>
          </p:nvSpPr>
          <p:spPr>
            <a:xfrm>
              <a:off x="1723588" y="4715392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DC529E2A-7DD4-AE4D-9460-13CE7220E49A}"/>
                </a:ext>
              </a:extLst>
            </p:cNvPr>
            <p:cNvSpPr/>
            <p:nvPr/>
          </p:nvSpPr>
          <p:spPr>
            <a:xfrm>
              <a:off x="1145178" y="5817783"/>
              <a:ext cx="689525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736EB23-016C-CB43-AC98-8AC7B6597B9A}"/>
                </a:ext>
              </a:extLst>
            </p:cNvPr>
            <p:cNvCxnSpPr>
              <a:cxnSpLocks/>
              <a:stCxn id="67" idx="2"/>
              <a:endCxn id="68" idx="0"/>
            </p:cNvCxnSpPr>
            <p:nvPr/>
          </p:nvCxnSpPr>
          <p:spPr>
            <a:xfrm flipH="1">
              <a:off x="1489941" y="5253958"/>
              <a:ext cx="654271" cy="5638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53D1621-B92C-404C-BFDE-F704F0051CAE}"/>
                </a:ext>
              </a:extLst>
            </p:cNvPr>
            <p:cNvCxnSpPr>
              <a:cxnSpLocks/>
              <a:stCxn id="67" idx="2"/>
              <a:endCxn id="72" idx="0"/>
            </p:cNvCxnSpPr>
            <p:nvPr/>
          </p:nvCxnSpPr>
          <p:spPr>
            <a:xfrm>
              <a:off x="2144212" y="5253958"/>
              <a:ext cx="573406" cy="5518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A19F8D-629E-DF42-8D03-379337B821BA}"/>
                </a:ext>
              </a:extLst>
            </p:cNvPr>
            <p:cNvCxnSpPr>
              <a:cxnSpLocks/>
              <a:stCxn id="73" idx="2"/>
              <a:endCxn id="67" idx="0"/>
            </p:cNvCxnSpPr>
            <p:nvPr/>
          </p:nvCxnSpPr>
          <p:spPr>
            <a:xfrm flipH="1">
              <a:off x="2144212" y="4427039"/>
              <a:ext cx="80280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27E6AC4D-13A7-D142-B498-42E232625CA2}"/>
                </a:ext>
              </a:extLst>
            </p:cNvPr>
            <p:cNvSpPr/>
            <p:nvPr/>
          </p:nvSpPr>
          <p:spPr>
            <a:xfrm>
              <a:off x="2372855" y="5805760"/>
              <a:ext cx="689525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X-Y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095A821-B45E-6F44-9546-B3F1BA863996}"/>
                </a:ext>
              </a:extLst>
            </p:cNvPr>
            <p:cNvSpPr/>
            <p:nvPr/>
          </p:nvSpPr>
          <p:spPr>
            <a:xfrm>
              <a:off x="2526394" y="3888473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1A4F596C-5897-4744-986E-43AD84DC424C}"/>
                </a:ext>
              </a:extLst>
            </p:cNvPr>
            <p:cNvSpPr/>
            <p:nvPr/>
          </p:nvSpPr>
          <p:spPr>
            <a:xfrm>
              <a:off x="3226754" y="4715392"/>
              <a:ext cx="880440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Q-X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365CFE1-656D-E04B-B091-068C85573A91}"/>
                </a:ext>
              </a:extLst>
            </p:cNvPr>
            <p:cNvCxnSpPr>
              <a:cxnSpLocks/>
              <a:stCxn id="73" idx="2"/>
              <a:endCxn id="74" idx="0"/>
            </p:cNvCxnSpPr>
            <p:nvPr/>
          </p:nvCxnSpPr>
          <p:spPr>
            <a:xfrm>
              <a:off x="2947018" y="4427039"/>
              <a:ext cx="71995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8075EB-C6BA-BC47-96E4-AC8D970A6229}"/>
              </a:ext>
            </a:extLst>
          </p:cNvPr>
          <p:cNvGrpSpPr/>
          <p:nvPr/>
        </p:nvGrpSpPr>
        <p:grpSpPr>
          <a:xfrm>
            <a:off x="2762658" y="2897286"/>
            <a:ext cx="4027910" cy="2455853"/>
            <a:chOff x="5455649" y="2628591"/>
            <a:chExt cx="4027910" cy="2455853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D2220A65-D4E4-D642-94FF-0F5B407FB05F}"/>
                </a:ext>
              </a:extLst>
            </p:cNvPr>
            <p:cNvSpPr/>
            <p:nvPr/>
          </p:nvSpPr>
          <p:spPr>
            <a:xfrm>
              <a:off x="6134636" y="3455510"/>
              <a:ext cx="836869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7672DDB8-EA02-F849-A28C-28AC47D7AECE}"/>
                </a:ext>
              </a:extLst>
            </p:cNvPr>
            <p:cNvSpPr/>
            <p:nvPr/>
          </p:nvSpPr>
          <p:spPr>
            <a:xfrm>
              <a:off x="5455649" y="4545878"/>
              <a:ext cx="68580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94805A-27F2-8C45-9BD6-47480BC3D105}"/>
                </a:ext>
              </a:extLst>
            </p:cNvPr>
            <p:cNvCxnSpPr>
              <a:cxnSpLocks/>
              <a:stCxn id="77" idx="2"/>
              <a:endCxn id="78" idx="0"/>
            </p:cNvCxnSpPr>
            <p:nvPr/>
          </p:nvCxnSpPr>
          <p:spPr>
            <a:xfrm flipH="1">
              <a:off x="5798549" y="3994076"/>
              <a:ext cx="754522" cy="5518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E0158F6-5D02-CF43-B0F8-2998DB013265}"/>
                </a:ext>
              </a:extLst>
            </p:cNvPr>
            <p:cNvCxnSpPr>
              <a:cxnSpLocks/>
              <a:stCxn id="77" idx="2"/>
              <a:endCxn id="82" idx="0"/>
            </p:cNvCxnSpPr>
            <p:nvPr/>
          </p:nvCxnSpPr>
          <p:spPr>
            <a:xfrm>
              <a:off x="6553071" y="3994076"/>
              <a:ext cx="250051" cy="5518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D67E52C-D267-2540-831E-A542FCA7333E}"/>
                </a:ext>
              </a:extLst>
            </p:cNvPr>
            <p:cNvCxnSpPr>
              <a:cxnSpLocks/>
              <a:stCxn id="83" idx="2"/>
              <a:endCxn id="77" idx="0"/>
            </p:cNvCxnSpPr>
            <p:nvPr/>
          </p:nvCxnSpPr>
          <p:spPr>
            <a:xfrm flipH="1">
              <a:off x="6553071" y="3167157"/>
              <a:ext cx="832245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0B28B05E-5893-DD46-8E39-615FA707384C}"/>
                </a:ext>
              </a:extLst>
            </p:cNvPr>
            <p:cNvSpPr/>
            <p:nvPr/>
          </p:nvSpPr>
          <p:spPr>
            <a:xfrm>
              <a:off x="6460222" y="4545878"/>
              <a:ext cx="685800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X-Y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AA651F98-A2F1-D245-AF51-536C9927A9D5}"/>
                </a:ext>
              </a:extLst>
            </p:cNvPr>
            <p:cNvSpPr/>
            <p:nvPr/>
          </p:nvSpPr>
          <p:spPr>
            <a:xfrm>
              <a:off x="6964692" y="2628591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B06AE1F6-FD6C-1A49-A4E1-4B3641A566A1}"/>
                </a:ext>
              </a:extLst>
            </p:cNvPr>
            <p:cNvSpPr/>
            <p:nvPr/>
          </p:nvSpPr>
          <p:spPr>
            <a:xfrm>
              <a:off x="7799127" y="3455510"/>
              <a:ext cx="841248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8BBFEC6-6B76-0641-8131-7A201AA306FB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7385316" y="3167157"/>
              <a:ext cx="834435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CAAA41DD-0CF5-7D43-850E-BEF2CFA7951B}"/>
                </a:ext>
              </a:extLst>
            </p:cNvPr>
            <p:cNvSpPr/>
            <p:nvPr/>
          </p:nvSpPr>
          <p:spPr>
            <a:xfrm>
              <a:off x="7464795" y="4545878"/>
              <a:ext cx="849996" cy="5340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B38C8C6B-4C21-7F4B-AF98-3ADA36EC5A5C}"/>
                </a:ext>
              </a:extLst>
            </p:cNvPr>
            <p:cNvSpPr/>
            <p:nvPr/>
          </p:nvSpPr>
          <p:spPr>
            <a:xfrm>
              <a:off x="8633563" y="4545878"/>
              <a:ext cx="849996" cy="5340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Q-X-Z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0FE2DA9-E410-8F48-B8D2-6409C3E48031}"/>
                </a:ext>
              </a:extLst>
            </p:cNvPr>
            <p:cNvCxnSpPr>
              <a:cxnSpLocks/>
              <a:stCxn id="84" idx="2"/>
              <a:endCxn id="106" idx="0"/>
            </p:cNvCxnSpPr>
            <p:nvPr/>
          </p:nvCxnSpPr>
          <p:spPr>
            <a:xfrm flipH="1">
              <a:off x="7889793" y="3994077"/>
              <a:ext cx="329958" cy="55180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837B861-2780-594B-B426-1B176BF53DDC}"/>
                </a:ext>
              </a:extLst>
            </p:cNvPr>
            <p:cNvCxnSpPr>
              <a:cxnSpLocks/>
              <a:stCxn id="84" idx="2"/>
              <a:endCxn id="107" idx="0"/>
            </p:cNvCxnSpPr>
            <p:nvPr/>
          </p:nvCxnSpPr>
          <p:spPr>
            <a:xfrm>
              <a:off x="8219751" y="3994077"/>
              <a:ext cx="838810" cy="55180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62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Optimal Sub-Join Tree Structure in L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759D45-B822-024A-B6FE-37536D330E6E}"/>
              </a:ext>
            </a:extLst>
          </p:cNvPr>
          <p:cNvSpPr txBox="1"/>
          <p:nvPr/>
        </p:nvSpPr>
        <p:spPr>
          <a:xfrm>
            <a:off x="16079" y="807082"/>
            <a:ext cx="9089430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L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What can we say about the sub-tree L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starting from X?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Must be the best plan for the sub-query Q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 ⋈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∀Ri ∈ 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Ri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E:g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 red-box must be the best plan for R1 ⋈ R2 ⋈ R5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o.w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just replace L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with the best plan for Q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L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X*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Therefore can use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dynamic programming algorithm to find join order.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4954F8-CC83-7A42-A1EA-B956863124DE}"/>
              </a:ext>
            </a:extLst>
          </p:cNvPr>
          <p:cNvGrpSpPr/>
          <p:nvPr/>
        </p:nvGrpSpPr>
        <p:grpSpPr>
          <a:xfrm>
            <a:off x="3479992" y="3395436"/>
            <a:ext cx="2380987" cy="1365486"/>
            <a:chOff x="1723589" y="3888473"/>
            <a:chExt cx="2380987" cy="1365486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98C91D2F-FE0F-8840-A577-1F7E988DADD9}"/>
                </a:ext>
              </a:extLst>
            </p:cNvPr>
            <p:cNvSpPr/>
            <p:nvPr/>
          </p:nvSpPr>
          <p:spPr>
            <a:xfrm>
              <a:off x="1723589" y="4715392"/>
              <a:ext cx="877824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5F38714-3CB4-B04C-8B75-96F0A3BAF7E7}"/>
                </a:ext>
              </a:extLst>
            </p:cNvPr>
            <p:cNvCxnSpPr>
              <a:cxnSpLocks/>
              <a:stCxn id="61" idx="2"/>
              <a:endCxn id="55" idx="0"/>
            </p:cNvCxnSpPr>
            <p:nvPr/>
          </p:nvCxnSpPr>
          <p:spPr>
            <a:xfrm flipH="1">
              <a:off x="2162501" y="4427039"/>
              <a:ext cx="784517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5114357-641A-3043-8A36-E9C44CCEA8E6}"/>
                </a:ext>
              </a:extLst>
            </p:cNvPr>
            <p:cNvSpPr/>
            <p:nvPr/>
          </p:nvSpPr>
          <p:spPr>
            <a:xfrm>
              <a:off x="2526394" y="3888473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D1CFC9CA-7348-EF4E-9CD3-E027884277EC}"/>
                </a:ext>
              </a:extLst>
            </p:cNvPr>
            <p:cNvSpPr/>
            <p:nvPr/>
          </p:nvSpPr>
          <p:spPr>
            <a:xfrm>
              <a:off x="3226752" y="4715392"/>
              <a:ext cx="877824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Q-X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4123069-5899-3A4C-B62B-16CBACA6F89D}"/>
                </a:ext>
              </a:extLst>
            </p:cNvPr>
            <p:cNvCxnSpPr>
              <a:cxnSpLocks/>
              <a:stCxn id="61" idx="2"/>
              <a:endCxn id="62" idx="0"/>
            </p:cNvCxnSpPr>
            <p:nvPr/>
          </p:nvCxnSpPr>
          <p:spPr>
            <a:xfrm>
              <a:off x="2947018" y="4427039"/>
              <a:ext cx="718646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0D9E3CC-A9FA-EC4A-88A8-7D7858DF3CB3}"/>
              </a:ext>
            </a:extLst>
          </p:cNvPr>
          <p:cNvGrpSpPr/>
          <p:nvPr/>
        </p:nvGrpSpPr>
        <p:grpSpPr>
          <a:xfrm>
            <a:off x="2277419" y="3375799"/>
            <a:ext cx="4566749" cy="3139213"/>
            <a:chOff x="4205467" y="1736529"/>
            <a:chExt cx="4566749" cy="3139213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D2220A65-D4E4-D642-94FF-0F5B407FB05F}"/>
                </a:ext>
              </a:extLst>
            </p:cNvPr>
            <p:cNvSpPr/>
            <p:nvPr/>
          </p:nvSpPr>
          <p:spPr>
            <a:xfrm>
              <a:off x="5423293" y="2563448"/>
              <a:ext cx="836869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7672DDB8-EA02-F849-A28C-28AC47D7AECE}"/>
                </a:ext>
              </a:extLst>
            </p:cNvPr>
            <p:cNvSpPr/>
            <p:nvPr/>
          </p:nvSpPr>
          <p:spPr>
            <a:xfrm>
              <a:off x="4744306" y="3456105"/>
              <a:ext cx="68580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94805A-27F2-8C45-9BD6-47480BC3D105}"/>
                </a:ext>
              </a:extLst>
            </p:cNvPr>
            <p:cNvCxnSpPr>
              <a:cxnSpLocks/>
              <a:stCxn id="77" idx="2"/>
              <a:endCxn id="78" idx="0"/>
            </p:cNvCxnSpPr>
            <p:nvPr/>
          </p:nvCxnSpPr>
          <p:spPr>
            <a:xfrm flipH="1">
              <a:off x="5087206" y="3102014"/>
              <a:ext cx="754522" cy="3540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E0158F6-5D02-CF43-B0F8-2998DB013265}"/>
                </a:ext>
              </a:extLst>
            </p:cNvPr>
            <p:cNvCxnSpPr>
              <a:cxnSpLocks/>
              <a:stCxn id="77" idx="2"/>
              <a:endCxn id="82" idx="0"/>
            </p:cNvCxnSpPr>
            <p:nvPr/>
          </p:nvCxnSpPr>
          <p:spPr>
            <a:xfrm>
              <a:off x="5841728" y="3102014"/>
              <a:ext cx="250051" cy="35409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9D67E52C-D267-2540-831E-A542FCA7333E}"/>
                </a:ext>
              </a:extLst>
            </p:cNvPr>
            <p:cNvCxnSpPr>
              <a:cxnSpLocks/>
              <a:stCxn id="83" idx="2"/>
              <a:endCxn id="77" idx="0"/>
            </p:cNvCxnSpPr>
            <p:nvPr/>
          </p:nvCxnSpPr>
          <p:spPr>
            <a:xfrm flipH="1">
              <a:off x="5841728" y="2275095"/>
              <a:ext cx="832245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0B28B05E-5893-DD46-8E39-615FA707384C}"/>
                </a:ext>
              </a:extLst>
            </p:cNvPr>
            <p:cNvSpPr/>
            <p:nvPr/>
          </p:nvSpPr>
          <p:spPr>
            <a:xfrm>
              <a:off x="5748879" y="3456105"/>
              <a:ext cx="685800" cy="5340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R5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AA651F98-A2F1-D245-AF51-536C9927A9D5}"/>
                </a:ext>
              </a:extLst>
            </p:cNvPr>
            <p:cNvSpPr/>
            <p:nvPr/>
          </p:nvSpPr>
          <p:spPr>
            <a:xfrm>
              <a:off x="6253349" y="1736529"/>
              <a:ext cx="841248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B06AE1F6-FD6C-1A49-A4E1-4B3641A566A1}"/>
                </a:ext>
              </a:extLst>
            </p:cNvPr>
            <p:cNvSpPr/>
            <p:nvPr/>
          </p:nvSpPr>
          <p:spPr>
            <a:xfrm>
              <a:off x="7087784" y="2563448"/>
              <a:ext cx="841248" cy="538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8BBFEC6-6B76-0641-8131-7A201AA306FB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6673973" y="2275095"/>
              <a:ext cx="834435" cy="28835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CAAA41DD-0CF5-7D43-850E-BEF2CFA7951B}"/>
                </a:ext>
              </a:extLst>
            </p:cNvPr>
            <p:cNvSpPr/>
            <p:nvPr/>
          </p:nvSpPr>
          <p:spPr>
            <a:xfrm>
              <a:off x="6753452" y="3456105"/>
              <a:ext cx="849996" cy="5340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B38C8C6B-4C21-7F4B-AF98-3ADA36EC5A5C}"/>
                </a:ext>
              </a:extLst>
            </p:cNvPr>
            <p:cNvSpPr/>
            <p:nvPr/>
          </p:nvSpPr>
          <p:spPr>
            <a:xfrm>
              <a:off x="7922220" y="3456105"/>
              <a:ext cx="849996" cy="5340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R4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0FE2DA9-E410-8F48-B8D2-6409C3E48031}"/>
                </a:ext>
              </a:extLst>
            </p:cNvPr>
            <p:cNvCxnSpPr>
              <a:cxnSpLocks/>
              <a:stCxn id="84" idx="2"/>
              <a:endCxn id="106" idx="0"/>
            </p:cNvCxnSpPr>
            <p:nvPr/>
          </p:nvCxnSpPr>
          <p:spPr>
            <a:xfrm flipH="1">
              <a:off x="7178450" y="3102015"/>
              <a:ext cx="329958" cy="35409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837B861-2780-594B-B426-1B176BF53DDC}"/>
                </a:ext>
              </a:extLst>
            </p:cNvPr>
            <p:cNvCxnSpPr>
              <a:cxnSpLocks/>
              <a:stCxn id="84" idx="2"/>
              <a:endCxn id="107" idx="0"/>
            </p:cNvCxnSpPr>
            <p:nvPr/>
          </p:nvCxnSpPr>
          <p:spPr>
            <a:xfrm>
              <a:off x="7508408" y="3102015"/>
              <a:ext cx="838810" cy="35409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C995755-895C-A34F-8D4C-AA5147A96952}"/>
                </a:ext>
              </a:extLst>
            </p:cNvPr>
            <p:cNvSpPr/>
            <p:nvPr/>
          </p:nvSpPr>
          <p:spPr>
            <a:xfrm>
              <a:off x="4205467" y="4337176"/>
              <a:ext cx="68580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CC8A51C-B372-5A44-9915-15E9A32FD33A}"/>
                </a:ext>
              </a:extLst>
            </p:cNvPr>
            <p:cNvSpPr/>
            <p:nvPr/>
          </p:nvSpPr>
          <p:spPr>
            <a:xfrm>
              <a:off x="5312092" y="4337176"/>
              <a:ext cx="68580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FEF9C20-29EC-5344-B6C1-857DD92AFFF5}"/>
                </a:ext>
              </a:extLst>
            </p:cNvPr>
            <p:cNvCxnSpPr>
              <a:cxnSpLocks/>
              <a:stCxn id="78" idx="2"/>
              <a:endCxn id="38" idx="0"/>
            </p:cNvCxnSpPr>
            <p:nvPr/>
          </p:nvCxnSpPr>
          <p:spPr>
            <a:xfrm>
              <a:off x="5087206" y="3994671"/>
              <a:ext cx="567786" cy="34250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8CE68FE-12EA-EF40-8C5D-1A7F3E6905A0}"/>
                </a:ext>
              </a:extLst>
            </p:cNvPr>
            <p:cNvCxnSpPr>
              <a:cxnSpLocks/>
              <a:stCxn id="78" idx="2"/>
              <a:endCxn id="36" idx="0"/>
            </p:cNvCxnSpPr>
            <p:nvPr/>
          </p:nvCxnSpPr>
          <p:spPr>
            <a:xfrm flipH="1">
              <a:off x="4548367" y="3994671"/>
              <a:ext cx="538839" cy="34250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70E050B-9A88-8746-85A1-FF6FB826B630}"/>
              </a:ext>
            </a:extLst>
          </p:cNvPr>
          <p:cNvSpPr/>
          <p:nvPr/>
        </p:nvSpPr>
        <p:spPr>
          <a:xfrm>
            <a:off x="2178575" y="4097032"/>
            <a:ext cx="2377885" cy="259184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2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Cost-based DP Join Plan Optimizer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F79F2-6DED-1E41-965B-310F14D878A5}"/>
              </a:ext>
            </a:extLst>
          </p:cNvPr>
          <p:cNvSpPr/>
          <p:nvPr/>
        </p:nvSpPr>
        <p:spPr>
          <a:xfrm>
            <a:off x="0" y="710631"/>
            <a:ext cx="8921578" cy="4759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Input Q: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R1 ⋈ R2 ⋈ … ⋈ Rn</a:t>
            </a:r>
            <a:endParaRPr lang="en-US" sz="1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Output Optimal Join Plan P:</a:t>
            </a:r>
          </a:p>
          <a:p>
            <a:pPr>
              <a:lnSpc>
                <a:spcPct val="150000"/>
              </a:lnSpc>
            </a:pP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OptPlans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[]: a map that takes a sub-query 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and stores the already computed optimal plan: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for int t = 2 ... n // size of sub-queries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for each 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⊆ Q with t relations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		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: // best plan found so far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		for each ``split’’ X, 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– X: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			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OptPlans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[X]; 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Qt-X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OptPlans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-X];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17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: 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⋈ 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Qt-X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; // Possible plan when split as X and 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-X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			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min cost of 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17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endParaRPr lang="en-US" sz="1700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OptPlans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[Q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] = P*</a:t>
            </a:r>
            <a:r>
              <a:rPr lang="en-US" sz="17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Qt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C46277-E794-7E41-ACBB-2012650BCFB8}"/>
              </a:ext>
            </a:extLst>
          </p:cNvPr>
          <p:cNvSpPr/>
          <p:nvPr/>
        </p:nvSpPr>
        <p:spPr>
          <a:xfrm>
            <a:off x="462573" y="2759688"/>
            <a:ext cx="3961146" cy="33056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5B21D2-4A6A-3348-A54F-44013CE6E1A2}"/>
              </a:ext>
            </a:extLst>
          </p:cNvPr>
          <p:cNvCxnSpPr>
            <a:cxnSpLocks/>
          </p:cNvCxnSpPr>
          <p:nvPr/>
        </p:nvCxnSpPr>
        <p:spPr>
          <a:xfrm>
            <a:off x="4423719" y="2916195"/>
            <a:ext cx="729049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9EA4DC-292C-884E-9E09-D179A54DE862}"/>
              </a:ext>
            </a:extLst>
          </p:cNvPr>
          <p:cNvSpPr txBox="1"/>
          <p:nvPr/>
        </p:nvSpPr>
        <p:spPr>
          <a:xfrm>
            <a:off x="5029827" y="2345838"/>
            <a:ext cx="3961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Optimization 1: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can enumerate over sub-queries that are ``connected’’ to avoid Cartesian Products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DBCB0A-393F-7A4E-90A2-3F7F9E7B4FDF}"/>
              </a:ext>
            </a:extLst>
          </p:cNvPr>
          <p:cNvCxnSpPr>
            <a:cxnSpLocks/>
          </p:cNvCxnSpPr>
          <p:nvPr/>
        </p:nvCxnSpPr>
        <p:spPr>
          <a:xfrm>
            <a:off x="4788243" y="3876736"/>
            <a:ext cx="945292" cy="105376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74C950-17FB-E84B-B335-D4359AB0743C}"/>
              </a:ext>
            </a:extLst>
          </p:cNvPr>
          <p:cNvSpPr txBox="1"/>
          <p:nvPr/>
        </p:nvSpPr>
        <p:spPr>
          <a:xfrm>
            <a:off x="4960432" y="4599929"/>
            <a:ext cx="3961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Optimization 2: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enumerate only if</a:t>
            </a:r>
          </a:p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–X have common attributes; otherwise the possible plan would Cartesian product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DAB454-EDEB-6243-84D3-5DCCCA558840}"/>
              </a:ext>
            </a:extLst>
          </p:cNvPr>
          <p:cNvSpPr/>
          <p:nvPr/>
        </p:nvSpPr>
        <p:spPr>
          <a:xfrm>
            <a:off x="831307" y="3546167"/>
            <a:ext cx="3961146" cy="33056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5A968E1-1970-EB49-973C-5B5221A0FD46}"/>
              </a:ext>
            </a:extLst>
          </p:cNvPr>
          <p:cNvSpPr/>
          <p:nvPr/>
        </p:nvSpPr>
        <p:spPr>
          <a:xfrm>
            <a:off x="2162431" y="4704337"/>
            <a:ext cx="2486841" cy="33056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97FAE5-A976-C144-8BED-558AA47643C3}"/>
              </a:ext>
            </a:extLst>
          </p:cNvPr>
          <p:cNvCxnSpPr>
            <a:cxnSpLocks/>
          </p:cNvCxnSpPr>
          <p:nvPr/>
        </p:nvCxnSpPr>
        <p:spPr>
          <a:xfrm flipH="1">
            <a:off x="3237470" y="5082898"/>
            <a:ext cx="568411" cy="749491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3FD76A-C605-F044-983D-9336AF8A1957}"/>
              </a:ext>
            </a:extLst>
          </p:cNvPr>
          <p:cNvSpPr txBox="1"/>
          <p:nvPr/>
        </p:nvSpPr>
        <p:spPr>
          <a:xfrm>
            <a:off x="1055205" y="5862507"/>
            <a:ext cx="3961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where cardinality estimation of Q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would happen</a:t>
            </a:r>
          </a:p>
        </p:txBody>
      </p:sp>
    </p:spTree>
    <p:extLst>
      <p:ext uri="{BB962C8B-B14F-4D97-AF65-F5344CB8AC3E}">
        <p14:creationId xmlns:p14="http://schemas.microsoft.com/office/powerpoint/2010/main" val="187273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2" grpId="0"/>
      <p:bldP spid="13" grpId="0" animBg="1"/>
      <p:bldP spid="16" grpId="0" animBg="1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Chain-based Join Optimizer (A4)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F39B3-D97D-AB4E-BFCB-1206207B3B1D}"/>
              </a:ext>
            </a:extLst>
          </p:cNvPr>
          <p:cNvSpPr/>
          <p:nvPr/>
        </p:nvSpPr>
        <p:spPr>
          <a:xfrm>
            <a:off x="16079" y="807082"/>
            <a:ext cx="9044469" cy="6132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A4: specialized version of DP Join Optimizer on ``chain queries``: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Q: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…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n-1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n-1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1: Do not need to enumerate any dis-connected sub-query: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Enumerate plans only for “consecutive”: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⋈ … ⋈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Enumerate only j-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``split points’’ for each k: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…j-1: 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⋈… ⋈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k+1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k+2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⋈… ⋈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AEA2DC-0DD4-FF40-94E7-6819F9306279}"/>
              </a:ext>
            </a:extLst>
          </p:cNvPr>
          <p:cNvSpPr txBox="1"/>
          <p:nvPr/>
        </p:nvSpPr>
        <p:spPr>
          <a:xfrm>
            <a:off x="6098222" y="4654469"/>
            <a:ext cx="5497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2C7B5A-6595-1C46-B3EC-795F4E88D6B7}"/>
              </a:ext>
            </a:extLst>
          </p:cNvPr>
          <p:cNvSpPr txBox="1"/>
          <p:nvPr/>
        </p:nvSpPr>
        <p:spPr>
          <a:xfrm>
            <a:off x="5915859" y="2385011"/>
            <a:ext cx="3444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00000"/>
                </a:solidFill>
              </a:rPr>
              <a:t>X </a:t>
            </a: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common attributes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1E6F029-D686-DA48-A178-934A670F4360}"/>
              </a:ext>
            </a:extLst>
          </p:cNvPr>
          <p:cNvSpPr/>
          <p:nvPr/>
        </p:nvSpPr>
        <p:spPr>
          <a:xfrm>
            <a:off x="2256852" y="3350036"/>
            <a:ext cx="1356652" cy="330569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CE638-B00D-B14C-8DAD-D820379F118A}"/>
              </a:ext>
            </a:extLst>
          </p:cNvPr>
          <p:cNvSpPr/>
          <p:nvPr/>
        </p:nvSpPr>
        <p:spPr>
          <a:xfrm>
            <a:off x="2224044" y="3278268"/>
            <a:ext cx="509306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	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sz="2200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2DE7D2D-DE9F-394D-8606-3CD79A392799}"/>
              </a:ext>
            </a:extLst>
          </p:cNvPr>
          <p:cNvSpPr/>
          <p:nvPr/>
        </p:nvSpPr>
        <p:spPr>
          <a:xfrm>
            <a:off x="4106375" y="3337223"/>
            <a:ext cx="1313216" cy="330569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56E26AF-5854-6342-B60E-C1668EA83454}"/>
              </a:ext>
            </a:extLst>
          </p:cNvPr>
          <p:cNvSpPr/>
          <p:nvPr/>
        </p:nvSpPr>
        <p:spPr>
          <a:xfrm>
            <a:off x="5912462" y="3327958"/>
            <a:ext cx="1301963" cy="330569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3FF797-89D5-F34D-B9CC-F5B3477748DE}"/>
              </a:ext>
            </a:extLst>
          </p:cNvPr>
          <p:cNvSpPr txBox="1"/>
          <p:nvPr/>
        </p:nvSpPr>
        <p:spPr>
          <a:xfrm>
            <a:off x="2760107" y="2939009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941578-7CE8-A244-BF69-A90FBCAFB9D8}"/>
              </a:ext>
            </a:extLst>
          </p:cNvPr>
          <p:cNvSpPr txBox="1"/>
          <p:nvPr/>
        </p:nvSpPr>
        <p:spPr>
          <a:xfrm>
            <a:off x="4518561" y="2914006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B6F773-6AE7-5C44-868A-BA2729F3015B}"/>
              </a:ext>
            </a:extLst>
          </p:cNvPr>
          <p:cNvSpPr txBox="1"/>
          <p:nvPr/>
        </p:nvSpPr>
        <p:spPr>
          <a:xfrm>
            <a:off x="6259549" y="2899151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E7F8700-DFE0-CC43-9096-733AE4BDCF3C}"/>
              </a:ext>
            </a:extLst>
          </p:cNvPr>
          <p:cNvSpPr/>
          <p:nvPr/>
        </p:nvSpPr>
        <p:spPr>
          <a:xfrm>
            <a:off x="2873270" y="4860202"/>
            <a:ext cx="1358162" cy="330569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E34378-526F-6B4B-B2D9-EE3300D0ECC7}"/>
              </a:ext>
            </a:extLst>
          </p:cNvPr>
          <p:cNvSpPr/>
          <p:nvPr/>
        </p:nvSpPr>
        <p:spPr>
          <a:xfrm>
            <a:off x="2873270" y="4797231"/>
            <a:ext cx="34163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		A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	</a:t>
            </a:r>
            <a:endParaRPr lang="en-US" sz="2200" dirty="0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F7F0193-9A93-534B-9F04-8E82043FA927}"/>
              </a:ext>
            </a:extLst>
          </p:cNvPr>
          <p:cNvSpPr/>
          <p:nvPr/>
        </p:nvSpPr>
        <p:spPr>
          <a:xfrm>
            <a:off x="4696729" y="4871373"/>
            <a:ext cx="1358162" cy="330569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B681F5-1D49-FC42-B770-9E5A9CB8F356}"/>
              </a:ext>
            </a:extLst>
          </p:cNvPr>
          <p:cNvSpPr txBox="1"/>
          <p:nvPr/>
        </p:nvSpPr>
        <p:spPr>
          <a:xfrm>
            <a:off x="3058478" y="4429774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1F231F-6442-0B43-B649-7F4188098E83}"/>
              </a:ext>
            </a:extLst>
          </p:cNvPr>
          <p:cNvSpPr txBox="1"/>
          <p:nvPr/>
        </p:nvSpPr>
        <p:spPr>
          <a:xfrm>
            <a:off x="4231432" y="4340168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13DCC1-7CD5-9849-8E61-5AD0F1D40E7A}"/>
              </a:ext>
            </a:extLst>
          </p:cNvPr>
          <p:cNvSpPr txBox="1"/>
          <p:nvPr/>
        </p:nvSpPr>
        <p:spPr>
          <a:xfrm>
            <a:off x="5185529" y="4425978"/>
            <a:ext cx="62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F882E09-82D9-9E4C-BA29-31D89DF7407B}"/>
              </a:ext>
            </a:extLst>
          </p:cNvPr>
          <p:cNvSpPr/>
          <p:nvPr/>
        </p:nvSpPr>
        <p:spPr>
          <a:xfrm>
            <a:off x="3802638" y="4777571"/>
            <a:ext cx="1358162" cy="504572"/>
          </a:xfrm>
          <a:prstGeom prst="round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42" grpId="0" animBg="1"/>
      <p:bldP spid="5" grpId="0"/>
      <p:bldP spid="44" grpId="0" animBg="1"/>
      <p:bldP spid="46" grpId="0" animBg="1"/>
      <p:bldP spid="47" grpId="0"/>
      <p:bldP spid="48" grpId="0"/>
      <p:bldP spid="49" grpId="0"/>
      <p:bldP spid="50" grpId="0" animBg="1"/>
      <p:bldP spid="51" grpId="0"/>
      <p:bldP spid="52" grpId="0" animBg="1"/>
      <p:bldP spid="56" grpId="0"/>
      <p:bldP spid="57" grpId="0"/>
      <p:bldP spid="58" grpId="0"/>
      <p:bldP spid="6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F39B3-D97D-AB4E-BFCB-1206207B3B1D}"/>
              </a:ext>
            </a:extLst>
          </p:cNvPr>
          <p:cNvSpPr/>
          <p:nvPr/>
        </p:nvSpPr>
        <p:spPr>
          <a:xfrm>
            <a:off x="16080" y="807082"/>
            <a:ext cx="2912472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Plans for 1-size sub-queries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B7BCF7-FB04-EA48-85BF-CFEEFA2C83E4}"/>
              </a:ext>
            </a:extLst>
          </p:cNvPr>
          <p:cNvSpPr/>
          <p:nvPr/>
        </p:nvSpPr>
        <p:spPr>
          <a:xfrm>
            <a:off x="19293" y="2364849"/>
            <a:ext cx="2905667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Plans for 2-size sub-queries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2F84C8-B6D8-A24C-94DE-B0C78967A839}"/>
              </a:ext>
            </a:extLst>
          </p:cNvPr>
          <p:cNvSpPr/>
          <p:nvPr/>
        </p:nvSpPr>
        <p:spPr>
          <a:xfrm>
            <a:off x="2928552" y="1029991"/>
            <a:ext cx="1727876" cy="682070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F9698E0-F0B3-9742-8424-E672432DDEE2}"/>
              </a:ext>
            </a:extLst>
          </p:cNvPr>
          <p:cNvSpPr/>
          <p:nvPr/>
        </p:nvSpPr>
        <p:spPr>
          <a:xfrm>
            <a:off x="3008425" y="2248931"/>
            <a:ext cx="2166780" cy="1319918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41F9D-E6E1-B244-A36B-BB0193CFBCDF}"/>
              </a:ext>
            </a:extLst>
          </p:cNvPr>
          <p:cNvSpPr txBox="1"/>
          <p:nvPr/>
        </p:nvSpPr>
        <p:spPr>
          <a:xfrm>
            <a:off x="2943492" y="2313667"/>
            <a:ext cx="126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Plan: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09B70A-9F85-5745-81CC-E365FE81A945}"/>
              </a:ext>
            </a:extLst>
          </p:cNvPr>
          <p:cNvSpPr/>
          <p:nvPr/>
        </p:nvSpPr>
        <p:spPr>
          <a:xfrm>
            <a:off x="3563831" y="3157519"/>
            <a:ext cx="1226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cost: c*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i,i+1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F75613-831F-BA41-A999-9EEBFE01160E}"/>
              </a:ext>
            </a:extLst>
          </p:cNvPr>
          <p:cNvSpPr/>
          <p:nvPr/>
        </p:nvSpPr>
        <p:spPr>
          <a:xfrm>
            <a:off x="3143265" y="1380394"/>
            <a:ext cx="1055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cost: |R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2E3B03-8F7B-6246-9740-D005E6300454}"/>
              </a:ext>
            </a:extLst>
          </p:cNvPr>
          <p:cNvSpPr txBox="1"/>
          <p:nvPr/>
        </p:nvSpPr>
        <p:spPr>
          <a:xfrm>
            <a:off x="3764805" y="1000205"/>
            <a:ext cx="1055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E630D9-675B-394D-A1F1-36AF8FE3CA12}"/>
              </a:ext>
            </a:extLst>
          </p:cNvPr>
          <p:cNvSpPr txBox="1"/>
          <p:nvPr/>
        </p:nvSpPr>
        <p:spPr>
          <a:xfrm>
            <a:off x="2905979" y="1019571"/>
            <a:ext cx="11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Plan: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2330A5-AA15-874D-973C-A8FE56EBECBE}"/>
              </a:ext>
            </a:extLst>
          </p:cNvPr>
          <p:cNvGrpSpPr/>
          <p:nvPr/>
        </p:nvGrpSpPr>
        <p:grpSpPr>
          <a:xfrm>
            <a:off x="3638190" y="2337563"/>
            <a:ext cx="1620480" cy="925800"/>
            <a:chOff x="5955437" y="3116909"/>
            <a:chExt cx="1620480" cy="9258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3FF797-89D5-F34D-B9CC-F5B3477748DE}"/>
                </a:ext>
              </a:extLst>
            </p:cNvPr>
            <p:cNvSpPr txBox="1"/>
            <p:nvPr/>
          </p:nvSpPr>
          <p:spPr>
            <a:xfrm>
              <a:off x="5955437" y="3611822"/>
              <a:ext cx="6275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5378D7-6155-B247-AE74-434731626C46}"/>
                </a:ext>
              </a:extLst>
            </p:cNvPr>
            <p:cNvSpPr txBox="1"/>
            <p:nvPr/>
          </p:nvSpPr>
          <p:spPr>
            <a:xfrm>
              <a:off x="6823261" y="3587109"/>
              <a:ext cx="7526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i+1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40A4F98-151B-D742-967A-64178C4CE4A0}"/>
                </a:ext>
              </a:extLst>
            </p:cNvPr>
            <p:cNvCxnSpPr>
              <a:cxnSpLocks/>
              <a:stCxn id="68" idx="2"/>
              <a:endCxn id="23" idx="0"/>
            </p:cNvCxnSpPr>
            <p:nvPr/>
          </p:nvCxnSpPr>
          <p:spPr>
            <a:xfrm>
              <a:off x="6752577" y="3422501"/>
              <a:ext cx="447012" cy="1646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B81A0B6-4F39-3949-A166-DE80445EF152}"/>
                </a:ext>
              </a:extLst>
            </p:cNvPr>
            <p:cNvCxnSpPr>
              <a:cxnSpLocks/>
              <a:stCxn id="68" idx="2"/>
              <a:endCxn id="47" idx="0"/>
            </p:cNvCxnSpPr>
            <p:nvPr/>
          </p:nvCxnSpPr>
          <p:spPr>
            <a:xfrm flipH="1">
              <a:off x="6269237" y="3422501"/>
              <a:ext cx="483340" cy="18932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D98C155E-6309-DC40-A0BE-62A18BFD7338}"/>
                </a:ext>
              </a:extLst>
            </p:cNvPr>
            <p:cNvSpPr/>
            <p:nvPr/>
          </p:nvSpPr>
          <p:spPr>
            <a:xfrm>
              <a:off x="6438777" y="3116909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3504B91-E5D1-CE4E-A34C-4DA02701E0D2}"/>
              </a:ext>
            </a:extLst>
          </p:cNvPr>
          <p:cNvGrpSpPr/>
          <p:nvPr/>
        </p:nvGrpSpPr>
        <p:grpSpPr>
          <a:xfrm>
            <a:off x="2835921" y="4243875"/>
            <a:ext cx="2344503" cy="2226223"/>
            <a:chOff x="3028171" y="1459043"/>
            <a:chExt cx="2344503" cy="2226223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5DE34444-905E-AB4A-92B4-80AED461EC68}"/>
                </a:ext>
              </a:extLst>
            </p:cNvPr>
            <p:cNvSpPr/>
            <p:nvPr/>
          </p:nvSpPr>
          <p:spPr>
            <a:xfrm>
              <a:off x="3102313" y="1459043"/>
              <a:ext cx="2264097" cy="222622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D4B00BE-E61F-FA4E-864A-B8B99C0DF29E}"/>
                </a:ext>
              </a:extLst>
            </p:cNvPr>
            <p:cNvSpPr/>
            <p:nvPr/>
          </p:nvSpPr>
          <p:spPr>
            <a:xfrm>
              <a:off x="3648284" y="3244334"/>
              <a:ext cx="12827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cost: c*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2,3,4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9F7BF76-6407-2841-AC90-7E01EFE5179A}"/>
                </a:ext>
              </a:extLst>
            </p:cNvPr>
            <p:cNvGrpSpPr/>
            <p:nvPr/>
          </p:nvGrpSpPr>
          <p:grpSpPr>
            <a:xfrm>
              <a:off x="3292650" y="1598701"/>
              <a:ext cx="2080024" cy="1626322"/>
              <a:chOff x="3292650" y="1598701"/>
              <a:chExt cx="2080024" cy="1626322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B3659F8-C39B-4749-8EC5-9091F81AB708}"/>
                  </a:ext>
                </a:extLst>
              </p:cNvPr>
              <p:cNvSpPr txBox="1"/>
              <p:nvPr/>
            </p:nvSpPr>
            <p:spPr>
              <a:xfrm>
                <a:off x="3292650" y="2794136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F6138EC-6C1F-924D-B746-669C62EBDBDB}"/>
                  </a:ext>
                </a:extLst>
              </p:cNvPr>
              <p:cNvSpPr txBox="1"/>
              <p:nvPr/>
            </p:nvSpPr>
            <p:spPr>
              <a:xfrm>
                <a:off x="4160474" y="2769423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93628F3E-7304-5241-9F81-D21D9CA7D02C}"/>
                  </a:ext>
                </a:extLst>
              </p:cNvPr>
              <p:cNvCxnSpPr>
                <a:cxnSpLocks/>
                <a:stCxn id="98" idx="2"/>
                <a:endCxn id="92" idx="0"/>
              </p:cNvCxnSpPr>
              <p:nvPr/>
            </p:nvCxnSpPr>
            <p:spPr>
              <a:xfrm>
                <a:off x="4053747" y="2582088"/>
                <a:ext cx="483055" cy="1873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5E516E66-C682-AE48-9F5F-6BC4622A75E7}"/>
                  </a:ext>
                </a:extLst>
              </p:cNvPr>
              <p:cNvCxnSpPr>
                <a:cxnSpLocks/>
                <a:stCxn id="98" idx="2"/>
                <a:endCxn id="91" idx="0"/>
              </p:cNvCxnSpPr>
              <p:nvPr/>
            </p:nvCxnSpPr>
            <p:spPr>
              <a:xfrm flipH="1">
                <a:off x="3606450" y="2582088"/>
                <a:ext cx="447297" cy="2120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B46140D-17C0-6C47-9A8F-294A29D17F51}"/>
                  </a:ext>
                </a:extLst>
              </p:cNvPr>
              <p:cNvSpPr txBox="1"/>
              <p:nvPr/>
            </p:nvSpPr>
            <p:spPr>
              <a:xfrm>
                <a:off x="4870711" y="2234353"/>
                <a:ext cx="5019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77A6AE0-1E45-1444-8190-ADBBB68505BE}"/>
                  </a:ext>
                </a:extLst>
              </p:cNvPr>
              <p:cNvCxnSpPr>
                <a:cxnSpLocks/>
                <a:stCxn id="99" idx="2"/>
              </p:cNvCxnSpPr>
              <p:nvPr/>
            </p:nvCxnSpPr>
            <p:spPr>
              <a:xfrm flipH="1">
                <a:off x="4040363" y="1904293"/>
                <a:ext cx="470982" cy="2910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B3D491E-4C72-F24B-AA86-124FE6D83320}"/>
                  </a:ext>
                </a:extLst>
              </p:cNvPr>
              <p:cNvCxnSpPr>
                <a:cxnSpLocks/>
                <a:stCxn id="99" idx="2"/>
                <a:endCxn id="95" idx="0"/>
              </p:cNvCxnSpPr>
              <p:nvPr/>
            </p:nvCxnSpPr>
            <p:spPr>
              <a:xfrm>
                <a:off x="4511345" y="1904293"/>
                <a:ext cx="610348" cy="3300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DF78214A-1533-9C40-9DBD-AB0DA6FA74E4}"/>
                  </a:ext>
                </a:extLst>
              </p:cNvPr>
              <p:cNvSpPr/>
              <p:nvPr/>
            </p:nvSpPr>
            <p:spPr>
              <a:xfrm>
                <a:off x="3739947" y="2276496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8B6DE94E-719A-224A-844E-CC690FE15AFC}"/>
                  </a:ext>
                </a:extLst>
              </p:cNvPr>
              <p:cNvSpPr/>
              <p:nvPr/>
            </p:nvSpPr>
            <p:spPr>
              <a:xfrm>
                <a:off x="4197545" y="1598701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93D03FD-B320-4140-9A93-55CFCD7810CE}"/>
                </a:ext>
              </a:extLst>
            </p:cNvPr>
            <p:cNvSpPr txBox="1"/>
            <p:nvPr/>
          </p:nvSpPr>
          <p:spPr>
            <a:xfrm>
              <a:off x="3028171" y="1536054"/>
              <a:ext cx="12187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Opt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Plan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25B7681-9BF5-2547-9FC5-903D37314309}"/>
              </a:ext>
            </a:extLst>
          </p:cNvPr>
          <p:cNvGrpSpPr/>
          <p:nvPr/>
        </p:nvGrpSpPr>
        <p:grpSpPr>
          <a:xfrm>
            <a:off x="5199006" y="4206805"/>
            <a:ext cx="2802210" cy="2226223"/>
            <a:chOff x="5277274" y="1421973"/>
            <a:chExt cx="2802210" cy="2226223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F879168-CB49-7145-97BB-58853BF0B140}"/>
                </a:ext>
              </a:extLst>
            </p:cNvPr>
            <p:cNvGrpSpPr/>
            <p:nvPr/>
          </p:nvGrpSpPr>
          <p:grpSpPr>
            <a:xfrm>
              <a:off x="6080571" y="1725079"/>
              <a:ext cx="1998913" cy="1408425"/>
              <a:chOff x="2914217" y="1816598"/>
              <a:chExt cx="1998913" cy="1408425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780F9D8-0273-6C40-9BB1-5D93A5691EB9}"/>
                  </a:ext>
                </a:extLst>
              </p:cNvPr>
              <p:cNvSpPr txBox="1"/>
              <p:nvPr/>
            </p:nvSpPr>
            <p:spPr>
              <a:xfrm>
                <a:off x="3292650" y="2794136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725342C-3E98-7D40-8C8A-B12AAEF5BD93}"/>
                  </a:ext>
                </a:extLst>
              </p:cNvPr>
              <p:cNvSpPr txBox="1"/>
              <p:nvPr/>
            </p:nvSpPr>
            <p:spPr>
              <a:xfrm>
                <a:off x="4160474" y="2769423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C592F2D-20C0-4543-BBBE-6E86612A3033}"/>
                  </a:ext>
                </a:extLst>
              </p:cNvPr>
              <p:cNvCxnSpPr>
                <a:cxnSpLocks/>
                <a:stCxn id="85" idx="2"/>
                <a:endCxn id="79" idx="0"/>
              </p:cNvCxnSpPr>
              <p:nvPr/>
            </p:nvCxnSpPr>
            <p:spPr>
              <a:xfrm>
                <a:off x="4053747" y="2582088"/>
                <a:ext cx="483055" cy="1873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36C80B8B-7AD8-4445-B1F5-106031D5F636}"/>
                  </a:ext>
                </a:extLst>
              </p:cNvPr>
              <p:cNvCxnSpPr>
                <a:cxnSpLocks/>
                <a:stCxn id="85" idx="2"/>
                <a:endCxn id="78" idx="0"/>
              </p:cNvCxnSpPr>
              <p:nvPr/>
            </p:nvCxnSpPr>
            <p:spPr>
              <a:xfrm flipH="1">
                <a:off x="3606450" y="2582088"/>
                <a:ext cx="447297" cy="2120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A1A45DB-C684-7B41-A4AB-7EF71FA8E1D2}"/>
                  </a:ext>
                </a:extLst>
              </p:cNvPr>
              <p:cNvSpPr txBox="1"/>
              <p:nvPr/>
            </p:nvSpPr>
            <p:spPr>
              <a:xfrm>
                <a:off x="2914217" y="2276496"/>
                <a:ext cx="5019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733FC1D-A879-F844-89B7-D0C27B140B62}"/>
                  </a:ext>
                </a:extLst>
              </p:cNvPr>
              <p:cNvCxnSpPr>
                <a:cxnSpLocks/>
                <a:stCxn id="86" idx="2"/>
                <a:endCxn id="85" idx="0"/>
              </p:cNvCxnSpPr>
              <p:nvPr/>
            </p:nvCxnSpPr>
            <p:spPr>
              <a:xfrm>
                <a:off x="3594376" y="2122190"/>
                <a:ext cx="459371" cy="1543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EE7B4FE-1733-D245-8F5D-2844DB31BFD4}"/>
                  </a:ext>
                </a:extLst>
              </p:cNvPr>
              <p:cNvCxnSpPr>
                <a:cxnSpLocks/>
                <a:stCxn id="86" idx="2"/>
                <a:endCxn id="82" idx="0"/>
              </p:cNvCxnSpPr>
              <p:nvPr/>
            </p:nvCxnSpPr>
            <p:spPr>
              <a:xfrm flipH="1">
                <a:off x="3165199" y="2122190"/>
                <a:ext cx="429177" cy="1543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DDBB32F4-9F29-C348-BDDE-CFA1912A8ADF}"/>
                  </a:ext>
                </a:extLst>
              </p:cNvPr>
              <p:cNvSpPr/>
              <p:nvPr/>
            </p:nvSpPr>
            <p:spPr>
              <a:xfrm>
                <a:off x="3739947" y="2276496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43184B8C-4199-5A40-875F-6475E41D78DF}"/>
                  </a:ext>
                </a:extLst>
              </p:cNvPr>
              <p:cNvSpPr/>
              <p:nvPr/>
            </p:nvSpPr>
            <p:spPr>
              <a:xfrm>
                <a:off x="3280576" y="1816598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289A93E-6675-3E49-B447-2DFC9F0D2B06}"/>
                </a:ext>
              </a:extLst>
            </p:cNvPr>
            <p:cNvSpPr/>
            <p:nvPr/>
          </p:nvSpPr>
          <p:spPr>
            <a:xfrm>
              <a:off x="6473248" y="3244334"/>
              <a:ext cx="12827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cost: c*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3,4,5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C51E9C15-ED83-1A47-B4E3-42C8A1596A84}"/>
                </a:ext>
              </a:extLst>
            </p:cNvPr>
            <p:cNvSpPr/>
            <p:nvPr/>
          </p:nvSpPr>
          <p:spPr>
            <a:xfrm>
              <a:off x="5401990" y="1421973"/>
              <a:ext cx="2448814" cy="2226223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F8B4B5-C9CE-C54A-B33F-E78AF0F4B6F0}"/>
                </a:ext>
              </a:extLst>
            </p:cNvPr>
            <p:cNvSpPr txBox="1"/>
            <p:nvPr/>
          </p:nvSpPr>
          <p:spPr>
            <a:xfrm>
              <a:off x="5277274" y="1650198"/>
              <a:ext cx="12187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Opt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Plan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</p:grp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4EFD474-4939-524F-B89B-86743AD19426}"/>
              </a:ext>
            </a:extLst>
          </p:cNvPr>
          <p:cNvSpPr/>
          <p:nvPr/>
        </p:nvSpPr>
        <p:spPr>
          <a:xfrm>
            <a:off x="7876590" y="4172275"/>
            <a:ext cx="1193268" cy="22262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081328-8B08-1B4F-B5C3-1713E3AA0E50}"/>
              </a:ext>
            </a:extLst>
          </p:cNvPr>
          <p:cNvSpPr/>
          <p:nvPr/>
        </p:nvSpPr>
        <p:spPr>
          <a:xfrm>
            <a:off x="3595" y="4330993"/>
            <a:ext cx="2807480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Plans for 3-size sub-queries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(using 1- and 2-size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opt. plans): </a:t>
            </a:r>
          </a:p>
        </p:txBody>
      </p:sp>
    </p:spTree>
    <p:extLst>
      <p:ext uri="{BB962C8B-B14F-4D97-AF65-F5344CB8AC3E}">
        <p14:creationId xmlns:p14="http://schemas.microsoft.com/office/powerpoint/2010/main" val="34511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10" grpId="0" animBg="1"/>
      <p:bldP spid="39" grpId="0" animBg="1"/>
      <p:bldP spid="40" grpId="0"/>
      <p:bldP spid="11" grpId="0"/>
      <p:bldP spid="12" grpId="0"/>
      <p:bldP spid="66" grpId="0"/>
      <p:bldP spid="67" grpId="0"/>
      <p:bldP spid="72" grpId="0" animBg="1"/>
      <p:bldP spid="10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1EA008-6565-2547-9316-1694F105F665}"/>
              </a:ext>
            </a:extLst>
          </p:cNvPr>
          <p:cNvSpPr/>
          <p:nvPr/>
        </p:nvSpPr>
        <p:spPr>
          <a:xfrm>
            <a:off x="13038" y="764443"/>
            <a:ext cx="9130962" cy="525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When computing plans for a 4-size sub-query: e.g.,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⋈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70060E2-1842-B14B-A76D-9537FE73A173}"/>
              </a:ext>
            </a:extLst>
          </p:cNvPr>
          <p:cNvSpPr/>
          <p:nvPr/>
        </p:nvSpPr>
        <p:spPr>
          <a:xfrm>
            <a:off x="4803515" y="1228591"/>
            <a:ext cx="2049822" cy="2161487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C18586-3A3E-2F4F-9BC9-66F0BE1E62CE}"/>
              </a:ext>
            </a:extLst>
          </p:cNvPr>
          <p:cNvSpPr/>
          <p:nvPr/>
        </p:nvSpPr>
        <p:spPr>
          <a:xfrm>
            <a:off x="5341359" y="2961968"/>
            <a:ext cx="1263629" cy="3585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cost: c*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2,3,4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97C3B27-30BC-B049-A857-E486FF096591}"/>
              </a:ext>
            </a:extLst>
          </p:cNvPr>
          <p:cNvGrpSpPr/>
          <p:nvPr/>
        </p:nvGrpSpPr>
        <p:grpSpPr>
          <a:xfrm>
            <a:off x="5089875" y="1364188"/>
            <a:ext cx="1727785" cy="1579030"/>
            <a:chOff x="3393000" y="1598701"/>
            <a:chExt cx="1753892" cy="1626322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A2E0139-6E5B-2B44-889A-220B12B4E6F0}"/>
                </a:ext>
              </a:extLst>
            </p:cNvPr>
            <p:cNvSpPr txBox="1"/>
            <p:nvPr/>
          </p:nvSpPr>
          <p:spPr>
            <a:xfrm>
              <a:off x="3393000" y="2794136"/>
              <a:ext cx="6275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27AB4B2-0784-F546-BEC3-8FB973F0278F}"/>
                </a:ext>
              </a:extLst>
            </p:cNvPr>
            <p:cNvSpPr txBox="1"/>
            <p:nvPr/>
          </p:nvSpPr>
          <p:spPr>
            <a:xfrm>
              <a:off x="4060125" y="2769423"/>
              <a:ext cx="7526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37CC79D-8160-B14B-8A1C-99563D787D76}"/>
                </a:ext>
              </a:extLst>
            </p:cNvPr>
            <p:cNvCxnSpPr>
              <a:cxnSpLocks/>
              <a:stCxn id="115" idx="2"/>
              <a:endCxn id="109" idx="0"/>
            </p:cNvCxnSpPr>
            <p:nvPr/>
          </p:nvCxnSpPr>
          <p:spPr>
            <a:xfrm>
              <a:off x="4053747" y="2582088"/>
              <a:ext cx="382707" cy="18733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E16FAE3-5A3B-BF40-B155-C706218E8577}"/>
                </a:ext>
              </a:extLst>
            </p:cNvPr>
            <p:cNvCxnSpPr>
              <a:cxnSpLocks/>
              <a:stCxn id="115" idx="2"/>
              <a:endCxn id="108" idx="0"/>
            </p:cNvCxnSpPr>
            <p:nvPr/>
          </p:nvCxnSpPr>
          <p:spPr>
            <a:xfrm flipH="1">
              <a:off x="3706800" y="2582088"/>
              <a:ext cx="346947" cy="2120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7F7B0BA-ACCE-064A-9AEC-8898C17387EF}"/>
                </a:ext>
              </a:extLst>
            </p:cNvPr>
            <p:cNvSpPr txBox="1"/>
            <p:nvPr/>
          </p:nvSpPr>
          <p:spPr>
            <a:xfrm>
              <a:off x="4644929" y="2234353"/>
              <a:ext cx="5019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24EE3EA-0035-8444-958E-C5091B2C4B55}"/>
                </a:ext>
              </a:extLst>
            </p:cNvPr>
            <p:cNvCxnSpPr>
              <a:cxnSpLocks/>
              <a:stCxn id="116" idx="2"/>
            </p:cNvCxnSpPr>
            <p:nvPr/>
          </p:nvCxnSpPr>
          <p:spPr>
            <a:xfrm flipH="1">
              <a:off x="4040363" y="1904293"/>
              <a:ext cx="470982" cy="29102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DB1694CE-4508-CB42-85DD-D1F4DB17E0B0}"/>
                </a:ext>
              </a:extLst>
            </p:cNvPr>
            <p:cNvCxnSpPr>
              <a:cxnSpLocks/>
              <a:stCxn id="116" idx="2"/>
              <a:endCxn id="112" idx="0"/>
            </p:cNvCxnSpPr>
            <p:nvPr/>
          </p:nvCxnSpPr>
          <p:spPr>
            <a:xfrm>
              <a:off x="4511345" y="1904293"/>
              <a:ext cx="384566" cy="3300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09214157-3711-E643-93B1-149C5D9BBEEC}"/>
                </a:ext>
              </a:extLst>
            </p:cNvPr>
            <p:cNvSpPr/>
            <p:nvPr/>
          </p:nvSpPr>
          <p:spPr>
            <a:xfrm>
              <a:off x="3739947" y="2276496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6D3E2644-8261-E347-A3B3-722EFA4C6198}"/>
                </a:ext>
              </a:extLst>
            </p:cNvPr>
            <p:cNvSpPr/>
            <p:nvPr/>
          </p:nvSpPr>
          <p:spPr>
            <a:xfrm>
              <a:off x="4197545" y="1598701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14044A8-09C6-7B40-AC42-779162409422}"/>
              </a:ext>
            </a:extLst>
          </p:cNvPr>
          <p:cNvSpPr txBox="1"/>
          <p:nvPr/>
        </p:nvSpPr>
        <p:spPr>
          <a:xfrm>
            <a:off x="4730477" y="1303363"/>
            <a:ext cx="1200619" cy="41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024B810-BB38-BC4E-A6F2-70840C714790}"/>
              </a:ext>
            </a:extLst>
          </p:cNvPr>
          <p:cNvGrpSpPr/>
          <p:nvPr/>
        </p:nvGrpSpPr>
        <p:grpSpPr>
          <a:xfrm>
            <a:off x="7738390" y="1528652"/>
            <a:ext cx="1566418" cy="1408425"/>
            <a:chOff x="3136643" y="1816598"/>
            <a:chExt cx="1566418" cy="1408425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2FABFD0-10E2-DD45-9B93-AB1B588C611A}"/>
                </a:ext>
              </a:extLst>
            </p:cNvPr>
            <p:cNvSpPr txBox="1"/>
            <p:nvPr/>
          </p:nvSpPr>
          <p:spPr>
            <a:xfrm>
              <a:off x="3453291" y="2794136"/>
              <a:ext cx="6275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1C9D3AF-5077-1A42-96E0-D663683101D1}"/>
                </a:ext>
              </a:extLst>
            </p:cNvPr>
            <p:cNvSpPr txBox="1"/>
            <p:nvPr/>
          </p:nvSpPr>
          <p:spPr>
            <a:xfrm>
              <a:off x="3950405" y="2769423"/>
              <a:ext cx="7526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B7F9823C-EEA3-C44F-8AC2-F2C4D8DC05B2}"/>
                </a:ext>
              </a:extLst>
            </p:cNvPr>
            <p:cNvCxnSpPr>
              <a:cxnSpLocks/>
              <a:stCxn id="129" idx="2"/>
              <a:endCxn id="123" idx="0"/>
            </p:cNvCxnSpPr>
            <p:nvPr/>
          </p:nvCxnSpPr>
          <p:spPr>
            <a:xfrm>
              <a:off x="4053747" y="2582088"/>
              <a:ext cx="272986" cy="18733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0B96498-EAA9-4342-8649-BED2D97863AD}"/>
                </a:ext>
              </a:extLst>
            </p:cNvPr>
            <p:cNvCxnSpPr>
              <a:cxnSpLocks/>
              <a:stCxn id="129" idx="2"/>
              <a:endCxn id="122" idx="0"/>
            </p:cNvCxnSpPr>
            <p:nvPr/>
          </p:nvCxnSpPr>
          <p:spPr>
            <a:xfrm flipH="1">
              <a:off x="3767091" y="2582088"/>
              <a:ext cx="286656" cy="21204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EA7808C-EB4A-B74C-B7C3-44292A6F1D91}"/>
                </a:ext>
              </a:extLst>
            </p:cNvPr>
            <p:cNvSpPr txBox="1"/>
            <p:nvPr/>
          </p:nvSpPr>
          <p:spPr>
            <a:xfrm>
              <a:off x="3136643" y="2276496"/>
              <a:ext cx="5019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B868F905-3ECB-1346-8418-7DDB3D790286}"/>
                </a:ext>
              </a:extLst>
            </p:cNvPr>
            <p:cNvCxnSpPr>
              <a:cxnSpLocks/>
              <a:stCxn id="130" idx="2"/>
              <a:endCxn id="129" idx="0"/>
            </p:cNvCxnSpPr>
            <p:nvPr/>
          </p:nvCxnSpPr>
          <p:spPr>
            <a:xfrm>
              <a:off x="3717946" y="2122190"/>
              <a:ext cx="335801" cy="15430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639C769-A3D9-5E43-8DA9-DF59FB311016}"/>
                </a:ext>
              </a:extLst>
            </p:cNvPr>
            <p:cNvCxnSpPr>
              <a:cxnSpLocks/>
              <a:stCxn id="130" idx="2"/>
              <a:endCxn id="126" idx="0"/>
            </p:cNvCxnSpPr>
            <p:nvPr/>
          </p:nvCxnSpPr>
          <p:spPr>
            <a:xfrm flipH="1">
              <a:off x="3387625" y="2122190"/>
              <a:ext cx="330321" cy="15430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11BE5CBE-45E6-C34D-A4C8-5461D72A5F02}"/>
                </a:ext>
              </a:extLst>
            </p:cNvPr>
            <p:cNvSpPr/>
            <p:nvPr/>
          </p:nvSpPr>
          <p:spPr>
            <a:xfrm>
              <a:off x="3739947" y="2276496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sp>
          <p:nvSpPr>
            <p:cNvPr id="130" name="Rounded Rectangle 129">
              <a:extLst>
                <a:ext uri="{FF2B5EF4-FFF2-40B4-BE49-F238E27FC236}">
                  <a16:creationId xmlns:a16="http://schemas.microsoft.com/office/drawing/2014/main" id="{F35E19EB-6DBC-6D48-9DCA-C187385039D6}"/>
                </a:ext>
              </a:extLst>
            </p:cNvPr>
            <p:cNvSpPr/>
            <p:nvPr/>
          </p:nvSpPr>
          <p:spPr>
            <a:xfrm>
              <a:off x="3404146" y="1816598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5234227-A078-7D46-ABC5-1AC6D55A1D6C}"/>
              </a:ext>
            </a:extLst>
          </p:cNvPr>
          <p:cNvSpPr/>
          <p:nvPr/>
        </p:nvSpPr>
        <p:spPr>
          <a:xfrm>
            <a:off x="7545604" y="3038234"/>
            <a:ext cx="1282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cost: c*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3,4,5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194145F-9287-4847-BA62-697AB48A8B8B}"/>
              </a:ext>
            </a:extLst>
          </p:cNvPr>
          <p:cNvSpPr/>
          <p:nvPr/>
        </p:nvSpPr>
        <p:spPr>
          <a:xfrm>
            <a:off x="6929003" y="1225546"/>
            <a:ext cx="2166780" cy="22262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37DDFEE-9ACD-BA47-AC60-EC367B118E13}"/>
              </a:ext>
            </a:extLst>
          </p:cNvPr>
          <p:cNvSpPr txBox="1"/>
          <p:nvPr/>
        </p:nvSpPr>
        <p:spPr>
          <a:xfrm>
            <a:off x="6872218" y="1438807"/>
            <a:ext cx="1218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58319A25-A9DD-7749-A74B-2DF015EEBD8A}"/>
              </a:ext>
            </a:extLst>
          </p:cNvPr>
          <p:cNvSpPr/>
          <p:nvPr/>
        </p:nvSpPr>
        <p:spPr>
          <a:xfrm>
            <a:off x="191784" y="1262616"/>
            <a:ext cx="2166780" cy="1319918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076071-A974-5941-8029-E383848E40E3}"/>
              </a:ext>
            </a:extLst>
          </p:cNvPr>
          <p:cNvSpPr txBox="1"/>
          <p:nvPr/>
        </p:nvSpPr>
        <p:spPr>
          <a:xfrm>
            <a:off x="126851" y="1327352"/>
            <a:ext cx="126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Plan: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F472C2F-E3E7-1F44-AFDC-ECEE0371C05C}"/>
              </a:ext>
            </a:extLst>
          </p:cNvPr>
          <p:cNvSpPr/>
          <p:nvPr/>
        </p:nvSpPr>
        <p:spPr>
          <a:xfrm>
            <a:off x="783258" y="2171204"/>
            <a:ext cx="1154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cost: c*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2,3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BFA288A-620A-DB49-A57A-9BBD0DBC03C0}"/>
              </a:ext>
            </a:extLst>
          </p:cNvPr>
          <p:cNvGrpSpPr/>
          <p:nvPr/>
        </p:nvGrpSpPr>
        <p:grpSpPr>
          <a:xfrm>
            <a:off x="821549" y="1351248"/>
            <a:ext cx="1620480" cy="925800"/>
            <a:chOff x="5955437" y="3116909"/>
            <a:chExt cx="1620480" cy="92580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10A5686-CE5B-5742-9C6F-302A12C549C2}"/>
                </a:ext>
              </a:extLst>
            </p:cNvPr>
            <p:cNvSpPr txBox="1"/>
            <p:nvPr/>
          </p:nvSpPr>
          <p:spPr>
            <a:xfrm>
              <a:off x="5955437" y="3611822"/>
              <a:ext cx="6275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35E541E-99DC-F24C-AC9F-7B1B66889950}"/>
                </a:ext>
              </a:extLst>
            </p:cNvPr>
            <p:cNvSpPr txBox="1"/>
            <p:nvPr/>
          </p:nvSpPr>
          <p:spPr>
            <a:xfrm>
              <a:off x="6823261" y="3587109"/>
              <a:ext cx="7526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D6CD6CE-D6B7-5641-A0FB-428A984356D9}"/>
                </a:ext>
              </a:extLst>
            </p:cNvPr>
            <p:cNvCxnSpPr>
              <a:cxnSpLocks/>
              <a:stCxn id="139" idx="2"/>
              <a:endCxn id="136" idx="0"/>
            </p:cNvCxnSpPr>
            <p:nvPr/>
          </p:nvCxnSpPr>
          <p:spPr>
            <a:xfrm>
              <a:off x="6752577" y="3422501"/>
              <a:ext cx="447012" cy="1646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569FF221-9806-BF4F-B295-8B5DB053AD32}"/>
                </a:ext>
              </a:extLst>
            </p:cNvPr>
            <p:cNvCxnSpPr>
              <a:cxnSpLocks/>
              <a:stCxn id="139" idx="2"/>
              <a:endCxn id="135" idx="0"/>
            </p:cNvCxnSpPr>
            <p:nvPr/>
          </p:nvCxnSpPr>
          <p:spPr>
            <a:xfrm flipH="1">
              <a:off x="6269237" y="3422501"/>
              <a:ext cx="483340" cy="18932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B30C33FB-0503-184F-BA5B-939C271AE3C1}"/>
                </a:ext>
              </a:extLst>
            </p:cNvPr>
            <p:cNvSpPr/>
            <p:nvPr/>
          </p:nvSpPr>
          <p:spPr>
            <a:xfrm>
              <a:off x="6438777" y="3116909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B802E4C-1A38-004B-99EA-A8FD87EE9B3A}"/>
              </a:ext>
            </a:extLst>
          </p:cNvPr>
          <p:cNvGrpSpPr/>
          <p:nvPr/>
        </p:nvGrpSpPr>
        <p:grpSpPr>
          <a:xfrm>
            <a:off x="2441806" y="1276822"/>
            <a:ext cx="2315178" cy="1319918"/>
            <a:chOff x="126851" y="1756888"/>
            <a:chExt cx="2315178" cy="1319918"/>
          </a:xfrm>
        </p:grpSpPr>
        <p:sp>
          <p:nvSpPr>
            <p:cNvPr id="142" name="Rounded Rectangle 141">
              <a:extLst>
                <a:ext uri="{FF2B5EF4-FFF2-40B4-BE49-F238E27FC236}">
                  <a16:creationId xmlns:a16="http://schemas.microsoft.com/office/drawing/2014/main" id="{66262F92-FE5E-5144-8D24-8A0FCCE439F2}"/>
                </a:ext>
              </a:extLst>
            </p:cNvPr>
            <p:cNvSpPr/>
            <p:nvPr/>
          </p:nvSpPr>
          <p:spPr>
            <a:xfrm>
              <a:off x="191784" y="1756888"/>
              <a:ext cx="2166780" cy="131991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44B7CE3-2E2A-9145-BC89-20B1E7258A66}"/>
                </a:ext>
              </a:extLst>
            </p:cNvPr>
            <p:cNvSpPr txBox="1"/>
            <p:nvPr/>
          </p:nvSpPr>
          <p:spPr>
            <a:xfrm>
              <a:off x="126851" y="1821624"/>
              <a:ext cx="1269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Opt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Plan: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DEC4435-7ED6-8344-987E-E66CE2C48BB8}"/>
                </a:ext>
              </a:extLst>
            </p:cNvPr>
            <p:cNvSpPr/>
            <p:nvPr/>
          </p:nvSpPr>
          <p:spPr>
            <a:xfrm>
              <a:off x="783258" y="2665476"/>
              <a:ext cx="11544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cost: c*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3,4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F08CF73-CBEF-534E-8D53-3497B1F9D112}"/>
                </a:ext>
              </a:extLst>
            </p:cNvPr>
            <p:cNvGrpSpPr/>
            <p:nvPr/>
          </p:nvGrpSpPr>
          <p:grpSpPr>
            <a:xfrm>
              <a:off x="821549" y="1845520"/>
              <a:ext cx="1620480" cy="925800"/>
              <a:chOff x="5955437" y="3116909"/>
              <a:chExt cx="1620480" cy="925800"/>
            </a:xfrm>
          </p:grpSpPr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94C364B-D4D6-C940-B337-3A73141A08CC}"/>
                  </a:ext>
                </a:extLst>
              </p:cNvPr>
              <p:cNvSpPr txBox="1"/>
              <p:nvPr/>
            </p:nvSpPr>
            <p:spPr>
              <a:xfrm>
                <a:off x="5955437" y="3611822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4F90C04-E7A3-9A4D-8723-AFC4BD872A44}"/>
                  </a:ext>
                </a:extLst>
              </p:cNvPr>
              <p:cNvSpPr txBox="1"/>
              <p:nvPr/>
            </p:nvSpPr>
            <p:spPr>
              <a:xfrm>
                <a:off x="6823261" y="3587109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361F345E-D0E9-7445-85FF-FC8214FCCBE0}"/>
                  </a:ext>
                </a:extLst>
              </p:cNvPr>
              <p:cNvCxnSpPr>
                <a:cxnSpLocks/>
                <a:stCxn id="150" idx="2"/>
                <a:endCxn id="147" idx="0"/>
              </p:cNvCxnSpPr>
              <p:nvPr/>
            </p:nvCxnSpPr>
            <p:spPr>
              <a:xfrm>
                <a:off x="6752577" y="3422501"/>
                <a:ext cx="447012" cy="164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C2952B2C-64DF-714F-B384-9EB26D7047CD}"/>
                  </a:ext>
                </a:extLst>
              </p:cNvPr>
              <p:cNvCxnSpPr>
                <a:cxnSpLocks/>
                <a:stCxn id="150" idx="2"/>
                <a:endCxn id="146" idx="0"/>
              </p:cNvCxnSpPr>
              <p:nvPr/>
            </p:nvCxnSpPr>
            <p:spPr>
              <a:xfrm flipH="1">
                <a:off x="6269237" y="3422501"/>
                <a:ext cx="483340" cy="1893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24AA874E-9750-D841-954A-4A8DDF9EF0D3}"/>
                  </a:ext>
                </a:extLst>
              </p:cNvPr>
              <p:cNvSpPr/>
              <p:nvPr/>
            </p:nvSpPr>
            <p:spPr>
              <a:xfrm>
                <a:off x="6438777" y="3116909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FEF5E47-46B7-CD4F-AE61-EE79DC77D657}"/>
              </a:ext>
            </a:extLst>
          </p:cNvPr>
          <p:cNvGrpSpPr/>
          <p:nvPr/>
        </p:nvGrpSpPr>
        <p:grpSpPr>
          <a:xfrm>
            <a:off x="163295" y="2665353"/>
            <a:ext cx="2315178" cy="1319918"/>
            <a:chOff x="126851" y="1756888"/>
            <a:chExt cx="2315178" cy="1319918"/>
          </a:xfrm>
        </p:grpSpPr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E18C70B3-9242-0F4B-84CE-2528B93DD250}"/>
                </a:ext>
              </a:extLst>
            </p:cNvPr>
            <p:cNvSpPr/>
            <p:nvPr/>
          </p:nvSpPr>
          <p:spPr>
            <a:xfrm>
              <a:off x="191784" y="1756888"/>
              <a:ext cx="2166780" cy="131991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89AF3A9-0052-1D4B-A8BB-BDB62B278E25}"/>
                </a:ext>
              </a:extLst>
            </p:cNvPr>
            <p:cNvSpPr txBox="1"/>
            <p:nvPr/>
          </p:nvSpPr>
          <p:spPr>
            <a:xfrm>
              <a:off x="126851" y="1821624"/>
              <a:ext cx="1269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Opt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Plan: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97138CB-C9F3-7D4C-8B17-AA2EB0EB7B58}"/>
                </a:ext>
              </a:extLst>
            </p:cNvPr>
            <p:cNvSpPr/>
            <p:nvPr/>
          </p:nvSpPr>
          <p:spPr>
            <a:xfrm>
              <a:off x="783258" y="2665476"/>
              <a:ext cx="11544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cost: c*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4,5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257441D-D816-4B40-AC3F-3D2E74F37E72}"/>
                </a:ext>
              </a:extLst>
            </p:cNvPr>
            <p:cNvGrpSpPr/>
            <p:nvPr/>
          </p:nvGrpSpPr>
          <p:grpSpPr>
            <a:xfrm>
              <a:off x="821549" y="1845520"/>
              <a:ext cx="1620480" cy="925800"/>
              <a:chOff x="5955437" y="3116909"/>
              <a:chExt cx="1620480" cy="925800"/>
            </a:xfrm>
          </p:grpSpPr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08202A80-A4A0-D245-9837-02BDE8FCE0E5}"/>
                  </a:ext>
                </a:extLst>
              </p:cNvPr>
              <p:cNvSpPr txBox="1"/>
              <p:nvPr/>
            </p:nvSpPr>
            <p:spPr>
              <a:xfrm>
                <a:off x="5955437" y="3611822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B15B868-EB7A-344C-B1D0-25545DC68B92}"/>
                  </a:ext>
                </a:extLst>
              </p:cNvPr>
              <p:cNvSpPr txBox="1"/>
              <p:nvPr/>
            </p:nvSpPr>
            <p:spPr>
              <a:xfrm>
                <a:off x="6823261" y="3587109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91019BF4-3092-324B-892F-5ECD0D611FBB}"/>
                  </a:ext>
                </a:extLst>
              </p:cNvPr>
              <p:cNvCxnSpPr>
                <a:cxnSpLocks/>
                <a:stCxn id="160" idx="2"/>
                <a:endCxn id="157" idx="0"/>
              </p:cNvCxnSpPr>
              <p:nvPr/>
            </p:nvCxnSpPr>
            <p:spPr>
              <a:xfrm>
                <a:off x="6752577" y="3422501"/>
                <a:ext cx="447012" cy="164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5B293DD5-BB61-524E-ADC9-4EE897B3BA37}"/>
                  </a:ext>
                </a:extLst>
              </p:cNvPr>
              <p:cNvCxnSpPr>
                <a:cxnSpLocks/>
                <a:stCxn id="160" idx="2"/>
                <a:endCxn id="156" idx="0"/>
              </p:cNvCxnSpPr>
              <p:nvPr/>
            </p:nvCxnSpPr>
            <p:spPr>
              <a:xfrm flipH="1">
                <a:off x="6269237" y="3422501"/>
                <a:ext cx="483340" cy="1893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4FC02A90-2DF4-154C-8C07-AF1E3BC34076}"/>
                  </a:ext>
                </a:extLst>
              </p:cNvPr>
              <p:cNvSpPr/>
              <p:nvPr/>
            </p:nvSpPr>
            <p:spPr>
              <a:xfrm>
                <a:off x="6438777" y="3116909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BC3215-03C4-4F40-820B-88CD8A5042DD}"/>
              </a:ext>
            </a:extLst>
          </p:cNvPr>
          <p:cNvGrpSpPr/>
          <p:nvPr/>
        </p:nvGrpSpPr>
        <p:grpSpPr>
          <a:xfrm>
            <a:off x="1015087" y="4062950"/>
            <a:ext cx="2061536" cy="1880314"/>
            <a:chOff x="2168740" y="4776809"/>
            <a:chExt cx="2061536" cy="188031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8807F9-2B49-7145-92D4-0CD5C3324D40}"/>
                </a:ext>
              </a:extLst>
            </p:cNvPr>
            <p:cNvSpPr txBox="1"/>
            <p:nvPr/>
          </p:nvSpPr>
          <p:spPr>
            <a:xfrm>
              <a:off x="2168740" y="5277709"/>
              <a:ext cx="5019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400CD5-2F17-0F40-A9A1-430B71A0815B}"/>
                </a:ext>
              </a:extLst>
            </p:cNvPr>
            <p:cNvCxnSpPr>
              <a:cxnSpLocks/>
              <a:stCxn id="73" idx="2"/>
              <a:endCxn id="83" idx="0"/>
            </p:cNvCxnSpPr>
            <p:nvPr/>
          </p:nvCxnSpPr>
          <p:spPr>
            <a:xfrm>
              <a:off x="2830592" y="5082401"/>
              <a:ext cx="414569" cy="16629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4CFB38C-EBD3-894F-99C6-7C54237089C1}"/>
                </a:ext>
              </a:extLst>
            </p:cNvPr>
            <p:cNvCxnSpPr>
              <a:cxnSpLocks/>
              <a:stCxn id="73" idx="2"/>
              <a:endCxn id="31" idx="0"/>
            </p:cNvCxnSpPr>
            <p:nvPr/>
          </p:nvCxnSpPr>
          <p:spPr>
            <a:xfrm flipH="1">
              <a:off x="2419722" y="5082401"/>
              <a:ext cx="410870" cy="1953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E8A590D4-AEFB-E647-86F6-5A491EC29954}"/>
                </a:ext>
              </a:extLst>
            </p:cNvPr>
            <p:cNvSpPr/>
            <p:nvPr/>
          </p:nvSpPr>
          <p:spPr>
            <a:xfrm>
              <a:off x="2516792" y="4776809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301F446-C5C1-7D46-903A-79575A944753}"/>
                </a:ext>
              </a:extLst>
            </p:cNvPr>
            <p:cNvGrpSpPr/>
            <p:nvPr/>
          </p:nvGrpSpPr>
          <p:grpSpPr>
            <a:xfrm>
              <a:off x="2663858" y="5248698"/>
              <a:ext cx="1566418" cy="1408425"/>
              <a:chOff x="3136643" y="1816598"/>
              <a:chExt cx="1566418" cy="1408425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E977D9-3FE1-A842-A2A1-5A8AAA755B61}"/>
                  </a:ext>
                </a:extLst>
              </p:cNvPr>
              <p:cNvSpPr txBox="1"/>
              <p:nvPr/>
            </p:nvSpPr>
            <p:spPr>
              <a:xfrm>
                <a:off x="3453291" y="2794136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9F6E784-1B74-194F-AAA1-077274A80027}"/>
                  </a:ext>
                </a:extLst>
              </p:cNvPr>
              <p:cNvSpPr txBox="1"/>
              <p:nvPr/>
            </p:nvSpPr>
            <p:spPr>
              <a:xfrm>
                <a:off x="3950405" y="2769423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650BD016-3C79-FA40-BEEC-BC92D666EDD1}"/>
                  </a:ext>
                </a:extLst>
              </p:cNvPr>
              <p:cNvCxnSpPr>
                <a:cxnSpLocks/>
                <a:stCxn id="82" idx="2"/>
                <a:endCxn id="76" idx="0"/>
              </p:cNvCxnSpPr>
              <p:nvPr/>
            </p:nvCxnSpPr>
            <p:spPr>
              <a:xfrm>
                <a:off x="4053747" y="2582088"/>
                <a:ext cx="272986" cy="1873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3CC53FA3-4427-0645-99CC-064BC63536C6}"/>
                  </a:ext>
                </a:extLst>
              </p:cNvPr>
              <p:cNvCxnSpPr>
                <a:cxnSpLocks/>
                <a:stCxn id="82" idx="2"/>
                <a:endCxn id="75" idx="0"/>
              </p:cNvCxnSpPr>
              <p:nvPr/>
            </p:nvCxnSpPr>
            <p:spPr>
              <a:xfrm flipH="1">
                <a:off x="3767091" y="2582088"/>
                <a:ext cx="286656" cy="2120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083F731-2FCD-AE41-9939-59088EAE1E4E}"/>
                  </a:ext>
                </a:extLst>
              </p:cNvPr>
              <p:cNvSpPr txBox="1"/>
              <p:nvPr/>
            </p:nvSpPr>
            <p:spPr>
              <a:xfrm>
                <a:off x="3136643" y="2276496"/>
                <a:ext cx="5019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2A81F81-6642-5941-A3E8-EAB624B32938}"/>
                  </a:ext>
                </a:extLst>
              </p:cNvPr>
              <p:cNvCxnSpPr>
                <a:cxnSpLocks/>
                <a:stCxn id="83" idx="2"/>
                <a:endCxn id="82" idx="0"/>
              </p:cNvCxnSpPr>
              <p:nvPr/>
            </p:nvCxnSpPr>
            <p:spPr>
              <a:xfrm>
                <a:off x="3717946" y="2122190"/>
                <a:ext cx="335801" cy="1543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132E8F11-92CD-2240-9D68-3E512C732B7E}"/>
                  </a:ext>
                </a:extLst>
              </p:cNvPr>
              <p:cNvCxnSpPr>
                <a:cxnSpLocks/>
                <a:stCxn id="83" idx="2"/>
                <a:endCxn id="79" idx="0"/>
              </p:cNvCxnSpPr>
              <p:nvPr/>
            </p:nvCxnSpPr>
            <p:spPr>
              <a:xfrm flipH="1">
                <a:off x="3387625" y="2122190"/>
                <a:ext cx="330321" cy="1543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F28A2F48-6B80-074F-884D-95B7F2906CC1}"/>
                  </a:ext>
                </a:extLst>
              </p:cNvPr>
              <p:cNvSpPr/>
              <p:nvPr/>
            </p:nvSpPr>
            <p:spPr>
              <a:xfrm>
                <a:off x="3739947" y="2276496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5D4D24AF-D29A-074E-BCF7-FE05436DE853}"/>
                  </a:ext>
                </a:extLst>
              </p:cNvPr>
              <p:cNvSpPr/>
              <p:nvPr/>
            </p:nvSpPr>
            <p:spPr>
              <a:xfrm>
                <a:off x="3404146" y="1816598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5A82D35-C250-3946-92A8-B45AA56956A4}"/>
              </a:ext>
            </a:extLst>
          </p:cNvPr>
          <p:cNvSpPr/>
          <p:nvPr/>
        </p:nvSpPr>
        <p:spPr>
          <a:xfrm>
            <a:off x="1974328" y="6416283"/>
            <a:ext cx="5195344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left/right child matters compare 2x more plans 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BF78540-009D-9B4E-8565-646E4DF2C176}"/>
              </a:ext>
            </a:extLst>
          </p:cNvPr>
          <p:cNvSpPr/>
          <p:nvPr/>
        </p:nvSpPr>
        <p:spPr>
          <a:xfrm>
            <a:off x="874476" y="5966303"/>
            <a:ext cx="2225385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the split point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C17E29A-E6B9-7E44-A620-4880AAA4962A}"/>
              </a:ext>
            </a:extLst>
          </p:cNvPr>
          <p:cNvSpPr/>
          <p:nvPr/>
        </p:nvSpPr>
        <p:spPr>
          <a:xfrm>
            <a:off x="78046" y="4421011"/>
            <a:ext cx="1083994" cy="87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plans: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00103B-0BA5-F74E-96DF-65A4296052E2}"/>
              </a:ext>
            </a:extLst>
          </p:cNvPr>
          <p:cNvGrpSpPr/>
          <p:nvPr/>
        </p:nvGrpSpPr>
        <p:grpSpPr>
          <a:xfrm>
            <a:off x="3241998" y="4523710"/>
            <a:ext cx="2932518" cy="1451567"/>
            <a:chOff x="3241998" y="4523710"/>
            <a:chExt cx="2932518" cy="1451567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62CE6DE8-7683-004A-BDE2-23FD05CEC91C}"/>
                </a:ext>
              </a:extLst>
            </p:cNvPr>
            <p:cNvGrpSpPr/>
            <p:nvPr/>
          </p:nvGrpSpPr>
          <p:grpSpPr>
            <a:xfrm>
              <a:off x="3241998" y="5049477"/>
              <a:ext cx="1620480" cy="925800"/>
              <a:chOff x="5955437" y="3116909"/>
              <a:chExt cx="1620480" cy="925800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4A666BF-B6E4-4D4A-B8CD-68FA0BAFEC09}"/>
                  </a:ext>
                </a:extLst>
              </p:cNvPr>
              <p:cNvSpPr txBox="1"/>
              <p:nvPr/>
            </p:nvSpPr>
            <p:spPr>
              <a:xfrm>
                <a:off x="5955437" y="3611822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99F12C55-F28C-BB4D-9620-D05001C1A43C}"/>
                  </a:ext>
                </a:extLst>
              </p:cNvPr>
              <p:cNvSpPr txBox="1"/>
              <p:nvPr/>
            </p:nvSpPr>
            <p:spPr>
              <a:xfrm>
                <a:off x="6823261" y="3587109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0E00D495-A39B-C346-B8F6-91D20AF88471}"/>
                  </a:ext>
                </a:extLst>
              </p:cNvPr>
              <p:cNvCxnSpPr>
                <a:cxnSpLocks/>
                <a:stCxn id="187" idx="2"/>
                <a:endCxn id="184" idx="0"/>
              </p:cNvCxnSpPr>
              <p:nvPr/>
            </p:nvCxnSpPr>
            <p:spPr>
              <a:xfrm>
                <a:off x="6752577" y="3422501"/>
                <a:ext cx="447012" cy="164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B978678A-3AD8-334D-9A7F-836566E84233}"/>
                  </a:ext>
                </a:extLst>
              </p:cNvPr>
              <p:cNvCxnSpPr>
                <a:cxnSpLocks/>
                <a:stCxn id="187" idx="2"/>
                <a:endCxn id="183" idx="0"/>
              </p:cNvCxnSpPr>
              <p:nvPr/>
            </p:nvCxnSpPr>
            <p:spPr>
              <a:xfrm flipH="1">
                <a:off x="6269237" y="3422501"/>
                <a:ext cx="483340" cy="1893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8CE752E0-7285-9146-AE48-8551F5295CC9}"/>
                  </a:ext>
                </a:extLst>
              </p:cNvPr>
              <p:cNvSpPr/>
              <p:nvPr/>
            </p:nvSpPr>
            <p:spPr>
              <a:xfrm>
                <a:off x="6438777" y="3116909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17523C8-79A2-7648-BFD1-CC14704A38D5}"/>
                </a:ext>
              </a:extLst>
            </p:cNvPr>
            <p:cNvGrpSpPr/>
            <p:nvPr/>
          </p:nvGrpSpPr>
          <p:grpSpPr>
            <a:xfrm>
              <a:off x="4554036" y="5049477"/>
              <a:ext cx="1620480" cy="925800"/>
              <a:chOff x="5955437" y="3116909"/>
              <a:chExt cx="1620480" cy="925800"/>
            </a:xfrm>
          </p:grpSpPr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3063FCF7-F7A8-F643-A8CC-3999A34AB731}"/>
                  </a:ext>
                </a:extLst>
              </p:cNvPr>
              <p:cNvSpPr txBox="1"/>
              <p:nvPr/>
            </p:nvSpPr>
            <p:spPr>
              <a:xfrm>
                <a:off x="5955437" y="3611822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EE8AE74E-32E8-E349-B608-5DCC44A98AC3}"/>
                  </a:ext>
                </a:extLst>
              </p:cNvPr>
              <p:cNvSpPr txBox="1"/>
              <p:nvPr/>
            </p:nvSpPr>
            <p:spPr>
              <a:xfrm>
                <a:off x="6823261" y="3587109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1" name="Straight Arrow Connector 190">
                <a:extLst>
                  <a:ext uri="{FF2B5EF4-FFF2-40B4-BE49-F238E27FC236}">
                    <a16:creationId xmlns:a16="http://schemas.microsoft.com/office/drawing/2014/main" id="{CCF85CE7-5BDE-C24A-80C3-6B8B3E7CB15A}"/>
                  </a:ext>
                </a:extLst>
              </p:cNvPr>
              <p:cNvCxnSpPr>
                <a:cxnSpLocks/>
                <a:stCxn id="193" idx="2"/>
                <a:endCxn id="190" idx="0"/>
              </p:cNvCxnSpPr>
              <p:nvPr/>
            </p:nvCxnSpPr>
            <p:spPr>
              <a:xfrm>
                <a:off x="6752577" y="3422501"/>
                <a:ext cx="447012" cy="164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8151D523-05CF-E74F-AAFF-3A49DFBEB8BB}"/>
                  </a:ext>
                </a:extLst>
              </p:cNvPr>
              <p:cNvCxnSpPr>
                <a:cxnSpLocks/>
                <a:stCxn id="193" idx="2"/>
                <a:endCxn id="189" idx="0"/>
              </p:cNvCxnSpPr>
              <p:nvPr/>
            </p:nvCxnSpPr>
            <p:spPr>
              <a:xfrm flipH="1">
                <a:off x="6269237" y="3422501"/>
                <a:ext cx="483340" cy="1893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Rounded Rectangle 192">
                <a:extLst>
                  <a:ext uri="{FF2B5EF4-FFF2-40B4-BE49-F238E27FC236}">
                    <a16:creationId xmlns:a16="http://schemas.microsoft.com/office/drawing/2014/main" id="{78450056-0666-C249-8608-B93952D4280E}"/>
                  </a:ext>
                </a:extLst>
              </p:cNvPr>
              <p:cNvSpPr/>
              <p:nvPr/>
            </p:nvSpPr>
            <p:spPr>
              <a:xfrm>
                <a:off x="6438777" y="3116909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  <p:sp>
          <p:nvSpPr>
            <p:cNvPr id="194" name="Rounded Rectangle 193">
              <a:extLst>
                <a:ext uri="{FF2B5EF4-FFF2-40B4-BE49-F238E27FC236}">
                  <a16:creationId xmlns:a16="http://schemas.microsoft.com/office/drawing/2014/main" id="{21B81B19-BF06-1142-87B8-9F2718C19EA3}"/>
                </a:ext>
              </a:extLst>
            </p:cNvPr>
            <p:cNvSpPr/>
            <p:nvPr/>
          </p:nvSpPr>
          <p:spPr>
            <a:xfrm>
              <a:off x="4359719" y="4523710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47BEF2F8-7383-4E40-939E-044760A62280}"/>
                </a:ext>
              </a:extLst>
            </p:cNvPr>
            <p:cNvCxnSpPr>
              <a:cxnSpLocks/>
              <a:stCxn id="194" idx="2"/>
              <a:endCxn id="187" idx="0"/>
            </p:cNvCxnSpPr>
            <p:nvPr/>
          </p:nvCxnSpPr>
          <p:spPr>
            <a:xfrm flipH="1">
              <a:off x="4039138" y="4829302"/>
              <a:ext cx="634381" cy="22017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D655A797-0F4B-8242-BCD3-79A365C6C5DA}"/>
                </a:ext>
              </a:extLst>
            </p:cNvPr>
            <p:cNvCxnSpPr>
              <a:cxnSpLocks/>
              <a:stCxn id="194" idx="2"/>
              <a:endCxn id="193" idx="0"/>
            </p:cNvCxnSpPr>
            <p:nvPr/>
          </p:nvCxnSpPr>
          <p:spPr>
            <a:xfrm>
              <a:off x="4673519" y="4829302"/>
              <a:ext cx="677657" cy="22017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233B65F6-B48B-D144-81CF-B2D9E008FC6B}"/>
              </a:ext>
            </a:extLst>
          </p:cNvPr>
          <p:cNvSpPr/>
          <p:nvPr/>
        </p:nvSpPr>
        <p:spPr>
          <a:xfrm>
            <a:off x="6956680" y="1225546"/>
            <a:ext cx="2133600" cy="2244269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EF45AA48-2815-6145-AC69-B13067B9FE32}"/>
              </a:ext>
            </a:extLst>
          </p:cNvPr>
          <p:cNvSpPr/>
          <p:nvPr/>
        </p:nvSpPr>
        <p:spPr>
          <a:xfrm>
            <a:off x="187787" y="1278948"/>
            <a:ext cx="2133600" cy="1277810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4D1BF544-16F8-874E-ABBE-A4FD1FCCD3C7}"/>
              </a:ext>
            </a:extLst>
          </p:cNvPr>
          <p:cNvSpPr/>
          <p:nvPr/>
        </p:nvSpPr>
        <p:spPr>
          <a:xfrm>
            <a:off x="253286" y="2668346"/>
            <a:ext cx="2133600" cy="1334134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6E9B6BA-30F1-FB47-8245-F982F6E27242}"/>
              </a:ext>
            </a:extLst>
          </p:cNvPr>
          <p:cNvSpPr/>
          <p:nvPr/>
        </p:nvSpPr>
        <p:spPr>
          <a:xfrm>
            <a:off x="3764299" y="5966303"/>
            <a:ext cx="2225385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the split point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1B66BD39-6E8E-6D4B-9403-744B6B27F0C6}"/>
              </a:ext>
            </a:extLst>
          </p:cNvPr>
          <p:cNvSpPr/>
          <p:nvPr/>
        </p:nvSpPr>
        <p:spPr>
          <a:xfrm>
            <a:off x="4786381" y="1235447"/>
            <a:ext cx="2049822" cy="2149463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6EF8FE-29F7-FA42-ABF2-5C7C4019007F}"/>
              </a:ext>
            </a:extLst>
          </p:cNvPr>
          <p:cNvGrpSpPr/>
          <p:nvPr/>
        </p:nvGrpSpPr>
        <p:grpSpPr>
          <a:xfrm>
            <a:off x="6349414" y="3992859"/>
            <a:ext cx="2179814" cy="2107350"/>
            <a:chOff x="6349414" y="3992859"/>
            <a:chExt cx="2179814" cy="2107350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85738504-C49D-144D-A720-44CF5FEEC8C7}"/>
                </a:ext>
              </a:extLst>
            </p:cNvPr>
            <p:cNvGrpSpPr/>
            <p:nvPr/>
          </p:nvGrpSpPr>
          <p:grpSpPr>
            <a:xfrm>
              <a:off x="6349414" y="4521179"/>
              <a:ext cx="1727785" cy="1579030"/>
              <a:chOff x="3393000" y="1598701"/>
              <a:chExt cx="1753892" cy="1626322"/>
            </a:xfrm>
          </p:grpSpPr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09DBF77-A00C-004C-9929-1121EFD6AFD6}"/>
                  </a:ext>
                </a:extLst>
              </p:cNvPr>
              <p:cNvSpPr txBox="1"/>
              <p:nvPr/>
            </p:nvSpPr>
            <p:spPr>
              <a:xfrm>
                <a:off x="3393000" y="2794136"/>
                <a:ext cx="6275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FA5C0B69-7FA9-C547-994C-4823F91A3540}"/>
                  </a:ext>
                </a:extLst>
              </p:cNvPr>
              <p:cNvSpPr txBox="1"/>
              <p:nvPr/>
            </p:nvSpPr>
            <p:spPr>
              <a:xfrm>
                <a:off x="4060125" y="2769423"/>
                <a:ext cx="75265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DB1B3585-16F6-FC41-A5E6-D4609C97BE53}"/>
                  </a:ext>
                </a:extLst>
              </p:cNvPr>
              <p:cNvCxnSpPr>
                <a:cxnSpLocks/>
                <a:stCxn id="212" idx="2"/>
                <a:endCxn id="206" idx="0"/>
              </p:cNvCxnSpPr>
              <p:nvPr/>
            </p:nvCxnSpPr>
            <p:spPr>
              <a:xfrm>
                <a:off x="4053747" y="2582088"/>
                <a:ext cx="382707" cy="1873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137FE0E3-7D5B-5C46-A5C0-F9F2CB04E564}"/>
                  </a:ext>
                </a:extLst>
              </p:cNvPr>
              <p:cNvCxnSpPr>
                <a:cxnSpLocks/>
                <a:stCxn id="212" idx="2"/>
                <a:endCxn id="205" idx="0"/>
              </p:cNvCxnSpPr>
              <p:nvPr/>
            </p:nvCxnSpPr>
            <p:spPr>
              <a:xfrm flipH="1">
                <a:off x="3706800" y="2582088"/>
                <a:ext cx="346947" cy="2120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0F36DFE-334B-0A48-8E89-22879FDB8159}"/>
                  </a:ext>
                </a:extLst>
              </p:cNvPr>
              <p:cNvSpPr txBox="1"/>
              <p:nvPr/>
            </p:nvSpPr>
            <p:spPr>
              <a:xfrm>
                <a:off x="4644929" y="2234353"/>
                <a:ext cx="5019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1B97C526-57ED-F348-807C-EF3597F1D940}"/>
                  </a:ext>
                </a:extLst>
              </p:cNvPr>
              <p:cNvCxnSpPr>
                <a:cxnSpLocks/>
                <a:stCxn id="213" idx="2"/>
              </p:cNvCxnSpPr>
              <p:nvPr/>
            </p:nvCxnSpPr>
            <p:spPr>
              <a:xfrm flipH="1">
                <a:off x="4040363" y="1904293"/>
                <a:ext cx="470982" cy="2910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B5D91E0B-FC09-8A48-AB34-7CA8FBB6DF57}"/>
                  </a:ext>
                </a:extLst>
              </p:cNvPr>
              <p:cNvCxnSpPr>
                <a:cxnSpLocks/>
                <a:stCxn id="213" idx="2"/>
                <a:endCxn id="209" idx="0"/>
              </p:cNvCxnSpPr>
              <p:nvPr/>
            </p:nvCxnSpPr>
            <p:spPr>
              <a:xfrm>
                <a:off x="4511345" y="1904293"/>
                <a:ext cx="384566" cy="3300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2" name="Rounded Rectangle 211">
                <a:extLst>
                  <a:ext uri="{FF2B5EF4-FFF2-40B4-BE49-F238E27FC236}">
                    <a16:creationId xmlns:a16="http://schemas.microsoft.com/office/drawing/2014/main" id="{FB3A3C23-742C-0B46-A1BD-A09F78CDC3CC}"/>
                  </a:ext>
                </a:extLst>
              </p:cNvPr>
              <p:cNvSpPr/>
              <p:nvPr/>
            </p:nvSpPr>
            <p:spPr>
              <a:xfrm>
                <a:off x="3739947" y="2276496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  <p:sp>
            <p:nvSpPr>
              <p:cNvPr id="213" name="Rounded Rectangle 212">
                <a:extLst>
                  <a:ext uri="{FF2B5EF4-FFF2-40B4-BE49-F238E27FC236}">
                    <a16:creationId xmlns:a16="http://schemas.microsoft.com/office/drawing/2014/main" id="{659CADFF-6C74-0740-A09A-F8E359A5FBF5}"/>
                  </a:ext>
                </a:extLst>
              </p:cNvPr>
              <p:cNvSpPr/>
              <p:nvPr/>
            </p:nvSpPr>
            <p:spPr>
              <a:xfrm>
                <a:off x="4197545" y="1598701"/>
                <a:ext cx="627599" cy="30559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</a:t>
                </a:r>
              </a:p>
            </p:txBody>
          </p:sp>
        </p:grp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081BB31D-41A0-E641-9B12-36F04A10E8EA}"/>
                </a:ext>
              </a:extLst>
            </p:cNvPr>
            <p:cNvCxnSpPr>
              <a:cxnSpLocks/>
              <a:stCxn id="215" idx="2"/>
              <a:endCxn id="213" idx="0"/>
            </p:cNvCxnSpPr>
            <p:nvPr/>
          </p:nvCxnSpPr>
          <p:spPr>
            <a:xfrm flipH="1">
              <a:off x="7451112" y="4298451"/>
              <a:ext cx="378842" cy="22272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Rounded Rectangle 214">
              <a:extLst>
                <a:ext uri="{FF2B5EF4-FFF2-40B4-BE49-F238E27FC236}">
                  <a16:creationId xmlns:a16="http://schemas.microsoft.com/office/drawing/2014/main" id="{D196615D-E165-6F44-81AE-A37CFC461894}"/>
                </a:ext>
              </a:extLst>
            </p:cNvPr>
            <p:cNvSpPr/>
            <p:nvPr/>
          </p:nvSpPr>
          <p:spPr>
            <a:xfrm>
              <a:off x="7516154" y="3992859"/>
              <a:ext cx="627599" cy="30559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</p:txBody>
        </p: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6D997924-C3A1-C24F-B92A-A5A60CA84A1E}"/>
                </a:ext>
              </a:extLst>
            </p:cNvPr>
            <p:cNvCxnSpPr>
              <a:cxnSpLocks/>
              <a:stCxn id="215" idx="2"/>
              <a:endCxn id="217" idx="0"/>
            </p:cNvCxnSpPr>
            <p:nvPr/>
          </p:nvCxnSpPr>
          <p:spPr>
            <a:xfrm>
              <a:off x="7829954" y="4298451"/>
              <a:ext cx="452029" cy="22284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C63481C-F381-B846-9B92-980B68E4BD75}"/>
                </a:ext>
              </a:extLst>
            </p:cNvPr>
            <p:cNvSpPr txBox="1"/>
            <p:nvPr/>
          </p:nvSpPr>
          <p:spPr>
            <a:xfrm>
              <a:off x="8034737" y="4521292"/>
              <a:ext cx="4944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2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BDA0B9B-ED72-A94C-B2B5-B3CFE17CFAE6}"/>
              </a:ext>
            </a:extLst>
          </p:cNvPr>
          <p:cNvSpPr/>
          <p:nvPr/>
        </p:nvSpPr>
        <p:spPr>
          <a:xfrm>
            <a:off x="6534246" y="5966303"/>
            <a:ext cx="2225385" cy="456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the split point</a:t>
            </a:r>
          </a:p>
        </p:txBody>
      </p:sp>
    </p:spTree>
    <p:extLst>
      <p:ext uri="{BB962C8B-B14F-4D97-AF65-F5344CB8AC3E}">
        <p14:creationId xmlns:p14="http://schemas.microsoft.com/office/powerpoint/2010/main" val="328206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0" grpId="0"/>
      <p:bldP spid="94" grpId="0"/>
      <p:bldP spid="199" grpId="0" animBg="1"/>
      <p:bldP spid="199" grpId="1" animBg="1"/>
      <p:bldP spid="200" grpId="0" animBg="1"/>
      <p:bldP spid="200" grpId="1" animBg="1"/>
      <p:bldP spid="201" grpId="0" animBg="1"/>
      <p:bldP spid="201" grpId="1" animBg="1"/>
      <p:bldP spid="202" grpId="0"/>
      <p:bldP spid="203" grpId="0" animBg="1"/>
      <p:bldP spid="2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47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Rule-based Transformations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38AAD-1A51-5543-9A58-913192EA6AF1}"/>
              </a:ext>
            </a:extLst>
          </p:cNvPr>
          <p:cNvSpPr txBox="1"/>
          <p:nvPr/>
        </p:nvSpPr>
        <p:spPr>
          <a:xfrm>
            <a:off x="83452" y="773927"/>
            <a:ext cx="9060548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DP-based join optimizer algorithm only considered join-only queries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What if there was a selection, projection, group-by aggregate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When possible we consider them as we enumerate plans but often in a </a:t>
            </a:r>
            <a:r>
              <a:rPr lang="en-US" sz="2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manner</a:t>
            </a:r>
          </a:p>
        </p:txBody>
      </p:sp>
    </p:spTree>
    <p:extLst>
      <p:ext uri="{BB962C8B-B14F-4D97-AF65-F5344CB8AC3E}">
        <p14:creationId xmlns:p14="http://schemas.microsoft.com/office/powerpoint/2010/main" val="11963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FE35F-BE18-9645-AA5F-45C20163D13B}"/>
              </a:ext>
            </a:extLst>
          </p:cNvPr>
          <p:cNvSpPr/>
          <p:nvPr/>
        </p:nvSpPr>
        <p:spPr>
          <a:xfrm>
            <a:off x="156519" y="905924"/>
            <a:ext cx="7920681" cy="1294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R1 NATURAL JOIN R2 NATURAL JOIN R3 NATURAL JOIN R4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R1.A1 = “foo” AND R3.A3=“bar”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/>
              <p:nvPr/>
            </p:nvSpPr>
            <p:spPr>
              <a:xfrm>
                <a:off x="0" y="2200253"/>
                <a:ext cx="9060548" cy="4178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Intuitively instead of enumerating a plan for R1 we should enumerate a plan for relation: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𝑓𝑜𝑜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Similarly instead of R2, we should enumerate plans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Why?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But not if the predicate was: 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R1.A1 = “foo” </a:t>
                </a:r>
                <a:r>
                  <a:rPr lang="en-US" sz="2400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OR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R3.A3=“bar”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to enumerate is governed by algebraic laws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This is an important advantage of implementing a query language that’s based on a formal algebra: i.e., relational algebra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00253"/>
                <a:ext cx="9060548" cy="4178965"/>
              </a:xfrm>
              <a:prstGeom prst="rect">
                <a:avLst/>
              </a:prstGeom>
              <a:blipFill>
                <a:blip r:embed="rId3"/>
                <a:stretch>
                  <a:fillRect l="-700" r="-1541" b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2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FE35F-BE18-9645-AA5F-45C20163D13B}"/>
              </a:ext>
            </a:extLst>
          </p:cNvPr>
          <p:cNvSpPr/>
          <p:nvPr/>
        </p:nvSpPr>
        <p:spPr>
          <a:xfrm>
            <a:off x="156519" y="905924"/>
            <a:ext cx="7920681" cy="1294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R1 NATURAL JOIN R2 NATURAL JOIN R3 NATURAL JOIN R4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R1.A1 = “foo” AND R3.A3=“bar”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/>
              <p:nvPr/>
            </p:nvSpPr>
            <p:spPr>
              <a:xfrm>
                <a:off x="0" y="2200253"/>
                <a:ext cx="9060548" cy="4282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 relational algebra: </a:t>
                </a:r>
              </a:p>
              <a:p>
                <a:pPr>
                  <a:lnSpc>
                    <a:spcPts val="328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𝑓𝑜𝑜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𝑓𝑜𝑜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 marL="342900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expression effectively joins these smaller relations:</a:t>
                </a:r>
              </a:p>
              <a:p>
                <a:pPr marL="971550" lvl="1" indent="-514350">
                  <a:lnSpc>
                    <a:spcPts val="328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𝑓𝑜𝑜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971550" lvl="1" indent="-514350">
                  <a:lnSpc>
                    <a:spcPts val="3280"/>
                  </a:lnSpc>
                  <a:buFont typeface="+mj-lt"/>
                  <a:buAutoNum type="romanLcPeriod"/>
                </a:pPr>
                <a:r>
                  <a:rPr lang="en-US" sz="240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R2</a:t>
                </a:r>
              </a:p>
              <a:p>
                <a:pPr marL="971550" lvl="1" indent="-514350">
                  <a:lnSpc>
                    <a:spcPts val="328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𝑏𝑎𝑟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71550" lvl="1" indent="-514350">
                  <a:lnSpc>
                    <a:spcPts val="328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if WHERE clause was 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R1.A1 = “foo” OR R3.A3=“bar”?</a:t>
                </a:r>
              </a:p>
              <a:p>
                <a:pPr marL="800100" lvl="1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Apply the predicate only for sub-queries with both R1 and R3.</a:t>
                </a:r>
              </a:p>
              <a:p>
                <a:pPr marL="342900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above algebraic law is called: </a:t>
                </a:r>
                <a:r>
                  <a:rPr lang="en-US" sz="22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pushing down selections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00253"/>
                <a:ext cx="9060548" cy="4282647"/>
              </a:xfrm>
              <a:prstGeom prst="rect">
                <a:avLst/>
              </a:prstGeom>
              <a:blipFill>
                <a:blip r:embed="rId3"/>
                <a:stretch>
                  <a:fillRect l="-700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4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 Algebraic Transformation Rules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/>
              <p:nvPr/>
            </p:nvSpPr>
            <p:spPr>
              <a:xfrm>
                <a:off x="0" y="807082"/>
                <a:ext cx="9060548" cy="540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Will use pure rel. algebra notation but can use our logical plan 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notaiton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to/from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×</m:t>
                        </m:r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</m:sub>
                    </m:sSub>
                    <m:d>
                      <m:d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</m:e>
                    </m:d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𝑈𝑠𝑒𝑟</m:t>
                    </m:r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⋈</m:t>
                    </m:r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𝑀𝑒𝑚𝑏𝑒𝑟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Merge/split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’s: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&gt;20</m:t>
                        </m:r>
                      </m:sub>
                    </m:sSub>
                    <m:d>
                      <m:d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=0.8</m:t>
                            </m:r>
                          </m:sub>
                        </m:s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&gt;20∧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𝑝𝑜𝑝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=0.8</m:t>
                        </m:r>
                      </m:sub>
                    </m:sSub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𝑈𝑠𝑒𝑟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Merge/split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𝜋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’s: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</m:sub>
                    </m:sSub>
                    <m:d>
                      <m:d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𝑎𝑔𝑒</m:t>
                            </m:r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</m:sub>
                        </m:s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𝑈𝑠𝑒𝑟</m:t>
                        </m:r>
                      </m:e>
                    </m:d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</m:sub>
                    </m:sSub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𝑈𝑠𝑒𝑟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ts val="3280"/>
                  </a:lnSpc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7082"/>
                <a:ext cx="9060548" cy="5402248"/>
              </a:xfrm>
              <a:prstGeom prst="rect">
                <a:avLst/>
              </a:prstGeom>
              <a:blipFill>
                <a:blip r:embed="rId3"/>
                <a:stretch>
                  <a:fillRect l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66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In Logical Plan Notation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39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6078C-ADA4-D748-B3D8-14C7878999BA}"/>
                  </a:ext>
                </a:extLst>
              </p:cNvPr>
              <p:cNvSpPr txBox="1"/>
              <p:nvPr/>
            </p:nvSpPr>
            <p:spPr>
              <a:xfrm>
                <a:off x="0" y="807082"/>
                <a:ext cx="9060548" cy="1216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Merge/split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’s: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sz="22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&gt;20</m:t>
                        </m:r>
                      </m:sub>
                    </m:sSub>
                    <m:d>
                      <m:d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CA" sz="2200" i="1"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lang="en-CA" sz="2200" i="1">
                                <a:latin typeface="Cambria Math" panose="02040503050406030204" pitchFamily="18" charset="0"/>
                              </a:rPr>
                              <m:t>=0.8</m:t>
                            </m:r>
                          </m:sub>
                        </m:s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&gt;20∧</m:t>
                        </m:r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𝑝𝑜𝑝</m:t>
                        </m:r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=0.8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𝑈𝑠𝑒𝑟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6078C-ADA4-D748-B3D8-14C787899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7082"/>
                <a:ext cx="9060548" cy="1216936"/>
              </a:xfrm>
              <a:prstGeom prst="rect">
                <a:avLst/>
              </a:prstGeom>
              <a:blipFill>
                <a:blip r:embed="rId3"/>
                <a:stretch>
                  <a:fillRect l="-700" b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D15108E-78CF-0C42-AF03-B91F4F0AD6A4}"/>
              </a:ext>
            </a:extLst>
          </p:cNvPr>
          <p:cNvGrpSpPr/>
          <p:nvPr/>
        </p:nvGrpSpPr>
        <p:grpSpPr>
          <a:xfrm>
            <a:off x="1076177" y="2578853"/>
            <a:ext cx="2920289" cy="3328439"/>
            <a:chOff x="1076177" y="2722479"/>
            <a:chExt cx="2920289" cy="332843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8ADD5E7-94C5-D443-8B97-EA2636A26F43}"/>
                </a:ext>
              </a:extLst>
            </p:cNvPr>
            <p:cNvSpPr/>
            <p:nvPr/>
          </p:nvSpPr>
          <p:spPr>
            <a:xfrm>
              <a:off x="1076177" y="4526207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age&gt;20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83F3779-9232-DE4A-B0E8-6B92FD509E7A}"/>
                </a:ext>
              </a:extLst>
            </p:cNvPr>
            <p:cNvSpPr/>
            <p:nvPr/>
          </p:nvSpPr>
          <p:spPr>
            <a:xfrm>
              <a:off x="1256389" y="5512352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7FE18B-256E-C142-AFEE-C9649425E957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1742474" y="5064773"/>
              <a:ext cx="0" cy="44757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F62902A3-9FCA-EE42-A8AC-CC7B0323FED9}"/>
                </a:ext>
              </a:extLst>
            </p:cNvPr>
            <p:cNvSpPr/>
            <p:nvPr/>
          </p:nvSpPr>
          <p:spPr>
            <a:xfrm>
              <a:off x="1076177" y="3624343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pop&gt;0.8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C61E14A-5123-6E49-9714-1C23EFBD98D2}"/>
                </a:ext>
              </a:extLst>
            </p:cNvPr>
            <p:cNvCxnSpPr>
              <a:cxnSpLocks/>
              <a:stCxn id="11" idx="2"/>
              <a:endCxn id="8" idx="0"/>
            </p:cNvCxnSpPr>
            <p:nvPr/>
          </p:nvCxnSpPr>
          <p:spPr>
            <a:xfrm>
              <a:off x="1742474" y="4162909"/>
              <a:ext cx="0" cy="36329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A5042F-DAD2-C345-BE37-8A99B2AB1628}"/>
                </a:ext>
              </a:extLst>
            </p:cNvPr>
            <p:cNvCxnSpPr>
              <a:cxnSpLocks/>
              <a:stCxn id="19" idx="2"/>
              <a:endCxn id="11" idx="0"/>
            </p:cNvCxnSpPr>
            <p:nvPr/>
          </p:nvCxnSpPr>
          <p:spPr>
            <a:xfrm flipH="1">
              <a:off x="1742474" y="3261045"/>
              <a:ext cx="719098" cy="36329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96FCC4C-697E-4644-B6DE-C6E58FF6E5CD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2461572" y="3261045"/>
              <a:ext cx="868598" cy="4434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413C512-52DA-6148-B833-D46B44ECB2D7}"/>
                </a:ext>
              </a:extLst>
            </p:cNvPr>
            <p:cNvSpPr/>
            <p:nvPr/>
          </p:nvSpPr>
          <p:spPr>
            <a:xfrm>
              <a:off x="1795275" y="2722479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1702773-4029-0042-982C-B527B24BD5EA}"/>
                </a:ext>
              </a:extLst>
            </p:cNvPr>
            <p:cNvSpPr/>
            <p:nvPr/>
          </p:nvSpPr>
          <p:spPr>
            <a:xfrm>
              <a:off x="2663873" y="3704507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855BD9-D83D-8348-9CB8-25BC928E77BC}"/>
              </a:ext>
            </a:extLst>
          </p:cNvPr>
          <p:cNvGrpSpPr/>
          <p:nvPr/>
        </p:nvGrpSpPr>
        <p:grpSpPr>
          <a:xfrm>
            <a:off x="4928384" y="2578853"/>
            <a:ext cx="2779228" cy="3328439"/>
            <a:chOff x="1217238" y="2722479"/>
            <a:chExt cx="2779228" cy="3328439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670057C7-E2FC-5541-BDD0-027F061E641A}"/>
                </a:ext>
              </a:extLst>
            </p:cNvPr>
            <p:cNvSpPr/>
            <p:nvPr/>
          </p:nvSpPr>
          <p:spPr>
            <a:xfrm>
              <a:off x="1217238" y="4243073"/>
              <a:ext cx="1332594" cy="8217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age&gt;20 ∧ pop&gt;0.8 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9BAA67C2-2401-564B-8264-A4D36063DD7F}"/>
                </a:ext>
              </a:extLst>
            </p:cNvPr>
            <p:cNvSpPr/>
            <p:nvPr/>
          </p:nvSpPr>
          <p:spPr>
            <a:xfrm>
              <a:off x="1392312" y="5512352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C6C8D0-78C7-FA46-800B-D24CF1EADD12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flipH="1">
              <a:off x="1878397" y="5064773"/>
              <a:ext cx="5138" cy="44757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9CF7BA2-2B3A-2245-A44C-CC9C7432F44A}"/>
                </a:ext>
              </a:extLst>
            </p:cNvPr>
            <p:cNvCxnSpPr>
              <a:cxnSpLocks/>
              <a:stCxn id="35" idx="2"/>
              <a:endCxn id="28" idx="0"/>
            </p:cNvCxnSpPr>
            <p:nvPr/>
          </p:nvCxnSpPr>
          <p:spPr>
            <a:xfrm flipH="1">
              <a:off x="1883535" y="3261045"/>
              <a:ext cx="578037" cy="98202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1058DE7-4546-6643-BFC7-E3AEFABB57AE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>
              <a:off x="2461572" y="3261045"/>
              <a:ext cx="868598" cy="44346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5675342-8E81-BC40-BF2A-D392162E3977}"/>
                </a:ext>
              </a:extLst>
            </p:cNvPr>
            <p:cNvSpPr/>
            <p:nvPr/>
          </p:nvSpPr>
          <p:spPr>
            <a:xfrm>
              <a:off x="1795275" y="2722479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D5A22C6-EADF-6E46-A6E7-0B6C9CD34DBE}"/>
                </a:ext>
              </a:extLst>
            </p:cNvPr>
            <p:cNvSpPr/>
            <p:nvPr/>
          </p:nvSpPr>
          <p:spPr>
            <a:xfrm>
              <a:off x="2663873" y="3704507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BEE9BC-F3A9-7742-978A-4C61466D3834}"/>
              </a:ext>
            </a:extLst>
          </p:cNvPr>
          <p:cNvCxnSpPr>
            <a:cxnSpLocks/>
          </p:cNvCxnSpPr>
          <p:nvPr/>
        </p:nvCxnSpPr>
        <p:spPr>
          <a:xfrm>
            <a:off x="3996466" y="4526207"/>
            <a:ext cx="7888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79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 Algebraic Transformation Rules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40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/>
              <p:nvPr/>
            </p:nvSpPr>
            <p:spPr>
              <a:xfrm>
                <a:off x="0" y="807082"/>
                <a:ext cx="9060548" cy="6472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Push down/pull up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𝜎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(not predicate is a conjunction):</a:t>
                </a:r>
                <a:b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⋈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∧</m:t>
                        </m:r>
                        <m:sSup>
                          <m:sSup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predicate involving only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columns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predicate involving only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columns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US" sz="2200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predicates involving both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columns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i.e., p an additional join predicate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</a:t>
                </a:r>
              </a:p>
              <a:p>
                <a:pPr lvl="1">
                  <a:lnSpc>
                    <a:spcPct val="150000"/>
                  </a:lnSpc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Why should you always do this optimization?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Selections are relatively cheap (e.g., compared to joins or group-by and aggregates) and can only reduce the number tuples processed.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7082"/>
                <a:ext cx="9060548" cy="6472606"/>
              </a:xfrm>
              <a:prstGeom prst="rect">
                <a:avLst/>
              </a:prstGeom>
              <a:blipFill>
                <a:blip r:embed="rId3"/>
                <a:stretch>
                  <a:fillRect l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868A72-D2BC-E742-8DD6-3B2C86FC72E7}"/>
                  </a:ext>
                </a:extLst>
              </p:cNvPr>
              <p:cNvSpPr txBox="1"/>
              <p:nvPr/>
            </p:nvSpPr>
            <p:spPr>
              <a:xfrm>
                <a:off x="243484" y="4323944"/>
                <a:ext cx="9033158" cy="758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U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1. 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name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U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name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pop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0.8∧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𝑝𝑜𝑝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&gt;0.8</m:t>
                          </m:r>
                        </m:sub>
                      </m:sSub>
                      <m:d>
                        <m:d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𝑈𝑠𝑒𝑟</m:t>
                          </m:r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⋈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𝑢𝑖𝑑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≠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𝑢𝑖𝑑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𝑈𝑠𝑒𝑟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𝑝𝑜𝑝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&gt;0.8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𝑈𝑠𝑒𝑟</m:t>
                      </m:r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⋈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𝑢𝑖𝑑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≠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𝑢𝑖𝑑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𝑛𝑎𝑚𝑒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𝑛𝑎𝑚𝑒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𝑝𝑜𝑝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&gt;0.8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𝑈𝑠𝑒𝑟</m:t>
                      </m:r>
                      <m:r>
                        <a:rPr kumimoji="0" lang="en-CA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))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868A72-D2BC-E742-8DD6-3B2C86FC7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84" y="4323944"/>
                <a:ext cx="9033158" cy="75886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1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In Logical Plan Notation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41</a:t>
            </a:fld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BEE9BC-F3A9-7742-978A-4C61466D3834}"/>
              </a:ext>
            </a:extLst>
          </p:cNvPr>
          <p:cNvCxnSpPr>
            <a:cxnSpLocks/>
          </p:cNvCxnSpPr>
          <p:nvPr/>
        </p:nvCxnSpPr>
        <p:spPr>
          <a:xfrm>
            <a:off x="4003840" y="4084636"/>
            <a:ext cx="7888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1BA6B1-113B-A24A-9E60-16F485CF1F7D}"/>
                  </a:ext>
                </a:extLst>
              </p:cNvPr>
              <p:cNvSpPr txBox="1"/>
              <p:nvPr/>
            </p:nvSpPr>
            <p:spPr>
              <a:xfrm>
                <a:off x="0" y="799845"/>
                <a:ext cx="9033158" cy="758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U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1. 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name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U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name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∧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m:rPr>
                              <m:sty m:val="p"/>
                            </m:rP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pop</m:t>
                          </m:r>
                          <m:r>
                            <a:rPr kumimoji="0" lang="en-CA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0.8∧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𝑝𝑜𝑝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&gt;0.8</m:t>
                          </m:r>
                        </m:sub>
                      </m:sSub>
                      <m:d>
                        <m:d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𝑈𝑠𝑒𝑟</m:t>
                          </m:r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⋈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𝑢𝑖𝑑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≠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𝑢𝑖𝑑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𝑈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𝑈𝑠𝑒𝑟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𝑝𝑜𝑝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&gt;0.8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𝑈𝑠𝑒𝑟</m:t>
                      </m:r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⋈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𝑢𝑖𝑑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≠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𝑢𝑖𝑑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𝑛𝑎𝑚𝑒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2.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𝑛𝑎𝑚𝑒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𝑝𝑜𝑝</m:t>
                              </m:r>
                              <m:r>
                                <a:rPr kumimoji="0" lang="en-CA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&gt;0.8</m:t>
                              </m:r>
                            </m:sub>
                          </m:s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</m:t>
                          </m:r>
                          <m:r>
                            <a:rPr kumimoji="0" lang="en-CA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CA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𝑈𝑠𝑒𝑟</m:t>
                      </m:r>
                      <m:r>
                        <a:rPr kumimoji="0" lang="en-CA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))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1BA6B1-113B-A24A-9E60-16F485CF1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99845"/>
                <a:ext cx="9033158" cy="75886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04D47C3-35BF-944B-9CD5-CD6F4F29BAEE}"/>
              </a:ext>
            </a:extLst>
          </p:cNvPr>
          <p:cNvGrpSpPr/>
          <p:nvPr/>
        </p:nvGrpSpPr>
        <p:grpSpPr>
          <a:xfrm>
            <a:off x="107208" y="1826940"/>
            <a:ext cx="4157889" cy="4393392"/>
            <a:chOff x="107208" y="1971102"/>
            <a:chExt cx="4157889" cy="43933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58ADD5E7-94C5-D443-8B97-EA2636A26F43}"/>
                    </a:ext>
                  </a:extLst>
                </p:cNvPr>
                <p:cNvSpPr/>
                <p:nvPr/>
              </p:nvSpPr>
              <p:spPr>
                <a:xfrm>
                  <a:off x="498950" y="4408901"/>
                  <a:ext cx="1965822" cy="538566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Join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58ADD5E7-94C5-D443-8B97-EA2636A26F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50" y="4408901"/>
                  <a:ext cx="1965822" cy="538566"/>
                </a:xfrm>
                <a:prstGeom prst="roundRect">
                  <a:avLst/>
                </a:prstGeom>
                <a:blipFill>
                  <a:blip r:embed="rId4"/>
                  <a:stretch>
                    <a:fillRect t="-6818"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83F3779-9232-DE4A-B0E8-6B92FD509E7A}"/>
                </a:ext>
              </a:extLst>
            </p:cNvPr>
            <p:cNvSpPr/>
            <p:nvPr/>
          </p:nvSpPr>
          <p:spPr>
            <a:xfrm>
              <a:off x="107208" y="5825928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U1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7FE18B-256E-C142-AFEE-C9649425E957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593293" y="4947467"/>
              <a:ext cx="888568" cy="87846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ounded Rectangle 10">
                  <a:extLst>
                    <a:ext uri="{FF2B5EF4-FFF2-40B4-BE49-F238E27FC236}">
                      <a16:creationId xmlns:a16="http://schemas.microsoft.com/office/drawing/2014/main" id="{F62902A3-9FCA-EE42-A8AC-CC7B0323FED9}"/>
                    </a:ext>
                  </a:extLst>
                </p:cNvPr>
                <p:cNvSpPr/>
                <p:nvPr/>
              </p:nvSpPr>
              <p:spPr>
                <a:xfrm>
                  <a:off x="344413" y="2761840"/>
                  <a:ext cx="2282436" cy="125572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Filter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1. 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name</m:t>
                        </m:r>
                        <m: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name</m:t>
                        </m:r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po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oMath>
                    </m:oMathPara>
                  </a14:m>
                  <a:endParaRPr lang="en-US" sz="1600" i="1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𝑝𝑜𝑝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&gt;0.8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" name="Rounded Rectangle 10">
                  <a:extLst>
                    <a:ext uri="{FF2B5EF4-FFF2-40B4-BE49-F238E27FC236}">
                      <a16:creationId xmlns:a16="http://schemas.microsoft.com/office/drawing/2014/main" id="{F62902A3-9FCA-EE42-A8AC-CC7B0323FE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13" y="2761840"/>
                  <a:ext cx="2282436" cy="125572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C61E14A-5123-6E49-9714-1C23EFBD98D2}"/>
                </a:ext>
              </a:extLst>
            </p:cNvPr>
            <p:cNvCxnSpPr>
              <a:cxnSpLocks/>
              <a:stCxn id="11" idx="2"/>
              <a:endCxn id="8" idx="0"/>
            </p:cNvCxnSpPr>
            <p:nvPr/>
          </p:nvCxnSpPr>
          <p:spPr>
            <a:xfrm flipH="1">
              <a:off x="1481861" y="4017562"/>
              <a:ext cx="3770" cy="39133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47BB44D-1195-A941-99B0-711CBE0A4396}"/>
                </a:ext>
              </a:extLst>
            </p:cNvPr>
            <p:cNvSpPr/>
            <p:nvPr/>
          </p:nvSpPr>
          <p:spPr>
            <a:xfrm>
              <a:off x="1978687" y="5825928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U2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F42EA4-DC05-0E4E-86C4-5ECC049D7331}"/>
                </a:ext>
              </a:extLst>
            </p:cNvPr>
            <p:cNvCxnSpPr>
              <a:cxnSpLocks/>
              <a:stCxn id="39" idx="2"/>
              <a:endCxn id="11" idx="0"/>
            </p:cNvCxnSpPr>
            <p:nvPr/>
          </p:nvCxnSpPr>
          <p:spPr>
            <a:xfrm flipH="1">
              <a:off x="1485631" y="2509668"/>
              <a:ext cx="703381" cy="25217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9B0A846-45DE-2E4E-904C-B1F5E6FD1A3F}"/>
                </a:ext>
              </a:extLst>
            </p:cNvPr>
            <p:cNvCxnSpPr>
              <a:cxnSpLocks/>
              <a:stCxn id="39" idx="2"/>
              <a:endCxn id="40" idx="0"/>
            </p:cNvCxnSpPr>
            <p:nvPr/>
          </p:nvCxnSpPr>
          <p:spPr>
            <a:xfrm>
              <a:off x="2189012" y="2509668"/>
              <a:ext cx="1409789" cy="23860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D27282D4-2C8B-9B40-9245-3B617FDEF169}"/>
                </a:ext>
              </a:extLst>
            </p:cNvPr>
            <p:cNvSpPr/>
            <p:nvPr/>
          </p:nvSpPr>
          <p:spPr>
            <a:xfrm>
              <a:off x="1522715" y="1971102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DCF529D-2431-FC4F-B4F0-FD4D88B1B4A6}"/>
                </a:ext>
              </a:extLst>
            </p:cNvPr>
            <p:cNvSpPr/>
            <p:nvPr/>
          </p:nvSpPr>
          <p:spPr>
            <a:xfrm>
              <a:off x="2932504" y="2748270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BA3FECB-23D0-4C4C-B3DC-ECD26B955D2F}"/>
                </a:ext>
              </a:extLst>
            </p:cNvPr>
            <p:cNvCxnSpPr>
              <a:cxnSpLocks/>
              <a:stCxn id="8" idx="2"/>
              <a:endCxn id="26" idx="0"/>
            </p:cNvCxnSpPr>
            <p:nvPr/>
          </p:nvCxnSpPr>
          <p:spPr>
            <a:xfrm>
              <a:off x="1481861" y="4947467"/>
              <a:ext cx="982911" cy="87846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F395584-2A98-9F4F-B963-0CF587C30F48}"/>
              </a:ext>
            </a:extLst>
          </p:cNvPr>
          <p:cNvGrpSpPr/>
          <p:nvPr/>
        </p:nvGrpSpPr>
        <p:grpSpPr>
          <a:xfrm>
            <a:off x="4465910" y="1759779"/>
            <a:ext cx="4618251" cy="4520820"/>
            <a:chOff x="4418543" y="1894333"/>
            <a:chExt cx="4618251" cy="45208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Rounded Rectangle 50">
                  <a:extLst>
                    <a:ext uri="{FF2B5EF4-FFF2-40B4-BE49-F238E27FC236}">
                      <a16:creationId xmlns:a16="http://schemas.microsoft.com/office/drawing/2014/main" id="{F4A242DA-91C0-2E43-AAAB-141EDB099583}"/>
                    </a:ext>
                  </a:extLst>
                </p:cNvPr>
                <p:cNvSpPr/>
                <p:nvPr/>
              </p:nvSpPr>
              <p:spPr>
                <a:xfrm>
                  <a:off x="4867441" y="2976333"/>
                  <a:ext cx="2630560" cy="962521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Join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𝑢𝑖𝑑</m:t>
                        </m:r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  <a:latin typeface="Arial" panose="020B06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1. 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name</m:t>
                        </m:r>
                        <m:r>
                          <a:rPr lang="en-US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2.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name</m:t>
                        </m:r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1" name="Rounded Rectangle 50">
                  <a:extLst>
                    <a:ext uri="{FF2B5EF4-FFF2-40B4-BE49-F238E27FC236}">
                      <a16:creationId xmlns:a16="http://schemas.microsoft.com/office/drawing/2014/main" id="{F4A242DA-91C0-2E43-AAAB-141EDB0995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7441" y="2976333"/>
                  <a:ext cx="2630560" cy="962521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9BA8A0BA-1DF5-5F4D-9ABF-3964AB07FC8C}"/>
                </a:ext>
              </a:extLst>
            </p:cNvPr>
            <p:cNvSpPr/>
            <p:nvPr/>
          </p:nvSpPr>
          <p:spPr>
            <a:xfrm>
              <a:off x="4709639" y="5867118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33F193F-15E1-C14E-B4D3-075E6A752DDB}"/>
                </a:ext>
              </a:extLst>
            </p:cNvPr>
            <p:cNvCxnSpPr>
              <a:cxnSpLocks/>
              <a:stCxn id="62" idx="2"/>
              <a:endCxn id="52" idx="0"/>
            </p:cNvCxnSpPr>
            <p:nvPr/>
          </p:nvCxnSpPr>
          <p:spPr>
            <a:xfrm>
              <a:off x="5195724" y="5368306"/>
              <a:ext cx="0" cy="49881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C5BA9460-D1FD-694E-92E5-E6C519CB155F}"/>
                </a:ext>
              </a:extLst>
            </p:cNvPr>
            <p:cNvSpPr/>
            <p:nvPr/>
          </p:nvSpPr>
          <p:spPr>
            <a:xfrm>
              <a:off x="6553378" y="5876587"/>
              <a:ext cx="972170" cy="5385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U2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A387BDA-7341-0444-904D-1FD21F23AD34}"/>
                </a:ext>
              </a:extLst>
            </p:cNvPr>
            <p:cNvCxnSpPr>
              <a:cxnSpLocks/>
              <a:stCxn id="59" idx="2"/>
              <a:endCxn id="51" idx="0"/>
            </p:cNvCxnSpPr>
            <p:nvPr/>
          </p:nvCxnSpPr>
          <p:spPr>
            <a:xfrm flipH="1">
              <a:off x="6182721" y="2432899"/>
              <a:ext cx="856741" cy="543434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12F6816-B726-8F4A-9B1F-2AD8840B552D}"/>
                </a:ext>
              </a:extLst>
            </p:cNvPr>
            <p:cNvCxnSpPr>
              <a:cxnSpLocks/>
              <a:stCxn id="59" idx="2"/>
              <a:endCxn id="60" idx="0"/>
            </p:cNvCxnSpPr>
            <p:nvPr/>
          </p:nvCxnSpPr>
          <p:spPr>
            <a:xfrm>
              <a:off x="7039462" y="2432899"/>
              <a:ext cx="1331036" cy="56321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0E6B4B9-C8B0-D64A-ACBA-DA9EFAE0C868}"/>
                </a:ext>
              </a:extLst>
            </p:cNvPr>
            <p:cNvSpPr/>
            <p:nvPr/>
          </p:nvSpPr>
          <p:spPr>
            <a:xfrm>
              <a:off x="6373165" y="1894333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37303518-5E22-CF42-8507-B9479EC46D3B}"/>
                </a:ext>
              </a:extLst>
            </p:cNvPr>
            <p:cNvSpPr/>
            <p:nvPr/>
          </p:nvSpPr>
          <p:spPr>
            <a:xfrm>
              <a:off x="7704201" y="2996112"/>
              <a:ext cx="1332593" cy="538566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FF0E181-D209-764C-9EB5-2CDD744EB71F}"/>
                </a:ext>
              </a:extLst>
            </p:cNvPr>
            <p:cNvCxnSpPr>
              <a:cxnSpLocks/>
              <a:stCxn id="73" idx="2"/>
              <a:endCxn id="56" idx="0"/>
            </p:cNvCxnSpPr>
            <p:nvPr/>
          </p:nvCxnSpPr>
          <p:spPr>
            <a:xfrm>
              <a:off x="7039463" y="5368306"/>
              <a:ext cx="0" cy="50828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Rounded Rectangle 61">
                  <a:extLst>
                    <a:ext uri="{FF2B5EF4-FFF2-40B4-BE49-F238E27FC236}">
                      <a16:creationId xmlns:a16="http://schemas.microsoft.com/office/drawing/2014/main" id="{DA580D87-DD2F-5C40-83E4-F1F014ECC1E8}"/>
                    </a:ext>
                  </a:extLst>
                </p:cNvPr>
                <p:cNvSpPr/>
                <p:nvPr/>
              </p:nvSpPr>
              <p:spPr>
                <a:xfrm>
                  <a:off x="4418543" y="4636457"/>
                  <a:ext cx="1554361" cy="731849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Filter</a:t>
                  </a:r>
                  <a:endPara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po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oMath>
                    </m:oMathPara>
                  </a14:m>
                  <a:endParaRPr lang="en-US" sz="1600" i="1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62" name="Rounded Rectangle 61">
                  <a:extLst>
                    <a:ext uri="{FF2B5EF4-FFF2-40B4-BE49-F238E27FC236}">
                      <a16:creationId xmlns:a16="http://schemas.microsoft.com/office/drawing/2014/main" id="{DA580D87-DD2F-5C40-83E4-F1F014ECC1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543" y="4636457"/>
                  <a:ext cx="1554361" cy="731849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Rounded Rectangle 72">
                  <a:extLst>
                    <a:ext uri="{FF2B5EF4-FFF2-40B4-BE49-F238E27FC236}">
                      <a16:creationId xmlns:a16="http://schemas.microsoft.com/office/drawing/2014/main" id="{4AF4BDF5-9BA1-4E44-882E-68E19811E840}"/>
                    </a:ext>
                  </a:extLst>
                </p:cNvPr>
                <p:cNvSpPr/>
                <p:nvPr/>
              </p:nvSpPr>
              <p:spPr>
                <a:xfrm>
                  <a:off x="6262282" y="4636457"/>
                  <a:ext cx="1554361" cy="731849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Filter</a:t>
                  </a:r>
                  <a:endPara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1.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po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CA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CA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oMath>
                    </m:oMathPara>
                  </a14:m>
                  <a:endParaRPr lang="en-US" sz="1600" i="1" dirty="0">
                    <a:solidFill>
                      <a:prstClr val="black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3" name="Rounded Rectangle 72">
                  <a:extLst>
                    <a:ext uri="{FF2B5EF4-FFF2-40B4-BE49-F238E27FC236}">
                      <a16:creationId xmlns:a16="http://schemas.microsoft.com/office/drawing/2014/main" id="{4AF4BDF5-9BA1-4E44-882E-68E19811E8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2282" y="4636457"/>
                  <a:ext cx="1554361" cy="731849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F954533-B83C-034D-BF97-2B0E66DFA963}"/>
                </a:ext>
              </a:extLst>
            </p:cNvPr>
            <p:cNvCxnSpPr>
              <a:cxnSpLocks/>
              <a:stCxn id="62" idx="0"/>
              <a:endCxn id="51" idx="2"/>
            </p:cNvCxnSpPr>
            <p:nvPr/>
          </p:nvCxnSpPr>
          <p:spPr>
            <a:xfrm flipV="1">
              <a:off x="5195724" y="3938854"/>
              <a:ext cx="986997" cy="69760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45A9A04-6BE2-B148-AAB6-CF23386524E3}"/>
                </a:ext>
              </a:extLst>
            </p:cNvPr>
            <p:cNvCxnSpPr>
              <a:cxnSpLocks/>
              <a:stCxn id="73" idx="0"/>
              <a:endCxn id="51" idx="2"/>
            </p:cNvCxnSpPr>
            <p:nvPr/>
          </p:nvCxnSpPr>
          <p:spPr>
            <a:xfrm flipH="1" flipV="1">
              <a:off x="6182721" y="3938854"/>
              <a:ext cx="856742" cy="69760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061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 Algebraic Transformation Rules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42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/>
              <p:nvPr/>
            </p:nvSpPr>
            <p:spPr>
              <a:xfrm>
                <a:off x="0" y="807082"/>
                <a:ext cx="9060548" cy="3914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Push down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𝜋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𝐿</m:t>
                                </m:r>
                                <m:sSup>
                                  <m:sSupPr>
                                    <m:ctrlP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set of columns referenced by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that are not in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endParaRPr lang="en-US" sz="22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b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</m:sub>
                    </m:sSub>
                    <m:d>
                      <m:d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&gt;0.8</m:t>
                            </m:r>
                          </m:sub>
                        </m:s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𝑈𝑠𝑒𝑟</m:t>
                        </m:r>
                      </m:e>
                    </m:d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𝑎𝑔𝑒</m:t>
                            </m:r>
                          </m:sub>
                        </m:s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lang="en-CA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&gt;0.8</m:t>
                            </m:r>
                          </m:sub>
                        </m:s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𝑝𝑜𝑝</m:t>
                        </m:r>
                      </m:sub>
                    </m:sSub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𝑈𝑠𝑒𝑟</m:t>
                    </m:r>
                    <m:r>
                      <a:rPr lang="en-CA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Not as important and effective as pushing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𝜎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Many more (seemingly trivial) equivalences…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 be systematically used to transform plans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F4A463-7CAE-5B42-82B6-817A1A130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7082"/>
                <a:ext cx="9060548" cy="3914277"/>
              </a:xfrm>
              <a:prstGeom prst="rect">
                <a:avLst/>
              </a:prstGeom>
              <a:blipFill>
                <a:blip r:embed="rId3"/>
                <a:stretch>
                  <a:fillRect l="-700" b="-2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29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of Query Optimization and Overview of Techniques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Optimization Principles &amp; Cardinality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Cost-based DP Logical Join Plan Optimizer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Rule-based Optimizations/Transformations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Final Remarks on Query Optimization &amp; Query Processing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3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Remarks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4A463-7CAE-5B42-82B6-817A1A130602}"/>
              </a:ext>
            </a:extLst>
          </p:cNvPr>
          <p:cNvSpPr txBox="1"/>
          <p:nvPr/>
        </p:nvSpPr>
        <p:spPr>
          <a:xfrm>
            <a:off x="0" y="807082"/>
            <a:ext cx="9060548" cy="579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Optimizer and Cardinality Estimator: Brain of the DBMS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Ultimate Goal: Pick a reasonable plan (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,. one processing few tuples)</a:t>
            </a:r>
          </a:p>
          <a:p>
            <a:pPr marL="342900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Query Processor and Storage: Skeleton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ey do actual data searching and computation</a:t>
            </a:r>
          </a:p>
          <a:p>
            <a:pPr marL="342900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Several insights have emerged over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the</a:t>
            </a: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literature: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Cost model is not very critical: keep a simple model (e.g., # tuples)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estimation: matters a lot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But! Extremely difficult to integrate a good estimator. Always a hack with wild unrealistic assumptions here and there to make it implementable: magic constants, uniformity assumptions, independence assumptions etc.</a:t>
            </a:r>
          </a:p>
          <a:p>
            <a:pPr marL="342900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My advice: Optimizer is important but keep it simple.</a:t>
            </a:r>
          </a:p>
          <a:p>
            <a:pPr marL="800100" lvl="1" indent="-342900">
              <a:lnSpc>
                <a:spcPts val="322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Do not be complacent on the query processor and storage! Work very hard on these and optimize relentlessly!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ABEA9-D876-BD49-B0C1-5B290743ED6E}"/>
              </a:ext>
            </a:extLst>
          </p:cNvPr>
          <p:cNvSpPr/>
          <p:nvPr/>
        </p:nvSpPr>
        <p:spPr>
          <a:xfrm>
            <a:off x="0" y="6565612"/>
            <a:ext cx="906054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/>
              <a:t>Query Optimization Through the Looking Glass, and What We Found Running the Join Order Benchmark, Leis et al., VLDBJ, 2018</a:t>
            </a:r>
          </a:p>
        </p:txBody>
      </p:sp>
    </p:spTree>
    <p:extLst>
      <p:ext uri="{BB962C8B-B14F-4D97-AF65-F5344CB8AC3E}">
        <p14:creationId xmlns:p14="http://schemas.microsoft.com/office/powerpoint/2010/main" val="316102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04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Remarks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81778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4A463-7CAE-5B42-82B6-817A1A130602}"/>
              </a:ext>
            </a:extLst>
          </p:cNvPr>
          <p:cNvSpPr txBox="1"/>
          <p:nvPr/>
        </p:nvSpPr>
        <p:spPr>
          <a:xfrm>
            <a:off x="0" y="807082"/>
            <a:ext cx="9060548" cy="245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 448: Database Systems Implementation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Gets into many more details about the internals of query processing and optimization and other DBMS components!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A4’s programming question is meant to give you a glimpse of CS 448 assignments.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ABEA9-D876-BD49-B0C1-5B290743ED6E}"/>
              </a:ext>
            </a:extLst>
          </p:cNvPr>
          <p:cNvSpPr/>
          <p:nvPr/>
        </p:nvSpPr>
        <p:spPr>
          <a:xfrm>
            <a:off x="0" y="6565612"/>
            <a:ext cx="906054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/>
              <a:t>Query Optimization Through the Looking Glass, and What We Found Running the Join Order Benchmark, Leis et al., VLDBJ, 2018</a:t>
            </a:r>
          </a:p>
        </p:txBody>
      </p:sp>
    </p:spTree>
    <p:extLst>
      <p:ext uri="{BB962C8B-B14F-4D97-AF65-F5344CB8AC3E}">
        <p14:creationId xmlns:p14="http://schemas.microsoft.com/office/powerpoint/2010/main" val="282192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42304</TotalTime>
  <Words>4004</Words>
  <Application>Microsoft Macintosh PowerPoint</Application>
  <PresentationFormat>On-screen Show (4:3)</PresentationFormat>
  <Paragraphs>820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Cambria Math</vt:lpstr>
      <vt:lpstr>Candara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2278</cp:revision>
  <cp:lastPrinted>2021-11-09T03:16:21Z</cp:lastPrinted>
  <dcterms:created xsi:type="dcterms:W3CDTF">2016-04-06T14:30:24Z</dcterms:created>
  <dcterms:modified xsi:type="dcterms:W3CDTF">2021-11-09T20:18:15Z</dcterms:modified>
</cp:coreProperties>
</file>