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tags/tag6.xml" ContentType="application/vnd.openxmlformats-officedocument.presentationml.tags+xml"/>
  <Override PartName="/ppt/notesSlides/notesSlide7.xml" ContentType="application/vnd.openxmlformats-officedocument.presentationml.notesSlide+xml"/>
  <Override PartName="/ppt/tags/tag7.xml" ContentType="application/vnd.openxmlformats-officedocument.presentationml.tags+xml"/>
  <Override PartName="/ppt/notesSlides/notesSlide8.xml" ContentType="application/vnd.openxmlformats-officedocument.presentationml.notesSlide+xml"/>
  <Override PartName="/ppt/tags/tag8.xml" ContentType="application/vnd.openxmlformats-officedocument.presentationml.tags+xml"/>
  <Override PartName="/ppt/notesSlides/notesSlide9.xml" ContentType="application/vnd.openxmlformats-officedocument.presentationml.notesSlide+xml"/>
  <Override PartName="/ppt/tags/tag9.xml" ContentType="application/vnd.openxmlformats-officedocument.presentationml.tags+xml"/>
  <Override PartName="/ppt/notesSlides/notesSlide10.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tags/tag10.xml" ContentType="application/vnd.openxmlformats-officedocument.presentationml.tags+xml"/>
  <Override PartName="/ppt/notesSlides/notesSlide11.xml" ContentType="application/vnd.openxmlformats-officedocument.presentationml.notesSlide+xml"/>
  <Override PartName="/ppt/tags/tag11.xml" ContentType="application/vnd.openxmlformats-officedocument.presentationml.tags+xml"/>
  <Override PartName="/ppt/notesSlides/notesSlide12.xml" ContentType="application/vnd.openxmlformats-officedocument.presentationml.notesSlide+xml"/>
  <Override PartName="/ppt/tags/tag12.xml" ContentType="application/vnd.openxmlformats-officedocument.presentationml.tags+xml"/>
  <Override PartName="/ppt/notesSlides/notesSlide13.xml" ContentType="application/vnd.openxmlformats-officedocument.presentationml.notesSlide+xml"/>
  <Override PartName="/ppt/tags/tag13.xml" ContentType="application/vnd.openxmlformats-officedocument.presentationml.tags+xml"/>
  <Override PartName="/ppt/notesSlides/notesSlide14.xml" ContentType="application/vnd.openxmlformats-officedocument.presentationml.notesSlide+xml"/>
  <Override PartName="/ppt/tags/tag14.xml" ContentType="application/vnd.openxmlformats-officedocument.presentationml.tags+xml"/>
  <Override PartName="/ppt/notesSlides/notesSlide15.xml" ContentType="application/vnd.openxmlformats-officedocument.presentationml.notesSlide+xml"/>
  <Override PartName="/ppt/tags/tag15.xml" ContentType="application/vnd.openxmlformats-officedocument.presentationml.tags+xml"/>
  <Override PartName="/ppt/notesSlides/notesSlide16.xml" ContentType="application/vnd.openxmlformats-officedocument.presentationml.notesSlide+xml"/>
  <Override PartName="/ppt/tags/tag16.xml" ContentType="application/vnd.openxmlformats-officedocument.presentationml.tags+xml"/>
  <Override PartName="/ppt/notesSlides/notesSlide17.xml" ContentType="application/vnd.openxmlformats-officedocument.presentationml.notesSlide+xml"/>
  <Override PartName="/ppt/tags/tag17.xml" ContentType="application/vnd.openxmlformats-officedocument.presentationml.tags+xml"/>
  <Override PartName="/ppt/notesSlides/notesSlide18.xml" ContentType="application/vnd.openxmlformats-officedocument.presentationml.notesSlide+xml"/>
  <Override PartName="/ppt/tags/tag18.xml" ContentType="application/vnd.openxmlformats-officedocument.presentationml.tags+xml"/>
  <Override PartName="/ppt/notesSlides/notesSlide19.xml" ContentType="application/vnd.openxmlformats-officedocument.presentationml.notesSlide+xml"/>
  <Override PartName="/ppt/ink/ink5.xml" ContentType="application/inkml+xml"/>
  <Override PartName="/ppt/tags/tag19.xml" ContentType="application/vnd.openxmlformats-officedocument.presentationml.tag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ags/tag20.xml" ContentType="application/vnd.openxmlformats-officedocument.presentationml.tags+xml"/>
  <Override PartName="/ppt/notesSlides/notesSlide22.xml" ContentType="application/vnd.openxmlformats-officedocument.presentationml.notesSlide+xml"/>
  <Override PartName="/ppt/tags/tag21.xml" ContentType="application/vnd.openxmlformats-officedocument.presentationml.tags+xml"/>
  <Override PartName="/ppt/notesSlides/notesSlide23.xml" ContentType="application/vnd.openxmlformats-officedocument.presentationml.notesSlide+xml"/>
  <Override PartName="/ppt/tags/tag22.xml" ContentType="application/vnd.openxmlformats-officedocument.presentationml.tags+xml"/>
  <Override PartName="/ppt/notesSlides/notesSlide24.xml" ContentType="application/vnd.openxmlformats-officedocument.presentationml.notesSlide+xml"/>
  <Override PartName="/ppt/tags/tag23.xml" ContentType="application/vnd.openxmlformats-officedocument.presentationml.tags+xml"/>
  <Override PartName="/ppt/notesSlides/notesSlide25.xml" ContentType="application/vnd.openxmlformats-officedocument.presentationml.notesSlide+xml"/>
  <Override PartName="/ppt/ink/ink6.xml" ContentType="application/inkml+xml"/>
  <Override PartName="/ppt/tags/tag24.xml" ContentType="application/vnd.openxmlformats-officedocument.presentationml.tags+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tags/tag25.xml" ContentType="application/vnd.openxmlformats-officedocument.presentationml.tags+xml"/>
  <Override PartName="/ppt/notesSlides/notesSlide29.xml" ContentType="application/vnd.openxmlformats-officedocument.presentationml.notesSlide+xml"/>
  <Override PartName="/ppt/tags/tag26.xml" ContentType="application/vnd.openxmlformats-officedocument.presentationml.tags+xml"/>
  <Override PartName="/ppt/notesSlides/notesSlide30.xml" ContentType="application/vnd.openxmlformats-officedocument.presentationml.notesSlide+xml"/>
  <Override PartName="/ppt/tags/tag27.xml" ContentType="application/vnd.openxmlformats-officedocument.presentationml.tags+xml"/>
  <Override PartName="/ppt/notesSlides/notesSlide31.xml" ContentType="application/vnd.openxmlformats-officedocument.presentationml.notesSlide+xml"/>
  <Override PartName="/ppt/tags/tag28.xml" ContentType="application/vnd.openxmlformats-officedocument.presentationml.tags+xml"/>
  <Override PartName="/ppt/notesSlides/notesSlide32.xml" ContentType="application/vnd.openxmlformats-officedocument.presentationml.notesSlide+xml"/>
  <Override PartName="/ppt/tags/tag29.xml" ContentType="application/vnd.openxmlformats-officedocument.presentationml.tags+xml"/>
  <Override PartName="/ppt/notesSlides/notesSlide33.xml" ContentType="application/vnd.openxmlformats-officedocument.presentationml.notesSlide+xml"/>
  <Override PartName="/ppt/tags/tag30.xml" ContentType="application/vnd.openxmlformats-officedocument.presentationml.tags+xml"/>
  <Override PartName="/ppt/notesSlides/notesSlide34.xml" ContentType="application/vnd.openxmlformats-officedocument.presentationml.notesSlide+xml"/>
  <Override PartName="/ppt/tags/tag31.xml" ContentType="application/vnd.openxmlformats-officedocument.presentationml.tags+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tags/tag32.xml" ContentType="application/vnd.openxmlformats-officedocument.presentationml.tags+xml"/>
  <Override PartName="/ppt/notesSlides/notesSlide37.xml" ContentType="application/vnd.openxmlformats-officedocument.presentationml.notesSlide+xml"/>
  <Override PartName="/ppt/tags/tag33.xml" ContentType="application/vnd.openxmlformats-officedocument.presentationml.tags+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tags/tag34.xml" ContentType="application/vnd.openxmlformats-officedocument.presentationml.tags+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tags/tag35.xml" ContentType="application/vnd.openxmlformats-officedocument.presentationml.tags+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84" r:id="rId1"/>
  </p:sldMasterIdLst>
  <p:notesMasterIdLst>
    <p:notesMasterId r:id="rId46"/>
  </p:notesMasterIdLst>
  <p:sldIdLst>
    <p:sldId id="256" r:id="rId2"/>
    <p:sldId id="284" r:id="rId3"/>
    <p:sldId id="286" r:id="rId4"/>
    <p:sldId id="287" r:id="rId5"/>
    <p:sldId id="288" r:id="rId6"/>
    <p:sldId id="291" r:id="rId7"/>
    <p:sldId id="289" r:id="rId8"/>
    <p:sldId id="290" r:id="rId9"/>
    <p:sldId id="293" r:id="rId10"/>
    <p:sldId id="294" r:id="rId11"/>
    <p:sldId id="295" r:id="rId12"/>
    <p:sldId id="297" r:id="rId13"/>
    <p:sldId id="296" r:id="rId14"/>
    <p:sldId id="317" r:id="rId15"/>
    <p:sldId id="298" r:id="rId16"/>
    <p:sldId id="299" r:id="rId17"/>
    <p:sldId id="300" r:id="rId18"/>
    <p:sldId id="301" r:id="rId19"/>
    <p:sldId id="275" r:id="rId20"/>
    <p:sldId id="302" r:id="rId21"/>
    <p:sldId id="303" r:id="rId22"/>
    <p:sldId id="316" r:id="rId23"/>
    <p:sldId id="259" r:id="rId24"/>
    <p:sldId id="260" r:id="rId25"/>
    <p:sldId id="261" r:id="rId26"/>
    <p:sldId id="262" r:id="rId27"/>
    <p:sldId id="263" r:id="rId28"/>
    <p:sldId id="264" r:id="rId29"/>
    <p:sldId id="265" r:id="rId30"/>
    <p:sldId id="266" r:id="rId31"/>
    <p:sldId id="309" r:id="rId32"/>
    <p:sldId id="310" r:id="rId33"/>
    <p:sldId id="311" r:id="rId34"/>
    <p:sldId id="270" r:id="rId35"/>
    <p:sldId id="271" r:id="rId36"/>
    <p:sldId id="272" r:id="rId37"/>
    <p:sldId id="273" r:id="rId38"/>
    <p:sldId id="274" r:id="rId39"/>
    <p:sldId id="313" r:id="rId40"/>
    <p:sldId id="307" r:id="rId41"/>
    <p:sldId id="276" r:id="rId42"/>
    <p:sldId id="308" r:id="rId43"/>
    <p:sldId id="278" r:id="rId44"/>
    <p:sldId id="318" r:id="rId45"/>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317" autoAdjust="0"/>
    <p:restoredTop sz="82484" autoAdjust="0"/>
  </p:normalViewPr>
  <p:slideViewPr>
    <p:cSldViewPr snapToGrid="0">
      <p:cViewPr varScale="1">
        <p:scale>
          <a:sx n="82" d="100"/>
          <a:sy n="82" d="100"/>
        </p:scale>
        <p:origin x="1264"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5-24T15:45:10.233"/>
    </inkml:context>
    <inkml:brush xml:id="br0">
      <inkml:brushProperty name="width" value="0.05" units="cm"/>
      <inkml:brushProperty name="height" value="0.05" units="cm"/>
      <inkml:brushProperty name="color" value="#FFC114"/>
    </inkml:brush>
  </inkml:definitions>
  <inkml:trace contextRef="#ctx0" brushRef="#br0">159 16,'45'-1,"220"-13,-197 14,129 16,-147-7,0 3,-1 1,-1 3,0 2,-1 2,-1 2,-1 1,-1 3,-2 2,72 59,-85-61,-1 1,-2 1,0 2,-2 0,-1 2,-2 0,-1 2,-1 0,-2 1,-2 1,-1 0,-1 1,-3 1,11 65,-18-60,-1 0,-2-1,-3 1,-1 0,-2-1,-1 0,-3 0,-1-1,-3 0,-1-1,-1 0,-3-2,-1 0,-1-1,-3-1,-41 49,48-65,-1-1,-1-1,-23 18,35-31,0 0,0 0,0-1,-1 0,1-1,-1 0,0 0,0 0,0-1,0 0,0-1,-1 1,-11-1,15-2,1 1,-1-1,1 0,0 0,-1-1,1 1,0-1,0 0,0 0,0 0,0 0,1-1,-1 0,1 0,-1 0,1 0,0 0,0-1,0 1,1-1,-1 0,1 0,0 0,0 0,1 0,-3-5,0-5,0 0,1 0,0 0,1-1,1 1,0-28,2 23,1 0,1 0,0 0,1 1,1-1,1 1,1 1,0-1,1 1,1 0,1 1,19-26,-18 29,0 1,1 0,0 0,1 2,0 0,1 0,0 1,1 1,0 0,0 1,0 0,1 2,0 0,27-5,-20 6,0 2,0 1,0 0,0 2,0 1,0 1,0 0,-1 2,0 1,0 0,0 2,0 0,37 22,-42-20,-1 1,0 0,-1 1,0 1,0 0,-2 1,0 0,0 1,-2 1,0 0,0 0,-2 1,0 0,-1 1,0 0,8 35,-11-25,-1 1,-1 0,-2 0,0 0,-3 0,0 0,-1 0,-2-1,-1 1,-2-1,0-1,-22 47,17-46,-1 0,-2-1,0-1,-2 0,-1-1,-1-1,-1-1,-1-1,-1-1,-1-1,-44 29,44-35,-1-1,-1-1,0-1,-45 12,59-20,-1 0,1-1,-1 0,0-1,0 0,0-1,1-1,-1 0,0 0,0-1,1-1,-16-5,25 6,-1 1,1 0,0-1,0 1,0-1,0 0,1 0,-1 0,0-1,1 1,0-1,-1 1,1-1,0 0,0 0,-1-3,2 3,0 0,0 0,1 0,-1 0,1 0,-1 0,1 0,0 0,0 0,1-1,-1 1,1 0,-1 0,3-4,1-3,0 0,1 1,1-1,-1 1,2 1,-1-1,1 1,0 0,11-8,5-3,0 2,1 0,1 2,1 1,0 1,1 1,0 1,1 1,0 2,0 1,1 1,0 1,44-1,-40 5,-1 1,1 2,-1 1,1 2,-1 1,0 1,-1 2,0 1,0 1,-1 2,-1 1,28 18,-38-20,-2 2,0-1,-1 2,0 0,-1 1,-1 1,0 0,-2 1,0 0,-1 1,0 1,-2-1,0 2,-1-1,-2 1,6 24,-6-13,-2-1,-1 1,-1 0,-2 0,-1-1,-1 1,-2 0,-2-1,0 1,-17 45,2-22,-3-1,-2-1,-2-2,-2 0,-45 55,24-43,-2-3,-2-2,-80 65,124-114,-2 2,0 0,-1 0,0-1,0-1,-1 0,0-1,-26 9,40-17,0 1,0-1,-1 0,1 1,0-1,0 0,0 0,-1 0,1 0,0 0,0 0,0 0,-1 0,1-1,0 1,-2-1,3 0,-1 1,1 0,0-1,-1 1,1 0,0-1,0 1,-1 0,1-1,0 1,0-1,0 1,-1-1,1 1,0-1,0 1,0 0,0-1,0 1,0-1,0 1,0-1,0 1,0-1,1 1,-1-1,0 1,0-1,1-1,0 0,0 0,0 0,0 0,0 1,1-1,-1 0,1 0,-1 1,1-1,-1 1,1 0,0-1,0 1,0 0,3-2,-1 2,1 0,-1 0,0 1,1-1,-1 1,1 0,-1 0,1 1,-1-1,0 1,1 0,-1 0,0 0,0 1,0 0,1-1,-2 1,1 1,0-1,0 1,-1-1,6 6,-1-1,-1 0,-1 1,0-1,0 1,0 0,-1 1,0 0,0-1,4 14,-4-5,-1 0,-1 0,0 0,-1 1,-1-1,0 1,-3 22,-2 2,-20 79,12-77,-1-1,-3 0,-1-1,-2-1,-2-1,-2-1,-1 0,-43 51,46-67,0-1,-1-1,-2 0,0-2,-43 26,46-33,-1-1,-1-1,0-1,0-1,-1-1,1-1,-41 5,44-9,1-1,-1-1,1-1,-1 0,1-2,-33-8,44 9,0 0,0-1,1 0,-1 0,1-1,-1 0,1 0,0-1,1 1,-1-2,1 1,0-1,1 0,-1 0,1 0,0-1,0 0,-4-9,8 13,-1-1,1 1,0 0,0 0,0-1,0 1,1 0,0-1,-1 1,1-1,0 1,1 0,-1-1,1 1,-1-1,1 1,0 0,0 0,0-1,1 1,-1 0,1 0,0 0,0 0,0 1,0-1,0 1,4-4,-2 2,1 0,1 1,-1 0,0 0,1 0,0 0,0 1,-1 0,1 0,1 0,-1 1,0 0,0 0,11 1,-8 0,1 1,-1 0,1 0,-1 1,1 0,-1 1,0 0,0 1,0 0,-1 0,1 1,-1 0,0 0,0 1,-1 0,1 0,-2 1,1 0,-1 0,11 16,-8-8,0-1,-2 2,0-1,0 1,-2 0,0 1,0-1,-2 1,0 0,-1 0,0 19,-3-8,-1 1,-2-1,0 0,-2 0,-1 0,-1-1,-1 0,-2 0,-1-1,0 0,-27 37,26-44,-1-1,0-1,-2 0,0-1,-1 0,-29 20,32-27,0-1,0 0,-1-1,0 0,0-1,-1-1,0-1,0 0,-27 3,30-6,0-1,0 0,0-1,0-1,1 0,-1 0,1-1,-1-1,1 0,0-1,-14-7,20 9,1 0,0 0,0-1,0 1,0-1,0 0,1-1,0 1,0-1,0 0,0 0,1 0,0 0,0-1,0 1,1-1,0 0,0 0,0 0,1 0,0 0,0 0,0 0,1 0,0-8,1 8,0-1,1 0,0 1,0 0,0-1,1 1,0 0,0 0,0 0,1 0,6-7,-8 11,0-1,0 1,0 0,0 0,0 0,0 0,1 0,-1 0,1 0,-1 1,1 0,0-1,0 1,-1 0,1 0,0 0,0 1,0-1,0 1,0 0,0 0,0 0,0 0,0 0,0 0,0 1,5 1,-6-1,-1-1,1 1,0 0,-1 0,1 0,-1 0,1 1,-1-1,1 0,-1 1,0-1,1 1,-1-1,0 1,0-1,0 1,0 0,0 2,0-1,0 1,0-1,-1 1,1 0,-1 0,0-1,0 1,0 0,-1 3,-2 5,0 0,-1 0,0 0,-10 21,-9 8,-2 0,-1-2,-40 47,-108 97,46-68,105-97,-1-1,-1-1,-46 23,64-36,0-1,0 1,0-1,-1 0,1 0,0-1,-1 0,1-1,-1 1,1-2,0 1,-12-2,16 1,-1 0,1 0,0-1,-1 1,1-1,0 0,0 1,0-1,0-1,0 1,0 0,1-1,-1 1,1-1,-1 0,1 0,0 0,0 0,1 0,-1-1,1 1,-1 0,1-1,0 1,0-1,0-6,1 4,-1 1,2-1,-1 0,1 1,-1-1,4-8,-4 13,0 0,1 0,-1 0,0 0,1 0,-1 0,1 0,-1 0,1 0,0 1,-1-1,1 0,0 0,0 0,0 1,1-2,-1 2,0 0,-1 0,1 0,0 0,0 0,0 0,-1 0,1 0,0 0,0 1,-1-1,1 0,0 1,-1-1,1 0,0 1,-1-1,1 1,0-1,-1 1,1-1,-1 1,1 0,-1-1,1 1,-1 0,1 0,8 9,1-1,0 0,0 0,0-1,1 0,1-1,-1 0,1-1,20 7,5 0,77 17,-31-14,1-2,167 4,-247-18,6 0,0-1,0 1,-1-2,15-2,-23 3,1 1,-1 0,1-1,-1 1,0-1,1 1,-1-1,0 0,0 0,0 1,1-1,-1 0,0 0,0 0,0 0,0-1,0 1,-1 0,1 0,0 0,0-1,-1 1,1 0,-1-1,1 1,-1 0,0-1,1 1,-1-1,0 1,0-1,0 1,0-1,0 1,0 0,-1-4,-1-1,0 0,-1 0,1 0,-1 1,0-1,-1 1,1-1,-8-7,1 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5-24T15:45:22.692"/>
    </inkml:context>
    <inkml:brush xml:id="br0">
      <inkml:brushProperty name="width" value="0.05" units="cm"/>
      <inkml:brushProperty name="height" value="0.05" units="cm"/>
      <inkml:brushProperty name="color" value="#FFC114"/>
    </inkml:brush>
  </inkml:definitions>
  <inkml:trace contextRef="#ctx0" brushRef="#br0">1076 0,'0'0,"0"0,-3 1,-77 30,-81 33,128-49,2 2,-58 40,43-20,2 1,-72 83,-59 106,131-164,2 3,4 1,2 1,-44 123,66-149,2 1,2 1,2 0,2 0,1 1,3-1,1 1,3 0,10 67,-4-70,2-1,2 0,1 0,2-2,2 0,1 0,3-2,38 55,-42-69,1-1,1-1,1 0,1-2,0 0,2-2,0 0,1-2,1 0,0-2,1 0,0-2,47 13,-38-16,0-1,1-3,0 0,0-3,0 0,0-3,0-1,64-14,-75 12,1-3,-1 0,0-1,0-1,-1-2,-1 0,0-2,-1 0,0-1,-1-2,-1 0,29-31,-38 35,-1-1,0 0,-1-1,12-26,-17 33,-1-1,0 1,0-1,-1 0,0 0,-1 0,0 0,0 0,-1 0,-1-11,1 17,-1 1,1-1,0 1,-1-1,0 1,1-1,-1 1,0 0,0-1,0 1,-1 0,1 0,-1 0,1 0,-1 0,0 0,1 0,-1 0,0 1,0-1,-3-1,2 2,1 0,-1 1,0-1,1 1,-1-1,1 1,-1 0,0 0,1 0,-1 1,0-1,1 0,-1 1,1 0,-1 0,1 0,-1 0,1 0,0 0,-4 3,-5 3,2 0,-1 1,1 0,0 1,1 0,0 0,-13 20,3 0,-24 51,20-29,3 1,1 1,-19 100,30-108,1 1,2 0,3 0,1 0,8 47,-8-91,8 44,-7-43,0 0,0 0,0 0,0 0,1 0,-1 0,1 0,-1 0,1-1,4 5,-6-7,0 0,1 1,-1-1,1 0,-1 1,1-1,-1 0,1 1,-1-1,1 0,-1 0,1 0,-1 1,1-1,-1 0,1 0,-1 0,1 0,-1 0,1 0,0 0,-1 0,1 0,-1 0,1-1,-1 1,1 0,-1 0,1 0,-1-1,1 1,-1 0,1-1,-1 1,1 0,-1-1,1 0,12-19,-5 1,-1-1,0-1,5-33,-2 8,-7 40,-2 6,2 13,-2 27,-2-15,0 46,4 0,13 88,-11-135,0 0,2 0,1 0,12 23,-13-33,0 0,1-1,1 0,0-1,1 0,0 0,18 15,-18-19,0 0,0-1,0 0,1-1,0 0,1-1,-1 0,1-1,0 0,0-1,21 3,-15-5,-1 0,1-1,0-1,0-1,0 0,-1-1,26-8,-7-2,-1-1,-1-2,0-2,-1 0,-1-3,0 0,30-28,-24 15,-1-1,-2-2,-1-1,-2-2,47-76,-60 78,-19 38,0-1,1 1,-1-1,0 1,1-1,-1 1,0-1,0 0,1 1,-1-1,0 1,0-1,0 0,0 1,0-1,0 1,0-1,0 1,0-1,0 0,0 1,-1-1,1 0,-12 12,0 8,0 0,1 1,1 1,-10 26,-25 95,35-111,-81 329,75-269,3 1,0 95,11-156,-9 51,-1-2,8-31,2 1,7 88,-3-121,0-1,1 1,1-1,0 0,2 1,-1-2,2 1,0-1,1 0,1-1,0 0,12 15,-13-21,0 0,0-1,1 0,0 0,1-1,-1 0,1-1,0 0,0 0,19 4,-13-5,0 0,1-2,-1 0,1 0,-1-2,30-2,-21-2,-1 0,1-1,-1-2,0 0,0-2,-1-1,0 0,-1-2,31-21,-38 23,-1-2,18-17,-27 23,0 1,0-1,-1 0,0 0,0 0,-1-1,1 1,2-11,-5 16,-1 1,1-1,-1 0,0 0,1 1,-1-1,0 0,0 0,0 0,1 1,-1-1,0 0,0 0,0 0,0 0,0 1,-1-1,1 0,0 0,0 0,0 0,-1 1,1-1,0 0,-1 0,1 1,-1-1,1 0,-1 1,1-1,-1 0,0 1,0-2,-1 2,1 0,0 0,-1 1,1-1,-1 0,1 0,0 1,-1-1,1 0,0 1,-1 0,1-1,0 1,0 0,0-1,-1 1,1 0,0 0,0 0,-1 2,-8 8,0 0,1 1,1 1,0-1,0 1,2 0,-1 1,-7 25,1 4,-12 76,17-64,2 1,2 80,5-106,1-1,2 1,1-1,1 0,1 0,15 36,-19-58,0 0,1 0,0 0,0-1,0 0,1 0,0 0,6 6,-10-11,1 0,-1 0,1 1,-1-1,1 0,-1 0,1-1,0 1,0 0,-1-1,1 1,0 0,0-1,0 0,0 0,0 1,0-1,-1 0,1 0,0-1,0 1,0 0,0-1,0 1,-1-1,1 0,0 1,0-1,-1 0,1 0,0 0,-1 0,1 0,-1 0,0-1,2-1,3-4,0 0,-1 0,0 0,0-1,-1 0,0 0,0-1,-1 1,0-1,3-14,2-14,3-45,-10 72,5-67,-2 0,-14-142,5 186,6 33,-1 0,0-1,0 1,0 0,0 0,0-1,0 1,0 0,0 0,0-1,0 1,0 0,0 0,0 0,0-1,-1 1,1 0,0 0,0-1,0 1,0 0,0 0,0 0,-1-1,1 1,0 0,0 0,0 0,0 0,-1 0,1-1,0 1,0 0,0 0,-1 0,1 0,0 0,0 0,-1 0,-2 10,-1 22,4-4,1 0,2 0,0 0,2 0,1 0,17 48,-17-60,1 0,1 0,0-1,1 0,1 0,0-1,1 0,0-1,1 0,1-1,0-1,19 14,-6-10,1 0,1-2,0-1,1-1,0-1,52 9,-14-8,134 4,126-20,-275 4,-35 0,-11 2,1-1,-1 0,0 0,0-1,0 0,0 0,0 0,0-1,0 0,11-5,-16 7,-1-1,1 0,-1 1,1-1,-1 1,1-1,-1 0,1 1,-1-1,0 0,1 1,-1-1,0 0,1 0,-1 1,0-1,0 0,0 0,0 1,0-1,0 0,0 0,0 1,0-1,0 0,0 0,-1 1,1-1,0 0,0 0,-1 1,1-1,-1 0,1 1,0-1,-2-1,-20-23,19 23,-100-103,88 86,0 1,2-2,0 0,-12-27,19 34</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5-24T15:45:23.203"/>
    </inkml:context>
    <inkml:brush xml:id="br0">
      <inkml:brushProperty name="width" value="0.05" units="cm"/>
      <inkml:brushProperty name="height" value="0.05" units="cm"/>
      <inkml:brushProperty name="color" value="#FFC114"/>
    </inkml:brush>
  </inkml:definitions>
  <inkml:trace contextRef="#ctx0" brushRef="#br0">516 1,'0'0,"-2"2,-17 15,2 1,-1 1,-20 31,32-41,1-1,0 1,0 0,1 0,0 1,0-1,1 1,1 0,-1-1,2 1,-2 20,3-25,1 0,0 0,0 0,0 0,1 0,0 0,-1-1,2 1,-1-1,0 1,1-1,0 0,0 0,0 0,1 0,-1-1,1 1,0-1,8 6,4 1,0-1,1-1,0 0,19 5,58 16,162 28,-190-44,-54-11,-8-1,0-1,0 1,0 0,0 0,0 1,0-1,7 4,-11-5,0 1,0-1,1 0,-1 0,0 0,0 1,0-1,0 0,0 0,1 0,-1 1,0-1,0 0,0 0,0 1,0-1,0 0,0 0,0 1,0-1,0 0,0 1,0-1,0 0,0 0,0 1,0-1,0 0,0 0,0 1,0-1,-1 0,1 0,0 1,0-1,0 0,0 0,0 0,-1 1,1-1,0 0,0 0,0 0,-1 0,1 0,0 1,-15 8,14-8,-165 75,66-33,-63 38,-87 38,211-104,0-1,-1-3,0 0,-66 7,80-17,12-2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5-24T15:49:03.756"/>
    </inkml:context>
    <inkml:brush xml:id="br0">
      <inkml:brushProperty name="width" value="0.1" units="cm"/>
      <inkml:brushProperty name="height" value="0.1" units="cm"/>
      <inkml:brushProperty name="color" value="#00A0D7"/>
    </inkml:brush>
  </inkml:definitions>
  <inkml:trace contextRef="#ctx0" brushRef="#br0">962 1,'-3'3,"-220"278,-33 42,196-238,-98 184,113-170,4 1,5 2,-34 155,45-128,6 1,-5 195,22-242,16 130,-11-185,2 1,1-2,1 1,1-1,2 0,1-1,0 0,20 29,-27-47,1-1,1-1,-1 1,1-1,0 0,0 0,1-1,0 0,0 0,0 0,1-1,14 6,-17-8,1-1,-1 1,1-1,-1-1,1 1,-1-1,1 0,-1 0,1-1,-1 1,1-1,-1-1,0 1,1-1,-1 0,0 0,0 0,0-1,0 1,5-5,0-1,0 0,-1-1,0 0,-1 0,0-1,0 0,12-21,-16 24,0 0,-1 0,0 0,0-1,0 1,-1-1,0 0,-1 0,0 0,0 0,0 1,-1-1,-1-13,1 20,-1 0,1 0,0 0,0 0,0 0,-1 0,1 0,0 0,-1 0,1 0,-1 0,1 0,-1 0,0 0,1 0,-1 1,0-1,0 0,0 0,1 1,-1-1,0 0,0 1,0-1,0 1,0-1,0 1,0 0,0-1,0 1,0 0,-2 0,1 0,-1 0,1 1,0-1,0 1,-1 0,1 0,0 0,0 0,0 0,0 0,0 0,1 1,-1-1,0 1,-2 2,-4 5,1 0,0 1,1 0,0 0,0 0,1 1,-6 17,-19 84,28-106,-14 71,3 1,4 0,3 1,3-1,4 1,18 132,-14-181,2 0,1-1,1 0,1 0,17 32,-21-49,1-1,0 0,1-1,0 1,0-1,13 10,-15-15,1 1,0-1,0-1,1 1,-1-1,1 0,0-1,0 0,0 0,11 1,-10-2,0-1,0 0,0-1,-1 0,1 0,0-1,0 0,0-1,-1 0,1 0,11-5,-7 1,-1 0,1-1,-1-1,0 0,-1 0,15-15,3-7,-2-1,0-2,36-60,-43 66,-19 26,-1 1,0 0,0 0,1 0,-1-1,0 1,0 0,1 0,-1 0,0 0,1 0,-1 0,0 0,0 0,1 0,-1 0,0 0,1 0,-1 0,0 0,1 0,-1 0,0 0,0 0,1 0,-1 0,0 0,1 0,-1 1,0-1,0 0,1 0,-1 0,0 0,0 1,0-1,1 0,-1 0,0 1,0-1,0 0,0 0,1 1,-1-1,0 0,0 0,0 1,0-1,0 0,0 1,0-1,0 1,3 9,-1 1,-1 0,0 0,0 0,-1 0,-2 12,1-1,-6 174,-2 91,23-3,-12-261,1-1,1 0,1 0,1 0,15 37,-20-56,1 0,-1 0,1-1,-1 1,1-1,0 1,0-1,0 0,0 0,1 0,-1 0,0 0,1 0,-1 0,1-1,0 0,3 2,-4-3,1 1,-1-1,0 0,0 0,1 0,-1-1,0 1,0 0,0-1,1 0,-1 1,0-1,0 0,0 0,0 0,0 0,0-1,-1 1,1-1,0 1,0-1,2-2,8-11,-1-1,0 0,-1 0,0-1,12-32,-11 25,26-44,-37 67,1 1,-1-1,0 0,1 1,-1-1,1 0,0 1,-1-1,1 0,-1 1,1-1,0 1,-1-1,1 1,0-1,0 1,-1 0,1-1,0 1,0 0,1-1,-1 2,-1-1,1 0,-1 1,1-1,-1 0,1 1,-1-1,1 1,-1-1,1 1,-1-1,0 1,1-1,-1 1,0-1,1 1,-1-1,0 1,0 0,0-1,1 2,1 6,-1 0,0 0,0 12,1 46,0 22,23 158,-14-191,3-1,30 77,-33-103,2-1,1 0,1-1,1 0,2-1,24 26,-34-41,1-2,0 1,1-2,0 1,0-1,0 0,16 6,-19-10,-1 0,1-1,-1 0,1-1,0 0,-1 0,1 0,0-1,0 1,0-2,0 1,-1-1,1 0,10-3,-7 0,0 0,-1 0,1-1,-1 0,0-1,0 0,-1 0,13-13,3-5,27-37,-22 25,-25 31,0-1,1 1,0 0,0 1,10-8,-13 11,-1 1,0-1,0 1,0-1,1 1,-1-1,0 1,1 0,-1-1,0 1,1 0,-1 0,0 0,1 0,-1 0,0 1,1-1,-1 0,0 0,1 1,-1-1,0 1,0-1,1 1,-1 0,0 0,0-1,0 1,0 0,0 0,0 0,0 0,0 0,0 0,1 2,4 6,0 1,-1-1,0 1,-1 0,7 21,10 57,-17-66,52 429,-44-309,-8-111,-2-16,0 0,-1 1,-1-1,-3 30,-5-25,7-19,0 0,1 1,-1-1,0 1,1-1,-1 0,1 1,-1-1,1 1,0-1,0 1,0-1,0 1,0-1,0 1,0-1,0 1,0-1,1 1,-1-1,1 2,11 21,1-1,26 35,0 1,-1 5,-13-20,1-2,2-1,52 58,-72-91,0 0,0-1,1 0,0-1,0 0,20 10,-24-14,1 0,0 0,0 0,0-1,0 0,0 0,1 0,-1-1,0 0,0 0,0-1,1 0,9-2,-6 0,0-1,0 0,0-1,-1 0,1 0,-1-1,0 0,-1-1,0 0,9-9,7-11,35-49,-30 35,-25 36,0 0,0 0,1 1,-1-1,1 1,0 0,10-7,-14 11,1-1,-1 1,1-1,-1 1,1-1,-1 1,1 0,-1-1,1 1,-1 0,1 0,-1 0,1 0,-1 1,1-1,-1 0,1 1,-1-1,1 1,-1-1,1 1,-1 0,0-1,1 1,-1 0,0 0,0 0,0 0,0 0,0 0,0 1,0-1,0 0,0 0,0 1,-1-1,2 2,4 8,-1 1,0-1,-1 1,0 0,4 25,5 69,-9-59,4 19,2 0,38 127,-39-166,1-1,2 0,0-1,1 0,2-1,0-1,2 0,0-1,38 36,-44-49,0 0,0-1,1 0,0 0,1-2,-1 1,1-2,1 1,-1-2,1 0,-1 0,1-2,0 0,17 1,-16-3,0-1,1 0,-1-1,0-1,0 0,-1-1,1-1,-1 0,0-1,0 0,0-1,-1-1,13-9,-10 4,0 0,-1-1,0 0,-1-2,-1 1,0-2,-1 0,-1 0,11-24,-16 30,-1-1,0-1,0 1,-2-1,0 0,0 0,-1 0,0 0,-2 0,1 0,-1 0,-1 0,-1-1,0 1,-5-19,5 28,1-1,-1 1,0-1,-1 1,1 0,-1 0,1 0,-1 0,-1 0,1 1,0-1,-1 1,0 0,-5-4,7 6,0 0,0 0,0 0,0 1,0-1,-1 1,1-1,0 1,0 0,0 0,0 0,-1 0,1 0,0 0,0 1,0-1,-1 1,1-1,0 1,0 0,0 0,0 0,0 0,1 0,-1 0,0 1,0-1,1 0,-1 1,1 0,-1-1,1 1,-2 2,-2 3,1 1,0-1,0 1,1-1,0 1,0 0,1 0,0 1,1-1,-1 0,2 1,-1-1,1 0,0 1,1-1,2 13,3 9,0 0,2-1,15 36,-9-31,1 0,1-1,2-1,2-1,1 0,1-2,1 0,1-2,2 0,1-2,1-1,1-1,55 33,17-1,3-5,202 68,-225-93,90 17,-123-34,0-2,0-1,64-4,-90-3,-53 6,-17 5,1 2,-60 23,-88 46,-13 4,-172 30,276-86,85-22,0-1,-31 6,44-10,1 0,0-1,-1 0,1 0,0 0,-1-1,1 0,0 0,0 0,-10-4,14 5,0-1,0 1,0-1,0 1,0-1,0 0,0 1,0-1,0 0,1 1,-1-1,0 0,0 0,1 0,-1 0,0 0,1 0,-1 0,1 0,0 0,-1 0,1 0,0 0,-1-2,3-6</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5-24T16:53:17.947"/>
    </inkml:context>
    <inkml:brush xml:id="br0">
      <inkml:brushProperty name="width" value="0.05" units="cm"/>
      <inkml:brushProperty name="height" value="0.05" units="cm"/>
      <inkml:brushProperty name="color" value="#FFC114"/>
    </inkml:brush>
  </inkml:definitions>
  <inkml:trace contextRef="#ctx0" brushRef="#br0">2848 308,'0'0,"0"0,-1-3,-1-6,-1 1,-1-1,1 1,-1 0,-1 0,1 1,-1-1,-1 1,1 0,-1 0,-1 1,1 0,-1 0,0 0,0 1,-1 0,1 1,-1-1,0 2,0-1,-1 1,1 0,-1 0,-11-1,-11-1,0 1,-62 0,-66 13,8 0,-228-35,106 2,150 22,0 4,0 6,1 5,0 6,-182 52,245-53,1 2,0 3,-64 36,97-45,1 1,1 1,0 2,1 0,1 1,0 1,2 1,1 1,-19 28,21-24,0 2,3 0,0 0,2 1,-15 60,18-49,2 0,1 1,2 82,9-47,4-1,3 1,3-2,37 108,-28-114,2-1,3-1,4-2,1-2,47 61,-27-52,3-2,3-3,113 96,-87-93,103 61,103 43,-142-86,0-1,4-6,4-7,2-7,181 48,-9-30,4-14,3-15,441 15,-602-68,0-8,341-56,647-202,-993 215,185-77,-257 81,-2-3,-2-5,92-67,-72 34,137-130,-175 138,-4-3,84-116,-128 152,-2-2,-2 0,28-67,-43 82,-1-1,-2 0,-1-1,-2 0,-1 0,1-48,-6 47,-2 1,-1-1,-2 0,-1 1,-2 0,-1 0,-2 1,-1 0,-2 0,-1 2,-1-1,-2 2,-1 0,-1 1,-2 1,-1 1,-1 1,-44-39,-1 9,-2 4,-83-46,-163-72,168 99,-3 5,-2 8,-3 6,-236-46,-383 5,-5 58,529 27,-827-17,999 25,0 5,1 2,0 4,0 4,-81 26,35-13,12-3,103-22</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5-23T22:32:56.656"/>
    </inkml:context>
    <inkml:brush xml:id="br0">
      <inkml:brushProperty name="width" value="0.1" units="cm"/>
      <inkml:brushProperty name="height" value="0.1" units="cm"/>
      <inkml:brushProperty name="color" value="#00A0D7"/>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A69ED9-CB95-4DAD-9B9B-E560A3321DCE}" type="datetimeFigureOut">
              <a:rPr lang="en-US" smtClean="0"/>
              <a:t>7/26/2021</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2B470F9-3B63-4A29-A4D2-E4DBA5B32586}" type="slidenum">
              <a:rPr lang="en-US" smtClean="0"/>
              <a:t>‹#›</a:t>
            </a:fld>
            <a:endParaRPr lang="en-US"/>
          </a:p>
        </p:txBody>
      </p:sp>
    </p:spTree>
    <p:extLst>
      <p:ext uri="{BB962C8B-B14F-4D97-AF65-F5344CB8AC3E}">
        <p14:creationId xmlns:p14="http://schemas.microsoft.com/office/powerpoint/2010/main" val="34613084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2</a:t>
            </a:fld>
            <a:endParaRPr lang="en-US"/>
          </a:p>
        </p:txBody>
      </p:sp>
    </p:spTree>
    <p:extLst>
      <p:ext uri="{BB962C8B-B14F-4D97-AF65-F5344CB8AC3E}">
        <p14:creationId xmlns:p14="http://schemas.microsoft.com/office/powerpoint/2010/main" val="14696534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3</a:t>
            </a:fld>
            <a:endParaRPr lang="en-US"/>
          </a:p>
        </p:txBody>
      </p:sp>
    </p:spTree>
    <p:extLst>
      <p:ext uri="{BB962C8B-B14F-4D97-AF65-F5344CB8AC3E}">
        <p14:creationId xmlns:p14="http://schemas.microsoft.com/office/powerpoint/2010/main" val="2009878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4</a:t>
            </a:fld>
            <a:endParaRPr lang="en-US"/>
          </a:p>
        </p:txBody>
      </p:sp>
    </p:spTree>
    <p:extLst>
      <p:ext uri="{BB962C8B-B14F-4D97-AF65-F5344CB8AC3E}">
        <p14:creationId xmlns:p14="http://schemas.microsoft.com/office/powerpoint/2010/main" val="15497282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5</a:t>
            </a:fld>
            <a:endParaRPr lang="en-US"/>
          </a:p>
        </p:txBody>
      </p:sp>
    </p:spTree>
    <p:extLst>
      <p:ext uri="{BB962C8B-B14F-4D97-AF65-F5344CB8AC3E}">
        <p14:creationId xmlns:p14="http://schemas.microsoft.com/office/powerpoint/2010/main" val="26551246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endParaRPr lang="en-CA"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%%Given such a recursive nature, will the query ever terminate? Let’s take a look at how a table instance is processed by this query.  </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So how does a database system process such a recursive query?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Initially, the ancestor relation is empty.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First, it includes all the rows outputted by the base case.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Hence, all the rows in the parent-child table will be included in the ancestor-descendant table. Now, let’s apply the recursive step.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It joins the current ancestor table with itself. That produces additional three rows. In particular, Abe is homer’s ancestor, Homer is the Bart’ ancestor, hence Abe is Bart’s ancestor. Similar reasonings produces the other two tuples. Then we have a new ancestor table now. Note that we use UNION here which is a set operator, hence it removes all the duplicate pairs.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Then we applies the recursive step again, let this new ancestor table joins itself. This results another new two tuples. Ape is ancestor of Bart and Ape is the ancestor of Lisa.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we try to apply the recursive step again, there will be no more additional ancestor-descendant pairs generated. Hence, the output reaches a fixed point. We will then stop. Can all the recursive query converge to a single output in the end?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Think of the definition as </a:t>
                </a:r>
                <a:r>
                  <a:rPr lang="en-US" sz="1200" i="1" dirty="0"/>
                  <a:t>Ancestor</a:t>
                </a:r>
                <a:r>
                  <a:rPr lang="en-US" sz="1200" dirty="0"/>
                  <a:t> = </a:t>
                </a:r>
                <a:r>
                  <a:rPr lang="en-US" sz="1200" i="0" dirty="0">
                    <a:latin typeface="Cambria Math" panose="02040503050406030204" pitchFamily="18" charset="0"/>
                  </a:rPr>
                  <a:t>𝑞</a:t>
                </a:r>
                <a:r>
                  <a:rPr lang="en-US" sz="1200" dirty="0"/>
                  <a:t>(</a:t>
                </a:r>
                <a:r>
                  <a:rPr lang="en-US" sz="1200" i="1" dirty="0"/>
                  <a:t>Ancestor</a:t>
                </a:r>
                <a:r>
                  <a:rPr lang="en-US" sz="1200" dirty="0"/>
                  <a:t>)</a:t>
                </a:r>
              </a:p>
              <a:p>
                <a:endParaRPr lang="en-CA" dirty="0"/>
              </a:p>
            </p:txBody>
          </p:sp>
        </mc:Fallback>
      </mc:AlternateContent>
      <p:sp>
        <p:nvSpPr>
          <p:cNvPr id="4" name="Slide Number Placeholder 3"/>
          <p:cNvSpPr>
            <a:spLocks noGrp="1"/>
          </p:cNvSpPr>
          <p:nvPr>
            <p:ph type="sldNum" sz="quarter" idx="5"/>
          </p:nvPr>
        </p:nvSpPr>
        <p:spPr/>
        <p:txBody>
          <a:bodyPr/>
          <a:lstStyle/>
          <a:p>
            <a:fld id="{82B470F9-3B63-4A29-A4D2-E4DBA5B32586}" type="slidenum">
              <a:rPr lang="en-US" smtClean="0"/>
              <a:t>6</a:t>
            </a:fld>
            <a:endParaRPr lang="en-US"/>
          </a:p>
        </p:txBody>
      </p:sp>
    </p:spTree>
    <p:extLst>
      <p:ext uri="{BB962C8B-B14F-4D97-AF65-F5344CB8AC3E}">
        <p14:creationId xmlns:p14="http://schemas.microsoft.com/office/powerpoint/2010/main" val="778262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7</a:t>
            </a:fld>
            <a:endParaRPr lang="en-US"/>
          </a:p>
        </p:txBody>
      </p:sp>
    </p:spTree>
    <p:extLst>
      <p:ext uri="{BB962C8B-B14F-4D97-AF65-F5344CB8AC3E}">
        <p14:creationId xmlns:p14="http://schemas.microsoft.com/office/powerpoint/2010/main" val="20231916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8</a:t>
            </a:fld>
            <a:endParaRPr lang="en-US"/>
          </a:p>
        </p:txBody>
      </p:sp>
    </p:spTree>
    <p:extLst>
      <p:ext uri="{BB962C8B-B14F-4D97-AF65-F5344CB8AC3E}">
        <p14:creationId xmlns:p14="http://schemas.microsoft.com/office/powerpoint/2010/main" val="2165578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9</a:t>
            </a:fld>
            <a:endParaRPr lang="en-US"/>
          </a:p>
        </p:txBody>
      </p:sp>
    </p:spTree>
    <p:extLst>
      <p:ext uri="{BB962C8B-B14F-4D97-AF65-F5344CB8AC3E}">
        <p14:creationId xmlns:p14="http://schemas.microsoft.com/office/powerpoint/2010/main" val="16025937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endParaRPr lang="en-CA" dirty="0"/>
              </a:p>
            </p:txBody>
          </p:sp>
        </mc:Choice>
        <mc:Fallback xmlns="">
          <p:sp>
            <p:nvSpPr>
              <p:cNvPr id="3" name="Notes Placeholder 2"/>
              <p:cNvSpPr>
                <a:spLocks noGrp="1"/>
              </p:cNvSpPr>
              <p:nvPr>
                <p:ph type="body" idx="1"/>
              </p:nvPr>
            </p:nvSpPr>
            <p:spPr/>
            <p:txBody>
              <a:bodyPr/>
              <a:lstStyle/>
              <a:p>
                <a:r>
                  <a:rPr lang="en-CA" dirty="0"/>
                  <a:t>Which one is better? First of all, linear recursion is easier to implement. </a:t>
                </a:r>
                <a:r>
                  <a:rPr lang="en-US" dirty="0"/>
                  <a:t>For linear recursion, just keep joining newly generated </a:t>
                </a:r>
                <a:r>
                  <a:rPr lang="en-US" i="1" dirty="0"/>
                  <a:t>Ancestor</a:t>
                </a:r>
                <a:r>
                  <a:rPr lang="en-US" dirty="0"/>
                  <a:t> rows with </a:t>
                </a:r>
                <a:r>
                  <a:rPr lang="en-US" i="1" dirty="0">
                    <a:solidFill>
                      <a:schemeClr val="accent2"/>
                    </a:solidFill>
                  </a:rPr>
                  <a:t>Parent</a:t>
                </a:r>
              </a:p>
              <a:p>
                <a:endParaRPr lang="en-US" i="1" dirty="0">
                  <a:solidFill>
                    <a:schemeClr val="accent2"/>
                  </a:solidFill>
                </a:endParaRPr>
              </a:p>
              <a:p>
                <a:r>
                  <a:rPr lang="en-US" dirty="0"/>
                  <a:t>On the other hand, nor non-linear recursion, need to join newly generated </a:t>
                </a:r>
                <a:r>
                  <a:rPr lang="en-US" i="1" dirty="0"/>
                  <a:t>Ancestor</a:t>
                </a:r>
                <a:r>
                  <a:rPr lang="en-US" dirty="0"/>
                  <a:t> rows with </a:t>
                </a:r>
                <a:r>
                  <a:rPr lang="en-US" dirty="0">
                    <a:solidFill>
                      <a:schemeClr val="accent2"/>
                    </a:solidFill>
                  </a:rPr>
                  <a:t>all existing </a:t>
                </a:r>
                <a:r>
                  <a:rPr lang="en-US" i="1" dirty="0">
                    <a:solidFill>
                      <a:schemeClr val="accent2"/>
                    </a:solidFill>
                  </a:rPr>
                  <a:t>Ancestor</a:t>
                </a:r>
                <a:r>
                  <a:rPr lang="en-US" dirty="0">
                    <a:solidFill>
                      <a:schemeClr val="accent2"/>
                    </a:solidFill>
                  </a:rPr>
                  <a:t> rows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However, non-linear recursion may take fewer steps to converge, but perform more work.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is an exercise question for you to think. If given a is parent of b, and b is a parent of c, c is parent of d, and d is the parent of 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Linear recursion takes 4 steps to find (</a:t>
                </a:r>
                <a:r>
                  <a:rPr lang="en-US" dirty="0" err="1"/>
                  <a:t>a,d</a:t>
                </a:r>
                <a:r>
                  <a:rPr lang="en-US" dirty="0"/>
                  <a:t>) is an ancestor-descendant pair. As every step it only joins the new resulted pairs with the parent table. In the first step, the </a:t>
                </a:r>
                <a:r>
                  <a:rPr lang="en-US" dirty="0" err="1"/>
                  <a:t>ansctor</a:t>
                </a:r>
                <a:r>
                  <a:rPr lang="en-US" dirty="0"/>
                  <a:t> table has (</a:t>
                </a:r>
                <a:r>
                  <a:rPr lang="en-US" dirty="0" err="1"/>
                  <a:t>a,b</a:t>
                </a:r>
                <a:r>
                  <a:rPr lang="en-US" dirty="0"/>
                  <a:t>) pair, the second step it has (</a:t>
                </a:r>
                <a:r>
                  <a:rPr lang="en-US" dirty="0" err="1"/>
                  <a:t>a,c</a:t>
                </a:r>
                <a:r>
                  <a:rPr lang="en-US" dirty="0"/>
                  <a:t>) pair, the third step it has (</a:t>
                </a:r>
                <a:r>
                  <a:rPr lang="en-US" dirty="0" err="1"/>
                  <a:t>a,d</a:t>
                </a:r>
                <a:r>
                  <a:rPr lang="en-US" dirty="0"/>
                  <a:t>) pair, in the fourth step, it finds (</a:t>
                </a:r>
                <a:r>
                  <a:rPr lang="en-US" dirty="0" err="1"/>
                  <a:t>a,e</a:t>
                </a:r>
                <a:r>
                  <a:rPr lang="en-US" dirty="0"/>
                  <a:t>) pair. </a:t>
                </a:r>
              </a:p>
              <a:p>
                <a:endParaRPr lang="en-US" dirty="0"/>
              </a:p>
              <a:p>
                <a:r>
                  <a:rPr lang="en-US" dirty="0"/>
                  <a:t>How about non-linear recursion query? You may discuss your solution on Piazza or office hour. </a:t>
                </a:r>
              </a:p>
              <a:p>
                <a:endParaRPr lang="en-US" dirty="0"/>
              </a:p>
              <a:p>
                <a:endParaRPr lang="en-US" dirty="0"/>
              </a:p>
              <a:p>
                <a:endParaRPr lang="en-US" dirty="0"/>
              </a:p>
              <a:p>
                <a:endParaRPr lang="en-US" dirty="0"/>
              </a:p>
              <a:p>
                <a:endParaRPr lang="en-US" dirty="0"/>
              </a:p>
              <a:p>
                <a:pPr lvl="1"/>
                <a:r>
                  <a:rPr lang="en-US" dirty="0"/>
                  <a:t>Example: </a:t>
                </a:r>
                <a:r>
                  <a:rPr lang="en-US" i="0">
                    <a:latin typeface="Cambria Math"/>
                  </a:rPr>
                  <a:t>𝑎→𝑏→𝑐→𝑑→𝑒</a:t>
                </a:r>
                <a:endParaRPr lang="en-US" i="1" dirty="0"/>
              </a:p>
              <a:p>
                <a:pPr lvl="1"/>
                <a:r>
                  <a:rPr lang="en-US" dirty="0"/>
                  <a:t>Linear recursion takes 4 steps</a:t>
                </a:r>
              </a:p>
              <a:p>
                <a:pPr lvl="1"/>
                <a:r>
                  <a:rPr lang="en-US" dirty="0"/>
                  <a:t>Non-linear recursion takes 3 steps</a:t>
                </a:r>
              </a:p>
              <a:p>
                <a:pPr lvl="2"/>
                <a:r>
                  <a:rPr lang="en-US" dirty="0"/>
                  <a:t>More work: e.g., </a:t>
                </a:r>
                <a:r>
                  <a:rPr lang="en-US" i="0">
                    <a:latin typeface="Cambria Math"/>
                  </a:rPr>
                  <a:t>𝑎→𝑑</a:t>
                </a:r>
                <a:r>
                  <a:rPr lang="en-US" dirty="0"/>
                  <a:t> has two different derivations</a:t>
                </a:r>
                <a:endParaRPr lang="en-US" i="1" dirty="0"/>
              </a:p>
              <a:p>
                <a:endParaRPr lang="en-CA" dirty="0"/>
              </a:p>
            </p:txBody>
          </p:sp>
        </mc:Fallback>
      </mc:AlternateContent>
      <p:sp>
        <p:nvSpPr>
          <p:cNvPr id="4" name="Slide Number Placeholder 3"/>
          <p:cNvSpPr>
            <a:spLocks noGrp="1"/>
          </p:cNvSpPr>
          <p:nvPr>
            <p:ph type="sldNum" sz="quarter" idx="5"/>
          </p:nvPr>
        </p:nvSpPr>
        <p:spPr/>
        <p:txBody>
          <a:bodyPr/>
          <a:lstStyle/>
          <a:p>
            <a:fld id="{82B470F9-3B63-4A29-A4D2-E4DBA5B32586}" type="slidenum">
              <a:rPr lang="en-US" smtClean="0"/>
              <a:t>10</a:t>
            </a:fld>
            <a:endParaRPr lang="en-US"/>
          </a:p>
        </p:txBody>
      </p:sp>
    </p:spTree>
    <p:extLst>
      <p:ext uri="{BB962C8B-B14F-4D97-AF65-F5344CB8AC3E}">
        <p14:creationId xmlns:p14="http://schemas.microsoft.com/office/powerpoint/2010/main" val="25420395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11</a:t>
            </a:fld>
            <a:endParaRPr lang="en-US"/>
          </a:p>
        </p:txBody>
      </p:sp>
    </p:spTree>
    <p:extLst>
      <p:ext uri="{BB962C8B-B14F-4D97-AF65-F5344CB8AC3E}">
        <p14:creationId xmlns:p14="http://schemas.microsoft.com/office/powerpoint/2010/main" val="15885335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12</a:t>
            </a:fld>
            <a:endParaRPr lang="en-US"/>
          </a:p>
        </p:txBody>
      </p:sp>
    </p:spTree>
    <p:extLst>
      <p:ext uri="{BB962C8B-B14F-4D97-AF65-F5344CB8AC3E}">
        <p14:creationId xmlns:p14="http://schemas.microsoft.com/office/powerpoint/2010/main" val="26899438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13</a:t>
            </a:fld>
            <a:endParaRPr lang="en-US"/>
          </a:p>
        </p:txBody>
      </p:sp>
    </p:spTree>
    <p:extLst>
      <p:ext uri="{BB962C8B-B14F-4D97-AF65-F5344CB8AC3E}">
        <p14:creationId xmlns:p14="http://schemas.microsoft.com/office/powerpoint/2010/main" val="17472605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2B470F9-3B63-4A29-A4D2-E4DBA5B32586}" type="slidenum">
              <a:rPr lang="en-US" smtClean="0"/>
              <a:t>14</a:t>
            </a:fld>
            <a:endParaRPr lang="en-US"/>
          </a:p>
        </p:txBody>
      </p:sp>
    </p:spTree>
    <p:extLst>
      <p:ext uri="{BB962C8B-B14F-4D97-AF65-F5344CB8AC3E}">
        <p14:creationId xmlns:p14="http://schemas.microsoft.com/office/powerpoint/2010/main" val="3988454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82B470F9-3B63-4A29-A4D2-E4DBA5B32586}" type="slidenum">
              <a:rPr lang="en-US" smtClean="0"/>
              <a:t>15</a:t>
            </a:fld>
            <a:endParaRPr lang="en-US"/>
          </a:p>
        </p:txBody>
      </p:sp>
    </p:spTree>
    <p:extLst>
      <p:ext uri="{BB962C8B-B14F-4D97-AF65-F5344CB8AC3E}">
        <p14:creationId xmlns:p14="http://schemas.microsoft.com/office/powerpoint/2010/main" val="4460017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2B470F9-3B63-4A29-A4D2-E4DBA5B32586}" type="slidenum">
              <a:rPr lang="en-US" smtClean="0"/>
              <a:t>16</a:t>
            </a:fld>
            <a:endParaRPr lang="en-US"/>
          </a:p>
        </p:txBody>
      </p:sp>
    </p:spTree>
    <p:extLst>
      <p:ext uri="{BB962C8B-B14F-4D97-AF65-F5344CB8AC3E}">
        <p14:creationId xmlns:p14="http://schemas.microsoft.com/office/powerpoint/2010/main" val="4306969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17</a:t>
            </a:fld>
            <a:endParaRPr lang="en-US"/>
          </a:p>
        </p:txBody>
      </p:sp>
    </p:spTree>
    <p:extLst>
      <p:ext uri="{BB962C8B-B14F-4D97-AF65-F5344CB8AC3E}">
        <p14:creationId xmlns:p14="http://schemas.microsoft.com/office/powerpoint/2010/main" val="31187806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18</a:t>
            </a:fld>
            <a:endParaRPr lang="en-US"/>
          </a:p>
        </p:txBody>
      </p:sp>
    </p:spTree>
    <p:extLst>
      <p:ext uri="{BB962C8B-B14F-4D97-AF65-F5344CB8AC3E}">
        <p14:creationId xmlns:p14="http://schemas.microsoft.com/office/powerpoint/2010/main" val="3901693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19</a:t>
            </a:fld>
            <a:endParaRPr lang="en-US"/>
          </a:p>
        </p:txBody>
      </p:sp>
    </p:spTree>
    <p:extLst>
      <p:ext uri="{BB962C8B-B14F-4D97-AF65-F5344CB8AC3E}">
        <p14:creationId xmlns:p14="http://schemas.microsoft.com/office/powerpoint/2010/main" val="25921455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20</a:t>
            </a:fld>
            <a:endParaRPr lang="en-US"/>
          </a:p>
        </p:txBody>
      </p:sp>
    </p:spTree>
    <p:extLst>
      <p:ext uri="{BB962C8B-B14F-4D97-AF65-F5344CB8AC3E}">
        <p14:creationId xmlns:p14="http://schemas.microsoft.com/office/powerpoint/2010/main" val="9558516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21</a:t>
            </a:fld>
            <a:endParaRPr lang="en-US"/>
          </a:p>
        </p:txBody>
      </p:sp>
    </p:spTree>
    <p:extLst>
      <p:ext uri="{BB962C8B-B14F-4D97-AF65-F5344CB8AC3E}">
        <p14:creationId xmlns:p14="http://schemas.microsoft.com/office/powerpoint/2010/main" val="326108781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22</a:t>
            </a:fld>
            <a:endParaRPr lang="en-US"/>
          </a:p>
        </p:txBody>
      </p:sp>
    </p:spTree>
    <p:extLst>
      <p:ext uri="{BB962C8B-B14F-4D97-AF65-F5344CB8AC3E}">
        <p14:creationId xmlns:p14="http://schemas.microsoft.com/office/powerpoint/2010/main" val="1504814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23</a:t>
            </a:fld>
            <a:endParaRPr lang="en-US"/>
          </a:p>
        </p:txBody>
      </p:sp>
    </p:spTree>
    <p:extLst>
      <p:ext uri="{BB962C8B-B14F-4D97-AF65-F5344CB8AC3E}">
        <p14:creationId xmlns:p14="http://schemas.microsoft.com/office/powerpoint/2010/main" val="15694614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2B470F9-3B63-4A29-A4D2-E4DBA5B32586}" type="slidenum">
              <a:rPr lang="en-US" smtClean="0"/>
              <a:t>24</a:t>
            </a:fld>
            <a:endParaRPr lang="en-US"/>
          </a:p>
        </p:txBody>
      </p:sp>
    </p:spTree>
    <p:extLst>
      <p:ext uri="{BB962C8B-B14F-4D97-AF65-F5344CB8AC3E}">
        <p14:creationId xmlns:p14="http://schemas.microsoft.com/office/powerpoint/2010/main" val="58074666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25</a:t>
            </a:fld>
            <a:endParaRPr lang="en-US"/>
          </a:p>
        </p:txBody>
      </p:sp>
    </p:spTree>
    <p:extLst>
      <p:ext uri="{BB962C8B-B14F-4D97-AF65-F5344CB8AC3E}">
        <p14:creationId xmlns:p14="http://schemas.microsoft.com/office/powerpoint/2010/main" val="41029125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26</a:t>
            </a:fld>
            <a:endParaRPr lang="en-US"/>
          </a:p>
        </p:txBody>
      </p:sp>
    </p:spTree>
    <p:extLst>
      <p:ext uri="{BB962C8B-B14F-4D97-AF65-F5344CB8AC3E}">
        <p14:creationId xmlns:p14="http://schemas.microsoft.com/office/powerpoint/2010/main" val="242305297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27</a:t>
            </a:fld>
            <a:endParaRPr lang="en-US"/>
          </a:p>
        </p:txBody>
      </p:sp>
    </p:spTree>
    <p:extLst>
      <p:ext uri="{BB962C8B-B14F-4D97-AF65-F5344CB8AC3E}">
        <p14:creationId xmlns:p14="http://schemas.microsoft.com/office/powerpoint/2010/main" val="338963101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28</a:t>
            </a:fld>
            <a:endParaRPr lang="en-US"/>
          </a:p>
        </p:txBody>
      </p:sp>
    </p:spTree>
    <p:extLst>
      <p:ext uri="{BB962C8B-B14F-4D97-AF65-F5344CB8AC3E}">
        <p14:creationId xmlns:p14="http://schemas.microsoft.com/office/powerpoint/2010/main" val="497873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29</a:t>
            </a:fld>
            <a:endParaRPr lang="en-US"/>
          </a:p>
        </p:txBody>
      </p:sp>
    </p:spTree>
    <p:extLst>
      <p:ext uri="{BB962C8B-B14F-4D97-AF65-F5344CB8AC3E}">
        <p14:creationId xmlns:p14="http://schemas.microsoft.com/office/powerpoint/2010/main" val="16107601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30</a:t>
            </a:fld>
            <a:endParaRPr lang="en-US"/>
          </a:p>
        </p:txBody>
      </p:sp>
    </p:spTree>
    <p:extLst>
      <p:ext uri="{BB962C8B-B14F-4D97-AF65-F5344CB8AC3E}">
        <p14:creationId xmlns:p14="http://schemas.microsoft.com/office/powerpoint/2010/main" val="14273015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31</a:t>
            </a:fld>
            <a:endParaRPr lang="en-US"/>
          </a:p>
        </p:txBody>
      </p:sp>
    </p:spTree>
    <p:extLst>
      <p:ext uri="{BB962C8B-B14F-4D97-AF65-F5344CB8AC3E}">
        <p14:creationId xmlns:p14="http://schemas.microsoft.com/office/powerpoint/2010/main" val="244140584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2B470F9-3B63-4A29-A4D2-E4DBA5B32586}" type="slidenum">
              <a:rPr lang="en-US" smtClean="0"/>
              <a:t>32</a:t>
            </a:fld>
            <a:endParaRPr lang="en-US"/>
          </a:p>
        </p:txBody>
      </p:sp>
    </p:spTree>
    <p:extLst>
      <p:ext uri="{BB962C8B-B14F-4D97-AF65-F5344CB8AC3E}">
        <p14:creationId xmlns:p14="http://schemas.microsoft.com/office/powerpoint/2010/main" val="165496238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2B470F9-3B63-4A29-A4D2-E4DBA5B32586}" type="slidenum">
              <a:rPr lang="en-US" smtClean="0"/>
              <a:t>33</a:t>
            </a:fld>
            <a:endParaRPr lang="en-US"/>
          </a:p>
        </p:txBody>
      </p:sp>
    </p:spTree>
    <p:extLst>
      <p:ext uri="{BB962C8B-B14F-4D97-AF65-F5344CB8AC3E}">
        <p14:creationId xmlns:p14="http://schemas.microsoft.com/office/powerpoint/2010/main" val="272498025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34</a:t>
            </a:fld>
            <a:endParaRPr lang="en-US"/>
          </a:p>
        </p:txBody>
      </p:sp>
    </p:spTree>
    <p:extLst>
      <p:ext uri="{BB962C8B-B14F-4D97-AF65-F5344CB8AC3E}">
        <p14:creationId xmlns:p14="http://schemas.microsoft.com/office/powerpoint/2010/main" val="8213289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35</a:t>
            </a:fld>
            <a:endParaRPr lang="en-US"/>
          </a:p>
        </p:txBody>
      </p:sp>
    </p:spTree>
    <p:extLst>
      <p:ext uri="{BB962C8B-B14F-4D97-AF65-F5344CB8AC3E}">
        <p14:creationId xmlns:p14="http://schemas.microsoft.com/office/powerpoint/2010/main" val="33440822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36</a:t>
            </a:fld>
            <a:endParaRPr lang="en-US"/>
          </a:p>
        </p:txBody>
      </p:sp>
    </p:spTree>
    <p:extLst>
      <p:ext uri="{BB962C8B-B14F-4D97-AF65-F5344CB8AC3E}">
        <p14:creationId xmlns:p14="http://schemas.microsoft.com/office/powerpoint/2010/main" val="8857723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37</a:t>
            </a:fld>
            <a:endParaRPr lang="en-US"/>
          </a:p>
        </p:txBody>
      </p:sp>
    </p:spTree>
    <p:extLst>
      <p:ext uri="{BB962C8B-B14F-4D97-AF65-F5344CB8AC3E}">
        <p14:creationId xmlns:p14="http://schemas.microsoft.com/office/powerpoint/2010/main" val="132395909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38</a:t>
            </a:fld>
            <a:endParaRPr lang="en-US"/>
          </a:p>
        </p:txBody>
      </p:sp>
    </p:spTree>
    <p:extLst>
      <p:ext uri="{BB962C8B-B14F-4D97-AF65-F5344CB8AC3E}">
        <p14:creationId xmlns:p14="http://schemas.microsoft.com/office/powerpoint/2010/main" val="55873346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39</a:t>
            </a:fld>
            <a:endParaRPr lang="en-US"/>
          </a:p>
        </p:txBody>
      </p:sp>
    </p:spTree>
    <p:extLst>
      <p:ext uri="{BB962C8B-B14F-4D97-AF65-F5344CB8AC3E}">
        <p14:creationId xmlns:p14="http://schemas.microsoft.com/office/powerpoint/2010/main" val="30120160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40</a:t>
            </a:fld>
            <a:endParaRPr lang="en-US"/>
          </a:p>
        </p:txBody>
      </p:sp>
    </p:spTree>
    <p:extLst>
      <p:ext uri="{BB962C8B-B14F-4D97-AF65-F5344CB8AC3E}">
        <p14:creationId xmlns:p14="http://schemas.microsoft.com/office/powerpoint/2010/main" val="3338702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41</a:t>
            </a:fld>
            <a:endParaRPr lang="en-US"/>
          </a:p>
        </p:txBody>
      </p:sp>
    </p:spTree>
    <p:extLst>
      <p:ext uri="{BB962C8B-B14F-4D97-AF65-F5344CB8AC3E}">
        <p14:creationId xmlns:p14="http://schemas.microsoft.com/office/powerpoint/2010/main" val="6262633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42</a:t>
            </a:fld>
            <a:endParaRPr lang="en-US"/>
          </a:p>
        </p:txBody>
      </p:sp>
    </p:spTree>
    <p:extLst>
      <p:ext uri="{BB962C8B-B14F-4D97-AF65-F5344CB8AC3E}">
        <p14:creationId xmlns:p14="http://schemas.microsoft.com/office/powerpoint/2010/main" val="28774718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43</a:t>
            </a:fld>
            <a:endParaRPr lang="en-US"/>
          </a:p>
        </p:txBody>
      </p:sp>
    </p:spTree>
    <p:extLst>
      <p:ext uri="{BB962C8B-B14F-4D97-AF65-F5344CB8AC3E}">
        <p14:creationId xmlns:p14="http://schemas.microsoft.com/office/powerpoint/2010/main" val="40815430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82B470F9-3B63-4A29-A4D2-E4DBA5B32586}" type="slidenum">
              <a:rPr lang="en-US" smtClean="0"/>
              <a:t>44</a:t>
            </a:fld>
            <a:endParaRPr lang="en-US"/>
          </a:p>
        </p:txBody>
      </p:sp>
    </p:spTree>
    <p:extLst>
      <p:ext uri="{BB962C8B-B14F-4D97-AF65-F5344CB8AC3E}">
        <p14:creationId xmlns:p14="http://schemas.microsoft.com/office/powerpoint/2010/main" val="11417202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86F85E7-7033-4BD1-A625-C36166465D72}" type="datetime1">
              <a:rPr lang="en-US" smtClean="0"/>
              <a:t>7/26/2021</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232989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42336" y="162161"/>
            <a:ext cx="8801664" cy="1180160"/>
          </a:xfrm>
        </p:spPr>
        <p:txBody>
          <a:bodyPr/>
          <a:lstStyle/>
          <a:p>
            <a:r>
              <a:rPr lang="en-US" dirty="0"/>
              <a:t>Click to edit Master title style</a:t>
            </a:r>
          </a:p>
        </p:txBody>
      </p:sp>
      <p:sp>
        <p:nvSpPr>
          <p:cNvPr id="3" name="Content Placeholder 2"/>
          <p:cNvSpPr>
            <a:spLocks noGrp="1"/>
          </p:cNvSpPr>
          <p:nvPr>
            <p:ph idx="1"/>
          </p:nvPr>
        </p:nvSpPr>
        <p:spPr>
          <a:xfrm>
            <a:off x="342336" y="1456854"/>
            <a:ext cx="8173014" cy="526462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7368C2A-DC08-4D71-B5BC-A571B022E25E}" type="datetime1">
              <a:rPr lang="en-US" smtClean="0"/>
              <a:t>7/26/2021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7086600" y="6470884"/>
            <a:ext cx="2057400" cy="365125"/>
          </a:xfrm>
        </p:spPr>
        <p:txBody>
          <a:bodyPr/>
          <a:lstStyle/>
          <a:p>
            <a:fld id="{44C99FA5-7995-46A9-A97E-16E38AD58950}" type="slidenum">
              <a:rPr lang="en-US" smtClean="0"/>
              <a:t>‹#›</a:t>
            </a:fld>
            <a:endParaRPr lang="en-US"/>
          </a:p>
        </p:txBody>
      </p:sp>
    </p:spTree>
    <p:extLst>
      <p:ext uri="{BB962C8B-B14F-4D97-AF65-F5344CB8AC3E}">
        <p14:creationId xmlns:p14="http://schemas.microsoft.com/office/powerpoint/2010/main" val="26843154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29DCD6-3D10-40FA-A88B-E0AD5136A360}" type="datetime1">
              <a:rPr lang="en-US" smtClean="0"/>
              <a:t>7/26/2021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4C99FA5-7995-46A9-A97E-16E38AD58950}" type="slidenum">
              <a:rPr lang="en-US" smtClean="0"/>
              <a:t>‹#›</a:t>
            </a:fld>
            <a:endParaRPr lang="en-US"/>
          </a:p>
        </p:txBody>
      </p:sp>
    </p:spTree>
    <p:extLst>
      <p:ext uri="{BB962C8B-B14F-4D97-AF65-F5344CB8AC3E}">
        <p14:creationId xmlns:p14="http://schemas.microsoft.com/office/powerpoint/2010/main" val="36147805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D9D43D1-D08D-4D7D-B4AB-E82156BEAC2C}" type="datetime1">
              <a:rPr lang="en-US" smtClean="0"/>
              <a:t>7/26/2021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4C99FA5-7995-46A9-A97E-16E38AD58950}" type="slidenum">
              <a:rPr lang="en-US" smtClean="0"/>
              <a:t>‹#›</a:t>
            </a:fld>
            <a:endParaRPr lang="en-US"/>
          </a:p>
        </p:txBody>
      </p:sp>
    </p:spTree>
    <p:extLst>
      <p:ext uri="{BB962C8B-B14F-4D97-AF65-F5344CB8AC3E}">
        <p14:creationId xmlns:p14="http://schemas.microsoft.com/office/powerpoint/2010/main" val="21163689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238F3BF-3FC2-4600-9976-243D0786F5BB}" type="datetime1">
              <a:rPr lang="en-US" smtClean="0"/>
              <a:t>7/26/2021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4C99FA5-7995-46A9-A97E-16E38AD58950}" type="slidenum">
              <a:rPr lang="en-US" smtClean="0"/>
              <a:t>‹#›</a:t>
            </a:fld>
            <a:endParaRPr lang="en-US"/>
          </a:p>
        </p:txBody>
      </p:sp>
    </p:spTree>
    <p:extLst>
      <p:ext uri="{BB962C8B-B14F-4D97-AF65-F5344CB8AC3E}">
        <p14:creationId xmlns:p14="http://schemas.microsoft.com/office/powerpoint/2010/main" val="23059285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85E7219-C430-46CE-85B9-30B4F0CA56AD}" type="datetime1">
              <a:rPr lang="en-US" smtClean="0"/>
              <a:t>7/26/2021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4C99FA5-7995-46A9-A97E-16E38AD58950}" type="slidenum">
              <a:rPr lang="en-US" smtClean="0"/>
              <a:t>‹#›</a:t>
            </a:fld>
            <a:endParaRPr lang="en-US"/>
          </a:p>
        </p:txBody>
      </p:sp>
    </p:spTree>
    <p:extLst>
      <p:ext uri="{BB962C8B-B14F-4D97-AF65-F5344CB8AC3E}">
        <p14:creationId xmlns:p14="http://schemas.microsoft.com/office/powerpoint/2010/main" val="16772639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06457F-C273-4FC9-8FE1-6D874FEF83EF}" type="datetime1">
              <a:rPr lang="en-US" smtClean="0"/>
              <a:t>7/26/2021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4C99FA5-7995-46A9-A97E-16E38AD58950}" type="slidenum">
              <a:rPr lang="en-US" smtClean="0"/>
              <a:t>‹#›</a:t>
            </a:fld>
            <a:endParaRPr lang="en-US"/>
          </a:p>
        </p:txBody>
      </p:sp>
    </p:spTree>
    <p:extLst>
      <p:ext uri="{BB962C8B-B14F-4D97-AF65-F5344CB8AC3E}">
        <p14:creationId xmlns:p14="http://schemas.microsoft.com/office/powerpoint/2010/main" val="26249803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093ADF5-D710-4EBB-AA69-2A818CDF92E1}" type="datetime1">
              <a:rPr lang="en-US" smtClean="0"/>
              <a:t>7/26/2021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4C99FA5-7995-46A9-A97E-16E38AD58950}" type="slidenum">
              <a:rPr lang="en-US" smtClean="0"/>
              <a:t>‹#›</a:t>
            </a:fld>
            <a:endParaRPr lang="en-US"/>
          </a:p>
        </p:txBody>
      </p:sp>
    </p:spTree>
    <p:extLst>
      <p:ext uri="{BB962C8B-B14F-4D97-AF65-F5344CB8AC3E}">
        <p14:creationId xmlns:p14="http://schemas.microsoft.com/office/powerpoint/2010/main" val="37581540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157EE3B-FC30-46DA-98F7-BE80A4010F5D}" type="datetime1">
              <a:rPr lang="en-US" smtClean="0"/>
              <a:t>7/26/2021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4C99FA5-7995-46A9-A97E-16E38AD58950}" type="slidenum">
              <a:rPr lang="en-US" smtClean="0"/>
              <a:t>‹#›</a:t>
            </a:fld>
            <a:endParaRPr lang="en-US"/>
          </a:p>
        </p:txBody>
      </p:sp>
    </p:spTree>
    <p:extLst>
      <p:ext uri="{BB962C8B-B14F-4D97-AF65-F5344CB8AC3E}">
        <p14:creationId xmlns:p14="http://schemas.microsoft.com/office/powerpoint/2010/main" val="11117870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C461231-A0A7-4403-8B90-83ED4F249362}" type="datetime1">
              <a:rPr lang="en-US" smtClean="0"/>
              <a:t>7/26/2021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4C99FA5-7995-46A9-A97E-16E38AD58950}" type="slidenum">
              <a:rPr lang="en-US" smtClean="0"/>
              <a:t>‹#›</a:t>
            </a:fld>
            <a:endParaRPr lang="en-US"/>
          </a:p>
        </p:txBody>
      </p:sp>
    </p:spTree>
    <p:extLst>
      <p:ext uri="{BB962C8B-B14F-4D97-AF65-F5344CB8AC3E}">
        <p14:creationId xmlns:p14="http://schemas.microsoft.com/office/powerpoint/2010/main" val="1315585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30661F2-D403-4BA1-A95E-62DE29B59CB4}" type="datetime1">
              <a:rPr lang="en-US" smtClean="0"/>
              <a:t>7/26/2021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4C99FA5-7995-46A9-A97E-16E38AD58950}" type="slidenum">
              <a:rPr lang="en-US" smtClean="0"/>
              <a:t>‹#›</a:t>
            </a:fld>
            <a:endParaRPr lang="en-US"/>
          </a:p>
        </p:txBody>
      </p:sp>
    </p:spTree>
    <p:extLst>
      <p:ext uri="{BB962C8B-B14F-4D97-AF65-F5344CB8AC3E}">
        <p14:creationId xmlns:p14="http://schemas.microsoft.com/office/powerpoint/2010/main" val="29817376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FD7D50E-B569-40DB-B6B5-FEED8173E279}" type="datetime1">
              <a:rPr lang="en-US" smtClean="0"/>
              <a:t>7/26/2021</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4C99FA5-7995-46A9-A97E-16E38AD58950}" type="slidenum">
              <a:rPr lang="en-US" smtClean="0"/>
              <a:t>‹#›</a:t>
            </a:fld>
            <a:endParaRPr lang="en-US"/>
          </a:p>
        </p:txBody>
      </p:sp>
    </p:spTree>
    <p:extLst>
      <p:ext uri="{BB962C8B-B14F-4D97-AF65-F5344CB8AC3E}">
        <p14:creationId xmlns:p14="http://schemas.microsoft.com/office/powerpoint/2010/main" val="28953319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6" Type="http://schemas.openxmlformats.org/officeDocument/2006/relationships/image" Target="../media/image111.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7" Type="http://schemas.openxmlformats.org/officeDocument/2006/relationships/image" Target="../media/image310.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2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6.xml"/><Relationship Id="rId6" Type="http://schemas.openxmlformats.org/officeDocument/2006/relationships/image" Target="../media/image45.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8.xml"/><Relationship Id="rId6" Type="http://schemas.openxmlformats.org/officeDocument/2006/relationships/image" Target="../media/image50.png"/></Relationships>
</file>

<file path=ppt/slides/_rels/slide11.xml.rels><?xml version="1.0" encoding="UTF-8" standalone="yes"?>
<Relationships xmlns="http://schemas.openxmlformats.org/package/2006/relationships"><Relationship Id="rId8" Type="http://schemas.openxmlformats.org/officeDocument/2006/relationships/customXml" Target="../ink/ink2.xml"/><Relationship Id="rId13" Type="http://schemas.openxmlformats.org/officeDocument/2006/relationships/image" Target="../media/image90.png"/><Relationship Id="rId3" Type="http://schemas.openxmlformats.org/officeDocument/2006/relationships/notesSlide" Target="../notesSlides/notesSlide10.xml"/><Relationship Id="rId7" Type="http://schemas.openxmlformats.org/officeDocument/2006/relationships/image" Target="../media/image60.png"/><Relationship Id="rId12" Type="http://schemas.openxmlformats.org/officeDocument/2006/relationships/customXml" Target="../ink/ink4.xml"/><Relationship Id="rId2" Type="http://schemas.openxmlformats.org/officeDocument/2006/relationships/slideLayout" Target="../slideLayouts/slideLayout2.xml"/><Relationship Id="rId1" Type="http://schemas.openxmlformats.org/officeDocument/2006/relationships/tags" Target="../tags/tag9.xml"/><Relationship Id="rId11" Type="http://schemas.openxmlformats.org/officeDocument/2006/relationships/image" Target="../media/image80.png"/><Relationship Id="rId10" Type="http://schemas.openxmlformats.org/officeDocument/2006/relationships/customXml" Target="../ink/ink3.xml"/><Relationship Id="rId4" Type="http://schemas.openxmlformats.org/officeDocument/2006/relationships/customXml" Target="../ink/ink1.xml"/><Relationship Id="rId9" Type="http://schemas.openxmlformats.org/officeDocument/2006/relationships/image" Target="../media/image70.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10.xml"/><Relationship Id="rId6" Type="http://schemas.openxmlformats.org/officeDocument/2006/relationships/image" Target="../media/image100.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ags" Target="../tags/tag11.xml"/><Relationship Id="rId6" Type="http://schemas.openxmlformats.org/officeDocument/2006/relationships/image" Target="../media/image112.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3.xml"/><Relationship Id="rId6" Type="http://schemas.openxmlformats.org/officeDocument/2006/relationships/image" Target="../media/image12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4.xml"/><Relationship Id="rId6" Type="http://schemas.openxmlformats.org/officeDocument/2006/relationships/image" Target="../media/image131.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tags" Target="../tags/tag15.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16.xml"/></Relationships>
</file>

<file path=ppt/slides/_rels/slide19.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notesSlide" Target="../notesSlides/notesSlide18.xml"/><Relationship Id="rId7" Type="http://schemas.openxmlformats.org/officeDocument/2006/relationships/image" Target="../media/image120.png"/><Relationship Id="rId2" Type="http://schemas.openxmlformats.org/officeDocument/2006/relationships/slideLayout" Target="../slideLayouts/slideLayout2.xml"/><Relationship Id="rId1" Type="http://schemas.openxmlformats.org/officeDocument/2006/relationships/tags" Target="../tags/tag17.xml"/><Relationship Id="rId6" Type="http://schemas.openxmlformats.org/officeDocument/2006/relationships/image" Target="../media/image110.png"/></Relationships>
</file>

<file path=ppt/slides/_rels/slide20.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notesSlide" Target="../notesSlides/notesSlide19.xml"/><Relationship Id="rId7" Type="http://schemas.openxmlformats.org/officeDocument/2006/relationships/customXml" Target="../ink/ink5.xml"/><Relationship Id="rId2" Type="http://schemas.openxmlformats.org/officeDocument/2006/relationships/slideLayout" Target="../slideLayouts/slideLayout2.xml"/><Relationship Id="rId1" Type="http://schemas.openxmlformats.org/officeDocument/2006/relationships/tags" Target="../tags/tag18.xml"/><Relationship Id="rId6" Type="http://schemas.openxmlformats.org/officeDocument/2006/relationships/image" Target="../media/image140.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0.xml"/><Relationship Id="rId7" Type="http://schemas.openxmlformats.org/officeDocument/2006/relationships/image" Target="../media/image160.png"/><Relationship Id="rId2" Type="http://schemas.openxmlformats.org/officeDocument/2006/relationships/slideLayout" Target="../slideLayouts/slideLayout2.xml"/><Relationship Id="rId1" Type="http://schemas.openxmlformats.org/officeDocument/2006/relationships/tags" Target="../tags/tag19.xml"/><Relationship Id="rId6" Type="http://schemas.openxmlformats.org/officeDocument/2006/relationships/image" Target="../media/image161.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tags" Target="../tags/tag20.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xml"/><Relationship Id="rId1" Type="http://schemas.openxmlformats.org/officeDocument/2006/relationships/tags" Target="../tags/tag21.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tags" Target="../tags/tag22.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5.xml"/><Relationship Id="rId7" Type="http://schemas.openxmlformats.org/officeDocument/2006/relationships/image" Target="../media/image200.png"/><Relationship Id="rId2" Type="http://schemas.openxmlformats.org/officeDocument/2006/relationships/slideLayout" Target="../slideLayouts/slideLayout2.xml"/><Relationship Id="rId1" Type="http://schemas.openxmlformats.org/officeDocument/2006/relationships/tags" Target="../tags/tag23.xml"/><Relationship Id="rId4" Type="http://schemas.openxmlformats.org/officeDocument/2006/relationships/customXml" Target="../ink/ink6.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2.xml"/><Relationship Id="rId1" Type="http://schemas.openxmlformats.org/officeDocument/2006/relationships/tags" Target="../tags/tag24.xml"/></Relationships>
</file>

<file path=ppt/slides/_rels/slide28.xml.rels><?xml version="1.0" encoding="UTF-8" standalone="yes"?>
<Relationships xmlns="http://schemas.openxmlformats.org/package/2006/relationships"><Relationship Id="rId3" Type="http://schemas.openxmlformats.org/officeDocument/2006/relationships/hyperlink" Target="https://www.postgresql.org/docs/9.6/plpgsql.html"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2.xml"/><Relationship Id="rId1" Type="http://schemas.openxmlformats.org/officeDocument/2006/relationships/tags" Target="../tags/tag25.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2.xml"/><Relationship Id="rId1" Type="http://schemas.openxmlformats.org/officeDocument/2006/relationships/tags" Target="../tags/tag26.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2.xml"/><Relationship Id="rId1" Type="http://schemas.openxmlformats.org/officeDocument/2006/relationships/tags" Target="../tags/tag27.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2.xml"/><Relationship Id="rId1" Type="http://schemas.openxmlformats.org/officeDocument/2006/relationships/tags" Target="../tags/tag28.xml"/></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2.xml"/><Relationship Id="rId1" Type="http://schemas.openxmlformats.org/officeDocument/2006/relationships/tags" Target="../tags/tag29.xml"/><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2.xml"/><Relationship Id="rId1" Type="http://schemas.openxmlformats.org/officeDocument/2006/relationships/tags" Target="../tags/tag30.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2.xml"/><Relationship Id="rId1" Type="http://schemas.openxmlformats.org/officeDocument/2006/relationships/tags" Target="../tags/tag3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2.xml"/><Relationship Id="rId1" Type="http://schemas.openxmlformats.org/officeDocument/2006/relationships/tags" Target="../tags/tag32.xml"/></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ags" Target="../tags/tag3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2.xml"/><Relationship Id="rId1" Type="http://schemas.openxmlformats.org/officeDocument/2006/relationships/tags" Target="../tags/tag3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tags" Target="../tags/tag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sz="4000" dirty="0"/>
              <a:t>SQL: </a:t>
            </a:r>
            <a:br>
              <a:rPr lang="en-US" sz="4000" dirty="0"/>
            </a:br>
            <a:r>
              <a:rPr lang="en-US" sz="4000" dirty="0"/>
              <a:t>Recursion, Programming </a:t>
            </a:r>
          </a:p>
        </p:txBody>
      </p:sp>
      <p:sp>
        <p:nvSpPr>
          <p:cNvPr id="3" name="Subtitle 2"/>
          <p:cNvSpPr>
            <a:spLocks noGrp="1"/>
          </p:cNvSpPr>
          <p:nvPr>
            <p:ph type="subTitle" idx="1"/>
          </p:nvPr>
        </p:nvSpPr>
        <p:spPr/>
        <p:txBody>
          <a:bodyPr/>
          <a:lstStyle/>
          <a:p>
            <a:r>
              <a:rPr lang="en-US" dirty="0"/>
              <a:t>Introduction to Database Management</a:t>
            </a:r>
          </a:p>
          <a:p>
            <a:r>
              <a:rPr lang="en-US"/>
              <a:t>CS348 Spring 2021</a:t>
            </a:r>
            <a:endParaRPr lang="en-US" dirty="0"/>
          </a:p>
        </p:txBody>
      </p:sp>
    </p:spTree>
    <p:extLst>
      <p:ext uri="{BB962C8B-B14F-4D97-AF65-F5344CB8AC3E}">
        <p14:creationId xmlns:p14="http://schemas.microsoft.com/office/powerpoint/2010/main" val="36652842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F9B0E-932F-7247-AAFA-876A7CC2251F}"/>
              </a:ext>
            </a:extLst>
          </p:cNvPr>
          <p:cNvSpPr>
            <a:spLocks noGrp="1"/>
          </p:cNvSpPr>
          <p:nvPr>
            <p:ph type="title"/>
          </p:nvPr>
        </p:nvSpPr>
        <p:spPr/>
        <p:txBody>
          <a:bodyPr/>
          <a:lstStyle/>
          <a:p>
            <a:r>
              <a:rPr lang="en-US" dirty="0"/>
              <a:t>SQL </a:t>
            </a:r>
          </a:p>
        </p:txBody>
      </p:sp>
      <p:sp>
        <p:nvSpPr>
          <p:cNvPr id="3" name="Content Placeholder 2">
            <a:extLst>
              <a:ext uri="{FF2B5EF4-FFF2-40B4-BE49-F238E27FC236}">
                <a16:creationId xmlns:a16="http://schemas.microsoft.com/office/drawing/2014/main" id="{F7F6834E-3031-9141-B7FE-3C7596368561}"/>
              </a:ext>
            </a:extLst>
          </p:cNvPr>
          <p:cNvSpPr>
            <a:spLocks noGrp="1"/>
          </p:cNvSpPr>
          <p:nvPr>
            <p:ph idx="1"/>
          </p:nvPr>
        </p:nvSpPr>
        <p:spPr/>
        <p:txBody>
          <a:bodyPr/>
          <a:lstStyle/>
          <a:p>
            <a:pPr>
              <a:defRPr/>
            </a:pPr>
            <a:r>
              <a:rPr lang="en-US" dirty="0"/>
              <a:t>Basic SQL (queries, modifications, and constraints)</a:t>
            </a:r>
          </a:p>
          <a:p>
            <a:pPr marL="0" indent="0">
              <a:buNone/>
            </a:pPr>
            <a:endParaRPr lang="en-US" dirty="0"/>
          </a:p>
          <a:p>
            <a:r>
              <a:rPr lang="en-US" dirty="0"/>
              <a:t>Intermediate SQL</a:t>
            </a:r>
          </a:p>
          <a:p>
            <a:pPr lvl="1"/>
            <a:r>
              <a:rPr lang="en-US" dirty="0"/>
              <a:t>Triggers </a:t>
            </a:r>
          </a:p>
          <a:p>
            <a:pPr lvl="1"/>
            <a:r>
              <a:rPr lang="en-US" dirty="0"/>
              <a:t>Views</a:t>
            </a:r>
          </a:p>
          <a:p>
            <a:pPr lvl="1"/>
            <a:r>
              <a:rPr lang="en-US" dirty="0"/>
              <a:t>Indexes</a:t>
            </a:r>
          </a:p>
          <a:p>
            <a:pPr lvl="1"/>
            <a:endParaRPr lang="en-US" dirty="0"/>
          </a:p>
          <a:p>
            <a:r>
              <a:rPr lang="en-US" dirty="0">
                <a:solidFill>
                  <a:schemeClr val="accent2"/>
                </a:solidFill>
              </a:rPr>
              <a:t>Advanced SQL</a:t>
            </a:r>
          </a:p>
          <a:p>
            <a:pPr lvl="1"/>
            <a:r>
              <a:rPr lang="en-US" dirty="0">
                <a:solidFill>
                  <a:schemeClr val="accent2"/>
                </a:solidFill>
              </a:rPr>
              <a:t>Recursion</a:t>
            </a:r>
          </a:p>
          <a:p>
            <a:pPr lvl="1"/>
            <a:r>
              <a:rPr lang="en-US" dirty="0">
                <a:solidFill>
                  <a:schemeClr val="accent2"/>
                </a:solidFill>
              </a:rPr>
              <a:t>Programming </a:t>
            </a:r>
          </a:p>
          <a:p>
            <a:pPr lvl="1"/>
            <a:endParaRPr lang="en-US" dirty="0"/>
          </a:p>
        </p:txBody>
      </p:sp>
      <p:sp>
        <p:nvSpPr>
          <p:cNvPr id="4" name="Slide Number Placeholder 3">
            <a:extLst>
              <a:ext uri="{FF2B5EF4-FFF2-40B4-BE49-F238E27FC236}">
                <a16:creationId xmlns:a16="http://schemas.microsoft.com/office/drawing/2014/main" id="{51A787F3-8802-774B-856C-CE923BD0386C}"/>
              </a:ext>
            </a:extLst>
          </p:cNvPr>
          <p:cNvSpPr>
            <a:spLocks noGrp="1"/>
          </p:cNvSpPr>
          <p:nvPr>
            <p:ph type="sldNum" sz="quarter" idx="12"/>
          </p:nvPr>
        </p:nvSpPr>
        <p:spPr/>
        <p:txBody>
          <a:bodyPr/>
          <a:lstStyle/>
          <a:p>
            <a:fld id="{44C99FA5-7995-46A9-A97E-16E38AD58950}" type="slidenum">
              <a:rPr lang="en-US" smtClean="0"/>
              <a:t>2</a:t>
            </a:fld>
            <a:endParaRPr lang="en-US"/>
          </a:p>
        </p:txBody>
      </p:sp>
    </p:spTree>
    <p:extLst>
      <p:ext uri="{BB962C8B-B14F-4D97-AF65-F5344CB8AC3E}">
        <p14:creationId xmlns:p14="http://schemas.microsoft.com/office/powerpoint/2010/main" val="13804414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motivating example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42336" y="4481910"/>
                <a:ext cx="8173014" cy="2239565"/>
              </a:xfrm>
            </p:spPr>
            <p:txBody>
              <a:bodyPr/>
              <a:lstStyle/>
              <a:p>
                <a:r>
                  <a:rPr lang="en-US" dirty="0"/>
                  <a:t>Example: find Bart’s ancestors</a:t>
                </a:r>
              </a:p>
              <a:p>
                <a:r>
                  <a:rPr lang="en-US" dirty="0"/>
                  <a:t>“Ancestor” has a recursive definition</a:t>
                </a:r>
              </a:p>
              <a:p>
                <a:pPr lvl="1"/>
                <a14:m>
                  <m:oMath xmlns:m="http://schemas.openxmlformats.org/officeDocument/2006/math">
                    <m:r>
                      <a:rPr lang="en-US" i="1" dirty="0" smtClean="0">
                        <a:latin typeface="Cambria Math"/>
                      </a:rPr>
                      <m:t>𝑋</m:t>
                    </m:r>
                  </m:oMath>
                </a14:m>
                <a:r>
                  <a:rPr lang="en-US" dirty="0"/>
                  <a:t> is </a:t>
                </a:r>
                <a14:m>
                  <m:oMath xmlns:m="http://schemas.openxmlformats.org/officeDocument/2006/math">
                    <m:r>
                      <a:rPr lang="en-US" i="1" dirty="0">
                        <a:latin typeface="Cambria Math"/>
                      </a:rPr>
                      <m:t>𝑌</m:t>
                    </m:r>
                  </m:oMath>
                </a14:m>
                <a:r>
                  <a:rPr lang="en-US" dirty="0"/>
                  <a:t>’s ancestor if</a:t>
                </a:r>
              </a:p>
              <a:p>
                <a:pPr lvl="2"/>
                <a14:m>
                  <m:oMath xmlns:m="http://schemas.openxmlformats.org/officeDocument/2006/math">
                    <m:r>
                      <a:rPr lang="en-US" i="1" dirty="0">
                        <a:latin typeface="Cambria Math"/>
                      </a:rPr>
                      <m:t>𝑋</m:t>
                    </m:r>
                  </m:oMath>
                </a14:m>
                <a:r>
                  <a:rPr lang="en-US" dirty="0"/>
                  <a:t> is </a:t>
                </a:r>
                <a14:m>
                  <m:oMath xmlns:m="http://schemas.openxmlformats.org/officeDocument/2006/math">
                    <m:r>
                      <a:rPr lang="en-US" i="1" dirty="0">
                        <a:latin typeface="Cambria Math"/>
                      </a:rPr>
                      <m:t>𝑌</m:t>
                    </m:r>
                  </m:oMath>
                </a14:m>
                <a:r>
                  <a:rPr lang="en-US" dirty="0"/>
                  <a:t>’s parent, or</a:t>
                </a:r>
              </a:p>
              <a:p>
                <a:pPr lvl="2"/>
                <a14:m>
                  <m:oMath xmlns:m="http://schemas.openxmlformats.org/officeDocument/2006/math">
                    <m:r>
                      <a:rPr lang="en-US" i="1" dirty="0">
                        <a:latin typeface="Cambria Math"/>
                      </a:rPr>
                      <m:t>𝑋</m:t>
                    </m:r>
                  </m:oMath>
                </a14:m>
                <a:r>
                  <a:rPr lang="en-US" dirty="0"/>
                  <a:t> is </a:t>
                </a:r>
                <a14:m>
                  <m:oMath xmlns:m="http://schemas.openxmlformats.org/officeDocument/2006/math">
                    <m:r>
                      <a:rPr lang="en-US" i="1" dirty="0">
                        <a:latin typeface="Cambria Math"/>
                      </a:rPr>
                      <m:t>𝑍</m:t>
                    </m:r>
                  </m:oMath>
                </a14:m>
                <a:r>
                  <a:rPr lang="en-US" dirty="0"/>
                  <a:t>’s ancestor and </a:t>
                </a:r>
                <a14:m>
                  <m:oMath xmlns:m="http://schemas.openxmlformats.org/officeDocument/2006/math">
                    <m:r>
                      <a:rPr lang="en-US" i="1" dirty="0">
                        <a:latin typeface="Cambria Math"/>
                      </a:rPr>
                      <m:t>𝑍</m:t>
                    </m:r>
                  </m:oMath>
                </a14:m>
                <a:r>
                  <a:rPr lang="en-US" dirty="0"/>
                  <a:t> is </a:t>
                </a:r>
                <a14:m>
                  <m:oMath xmlns:m="http://schemas.openxmlformats.org/officeDocument/2006/math">
                    <m:r>
                      <a:rPr lang="en-US" i="1" dirty="0">
                        <a:latin typeface="Cambria Math"/>
                      </a:rPr>
                      <m:t>𝑌</m:t>
                    </m:r>
                  </m:oMath>
                </a14:m>
                <a:r>
                  <a:rPr lang="en-US" dirty="0"/>
                  <a:t>’s ancestor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42336" y="4481910"/>
                <a:ext cx="8173014" cy="2239565"/>
              </a:xfrm>
              <a:blipFill>
                <a:blip r:embed="rId6"/>
                <a:stretch>
                  <a:fillRect l="-1342" t="-4348"/>
                </a:stretch>
              </a:blipFill>
            </p:spPr>
            <p:txBody>
              <a:bodyPr/>
              <a:lstStyle/>
              <a:p>
                <a:r>
                  <a:rPr lang="en-CA">
                    <a:noFill/>
                  </a:rPr>
                  <a:t> </a:t>
                </a:r>
              </a:p>
            </p:txBody>
          </p:sp>
        </mc:Fallback>
      </mc:AlternateContent>
      <p:sp>
        <p:nvSpPr>
          <p:cNvPr id="4" name="Slide Number Placeholder 3"/>
          <p:cNvSpPr>
            <a:spLocks noGrp="1"/>
          </p:cNvSpPr>
          <p:nvPr>
            <p:ph type="sldNum" sz="quarter" idx="12"/>
          </p:nvPr>
        </p:nvSpPr>
        <p:spPr/>
        <p:txBody>
          <a:bodyPr/>
          <a:lstStyle/>
          <a:p>
            <a:fld id="{44C99FA5-7995-46A9-A97E-16E38AD58950}" type="slidenum">
              <a:rPr lang="en-US" smtClean="0"/>
              <a:t>3</a:t>
            </a:fld>
            <a:endParaRPr lang="en-US"/>
          </a:p>
        </p:txBody>
      </p:sp>
      <p:sp>
        <p:nvSpPr>
          <p:cNvPr id="5" name="Text Box 5"/>
          <p:cNvSpPr txBox="1">
            <a:spLocks noChangeArrowheads="1"/>
          </p:cNvSpPr>
          <p:nvPr/>
        </p:nvSpPr>
        <p:spPr bwMode="auto">
          <a:xfrm>
            <a:off x="979488" y="1295400"/>
            <a:ext cx="28985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i="1">
                <a:latin typeface="+mn-lt"/>
              </a:rPr>
              <a:t>Parent</a:t>
            </a:r>
            <a:r>
              <a:rPr lang="en-US">
                <a:latin typeface="+mn-lt"/>
              </a:rPr>
              <a:t> (</a:t>
            </a:r>
            <a:r>
              <a:rPr lang="en-US" i="1">
                <a:latin typeface="+mn-lt"/>
              </a:rPr>
              <a:t>parent</a:t>
            </a:r>
            <a:r>
              <a:rPr lang="en-US">
                <a:latin typeface="+mn-lt"/>
              </a:rPr>
              <a:t>, </a:t>
            </a:r>
            <a:r>
              <a:rPr lang="en-US" i="1">
                <a:latin typeface="+mn-lt"/>
              </a:rPr>
              <a:t>child</a:t>
            </a:r>
            <a:r>
              <a:rPr lang="en-US">
                <a:latin typeface="+mn-lt"/>
              </a:rPr>
              <a:t>)</a:t>
            </a:r>
          </a:p>
        </p:txBody>
      </p:sp>
      <p:graphicFrame>
        <p:nvGraphicFramePr>
          <p:cNvPr id="6" name="Table 5"/>
          <p:cNvGraphicFramePr>
            <a:graphicFrameLocks noGrp="1"/>
          </p:cNvGraphicFramePr>
          <p:nvPr/>
        </p:nvGraphicFramePr>
        <p:xfrm>
          <a:off x="1630605" y="1823504"/>
          <a:ext cx="1642110" cy="21336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0000"/>
                    </a:ext>
                  </a:extLst>
                </a:gridCol>
                <a:gridCol w="821055">
                  <a:extLst>
                    <a:ext uri="{9D8B030D-6E8A-4147-A177-3AD203B41FA5}">
                      <a16:colId xmlns:a16="http://schemas.microsoft.com/office/drawing/2014/main" val="20001"/>
                    </a:ext>
                  </a:extLst>
                </a:gridCol>
              </a:tblGrid>
              <a:tr h="133258">
                <a:tc>
                  <a:txBody>
                    <a:bodyPr/>
                    <a:lstStyle/>
                    <a:p>
                      <a:r>
                        <a:rPr lang="en-US" sz="1400" i="1" dirty="0"/>
                        <a:t>parent</a:t>
                      </a:r>
                    </a:p>
                  </a:txBody>
                  <a:tcPr/>
                </a:tc>
                <a:tc>
                  <a:txBody>
                    <a:bodyPr/>
                    <a:lstStyle/>
                    <a:p>
                      <a:r>
                        <a:rPr lang="en-US" sz="1400" i="1" dirty="0"/>
                        <a:t>child</a:t>
                      </a:r>
                    </a:p>
                  </a:txBody>
                  <a:tcPr/>
                </a:tc>
                <a:extLst>
                  <a:ext uri="{0D108BD9-81ED-4DB2-BD59-A6C34878D82A}">
                    <a16:rowId xmlns:a16="http://schemas.microsoft.com/office/drawing/2014/main" val="10000"/>
                  </a:ext>
                </a:extLst>
              </a:tr>
              <a:tr h="133258">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1"/>
                  </a:ext>
                </a:extLst>
              </a:tr>
              <a:tr h="163999">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2"/>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3"/>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4"/>
                  </a:ext>
                </a:extLst>
              </a:tr>
              <a:tr h="133258">
                <a:tc>
                  <a:txBody>
                    <a:bodyPr/>
                    <a:lstStyle/>
                    <a:p>
                      <a:r>
                        <a:rPr lang="en-US" sz="1400" dirty="0">
                          <a:latin typeface="Prestige12 BT" panose="02070509030506020304" pitchFamily="49" charset="0"/>
                        </a:rPr>
                        <a:t>Abe</a:t>
                      </a:r>
                    </a:p>
                  </a:txBody>
                  <a:tcPr/>
                </a:tc>
                <a:tc>
                  <a:txBody>
                    <a:bodyPr/>
                    <a:lstStyle/>
                    <a:p>
                      <a:r>
                        <a:rPr lang="en-US" sz="1400" dirty="0">
                          <a:latin typeface="Prestige12 BT" panose="02070509030506020304" pitchFamily="49" charset="0"/>
                        </a:rPr>
                        <a:t>Homer</a:t>
                      </a:r>
                    </a:p>
                  </a:txBody>
                  <a:tcPr/>
                </a:tc>
                <a:extLst>
                  <a:ext uri="{0D108BD9-81ED-4DB2-BD59-A6C34878D82A}">
                    <a16:rowId xmlns:a16="http://schemas.microsoft.com/office/drawing/2014/main" val="10005"/>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Abe</a:t>
                      </a:r>
                    </a:p>
                  </a:txBody>
                  <a:tcPr/>
                </a:tc>
                <a:extLst>
                  <a:ext uri="{0D108BD9-81ED-4DB2-BD59-A6C34878D82A}">
                    <a16:rowId xmlns:a16="http://schemas.microsoft.com/office/drawing/2014/main" val="10006"/>
                  </a:ext>
                </a:extLst>
              </a:tr>
            </a:tbl>
          </a:graphicData>
        </a:graphic>
      </p:graphicFrame>
      <p:sp>
        <p:nvSpPr>
          <p:cNvPr id="7" name="Text Box 6"/>
          <p:cNvSpPr txBox="1">
            <a:spLocks noChangeArrowheads="1"/>
          </p:cNvSpPr>
          <p:nvPr/>
        </p:nvSpPr>
        <p:spPr bwMode="auto">
          <a:xfrm>
            <a:off x="5281339" y="3862383"/>
            <a:ext cx="64472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2000">
                <a:latin typeface="+mn-lt"/>
              </a:rPr>
              <a:t>Bart</a:t>
            </a:r>
          </a:p>
        </p:txBody>
      </p:sp>
      <p:sp>
        <p:nvSpPr>
          <p:cNvPr id="8" name="Text Box 7"/>
          <p:cNvSpPr txBox="1">
            <a:spLocks noChangeArrowheads="1"/>
          </p:cNvSpPr>
          <p:nvPr/>
        </p:nvSpPr>
        <p:spPr bwMode="auto">
          <a:xfrm>
            <a:off x="6798989" y="3862383"/>
            <a:ext cx="59984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2000">
                <a:latin typeface="+mn-lt"/>
              </a:rPr>
              <a:t>Lisa</a:t>
            </a:r>
          </a:p>
        </p:txBody>
      </p:sp>
      <p:sp>
        <p:nvSpPr>
          <p:cNvPr id="9" name="Text Box 8"/>
          <p:cNvSpPr txBox="1">
            <a:spLocks noChangeArrowheads="1"/>
          </p:cNvSpPr>
          <p:nvPr/>
        </p:nvSpPr>
        <p:spPr bwMode="auto">
          <a:xfrm>
            <a:off x="6649764" y="3100383"/>
            <a:ext cx="891591"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2000">
                <a:latin typeface="+mn-lt"/>
              </a:rPr>
              <a:t>Marge</a:t>
            </a:r>
          </a:p>
        </p:txBody>
      </p:sp>
      <p:sp>
        <p:nvSpPr>
          <p:cNvPr id="10" name="Text Box 9"/>
          <p:cNvSpPr txBox="1">
            <a:spLocks noChangeArrowheads="1"/>
          </p:cNvSpPr>
          <p:nvPr/>
        </p:nvSpPr>
        <p:spPr bwMode="auto">
          <a:xfrm>
            <a:off x="5144814" y="3100383"/>
            <a:ext cx="926857"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2000">
                <a:latin typeface="+mn-lt"/>
              </a:rPr>
              <a:t>Homer</a:t>
            </a:r>
          </a:p>
        </p:txBody>
      </p:sp>
      <p:sp>
        <p:nvSpPr>
          <p:cNvPr id="11" name="Text Box 10"/>
          <p:cNvSpPr txBox="1">
            <a:spLocks noChangeArrowheads="1"/>
          </p:cNvSpPr>
          <p:nvPr/>
        </p:nvSpPr>
        <p:spPr bwMode="auto">
          <a:xfrm>
            <a:off x="5297214" y="2338383"/>
            <a:ext cx="617477"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2000">
                <a:latin typeface="+mn-lt"/>
              </a:rPr>
              <a:t>Abe</a:t>
            </a:r>
          </a:p>
        </p:txBody>
      </p:sp>
      <p:sp>
        <p:nvSpPr>
          <p:cNvPr id="12" name="Text Box 11"/>
          <p:cNvSpPr txBox="1">
            <a:spLocks noChangeArrowheads="1"/>
          </p:cNvSpPr>
          <p:nvPr/>
        </p:nvSpPr>
        <p:spPr bwMode="auto">
          <a:xfrm>
            <a:off x="5327377" y="1500183"/>
            <a:ext cx="617477"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2000">
                <a:latin typeface="+mn-lt"/>
              </a:rPr>
              <a:t>Ape</a:t>
            </a:r>
          </a:p>
        </p:txBody>
      </p:sp>
      <p:sp>
        <p:nvSpPr>
          <p:cNvPr id="13" name="Line 12"/>
          <p:cNvSpPr>
            <a:spLocks noChangeShapeType="1"/>
          </p:cNvSpPr>
          <p:nvPr/>
        </p:nvSpPr>
        <p:spPr bwMode="auto">
          <a:xfrm>
            <a:off x="5602014" y="1957383"/>
            <a:ext cx="0" cy="45720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4" name="Line 13"/>
          <p:cNvSpPr>
            <a:spLocks noChangeShapeType="1"/>
          </p:cNvSpPr>
          <p:nvPr/>
        </p:nvSpPr>
        <p:spPr bwMode="auto">
          <a:xfrm>
            <a:off x="5602014" y="2719383"/>
            <a:ext cx="0" cy="45720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5" name="Line 14"/>
          <p:cNvSpPr>
            <a:spLocks noChangeShapeType="1"/>
          </p:cNvSpPr>
          <p:nvPr/>
        </p:nvSpPr>
        <p:spPr bwMode="auto">
          <a:xfrm>
            <a:off x="5602014" y="3481383"/>
            <a:ext cx="0" cy="45720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6" name="Line 15"/>
          <p:cNvSpPr>
            <a:spLocks noChangeShapeType="1"/>
          </p:cNvSpPr>
          <p:nvPr/>
        </p:nvSpPr>
        <p:spPr bwMode="auto">
          <a:xfrm>
            <a:off x="7049814" y="3481383"/>
            <a:ext cx="0" cy="45720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7" name="Line 16"/>
          <p:cNvSpPr>
            <a:spLocks noChangeShapeType="1"/>
          </p:cNvSpPr>
          <p:nvPr/>
        </p:nvSpPr>
        <p:spPr bwMode="auto">
          <a:xfrm>
            <a:off x="5602014" y="3481383"/>
            <a:ext cx="1447800" cy="45720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8" name="Line 17"/>
          <p:cNvSpPr>
            <a:spLocks noChangeShapeType="1"/>
          </p:cNvSpPr>
          <p:nvPr/>
        </p:nvSpPr>
        <p:spPr bwMode="auto">
          <a:xfrm flipH="1">
            <a:off x="5602014" y="3481383"/>
            <a:ext cx="1447800" cy="45720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Tree>
    <p:custDataLst>
      <p:tags r:id="rId1"/>
    </p:custDataLst>
    <p:extLst>
      <p:ext uri="{BB962C8B-B14F-4D97-AF65-F5344CB8AC3E}">
        <p14:creationId xmlns:p14="http://schemas.microsoft.com/office/powerpoint/2010/main" val="2830204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Recursion in SQL</a:t>
            </a:r>
          </a:p>
        </p:txBody>
      </p:sp>
      <p:sp>
        <p:nvSpPr>
          <p:cNvPr id="3" name="Content Placeholder 2"/>
          <p:cNvSpPr>
            <a:spLocks noGrp="1"/>
          </p:cNvSpPr>
          <p:nvPr>
            <p:ph idx="1"/>
          </p:nvPr>
        </p:nvSpPr>
        <p:spPr/>
        <p:txBody>
          <a:bodyPr/>
          <a:lstStyle/>
          <a:p>
            <a:r>
              <a:rPr lang="en-US" dirty="0"/>
              <a:t>SQL2 had no recursion</a:t>
            </a:r>
          </a:p>
          <a:p>
            <a:pPr lvl="1"/>
            <a:r>
              <a:rPr lang="en-US" dirty="0"/>
              <a:t>You can find Bart’s parents, grandparents, great grandparents, etc.</a:t>
            </a:r>
          </a:p>
          <a:p>
            <a:pPr lvl="2">
              <a:buFontTx/>
              <a:buNone/>
            </a:pPr>
            <a:r>
              <a:rPr lang="en-US" dirty="0">
                <a:latin typeface="LettrGoth12 BT" pitchFamily="49" charset="0"/>
              </a:rPr>
              <a:t>	</a:t>
            </a:r>
          </a:p>
          <a:p>
            <a:pPr lvl="2">
              <a:buFontTx/>
              <a:buNone/>
            </a:pPr>
            <a:endParaRPr lang="en-US" dirty="0">
              <a:latin typeface="LettrGoth12 BT" pitchFamily="49" charset="0"/>
            </a:endParaRPr>
          </a:p>
          <a:p>
            <a:pPr lvl="2">
              <a:buFontTx/>
              <a:buNone/>
            </a:pPr>
            <a:endParaRPr lang="en-US" dirty="0">
              <a:latin typeface="LettrGoth12 BT" pitchFamily="49" charset="0"/>
            </a:endParaRPr>
          </a:p>
          <a:p>
            <a:pPr lvl="2">
              <a:buFontTx/>
              <a:buNone/>
            </a:pPr>
            <a:endParaRPr lang="en-US" dirty="0">
              <a:latin typeface="LettrGoth12 BT" pitchFamily="49" charset="0"/>
            </a:endParaRPr>
          </a:p>
          <a:p>
            <a:pPr lvl="1"/>
            <a:r>
              <a:rPr lang="en-US" dirty="0"/>
              <a:t>But you cannot find all his ancestors with a single query</a:t>
            </a:r>
          </a:p>
          <a:p>
            <a:r>
              <a:rPr lang="en-US" dirty="0"/>
              <a:t>SQL3 introduces recursion</a:t>
            </a:r>
          </a:p>
          <a:p>
            <a:pPr lvl="1"/>
            <a:r>
              <a:rPr lang="en-US" dirty="0">
                <a:solidFill>
                  <a:schemeClr val="accent2"/>
                </a:solidFill>
                <a:latin typeface="Prestige12 BT" panose="02070509030506020304" pitchFamily="49" charset="0"/>
              </a:rPr>
              <a:t>WITH</a:t>
            </a:r>
            <a:r>
              <a:rPr lang="en-US" dirty="0"/>
              <a:t> clause</a:t>
            </a:r>
          </a:p>
          <a:p>
            <a:pPr lvl="1"/>
            <a:r>
              <a:rPr lang="en-US" dirty="0"/>
              <a:t>Implemented in PostgreSQL (</a:t>
            </a:r>
            <a:r>
              <a:rPr lang="en-US" dirty="0">
                <a:solidFill>
                  <a:schemeClr val="accent2"/>
                </a:solidFill>
              </a:rPr>
              <a:t>common table expressions</a:t>
            </a:r>
            <a:r>
              <a:rPr lang="en-US" dirty="0"/>
              <a:t>)</a:t>
            </a:r>
          </a:p>
        </p:txBody>
      </p:sp>
      <p:sp>
        <p:nvSpPr>
          <p:cNvPr id="4" name="Slide Number Placeholder 3"/>
          <p:cNvSpPr>
            <a:spLocks noGrp="1"/>
          </p:cNvSpPr>
          <p:nvPr>
            <p:ph type="sldNum" sz="quarter" idx="12"/>
          </p:nvPr>
        </p:nvSpPr>
        <p:spPr/>
        <p:txBody>
          <a:bodyPr/>
          <a:lstStyle/>
          <a:p>
            <a:fld id="{44C99FA5-7995-46A9-A97E-16E38AD58950}" type="slidenum">
              <a:rPr lang="en-US" smtClean="0"/>
              <a:t>4</a:t>
            </a:fld>
            <a:endParaRPr lang="en-US"/>
          </a:p>
        </p:txBody>
      </p:sp>
      <p:sp>
        <p:nvSpPr>
          <p:cNvPr id="5" name="Rectangle 4">
            <a:extLst>
              <a:ext uri="{FF2B5EF4-FFF2-40B4-BE49-F238E27FC236}">
                <a16:creationId xmlns:a16="http://schemas.microsoft.com/office/drawing/2014/main" id="{92273E3A-65F2-484F-9C0A-9CD101EF95AE}"/>
              </a:ext>
            </a:extLst>
          </p:cNvPr>
          <p:cNvSpPr/>
          <p:nvPr/>
        </p:nvSpPr>
        <p:spPr>
          <a:xfrm>
            <a:off x="2381382" y="2679590"/>
            <a:ext cx="4094921" cy="1144987"/>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lvl="1"/>
            <a:r>
              <a:rPr lang="en-US" dirty="0">
                <a:latin typeface="Prestige12 BT" panose="02070509030506020304" pitchFamily="49" charset="0"/>
              </a:rPr>
              <a:t>SELECT p1.parent AS grandparent</a:t>
            </a:r>
            <a:br>
              <a:rPr lang="en-US" dirty="0">
                <a:latin typeface="Prestige12 BT" panose="02070509030506020304" pitchFamily="49" charset="0"/>
              </a:rPr>
            </a:br>
            <a:r>
              <a:rPr lang="en-US" dirty="0">
                <a:latin typeface="Prestige12 BT" panose="02070509030506020304" pitchFamily="49" charset="0"/>
              </a:rPr>
              <a:t>FROM Parent p1, Parent p2</a:t>
            </a:r>
            <a:br>
              <a:rPr lang="en-US" dirty="0">
                <a:latin typeface="Prestige12 BT" panose="02070509030506020304" pitchFamily="49" charset="0"/>
              </a:rPr>
            </a:br>
            <a:r>
              <a:rPr lang="en-US" dirty="0">
                <a:latin typeface="Prestige12 BT" panose="02070509030506020304" pitchFamily="49" charset="0"/>
              </a:rPr>
              <a:t>WHERE p1.child = p2.parent</a:t>
            </a:r>
            <a:br>
              <a:rPr lang="en-US" dirty="0">
                <a:latin typeface="Prestige12 BT" panose="02070509030506020304" pitchFamily="49" charset="0"/>
              </a:rPr>
            </a:br>
            <a:r>
              <a:rPr lang="en-US" dirty="0">
                <a:latin typeface="Prestige12 BT" panose="02070509030506020304" pitchFamily="49" charset="0"/>
              </a:rPr>
              <a:t>	AND p2.child = 'Bart';</a:t>
            </a:r>
          </a:p>
        </p:txBody>
      </p:sp>
    </p:spTree>
    <p:custDataLst>
      <p:tags r:id="rId1"/>
    </p:custDataLst>
    <p:extLst>
      <p:ext uri="{BB962C8B-B14F-4D97-AF65-F5344CB8AC3E}">
        <p14:creationId xmlns:p14="http://schemas.microsoft.com/office/powerpoint/2010/main" val="3803881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4AF37346-5490-4B0F-9934-A257E4BABA5C}"/>
              </a:ext>
            </a:extLst>
          </p:cNvPr>
          <p:cNvSpPr/>
          <p:nvPr/>
        </p:nvSpPr>
        <p:spPr>
          <a:xfrm>
            <a:off x="450622" y="1487957"/>
            <a:ext cx="8343521" cy="4398520"/>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buFont typeface="Wingdings" pitchFamily="2" charset="2"/>
              <a:buNone/>
            </a:pPr>
            <a:r>
              <a:rPr lang="en-US" sz="2800" dirty="0">
                <a:solidFill>
                  <a:schemeClr val="accent2"/>
                </a:solidFill>
                <a:latin typeface="Prestige12 BT" panose="02070509030506020304" pitchFamily="49" charset="0"/>
              </a:rPr>
              <a:t>WITH RECURSIVE</a:t>
            </a:r>
            <a:br>
              <a:rPr lang="en-US" sz="2800" dirty="0">
                <a:solidFill>
                  <a:schemeClr val="accent2"/>
                </a:solidFill>
                <a:latin typeface="Prestige12 BT" panose="02070509030506020304" pitchFamily="49" charset="0"/>
              </a:rPr>
            </a:br>
            <a:r>
              <a:rPr lang="en-US" sz="2800" dirty="0">
                <a:solidFill>
                  <a:schemeClr val="accent2"/>
                </a:solidFill>
                <a:latin typeface="Prestige12 BT" panose="02070509030506020304" pitchFamily="49" charset="0"/>
              </a:rPr>
              <a:t>Ancestor</a:t>
            </a:r>
            <a:r>
              <a:rPr lang="en-US" sz="2800" dirty="0">
                <a:latin typeface="Prestige12 BT" panose="02070509030506020304" pitchFamily="49" charset="0"/>
              </a:rPr>
              <a:t>(</a:t>
            </a:r>
            <a:r>
              <a:rPr lang="en-US" sz="2800" dirty="0" err="1">
                <a:latin typeface="Prestige12 BT" panose="02070509030506020304" pitchFamily="49" charset="0"/>
              </a:rPr>
              <a:t>anc</a:t>
            </a:r>
            <a:r>
              <a:rPr lang="en-US" sz="2800" dirty="0">
                <a:latin typeface="Prestige12 BT" panose="02070509030506020304" pitchFamily="49" charset="0"/>
              </a:rPr>
              <a:t>, desc) </a:t>
            </a:r>
            <a:r>
              <a:rPr lang="en-US" sz="2800" dirty="0">
                <a:solidFill>
                  <a:schemeClr val="accent2"/>
                </a:solidFill>
                <a:latin typeface="Prestige12 BT" panose="02070509030506020304" pitchFamily="49" charset="0"/>
              </a:rPr>
              <a:t>AS</a:t>
            </a:r>
            <a:br>
              <a:rPr lang="en-US" sz="2800" dirty="0">
                <a:solidFill>
                  <a:schemeClr val="tx2"/>
                </a:solidFill>
                <a:latin typeface="Prestige12 BT" panose="02070509030506020304" pitchFamily="49" charset="0"/>
              </a:rPr>
            </a:br>
            <a:r>
              <a:rPr lang="en-US" sz="2800" dirty="0">
                <a:latin typeface="Prestige12 BT" panose="02070509030506020304" pitchFamily="49" charset="0"/>
              </a:rPr>
              <a:t>((SELECT parent, child FROM Parent)</a:t>
            </a:r>
            <a:br>
              <a:rPr lang="en-US" sz="2800" dirty="0">
                <a:latin typeface="Prestige12 BT" panose="02070509030506020304" pitchFamily="49" charset="0"/>
              </a:rPr>
            </a:br>
            <a:r>
              <a:rPr lang="en-US" sz="2800" dirty="0">
                <a:latin typeface="Prestige12 BT" panose="02070509030506020304" pitchFamily="49" charset="0"/>
              </a:rPr>
              <a:t> UNION</a:t>
            </a:r>
            <a:br>
              <a:rPr lang="en-US" sz="2800" dirty="0">
                <a:latin typeface="Prestige12 BT" panose="02070509030506020304" pitchFamily="49" charset="0"/>
              </a:rPr>
            </a:br>
            <a:r>
              <a:rPr lang="en-US" sz="2800" dirty="0">
                <a:latin typeface="Prestige12 BT" panose="02070509030506020304" pitchFamily="49" charset="0"/>
              </a:rPr>
              <a:t> (SELECT a1.anc, a2.desc</a:t>
            </a:r>
            <a:br>
              <a:rPr lang="en-US" sz="2800" dirty="0">
                <a:latin typeface="Prestige12 BT" panose="02070509030506020304" pitchFamily="49" charset="0"/>
              </a:rPr>
            </a:br>
            <a:r>
              <a:rPr lang="en-US" sz="2800" dirty="0">
                <a:latin typeface="Prestige12 BT" panose="02070509030506020304" pitchFamily="49" charset="0"/>
              </a:rPr>
              <a:t>  FROM </a:t>
            </a:r>
            <a:r>
              <a:rPr lang="en-US" sz="2800" dirty="0">
                <a:solidFill>
                  <a:schemeClr val="accent2"/>
                </a:solidFill>
                <a:latin typeface="Prestige12 BT" panose="02070509030506020304" pitchFamily="49" charset="0"/>
              </a:rPr>
              <a:t>Ancestor</a:t>
            </a:r>
            <a:r>
              <a:rPr lang="en-US" sz="2800" dirty="0">
                <a:latin typeface="Prestige12 BT" panose="02070509030506020304" pitchFamily="49" charset="0"/>
              </a:rPr>
              <a:t> a1, </a:t>
            </a:r>
            <a:r>
              <a:rPr lang="en-US" sz="2800" dirty="0">
                <a:solidFill>
                  <a:schemeClr val="accent2"/>
                </a:solidFill>
                <a:latin typeface="Prestige12 BT" panose="02070509030506020304" pitchFamily="49" charset="0"/>
              </a:rPr>
              <a:t>Ancestor</a:t>
            </a:r>
            <a:r>
              <a:rPr lang="en-US" sz="2800" dirty="0">
                <a:latin typeface="Prestige12 BT" panose="02070509030506020304" pitchFamily="49" charset="0"/>
              </a:rPr>
              <a:t> a2</a:t>
            </a:r>
            <a:br>
              <a:rPr lang="en-US" sz="2800" dirty="0">
                <a:latin typeface="Prestige12 BT" panose="02070509030506020304" pitchFamily="49" charset="0"/>
              </a:rPr>
            </a:br>
            <a:r>
              <a:rPr lang="en-US" sz="2800" dirty="0">
                <a:latin typeface="Prestige12 BT" panose="02070509030506020304" pitchFamily="49" charset="0"/>
              </a:rPr>
              <a:t>  WHERE a1.desc = a2.anc))</a:t>
            </a:r>
            <a:br>
              <a:rPr lang="en-US" sz="2800" dirty="0">
                <a:latin typeface="Prestige12 BT" panose="02070509030506020304" pitchFamily="49" charset="0"/>
              </a:rPr>
            </a:br>
            <a:r>
              <a:rPr lang="en-US" sz="2800" dirty="0">
                <a:latin typeface="Prestige12 BT" panose="02070509030506020304" pitchFamily="49" charset="0"/>
              </a:rPr>
              <a:t>SELECT </a:t>
            </a:r>
            <a:r>
              <a:rPr lang="en-US" sz="2800" dirty="0" err="1">
                <a:latin typeface="Prestige12 BT" panose="02070509030506020304" pitchFamily="49" charset="0"/>
              </a:rPr>
              <a:t>anc</a:t>
            </a:r>
            <a:br>
              <a:rPr lang="en-US" sz="2800" dirty="0">
                <a:latin typeface="Prestige12 BT" panose="02070509030506020304" pitchFamily="49" charset="0"/>
              </a:rPr>
            </a:br>
            <a:r>
              <a:rPr lang="en-US" sz="2800" dirty="0">
                <a:latin typeface="Prestige12 BT" panose="02070509030506020304" pitchFamily="49" charset="0"/>
              </a:rPr>
              <a:t>FROM Ancestor</a:t>
            </a:r>
            <a:br>
              <a:rPr lang="en-US" sz="2800" dirty="0">
                <a:latin typeface="Prestige12 BT" panose="02070509030506020304" pitchFamily="49" charset="0"/>
              </a:rPr>
            </a:br>
            <a:r>
              <a:rPr lang="en-US" sz="2800" dirty="0">
                <a:latin typeface="Prestige12 BT" panose="02070509030506020304" pitchFamily="49" charset="0"/>
              </a:rPr>
              <a:t>WHERE desc = 'Bart';</a:t>
            </a:r>
          </a:p>
        </p:txBody>
      </p:sp>
      <p:sp>
        <p:nvSpPr>
          <p:cNvPr id="15" name="AutoShape 10"/>
          <p:cNvSpPr>
            <a:spLocks noChangeArrowheads="1"/>
          </p:cNvSpPr>
          <p:nvPr/>
        </p:nvSpPr>
        <p:spPr bwMode="auto">
          <a:xfrm>
            <a:off x="627288" y="3192811"/>
            <a:ext cx="6476523" cy="1277615"/>
          </a:xfrm>
          <a:prstGeom prst="roundRect">
            <a:avLst>
              <a:gd name="adj" fmla="val 9838"/>
            </a:avLst>
          </a:prstGeom>
          <a:noFill/>
          <a:ln w="22225">
            <a:solidFill>
              <a:schemeClr val="accent4"/>
            </a:solidFill>
            <a:round/>
            <a:headEnd/>
            <a:tailEnd/>
          </a:ln>
        </p:spPr>
        <p:txBody>
          <a:bodyPr wrap="none" anchor="ctr"/>
          <a:lstStyle/>
          <a:p>
            <a:endParaRPr lang="en-US"/>
          </a:p>
        </p:txBody>
      </p:sp>
      <p:sp>
        <p:nvSpPr>
          <p:cNvPr id="12" name="AutoShape 9"/>
          <p:cNvSpPr>
            <a:spLocks noChangeArrowheads="1"/>
          </p:cNvSpPr>
          <p:nvPr/>
        </p:nvSpPr>
        <p:spPr bwMode="auto">
          <a:xfrm>
            <a:off x="627288" y="2448051"/>
            <a:ext cx="7219950" cy="457200"/>
          </a:xfrm>
          <a:prstGeom prst="roundRect">
            <a:avLst>
              <a:gd name="adj" fmla="val 16667"/>
            </a:avLst>
          </a:prstGeom>
          <a:noFill/>
          <a:ln w="22225">
            <a:solidFill>
              <a:schemeClr val="accent4"/>
            </a:solidFill>
            <a:round/>
            <a:headEnd/>
            <a:tailEnd/>
          </a:ln>
        </p:spPr>
        <p:txBody>
          <a:bodyPr wrap="none" anchor="ctr"/>
          <a:lstStyle/>
          <a:p>
            <a:endParaRPr lang="en-US"/>
          </a:p>
        </p:txBody>
      </p:sp>
      <p:sp>
        <p:nvSpPr>
          <p:cNvPr id="13" name="Text Box 11"/>
          <p:cNvSpPr txBox="1">
            <a:spLocks noChangeArrowheads="1"/>
          </p:cNvSpPr>
          <p:nvPr/>
        </p:nvSpPr>
        <p:spPr bwMode="auto">
          <a:xfrm>
            <a:off x="6403482" y="2060887"/>
            <a:ext cx="137249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i="1">
                <a:solidFill>
                  <a:schemeClr val="accent4"/>
                </a:solidFill>
                <a:latin typeface="+mn-lt"/>
              </a:rPr>
              <a:t>base case</a:t>
            </a:r>
          </a:p>
        </p:txBody>
      </p:sp>
      <p:sp>
        <p:nvSpPr>
          <p:cNvPr id="2" name="Title 1"/>
          <p:cNvSpPr>
            <a:spLocks noGrp="1"/>
          </p:cNvSpPr>
          <p:nvPr>
            <p:ph type="title"/>
          </p:nvPr>
        </p:nvSpPr>
        <p:spPr>
          <a:xfrm>
            <a:off x="342336" y="163345"/>
            <a:ext cx="8801664" cy="1180160"/>
          </a:xfrm>
        </p:spPr>
        <p:txBody>
          <a:bodyPr/>
          <a:lstStyle/>
          <a:p>
            <a:r>
              <a:rPr lang="en-US" dirty="0"/>
              <a:t>Ancestor query in SQL3</a:t>
            </a:r>
          </a:p>
        </p:txBody>
      </p:sp>
      <p:sp>
        <p:nvSpPr>
          <p:cNvPr id="4" name="Slide Number Placeholder 3"/>
          <p:cNvSpPr>
            <a:spLocks noGrp="1"/>
          </p:cNvSpPr>
          <p:nvPr>
            <p:ph type="sldNum" sz="quarter" idx="12"/>
          </p:nvPr>
        </p:nvSpPr>
        <p:spPr/>
        <p:txBody>
          <a:bodyPr/>
          <a:lstStyle/>
          <a:p>
            <a:fld id="{44C99FA5-7995-46A9-A97E-16E38AD58950}" type="slidenum">
              <a:rPr lang="en-US" smtClean="0"/>
              <a:t>5</a:t>
            </a:fld>
            <a:endParaRPr lang="en-US"/>
          </a:p>
        </p:txBody>
      </p:sp>
      <p:grpSp>
        <p:nvGrpSpPr>
          <p:cNvPr id="5" name="Group 15"/>
          <p:cNvGrpSpPr>
            <a:grpSpLocks/>
          </p:cNvGrpSpPr>
          <p:nvPr/>
        </p:nvGrpSpPr>
        <p:grpSpPr bwMode="auto">
          <a:xfrm>
            <a:off x="4564049" y="4621502"/>
            <a:ext cx="3808387" cy="1237576"/>
            <a:chOff x="2832" y="2640"/>
            <a:chExt cx="2377" cy="768"/>
          </a:xfrm>
        </p:grpSpPr>
        <p:sp>
          <p:nvSpPr>
            <p:cNvPr id="6" name="AutoShape 6"/>
            <p:cNvSpPr>
              <a:spLocks/>
            </p:cNvSpPr>
            <p:nvPr/>
          </p:nvSpPr>
          <p:spPr bwMode="auto">
            <a:xfrm>
              <a:off x="2832" y="2640"/>
              <a:ext cx="192" cy="768"/>
            </a:xfrm>
            <a:prstGeom prst="rightBrace">
              <a:avLst>
                <a:gd name="adj1" fmla="val 33333"/>
                <a:gd name="adj2" fmla="val 71818"/>
              </a:avLst>
            </a:prstGeom>
            <a:noFill/>
            <a:ln w="22225">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solidFill>
                  <a:schemeClr val="accent2"/>
                </a:solidFill>
              </a:endParaRPr>
            </a:p>
          </p:txBody>
        </p:sp>
        <p:sp>
          <p:nvSpPr>
            <p:cNvPr id="7" name="Text Box 7"/>
            <p:cNvSpPr txBox="1">
              <a:spLocks noChangeArrowheads="1"/>
            </p:cNvSpPr>
            <p:nvPr/>
          </p:nvSpPr>
          <p:spPr bwMode="auto">
            <a:xfrm>
              <a:off x="3124" y="2841"/>
              <a:ext cx="2085" cy="523"/>
            </a:xfrm>
            <a:prstGeom prst="rect">
              <a:avLst/>
            </a:prstGeom>
            <a:noFill/>
            <a:ln w="22225">
              <a:no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dirty="0">
                  <a:solidFill>
                    <a:schemeClr val="accent2"/>
                  </a:solidFill>
                  <a:latin typeface="+mn-lt"/>
                </a:rPr>
                <a:t>Query using the relation</a:t>
              </a:r>
              <a:br>
                <a:rPr lang="en-US" dirty="0">
                  <a:solidFill>
                    <a:schemeClr val="accent2"/>
                  </a:solidFill>
                  <a:latin typeface="+mn-lt"/>
                </a:rPr>
              </a:br>
              <a:r>
                <a:rPr lang="en-US" dirty="0">
                  <a:solidFill>
                    <a:schemeClr val="accent2"/>
                  </a:solidFill>
                  <a:latin typeface="+mn-lt"/>
                </a:rPr>
                <a:t>defined in </a:t>
              </a:r>
              <a:r>
                <a:rPr lang="en-US" dirty="0">
                  <a:solidFill>
                    <a:schemeClr val="accent2"/>
                  </a:solidFill>
                  <a:latin typeface="Prestige12 BT" panose="02070509030506020304" pitchFamily="49" charset="0"/>
                </a:rPr>
                <a:t>WITH</a:t>
              </a:r>
              <a:r>
                <a:rPr lang="en-US" dirty="0">
                  <a:solidFill>
                    <a:schemeClr val="accent2"/>
                  </a:solidFill>
                  <a:latin typeface="+mn-lt"/>
                </a:rPr>
                <a:t> clause</a:t>
              </a:r>
            </a:p>
          </p:txBody>
        </p:sp>
      </p:grpSp>
      <p:grpSp>
        <p:nvGrpSpPr>
          <p:cNvPr id="8" name="Group 14"/>
          <p:cNvGrpSpPr>
            <a:grpSpLocks/>
          </p:cNvGrpSpPr>
          <p:nvPr/>
        </p:nvGrpSpPr>
        <p:grpSpPr bwMode="auto">
          <a:xfrm>
            <a:off x="7301427" y="1801508"/>
            <a:ext cx="1581150" cy="2957513"/>
            <a:chOff x="4123" y="864"/>
            <a:chExt cx="996" cy="1863"/>
          </a:xfrm>
        </p:grpSpPr>
        <p:sp>
          <p:nvSpPr>
            <p:cNvPr id="9" name="AutoShape 5"/>
            <p:cNvSpPr>
              <a:spLocks/>
            </p:cNvSpPr>
            <p:nvPr/>
          </p:nvSpPr>
          <p:spPr bwMode="auto">
            <a:xfrm rot="1146732">
              <a:off x="4320" y="864"/>
              <a:ext cx="192" cy="1776"/>
            </a:xfrm>
            <a:prstGeom prst="rightBrace">
              <a:avLst>
                <a:gd name="adj1" fmla="val 77083"/>
                <a:gd name="adj2" fmla="val 75362"/>
              </a:avLst>
            </a:prstGeom>
            <a:noFill/>
            <a:ln w="22225">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solidFill>
                  <a:schemeClr val="accent2"/>
                </a:solidFill>
              </a:endParaRPr>
            </a:p>
          </p:txBody>
        </p:sp>
        <p:sp>
          <p:nvSpPr>
            <p:cNvPr id="10" name="Text Box 8"/>
            <p:cNvSpPr txBox="1">
              <a:spLocks noChangeArrowheads="1"/>
            </p:cNvSpPr>
            <p:nvPr/>
          </p:nvSpPr>
          <p:spPr bwMode="auto">
            <a:xfrm>
              <a:off x="4123" y="1971"/>
              <a:ext cx="996" cy="756"/>
            </a:xfrm>
            <a:prstGeom prst="rect">
              <a:avLst/>
            </a:prstGeom>
            <a:noFill/>
            <a:ln w="22225">
              <a:no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lgn="r">
                <a:buFont typeface="Wingdings" pitchFamily="2" charset="2"/>
                <a:buNone/>
              </a:pPr>
              <a:r>
                <a:rPr lang="en-US" dirty="0">
                  <a:solidFill>
                    <a:schemeClr val="accent2"/>
                  </a:solidFill>
                  <a:latin typeface="+mn-lt"/>
                </a:rPr>
                <a:t>Define</a:t>
              </a:r>
              <a:br>
                <a:rPr lang="en-US" dirty="0">
                  <a:solidFill>
                    <a:schemeClr val="accent2"/>
                  </a:solidFill>
                  <a:latin typeface="+mn-lt"/>
                </a:rPr>
              </a:br>
              <a:r>
                <a:rPr lang="en-US" dirty="0">
                  <a:solidFill>
                    <a:schemeClr val="accent2"/>
                  </a:solidFill>
                  <a:latin typeface="+mn-lt"/>
                </a:rPr>
                <a:t>a relation</a:t>
              </a:r>
              <a:br>
                <a:rPr lang="en-US" dirty="0">
                  <a:solidFill>
                    <a:schemeClr val="accent2"/>
                  </a:solidFill>
                  <a:latin typeface="+mn-lt"/>
                </a:rPr>
              </a:br>
              <a:r>
                <a:rPr lang="en-US" dirty="0">
                  <a:solidFill>
                    <a:schemeClr val="accent2"/>
                  </a:solidFill>
                  <a:latin typeface="+mn-lt"/>
                </a:rPr>
                <a:t>recursively</a:t>
              </a:r>
            </a:p>
          </p:txBody>
        </p:sp>
      </p:grpSp>
      <p:sp>
        <p:nvSpPr>
          <p:cNvPr id="16" name="Text Box 12"/>
          <p:cNvSpPr txBox="1">
            <a:spLocks noChangeArrowheads="1"/>
          </p:cNvSpPr>
          <p:nvPr/>
        </p:nvSpPr>
        <p:spPr bwMode="auto">
          <a:xfrm>
            <a:off x="5223824" y="4384018"/>
            <a:ext cx="203613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i="1" dirty="0">
                <a:solidFill>
                  <a:schemeClr val="accent4"/>
                </a:solidFill>
                <a:latin typeface="+mn-lt"/>
              </a:rPr>
              <a:t>recursion step</a:t>
            </a:r>
          </a:p>
        </p:txBody>
      </p:sp>
      <p:sp>
        <p:nvSpPr>
          <p:cNvPr id="19" name="Rectangle: Rounded Corners 18">
            <a:extLst>
              <a:ext uri="{FF2B5EF4-FFF2-40B4-BE49-F238E27FC236}">
                <a16:creationId xmlns:a16="http://schemas.microsoft.com/office/drawing/2014/main" id="{2E05E1A9-89DE-46E9-9270-9499323E781E}"/>
              </a:ext>
            </a:extLst>
          </p:cNvPr>
          <p:cNvSpPr/>
          <p:nvPr/>
        </p:nvSpPr>
        <p:spPr>
          <a:xfrm>
            <a:off x="4349922" y="3098814"/>
            <a:ext cx="3012985" cy="58840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CA" dirty="0"/>
              <a:t>a1.anc (X) </a:t>
            </a:r>
            <a:r>
              <a:rPr lang="en-CA" dirty="0">
                <a:sym typeface="Wingdings" panose="05000000000000000000" pitchFamily="2" charset="2"/>
              </a:rPr>
              <a:t> a1.desc(Z)</a:t>
            </a:r>
          </a:p>
          <a:p>
            <a:pPr algn="ctr"/>
            <a:r>
              <a:rPr lang="en-CA" dirty="0">
                <a:sym typeface="Wingdings" panose="05000000000000000000" pitchFamily="2" charset="2"/>
              </a:rPr>
              <a:t>a2.anc (Z)  a2.desc (Y)</a:t>
            </a:r>
            <a:endParaRPr lang="en-CA" dirty="0"/>
          </a:p>
        </p:txBody>
      </p:sp>
    </p:spTree>
    <p:custDataLst>
      <p:tags r:id="rId1"/>
    </p:custDataLst>
    <p:extLst>
      <p:ext uri="{BB962C8B-B14F-4D97-AF65-F5344CB8AC3E}">
        <p14:creationId xmlns:p14="http://schemas.microsoft.com/office/powerpoint/2010/main" val="3147773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2" grpId="0" animBg="1"/>
      <p:bldP spid="13" grpId="0"/>
      <p:bldP spid="16" grpId="0"/>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Finding ancestors</a:t>
            </a:r>
          </a:p>
        </p:txBody>
      </p:sp>
      <p:sp>
        <p:nvSpPr>
          <p:cNvPr id="4" name="Slide Number Placeholder 3"/>
          <p:cNvSpPr>
            <a:spLocks noGrp="1"/>
          </p:cNvSpPr>
          <p:nvPr>
            <p:ph type="sldNum" sz="quarter" idx="12"/>
          </p:nvPr>
        </p:nvSpPr>
        <p:spPr/>
        <p:txBody>
          <a:bodyPr/>
          <a:lstStyle/>
          <a:p>
            <a:fld id="{44C99FA5-7995-46A9-A97E-16E38AD58950}" type="slidenum">
              <a:rPr lang="en-US" smtClean="0"/>
              <a:t>6</a:t>
            </a:fld>
            <a:endParaRPr lang="en-US"/>
          </a:p>
        </p:txBody>
      </p:sp>
      <p:graphicFrame>
        <p:nvGraphicFramePr>
          <p:cNvPr id="5" name="Table 4"/>
          <p:cNvGraphicFramePr>
            <a:graphicFrameLocks noGrp="1"/>
          </p:cNvGraphicFramePr>
          <p:nvPr/>
        </p:nvGraphicFramePr>
        <p:xfrm>
          <a:off x="5055449" y="1258239"/>
          <a:ext cx="1642110" cy="21336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0000"/>
                    </a:ext>
                  </a:extLst>
                </a:gridCol>
                <a:gridCol w="821055">
                  <a:extLst>
                    <a:ext uri="{9D8B030D-6E8A-4147-A177-3AD203B41FA5}">
                      <a16:colId xmlns:a16="http://schemas.microsoft.com/office/drawing/2014/main" val="20001"/>
                    </a:ext>
                  </a:extLst>
                </a:gridCol>
              </a:tblGrid>
              <a:tr h="133258">
                <a:tc>
                  <a:txBody>
                    <a:bodyPr/>
                    <a:lstStyle/>
                    <a:p>
                      <a:r>
                        <a:rPr lang="en-US" sz="1400" i="1" dirty="0"/>
                        <a:t>parent</a:t>
                      </a:r>
                    </a:p>
                  </a:txBody>
                  <a:tcPr/>
                </a:tc>
                <a:tc>
                  <a:txBody>
                    <a:bodyPr/>
                    <a:lstStyle/>
                    <a:p>
                      <a:r>
                        <a:rPr lang="en-US" sz="1400" i="1" dirty="0"/>
                        <a:t>child</a:t>
                      </a:r>
                    </a:p>
                  </a:txBody>
                  <a:tcPr/>
                </a:tc>
                <a:extLst>
                  <a:ext uri="{0D108BD9-81ED-4DB2-BD59-A6C34878D82A}">
                    <a16:rowId xmlns:a16="http://schemas.microsoft.com/office/drawing/2014/main" val="10000"/>
                  </a:ext>
                </a:extLst>
              </a:tr>
              <a:tr h="133258">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1"/>
                  </a:ext>
                </a:extLst>
              </a:tr>
              <a:tr h="163999">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2"/>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3"/>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4"/>
                  </a:ext>
                </a:extLst>
              </a:tr>
              <a:tr h="133258">
                <a:tc>
                  <a:txBody>
                    <a:bodyPr/>
                    <a:lstStyle/>
                    <a:p>
                      <a:r>
                        <a:rPr lang="en-US" sz="1400" dirty="0">
                          <a:latin typeface="Prestige12 BT" panose="02070509030506020304" pitchFamily="49" charset="0"/>
                        </a:rPr>
                        <a:t>Abe</a:t>
                      </a:r>
                    </a:p>
                  </a:txBody>
                  <a:tcPr/>
                </a:tc>
                <a:tc>
                  <a:txBody>
                    <a:bodyPr/>
                    <a:lstStyle/>
                    <a:p>
                      <a:r>
                        <a:rPr lang="en-US" sz="1400" dirty="0">
                          <a:latin typeface="Prestige12 BT" panose="02070509030506020304" pitchFamily="49" charset="0"/>
                        </a:rPr>
                        <a:t>Homer</a:t>
                      </a:r>
                    </a:p>
                  </a:txBody>
                  <a:tcPr/>
                </a:tc>
                <a:extLst>
                  <a:ext uri="{0D108BD9-81ED-4DB2-BD59-A6C34878D82A}">
                    <a16:rowId xmlns:a16="http://schemas.microsoft.com/office/drawing/2014/main" val="10005"/>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Abe</a:t>
                      </a:r>
                    </a:p>
                  </a:txBody>
                  <a:tcPr/>
                </a:tc>
                <a:extLst>
                  <a:ext uri="{0D108BD9-81ED-4DB2-BD59-A6C34878D82A}">
                    <a16:rowId xmlns:a16="http://schemas.microsoft.com/office/drawing/2014/main" val="10006"/>
                  </a:ext>
                </a:extLst>
              </a:tr>
            </a:tbl>
          </a:graphicData>
        </a:graphic>
      </p:graphicFrame>
      <p:graphicFrame>
        <p:nvGraphicFramePr>
          <p:cNvPr id="6" name="Table 5"/>
          <p:cNvGraphicFramePr>
            <a:graphicFrameLocks noGrp="1"/>
          </p:cNvGraphicFramePr>
          <p:nvPr/>
        </p:nvGraphicFramePr>
        <p:xfrm>
          <a:off x="2577332" y="4026378"/>
          <a:ext cx="1642110" cy="21336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0000"/>
                    </a:ext>
                  </a:extLst>
                </a:gridCol>
                <a:gridCol w="821055">
                  <a:extLst>
                    <a:ext uri="{9D8B030D-6E8A-4147-A177-3AD203B41FA5}">
                      <a16:colId xmlns:a16="http://schemas.microsoft.com/office/drawing/2014/main" val="20001"/>
                    </a:ext>
                  </a:extLst>
                </a:gridCol>
              </a:tblGrid>
              <a:tr h="133258">
                <a:tc>
                  <a:txBody>
                    <a:bodyPr/>
                    <a:lstStyle/>
                    <a:p>
                      <a:r>
                        <a:rPr lang="en-US" sz="1400" i="1" dirty="0" err="1"/>
                        <a:t>anc</a:t>
                      </a:r>
                      <a:endParaRPr lang="en-US" sz="1400" i="1" dirty="0"/>
                    </a:p>
                  </a:txBody>
                  <a:tcPr/>
                </a:tc>
                <a:tc>
                  <a:txBody>
                    <a:bodyPr/>
                    <a:lstStyle/>
                    <a:p>
                      <a:r>
                        <a:rPr lang="en-US" sz="1400" i="1" dirty="0" err="1"/>
                        <a:t>desc</a:t>
                      </a:r>
                      <a:endParaRPr lang="en-US" sz="1400" i="1" dirty="0"/>
                    </a:p>
                  </a:txBody>
                  <a:tcPr/>
                </a:tc>
                <a:extLst>
                  <a:ext uri="{0D108BD9-81ED-4DB2-BD59-A6C34878D82A}">
                    <a16:rowId xmlns:a16="http://schemas.microsoft.com/office/drawing/2014/main" val="10000"/>
                  </a:ext>
                </a:extLst>
              </a:tr>
              <a:tr h="133258">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1"/>
                  </a:ext>
                </a:extLst>
              </a:tr>
              <a:tr h="163999">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2"/>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3"/>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4"/>
                  </a:ext>
                </a:extLst>
              </a:tr>
              <a:tr h="133258">
                <a:tc>
                  <a:txBody>
                    <a:bodyPr/>
                    <a:lstStyle/>
                    <a:p>
                      <a:r>
                        <a:rPr lang="en-US" sz="1400" dirty="0">
                          <a:latin typeface="Prestige12 BT" panose="02070509030506020304" pitchFamily="49" charset="0"/>
                        </a:rPr>
                        <a:t>Abe</a:t>
                      </a:r>
                    </a:p>
                  </a:txBody>
                  <a:tcPr/>
                </a:tc>
                <a:tc>
                  <a:txBody>
                    <a:bodyPr/>
                    <a:lstStyle/>
                    <a:p>
                      <a:r>
                        <a:rPr lang="en-US" sz="1400" dirty="0">
                          <a:latin typeface="Prestige12 BT" panose="02070509030506020304" pitchFamily="49" charset="0"/>
                        </a:rPr>
                        <a:t>Homer</a:t>
                      </a:r>
                    </a:p>
                  </a:txBody>
                  <a:tcPr/>
                </a:tc>
                <a:extLst>
                  <a:ext uri="{0D108BD9-81ED-4DB2-BD59-A6C34878D82A}">
                    <a16:rowId xmlns:a16="http://schemas.microsoft.com/office/drawing/2014/main" val="10005"/>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Abe</a:t>
                      </a:r>
                    </a:p>
                  </a:txBody>
                  <a:tcPr/>
                </a:tc>
                <a:extLst>
                  <a:ext uri="{0D108BD9-81ED-4DB2-BD59-A6C34878D82A}">
                    <a16:rowId xmlns:a16="http://schemas.microsoft.com/office/drawing/2014/main" val="10006"/>
                  </a:ext>
                </a:extLst>
              </a:tr>
            </a:tbl>
          </a:graphicData>
        </a:graphic>
      </p:graphicFrame>
      <p:graphicFrame>
        <p:nvGraphicFramePr>
          <p:cNvPr id="7" name="Table 6"/>
          <p:cNvGraphicFramePr>
            <a:graphicFrameLocks noGrp="1"/>
          </p:cNvGraphicFramePr>
          <p:nvPr/>
        </p:nvGraphicFramePr>
        <p:xfrm>
          <a:off x="195274" y="4765286"/>
          <a:ext cx="1642110" cy="3048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0000"/>
                    </a:ext>
                  </a:extLst>
                </a:gridCol>
                <a:gridCol w="821055">
                  <a:extLst>
                    <a:ext uri="{9D8B030D-6E8A-4147-A177-3AD203B41FA5}">
                      <a16:colId xmlns:a16="http://schemas.microsoft.com/office/drawing/2014/main" val="20001"/>
                    </a:ext>
                  </a:extLst>
                </a:gridCol>
              </a:tblGrid>
              <a:tr h="0">
                <a:tc>
                  <a:txBody>
                    <a:bodyPr/>
                    <a:lstStyle/>
                    <a:p>
                      <a:r>
                        <a:rPr lang="en-US" sz="1400" i="1" dirty="0" err="1"/>
                        <a:t>anc</a:t>
                      </a:r>
                      <a:endParaRPr lang="en-US" sz="1400" i="1" dirty="0"/>
                    </a:p>
                  </a:txBody>
                  <a:tcPr/>
                </a:tc>
                <a:tc>
                  <a:txBody>
                    <a:bodyPr/>
                    <a:lstStyle/>
                    <a:p>
                      <a:r>
                        <a:rPr lang="en-US" sz="1400" i="1" dirty="0" err="1"/>
                        <a:t>desc</a:t>
                      </a:r>
                      <a:endParaRPr lang="en-US" sz="1400" i="1" dirty="0"/>
                    </a:p>
                  </a:txBody>
                  <a:tcPr/>
                </a:tc>
                <a:extLst>
                  <a:ext uri="{0D108BD9-81ED-4DB2-BD59-A6C34878D82A}">
                    <a16:rowId xmlns:a16="http://schemas.microsoft.com/office/drawing/2014/main" val="10000"/>
                  </a:ext>
                </a:extLst>
              </a:tr>
            </a:tbl>
          </a:graphicData>
        </a:graphic>
      </p:graphicFrame>
      <p:graphicFrame>
        <p:nvGraphicFramePr>
          <p:cNvPr id="8" name="Table 7"/>
          <p:cNvGraphicFramePr>
            <a:graphicFrameLocks noGrp="1"/>
          </p:cNvGraphicFramePr>
          <p:nvPr/>
        </p:nvGraphicFramePr>
        <p:xfrm>
          <a:off x="4959390" y="3673476"/>
          <a:ext cx="1642110" cy="30480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0000"/>
                    </a:ext>
                  </a:extLst>
                </a:gridCol>
                <a:gridCol w="821055">
                  <a:extLst>
                    <a:ext uri="{9D8B030D-6E8A-4147-A177-3AD203B41FA5}">
                      <a16:colId xmlns:a16="http://schemas.microsoft.com/office/drawing/2014/main" val="20001"/>
                    </a:ext>
                  </a:extLst>
                </a:gridCol>
              </a:tblGrid>
              <a:tr h="133258">
                <a:tc>
                  <a:txBody>
                    <a:bodyPr/>
                    <a:lstStyle/>
                    <a:p>
                      <a:r>
                        <a:rPr lang="en-US" sz="1400" i="1" dirty="0" err="1"/>
                        <a:t>anc</a:t>
                      </a:r>
                      <a:endParaRPr lang="en-US" sz="1400" i="1" dirty="0"/>
                    </a:p>
                  </a:txBody>
                  <a:tcPr/>
                </a:tc>
                <a:tc>
                  <a:txBody>
                    <a:bodyPr/>
                    <a:lstStyle/>
                    <a:p>
                      <a:r>
                        <a:rPr lang="en-US" sz="1400" i="1" dirty="0" err="1"/>
                        <a:t>desc</a:t>
                      </a:r>
                      <a:endParaRPr lang="en-US" sz="1400" i="1" dirty="0"/>
                    </a:p>
                  </a:txBody>
                  <a:tcPr/>
                </a:tc>
                <a:extLst>
                  <a:ext uri="{0D108BD9-81ED-4DB2-BD59-A6C34878D82A}">
                    <a16:rowId xmlns:a16="http://schemas.microsoft.com/office/drawing/2014/main" val="10000"/>
                  </a:ext>
                </a:extLst>
              </a:tr>
              <a:tr h="133258">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1"/>
                  </a:ext>
                </a:extLst>
              </a:tr>
              <a:tr h="163999">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2"/>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3"/>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4"/>
                  </a:ext>
                </a:extLst>
              </a:tr>
              <a:tr h="133258">
                <a:tc>
                  <a:txBody>
                    <a:bodyPr/>
                    <a:lstStyle/>
                    <a:p>
                      <a:r>
                        <a:rPr lang="en-US" sz="1400" dirty="0">
                          <a:latin typeface="Prestige12 BT" panose="02070509030506020304" pitchFamily="49" charset="0"/>
                        </a:rPr>
                        <a:t>Abe</a:t>
                      </a:r>
                    </a:p>
                  </a:txBody>
                  <a:tcPr/>
                </a:tc>
                <a:tc>
                  <a:txBody>
                    <a:bodyPr/>
                    <a:lstStyle/>
                    <a:p>
                      <a:r>
                        <a:rPr lang="en-US" sz="1400" dirty="0">
                          <a:latin typeface="Prestige12 BT" panose="02070509030506020304" pitchFamily="49" charset="0"/>
                        </a:rPr>
                        <a:t>Homer</a:t>
                      </a:r>
                    </a:p>
                  </a:txBody>
                  <a:tcPr/>
                </a:tc>
                <a:extLst>
                  <a:ext uri="{0D108BD9-81ED-4DB2-BD59-A6C34878D82A}">
                    <a16:rowId xmlns:a16="http://schemas.microsoft.com/office/drawing/2014/main" val="10005"/>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Abe</a:t>
                      </a:r>
                    </a:p>
                  </a:txBody>
                  <a:tcPr/>
                </a:tc>
                <a:extLst>
                  <a:ext uri="{0D108BD9-81ED-4DB2-BD59-A6C34878D82A}">
                    <a16:rowId xmlns:a16="http://schemas.microsoft.com/office/drawing/2014/main" val="10006"/>
                  </a:ext>
                </a:extLst>
              </a:tr>
              <a:tr h="133258">
                <a:tc>
                  <a:txBody>
                    <a:bodyPr/>
                    <a:lstStyle/>
                    <a:p>
                      <a:r>
                        <a:rPr lang="en-US" sz="1400" dirty="0">
                          <a:latin typeface="Prestige12 BT" panose="02070509030506020304" pitchFamily="49" charset="0"/>
                        </a:rPr>
                        <a:t>Abe</a:t>
                      </a:r>
                    </a:p>
                  </a:txBody>
                  <a:tcPr>
                    <a:solidFill>
                      <a:schemeClr val="accent4"/>
                    </a:solidFill>
                  </a:tcPr>
                </a:tc>
                <a:tc>
                  <a:txBody>
                    <a:bodyPr/>
                    <a:lstStyle/>
                    <a:p>
                      <a:r>
                        <a:rPr lang="en-US" sz="1400" dirty="0">
                          <a:latin typeface="Prestige12 BT" panose="02070509030506020304" pitchFamily="49" charset="0"/>
                        </a:rPr>
                        <a:t>Bart</a:t>
                      </a:r>
                    </a:p>
                  </a:txBody>
                  <a:tcPr>
                    <a:solidFill>
                      <a:schemeClr val="accent4"/>
                    </a:solidFill>
                  </a:tcPr>
                </a:tc>
                <a:extLst>
                  <a:ext uri="{0D108BD9-81ED-4DB2-BD59-A6C34878D82A}">
                    <a16:rowId xmlns:a16="http://schemas.microsoft.com/office/drawing/2014/main" val="10007"/>
                  </a:ext>
                </a:extLst>
              </a:tr>
              <a:tr h="133258">
                <a:tc>
                  <a:txBody>
                    <a:bodyPr/>
                    <a:lstStyle/>
                    <a:p>
                      <a:r>
                        <a:rPr lang="en-US" sz="1400" dirty="0">
                          <a:latin typeface="Prestige12 BT" panose="02070509030506020304" pitchFamily="49" charset="0"/>
                        </a:rPr>
                        <a:t>Abe</a:t>
                      </a:r>
                    </a:p>
                  </a:txBody>
                  <a:tcPr>
                    <a:solidFill>
                      <a:schemeClr val="accent4"/>
                    </a:solidFill>
                  </a:tcPr>
                </a:tc>
                <a:tc>
                  <a:txBody>
                    <a:bodyPr/>
                    <a:lstStyle/>
                    <a:p>
                      <a:r>
                        <a:rPr lang="en-US" sz="1400" dirty="0">
                          <a:latin typeface="Prestige12 BT" panose="02070509030506020304" pitchFamily="49" charset="0"/>
                        </a:rPr>
                        <a:t>Lisa</a:t>
                      </a:r>
                    </a:p>
                  </a:txBody>
                  <a:tcPr>
                    <a:solidFill>
                      <a:schemeClr val="accent4"/>
                    </a:solidFill>
                  </a:tcPr>
                </a:tc>
                <a:extLst>
                  <a:ext uri="{0D108BD9-81ED-4DB2-BD59-A6C34878D82A}">
                    <a16:rowId xmlns:a16="http://schemas.microsoft.com/office/drawing/2014/main" val="10008"/>
                  </a:ext>
                </a:extLst>
              </a:tr>
              <a:tr h="133258">
                <a:tc>
                  <a:txBody>
                    <a:bodyPr/>
                    <a:lstStyle/>
                    <a:p>
                      <a:r>
                        <a:rPr lang="en-US" sz="1400" dirty="0">
                          <a:latin typeface="Prestige12 BT" panose="02070509030506020304" pitchFamily="49" charset="0"/>
                        </a:rPr>
                        <a:t>Ape</a:t>
                      </a:r>
                    </a:p>
                  </a:txBody>
                  <a:tcPr>
                    <a:solidFill>
                      <a:schemeClr val="accent4"/>
                    </a:solidFill>
                  </a:tcPr>
                </a:tc>
                <a:tc>
                  <a:txBody>
                    <a:bodyPr/>
                    <a:lstStyle/>
                    <a:p>
                      <a:r>
                        <a:rPr lang="en-US" sz="1400" dirty="0">
                          <a:latin typeface="Prestige12 BT" panose="02070509030506020304" pitchFamily="49" charset="0"/>
                        </a:rPr>
                        <a:t>Homer</a:t>
                      </a:r>
                    </a:p>
                  </a:txBody>
                  <a:tcPr>
                    <a:solidFill>
                      <a:schemeClr val="accent4"/>
                    </a:solidFill>
                  </a:tcPr>
                </a:tc>
                <a:extLst>
                  <a:ext uri="{0D108BD9-81ED-4DB2-BD59-A6C34878D82A}">
                    <a16:rowId xmlns:a16="http://schemas.microsoft.com/office/drawing/2014/main" val="10009"/>
                  </a:ext>
                </a:extLst>
              </a:tr>
            </a:tbl>
          </a:graphicData>
        </a:graphic>
      </p:graphicFrame>
      <p:graphicFrame>
        <p:nvGraphicFramePr>
          <p:cNvPr id="9" name="Table 8"/>
          <p:cNvGraphicFramePr>
            <a:graphicFrameLocks noGrp="1"/>
          </p:cNvGraphicFramePr>
          <p:nvPr/>
        </p:nvGraphicFramePr>
        <p:xfrm>
          <a:off x="7341448" y="3063876"/>
          <a:ext cx="1642110" cy="36576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0000"/>
                    </a:ext>
                  </a:extLst>
                </a:gridCol>
                <a:gridCol w="821055">
                  <a:extLst>
                    <a:ext uri="{9D8B030D-6E8A-4147-A177-3AD203B41FA5}">
                      <a16:colId xmlns:a16="http://schemas.microsoft.com/office/drawing/2014/main" val="20001"/>
                    </a:ext>
                  </a:extLst>
                </a:gridCol>
              </a:tblGrid>
              <a:tr h="133258">
                <a:tc>
                  <a:txBody>
                    <a:bodyPr/>
                    <a:lstStyle/>
                    <a:p>
                      <a:r>
                        <a:rPr lang="en-US" sz="1400" i="1" dirty="0" err="1"/>
                        <a:t>anc</a:t>
                      </a:r>
                      <a:endParaRPr lang="en-US" sz="1400" i="1" dirty="0"/>
                    </a:p>
                  </a:txBody>
                  <a:tcPr/>
                </a:tc>
                <a:tc>
                  <a:txBody>
                    <a:bodyPr/>
                    <a:lstStyle/>
                    <a:p>
                      <a:r>
                        <a:rPr lang="en-US" sz="1400" i="1" dirty="0" err="1"/>
                        <a:t>desc</a:t>
                      </a:r>
                      <a:endParaRPr lang="en-US" sz="1400" i="1" dirty="0"/>
                    </a:p>
                  </a:txBody>
                  <a:tcPr/>
                </a:tc>
                <a:extLst>
                  <a:ext uri="{0D108BD9-81ED-4DB2-BD59-A6C34878D82A}">
                    <a16:rowId xmlns:a16="http://schemas.microsoft.com/office/drawing/2014/main" val="10000"/>
                  </a:ext>
                </a:extLst>
              </a:tr>
              <a:tr h="133258">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1"/>
                  </a:ext>
                </a:extLst>
              </a:tr>
              <a:tr h="163999">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2"/>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3"/>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4"/>
                  </a:ext>
                </a:extLst>
              </a:tr>
              <a:tr h="133258">
                <a:tc>
                  <a:txBody>
                    <a:bodyPr/>
                    <a:lstStyle/>
                    <a:p>
                      <a:r>
                        <a:rPr lang="en-US" sz="1400" dirty="0">
                          <a:latin typeface="Prestige12 BT" panose="02070509030506020304" pitchFamily="49" charset="0"/>
                        </a:rPr>
                        <a:t>Abe</a:t>
                      </a:r>
                    </a:p>
                  </a:txBody>
                  <a:tcPr/>
                </a:tc>
                <a:tc>
                  <a:txBody>
                    <a:bodyPr/>
                    <a:lstStyle/>
                    <a:p>
                      <a:r>
                        <a:rPr lang="en-US" sz="1400" dirty="0">
                          <a:latin typeface="Prestige12 BT" panose="02070509030506020304" pitchFamily="49" charset="0"/>
                        </a:rPr>
                        <a:t>Homer</a:t>
                      </a:r>
                    </a:p>
                  </a:txBody>
                  <a:tcPr/>
                </a:tc>
                <a:extLst>
                  <a:ext uri="{0D108BD9-81ED-4DB2-BD59-A6C34878D82A}">
                    <a16:rowId xmlns:a16="http://schemas.microsoft.com/office/drawing/2014/main" val="10005"/>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Abe</a:t>
                      </a:r>
                    </a:p>
                  </a:txBody>
                  <a:tcPr/>
                </a:tc>
                <a:extLst>
                  <a:ext uri="{0D108BD9-81ED-4DB2-BD59-A6C34878D82A}">
                    <a16:rowId xmlns:a16="http://schemas.microsoft.com/office/drawing/2014/main" val="10006"/>
                  </a:ext>
                </a:extLst>
              </a:tr>
              <a:tr h="133258">
                <a:tc>
                  <a:txBody>
                    <a:bodyPr/>
                    <a:lstStyle/>
                    <a:p>
                      <a:r>
                        <a:rPr lang="en-US" sz="1400" dirty="0">
                          <a:latin typeface="Prestige12 BT" panose="02070509030506020304" pitchFamily="49" charset="0"/>
                        </a:rPr>
                        <a:t>Abe</a:t>
                      </a:r>
                    </a:p>
                  </a:txBody>
                  <a:tcPr>
                    <a:solidFill>
                      <a:schemeClr val="accent4"/>
                    </a:solidFill>
                  </a:tcPr>
                </a:tc>
                <a:tc>
                  <a:txBody>
                    <a:bodyPr/>
                    <a:lstStyle/>
                    <a:p>
                      <a:r>
                        <a:rPr lang="en-US" sz="1400" dirty="0">
                          <a:latin typeface="Prestige12 BT" panose="02070509030506020304" pitchFamily="49" charset="0"/>
                        </a:rPr>
                        <a:t>Bart</a:t>
                      </a:r>
                    </a:p>
                  </a:txBody>
                  <a:tcPr>
                    <a:solidFill>
                      <a:schemeClr val="accent4"/>
                    </a:solidFill>
                  </a:tcPr>
                </a:tc>
                <a:extLst>
                  <a:ext uri="{0D108BD9-81ED-4DB2-BD59-A6C34878D82A}">
                    <a16:rowId xmlns:a16="http://schemas.microsoft.com/office/drawing/2014/main" val="10007"/>
                  </a:ext>
                </a:extLst>
              </a:tr>
              <a:tr h="133258">
                <a:tc>
                  <a:txBody>
                    <a:bodyPr/>
                    <a:lstStyle/>
                    <a:p>
                      <a:r>
                        <a:rPr lang="en-US" sz="1400" dirty="0">
                          <a:latin typeface="Prestige12 BT" panose="02070509030506020304" pitchFamily="49" charset="0"/>
                        </a:rPr>
                        <a:t>Abe</a:t>
                      </a:r>
                    </a:p>
                  </a:txBody>
                  <a:tcPr>
                    <a:solidFill>
                      <a:schemeClr val="accent4"/>
                    </a:solidFill>
                  </a:tcPr>
                </a:tc>
                <a:tc>
                  <a:txBody>
                    <a:bodyPr/>
                    <a:lstStyle/>
                    <a:p>
                      <a:r>
                        <a:rPr lang="en-US" sz="1400" dirty="0">
                          <a:latin typeface="Prestige12 BT" panose="02070509030506020304" pitchFamily="49" charset="0"/>
                        </a:rPr>
                        <a:t>Lisa</a:t>
                      </a:r>
                    </a:p>
                  </a:txBody>
                  <a:tcPr>
                    <a:solidFill>
                      <a:schemeClr val="accent4"/>
                    </a:solidFill>
                  </a:tcPr>
                </a:tc>
                <a:extLst>
                  <a:ext uri="{0D108BD9-81ED-4DB2-BD59-A6C34878D82A}">
                    <a16:rowId xmlns:a16="http://schemas.microsoft.com/office/drawing/2014/main" val="10008"/>
                  </a:ext>
                </a:extLst>
              </a:tr>
              <a:tr h="133258">
                <a:tc>
                  <a:txBody>
                    <a:bodyPr/>
                    <a:lstStyle/>
                    <a:p>
                      <a:r>
                        <a:rPr lang="en-US" sz="1400" dirty="0">
                          <a:latin typeface="Prestige12 BT" panose="02070509030506020304" pitchFamily="49" charset="0"/>
                        </a:rPr>
                        <a:t>Ape</a:t>
                      </a:r>
                    </a:p>
                  </a:txBody>
                  <a:tcPr>
                    <a:solidFill>
                      <a:schemeClr val="accent4"/>
                    </a:solidFill>
                  </a:tcPr>
                </a:tc>
                <a:tc>
                  <a:txBody>
                    <a:bodyPr/>
                    <a:lstStyle/>
                    <a:p>
                      <a:r>
                        <a:rPr lang="en-US" sz="1400" dirty="0">
                          <a:latin typeface="Prestige12 BT" panose="02070509030506020304" pitchFamily="49" charset="0"/>
                        </a:rPr>
                        <a:t>Homer</a:t>
                      </a:r>
                    </a:p>
                  </a:txBody>
                  <a:tcPr>
                    <a:solidFill>
                      <a:schemeClr val="accent4"/>
                    </a:solidFill>
                  </a:tcPr>
                </a:tc>
                <a:extLst>
                  <a:ext uri="{0D108BD9-81ED-4DB2-BD59-A6C34878D82A}">
                    <a16:rowId xmlns:a16="http://schemas.microsoft.com/office/drawing/2014/main" val="10009"/>
                  </a:ext>
                </a:extLst>
              </a:tr>
              <a:tr h="133258">
                <a:tc>
                  <a:txBody>
                    <a:bodyPr/>
                    <a:lstStyle/>
                    <a:p>
                      <a:r>
                        <a:rPr lang="en-US" sz="1400" dirty="0">
                          <a:latin typeface="Prestige12 BT" panose="02070509030506020304" pitchFamily="49" charset="0"/>
                        </a:rPr>
                        <a:t>Ape</a:t>
                      </a:r>
                    </a:p>
                  </a:txBody>
                  <a:tcPr>
                    <a:solidFill>
                      <a:schemeClr val="accent6"/>
                    </a:solidFill>
                  </a:tcPr>
                </a:tc>
                <a:tc>
                  <a:txBody>
                    <a:bodyPr/>
                    <a:lstStyle/>
                    <a:p>
                      <a:r>
                        <a:rPr lang="en-US" sz="1400" dirty="0">
                          <a:latin typeface="Prestige12 BT" panose="02070509030506020304" pitchFamily="49" charset="0"/>
                        </a:rPr>
                        <a:t>Bart</a:t>
                      </a:r>
                    </a:p>
                  </a:txBody>
                  <a:tcPr>
                    <a:solidFill>
                      <a:schemeClr val="accent6"/>
                    </a:solidFill>
                  </a:tcPr>
                </a:tc>
                <a:extLst>
                  <a:ext uri="{0D108BD9-81ED-4DB2-BD59-A6C34878D82A}">
                    <a16:rowId xmlns:a16="http://schemas.microsoft.com/office/drawing/2014/main" val="10010"/>
                  </a:ext>
                </a:extLst>
              </a:tr>
              <a:tr h="133258">
                <a:tc>
                  <a:txBody>
                    <a:bodyPr/>
                    <a:lstStyle/>
                    <a:p>
                      <a:r>
                        <a:rPr lang="en-US" sz="1400" dirty="0">
                          <a:latin typeface="Prestige12 BT" panose="02070509030506020304" pitchFamily="49" charset="0"/>
                        </a:rPr>
                        <a:t>Ape</a:t>
                      </a:r>
                    </a:p>
                  </a:txBody>
                  <a:tcPr>
                    <a:solidFill>
                      <a:schemeClr val="accent6"/>
                    </a:solidFill>
                  </a:tcPr>
                </a:tc>
                <a:tc>
                  <a:txBody>
                    <a:bodyPr/>
                    <a:lstStyle/>
                    <a:p>
                      <a:r>
                        <a:rPr lang="en-US" sz="1400" dirty="0">
                          <a:latin typeface="Prestige12 BT" panose="02070509030506020304" pitchFamily="49" charset="0"/>
                        </a:rPr>
                        <a:t>Lisa</a:t>
                      </a:r>
                    </a:p>
                  </a:txBody>
                  <a:tcPr>
                    <a:solidFill>
                      <a:schemeClr val="accent6"/>
                    </a:solidFill>
                  </a:tcPr>
                </a:tc>
                <a:extLst>
                  <a:ext uri="{0D108BD9-81ED-4DB2-BD59-A6C34878D82A}">
                    <a16:rowId xmlns:a16="http://schemas.microsoft.com/office/drawing/2014/main" val="10011"/>
                  </a:ext>
                </a:extLst>
              </a:tr>
            </a:tbl>
          </a:graphicData>
        </a:graphic>
      </p:graphicFrame>
      <p:sp>
        <p:nvSpPr>
          <p:cNvPr id="10" name="Line 12"/>
          <p:cNvSpPr>
            <a:spLocks noChangeShapeType="1"/>
          </p:cNvSpPr>
          <p:nvPr/>
        </p:nvSpPr>
        <p:spPr bwMode="auto">
          <a:xfrm rot="16200000" flipH="1">
            <a:off x="2200104" y="4516584"/>
            <a:ext cx="0" cy="78694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1" name="Line 12"/>
          <p:cNvSpPr>
            <a:spLocks noChangeShapeType="1"/>
          </p:cNvSpPr>
          <p:nvPr/>
        </p:nvSpPr>
        <p:spPr bwMode="auto">
          <a:xfrm rot="16200000" flipH="1">
            <a:off x="4591398" y="4516584"/>
            <a:ext cx="0" cy="78694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2" name="Line 12"/>
          <p:cNvSpPr>
            <a:spLocks noChangeShapeType="1"/>
          </p:cNvSpPr>
          <p:nvPr/>
        </p:nvSpPr>
        <p:spPr bwMode="auto">
          <a:xfrm rot="16200000" flipH="1">
            <a:off x="6972167" y="4459316"/>
            <a:ext cx="0" cy="78694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3" name="Arc 12"/>
          <p:cNvSpPr/>
          <p:nvPr/>
        </p:nvSpPr>
        <p:spPr>
          <a:xfrm>
            <a:off x="7714212" y="2316479"/>
            <a:ext cx="886691" cy="831273"/>
          </a:xfrm>
          <a:prstGeom prst="arc">
            <a:avLst>
              <a:gd name="adj1" fmla="val 7647035"/>
              <a:gd name="adj2" fmla="val 3141148"/>
            </a:avLst>
          </a:prstGeom>
          <a:ln w="25400">
            <a:solidFill>
              <a:schemeClr val="tx1"/>
            </a:solidFill>
            <a:headEnd type="stealth" w="med" len="lg"/>
            <a:tailEnd type="none" w="med"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Rectangle 13">
            <a:extLst>
              <a:ext uri="{FF2B5EF4-FFF2-40B4-BE49-F238E27FC236}">
                <a16:creationId xmlns:a16="http://schemas.microsoft.com/office/drawing/2014/main" id="{C4577CC8-E9CB-4B6C-ACA5-971FCBF38009}"/>
              </a:ext>
            </a:extLst>
          </p:cNvPr>
          <p:cNvSpPr/>
          <p:nvPr/>
        </p:nvSpPr>
        <p:spPr>
          <a:xfrm>
            <a:off x="450622" y="1487957"/>
            <a:ext cx="3768820" cy="1941041"/>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buFont typeface="Wingdings" pitchFamily="2" charset="2"/>
              <a:buNone/>
            </a:pPr>
            <a:r>
              <a:rPr lang="en-US" sz="1600" dirty="0">
                <a:solidFill>
                  <a:schemeClr val="accent2"/>
                </a:solidFill>
                <a:latin typeface="Prestige12 BT" panose="02070509030506020304" pitchFamily="49" charset="0"/>
              </a:rPr>
              <a:t>WITH RECURSIVE</a:t>
            </a:r>
            <a:br>
              <a:rPr lang="en-US" sz="1600" dirty="0">
                <a:solidFill>
                  <a:schemeClr val="accent2"/>
                </a:solidFill>
                <a:latin typeface="Prestige12 BT" panose="02070509030506020304" pitchFamily="49" charset="0"/>
              </a:rPr>
            </a:b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a:t>
            </a:r>
            <a:r>
              <a:rPr lang="en-US" sz="1600" dirty="0" err="1">
                <a:latin typeface="Prestige12 BT" panose="02070509030506020304" pitchFamily="49" charset="0"/>
              </a:rPr>
              <a:t>anc</a:t>
            </a:r>
            <a:r>
              <a:rPr lang="en-US" sz="1600" dirty="0">
                <a:latin typeface="Prestige12 BT" panose="02070509030506020304" pitchFamily="49" charset="0"/>
              </a:rPr>
              <a:t>, desc) </a:t>
            </a:r>
            <a:r>
              <a:rPr lang="en-US" sz="1600" dirty="0">
                <a:solidFill>
                  <a:schemeClr val="accent2"/>
                </a:solidFill>
                <a:latin typeface="Prestige12 BT" panose="02070509030506020304" pitchFamily="49" charset="0"/>
              </a:rPr>
              <a:t>AS</a:t>
            </a:r>
            <a:br>
              <a:rPr lang="en-US" sz="1600" dirty="0">
                <a:solidFill>
                  <a:schemeClr val="tx2"/>
                </a:solidFill>
                <a:latin typeface="Prestige12 BT" panose="02070509030506020304" pitchFamily="49" charset="0"/>
              </a:rPr>
            </a:br>
            <a:r>
              <a:rPr lang="en-US" sz="1600" dirty="0">
                <a:latin typeface="Prestige12 BT" panose="02070509030506020304" pitchFamily="49" charset="0"/>
              </a:rPr>
              <a:t>((SELECT parent, child FROM Parent)</a:t>
            </a:r>
            <a:br>
              <a:rPr lang="en-US" sz="1600" dirty="0">
                <a:latin typeface="Prestige12 BT" panose="02070509030506020304" pitchFamily="49" charset="0"/>
              </a:rPr>
            </a:br>
            <a:r>
              <a:rPr lang="en-US" sz="1600" dirty="0">
                <a:latin typeface="Prestige12 BT" panose="02070509030506020304" pitchFamily="49" charset="0"/>
              </a:rPr>
              <a:t> UNION</a:t>
            </a:r>
            <a:br>
              <a:rPr lang="en-US" sz="1600" dirty="0">
                <a:latin typeface="Prestige12 BT" panose="02070509030506020304" pitchFamily="49" charset="0"/>
              </a:rPr>
            </a:br>
            <a:r>
              <a:rPr lang="en-US" sz="1600" dirty="0">
                <a:latin typeface="Prestige12 BT" panose="02070509030506020304" pitchFamily="49" charset="0"/>
              </a:rPr>
              <a:t> (SELECT a1.anc, a2.desc</a:t>
            </a:r>
            <a:br>
              <a:rPr lang="en-US" sz="1600" dirty="0">
                <a:latin typeface="Prestige12 BT" panose="02070509030506020304" pitchFamily="49" charset="0"/>
              </a:rPr>
            </a:br>
            <a:r>
              <a:rPr lang="en-US" sz="1600" dirty="0">
                <a:latin typeface="Prestige12 BT" panose="02070509030506020304" pitchFamily="49" charset="0"/>
              </a:rPr>
              <a:t>  FROM </a:t>
            </a: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 a1, </a:t>
            </a: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 a2</a:t>
            </a:r>
            <a:br>
              <a:rPr lang="en-US" sz="1600" dirty="0">
                <a:latin typeface="Prestige12 BT" panose="02070509030506020304" pitchFamily="49" charset="0"/>
              </a:rPr>
            </a:br>
            <a:r>
              <a:rPr lang="en-US" sz="1600" dirty="0">
                <a:latin typeface="Prestige12 BT" panose="02070509030506020304" pitchFamily="49" charset="0"/>
              </a:rPr>
              <a:t>  WHERE a1.desc = a2.anc))</a:t>
            </a:r>
            <a:br>
              <a:rPr lang="en-US" sz="1600" dirty="0">
                <a:latin typeface="Prestige12 BT" panose="02070509030506020304" pitchFamily="49" charset="0"/>
              </a:rPr>
            </a:br>
            <a:r>
              <a:rPr lang="en-US" sz="1600" dirty="0">
                <a:latin typeface="Prestige12 BT" panose="02070509030506020304" pitchFamily="49" charset="0"/>
              </a:rPr>
              <a:t>…..;</a:t>
            </a:r>
          </a:p>
        </p:txBody>
      </p:sp>
      <p:sp>
        <p:nvSpPr>
          <p:cNvPr id="17" name="Text Box 11">
            <a:extLst>
              <a:ext uri="{FF2B5EF4-FFF2-40B4-BE49-F238E27FC236}">
                <a16:creationId xmlns:a16="http://schemas.microsoft.com/office/drawing/2014/main" id="{F7C97C59-3523-4280-B65A-F2A53E3C9B65}"/>
              </a:ext>
            </a:extLst>
          </p:cNvPr>
          <p:cNvSpPr txBox="1">
            <a:spLocks noChangeArrowheads="1"/>
          </p:cNvSpPr>
          <p:nvPr/>
        </p:nvSpPr>
        <p:spPr bwMode="auto">
          <a:xfrm>
            <a:off x="3161633" y="1701678"/>
            <a:ext cx="974947"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1600" i="1">
                <a:solidFill>
                  <a:schemeClr val="accent4"/>
                </a:solidFill>
                <a:latin typeface="+mn-lt"/>
              </a:rPr>
              <a:t>base case</a:t>
            </a:r>
          </a:p>
        </p:txBody>
      </p:sp>
      <p:sp>
        <p:nvSpPr>
          <p:cNvPr id="18" name="AutoShape 9">
            <a:extLst>
              <a:ext uri="{FF2B5EF4-FFF2-40B4-BE49-F238E27FC236}">
                <a16:creationId xmlns:a16="http://schemas.microsoft.com/office/drawing/2014/main" id="{E4336513-1172-480B-8588-ED2C4AD950F6}"/>
              </a:ext>
            </a:extLst>
          </p:cNvPr>
          <p:cNvSpPr>
            <a:spLocks noChangeArrowheads="1"/>
          </p:cNvSpPr>
          <p:nvPr/>
        </p:nvSpPr>
        <p:spPr bwMode="auto">
          <a:xfrm>
            <a:off x="657653" y="1974498"/>
            <a:ext cx="2974653" cy="250257"/>
          </a:xfrm>
          <a:prstGeom prst="roundRect">
            <a:avLst>
              <a:gd name="adj" fmla="val 16667"/>
            </a:avLst>
          </a:prstGeom>
          <a:noFill/>
          <a:ln w="22225">
            <a:solidFill>
              <a:schemeClr val="accent4"/>
            </a:solidFill>
            <a:round/>
            <a:headEnd/>
            <a:tailEnd/>
          </a:ln>
        </p:spPr>
        <p:txBody>
          <a:bodyPr wrap="none" anchor="ctr"/>
          <a:lstStyle/>
          <a:p>
            <a:endParaRPr lang="en-US"/>
          </a:p>
        </p:txBody>
      </p:sp>
      <p:sp>
        <p:nvSpPr>
          <p:cNvPr id="19" name="AutoShape 9">
            <a:extLst>
              <a:ext uri="{FF2B5EF4-FFF2-40B4-BE49-F238E27FC236}">
                <a16:creationId xmlns:a16="http://schemas.microsoft.com/office/drawing/2014/main" id="{477F2F32-DBCB-4CB8-ADB9-40F7CF5907B8}"/>
              </a:ext>
            </a:extLst>
          </p:cNvPr>
          <p:cNvSpPr>
            <a:spLocks noChangeArrowheads="1"/>
          </p:cNvSpPr>
          <p:nvPr/>
        </p:nvSpPr>
        <p:spPr bwMode="auto">
          <a:xfrm>
            <a:off x="657653" y="2484357"/>
            <a:ext cx="2634188" cy="720019"/>
          </a:xfrm>
          <a:prstGeom prst="roundRect">
            <a:avLst>
              <a:gd name="adj" fmla="val 16667"/>
            </a:avLst>
          </a:prstGeom>
          <a:noFill/>
          <a:ln w="22225">
            <a:solidFill>
              <a:schemeClr val="accent4"/>
            </a:solidFill>
            <a:round/>
            <a:headEnd/>
            <a:tailEnd/>
          </a:ln>
        </p:spPr>
        <p:txBody>
          <a:bodyPr wrap="none" anchor="ctr"/>
          <a:lstStyle/>
          <a:p>
            <a:endParaRPr lang="en-US"/>
          </a:p>
        </p:txBody>
      </p:sp>
      <p:sp>
        <p:nvSpPr>
          <p:cNvPr id="20" name="Text Box 11">
            <a:extLst>
              <a:ext uri="{FF2B5EF4-FFF2-40B4-BE49-F238E27FC236}">
                <a16:creationId xmlns:a16="http://schemas.microsoft.com/office/drawing/2014/main" id="{BACABCFF-3A74-4AE7-A792-CFE2C0EEA968}"/>
              </a:ext>
            </a:extLst>
          </p:cNvPr>
          <p:cNvSpPr txBox="1">
            <a:spLocks noChangeArrowheads="1"/>
          </p:cNvSpPr>
          <p:nvPr/>
        </p:nvSpPr>
        <p:spPr bwMode="auto">
          <a:xfrm>
            <a:off x="3283604" y="2688664"/>
            <a:ext cx="9893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1600" i="1" dirty="0">
                <a:solidFill>
                  <a:schemeClr val="accent4"/>
                </a:solidFill>
                <a:latin typeface="+mn-lt"/>
              </a:rPr>
              <a:t>recursive </a:t>
            </a:r>
          </a:p>
          <a:p>
            <a:pPr>
              <a:buFont typeface="Wingdings" pitchFamily="2" charset="2"/>
              <a:buNone/>
            </a:pPr>
            <a:r>
              <a:rPr lang="en-US" sz="1600" i="1" dirty="0">
                <a:solidFill>
                  <a:schemeClr val="accent4"/>
                </a:solidFill>
                <a:latin typeface="+mn-lt"/>
              </a:rPr>
              <a:t>step</a:t>
            </a:r>
          </a:p>
        </p:txBody>
      </p:sp>
    </p:spTree>
    <p:custDataLst>
      <p:tags r:id="rId1"/>
    </p:custDataLst>
    <p:extLst>
      <p:ext uri="{BB962C8B-B14F-4D97-AF65-F5344CB8AC3E}">
        <p14:creationId xmlns:p14="http://schemas.microsoft.com/office/powerpoint/2010/main" val="2524597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500"/>
                                        <p:tgtEl>
                                          <p:spTgt spid="6"/>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wipe(left)">
                                      <p:cBhvr>
                                        <p:cTn id="20" dur="500"/>
                                        <p:tgtEl>
                                          <p:spTgt spid="10"/>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wipe(left)">
                                      <p:cBhvr>
                                        <p:cTn id="31" dur="500"/>
                                        <p:tgtEl>
                                          <p:spTgt spid="11"/>
                                        </p:tgtEl>
                                      </p:cBhvr>
                                    </p:animEffect>
                                  </p:childTnLst>
                                </p:cTn>
                              </p:par>
                              <p:par>
                                <p:cTn id="32" presetID="22" presetClass="entr" presetSubtype="8" fill="hold"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500"/>
                                        <p:tgtEl>
                                          <p:spTgt spid="8"/>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par>
                                <p:cTn id="40" presetID="22" presetClass="entr" presetSubtype="8" fill="hold" nodeType="with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wipe(left)">
                                      <p:cBhvr>
                                        <p:cTn id="42" dur="500"/>
                                        <p:tgtEl>
                                          <p:spTgt spid="9"/>
                                        </p:tgtEl>
                                      </p:cBhvr>
                                    </p:animEffect>
                                  </p:childTnLst>
                                </p:cTn>
                              </p:par>
                            </p:childTnLst>
                          </p:cTn>
                        </p:par>
                      </p:childTnLst>
                    </p:cTn>
                  </p:par>
                  <p:par>
                    <p:cTn id="43" fill="hold">
                      <p:stCondLst>
                        <p:cond delay="indefinite"/>
                      </p:stCondLst>
                      <p:childTnLst>
                        <p:par>
                          <p:cTn id="44" fill="hold">
                            <p:stCondLst>
                              <p:cond delay="0"/>
                            </p:stCondLst>
                            <p:childTnLst>
                              <p:par>
                                <p:cTn id="45" presetID="49" presetClass="entr" presetSubtype="0" decel="100000" fill="hold" grpId="0" nodeType="clickEffect">
                                  <p:stCondLst>
                                    <p:cond delay="0"/>
                                  </p:stCondLst>
                                  <p:childTnLst>
                                    <p:set>
                                      <p:cBhvr>
                                        <p:cTn id="46" dur="1" fill="hold">
                                          <p:stCondLst>
                                            <p:cond delay="0"/>
                                          </p:stCondLst>
                                        </p:cTn>
                                        <p:tgtEl>
                                          <p:spTgt spid="13"/>
                                        </p:tgtEl>
                                        <p:attrNameLst>
                                          <p:attrName>style.visibility</p:attrName>
                                        </p:attrNameLst>
                                      </p:cBhvr>
                                      <p:to>
                                        <p:strVal val="visible"/>
                                      </p:to>
                                    </p:set>
                                    <p:anim calcmode="lin" valueType="num">
                                      <p:cBhvr>
                                        <p:cTn id="47" dur="500" fill="hold"/>
                                        <p:tgtEl>
                                          <p:spTgt spid="13"/>
                                        </p:tgtEl>
                                        <p:attrNameLst>
                                          <p:attrName>ppt_w</p:attrName>
                                        </p:attrNameLst>
                                      </p:cBhvr>
                                      <p:tavLst>
                                        <p:tav tm="0">
                                          <p:val>
                                            <p:fltVal val="0"/>
                                          </p:val>
                                        </p:tav>
                                        <p:tav tm="100000">
                                          <p:val>
                                            <p:strVal val="#ppt_w"/>
                                          </p:val>
                                        </p:tav>
                                      </p:tavLst>
                                    </p:anim>
                                    <p:anim calcmode="lin" valueType="num">
                                      <p:cBhvr>
                                        <p:cTn id="48" dur="500" fill="hold"/>
                                        <p:tgtEl>
                                          <p:spTgt spid="13"/>
                                        </p:tgtEl>
                                        <p:attrNameLst>
                                          <p:attrName>ppt_h</p:attrName>
                                        </p:attrNameLst>
                                      </p:cBhvr>
                                      <p:tavLst>
                                        <p:tav tm="0">
                                          <p:val>
                                            <p:fltVal val="0"/>
                                          </p:val>
                                        </p:tav>
                                        <p:tav tm="100000">
                                          <p:val>
                                            <p:strVal val="#ppt_h"/>
                                          </p:val>
                                        </p:tav>
                                      </p:tavLst>
                                    </p:anim>
                                    <p:anim calcmode="lin" valueType="num">
                                      <p:cBhvr>
                                        <p:cTn id="49" dur="500" fill="hold"/>
                                        <p:tgtEl>
                                          <p:spTgt spid="13"/>
                                        </p:tgtEl>
                                        <p:attrNameLst>
                                          <p:attrName>style.rotation</p:attrName>
                                        </p:attrNameLst>
                                      </p:cBhvr>
                                      <p:tavLst>
                                        <p:tav tm="0">
                                          <p:val>
                                            <p:fltVal val="360"/>
                                          </p:val>
                                        </p:tav>
                                        <p:tav tm="100000">
                                          <p:val>
                                            <p:fltVal val="0"/>
                                          </p:val>
                                        </p:tav>
                                      </p:tavLst>
                                    </p:anim>
                                    <p:animEffect transition="in" filter="fade">
                                      <p:cBhvr>
                                        <p:cTn id="5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7" grpId="0"/>
      <p:bldP spid="18" grpId="0" animBg="1"/>
      <p:bldP spid="19" grpId="0" animBg="1"/>
      <p:bldP spid="2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Fixed point of a function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en-US" dirty="0"/>
                  <a:t>If </a:t>
                </a:r>
                <a14:m>
                  <m:oMath xmlns:m="http://schemas.openxmlformats.org/officeDocument/2006/math">
                    <m:r>
                      <a:rPr lang="en-US" i="1">
                        <a:latin typeface="Cambria Math"/>
                      </a:rPr>
                      <m:t>𝑓</m:t>
                    </m:r>
                    <m:r>
                      <a:rPr lang="en-US" i="1">
                        <a:latin typeface="Cambria Math"/>
                      </a:rPr>
                      <m:t>:</m:t>
                    </m:r>
                    <m:r>
                      <a:rPr lang="en-US" b="0" i="1" smtClean="0">
                        <a:latin typeface="Cambria Math" panose="02040503050406030204" pitchFamily="18" charset="0"/>
                      </a:rPr>
                      <m:t>𝐷</m:t>
                    </m:r>
                    <m:r>
                      <a:rPr lang="en-US" i="1">
                        <a:latin typeface="Cambria Math"/>
                      </a:rPr>
                      <m:t>→</m:t>
                    </m:r>
                    <m:r>
                      <a:rPr lang="en-US" b="0" i="1" smtClean="0">
                        <a:latin typeface="Cambria Math" panose="02040503050406030204" pitchFamily="18" charset="0"/>
                      </a:rPr>
                      <m:t>𝐷</m:t>
                    </m:r>
                  </m:oMath>
                </a14:m>
                <a:r>
                  <a:rPr lang="en-US" dirty="0"/>
                  <a:t> is a function from a type </a:t>
                </a:r>
                <a14:m>
                  <m:oMath xmlns:m="http://schemas.openxmlformats.org/officeDocument/2006/math">
                    <m:r>
                      <a:rPr lang="en-US" b="0" i="1" dirty="0" smtClean="0">
                        <a:latin typeface="Cambria Math" panose="02040503050406030204" pitchFamily="18" charset="0"/>
                      </a:rPr>
                      <m:t>𝐷</m:t>
                    </m:r>
                  </m:oMath>
                </a14:m>
                <a:r>
                  <a:rPr lang="en-US" dirty="0"/>
                  <a:t> to itself, a </a:t>
                </a:r>
                <a:r>
                  <a:rPr lang="en-US" dirty="0">
                    <a:solidFill>
                      <a:schemeClr val="accent2"/>
                    </a:solidFill>
                  </a:rPr>
                  <a:t>fixed point </a:t>
                </a:r>
                <a:r>
                  <a:rPr lang="en-US" dirty="0"/>
                  <a:t>of </a:t>
                </a:r>
                <a14:m>
                  <m:oMath xmlns:m="http://schemas.openxmlformats.org/officeDocument/2006/math">
                    <m:r>
                      <a:rPr lang="en-US" i="1" dirty="0">
                        <a:latin typeface="Cambria Math"/>
                      </a:rPr>
                      <m:t>𝑓</m:t>
                    </m:r>
                  </m:oMath>
                </a14:m>
                <a:r>
                  <a:rPr lang="en-US" dirty="0"/>
                  <a:t> is a value </a:t>
                </a:r>
                <a14:m>
                  <m:oMath xmlns:m="http://schemas.openxmlformats.org/officeDocument/2006/math">
                    <m:r>
                      <a:rPr lang="en-US" i="1" dirty="0">
                        <a:latin typeface="Cambria Math"/>
                      </a:rPr>
                      <m:t>𝑥</m:t>
                    </m:r>
                  </m:oMath>
                </a14:m>
                <a:r>
                  <a:rPr lang="en-US" dirty="0"/>
                  <a:t> such that </a:t>
                </a:r>
                <a14:m>
                  <m:oMath xmlns:m="http://schemas.openxmlformats.org/officeDocument/2006/math">
                    <m:r>
                      <a:rPr lang="en-US" i="1" dirty="0">
                        <a:latin typeface="Cambria Math"/>
                      </a:rPr>
                      <m:t>𝑓</m:t>
                    </m:r>
                    <m:d>
                      <m:dPr>
                        <m:ctrlPr>
                          <a:rPr lang="en-US" i="1" dirty="0">
                            <a:latin typeface="Cambria Math" panose="02040503050406030204" pitchFamily="18" charset="0"/>
                          </a:rPr>
                        </m:ctrlPr>
                      </m:dPr>
                      <m:e>
                        <m:r>
                          <a:rPr lang="en-US" i="1" dirty="0">
                            <a:latin typeface="Cambria Math"/>
                          </a:rPr>
                          <m:t>𝑥</m:t>
                        </m:r>
                      </m:e>
                    </m:d>
                    <m:r>
                      <a:rPr lang="en-US" i="1" dirty="0">
                        <a:latin typeface="Cambria Math"/>
                      </a:rPr>
                      <m:t>=</m:t>
                    </m:r>
                    <m:r>
                      <a:rPr lang="en-US" i="1" dirty="0">
                        <a:latin typeface="Cambria Math"/>
                      </a:rPr>
                      <m:t>𝑥</m:t>
                    </m:r>
                  </m:oMath>
                </a14:m>
                <a:endParaRPr lang="en-US" dirty="0"/>
              </a:p>
              <a:p>
                <a:pPr lvl="1"/>
                <a:r>
                  <a:rPr lang="en-CA" dirty="0"/>
                  <a:t>Example: what is the fixed point of f(x) = x/2?</a:t>
                </a:r>
              </a:p>
              <a:p>
                <a:pPr lvl="1"/>
                <a:r>
                  <a:rPr lang="en-CA" dirty="0"/>
                  <a:t>Ans: 0, as f(0)=0</a:t>
                </a:r>
              </a:p>
              <a:p>
                <a:pPr lvl="1"/>
                <a:endParaRPr lang="en-US" dirty="0"/>
              </a:p>
              <a:p>
                <a:r>
                  <a:rPr lang="en-US" dirty="0"/>
                  <a:t>To compute a fixed point of </a:t>
                </a:r>
                <a14:m>
                  <m:oMath xmlns:m="http://schemas.openxmlformats.org/officeDocument/2006/math">
                    <m:r>
                      <a:rPr lang="en-US" i="1" dirty="0">
                        <a:latin typeface="Cambria Math"/>
                      </a:rPr>
                      <m:t>𝑓</m:t>
                    </m:r>
                  </m:oMath>
                </a14:m>
                <a:endParaRPr lang="en-US" dirty="0"/>
              </a:p>
              <a:p>
                <a:pPr lvl="1"/>
                <a:r>
                  <a:rPr lang="en-US" dirty="0"/>
                  <a:t>Start with a “seed”: </a:t>
                </a:r>
                <a14:m>
                  <m:oMath xmlns:m="http://schemas.openxmlformats.org/officeDocument/2006/math">
                    <m:r>
                      <a:rPr lang="en-US" i="1">
                        <a:latin typeface="Cambria Math"/>
                      </a:rPr>
                      <m:t>𝑥</m:t>
                    </m:r>
                    <m:r>
                      <a:rPr lang="en-US" i="1">
                        <a:latin typeface="Cambria Math"/>
                      </a:rPr>
                      <m:t>←</m:t>
                    </m:r>
                    <m:sSub>
                      <m:sSubPr>
                        <m:ctrlPr>
                          <a:rPr lang="en-US" i="1">
                            <a:latin typeface="Cambria Math" panose="02040503050406030204" pitchFamily="18" charset="0"/>
                          </a:rPr>
                        </m:ctrlPr>
                      </m:sSubPr>
                      <m:e>
                        <m:r>
                          <a:rPr lang="en-US" i="1">
                            <a:latin typeface="Cambria Math"/>
                          </a:rPr>
                          <m:t>𝑥</m:t>
                        </m:r>
                      </m:e>
                      <m:sub>
                        <m:r>
                          <a:rPr lang="en-US" i="1">
                            <a:latin typeface="Cambria Math"/>
                          </a:rPr>
                          <m:t>0</m:t>
                        </m:r>
                      </m:sub>
                    </m:sSub>
                  </m:oMath>
                </a14:m>
                <a:endParaRPr lang="en-US" baseline="-25000" dirty="0"/>
              </a:p>
              <a:p>
                <a:pPr lvl="1"/>
                <a:r>
                  <a:rPr lang="en-US" dirty="0"/>
                  <a:t>Compute </a:t>
                </a:r>
                <a14:m>
                  <m:oMath xmlns:m="http://schemas.openxmlformats.org/officeDocument/2006/math">
                    <m:r>
                      <a:rPr lang="en-US" i="1" dirty="0">
                        <a:latin typeface="Cambria Math"/>
                      </a:rPr>
                      <m:t>𝑓</m:t>
                    </m:r>
                    <m:d>
                      <m:dPr>
                        <m:ctrlPr>
                          <a:rPr lang="en-US" i="1" dirty="0">
                            <a:latin typeface="Cambria Math" panose="02040503050406030204" pitchFamily="18" charset="0"/>
                          </a:rPr>
                        </m:ctrlPr>
                      </m:dPr>
                      <m:e>
                        <m:r>
                          <a:rPr lang="en-US" i="1" dirty="0">
                            <a:latin typeface="Cambria Math"/>
                          </a:rPr>
                          <m:t>𝑥</m:t>
                        </m:r>
                      </m:e>
                    </m:d>
                  </m:oMath>
                </a14:m>
                <a:endParaRPr lang="en-US" dirty="0"/>
              </a:p>
              <a:p>
                <a:pPr lvl="2"/>
                <a:r>
                  <a:rPr lang="en-US" dirty="0"/>
                  <a:t>If </a:t>
                </a:r>
                <a14:m>
                  <m:oMath xmlns:m="http://schemas.openxmlformats.org/officeDocument/2006/math">
                    <m:r>
                      <a:rPr lang="en-US" i="1" dirty="0">
                        <a:latin typeface="Cambria Math"/>
                      </a:rPr>
                      <m:t>𝑓</m:t>
                    </m:r>
                    <m:d>
                      <m:dPr>
                        <m:ctrlPr>
                          <a:rPr lang="en-US" i="1" dirty="0">
                            <a:latin typeface="Cambria Math" panose="02040503050406030204" pitchFamily="18" charset="0"/>
                          </a:rPr>
                        </m:ctrlPr>
                      </m:dPr>
                      <m:e>
                        <m:r>
                          <a:rPr lang="en-US" i="1" dirty="0">
                            <a:latin typeface="Cambria Math"/>
                          </a:rPr>
                          <m:t>𝑥</m:t>
                        </m:r>
                      </m:e>
                    </m:d>
                    <m:r>
                      <a:rPr lang="en-US" i="1" dirty="0">
                        <a:latin typeface="Cambria Math"/>
                      </a:rPr>
                      <m:t>=</m:t>
                    </m:r>
                    <m:r>
                      <a:rPr lang="en-US" i="1" dirty="0">
                        <a:latin typeface="Cambria Math"/>
                      </a:rPr>
                      <m:t>𝑥</m:t>
                    </m:r>
                  </m:oMath>
                </a14:m>
                <a:r>
                  <a:rPr lang="en-US" dirty="0"/>
                  <a:t>, stop; </a:t>
                </a:r>
                <a14:m>
                  <m:oMath xmlns:m="http://schemas.openxmlformats.org/officeDocument/2006/math">
                    <m:r>
                      <a:rPr lang="en-US" i="1" dirty="0">
                        <a:latin typeface="Cambria Math"/>
                      </a:rPr>
                      <m:t>𝑥</m:t>
                    </m:r>
                  </m:oMath>
                </a14:m>
                <a:r>
                  <a:rPr lang="en-US" dirty="0"/>
                  <a:t> is fixed point of </a:t>
                </a:r>
                <a14:m>
                  <m:oMath xmlns:m="http://schemas.openxmlformats.org/officeDocument/2006/math">
                    <m:r>
                      <a:rPr lang="en-US" i="1" dirty="0">
                        <a:latin typeface="Cambria Math"/>
                      </a:rPr>
                      <m:t>𝑓</m:t>
                    </m:r>
                  </m:oMath>
                </a14:m>
                <a:endParaRPr lang="en-US" i="1" dirty="0"/>
              </a:p>
              <a:p>
                <a:pPr lvl="2"/>
                <a:r>
                  <a:rPr lang="en-US" dirty="0"/>
                  <a:t>Otherwise, </a:t>
                </a:r>
                <a14:m>
                  <m:oMath xmlns:m="http://schemas.openxmlformats.org/officeDocument/2006/math">
                    <m:r>
                      <a:rPr lang="en-US" i="1">
                        <a:latin typeface="Cambria Math"/>
                      </a:rPr>
                      <m:t>𝑥</m:t>
                    </m:r>
                    <m:r>
                      <a:rPr lang="en-US" i="1">
                        <a:latin typeface="Cambria Math"/>
                      </a:rPr>
                      <m:t>←</m:t>
                    </m:r>
                    <m:r>
                      <a:rPr lang="en-US" i="1">
                        <a:latin typeface="Cambria Math"/>
                      </a:rPr>
                      <m:t>𝑓</m:t>
                    </m:r>
                    <m:d>
                      <m:dPr>
                        <m:ctrlPr>
                          <a:rPr lang="en-US" i="1">
                            <a:latin typeface="Cambria Math" panose="02040503050406030204" pitchFamily="18" charset="0"/>
                          </a:rPr>
                        </m:ctrlPr>
                      </m:dPr>
                      <m:e>
                        <m:r>
                          <a:rPr lang="en-US" i="1">
                            <a:latin typeface="Cambria Math"/>
                          </a:rPr>
                          <m:t>𝑥</m:t>
                        </m:r>
                      </m:e>
                    </m:d>
                  </m:oMath>
                </a14:m>
                <a:r>
                  <a:rPr lang="en-US" dirty="0"/>
                  <a:t>; repeat</a:t>
                </a:r>
              </a:p>
              <a:p>
                <a:endParaRPr lang="en-US" dirty="0"/>
              </a:p>
              <a:p>
                <a:pPr marL="0" indent="0">
                  <a:buNone/>
                </a:pPr>
                <a:endParaRPr lang="en-US" dirty="0"/>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6"/>
                <a:stretch>
                  <a:fillRect l="-1342" t="-1968"/>
                </a:stretch>
              </a:blipFill>
            </p:spPr>
            <p:txBody>
              <a:bodyPr/>
              <a:lstStyle/>
              <a:p>
                <a:r>
                  <a:rPr lang="en-CA">
                    <a:noFill/>
                  </a:rPr>
                  <a:t> </a:t>
                </a:r>
              </a:p>
            </p:txBody>
          </p:sp>
        </mc:Fallback>
      </mc:AlternateContent>
      <p:sp>
        <p:nvSpPr>
          <p:cNvPr id="4" name="Slide Number Placeholder 3"/>
          <p:cNvSpPr>
            <a:spLocks noGrp="1"/>
          </p:cNvSpPr>
          <p:nvPr>
            <p:ph type="sldNum" sz="quarter" idx="12"/>
          </p:nvPr>
        </p:nvSpPr>
        <p:spPr/>
        <p:txBody>
          <a:bodyPr/>
          <a:lstStyle/>
          <a:p>
            <a:fld id="{44C99FA5-7995-46A9-A97E-16E38AD58950}" type="slidenum">
              <a:rPr lang="en-US" smtClean="0"/>
              <a:t>7</a:t>
            </a:fld>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A99D156-3483-47DB-A7CC-B6B9F40EAC73}"/>
                  </a:ext>
                </a:extLst>
              </p:cNvPr>
              <p:cNvSpPr txBox="1"/>
              <p:nvPr/>
            </p:nvSpPr>
            <p:spPr>
              <a:xfrm>
                <a:off x="3510222" y="2676498"/>
                <a:ext cx="5291442" cy="461665"/>
              </a:xfrm>
              <a:prstGeom prst="rect">
                <a:avLst/>
              </a:prstGeom>
              <a:noFill/>
            </p:spPr>
            <p:txBody>
              <a:bodyPr wrap="square">
                <a:spAutoFit/>
              </a:bodyPr>
              <a:lstStyle/>
              <a:p>
                <a:r>
                  <a:rPr lang="en-CA" sz="2400" dirty="0"/>
                  <a:t> </a:t>
                </a:r>
                <a:r>
                  <a:rPr lang="en-US" sz="2400" dirty="0"/>
                  <a:t>With seed 1: 1, 1/2, 1/4, 1/8, 1/16, … </a:t>
                </a:r>
                <a14:m>
                  <m:oMath xmlns:m="http://schemas.openxmlformats.org/officeDocument/2006/math">
                    <m:r>
                      <a:rPr lang="en-US" sz="2400" i="1">
                        <a:latin typeface="Cambria Math"/>
                      </a:rPr>
                      <m:t>→</m:t>
                    </m:r>
                  </m:oMath>
                </a14:m>
                <a:r>
                  <a:rPr lang="en-US" sz="2400" dirty="0"/>
                  <a:t> 0</a:t>
                </a:r>
                <a:endParaRPr lang="en-CA" sz="2400" dirty="0"/>
              </a:p>
            </p:txBody>
          </p:sp>
        </mc:Choice>
        <mc:Fallback xmlns="">
          <p:sp>
            <p:nvSpPr>
              <p:cNvPr id="8" name="TextBox 7">
                <a:extLst>
                  <a:ext uri="{FF2B5EF4-FFF2-40B4-BE49-F238E27FC236}">
                    <a16:creationId xmlns:a16="http://schemas.microsoft.com/office/drawing/2014/main" id="{6A99D156-3483-47DB-A7CC-B6B9F40EAC73}"/>
                  </a:ext>
                </a:extLst>
              </p:cNvPr>
              <p:cNvSpPr txBox="1">
                <a:spLocks noRot="1" noChangeAspect="1" noMove="1" noResize="1" noEditPoints="1" noAdjustHandles="1" noChangeArrowheads="1" noChangeShapeType="1" noTextEdit="1"/>
              </p:cNvSpPr>
              <p:nvPr/>
            </p:nvSpPr>
            <p:spPr>
              <a:xfrm>
                <a:off x="3510222" y="2676498"/>
                <a:ext cx="5291442" cy="461665"/>
              </a:xfrm>
              <a:prstGeom prst="rect">
                <a:avLst/>
              </a:prstGeom>
              <a:blipFill>
                <a:blip r:embed="rId7"/>
                <a:stretch>
                  <a:fillRect l="-576" t="-10526" b="-28947"/>
                </a:stretch>
              </a:blipFill>
            </p:spPr>
            <p:txBody>
              <a:bodyPr/>
              <a:lstStyle/>
              <a:p>
                <a:r>
                  <a:rPr lang="en-CA">
                    <a:noFill/>
                  </a:rPr>
                  <a:t> </a:t>
                </a:r>
              </a:p>
            </p:txBody>
          </p:sp>
        </mc:Fallback>
      </mc:AlternateContent>
    </p:spTree>
    <p:custDataLst>
      <p:tags r:id="rId1"/>
    </p:custDataLst>
    <p:extLst>
      <p:ext uri="{BB962C8B-B14F-4D97-AF65-F5344CB8AC3E}">
        <p14:creationId xmlns:p14="http://schemas.microsoft.com/office/powerpoint/2010/main" val="23168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Fixed point of a query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a:t>A query </a:t>
                </a:r>
                <a14:m>
                  <m:oMath xmlns:m="http://schemas.openxmlformats.org/officeDocument/2006/math">
                    <m:r>
                      <a:rPr lang="en-US" i="1" dirty="0">
                        <a:latin typeface="Cambria Math"/>
                      </a:rPr>
                      <m:t>𝑞</m:t>
                    </m:r>
                  </m:oMath>
                </a14:m>
                <a:r>
                  <a:rPr lang="en-US" dirty="0"/>
                  <a:t> is just a function that maps an input table to an output table, so a </a:t>
                </a:r>
                <a:r>
                  <a:rPr lang="en-US" dirty="0">
                    <a:solidFill>
                      <a:schemeClr val="accent2"/>
                    </a:solidFill>
                  </a:rPr>
                  <a:t>fixed point </a:t>
                </a:r>
                <a:r>
                  <a:rPr lang="en-US" dirty="0"/>
                  <a:t>of </a:t>
                </a:r>
                <a14:m>
                  <m:oMath xmlns:m="http://schemas.openxmlformats.org/officeDocument/2006/math">
                    <m:r>
                      <a:rPr lang="en-US" i="1" dirty="0">
                        <a:latin typeface="Cambria Math"/>
                      </a:rPr>
                      <m:t>𝑞</m:t>
                    </m:r>
                  </m:oMath>
                </a14:m>
                <a:r>
                  <a:rPr lang="en-US" dirty="0"/>
                  <a:t> is a table </a:t>
                </a:r>
                <a14:m>
                  <m:oMath xmlns:m="http://schemas.openxmlformats.org/officeDocument/2006/math">
                    <m:r>
                      <a:rPr lang="en-US" i="1" dirty="0">
                        <a:latin typeface="Cambria Math"/>
                      </a:rPr>
                      <m:t>𝑇</m:t>
                    </m:r>
                  </m:oMath>
                </a14:m>
                <a:r>
                  <a:rPr lang="en-US" dirty="0"/>
                  <a:t> such that </a:t>
                </a:r>
                <a14:m>
                  <m:oMath xmlns:m="http://schemas.openxmlformats.org/officeDocument/2006/math">
                    <m:r>
                      <a:rPr lang="en-US" i="1" dirty="0">
                        <a:latin typeface="Cambria Math"/>
                      </a:rPr>
                      <m:t>𝑞</m:t>
                    </m:r>
                    <m:d>
                      <m:dPr>
                        <m:ctrlPr>
                          <a:rPr lang="en-US" i="1" dirty="0">
                            <a:latin typeface="Cambria Math" panose="02040503050406030204" pitchFamily="18" charset="0"/>
                          </a:rPr>
                        </m:ctrlPr>
                      </m:dPr>
                      <m:e>
                        <m:r>
                          <a:rPr lang="en-US" i="1" dirty="0">
                            <a:latin typeface="Cambria Math"/>
                          </a:rPr>
                          <m:t>𝑇</m:t>
                        </m:r>
                      </m:e>
                    </m:d>
                    <m:r>
                      <a:rPr lang="en-US" i="1" dirty="0">
                        <a:latin typeface="Cambria Math"/>
                      </a:rPr>
                      <m:t>=</m:t>
                    </m:r>
                    <m:r>
                      <a:rPr lang="en-US" i="1" dirty="0">
                        <a:latin typeface="Cambria Math"/>
                      </a:rPr>
                      <m:t>𝑇</m:t>
                    </m:r>
                  </m:oMath>
                </a14:m>
                <a:endParaRPr lang="en-CA" dirty="0"/>
              </a:p>
              <a:p>
                <a:endParaRPr lang="en-US" dirty="0"/>
              </a:p>
              <a:p>
                <a:r>
                  <a:rPr lang="en-US" dirty="0"/>
                  <a:t>To compute fixed point of </a:t>
                </a:r>
                <a14:m>
                  <m:oMath xmlns:m="http://schemas.openxmlformats.org/officeDocument/2006/math">
                    <m:r>
                      <a:rPr lang="en-US" i="1" dirty="0">
                        <a:latin typeface="Cambria Math"/>
                      </a:rPr>
                      <m:t>𝑞</m:t>
                    </m:r>
                  </m:oMath>
                </a14:m>
                <a:endParaRPr lang="en-US" i="1" dirty="0"/>
              </a:p>
              <a:p>
                <a:pPr lvl="1"/>
                <a:r>
                  <a:rPr lang="en-US" dirty="0"/>
                  <a:t>Start with an empty table: </a:t>
                </a:r>
                <a14:m>
                  <m:oMath xmlns:m="http://schemas.openxmlformats.org/officeDocument/2006/math">
                    <m:r>
                      <a:rPr lang="en-US" i="1" dirty="0">
                        <a:latin typeface="Cambria Math"/>
                      </a:rPr>
                      <m:t>𝑇</m:t>
                    </m:r>
                    <m:r>
                      <a:rPr lang="en-US" i="1" dirty="0">
                        <a:latin typeface="Cambria Math"/>
                      </a:rPr>
                      <m:t>←∅</m:t>
                    </m:r>
                  </m:oMath>
                </a14:m>
                <a:endParaRPr lang="en-US" dirty="0"/>
              </a:p>
              <a:p>
                <a:pPr lvl="1"/>
                <a:r>
                  <a:rPr lang="en-US" dirty="0"/>
                  <a:t>Evaluate </a:t>
                </a:r>
                <a14:m>
                  <m:oMath xmlns:m="http://schemas.openxmlformats.org/officeDocument/2006/math">
                    <m:r>
                      <a:rPr lang="en-US" i="1" dirty="0">
                        <a:latin typeface="Cambria Math"/>
                      </a:rPr>
                      <m:t>𝑞</m:t>
                    </m:r>
                  </m:oMath>
                </a14:m>
                <a:r>
                  <a:rPr lang="en-US" dirty="0"/>
                  <a:t> over </a:t>
                </a:r>
                <a14:m>
                  <m:oMath xmlns:m="http://schemas.openxmlformats.org/officeDocument/2006/math">
                    <m:r>
                      <a:rPr lang="en-US" i="1" dirty="0">
                        <a:latin typeface="Cambria Math"/>
                      </a:rPr>
                      <m:t>𝑇</m:t>
                    </m:r>
                  </m:oMath>
                </a14:m>
                <a:endParaRPr lang="en-US" i="1" dirty="0"/>
              </a:p>
              <a:p>
                <a:pPr lvl="2"/>
                <a:r>
                  <a:rPr lang="en-US" dirty="0"/>
                  <a:t>If the result is identical to </a:t>
                </a:r>
                <a14:m>
                  <m:oMath xmlns:m="http://schemas.openxmlformats.org/officeDocument/2006/math">
                    <m:r>
                      <a:rPr lang="en-US" i="1" dirty="0">
                        <a:latin typeface="Cambria Math"/>
                      </a:rPr>
                      <m:t>𝑇</m:t>
                    </m:r>
                  </m:oMath>
                </a14:m>
                <a:r>
                  <a:rPr lang="en-US" dirty="0"/>
                  <a:t>, stop; </a:t>
                </a:r>
                <a14:m>
                  <m:oMath xmlns:m="http://schemas.openxmlformats.org/officeDocument/2006/math">
                    <m:r>
                      <a:rPr lang="en-US" i="1" dirty="0">
                        <a:latin typeface="Cambria Math"/>
                      </a:rPr>
                      <m:t>𝑇</m:t>
                    </m:r>
                  </m:oMath>
                </a14:m>
                <a:r>
                  <a:rPr lang="en-US" dirty="0"/>
                  <a:t> is a fixed point</a:t>
                </a:r>
              </a:p>
              <a:p>
                <a:pPr lvl="2"/>
                <a:r>
                  <a:rPr lang="en-US" dirty="0"/>
                  <a:t>Otherwise, let </a:t>
                </a:r>
                <a14:m>
                  <m:oMath xmlns:m="http://schemas.openxmlformats.org/officeDocument/2006/math">
                    <m:r>
                      <a:rPr lang="en-US" i="1" dirty="0">
                        <a:latin typeface="Cambria Math"/>
                      </a:rPr>
                      <m:t>𝑇</m:t>
                    </m:r>
                  </m:oMath>
                </a14:m>
                <a:r>
                  <a:rPr lang="en-US" dirty="0"/>
                  <a:t> be the new result; repeat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6"/>
                <a:stretch>
                  <a:fillRect l="-1342" t="-1968" r="-1641"/>
                </a:stretch>
              </a:blipFill>
            </p:spPr>
            <p:txBody>
              <a:bodyPr/>
              <a:lstStyle/>
              <a:p>
                <a:r>
                  <a:rPr lang="en-CA">
                    <a:noFill/>
                  </a:rPr>
                  <a:t> </a:t>
                </a:r>
              </a:p>
            </p:txBody>
          </p:sp>
        </mc:Fallback>
      </mc:AlternateContent>
      <p:sp>
        <p:nvSpPr>
          <p:cNvPr id="4" name="Slide Number Placeholder 3"/>
          <p:cNvSpPr>
            <a:spLocks noGrp="1"/>
          </p:cNvSpPr>
          <p:nvPr>
            <p:ph type="sldNum" sz="quarter" idx="12"/>
          </p:nvPr>
        </p:nvSpPr>
        <p:spPr/>
        <p:txBody>
          <a:bodyPr/>
          <a:lstStyle/>
          <a:p>
            <a:fld id="{44C99FA5-7995-46A9-A97E-16E38AD58950}" type="slidenum">
              <a:rPr lang="en-US" smtClean="0"/>
              <a:t>8</a:t>
            </a:fld>
            <a:endParaRPr lang="en-US"/>
          </a:p>
        </p:txBody>
      </p:sp>
    </p:spTree>
    <p:custDataLst>
      <p:tags r:id="rId1"/>
    </p:custDataLst>
    <p:extLst>
      <p:ext uri="{BB962C8B-B14F-4D97-AF65-F5344CB8AC3E}">
        <p14:creationId xmlns:p14="http://schemas.microsoft.com/office/powerpoint/2010/main" val="2094202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Non-linear </a:t>
            </a:r>
            <a:r>
              <a:rPr lang="en-US" dirty="0" err="1"/>
              <a:t>v.s</a:t>
            </a:r>
            <a:r>
              <a:rPr lang="en-US" dirty="0"/>
              <a:t>. linear recursion</a:t>
            </a:r>
          </a:p>
        </p:txBody>
      </p:sp>
      <p:sp>
        <p:nvSpPr>
          <p:cNvPr id="3" name="Content Placeholder 2"/>
          <p:cNvSpPr>
            <a:spLocks noGrp="1"/>
          </p:cNvSpPr>
          <p:nvPr>
            <p:ph idx="1"/>
          </p:nvPr>
        </p:nvSpPr>
        <p:spPr/>
        <p:txBody>
          <a:bodyPr>
            <a:normAutofit/>
          </a:bodyPr>
          <a:lstStyle/>
          <a:p>
            <a:r>
              <a:rPr lang="en-US" dirty="0"/>
              <a:t>Non-linear</a:t>
            </a:r>
          </a:p>
          <a:p>
            <a:endParaRPr lang="en-US" dirty="0"/>
          </a:p>
          <a:p>
            <a:pPr marL="0" indent="0">
              <a:buNone/>
            </a:pPr>
            <a:endParaRPr lang="en-US" dirty="0"/>
          </a:p>
          <a:p>
            <a:pPr marL="0" indent="0">
              <a:buNone/>
            </a:pPr>
            <a:endParaRPr lang="en-US" dirty="0"/>
          </a:p>
          <a:p>
            <a:r>
              <a:rPr lang="en-US" dirty="0"/>
              <a:t>Linear: a recursive definition can make only one reference to itself</a:t>
            </a:r>
          </a:p>
          <a:p>
            <a:endParaRPr lang="en-US" dirty="0">
              <a:latin typeface="Prestige12 BT" panose="02070509030506020304" pitchFamily="49" charset="0"/>
            </a:endParaRPr>
          </a:p>
        </p:txBody>
      </p:sp>
      <p:sp>
        <p:nvSpPr>
          <p:cNvPr id="4" name="Slide Number Placeholder 3"/>
          <p:cNvSpPr>
            <a:spLocks noGrp="1"/>
          </p:cNvSpPr>
          <p:nvPr>
            <p:ph type="sldNum" sz="quarter" idx="12"/>
          </p:nvPr>
        </p:nvSpPr>
        <p:spPr/>
        <p:txBody>
          <a:bodyPr/>
          <a:lstStyle/>
          <a:p>
            <a:fld id="{44C99FA5-7995-46A9-A97E-16E38AD58950}" type="slidenum">
              <a:rPr lang="en-US" smtClean="0"/>
              <a:t>9</a:t>
            </a:fld>
            <a:endParaRPr lang="en-US"/>
          </a:p>
        </p:txBody>
      </p:sp>
      <p:sp>
        <p:nvSpPr>
          <p:cNvPr id="5" name="Rectangle 4">
            <a:extLst>
              <a:ext uri="{FF2B5EF4-FFF2-40B4-BE49-F238E27FC236}">
                <a16:creationId xmlns:a16="http://schemas.microsoft.com/office/drawing/2014/main" id="{6DF878EB-3996-4E86-A170-354AE9DFDEAF}"/>
              </a:ext>
            </a:extLst>
          </p:cNvPr>
          <p:cNvSpPr/>
          <p:nvPr/>
        </p:nvSpPr>
        <p:spPr>
          <a:xfrm>
            <a:off x="2471911" y="1447451"/>
            <a:ext cx="5242842" cy="1972146"/>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buFont typeface="Wingdings" pitchFamily="2" charset="2"/>
              <a:buNone/>
            </a:pPr>
            <a:r>
              <a:rPr lang="en-US" sz="2000" dirty="0">
                <a:solidFill>
                  <a:schemeClr val="accent2"/>
                </a:solidFill>
                <a:latin typeface="Prestige12 BT" panose="02070509030506020304" pitchFamily="49" charset="0"/>
              </a:rPr>
              <a:t>WITH RECURSIVE Ancestor</a:t>
            </a:r>
            <a:r>
              <a:rPr lang="en-US" sz="2000" dirty="0">
                <a:latin typeface="Prestige12 BT" panose="02070509030506020304" pitchFamily="49" charset="0"/>
              </a:rPr>
              <a:t>(</a:t>
            </a:r>
            <a:r>
              <a:rPr lang="en-US" sz="2000" dirty="0" err="1">
                <a:latin typeface="Prestige12 BT" panose="02070509030506020304" pitchFamily="49" charset="0"/>
              </a:rPr>
              <a:t>anc</a:t>
            </a:r>
            <a:r>
              <a:rPr lang="en-US" sz="2000" dirty="0">
                <a:latin typeface="Prestige12 BT" panose="02070509030506020304" pitchFamily="49" charset="0"/>
              </a:rPr>
              <a:t>, desc) </a:t>
            </a:r>
            <a:r>
              <a:rPr lang="en-US" sz="2000" dirty="0">
                <a:solidFill>
                  <a:schemeClr val="accent2"/>
                </a:solidFill>
                <a:latin typeface="Prestige12 BT" panose="02070509030506020304" pitchFamily="49" charset="0"/>
              </a:rPr>
              <a:t>AS</a:t>
            </a:r>
            <a:br>
              <a:rPr lang="en-US" sz="2000" dirty="0">
                <a:solidFill>
                  <a:schemeClr val="tx2"/>
                </a:solidFill>
                <a:latin typeface="Prestige12 BT" panose="02070509030506020304" pitchFamily="49" charset="0"/>
              </a:rPr>
            </a:br>
            <a:r>
              <a:rPr lang="en-US" sz="2000" dirty="0">
                <a:latin typeface="Prestige12 BT" panose="02070509030506020304" pitchFamily="49" charset="0"/>
              </a:rPr>
              <a:t>((SELECT parent, child FROM Parent)</a:t>
            </a:r>
            <a:br>
              <a:rPr lang="en-US" sz="2000" dirty="0">
                <a:latin typeface="Prestige12 BT" panose="02070509030506020304" pitchFamily="49" charset="0"/>
              </a:rPr>
            </a:br>
            <a:r>
              <a:rPr lang="en-US" sz="2000" dirty="0">
                <a:latin typeface="Prestige12 BT" panose="02070509030506020304" pitchFamily="49" charset="0"/>
              </a:rPr>
              <a:t> UNION</a:t>
            </a:r>
            <a:br>
              <a:rPr lang="en-US" sz="2000" dirty="0">
                <a:latin typeface="Prestige12 BT" panose="02070509030506020304" pitchFamily="49" charset="0"/>
              </a:rPr>
            </a:br>
            <a:r>
              <a:rPr lang="en-US" sz="2000" dirty="0">
                <a:latin typeface="Prestige12 BT" panose="02070509030506020304" pitchFamily="49" charset="0"/>
              </a:rPr>
              <a:t> (SELECT a1.anc, a2.desc</a:t>
            </a:r>
            <a:br>
              <a:rPr lang="en-US" sz="2000" dirty="0">
                <a:latin typeface="Prestige12 BT" panose="02070509030506020304" pitchFamily="49" charset="0"/>
              </a:rPr>
            </a:br>
            <a:r>
              <a:rPr lang="en-US" sz="2000" dirty="0">
                <a:latin typeface="Prestige12 BT" panose="02070509030506020304" pitchFamily="49" charset="0"/>
              </a:rPr>
              <a:t>  FROM </a:t>
            </a:r>
            <a:r>
              <a:rPr lang="en-US" sz="2000" dirty="0">
                <a:solidFill>
                  <a:schemeClr val="accent2"/>
                </a:solidFill>
                <a:latin typeface="Prestige12 BT" panose="02070509030506020304" pitchFamily="49" charset="0"/>
              </a:rPr>
              <a:t>Ancestor</a:t>
            </a:r>
            <a:r>
              <a:rPr lang="en-US" sz="2000" dirty="0">
                <a:latin typeface="Prestige12 BT" panose="02070509030506020304" pitchFamily="49" charset="0"/>
              </a:rPr>
              <a:t> a1, </a:t>
            </a:r>
            <a:r>
              <a:rPr lang="en-US" sz="2000" dirty="0">
                <a:solidFill>
                  <a:schemeClr val="accent2"/>
                </a:solidFill>
                <a:latin typeface="Prestige12 BT" panose="02070509030506020304" pitchFamily="49" charset="0"/>
              </a:rPr>
              <a:t>Ancestor</a:t>
            </a:r>
            <a:r>
              <a:rPr lang="en-US" sz="2000" dirty="0">
                <a:latin typeface="Prestige12 BT" panose="02070509030506020304" pitchFamily="49" charset="0"/>
              </a:rPr>
              <a:t> a2</a:t>
            </a:r>
            <a:br>
              <a:rPr lang="en-US" sz="2000" dirty="0">
                <a:latin typeface="Prestige12 BT" panose="02070509030506020304" pitchFamily="49" charset="0"/>
              </a:rPr>
            </a:br>
            <a:r>
              <a:rPr lang="en-US" sz="2000" dirty="0">
                <a:latin typeface="Prestige12 BT" panose="02070509030506020304" pitchFamily="49" charset="0"/>
              </a:rPr>
              <a:t>  WHERE a1.desc = a2.anc))  …..;</a:t>
            </a:r>
          </a:p>
        </p:txBody>
      </p:sp>
      <p:sp>
        <p:nvSpPr>
          <p:cNvPr id="6" name="Rectangle 5">
            <a:extLst>
              <a:ext uri="{FF2B5EF4-FFF2-40B4-BE49-F238E27FC236}">
                <a16:creationId xmlns:a16="http://schemas.microsoft.com/office/drawing/2014/main" id="{D8B89FDA-B8C7-4700-8C77-E167008F2AC9}"/>
              </a:ext>
            </a:extLst>
          </p:cNvPr>
          <p:cNvSpPr/>
          <p:nvPr/>
        </p:nvSpPr>
        <p:spPr>
          <a:xfrm>
            <a:off x="2477874" y="4393608"/>
            <a:ext cx="5242842" cy="217269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sz="2000" dirty="0">
                <a:solidFill>
                  <a:schemeClr val="accent2"/>
                </a:solidFill>
                <a:latin typeface="Prestige12 BT" panose="02070509030506020304" pitchFamily="49" charset="0"/>
              </a:rPr>
              <a:t>WITH RECURSIVE Ancestor2</a:t>
            </a:r>
            <a:r>
              <a:rPr lang="en-US" sz="2000" dirty="0">
                <a:latin typeface="Prestige12 BT" panose="02070509030506020304" pitchFamily="49" charset="0"/>
              </a:rPr>
              <a:t>(</a:t>
            </a:r>
            <a:r>
              <a:rPr lang="en-US" sz="2000" dirty="0" err="1">
                <a:latin typeface="Prestige12 BT" panose="02070509030506020304" pitchFamily="49" charset="0"/>
              </a:rPr>
              <a:t>anc</a:t>
            </a:r>
            <a:r>
              <a:rPr lang="en-US" sz="2000" dirty="0">
                <a:latin typeface="Prestige12 BT" panose="02070509030506020304" pitchFamily="49" charset="0"/>
              </a:rPr>
              <a:t>, desc) </a:t>
            </a:r>
            <a:r>
              <a:rPr lang="en-US" sz="2000" dirty="0">
                <a:solidFill>
                  <a:schemeClr val="accent2"/>
                </a:solidFill>
                <a:latin typeface="Prestige12 BT" panose="02070509030506020304" pitchFamily="49" charset="0"/>
              </a:rPr>
              <a:t>AS</a:t>
            </a:r>
            <a:br>
              <a:rPr lang="en-US" sz="2000" dirty="0">
                <a:solidFill>
                  <a:schemeClr val="tx2"/>
                </a:solidFill>
                <a:latin typeface="Prestige12 BT" panose="02070509030506020304" pitchFamily="49" charset="0"/>
              </a:rPr>
            </a:br>
            <a:r>
              <a:rPr lang="en-US" sz="2000" dirty="0">
                <a:latin typeface="Prestige12 BT" panose="02070509030506020304" pitchFamily="49" charset="0"/>
              </a:rPr>
              <a:t>((SELECT parent, child FROM Parent)</a:t>
            </a:r>
            <a:br>
              <a:rPr lang="en-US" sz="2000" dirty="0">
                <a:latin typeface="Prestige12 BT" panose="02070509030506020304" pitchFamily="49" charset="0"/>
              </a:rPr>
            </a:br>
            <a:r>
              <a:rPr lang="en-US" sz="2000" dirty="0">
                <a:latin typeface="Prestige12 BT" panose="02070509030506020304" pitchFamily="49" charset="0"/>
              </a:rPr>
              <a:t> UNION</a:t>
            </a:r>
            <a:br>
              <a:rPr lang="en-US" sz="2000" dirty="0">
                <a:latin typeface="Prestige12 BT" panose="02070509030506020304" pitchFamily="49" charset="0"/>
              </a:rPr>
            </a:br>
            <a:r>
              <a:rPr lang="en-US" sz="2000" dirty="0">
                <a:latin typeface="Prestige12 BT" panose="02070509030506020304" pitchFamily="49" charset="0"/>
              </a:rPr>
              <a:t> (SELECT </a:t>
            </a:r>
            <a:r>
              <a:rPr lang="en-US" sz="2000" dirty="0" err="1">
                <a:latin typeface="Prestige12 BT" panose="02070509030506020304" pitchFamily="49" charset="0"/>
              </a:rPr>
              <a:t>anc</a:t>
            </a:r>
            <a:r>
              <a:rPr lang="en-US" sz="2000" dirty="0">
                <a:latin typeface="Prestige12 BT" panose="02070509030506020304" pitchFamily="49" charset="0"/>
              </a:rPr>
              <a:t>, child</a:t>
            </a:r>
            <a:br>
              <a:rPr lang="en-US" sz="2000" dirty="0">
                <a:latin typeface="Prestige12 BT" panose="02070509030506020304" pitchFamily="49" charset="0"/>
              </a:rPr>
            </a:br>
            <a:r>
              <a:rPr lang="en-US" sz="2000" dirty="0">
                <a:latin typeface="Prestige12 BT" panose="02070509030506020304" pitchFamily="49" charset="0"/>
              </a:rPr>
              <a:t>  FROM </a:t>
            </a:r>
            <a:r>
              <a:rPr lang="en-US" sz="2000" dirty="0">
                <a:solidFill>
                  <a:schemeClr val="accent2"/>
                </a:solidFill>
                <a:latin typeface="Prestige12 BT" panose="02070509030506020304" pitchFamily="49" charset="0"/>
              </a:rPr>
              <a:t>Ancestor</a:t>
            </a:r>
            <a:r>
              <a:rPr lang="en-US" sz="2000" dirty="0">
                <a:latin typeface="Prestige12 BT" panose="02070509030506020304" pitchFamily="49" charset="0"/>
              </a:rPr>
              <a:t>, Parent</a:t>
            </a:r>
            <a:br>
              <a:rPr lang="en-US" sz="2000" dirty="0">
                <a:latin typeface="Prestige12 BT" panose="02070509030506020304" pitchFamily="49" charset="0"/>
              </a:rPr>
            </a:br>
            <a:r>
              <a:rPr lang="en-US" sz="2000" dirty="0">
                <a:latin typeface="Prestige12 BT" panose="02070509030506020304" pitchFamily="49" charset="0"/>
              </a:rPr>
              <a:t>  WHERE desc = parent))</a:t>
            </a:r>
          </a:p>
        </p:txBody>
      </p:sp>
    </p:spTree>
    <p:custDataLst>
      <p:tags r:id="rId1"/>
    </p:custDataLst>
    <p:extLst>
      <p:ext uri="{BB962C8B-B14F-4D97-AF65-F5344CB8AC3E}">
        <p14:creationId xmlns:p14="http://schemas.microsoft.com/office/powerpoint/2010/main" val="329209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Linear vs. non-linear recursion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en-US" dirty="0"/>
                  <a:t>Linear recursion is easier to implement</a:t>
                </a:r>
              </a:p>
              <a:p>
                <a:pPr lvl="1"/>
                <a:r>
                  <a:rPr lang="en-US" dirty="0"/>
                  <a:t>For linear recursion, just keep joining newly generated </a:t>
                </a:r>
                <a:r>
                  <a:rPr lang="en-US" i="1" dirty="0"/>
                  <a:t>Ancestor</a:t>
                </a:r>
                <a:r>
                  <a:rPr lang="en-US" dirty="0"/>
                  <a:t> rows with </a:t>
                </a:r>
                <a:r>
                  <a:rPr lang="en-US" i="1" dirty="0">
                    <a:solidFill>
                      <a:schemeClr val="accent2"/>
                    </a:solidFill>
                  </a:rPr>
                  <a:t>Parent</a:t>
                </a:r>
              </a:p>
              <a:p>
                <a:pPr lvl="1"/>
                <a:r>
                  <a:rPr lang="en-US" dirty="0"/>
                  <a:t>For non-linear recursion, need to join newly generated </a:t>
                </a:r>
                <a:r>
                  <a:rPr lang="en-US" i="1" dirty="0"/>
                  <a:t>Ancestor</a:t>
                </a:r>
                <a:r>
                  <a:rPr lang="en-US" dirty="0"/>
                  <a:t> rows with </a:t>
                </a:r>
                <a:r>
                  <a:rPr lang="en-US" dirty="0">
                    <a:solidFill>
                      <a:schemeClr val="accent2"/>
                    </a:solidFill>
                  </a:rPr>
                  <a:t>all existing </a:t>
                </a:r>
                <a:r>
                  <a:rPr lang="en-US" i="1" dirty="0">
                    <a:solidFill>
                      <a:schemeClr val="accent2"/>
                    </a:solidFill>
                  </a:rPr>
                  <a:t>Ancestor</a:t>
                </a:r>
                <a:r>
                  <a:rPr lang="en-US" dirty="0">
                    <a:solidFill>
                      <a:schemeClr val="accent2"/>
                    </a:solidFill>
                  </a:rPr>
                  <a:t> rows</a:t>
                </a:r>
                <a:br>
                  <a:rPr lang="en-US" dirty="0">
                    <a:solidFill>
                      <a:schemeClr val="accent2"/>
                    </a:solidFill>
                  </a:rPr>
                </a:br>
                <a:endParaRPr lang="en-US" dirty="0"/>
              </a:p>
              <a:p>
                <a:r>
                  <a:rPr lang="en-US" dirty="0"/>
                  <a:t>Non-linear recursion may take fewer steps to converge, but perform more work</a:t>
                </a:r>
              </a:p>
              <a:p>
                <a:pPr lvl="1"/>
                <a:r>
                  <a:rPr lang="en-US" dirty="0"/>
                  <a:t>Example: Given </a:t>
                </a:r>
                <a14:m>
                  <m:oMath xmlns:m="http://schemas.openxmlformats.org/officeDocument/2006/math">
                    <m:r>
                      <a:rPr lang="en-US" i="1">
                        <a:latin typeface="Cambria Math"/>
                      </a:rPr>
                      <m:t>𝑎</m:t>
                    </m:r>
                    <m:r>
                      <a:rPr lang="en-US" i="1">
                        <a:latin typeface="Cambria Math"/>
                      </a:rPr>
                      <m:t>→</m:t>
                    </m:r>
                    <m:r>
                      <a:rPr lang="en-US" i="1">
                        <a:latin typeface="Cambria Math"/>
                      </a:rPr>
                      <m:t>𝑏</m:t>
                    </m:r>
                    <m:r>
                      <a:rPr lang="en-US" i="1">
                        <a:latin typeface="Cambria Math"/>
                      </a:rPr>
                      <m:t>→</m:t>
                    </m:r>
                    <m:r>
                      <a:rPr lang="en-US" i="1">
                        <a:latin typeface="Cambria Math"/>
                      </a:rPr>
                      <m:t>𝑐</m:t>
                    </m:r>
                    <m:r>
                      <a:rPr lang="en-US" i="1">
                        <a:latin typeface="Cambria Math"/>
                      </a:rPr>
                      <m:t>→</m:t>
                    </m:r>
                    <m:r>
                      <a:rPr lang="en-US" i="1">
                        <a:latin typeface="Cambria Math"/>
                      </a:rPr>
                      <m:t>𝑑</m:t>
                    </m:r>
                    <m:r>
                      <a:rPr lang="en-US" i="1">
                        <a:latin typeface="Cambria Math"/>
                      </a:rPr>
                      <m:t>→</m:t>
                    </m:r>
                    <m:r>
                      <a:rPr lang="en-US" i="1">
                        <a:latin typeface="Cambria Math"/>
                      </a:rPr>
                      <m:t>𝑒</m:t>
                    </m:r>
                  </m:oMath>
                </a14:m>
                <a:r>
                  <a:rPr lang="en-US" i="1" dirty="0"/>
                  <a:t> , i.e., </a:t>
                </a:r>
                <a:r>
                  <a:rPr lang="en-US" dirty="0"/>
                  <a:t>a is parent of b, b is parent of c, …., d is parent of e.</a:t>
                </a:r>
                <a:endParaRPr lang="en-US" i="1" dirty="0"/>
              </a:p>
              <a:p>
                <a:pPr lvl="2"/>
                <a:r>
                  <a:rPr lang="en-US" dirty="0"/>
                  <a:t>The </a:t>
                </a:r>
                <a:r>
                  <a:rPr lang="en-US" dirty="0">
                    <a:solidFill>
                      <a:schemeClr val="accent2"/>
                    </a:solidFill>
                  </a:rPr>
                  <a:t>linear recursion </a:t>
                </a:r>
                <a:r>
                  <a:rPr lang="en-US" dirty="0"/>
                  <a:t>takes 4 steps to find (</a:t>
                </a:r>
                <a14:m>
                  <m:oMath xmlns:m="http://schemas.openxmlformats.org/officeDocument/2006/math">
                    <m:r>
                      <a:rPr lang="en-US" i="1" dirty="0" smtClean="0">
                        <a:latin typeface="Cambria Math" panose="02040503050406030204" pitchFamily="18" charset="0"/>
                      </a:rPr>
                      <m:t>𝑎</m:t>
                    </m:r>
                    <m:r>
                      <a:rPr lang="en-US" i="1" dirty="0" smtClean="0">
                        <a:latin typeface="Cambria Math" panose="02040503050406030204" pitchFamily="18" charset="0"/>
                      </a:rPr>
                      <m:t>,</m:t>
                    </m:r>
                    <m:r>
                      <a:rPr lang="en-US" i="1" dirty="0" smtClean="0">
                        <a:latin typeface="Cambria Math" panose="02040503050406030204" pitchFamily="18" charset="0"/>
                      </a:rPr>
                      <m:t>𝑒</m:t>
                    </m:r>
                  </m:oMath>
                </a14:m>
                <a:r>
                  <a:rPr lang="en-US" dirty="0"/>
                  <a:t>) is an ancestor-descendant pair (slide 9, Ancestor2)</a:t>
                </a:r>
              </a:p>
              <a:p>
                <a:pPr lvl="2"/>
                <a:r>
                  <a:rPr lang="en-US" dirty="0"/>
                  <a:t>Question: How about </a:t>
                </a:r>
                <a:r>
                  <a:rPr lang="en-US" dirty="0">
                    <a:solidFill>
                      <a:schemeClr val="accent2"/>
                    </a:solidFill>
                  </a:rPr>
                  <a:t>non-linear recursion</a:t>
                </a:r>
                <a:r>
                  <a:rPr lang="en-US" dirty="0"/>
                  <a:t>? (slide 9, Ancestor)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6"/>
                <a:stretch>
                  <a:fillRect l="-1342" t="-1968" r="-1715"/>
                </a:stretch>
              </a:blipFill>
            </p:spPr>
            <p:txBody>
              <a:bodyPr/>
              <a:lstStyle/>
              <a:p>
                <a:r>
                  <a:rPr lang="en-CA">
                    <a:noFill/>
                  </a:rPr>
                  <a:t> </a:t>
                </a:r>
              </a:p>
            </p:txBody>
          </p:sp>
        </mc:Fallback>
      </mc:AlternateContent>
      <p:sp>
        <p:nvSpPr>
          <p:cNvPr id="4" name="Slide Number Placeholder 3"/>
          <p:cNvSpPr>
            <a:spLocks noGrp="1"/>
          </p:cNvSpPr>
          <p:nvPr>
            <p:ph type="sldNum" sz="quarter" idx="12"/>
          </p:nvPr>
        </p:nvSpPr>
        <p:spPr/>
        <p:txBody>
          <a:bodyPr/>
          <a:lstStyle/>
          <a:p>
            <a:fld id="{44C99FA5-7995-46A9-A97E-16E38AD58950}" type="slidenum">
              <a:rPr lang="en-US" smtClean="0"/>
              <a:t>10</a:t>
            </a:fld>
            <a:endParaRPr lang="en-US"/>
          </a:p>
        </p:txBody>
      </p:sp>
    </p:spTree>
    <p:custDataLst>
      <p:tags r:id="rId1"/>
    </p:custDataLst>
    <p:extLst>
      <p:ext uri="{BB962C8B-B14F-4D97-AF65-F5344CB8AC3E}">
        <p14:creationId xmlns:p14="http://schemas.microsoft.com/office/powerpoint/2010/main" val="1045170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Mutual recursion example</a:t>
            </a:r>
          </a:p>
        </p:txBody>
      </p:sp>
      <p:sp>
        <p:nvSpPr>
          <p:cNvPr id="3" name="Content Placeholder 2"/>
          <p:cNvSpPr>
            <a:spLocks noGrp="1"/>
          </p:cNvSpPr>
          <p:nvPr>
            <p:ph idx="1"/>
          </p:nvPr>
        </p:nvSpPr>
        <p:spPr/>
        <p:txBody>
          <a:bodyPr>
            <a:normAutofit/>
          </a:bodyPr>
          <a:lstStyle/>
          <a:p>
            <a:r>
              <a:rPr lang="en-US" dirty="0"/>
              <a:t>Table </a:t>
            </a:r>
            <a:r>
              <a:rPr lang="en-US" i="1" dirty="0"/>
              <a:t>Natural</a:t>
            </a:r>
            <a:r>
              <a:rPr lang="en-US" dirty="0"/>
              <a:t> (</a:t>
            </a:r>
            <a:r>
              <a:rPr lang="en-US" i="1" dirty="0"/>
              <a:t>n</a:t>
            </a:r>
            <a:r>
              <a:rPr lang="en-US" dirty="0"/>
              <a:t>) contains 1, 2, …, 100</a:t>
            </a:r>
          </a:p>
          <a:p>
            <a:r>
              <a:rPr lang="en-US" dirty="0"/>
              <a:t>Which numbers are even/odd?</a:t>
            </a:r>
          </a:p>
          <a:p>
            <a:pPr lvl="1"/>
            <a:r>
              <a:rPr lang="en-US" dirty="0"/>
              <a:t>An even number plus 1 is an odd number</a:t>
            </a:r>
          </a:p>
          <a:p>
            <a:pPr lvl="1"/>
            <a:r>
              <a:rPr lang="en-US" dirty="0"/>
              <a:t>An odd number plus 1 is an even number</a:t>
            </a:r>
          </a:p>
          <a:p>
            <a:pPr lvl="1"/>
            <a:r>
              <a:rPr lang="en-US" dirty="0"/>
              <a:t>1 is an odd number</a:t>
            </a:r>
          </a:p>
          <a:p>
            <a:pPr>
              <a:buNone/>
            </a:pPr>
            <a:r>
              <a:rPr lang="en-US" sz="2200" dirty="0">
                <a:latin typeface="Prestige12 BT" panose="02070509030506020304" pitchFamily="49" charset="0"/>
              </a:rPr>
              <a:t>	</a:t>
            </a:r>
          </a:p>
        </p:txBody>
      </p:sp>
      <p:sp>
        <p:nvSpPr>
          <p:cNvPr id="4" name="Slide Number Placeholder 3"/>
          <p:cNvSpPr>
            <a:spLocks noGrp="1"/>
          </p:cNvSpPr>
          <p:nvPr>
            <p:ph type="sldNum" sz="quarter" idx="12"/>
          </p:nvPr>
        </p:nvSpPr>
        <p:spPr/>
        <p:txBody>
          <a:bodyPr/>
          <a:lstStyle/>
          <a:p>
            <a:fld id="{44C99FA5-7995-46A9-A97E-16E38AD58950}" type="slidenum">
              <a:rPr lang="en-US" smtClean="0"/>
              <a:t>11</a:t>
            </a:fld>
            <a:endParaRPr lang="en-US"/>
          </a:p>
        </p:txBody>
      </p:sp>
      <p:sp>
        <p:nvSpPr>
          <p:cNvPr id="5" name="Rectangle 4">
            <a:extLst>
              <a:ext uri="{FF2B5EF4-FFF2-40B4-BE49-F238E27FC236}">
                <a16:creationId xmlns:a16="http://schemas.microsoft.com/office/drawing/2014/main" id="{732DF25C-E17B-4D75-8514-C4C8494F9A9E}"/>
              </a:ext>
            </a:extLst>
          </p:cNvPr>
          <p:cNvSpPr/>
          <p:nvPr/>
        </p:nvSpPr>
        <p:spPr>
          <a:xfrm>
            <a:off x="1712006" y="3741849"/>
            <a:ext cx="5433674" cy="261450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buNone/>
            </a:pPr>
            <a:r>
              <a:rPr lang="en-US" sz="2000" dirty="0">
                <a:latin typeface="Prestige12 BT" panose="02070509030506020304" pitchFamily="49" charset="0"/>
              </a:rPr>
              <a:t>WITH RECURSIVE </a:t>
            </a:r>
            <a:r>
              <a:rPr lang="en-US" sz="2000" dirty="0">
                <a:solidFill>
                  <a:schemeClr val="accent2"/>
                </a:solidFill>
                <a:latin typeface="Prestige12 BT" panose="02070509030506020304" pitchFamily="49" charset="0"/>
              </a:rPr>
              <a:t>Even</a:t>
            </a:r>
            <a:r>
              <a:rPr lang="en-US" sz="2000" dirty="0">
                <a:latin typeface="Prestige12 BT" panose="02070509030506020304" pitchFamily="49" charset="0"/>
              </a:rPr>
              <a:t>(n) AS</a:t>
            </a:r>
            <a:br>
              <a:rPr lang="en-US" sz="2000" dirty="0">
                <a:latin typeface="Prestige12 BT" panose="02070509030506020304" pitchFamily="49" charset="0"/>
              </a:rPr>
            </a:br>
            <a:r>
              <a:rPr lang="en-US" sz="2000" dirty="0">
                <a:latin typeface="Prestige12 BT" panose="02070509030506020304" pitchFamily="49" charset="0"/>
              </a:rPr>
              <a:t>     (SELECT n FROM Natural</a:t>
            </a:r>
            <a:br>
              <a:rPr lang="en-US" sz="2000" dirty="0">
                <a:latin typeface="Prestige12 BT" panose="02070509030506020304" pitchFamily="49" charset="0"/>
              </a:rPr>
            </a:br>
            <a:r>
              <a:rPr lang="en-US" sz="2000" dirty="0">
                <a:latin typeface="Prestige12 BT" panose="02070509030506020304" pitchFamily="49" charset="0"/>
              </a:rPr>
              <a:t>      WHERE n = ANY(SELECT n+1 FROM </a:t>
            </a:r>
            <a:r>
              <a:rPr lang="en-US" sz="2000" dirty="0">
                <a:solidFill>
                  <a:schemeClr val="accent2"/>
                </a:solidFill>
                <a:latin typeface="Prestige12 BT" panose="02070509030506020304" pitchFamily="49" charset="0"/>
              </a:rPr>
              <a:t>Odd</a:t>
            </a:r>
            <a:r>
              <a:rPr lang="en-US" sz="2000" dirty="0">
                <a:latin typeface="Prestige12 BT" panose="02070509030506020304" pitchFamily="49" charset="0"/>
              </a:rPr>
              <a:t>)),</a:t>
            </a:r>
          </a:p>
          <a:p>
            <a:pPr>
              <a:buNone/>
            </a:pPr>
            <a:r>
              <a:rPr lang="en-US" sz="2000" dirty="0">
                <a:latin typeface="Prestige12 BT" panose="02070509030506020304" pitchFamily="49" charset="0"/>
              </a:rPr>
              <a:t>RECURSIVE </a:t>
            </a:r>
            <a:r>
              <a:rPr lang="en-US" sz="2000" dirty="0">
                <a:solidFill>
                  <a:schemeClr val="accent2"/>
                </a:solidFill>
                <a:latin typeface="Prestige12 BT" panose="02070509030506020304" pitchFamily="49" charset="0"/>
              </a:rPr>
              <a:t>Odd</a:t>
            </a:r>
            <a:r>
              <a:rPr lang="en-US" sz="2000" dirty="0">
                <a:latin typeface="Prestige12 BT" panose="02070509030506020304" pitchFamily="49" charset="0"/>
              </a:rPr>
              <a:t>(n) AS</a:t>
            </a:r>
            <a:br>
              <a:rPr lang="en-US" sz="2000" dirty="0">
                <a:latin typeface="Prestige12 BT" panose="02070509030506020304" pitchFamily="49" charset="0"/>
              </a:rPr>
            </a:br>
            <a:r>
              <a:rPr lang="en-US" sz="2000" dirty="0">
                <a:latin typeface="Prestige12 BT" panose="02070509030506020304" pitchFamily="49" charset="0"/>
              </a:rPr>
              <a:t>     ((SELECT n FROM Natural WHERE n = 1)</a:t>
            </a:r>
            <a:br>
              <a:rPr lang="en-US" sz="2000" dirty="0">
                <a:latin typeface="Prestige12 BT" panose="02070509030506020304" pitchFamily="49" charset="0"/>
              </a:rPr>
            </a:br>
            <a:r>
              <a:rPr lang="en-US" sz="2000" dirty="0">
                <a:latin typeface="Prestige12 BT" panose="02070509030506020304" pitchFamily="49" charset="0"/>
              </a:rPr>
              <a:t>      UNION</a:t>
            </a:r>
            <a:br>
              <a:rPr lang="en-US" sz="2000" dirty="0">
                <a:latin typeface="Prestige12 BT" panose="02070509030506020304" pitchFamily="49" charset="0"/>
              </a:rPr>
            </a:br>
            <a:r>
              <a:rPr lang="en-US" sz="2000" dirty="0">
                <a:latin typeface="Prestige12 BT" panose="02070509030506020304" pitchFamily="49" charset="0"/>
              </a:rPr>
              <a:t>      (SELECT n FROM Natural</a:t>
            </a:r>
            <a:br>
              <a:rPr lang="en-US" sz="2000" dirty="0">
                <a:latin typeface="Prestige12 BT" panose="02070509030506020304" pitchFamily="49" charset="0"/>
              </a:rPr>
            </a:br>
            <a:r>
              <a:rPr lang="en-US" sz="2000" dirty="0">
                <a:latin typeface="Prestige12 BT" panose="02070509030506020304" pitchFamily="49" charset="0"/>
              </a:rPr>
              <a:t>       WHERE n = ANY(SELECT n+1 FROM </a:t>
            </a:r>
            <a:r>
              <a:rPr lang="en-US" sz="2000" dirty="0">
                <a:solidFill>
                  <a:schemeClr val="accent2"/>
                </a:solidFill>
                <a:latin typeface="Prestige12 BT" panose="02070509030506020304" pitchFamily="49" charset="0"/>
              </a:rPr>
              <a:t>Even</a:t>
            </a:r>
            <a:endParaRPr lang="en-US" sz="2000" dirty="0">
              <a:latin typeface="Prestige12 BT" panose="02070509030506020304" pitchFamily="49" charset="0"/>
            </a:endParaRPr>
          </a:p>
        </p:txBody>
      </p:sp>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221D8C6-2C78-4755-B789-9279840EC8C3}"/>
                  </a:ext>
                </a:extLst>
              </p14:cNvPr>
              <p14:cNvContentPartPr/>
              <p14:nvPr/>
            </p14:nvContentPartPr>
            <p14:xfrm>
              <a:off x="6525229" y="2614823"/>
              <a:ext cx="862920" cy="2065680"/>
            </p14:xfrm>
          </p:contentPart>
        </mc:Choice>
        <mc:Fallback xmlns="">
          <p:pic>
            <p:nvPicPr>
              <p:cNvPr id="6" name="Ink 5">
                <a:extLst>
                  <a:ext uri="{FF2B5EF4-FFF2-40B4-BE49-F238E27FC236}">
                    <a16:creationId xmlns:a16="http://schemas.microsoft.com/office/drawing/2014/main" id="{1221D8C6-2C78-4755-B789-9279840EC8C3}"/>
                  </a:ext>
                </a:extLst>
              </p:cNvPr>
              <p:cNvPicPr/>
              <p:nvPr/>
            </p:nvPicPr>
            <p:blipFill>
              <a:blip r:embed="rId7"/>
              <a:stretch>
                <a:fillRect/>
              </a:stretch>
            </p:blipFill>
            <p:spPr>
              <a:xfrm>
                <a:off x="6516229" y="2606183"/>
                <a:ext cx="880560" cy="2083320"/>
              </a:xfrm>
              <a:prstGeom prst="rect">
                <a:avLst/>
              </a:prstGeom>
            </p:spPr>
          </p:pic>
        </mc:Fallback>
      </mc:AlternateContent>
      <p:grpSp>
        <p:nvGrpSpPr>
          <p:cNvPr id="11" name="Group 10">
            <a:extLst>
              <a:ext uri="{FF2B5EF4-FFF2-40B4-BE49-F238E27FC236}">
                <a16:creationId xmlns:a16="http://schemas.microsoft.com/office/drawing/2014/main" id="{C3E5FC1F-5905-44D0-9392-EDB518014844}"/>
              </a:ext>
            </a:extLst>
          </p:cNvPr>
          <p:cNvGrpSpPr/>
          <p:nvPr/>
        </p:nvGrpSpPr>
        <p:grpSpPr>
          <a:xfrm>
            <a:off x="871981" y="3423610"/>
            <a:ext cx="1439280" cy="1975680"/>
            <a:chOff x="833629" y="3421583"/>
            <a:chExt cx="1439280" cy="1975680"/>
          </a:xfrm>
        </p:grpSpPr>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5C3F6D7B-63E5-4009-B640-47EA796C677B}"/>
                    </a:ext>
                  </a:extLst>
                </p14:cNvPr>
                <p14:cNvContentPartPr/>
                <p14:nvPr/>
              </p14:nvContentPartPr>
              <p14:xfrm>
                <a:off x="833629" y="3421583"/>
                <a:ext cx="1375560" cy="1835280"/>
              </p14:xfrm>
            </p:contentPart>
          </mc:Choice>
          <mc:Fallback xmlns="">
            <p:pic>
              <p:nvPicPr>
                <p:cNvPr id="7" name="Ink 6">
                  <a:extLst>
                    <a:ext uri="{FF2B5EF4-FFF2-40B4-BE49-F238E27FC236}">
                      <a16:creationId xmlns:a16="http://schemas.microsoft.com/office/drawing/2014/main" id="{5C3F6D7B-63E5-4009-B640-47EA796C677B}"/>
                    </a:ext>
                  </a:extLst>
                </p:cNvPr>
                <p:cNvPicPr/>
                <p:nvPr/>
              </p:nvPicPr>
              <p:blipFill>
                <a:blip r:embed="rId9"/>
                <a:stretch>
                  <a:fillRect/>
                </a:stretch>
              </p:blipFill>
              <p:spPr>
                <a:xfrm>
                  <a:off x="824629" y="3412583"/>
                  <a:ext cx="1393200" cy="18529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250963A2-0F46-4FF5-8FB5-F36A9A583559}"/>
                    </a:ext>
                  </a:extLst>
                </p14:cNvPr>
                <p14:cNvContentPartPr/>
                <p14:nvPr/>
              </p14:nvContentPartPr>
              <p14:xfrm>
                <a:off x="1911829" y="5072543"/>
                <a:ext cx="361080" cy="324720"/>
              </p14:xfrm>
            </p:contentPart>
          </mc:Choice>
          <mc:Fallback xmlns="">
            <p:pic>
              <p:nvPicPr>
                <p:cNvPr id="8" name="Ink 7">
                  <a:extLst>
                    <a:ext uri="{FF2B5EF4-FFF2-40B4-BE49-F238E27FC236}">
                      <a16:creationId xmlns:a16="http://schemas.microsoft.com/office/drawing/2014/main" id="{250963A2-0F46-4FF5-8FB5-F36A9A583559}"/>
                    </a:ext>
                  </a:extLst>
                </p:cNvPr>
                <p:cNvPicPr/>
                <p:nvPr/>
              </p:nvPicPr>
              <p:blipFill>
                <a:blip r:embed="rId11"/>
                <a:stretch>
                  <a:fillRect/>
                </a:stretch>
              </p:blipFill>
              <p:spPr>
                <a:xfrm>
                  <a:off x="1903189" y="5063903"/>
                  <a:ext cx="378720" cy="342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
            <p14:nvContentPartPr>
              <p14:cNvPr id="19" name="Ink 18">
                <a:extLst>
                  <a:ext uri="{FF2B5EF4-FFF2-40B4-BE49-F238E27FC236}">
                    <a16:creationId xmlns:a16="http://schemas.microsoft.com/office/drawing/2014/main" id="{FA1192DD-3DCC-4529-A712-DCAC6C40D9EF}"/>
                  </a:ext>
                </a:extLst>
              </p14:cNvPr>
              <p14:cNvContentPartPr/>
              <p14:nvPr/>
            </p14:nvContentPartPr>
            <p14:xfrm>
              <a:off x="441949" y="3265343"/>
              <a:ext cx="1792440" cy="2948400"/>
            </p14:xfrm>
          </p:contentPart>
        </mc:Choice>
        <mc:Fallback xmlns="">
          <p:pic>
            <p:nvPicPr>
              <p:cNvPr id="19" name="Ink 18">
                <a:extLst>
                  <a:ext uri="{FF2B5EF4-FFF2-40B4-BE49-F238E27FC236}">
                    <a16:creationId xmlns:a16="http://schemas.microsoft.com/office/drawing/2014/main" id="{FA1192DD-3DCC-4529-A712-DCAC6C40D9EF}"/>
                  </a:ext>
                </a:extLst>
              </p:cNvPr>
              <p:cNvPicPr/>
              <p:nvPr/>
            </p:nvPicPr>
            <p:blipFill>
              <a:blip r:embed="rId13"/>
              <a:stretch>
                <a:fillRect/>
              </a:stretch>
            </p:blipFill>
            <p:spPr>
              <a:xfrm>
                <a:off x="423949" y="3247703"/>
                <a:ext cx="1828080" cy="2984040"/>
              </a:xfrm>
              <a:prstGeom prst="rect">
                <a:avLst/>
              </a:prstGeom>
            </p:spPr>
          </p:pic>
        </mc:Fallback>
      </mc:AlternateContent>
    </p:spTree>
    <p:custDataLst>
      <p:tags r:id="rId1"/>
    </p:custDataLst>
    <p:extLst>
      <p:ext uri="{BB962C8B-B14F-4D97-AF65-F5344CB8AC3E}">
        <p14:creationId xmlns:p14="http://schemas.microsoft.com/office/powerpoint/2010/main" val="2388673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63"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 calcmode="lin" valueType="num">
                                      <p:cBhvr>
                                        <p:cTn id="27" dur="250" fill="hold"/>
                                        <p:tgtEl>
                                          <p:spTgt spid="6"/>
                                        </p:tgtEl>
                                        <p:attrNameLst>
                                          <p:attrName>drawProgress</p:attrName>
                                        </p:attrNameLst>
                                      </p:cBhvr>
                                      <p:tavLst>
                                        <p:tav tm="0">
                                          <p:val>
                                            <p:fltVal val="0"/>
                                          </p:val>
                                        </p:tav>
                                        <p:tav tm="100000">
                                          <p:val>
                                            <p:fltVal val="1"/>
                                          </p:val>
                                        </p:tav>
                                      </p:tavLst>
                                    </p:anim>
                                  </p:childTnLst>
                                </p:cTn>
                              </p:par>
                            </p:childTnLst>
                          </p:cTn>
                        </p:par>
                      </p:childTnLst>
                    </p:cTn>
                  </p:par>
                  <p:par>
                    <p:cTn id="28" fill="hold">
                      <p:stCondLst>
                        <p:cond delay="indefinite"/>
                      </p:stCondLst>
                      <p:childTnLst>
                        <p:par>
                          <p:cTn id="29" fill="hold">
                            <p:stCondLst>
                              <p:cond delay="0"/>
                            </p:stCondLst>
                            <p:childTnLst>
                              <p:par>
                                <p:cTn id="30" presetID="63"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 calcmode="lin" valueType="num">
                                      <p:cBhvr>
                                        <p:cTn id="32" dur="2000" fill="hold"/>
                                        <p:tgtEl>
                                          <p:spTgt spid="11"/>
                                        </p:tgtEl>
                                        <p:attrNameLst>
                                          <p:attrName>drawProgress</p:attrName>
                                        </p:attrNameLst>
                                      </p:cBhvr>
                                      <p:tavLst>
                                        <p:tav tm="0">
                                          <p:val>
                                            <p:fltVal val="0"/>
                                          </p:val>
                                        </p:tav>
                                        <p:tav tm="100000">
                                          <p:val>
                                            <p:fltVal val="1"/>
                                          </p:val>
                                        </p:tav>
                                      </p:tavLst>
                                    </p:anim>
                                  </p:childTnLst>
                                </p:cTn>
                              </p:par>
                            </p:childTnLst>
                          </p:cTn>
                        </p:par>
                      </p:childTnLst>
                    </p:cTn>
                  </p:par>
                  <p:par>
                    <p:cTn id="33" fill="hold">
                      <p:stCondLst>
                        <p:cond delay="indefinite"/>
                      </p:stCondLst>
                      <p:childTnLst>
                        <p:par>
                          <p:cTn id="34" fill="hold">
                            <p:stCondLst>
                              <p:cond delay="0"/>
                            </p:stCondLst>
                            <p:childTnLst>
                              <p:par>
                                <p:cTn id="35" presetID="63" presetClass="entr" presetSubtype="0" fill="hold" nodeType="clickEffect">
                                  <p:stCondLst>
                                    <p:cond delay="0"/>
                                  </p:stCondLst>
                                  <p:childTnLst>
                                    <p:set>
                                      <p:cBhvr>
                                        <p:cTn id="36" dur="1" fill="hold">
                                          <p:stCondLst>
                                            <p:cond delay="0"/>
                                          </p:stCondLst>
                                        </p:cTn>
                                        <p:tgtEl>
                                          <p:spTgt spid="19"/>
                                        </p:tgtEl>
                                        <p:attrNameLst>
                                          <p:attrName>style.visibility</p:attrName>
                                        </p:attrNameLst>
                                      </p:cBhvr>
                                      <p:to>
                                        <p:strVal val="visible"/>
                                      </p:to>
                                    </p:set>
                                    <p:anim calcmode="lin" valueType="num">
                                      <p:cBhvr>
                                        <p:cTn id="37" dur="250" fill="hold"/>
                                        <p:tgtEl>
                                          <p:spTgt spid="19"/>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Computing mutual recursion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20000"/>
              </a:bodyPr>
              <a:lstStyle/>
              <a:p>
                <a:endParaRPr lang="en-US" i="1" dirty="0"/>
              </a:p>
              <a:p>
                <a:endParaRPr lang="en-US" i="1" dirty="0"/>
              </a:p>
              <a:p>
                <a:endParaRPr lang="en-US" i="1" dirty="0"/>
              </a:p>
              <a:p>
                <a:endParaRPr lang="en-US" i="1" dirty="0"/>
              </a:p>
              <a:p>
                <a:endParaRPr lang="en-US" i="1" dirty="0"/>
              </a:p>
              <a:p>
                <a:endParaRPr lang="en-US" i="1" dirty="0"/>
              </a:p>
              <a:p>
                <a:r>
                  <a:rPr lang="en-US" i="1" dirty="0"/>
                  <a:t>Even</a:t>
                </a:r>
                <a:r>
                  <a:rPr lang="en-US" dirty="0"/>
                  <a:t> = </a:t>
                </a:r>
                <a14:m>
                  <m:oMath xmlns:m="http://schemas.openxmlformats.org/officeDocument/2006/math">
                    <m:r>
                      <a:rPr lang="en-US" i="1" dirty="0">
                        <a:latin typeface="Cambria Math"/>
                      </a:rPr>
                      <m:t>∅</m:t>
                    </m:r>
                  </m:oMath>
                </a14:m>
                <a:r>
                  <a:rPr lang="en-US" dirty="0"/>
                  <a:t>, </a:t>
                </a:r>
                <a:r>
                  <a:rPr lang="en-US" i="1" dirty="0"/>
                  <a:t>Odd</a:t>
                </a:r>
                <a:r>
                  <a:rPr lang="en-US" dirty="0"/>
                  <a:t> = </a:t>
                </a:r>
                <a14:m>
                  <m:oMath xmlns:m="http://schemas.openxmlformats.org/officeDocument/2006/math">
                    <m:r>
                      <a:rPr lang="en-US" i="1" dirty="0">
                        <a:latin typeface="Cambria Math"/>
                      </a:rPr>
                      <m:t>∅</m:t>
                    </m:r>
                  </m:oMath>
                </a14:m>
                <a:endParaRPr lang="en-US" dirty="0"/>
              </a:p>
              <a:p>
                <a:r>
                  <a:rPr lang="en-US" i="1" dirty="0"/>
                  <a:t>Even</a:t>
                </a:r>
                <a:r>
                  <a:rPr lang="en-US" dirty="0"/>
                  <a:t> = </a:t>
                </a:r>
                <a14:m>
                  <m:oMath xmlns:m="http://schemas.openxmlformats.org/officeDocument/2006/math">
                    <m:r>
                      <a:rPr lang="en-US" i="1" dirty="0">
                        <a:latin typeface="Cambria Math"/>
                      </a:rPr>
                      <m:t>∅</m:t>
                    </m:r>
                  </m:oMath>
                </a14:m>
                <a:r>
                  <a:rPr lang="en-US" dirty="0"/>
                  <a:t>, </a:t>
                </a:r>
                <a:r>
                  <a:rPr lang="en-US" i="1" dirty="0"/>
                  <a:t>Odd</a:t>
                </a:r>
                <a:r>
                  <a:rPr lang="en-US" dirty="0"/>
                  <a:t> = {1}</a:t>
                </a:r>
              </a:p>
              <a:p>
                <a:r>
                  <a:rPr lang="en-US" i="1" dirty="0"/>
                  <a:t>Even</a:t>
                </a:r>
                <a:r>
                  <a:rPr lang="en-US" dirty="0"/>
                  <a:t> = {2}, </a:t>
                </a:r>
                <a:r>
                  <a:rPr lang="en-US" i="1" dirty="0"/>
                  <a:t>Odd</a:t>
                </a:r>
                <a:r>
                  <a:rPr lang="en-US" dirty="0"/>
                  <a:t> = {1}</a:t>
                </a:r>
              </a:p>
              <a:p>
                <a:r>
                  <a:rPr lang="en-US" i="1" dirty="0"/>
                  <a:t>Even</a:t>
                </a:r>
                <a:r>
                  <a:rPr lang="en-US" dirty="0"/>
                  <a:t> = {2}, </a:t>
                </a:r>
                <a:r>
                  <a:rPr lang="en-US" i="1" dirty="0"/>
                  <a:t>Odd</a:t>
                </a:r>
                <a:r>
                  <a:rPr lang="en-US" dirty="0"/>
                  <a:t> = {1, 3}</a:t>
                </a:r>
              </a:p>
              <a:p>
                <a:r>
                  <a:rPr lang="en-US" i="1" dirty="0"/>
                  <a:t>Even</a:t>
                </a:r>
                <a:r>
                  <a:rPr lang="en-US" dirty="0"/>
                  <a:t> = {2, 4}, </a:t>
                </a:r>
                <a:r>
                  <a:rPr lang="en-US" i="1" dirty="0"/>
                  <a:t>Odd</a:t>
                </a:r>
                <a:r>
                  <a:rPr lang="en-US" dirty="0"/>
                  <a:t> = {1, 3}</a:t>
                </a:r>
              </a:p>
              <a:p>
                <a:r>
                  <a:rPr lang="en-US" i="1" dirty="0"/>
                  <a:t>Even</a:t>
                </a:r>
                <a:r>
                  <a:rPr lang="en-US" dirty="0"/>
                  <a:t> = {2, 4}, </a:t>
                </a:r>
                <a:r>
                  <a:rPr lang="en-US" i="1" dirty="0"/>
                  <a:t>Odd</a:t>
                </a:r>
                <a:r>
                  <a:rPr lang="en-US" dirty="0"/>
                  <a:t> = {1, 3, 5}</a:t>
                </a:r>
              </a:p>
              <a:p>
                <a:r>
                  <a:rPr lang="en-US"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6"/>
                <a:stretch>
                  <a:fillRect l="-1119" b="-2431"/>
                </a:stretch>
              </a:blipFill>
            </p:spPr>
            <p:txBody>
              <a:bodyPr/>
              <a:lstStyle/>
              <a:p>
                <a:r>
                  <a:rPr lang="en-CA">
                    <a:noFill/>
                  </a:rPr>
                  <a:t> </a:t>
                </a:r>
              </a:p>
            </p:txBody>
          </p:sp>
        </mc:Fallback>
      </mc:AlternateContent>
      <p:sp>
        <p:nvSpPr>
          <p:cNvPr id="4" name="Slide Number Placeholder 3"/>
          <p:cNvSpPr>
            <a:spLocks noGrp="1"/>
          </p:cNvSpPr>
          <p:nvPr>
            <p:ph type="sldNum" sz="quarter" idx="12"/>
          </p:nvPr>
        </p:nvSpPr>
        <p:spPr/>
        <p:txBody>
          <a:bodyPr/>
          <a:lstStyle/>
          <a:p>
            <a:fld id="{44C99FA5-7995-46A9-A97E-16E38AD58950}" type="slidenum">
              <a:rPr lang="en-US" smtClean="0"/>
              <a:t>12</a:t>
            </a:fld>
            <a:endParaRPr lang="en-US"/>
          </a:p>
        </p:txBody>
      </p:sp>
      <p:sp>
        <p:nvSpPr>
          <p:cNvPr id="5" name="Rectangle 4">
            <a:extLst>
              <a:ext uri="{FF2B5EF4-FFF2-40B4-BE49-F238E27FC236}">
                <a16:creationId xmlns:a16="http://schemas.microsoft.com/office/drawing/2014/main" id="{93DDDB18-A0D8-4276-A9F8-F3CC0BBF1A73}"/>
              </a:ext>
            </a:extLst>
          </p:cNvPr>
          <p:cNvSpPr/>
          <p:nvPr/>
        </p:nvSpPr>
        <p:spPr>
          <a:xfrm>
            <a:off x="3635086" y="1720978"/>
            <a:ext cx="4934438" cy="261450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buNone/>
            </a:pPr>
            <a:r>
              <a:rPr lang="en-US" sz="2000" dirty="0">
                <a:latin typeface="Prestige12 BT" panose="02070509030506020304" pitchFamily="49" charset="0"/>
              </a:rPr>
              <a:t>WITH RECURSIVE </a:t>
            </a:r>
            <a:r>
              <a:rPr lang="en-US" sz="2000" dirty="0">
                <a:solidFill>
                  <a:schemeClr val="accent2"/>
                </a:solidFill>
                <a:latin typeface="Prestige12 BT" panose="02070509030506020304" pitchFamily="49" charset="0"/>
              </a:rPr>
              <a:t>Even</a:t>
            </a:r>
            <a:r>
              <a:rPr lang="en-US" sz="2000" dirty="0">
                <a:latin typeface="Prestige12 BT" panose="02070509030506020304" pitchFamily="49" charset="0"/>
              </a:rPr>
              <a:t>(n) AS</a:t>
            </a:r>
            <a:br>
              <a:rPr lang="en-US" sz="2000" dirty="0">
                <a:latin typeface="Prestige12 BT" panose="02070509030506020304" pitchFamily="49" charset="0"/>
              </a:rPr>
            </a:br>
            <a:r>
              <a:rPr lang="en-US" sz="2000" dirty="0">
                <a:latin typeface="Prestige12 BT" panose="02070509030506020304" pitchFamily="49" charset="0"/>
              </a:rPr>
              <a:t>     (SELECT n FROM Natural</a:t>
            </a:r>
            <a:br>
              <a:rPr lang="en-US" sz="2000" dirty="0">
                <a:latin typeface="Prestige12 BT" panose="02070509030506020304" pitchFamily="49" charset="0"/>
              </a:rPr>
            </a:br>
            <a:r>
              <a:rPr lang="en-US" sz="2000" dirty="0">
                <a:latin typeface="Prestige12 BT" panose="02070509030506020304" pitchFamily="49" charset="0"/>
              </a:rPr>
              <a:t>      WHERE n = ANY(SELECT n+1 FROM </a:t>
            </a:r>
            <a:r>
              <a:rPr lang="en-US" sz="2000" dirty="0">
                <a:solidFill>
                  <a:schemeClr val="accent2"/>
                </a:solidFill>
                <a:latin typeface="Prestige12 BT" panose="02070509030506020304" pitchFamily="49" charset="0"/>
              </a:rPr>
              <a:t>Odd</a:t>
            </a:r>
            <a:r>
              <a:rPr lang="en-US" sz="2000" dirty="0">
                <a:latin typeface="Prestige12 BT" panose="02070509030506020304" pitchFamily="49" charset="0"/>
              </a:rPr>
              <a:t>)),</a:t>
            </a:r>
          </a:p>
          <a:p>
            <a:pPr>
              <a:buNone/>
            </a:pPr>
            <a:r>
              <a:rPr lang="en-US" sz="2000" dirty="0">
                <a:latin typeface="Prestige12 BT" panose="02070509030506020304" pitchFamily="49" charset="0"/>
              </a:rPr>
              <a:t>RECURSIVE </a:t>
            </a:r>
            <a:r>
              <a:rPr lang="en-US" sz="2000" dirty="0">
                <a:solidFill>
                  <a:schemeClr val="accent2"/>
                </a:solidFill>
                <a:latin typeface="Prestige12 BT" panose="02070509030506020304" pitchFamily="49" charset="0"/>
              </a:rPr>
              <a:t>Odd</a:t>
            </a:r>
            <a:r>
              <a:rPr lang="en-US" sz="2000" dirty="0">
                <a:latin typeface="Prestige12 BT" panose="02070509030506020304" pitchFamily="49" charset="0"/>
              </a:rPr>
              <a:t>(n) AS</a:t>
            </a:r>
            <a:br>
              <a:rPr lang="en-US" sz="2000" dirty="0">
                <a:latin typeface="Prestige12 BT" panose="02070509030506020304" pitchFamily="49" charset="0"/>
              </a:rPr>
            </a:br>
            <a:r>
              <a:rPr lang="en-US" sz="2000" dirty="0">
                <a:latin typeface="Prestige12 BT" panose="02070509030506020304" pitchFamily="49" charset="0"/>
              </a:rPr>
              <a:t>     ((SELECT n FROM Natural WHERE n = 1)</a:t>
            </a:r>
            <a:br>
              <a:rPr lang="en-US" sz="2000" dirty="0">
                <a:latin typeface="Prestige12 BT" panose="02070509030506020304" pitchFamily="49" charset="0"/>
              </a:rPr>
            </a:br>
            <a:r>
              <a:rPr lang="en-US" sz="2000" dirty="0">
                <a:latin typeface="Prestige12 BT" panose="02070509030506020304" pitchFamily="49" charset="0"/>
              </a:rPr>
              <a:t>      UNION</a:t>
            </a:r>
            <a:br>
              <a:rPr lang="en-US" sz="2000" dirty="0">
                <a:latin typeface="Prestige12 BT" panose="02070509030506020304" pitchFamily="49" charset="0"/>
              </a:rPr>
            </a:br>
            <a:r>
              <a:rPr lang="en-US" sz="2000" dirty="0">
                <a:latin typeface="Prestige12 BT" panose="02070509030506020304" pitchFamily="49" charset="0"/>
              </a:rPr>
              <a:t>      (SELECT n FROM Natural</a:t>
            </a:r>
            <a:br>
              <a:rPr lang="en-US" sz="2000" dirty="0">
                <a:latin typeface="Prestige12 BT" panose="02070509030506020304" pitchFamily="49" charset="0"/>
              </a:rPr>
            </a:br>
            <a:r>
              <a:rPr lang="en-US" sz="2000" dirty="0">
                <a:latin typeface="Prestige12 BT" panose="02070509030506020304" pitchFamily="49" charset="0"/>
              </a:rPr>
              <a:t>       WHERE n = ANY(SELECT n+1 FROM </a:t>
            </a:r>
            <a:r>
              <a:rPr lang="en-US" sz="2000" dirty="0">
                <a:solidFill>
                  <a:schemeClr val="accent2"/>
                </a:solidFill>
                <a:latin typeface="Prestige12 BT" panose="02070509030506020304" pitchFamily="49" charset="0"/>
              </a:rPr>
              <a:t>Even</a:t>
            </a:r>
            <a:endParaRPr lang="en-US" sz="2000" dirty="0">
              <a:latin typeface="Prestige12 BT" panose="02070509030506020304" pitchFamily="49" charset="0"/>
            </a:endParaRPr>
          </a:p>
        </p:txBody>
      </p:sp>
    </p:spTree>
    <p:custDataLst>
      <p:tags r:id="rId1"/>
    </p:custDataLst>
    <p:extLst>
      <p:ext uri="{BB962C8B-B14F-4D97-AF65-F5344CB8AC3E}">
        <p14:creationId xmlns:p14="http://schemas.microsoft.com/office/powerpoint/2010/main" val="2912670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Semantics of </a:t>
            </a:r>
            <a:r>
              <a:rPr lang="en-US" dirty="0">
                <a:latin typeface="Prestige12 BT" panose="02070509030506020304" pitchFamily="49" charset="0"/>
              </a:rPr>
              <a:t>WITH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42336" y="1456854"/>
                <a:ext cx="8613242" cy="5264622"/>
              </a:xfrm>
            </p:spPr>
            <p:txBody>
              <a:bodyPr>
                <a:normAutofit lnSpcReduction="10000"/>
              </a:bodyPr>
              <a:lstStyle/>
              <a:p>
                <a:r>
                  <a:rPr lang="en-US" dirty="0">
                    <a:solidFill>
                      <a:schemeClr val="accent2"/>
                    </a:solidFill>
                    <a:latin typeface="Prestige12 BT" panose="02070509030506020304" pitchFamily="49" charset="0"/>
                  </a:rPr>
                  <a:t>WITH RECURSIVE </a:t>
                </a:r>
                <a14:m>
                  <m:oMath xmlns:m="http://schemas.openxmlformats.org/officeDocument/2006/math">
                    <m:sSub>
                      <m:sSubPr>
                        <m:ctrlPr>
                          <a:rPr lang="en-US" i="1" dirty="0">
                            <a:solidFill>
                              <a:schemeClr val="accent2"/>
                            </a:solidFill>
                            <a:latin typeface="Cambria Math" panose="02040503050406030204" pitchFamily="18" charset="0"/>
                          </a:rPr>
                        </m:ctrlPr>
                      </m:sSubPr>
                      <m:e>
                        <m:r>
                          <a:rPr lang="en-US" i="1" dirty="0">
                            <a:solidFill>
                              <a:schemeClr val="accent2"/>
                            </a:solidFill>
                            <a:latin typeface="Cambria Math"/>
                          </a:rPr>
                          <m:t>𝑅</m:t>
                        </m:r>
                      </m:e>
                      <m:sub>
                        <m:r>
                          <a:rPr lang="en-US" i="1" dirty="0">
                            <a:solidFill>
                              <a:schemeClr val="accent2"/>
                            </a:solidFill>
                            <a:latin typeface="Cambria Math"/>
                          </a:rPr>
                          <m:t>1</m:t>
                        </m:r>
                      </m:sub>
                    </m:sSub>
                  </m:oMath>
                </a14:m>
                <a:r>
                  <a:rPr lang="en-US" dirty="0">
                    <a:solidFill>
                      <a:schemeClr val="accent2"/>
                    </a:solidFill>
                    <a:latin typeface="Prestige12 BT" panose="02070509030506020304" pitchFamily="49" charset="0"/>
                  </a:rPr>
                  <a:t> AS </a:t>
                </a:r>
                <a14:m>
                  <m:oMath xmlns:m="http://schemas.openxmlformats.org/officeDocument/2006/math">
                    <m:sSub>
                      <m:sSubPr>
                        <m:ctrlPr>
                          <a:rPr lang="en-US" i="1" dirty="0">
                            <a:solidFill>
                              <a:schemeClr val="accent2"/>
                            </a:solidFill>
                            <a:latin typeface="Cambria Math" panose="02040503050406030204" pitchFamily="18" charset="0"/>
                          </a:rPr>
                        </m:ctrlPr>
                      </m:sSubPr>
                      <m:e>
                        <m:r>
                          <a:rPr lang="en-US" i="1" dirty="0">
                            <a:solidFill>
                              <a:schemeClr val="accent2"/>
                            </a:solidFill>
                            <a:latin typeface="Cambria Math"/>
                          </a:rPr>
                          <m:t>𝑄</m:t>
                        </m:r>
                      </m:e>
                      <m:sub>
                        <m:r>
                          <a:rPr lang="en-US" i="1" dirty="0">
                            <a:solidFill>
                              <a:schemeClr val="accent2"/>
                            </a:solidFill>
                            <a:latin typeface="Cambria Math"/>
                          </a:rPr>
                          <m:t>1</m:t>
                        </m:r>
                      </m:sub>
                    </m:sSub>
                  </m:oMath>
                </a14:m>
                <a:r>
                  <a:rPr lang="en-US" dirty="0">
                    <a:solidFill>
                      <a:schemeClr val="accent2"/>
                    </a:solidFill>
                    <a:latin typeface="Prestige12 BT" panose="02070509030506020304" pitchFamily="49" charset="0"/>
                  </a:rPr>
                  <a:t>, </a:t>
                </a:r>
                <a:br>
                  <a:rPr lang="en-US" dirty="0">
                    <a:solidFill>
                      <a:schemeClr val="accent2"/>
                    </a:solidFill>
                    <a:latin typeface="Prestige12 BT" panose="02070509030506020304" pitchFamily="49" charset="0"/>
                  </a:rPr>
                </a:br>
                <a:r>
                  <a:rPr lang="en-US" dirty="0">
                    <a:solidFill>
                      <a:schemeClr val="accent2"/>
                    </a:solidFill>
                    <a:latin typeface="Prestige12 BT" panose="02070509030506020304" pitchFamily="49" charset="0"/>
                  </a:rPr>
                  <a:t>	…,</a:t>
                </a:r>
                <a:br>
                  <a:rPr lang="en-US" dirty="0">
                    <a:solidFill>
                      <a:schemeClr val="accent2"/>
                    </a:solidFill>
                    <a:latin typeface="Prestige12 BT" panose="02070509030506020304" pitchFamily="49" charset="0"/>
                  </a:rPr>
                </a:br>
                <a:r>
                  <a:rPr lang="en-US" dirty="0">
                    <a:solidFill>
                      <a:schemeClr val="accent2"/>
                    </a:solidFill>
                    <a:latin typeface="Prestige12 BT" panose="02070509030506020304" pitchFamily="49" charset="0"/>
                  </a:rPr>
                  <a:t>     RECURSIVE </a:t>
                </a:r>
                <a14:m>
                  <m:oMath xmlns:m="http://schemas.openxmlformats.org/officeDocument/2006/math">
                    <m:sSub>
                      <m:sSubPr>
                        <m:ctrlPr>
                          <a:rPr lang="en-US" i="1" dirty="0">
                            <a:solidFill>
                              <a:schemeClr val="accent2"/>
                            </a:solidFill>
                            <a:latin typeface="Cambria Math" panose="02040503050406030204" pitchFamily="18" charset="0"/>
                          </a:rPr>
                        </m:ctrlPr>
                      </m:sSubPr>
                      <m:e>
                        <m:r>
                          <a:rPr lang="en-US" i="1" dirty="0">
                            <a:solidFill>
                              <a:schemeClr val="accent2"/>
                            </a:solidFill>
                            <a:latin typeface="Cambria Math"/>
                          </a:rPr>
                          <m:t>𝑅</m:t>
                        </m:r>
                      </m:e>
                      <m:sub>
                        <m:r>
                          <a:rPr lang="en-US" i="1" dirty="0">
                            <a:solidFill>
                              <a:schemeClr val="accent2"/>
                            </a:solidFill>
                            <a:latin typeface="Cambria Math"/>
                          </a:rPr>
                          <m:t>𝑛</m:t>
                        </m:r>
                      </m:sub>
                    </m:sSub>
                  </m:oMath>
                </a14:m>
                <a:r>
                  <a:rPr lang="en-US" dirty="0">
                    <a:solidFill>
                      <a:schemeClr val="accent2"/>
                    </a:solidFill>
                    <a:latin typeface="Prestige12 BT" panose="02070509030506020304" pitchFamily="49" charset="0"/>
                  </a:rPr>
                  <a:t> AS </a:t>
                </a:r>
                <a14:m>
                  <m:oMath xmlns:m="http://schemas.openxmlformats.org/officeDocument/2006/math">
                    <m:sSub>
                      <m:sSubPr>
                        <m:ctrlPr>
                          <a:rPr lang="en-US" i="1" dirty="0">
                            <a:solidFill>
                              <a:schemeClr val="accent2"/>
                            </a:solidFill>
                            <a:latin typeface="Cambria Math" panose="02040503050406030204" pitchFamily="18" charset="0"/>
                          </a:rPr>
                        </m:ctrlPr>
                      </m:sSubPr>
                      <m:e>
                        <m:r>
                          <a:rPr lang="en-US" i="1" dirty="0">
                            <a:solidFill>
                              <a:schemeClr val="accent2"/>
                            </a:solidFill>
                            <a:latin typeface="Cambria Math"/>
                          </a:rPr>
                          <m:t>𝑄</m:t>
                        </m:r>
                      </m:e>
                      <m:sub>
                        <m:r>
                          <a:rPr lang="en-US" i="1" dirty="0">
                            <a:solidFill>
                              <a:schemeClr val="accent2"/>
                            </a:solidFill>
                            <a:latin typeface="Cambria Math"/>
                          </a:rPr>
                          <m:t>𝑛</m:t>
                        </m:r>
                      </m:sub>
                    </m:sSub>
                  </m:oMath>
                </a14:m>
                <a:br>
                  <a:rPr lang="en-US" dirty="0">
                    <a:solidFill>
                      <a:schemeClr val="accent2"/>
                    </a:solidFill>
                    <a:latin typeface="Prestige12 BT" panose="02070509030506020304" pitchFamily="49" charset="0"/>
                  </a:rPr>
                </a:br>
                <a14:m>
                  <m:oMath xmlns:m="http://schemas.openxmlformats.org/officeDocument/2006/math">
                    <m:r>
                      <a:rPr lang="en-US" i="1" dirty="0">
                        <a:solidFill>
                          <a:schemeClr val="accent2"/>
                        </a:solidFill>
                        <a:latin typeface="Cambria Math"/>
                      </a:rPr>
                      <m:t>𝑄</m:t>
                    </m:r>
                  </m:oMath>
                </a14:m>
                <a:r>
                  <a:rPr lang="en-US" dirty="0">
                    <a:solidFill>
                      <a:schemeClr val="accent2"/>
                    </a:solidFill>
                    <a:latin typeface="Prestige12 BT" panose="02070509030506020304" pitchFamily="49" charset="0"/>
                  </a:rPr>
                  <a:t>;</a:t>
                </a:r>
              </a:p>
              <a:p>
                <a:pPr lvl="1"/>
                <a14:m>
                  <m:oMath xmlns:m="http://schemas.openxmlformats.org/officeDocument/2006/math">
                    <m:r>
                      <a:rPr lang="en-US" i="1" dirty="0" smtClean="0">
                        <a:latin typeface="Cambria Math" panose="02040503050406030204" pitchFamily="18" charset="0"/>
                      </a:rPr>
                      <m:t>𝑄</m:t>
                    </m:r>
                  </m:oMath>
                </a14:m>
                <a:r>
                  <a:rPr lang="en-US" dirty="0"/>
                  <a:t> and </a:t>
                </a:r>
                <a14:m>
                  <m:oMath xmlns:m="http://schemas.openxmlformats.org/officeDocument/2006/math">
                    <m:sSub>
                      <m:sSubPr>
                        <m:ctrlPr>
                          <a:rPr lang="en-US" i="1">
                            <a:latin typeface="Cambria Math" panose="02040503050406030204" pitchFamily="18" charset="0"/>
                          </a:rPr>
                        </m:ctrlPr>
                      </m:sSubPr>
                      <m:e>
                        <m:r>
                          <a:rPr lang="en-US" i="1">
                            <a:latin typeface="Cambria Math"/>
                          </a:rPr>
                          <m:t>𝑄</m:t>
                        </m:r>
                      </m:e>
                      <m:sub>
                        <m:r>
                          <a:rPr lang="en-US" i="1">
                            <a:latin typeface="Cambria Math"/>
                          </a:rPr>
                          <m:t>1</m:t>
                        </m:r>
                      </m:sub>
                    </m:sSub>
                    <m:r>
                      <a:rPr lang="en-US" i="1">
                        <a:latin typeface="Cambria Math"/>
                      </a:rPr>
                      <m:t>,…,</m:t>
                    </m:r>
                    <m:sSub>
                      <m:sSubPr>
                        <m:ctrlPr>
                          <a:rPr lang="en-US" i="1">
                            <a:latin typeface="Cambria Math" panose="02040503050406030204" pitchFamily="18" charset="0"/>
                          </a:rPr>
                        </m:ctrlPr>
                      </m:sSubPr>
                      <m:e>
                        <m:r>
                          <a:rPr lang="en-US" i="1">
                            <a:latin typeface="Cambria Math"/>
                          </a:rPr>
                          <m:t>𝑄</m:t>
                        </m:r>
                      </m:e>
                      <m:sub>
                        <m:r>
                          <a:rPr lang="en-US" i="1">
                            <a:latin typeface="Cambria Math"/>
                          </a:rPr>
                          <m:t>𝑛</m:t>
                        </m:r>
                      </m:sub>
                    </m:sSub>
                  </m:oMath>
                </a14:m>
                <a:r>
                  <a:rPr lang="en-US" dirty="0"/>
                  <a:t> may refer to </a:t>
                </a:r>
                <a14:m>
                  <m:oMath xmlns:m="http://schemas.openxmlformats.org/officeDocument/2006/math">
                    <m:sSub>
                      <m:sSubPr>
                        <m:ctrlPr>
                          <a:rPr lang="en-US" i="1">
                            <a:latin typeface="Cambria Math" panose="02040503050406030204" pitchFamily="18" charset="0"/>
                          </a:rPr>
                        </m:ctrlPr>
                      </m:sSubPr>
                      <m:e>
                        <m:r>
                          <a:rPr lang="en-US" i="1">
                            <a:latin typeface="Cambria Math"/>
                          </a:rPr>
                          <m:t>𝑅</m:t>
                        </m:r>
                      </m:e>
                      <m:sub>
                        <m:r>
                          <a:rPr lang="en-US" i="1">
                            <a:latin typeface="Cambria Math"/>
                          </a:rPr>
                          <m:t>1</m:t>
                        </m:r>
                      </m:sub>
                    </m:sSub>
                    <m:r>
                      <a:rPr lang="en-US" i="1">
                        <a:latin typeface="Cambria Math"/>
                      </a:rPr>
                      <m:t>,…, </m:t>
                    </m:r>
                    <m:sSub>
                      <m:sSubPr>
                        <m:ctrlPr>
                          <a:rPr lang="en-US" i="1">
                            <a:latin typeface="Cambria Math" panose="02040503050406030204" pitchFamily="18" charset="0"/>
                          </a:rPr>
                        </m:ctrlPr>
                      </m:sSubPr>
                      <m:e>
                        <m:r>
                          <a:rPr lang="en-US" i="1">
                            <a:latin typeface="Cambria Math"/>
                          </a:rPr>
                          <m:t>𝑅</m:t>
                        </m:r>
                      </m:e>
                      <m:sub>
                        <m:r>
                          <a:rPr lang="en-US" i="1">
                            <a:latin typeface="Cambria Math"/>
                          </a:rPr>
                          <m:t>𝑛</m:t>
                        </m:r>
                      </m:sub>
                    </m:sSub>
                  </m:oMath>
                </a14:m>
                <a:endParaRPr lang="en-US" i="1" dirty="0"/>
              </a:p>
              <a:p>
                <a:r>
                  <a:rPr lang="en-US" dirty="0"/>
                  <a:t>Semantics</a:t>
                </a:r>
              </a:p>
              <a:p>
                <a:pPr lvl="1">
                  <a:buNone/>
                </a:pPr>
                <a:r>
                  <a:rPr lang="en-US" dirty="0"/>
                  <a:t>1. </a:t>
                </a:r>
                <a14:m>
                  <m:oMath xmlns:m="http://schemas.openxmlformats.org/officeDocument/2006/math">
                    <m:sSub>
                      <m:sSubPr>
                        <m:ctrlPr>
                          <a:rPr lang="en-US" i="1">
                            <a:latin typeface="Cambria Math" panose="02040503050406030204" pitchFamily="18" charset="0"/>
                          </a:rPr>
                        </m:ctrlPr>
                      </m:sSubPr>
                      <m:e>
                        <m:r>
                          <a:rPr lang="en-US" i="1">
                            <a:latin typeface="Cambria Math"/>
                          </a:rPr>
                          <m:t>𝑅</m:t>
                        </m:r>
                      </m:e>
                      <m:sub>
                        <m:r>
                          <a:rPr lang="en-US" i="1">
                            <a:latin typeface="Cambria Math"/>
                          </a:rPr>
                          <m:t>1</m:t>
                        </m:r>
                      </m:sub>
                    </m:sSub>
                    <m:r>
                      <a:rPr lang="en-US" i="1">
                        <a:latin typeface="Cambria Math"/>
                      </a:rPr>
                      <m:t>←∅, …, </m:t>
                    </m:r>
                    <m:sSub>
                      <m:sSubPr>
                        <m:ctrlPr>
                          <a:rPr lang="en-US" i="1">
                            <a:latin typeface="Cambria Math" panose="02040503050406030204" pitchFamily="18" charset="0"/>
                          </a:rPr>
                        </m:ctrlPr>
                      </m:sSubPr>
                      <m:e>
                        <m:r>
                          <a:rPr lang="en-US" i="1">
                            <a:latin typeface="Cambria Math"/>
                          </a:rPr>
                          <m:t>𝑅</m:t>
                        </m:r>
                      </m:e>
                      <m:sub>
                        <m:r>
                          <a:rPr lang="en-US" i="1">
                            <a:latin typeface="Cambria Math"/>
                          </a:rPr>
                          <m:t>𝑛</m:t>
                        </m:r>
                      </m:sub>
                    </m:sSub>
                    <m:r>
                      <a:rPr lang="en-US" i="1">
                        <a:latin typeface="Cambria Math"/>
                      </a:rPr>
                      <m:t>←∅</m:t>
                    </m:r>
                  </m:oMath>
                </a14:m>
                <a:endParaRPr lang="en-US" dirty="0"/>
              </a:p>
              <a:p>
                <a:pPr lvl="1">
                  <a:buNone/>
                </a:pPr>
                <a:r>
                  <a:rPr lang="en-US" dirty="0"/>
                  <a:t>2. Evaluate </a:t>
                </a:r>
                <a14:m>
                  <m:oMath xmlns:m="http://schemas.openxmlformats.org/officeDocument/2006/math">
                    <m:sSub>
                      <m:sSubPr>
                        <m:ctrlPr>
                          <a:rPr lang="en-US" i="1">
                            <a:latin typeface="Cambria Math" panose="02040503050406030204" pitchFamily="18" charset="0"/>
                          </a:rPr>
                        </m:ctrlPr>
                      </m:sSubPr>
                      <m:e>
                        <m:r>
                          <a:rPr lang="en-US" i="1">
                            <a:latin typeface="Cambria Math"/>
                          </a:rPr>
                          <m:t>𝑄</m:t>
                        </m:r>
                      </m:e>
                      <m:sub>
                        <m:r>
                          <a:rPr lang="en-US" i="1">
                            <a:latin typeface="Cambria Math"/>
                          </a:rPr>
                          <m:t>1</m:t>
                        </m:r>
                      </m:sub>
                    </m:sSub>
                    <m:r>
                      <a:rPr lang="en-US" i="1">
                        <a:latin typeface="Cambria Math"/>
                      </a:rPr>
                      <m:t>,…,</m:t>
                    </m:r>
                    <m:sSub>
                      <m:sSubPr>
                        <m:ctrlPr>
                          <a:rPr lang="en-US" i="1">
                            <a:latin typeface="Cambria Math" panose="02040503050406030204" pitchFamily="18" charset="0"/>
                          </a:rPr>
                        </m:ctrlPr>
                      </m:sSubPr>
                      <m:e>
                        <m:r>
                          <a:rPr lang="en-US" i="1">
                            <a:latin typeface="Cambria Math"/>
                          </a:rPr>
                          <m:t>𝑄</m:t>
                        </m:r>
                      </m:e>
                      <m:sub>
                        <m:r>
                          <a:rPr lang="en-US" i="1">
                            <a:latin typeface="Cambria Math"/>
                          </a:rPr>
                          <m:t>𝑛</m:t>
                        </m:r>
                      </m:sub>
                    </m:sSub>
                  </m:oMath>
                </a14:m>
                <a:r>
                  <a:rPr lang="en-US" dirty="0"/>
                  <a:t> using the current contents of </a:t>
                </a:r>
                <a14:m>
                  <m:oMath xmlns:m="http://schemas.openxmlformats.org/officeDocument/2006/math">
                    <m:sSub>
                      <m:sSubPr>
                        <m:ctrlPr>
                          <a:rPr lang="en-US" i="1">
                            <a:latin typeface="Cambria Math" panose="02040503050406030204" pitchFamily="18" charset="0"/>
                          </a:rPr>
                        </m:ctrlPr>
                      </m:sSubPr>
                      <m:e>
                        <m:r>
                          <a:rPr lang="en-US" i="1">
                            <a:latin typeface="Cambria Math"/>
                          </a:rPr>
                          <m:t>𝑅</m:t>
                        </m:r>
                      </m:e>
                      <m:sub>
                        <m:r>
                          <a:rPr lang="en-US" i="1">
                            <a:latin typeface="Cambria Math"/>
                          </a:rPr>
                          <m:t>1</m:t>
                        </m:r>
                      </m:sub>
                    </m:sSub>
                    <m:r>
                      <a:rPr lang="en-US" i="1">
                        <a:latin typeface="Cambria Math"/>
                      </a:rPr>
                      <m:t>,…,</m:t>
                    </m:r>
                    <m:sSub>
                      <m:sSubPr>
                        <m:ctrlPr>
                          <a:rPr lang="en-US" i="1">
                            <a:latin typeface="Cambria Math" panose="02040503050406030204" pitchFamily="18" charset="0"/>
                          </a:rPr>
                        </m:ctrlPr>
                      </m:sSubPr>
                      <m:e>
                        <m:r>
                          <a:rPr lang="en-US" i="1">
                            <a:latin typeface="Cambria Math"/>
                          </a:rPr>
                          <m:t>𝑅</m:t>
                        </m:r>
                      </m:e>
                      <m:sub>
                        <m:r>
                          <a:rPr lang="en-US" i="1">
                            <a:latin typeface="Cambria Math"/>
                          </a:rPr>
                          <m:t>𝑛</m:t>
                        </m:r>
                      </m:sub>
                    </m:sSub>
                  </m:oMath>
                </a14:m>
                <a:r>
                  <a:rPr lang="en-US" dirty="0"/>
                  <a:t>:</a:t>
                </a:r>
                <a:br>
                  <a:rPr lang="en-US" dirty="0"/>
                </a:br>
                <a14:m>
                  <m:oMathPara xmlns:m="http://schemas.openxmlformats.org/officeDocument/2006/math">
                    <m:oMathParaPr>
                      <m:jc m:val="left"/>
                    </m:oMathParaPr>
                    <m:oMath xmlns:m="http://schemas.openxmlformats.org/officeDocument/2006/math">
                      <m:sSubSup>
                        <m:sSubSupPr>
                          <m:ctrlPr>
                            <a:rPr lang="en-US" i="1">
                              <a:latin typeface="Cambria Math" panose="02040503050406030204" pitchFamily="18" charset="0"/>
                            </a:rPr>
                          </m:ctrlPr>
                        </m:sSubSupPr>
                        <m:e>
                          <m:r>
                            <a:rPr lang="en-US" i="1">
                              <a:latin typeface="Cambria Math"/>
                            </a:rPr>
                            <m:t>𝑅</m:t>
                          </m:r>
                        </m:e>
                        <m:sub>
                          <m:r>
                            <a:rPr lang="en-US" i="1">
                              <a:latin typeface="Cambria Math"/>
                            </a:rPr>
                            <m:t>1</m:t>
                          </m:r>
                        </m:sub>
                        <m:sup>
                          <m:r>
                            <a:rPr lang="en-US" i="1">
                              <a:latin typeface="Cambria Math"/>
                            </a:rPr>
                            <m:t>𝑛𝑒𝑤</m:t>
                          </m:r>
                        </m:sup>
                      </m:sSubSup>
                      <m:r>
                        <a:rPr lang="en-US" i="1">
                          <a:latin typeface="Cambria Math"/>
                        </a:rPr>
                        <m:t>←</m:t>
                      </m:r>
                      <m:sSub>
                        <m:sSubPr>
                          <m:ctrlPr>
                            <a:rPr lang="en-US" i="1">
                              <a:latin typeface="Cambria Math" panose="02040503050406030204" pitchFamily="18" charset="0"/>
                            </a:rPr>
                          </m:ctrlPr>
                        </m:sSubPr>
                        <m:e>
                          <m:r>
                            <a:rPr lang="en-US" i="1">
                              <a:latin typeface="Cambria Math"/>
                            </a:rPr>
                            <m:t>𝑄</m:t>
                          </m:r>
                        </m:e>
                        <m:sub>
                          <m:r>
                            <a:rPr lang="en-US" i="1">
                              <a:latin typeface="Cambria Math"/>
                            </a:rPr>
                            <m:t>1</m:t>
                          </m:r>
                        </m:sub>
                      </m:sSub>
                      <m:r>
                        <a:rPr lang="en-US" i="1">
                          <a:latin typeface="Cambria Math"/>
                        </a:rPr>
                        <m:t>,…,</m:t>
                      </m:r>
                      <m:sSubSup>
                        <m:sSubSupPr>
                          <m:ctrlPr>
                            <a:rPr lang="en-US" i="1">
                              <a:latin typeface="Cambria Math" panose="02040503050406030204" pitchFamily="18" charset="0"/>
                            </a:rPr>
                          </m:ctrlPr>
                        </m:sSubSupPr>
                        <m:e>
                          <m:r>
                            <a:rPr lang="en-US" i="1">
                              <a:latin typeface="Cambria Math"/>
                            </a:rPr>
                            <m:t>𝑅</m:t>
                          </m:r>
                        </m:e>
                        <m:sub>
                          <m:r>
                            <a:rPr lang="en-US" i="1">
                              <a:latin typeface="Cambria Math"/>
                            </a:rPr>
                            <m:t>𝑛</m:t>
                          </m:r>
                        </m:sub>
                        <m:sup>
                          <m:r>
                            <a:rPr lang="en-US" i="1">
                              <a:latin typeface="Cambria Math"/>
                            </a:rPr>
                            <m:t>𝑛𝑒𝑤</m:t>
                          </m:r>
                        </m:sup>
                      </m:sSubSup>
                      <m:r>
                        <a:rPr lang="en-US" i="1">
                          <a:latin typeface="Cambria Math"/>
                        </a:rPr>
                        <m:t>←</m:t>
                      </m:r>
                      <m:sSub>
                        <m:sSubPr>
                          <m:ctrlPr>
                            <a:rPr lang="en-US" i="1">
                              <a:latin typeface="Cambria Math" panose="02040503050406030204" pitchFamily="18" charset="0"/>
                            </a:rPr>
                          </m:ctrlPr>
                        </m:sSubPr>
                        <m:e>
                          <m:r>
                            <a:rPr lang="en-US" i="1">
                              <a:latin typeface="Cambria Math"/>
                            </a:rPr>
                            <m:t>𝑄</m:t>
                          </m:r>
                        </m:e>
                        <m:sub>
                          <m:r>
                            <a:rPr lang="en-US" i="1">
                              <a:latin typeface="Cambria Math"/>
                            </a:rPr>
                            <m:t>𝑛</m:t>
                          </m:r>
                        </m:sub>
                      </m:sSub>
                    </m:oMath>
                  </m:oMathPara>
                </a14:m>
                <a:endParaRPr lang="en-US" i="1" dirty="0"/>
              </a:p>
              <a:p>
                <a:pPr lvl="1">
                  <a:buNone/>
                </a:pPr>
                <a:r>
                  <a:rPr lang="en-US" dirty="0"/>
                  <a:t>3. If </a:t>
                </a:r>
                <a14:m>
                  <m:oMath xmlns:m="http://schemas.openxmlformats.org/officeDocument/2006/math">
                    <m:sSubSup>
                      <m:sSubSupPr>
                        <m:ctrlPr>
                          <a:rPr lang="en-US" i="1">
                            <a:latin typeface="Cambria Math" panose="02040503050406030204" pitchFamily="18" charset="0"/>
                          </a:rPr>
                        </m:ctrlPr>
                      </m:sSubSupPr>
                      <m:e>
                        <m:r>
                          <a:rPr lang="en-US" i="1">
                            <a:latin typeface="Cambria Math"/>
                          </a:rPr>
                          <m:t>𝑅</m:t>
                        </m:r>
                      </m:e>
                      <m:sub>
                        <m:r>
                          <a:rPr lang="en-US" i="1">
                            <a:latin typeface="Cambria Math"/>
                          </a:rPr>
                          <m:t>𝑖</m:t>
                        </m:r>
                      </m:sub>
                      <m:sup>
                        <m:r>
                          <a:rPr lang="en-US" i="1">
                            <a:latin typeface="Cambria Math"/>
                          </a:rPr>
                          <m:t>𝑛𝑒𝑤</m:t>
                        </m:r>
                      </m:sup>
                    </m:sSubSup>
                    <m:r>
                      <a:rPr lang="en-US" i="1">
                        <a:latin typeface="Cambria Math"/>
                      </a:rPr>
                      <m:t>≠</m:t>
                    </m:r>
                    <m:sSub>
                      <m:sSubPr>
                        <m:ctrlPr>
                          <a:rPr lang="en-US" i="1">
                            <a:latin typeface="Cambria Math" panose="02040503050406030204" pitchFamily="18" charset="0"/>
                          </a:rPr>
                        </m:ctrlPr>
                      </m:sSubPr>
                      <m:e>
                        <m:r>
                          <a:rPr lang="en-US" i="1">
                            <a:latin typeface="Cambria Math"/>
                          </a:rPr>
                          <m:t>𝑅</m:t>
                        </m:r>
                      </m:e>
                      <m:sub>
                        <m:r>
                          <a:rPr lang="en-US" i="1">
                            <a:latin typeface="Cambria Math"/>
                          </a:rPr>
                          <m:t>𝑖</m:t>
                        </m:r>
                      </m:sub>
                    </m:sSub>
                  </m:oMath>
                </a14:m>
                <a:r>
                  <a:rPr lang="en-US" dirty="0"/>
                  <a:t> for some </a:t>
                </a:r>
                <a14:m>
                  <m:oMath xmlns:m="http://schemas.openxmlformats.org/officeDocument/2006/math">
                    <m:r>
                      <a:rPr lang="en-US" i="1" dirty="0">
                        <a:latin typeface="Cambria Math"/>
                      </a:rPr>
                      <m:t>𝑖</m:t>
                    </m:r>
                  </m:oMath>
                </a14:m>
                <a:endParaRPr lang="en-US" i="1" dirty="0"/>
              </a:p>
              <a:p>
                <a:pPr lvl="1">
                  <a:buNone/>
                </a:pPr>
                <a:r>
                  <a:rPr lang="en-US" dirty="0"/>
                  <a:t>	3.1. </a:t>
                </a:r>
                <a14:m>
                  <m:oMath xmlns:m="http://schemas.openxmlformats.org/officeDocument/2006/math">
                    <m:sSub>
                      <m:sSubPr>
                        <m:ctrlPr>
                          <a:rPr lang="en-US" i="1">
                            <a:latin typeface="Cambria Math" panose="02040503050406030204" pitchFamily="18" charset="0"/>
                          </a:rPr>
                        </m:ctrlPr>
                      </m:sSubPr>
                      <m:e>
                        <m:r>
                          <a:rPr lang="en-US" i="1">
                            <a:latin typeface="Cambria Math"/>
                          </a:rPr>
                          <m:t>𝑅</m:t>
                        </m:r>
                      </m:e>
                      <m:sub>
                        <m:r>
                          <a:rPr lang="en-US" i="1">
                            <a:latin typeface="Cambria Math"/>
                          </a:rPr>
                          <m:t>1</m:t>
                        </m:r>
                      </m:sub>
                    </m:sSub>
                    <m:r>
                      <a:rPr lang="en-US" i="1">
                        <a:latin typeface="Cambria Math"/>
                      </a:rPr>
                      <m:t>←</m:t>
                    </m:r>
                    <m:sSubSup>
                      <m:sSubSupPr>
                        <m:ctrlPr>
                          <a:rPr lang="en-US" i="1">
                            <a:latin typeface="Cambria Math" panose="02040503050406030204" pitchFamily="18" charset="0"/>
                          </a:rPr>
                        </m:ctrlPr>
                      </m:sSubSupPr>
                      <m:e>
                        <m:r>
                          <a:rPr lang="en-US" i="1">
                            <a:latin typeface="Cambria Math"/>
                          </a:rPr>
                          <m:t>𝑅</m:t>
                        </m:r>
                      </m:e>
                      <m:sub>
                        <m:r>
                          <a:rPr lang="en-US" i="1">
                            <a:latin typeface="Cambria Math"/>
                          </a:rPr>
                          <m:t>1</m:t>
                        </m:r>
                      </m:sub>
                      <m:sup>
                        <m:r>
                          <a:rPr lang="en-US" i="1">
                            <a:latin typeface="Cambria Math"/>
                          </a:rPr>
                          <m:t>𝑛𝑒𝑤</m:t>
                        </m:r>
                      </m:sup>
                    </m:sSubSup>
                    <m:r>
                      <a:rPr lang="en-US" i="1">
                        <a:latin typeface="Cambria Math"/>
                      </a:rPr>
                      <m:t>,…, </m:t>
                    </m:r>
                    <m:sSub>
                      <m:sSubPr>
                        <m:ctrlPr>
                          <a:rPr lang="en-US" i="1">
                            <a:latin typeface="Cambria Math" panose="02040503050406030204" pitchFamily="18" charset="0"/>
                          </a:rPr>
                        </m:ctrlPr>
                      </m:sSubPr>
                      <m:e>
                        <m:r>
                          <a:rPr lang="en-US" i="1">
                            <a:latin typeface="Cambria Math"/>
                          </a:rPr>
                          <m:t>𝑅</m:t>
                        </m:r>
                      </m:e>
                      <m:sub>
                        <m:r>
                          <a:rPr lang="en-US" i="1">
                            <a:latin typeface="Cambria Math"/>
                          </a:rPr>
                          <m:t>𝑛</m:t>
                        </m:r>
                      </m:sub>
                    </m:sSub>
                    <m:r>
                      <a:rPr lang="en-US" i="1">
                        <a:latin typeface="Cambria Math"/>
                      </a:rPr>
                      <m:t>←</m:t>
                    </m:r>
                    <m:sSubSup>
                      <m:sSubSupPr>
                        <m:ctrlPr>
                          <a:rPr lang="en-US" i="1">
                            <a:latin typeface="Cambria Math" panose="02040503050406030204" pitchFamily="18" charset="0"/>
                          </a:rPr>
                        </m:ctrlPr>
                      </m:sSubSupPr>
                      <m:e>
                        <m:r>
                          <a:rPr lang="en-US" i="1">
                            <a:latin typeface="Cambria Math"/>
                          </a:rPr>
                          <m:t>𝑅</m:t>
                        </m:r>
                      </m:e>
                      <m:sub>
                        <m:r>
                          <a:rPr lang="en-US" i="1">
                            <a:latin typeface="Cambria Math"/>
                          </a:rPr>
                          <m:t>𝑛</m:t>
                        </m:r>
                      </m:sub>
                      <m:sup>
                        <m:r>
                          <a:rPr lang="en-US" i="1">
                            <a:latin typeface="Cambria Math"/>
                          </a:rPr>
                          <m:t>𝑛𝑒𝑤</m:t>
                        </m:r>
                      </m:sup>
                    </m:sSubSup>
                  </m:oMath>
                </a14:m>
                <a:endParaRPr lang="en-US" dirty="0"/>
              </a:p>
              <a:p>
                <a:pPr lvl="1">
                  <a:buNone/>
                </a:pPr>
                <a:r>
                  <a:rPr lang="en-US" dirty="0"/>
                  <a:t>	3.2. Go to 2.</a:t>
                </a:r>
              </a:p>
              <a:p>
                <a:pPr lvl="1">
                  <a:buNone/>
                </a:pPr>
                <a:r>
                  <a:rPr lang="en-US" dirty="0"/>
                  <a:t>4. Compute </a:t>
                </a:r>
                <a14:m>
                  <m:oMath xmlns:m="http://schemas.openxmlformats.org/officeDocument/2006/math">
                    <m:r>
                      <a:rPr lang="en-US" i="1" dirty="0">
                        <a:latin typeface="Cambria Math"/>
                      </a:rPr>
                      <m:t>𝑄</m:t>
                    </m:r>
                  </m:oMath>
                </a14:m>
                <a:r>
                  <a:rPr lang="en-US" dirty="0"/>
                  <a:t> using the current contents of </a:t>
                </a:r>
                <a14:m>
                  <m:oMath xmlns:m="http://schemas.openxmlformats.org/officeDocument/2006/math">
                    <m:sSub>
                      <m:sSubPr>
                        <m:ctrlPr>
                          <a:rPr lang="en-US" i="1">
                            <a:latin typeface="Cambria Math" panose="02040503050406030204" pitchFamily="18" charset="0"/>
                          </a:rPr>
                        </m:ctrlPr>
                      </m:sSubPr>
                      <m:e>
                        <m:r>
                          <a:rPr lang="en-US" i="1">
                            <a:latin typeface="Cambria Math"/>
                          </a:rPr>
                          <m:t>𝑅</m:t>
                        </m:r>
                      </m:e>
                      <m:sub>
                        <m:r>
                          <a:rPr lang="en-US" i="1">
                            <a:latin typeface="Cambria Math"/>
                          </a:rPr>
                          <m:t>1</m:t>
                        </m:r>
                      </m:sub>
                    </m:sSub>
                    <m:r>
                      <a:rPr lang="en-US" i="1">
                        <a:latin typeface="Cambria Math"/>
                      </a:rPr>
                      <m:t>,…</m:t>
                    </m:r>
                    <m:sSub>
                      <m:sSubPr>
                        <m:ctrlPr>
                          <a:rPr lang="en-US" i="1">
                            <a:latin typeface="Cambria Math" panose="02040503050406030204" pitchFamily="18" charset="0"/>
                          </a:rPr>
                        </m:ctrlPr>
                      </m:sSubPr>
                      <m:e>
                        <m:r>
                          <a:rPr lang="en-US" i="1">
                            <a:latin typeface="Cambria Math"/>
                          </a:rPr>
                          <m:t>𝑅</m:t>
                        </m:r>
                      </m:e>
                      <m:sub>
                        <m:r>
                          <a:rPr lang="en-US" i="1">
                            <a:latin typeface="Cambria Math"/>
                          </a:rPr>
                          <m:t>𝑛</m:t>
                        </m:r>
                      </m:sub>
                    </m:sSub>
                  </m:oMath>
                </a14:m>
                <a:r>
                  <a:rPr lang="en-US" dirty="0"/>
                  <a:t> </a:t>
                </a:r>
                <a:br>
                  <a:rPr lang="en-US" dirty="0"/>
                </a:br>
                <a:r>
                  <a:rPr lang="en-US" dirty="0"/>
                  <a:t>and output the result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42336" y="1456854"/>
                <a:ext cx="8613242" cy="5264622"/>
              </a:xfrm>
              <a:blipFill>
                <a:blip r:embed="rId6"/>
                <a:stretch>
                  <a:fillRect l="-1274" t="-2662"/>
                </a:stretch>
              </a:blipFill>
            </p:spPr>
            <p:txBody>
              <a:bodyPr/>
              <a:lstStyle/>
              <a:p>
                <a:r>
                  <a:rPr lang="en-CA">
                    <a:noFill/>
                  </a:rPr>
                  <a:t> </a:t>
                </a:r>
              </a:p>
            </p:txBody>
          </p:sp>
        </mc:Fallback>
      </mc:AlternateContent>
      <p:sp>
        <p:nvSpPr>
          <p:cNvPr id="4" name="Slide Number Placeholder 3"/>
          <p:cNvSpPr>
            <a:spLocks noGrp="1"/>
          </p:cNvSpPr>
          <p:nvPr>
            <p:ph type="sldNum" sz="quarter" idx="12"/>
          </p:nvPr>
        </p:nvSpPr>
        <p:spPr/>
        <p:txBody>
          <a:bodyPr/>
          <a:lstStyle/>
          <a:p>
            <a:fld id="{44C99FA5-7995-46A9-A97E-16E38AD58950}" type="slidenum">
              <a:rPr lang="en-US" smtClean="0"/>
              <a:t>13</a:t>
            </a:fld>
            <a:endParaRPr lang="en-US"/>
          </a:p>
        </p:txBody>
      </p:sp>
    </p:spTree>
    <p:custDataLst>
      <p:tags r:id="rId1"/>
    </p:custDataLst>
    <p:extLst>
      <p:ext uri="{BB962C8B-B14F-4D97-AF65-F5344CB8AC3E}">
        <p14:creationId xmlns:p14="http://schemas.microsoft.com/office/powerpoint/2010/main" val="875248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Starting with non-empty set</a:t>
            </a:r>
          </a:p>
        </p:txBody>
      </p:sp>
      <p:sp>
        <p:nvSpPr>
          <p:cNvPr id="4" name="Slide Number Placeholder 3"/>
          <p:cNvSpPr>
            <a:spLocks noGrp="1"/>
          </p:cNvSpPr>
          <p:nvPr>
            <p:ph type="sldNum" sz="quarter" idx="12"/>
          </p:nvPr>
        </p:nvSpPr>
        <p:spPr>
          <a:xfrm>
            <a:off x="7086600" y="6478976"/>
            <a:ext cx="2057400" cy="365125"/>
          </a:xfrm>
        </p:spPr>
        <p:txBody>
          <a:bodyPr/>
          <a:lstStyle/>
          <a:p>
            <a:fld id="{44C99FA5-7995-46A9-A97E-16E38AD58950}" type="slidenum">
              <a:rPr lang="en-US" smtClean="0"/>
              <a:t>14</a:t>
            </a:fld>
            <a:endParaRPr lang="en-US"/>
          </a:p>
        </p:txBody>
      </p:sp>
      <p:graphicFrame>
        <p:nvGraphicFramePr>
          <p:cNvPr id="5" name="Table 4"/>
          <p:cNvGraphicFramePr>
            <a:graphicFrameLocks noGrp="1"/>
          </p:cNvGraphicFramePr>
          <p:nvPr/>
        </p:nvGraphicFramePr>
        <p:xfrm>
          <a:off x="5055449" y="1258239"/>
          <a:ext cx="1642110" cy="21336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0000"/>
                    </a:ext>
                  </a:extLst>
                </a:gridCol>
                <a:gridCol w="821055">
                  <a:extLst>
                    <a:ext uri="{9D8B030D-6E8A-4147-A177-3AD203B41FA5}">
                      <a16:colId xmlns:a16="http://schemas.microsoft.com/office/drawing/2014/main" val="20001"/>
                    </a:ext>
                  </a:extLst>
                </a:gridCol>
              </a:tblGrid>
              <a:tr h="133258">
                <a:tc>
                  <a:txBody>
                    <a:bodyPr/>
                    <a:lstStyle/>
                    <a:p>
                      <a:r>
                        <a:rPr lang="en-US" sz="1400" i="1" dirty="0"/>
                        <a:t>parent</a:t>
                      </a:r>
                    </a:p>
                  </a:txBody>
                  <a:tcPr/>
                </a:tc>
                <a:tc>
                  <a:txBody>
                    <a:bodyPr/>
                    <a:lstStyle/>
                    <a:p>
                      <a:r>
                        <a:rPr lang="en-US" sz="1400" i="1" dirty="0"/>
                        <a:t>child</a:t>
                      </a:r>
                    </a:p>
                  </a:txBody>
                  <a:tcPr/>
                </a:tc>
                <a:extLst>
                  <a:ext uri="{0D108BD9-81ED-4DB2-BD59-A6C34878D82A}">
                    <a16:rowId xmlns:a16="http://schemas.microsoft.com/office/drawing/2014/main" val="10000"/>
                  </a:ext>
                </a:extLst>
              </a:tr>
              <a:tr h="133258">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1"/>
                  </a:ext>
                </a:extLst>
              </a:tr>
              <a:tr h="163999">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2"/>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3"/>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4"/>
                  </a:ext>
                </a:extLst>
              </a:tr>
              <a:tr h="133258">
                <a:tc>
                  <a:txBody>
                    <a:bodyPr/>
                    <a:lstStyle/>
                    <a:p>
                      <a:r>
                        <a:rPr lang="en-US" sz="1400" dirty="0">
                          <a:latin typeface="Prestige12 BT" panose="02070509030506020304" pitchFamily="49" charset="0"/>
                        </a:rPr>
                        <a:t>Abe</a:t>
                      </a:r>
                    </a:p>
                  </a:txBody>
                  <a:tcPr/>
                </a:tc>
                <a:tc>
                  <a:txBody>
                    <a:bodyPr/>
                    <a:lstStyle/>
                    <a:p>
                      <a:r>
                        <a:rPr lang="en-US" sz="1400" dirty="0">
                          <a:latin typeface="Prestige12 BT" panose="02070509030506020304" pitchFamily="49" charset="0"/>
                        </a:rPr>
                        <a:t>Homer</a:t>
                      </a:r>
                    </a:p>
                  </a:txBody>
                  <a:tcPr/>
                </a:tc>
                <a:extLst>
                  <a:ext uri="{0D108BD9-81ED-4DB2-BD59-A6C34878D82A}">
                    <a16:rowId xmlns:a16="http://schemas.microsoft.com/office/drawing/2014/main" val="10005"/>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Abe</a:t>
                      </a:r>
                    </a:p>
                  </a:txBody>
                  <a:tcPr/>
                </a:tc>
                <a:extLst>
                  <a:ext uri="{0D108BD9-81ED-4DB2-BD59-A6C34878D82A}">
                    <a16:rowId xmlns:a16="http://schemas.microsoft.com/office/drawing/2014/main" val="10006"/>
                  </a:ext>
                </a:extLst>
              </a:tr>
            </a:tbl>
          </a:graphicData>
        </a:graphic>
      </p:graphicFrame>
      <p:graphicFrame>
        <p:nvGraphicFramePr>
          <p:cNvPr id="6" name="Table 5"/>
          <p:cNvGraphicFramePr>
            <a:graphicFrameLocks noGrp="1"/>
          </p:cNvGraphicFramePr>
          <p:nvPr/>
        </p:nvGraphicFramePr>
        <p:xfrm>
          <a:off x="2577332" y="4026378"/>
          <a:ext cx="1642110" cy="21336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0000"/>
                    </a:ext>
                  </a:extLst>
                </a:gridCol>
                <a:gridCol w="821055">
                  <a:extLst>
                    <a:ext uri="{9D8B030D-6E8A-4147-A177-3AD203B41FA5}">
                      <a16:colId xmlns:a16="http://schemas.microsoft.com/office/drawing/2014/main" val="20001"/>
                    </a:ext>
                  </a:extLst>
                </a:gridCol>
              </a:tblGrid>
              <a:tr h="133258">
                <a:tc>
                  <a:txBody>
                    <a:bodyPr/>
                    <a:lstStyle/>
                    <a:p>
                      <a:r>
                        <a:rPr lang="en-US" sz="1400" i="1" dirty="0" err="1"/>
                        <a:t>anc</a:t>
                      </a:r>
                      <a:endParaRPr lang="en-US" sz="1400" i="1" dirty="0"/>
                    </a:p>
                  </a:txBody>
                  <a:tcPr/>
                </a:tc>
                <a:tc>
                  <a:txBody>
                    <a:bodyPr/>
                    <a:lstStyle/>
                    <a:p>
                      <a:r>
                        <a:rPr lang="en-US" sz="1400" i="1" dirty="0" err="1"/>
                        <a:t>desc</a:t>
                      </a:r>
                      <a:endParaRPr lang="en-US" sz="1400" i="1" dirty="0"/>
                    </a:p>
                  </a:txBody>
                  <a:tcPr/>
                </a:tc>
                <a:extLst>
                  <a:ext uri="{0D108BD9-81ED-4DB2-BD59-A6C34878D82A}">
                    <a16:rowId xmlns:a16="http://schemas.microsoft.com/office/drawing/2014/main" val="10000"/>
                  </a:ext>
                </a:extLst>
              </a:tr>
              <a:tr h="133258">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1"/>
                  </a:ext>
                </a:extLst>
              </a:tr>
              <a:tr h="163999">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2"/>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3"/>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4"/>
                  </a:ext>
                </a:extLst>
              </a:tr>
              <a:tr h="133258">
                <a:tc>
                  <a:txBody>
                    <a:bodyPr/>
                    <a:lstStyle/>
                    <a:p>
                      <a:r>
                        <a:rPr lang="en-US" sz="1400" dirty="0">
                          <a:latin typeface="Prestige12 BT" panose="02070509030506020304" pitchFamily="49" charset="0"/>
                        </a:rPr>
                        <a:t>Abe</a:t>
                      </a:r>
                    </a:p>
                  </a:txBody>
                  <a:tcPr/>
                </a:tc>
                <a:tc>
                  <a:txBody>
                    <a:bodyPr/>
                    <a:lstStyle/>
                    <a:p>
                      <a:r>
                        <a:rPr lang="en-US" sz="1400" dirty="0">
                          <a:latin typeface="Prestige12 BT" panose="02070509030506020304" pitchFamily="49" charset="0"/>
                        </a:rPr>
                        <a:t>Homer</a:t>
                      </a:r>
                    </a:p>
                  </a:txBody>
                  <a:tcPr/>
                </a:tc>
                <a:extLst>
                  <a:ext uri="{0D108BD9-81ED-4DB2-BD59-A6C34878D82A}">
                    <a16:rowId xmlns:a16="http://schemas.microsoft.com/office/drawing/2014/main" val="10005"/>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Abe</a:t>
                      </a:r>
                    </a:p>
                  </a:txBody>
                  <a:tcPr/>
                </a:tc>
                <a:extLst>
                  <a:ext uri="{0D108BD9-81ED-4DB2-BD59-A6C34878D82A}">
                    <a16:rowId xmlns:a16="http://schemas.microsoft.com/office/drawing/2014/main" val="10006"/>
                  </a:ext>
                </a:extLst>
              </a:tr>
            </a:tbl>
          </a:graphicData>
        </a:graphic>
      </p:graphicFrame>
      <p:graphicFrame>
        <p:nvGraphicFramePr>
          <p:cNvPr id="7" name="Table 6"/>
          <p:cNvGraphicFramePr>
            <a:graphicFrameLocks noGrp="1"/>
          </p:cNvGraphicFramePr>
          <p:nvPr/>
        </p:nvGraphicFramePr>
        <p:xfrm>
          <a:off x="195274" y="4765286"/>
          <a:ext cx="1642110" cy="3048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0000"/>
                    </a:ext>
                  </a:extLst>
                </a:gridCol>
                <a:gridCol w="821055">
                  <a:extLst>
                    <a:ext uri="{9D8B030D-6E8A-4147-A177-3AD203B41FA5}">
                      <a16:colId xmlns:a16="http://schemas.microsoft.com/office/drawing/2014/main" val="20001"/>
                    </a:ext>
                  </a:extLst>
                </a:gridCol>
              </a:tblGrid>
              <a:tr h="0">
                <a:tc>
                  <a:txBody>
                    <a:bodyPr/>
                    <a:lstStyle/>
                    <a:p>
                      <a:r>
                        <a:rPr lang="en-US" sz="1400" i="1" dirty="0" err="1"/>
                        <a:t>anc</a:t>
                      </a:r>
                      <a:endParaRPr lang="en-US" sz="1400" i="1" dirty="0"/>
                    </a:p>
                  </a:txBody>
                  <a:tcPr/>
                </a:tc>
                <a:tc>
                  <a:txBody>
                    <a:bodyPr/>
                    <a:lstStyle/>
                    <a:p>
                      <a:r>
                        <a:rPr lang="en-US" sz="1400" i="1" dirty="0" err="1"/>
                        <a:t>desc</a:t>
                      </a:r>
                      <a:endParaRPr lang="en-US" sz="1400" i="1" dirty="0"/>
                    </a:p>
                  </a:txBody>
                  <a:tcPr/>
                </a:tc>
                <a:extLst>
                  <a:ext uri="{0D108BD9-81ED-4DB2-BD59-A6C34878D82A}">
                    <a16:rowId xmlns:a16="http://schemas.microsoft.com/office/drawing/2014/main" val="10000"/>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19439146"/>
              </p:ext>
            </p:extLst>
          </p:nvPr>
        </p:nvGraphicFramePr>
        <p:xfrm>
          <a:off x="4959390" y="3479268"/>
          <a:ext cx="1642110" cy="30480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0000"/>
                    </a:ext>
                  </a:extLst>
                </a:gridCol>
                <a:gridCol w="821055">
                  <a:extLst>
                    <a:ext uri="{9D8B030D-6E8A-4147-A177-3AD203B41FA5}">
                      <a16:colId xmlns:a16="http://schemas.microsoft.com/office/drawing/2014/main" val="20001"/>
                    </a:ext>
                  </a:extLst>
                </a:gridCol>
              </a:tblGrid>
              <a:tr h="133258">
                <a:tc>
                  <a:txBody>
                    <a:bodyPr/>
                    <a:lstStyle/>
                    <a:p>
                      <a:r>
                        <a:rPr lang="en-US" sz="1400" i="1" dirty="0" err="1"/>
                        <a:t>anc</a:t>
                      </a:r>
                      <a:endParaRPr lang="en-US" sz="1400" i="1" dirty="0"/>
                    </a:p>
                  </a:txBody>
                  <a:tcPr/>
                </a:tc>
                <a:tc>
                  <a:txBody>
                    <a:bodyPr/>
                    <a:lstStyle/>
                    <a:p>
                      <a:r>
                        <a:rPr lang="en-US" sz="1400" i="1" dirty="0" err="1"/>
                        <a:t>desc</a:t>
                      </a:r>
                      <a:endParaRPr lang="en-US" sz="1400" i="1" dirty="0"/>
                    </a:p>
                  </a:txBody>
                  <a:tcPr/>
                </a:tc>
                <a:extLst>
                  <a:ext uri="{0D108BD9-81ED-4DB2-BD59-A6C34878D82A}">
                    <a16:rowId xmlns:a16="http://schemas.microsoft.com/office/drawing/2014/main" val="10000"/>
                  </a:ext>
                </a:extLst>
              </a:tr>
              <a:tr h="133258">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1"/>
                  </a:ext>
                </a:extLst>
              </a:tr>
              <a:tr h="163999">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2"/>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3"/>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4"/>
                  </a:ext>
                </a:extLst>
              </a:tr>
              <a:tr h="133258">
                <a:tc>
                  <a:txBody>
                    <a:bodyPr/>
                    <a:lstStyle/>
                    <a:p>
                      <a:r>
                        <a:rPr lang="en-US" sz="1400" dirty="0">
                          <a:latin typeface="Prestige12 BT" panose="02070509030506020304" pitchFamily="49" charset="0"/>
                        </a:rPr>
                        <a:t>Abe</a:t>
                      </a:r>
                    </a:p>
                  </a:txBody>
                  <a:tcPr/>
                </a:tc>
                <a:tc>
                  <a:txBody>
                    <a:bodyPr/>
                    <a:lstStyle/>
                    <a:p>
                      <a:r>
                        <a:rPr lang="en-US" sz="1400" dirty="0">
                          <a:latin typeface="Prestige12 BT" panose="02070509030506020304" pitchFamily="49" charset="0"/>
                        </a:rPr>
                        <a:t>Homer</a:t>
                      </a:r>
                    </a:p>
                  </a:txBody>
                  <a:tcPr/>
                </a:tc>
                <a:extLst>
                  <a:ext uri="{0D108BD9-81ED-4DB2-BD59-A6C34878D82A}">
                    <a16:rowId xmlns:a16="http://schemas.microsoft.com/office/drawing/2014/main" val="10005"/>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Abe</a:t>
                      </a:r>
                    </a:p>
                  </a:txBody>
                  <a:tcPr/>
                </a:tc>
                <a:extLst>
                  <a:ext uri="{0D108BD9-81ED-4DB2-BD59-A6C34878D82A}">
                    <a16:rowId xmlns:a16="http://schemas.microsoft.com/office/drawing/2014/main" val="10006"/>
                  </a:ext>
                </a:extLst>
              </a:tr>
              <a:tr h="133258">
                <a:tc>
                  <a:txBody>
                    <a:bodyPr/>
                    <a:lstStyle/>
                    <a:p>
                      <a:r>
                        <a:rPr lang="en-US" sz="1400" dirty="0">
                          <a:latin typeface="Prestige12 BT" panose="02070509030506020304" pitchFamily="49" charset="0"/>
                        </a:rPr>
                        <a:t>Abe</a:t>
                      </a:r>
                    </a:p>
                  </a:txBody>
                  <a:tcPr>
                    <a:solidFill>
                      <a:schemeClr val="accent4"/>
                    </a:solidFill>
                  </a:tcPr>
                </a:tc>
                <a:tc>
                  <a:txBody>
                    <a:bodyPr/>
                    <a:lstStyle/>
                    <a:p>
                      <a:r>
                        <a:rPr lang="en-US" sz="1400" dirty="0">
                          <a:latin typeface="Prestige12 BT" panose="02070509030506020304" pitchFamily="49" charset="0"/>
                        </a:rPr>
                        <a:t>Bart</a:t>
                      </a:r>
                    </a:p>
                  </a:txBody>
                  <a:tcPr>
                    <a:solidFill>
                      <a:schemeClr val="accent4"/>
                    </a:solidFill>
                  </a:tcPr>
                </a:tc>
                <a:extLst>
                  <a:ext uri="{0D108BD9-81ED-4DB2-BD59-A6C34878D82A}">
                    <a16:rowId xmlns:a16="http://schemas.microsoft.com/office/drawing/2014/main" val="10007"/>
                  </a:ext>
                </a:extLst>
              </a:tr>
              <a:tr h="133258">
                <a:tc>
                  <a:txBody>
                    <a:bodyPr/>
                    <a:lstStyle/>
                    <a:p>
                      <a:r>
                        <a:rPr lang="en-US" sz="1400" dirty="0">
                          <a:latin typeface="Prestige12 BT" panose="02070509030506020304" pitchFamily="49" charset="0"/>
                        </a:rPr>
                        <a:t>Abe</a:t>
                      </a:r>
                    </a:p>
                  </a:txBody>
                  <a:tcPr>
                    <a:solidFill>
                      <a:schemeClr val="accent4"/>
                    </a:solidFill>
                  </a:tcPr>
                </a:tc>
                <a:tc>
                  <a:txBody>
                    <a:bodyPr/>
                    <a:lstStyle/>
                    <a:p>
                      <a:r>
                        <a:rPr lang="en-US" sz="1400" dirty="0">
                          <a:latin typeface="Prestige12 BT" panose="02070509030506020304" pitchFamily="49" charset="0"/>
                        </a:rPr>
                        <a:t>Lisa</a:t>
                      </a:r>
                    </a:p>
                  </a:txBody>
                  <a:tcPr>
                    <a:solidFill>
                      <a:schemeClr val="accent4"/>
                    </a:solidFill>
                  </a:tcPr>
                </a:tc>
                <a:extLst>
                  <a:ext uri="{0D108BD9-81ED-4DB2-BD59-A6C34878D82A}">
                    <a16:rowId xmlns:a16="http://schemas.microsoft.com/office/drawing/2014/main" val="10008"/>
                  </a:ext>
                </a:extLst>
              </a:tr>
              <a:tr h="133258">
                <a:tc>
                  <a:txBody>
                    <a:bodyPr/>
                    <a:lstStyle/>
                    <a:p>
                      <a:r>
                        <a:rPr lang="en-US" sz="1400" dirty="0">
                          <a:latin typeface="Prestige12 BT" panose="02070509030506020304" pitchFamily="49" charset="0"/>
                        </a:rPr>
                        <a:t>Ape</a:t>
                      </a:r>
                    </a:p>
                  </a:txBody>
                  <a:tcPr>
                    <a:solidFill>
                      <a:schemeClr val="accent4"/>
                    </a:solidFill>
                  </a:tcPr>
                </a:tc>
                <a:tc>
                  <a:txBody>
                    <a:bodyPr/>
                    <a:lstStyle/>
                    <a:p>
                      <a:r>
                        <a:rPr lang="en-US" sz="1400" dirty="0">
                          <a:latin typeface="Prestige12 BT" panose="02070509030506020304" pitchFamily="49" charset="0"/>
                        </a:rPr>
                        <a:t>Homer</a:t>
                      </a:r>
                    </a:p>
                  </a:txBody>
                  <a:tcPr>
                    <a:solidFill>
                      <a:schemeClr val="accent4"/>
                    </a:solidFill>
                  </a:tcPr>
                </a:tc>
                <a:extLst>
                  <a:ext uri="{0D108BD9-81ED-4DB2-BD59-A6C34878D82A}">
                    <a16:rowId xmlns:a16="http://schemas.microsoft.com/office/drawing/2014/main" val="10009"/>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67566018"/>
              </p:ext>
            </p:extLst>
          </p:nvPr>
        </p:nvGraphicFramePr>
        <p:xfrm>
          <a:off x="7074412" y="2821116"/>
          <a:ext cx="1642110" cy="36576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0000"/>
                    </a:ext>
                  </a:extLst>
                </a:gridCol>
                <a:gridCol w="821055">
                  <a:extLst>
                    <a:ext uri="{9D8B030D-6E8A-4147-A177-3AD203B41FA5}">
                      <a16:colId xmlns:a16="http://schemas.microsoft.com/office/drawing/2014/main" val="20001"/>
                    </a:ext>
                  </a:extLst>
                </a:gridCol>
              </a:tblGrid>
              <a:tr h="133258">
                <a:tc>
                  <a:txBody>
                    <a:bodyPr/>
                    <a:lstStyle/>
                    <a:p>
                      <a:r>
                        <a:rPr lang="en-US" sz="1400" i="1" dirty="0" err="1"/>
                        <a:t>anc</a:t>
                      </a:r>
                      <a:endParaRPr lang="en-US" sz="1400" i="1" dirty="0"/>
                    </a:p>
                  </a:txBody>
                  <a:tcPr/>
                </a:tc>
                <a:tc>
                  <a:txBody>
                    <a:bodyPr/>
                    <a:lstStyle/>
                    <a:p>
                      <a:r>
                        <a:rPr lang="en-US" sz="1400" i="1" dirty="0" err="1"/>
                        <a:t>desc</a:t>
                      </a:r>
                      <a:endParaRPr lang="en-US" sz="1400" i="1" dirty="0"/>
                    </a:p>
                  </a:txBody>
                  <a:tcPr/>
                </a:tc>
                <a:extLst>
                  <a:ext uri="{0D108BD9-81ED-4DB2-BD59-A6C34878D82A}">
                    <a16:rowId xmlns:a16="http://schemas.microsoft.com/office/drawing/2014/main" val="10000"/>
                  </a:ext>
                </a:extLst>
              </a:tr>
              <a:tr h="133258">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1"/>
                  </a:ext>
                </a:extLst>
              </a:tr>
              <a:tr h="163999">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2"/>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3"/>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4"/>
                  </a:ext>
                </a:extLst>
              </a:tr>
              <a:tr h="133258">
                <a:tc>
                  <a:txBody>
                    <a:bodyPr/>
                    <a:lstStyle/>
                    <a:p>
                      <a:r>
                        <a:rPr lang="en-US" sz="1400" dirty="0">
                          <a:latin typeface="Prestige12 BT" panose="02070509030506020304" pitchFamily="49" charset="0"/>
                        </a:rPr>
                        <a:t>Abe</a:t>
                      </a:r>
                    </a:p>
                  </a:txBody>
                  <a:tcPr/>
                </a:tc>
                <a:tc>
                  <a:txBody>
                    <a:bodyPr/>
                    <a:lstStyle/>
                    <a:p>
                      <a:r>
                        <a:rPr lang="en-US" sz="1400" dirty="0">
                          <a:latin typeface="Prestige12 BT" panose="02070509030506020304" pitchFamily="49" charset="0"/>
                        </a:rPr>
                        <a:t>Homer</a:t>
                      </a:r>
                    </a:p>
                  </a:txBody>
                  <a:tcPr/>
                </a:tc>
                <a:extLst>
                  <a:ext uri="{0D108BD9-81ED-4DB2-BD59-A6C34878D82A}">
                    <a16:rowId xmlns:a16="http://schemas.microsoft.com/office/drawing/2014/main" val="10005"/>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Abe</a:t>
                      </a:r>
                    </a:p>
                  </a:txBody>
                  <a:tcPr/>
                </a:tc>
                <a:extLst>
                  <a:ext uri="{0D108BD9-81ED-4DB2-BD59-A6C34878D82A}">
                    <a16:rowId xmlns:a16="http://schemas.microsoft.com/office/drawing/2014/main" val="10006"/>
                  </a:ext>
                </a:extLst>
              </a:tr>
              <a:tr h="133258">
                <a:tc>
                  <a:txBody>
                    <a:bodyPr/>
                    <a:lstStyle/>
                    <a:p>
                      <a:r>
                        <a:rPr lang="en-US" sz="1400" dirty="0">
                          <a:latin typeface="Prestige12 BT" panose="02070509030506020304" pitchFamily="49" charset="0"/>
                        </a:rPr>
                        <a:t>Abe</a:t>
                      </a:r>
                    </a:p>
                  </a:txBody>
                  <a:tcPr>
                    <a:solidFill>
                      <a:schemeClr val="accent4"/>
                    </a:solidFill>
                  </a:tcPr>
                </a:tc>
                <a:tc>
                  <a:txBody>
                    <a:bodyPr/>
                    <a:lstStyle/>
                    <a:p>
                      <a:r>
                        <a:rPr lang="en-US" sz="1400" dirty="0">
                          <a:latin typeface="Prestige12 BT" panose="02070509030506020304" pitchFamily="49" charset="0"/>
                        </a:rPr>
                        <a:t>Bart</a:t>
                      </a:r>
                    </a:p>
                  </a:txBody>
                  <a:tcPr>
                    <a:solidFill>
                      <a:schemeClr val="accent4"/>
                    </a:solidFill>
                  </a:tcPr>
                </a:tc>
                <a:extLst>
                  <a:ext uri="{0D108BD9-81ED-4DB2-BD59-A6C34878D82A}">
                    <a16:rowId xmlns:a16="http://schemas.microsoft.com/office/drawing/2014/main" val="10007"/>
                  </a:ext>
                </a:extLst>
              </a:tr>
              <a:tr h="133258">
                <a:tc>
                  <a:txBody>
                    <a:bodyPr/>
                    <a:lstStyle/>
                    <a:p>
                      <a:r>
                        <a:rPr lang="en-US" sz="1400" dirty="0">
                          <a:latin typeface="Prestige12 BT" panose="02070509030506020304" pitchFamily="49" charset="0"/>
                        </a:rPr>
                        <a:t>Abe</a:t>
                      </a:r>
                    </a:p>
                  </a:txBody>
                  <a:tcPr>
                    <a:solidFill>
                      <a:schemeClr val="accent4"/>
                    </a:solidFill>
                  </a:tcPr>
                </a:tc>
                <a:tc>
                  <a:txBody>
                    <a:bodyPr/>
                    <a:lstStyle/>
                    <a:p>
                      <a:r>
                        <a:rPr lang="en-US" sz="1400" dirty="0">
                          <a:latin typeface="Prestige12 BT" panose="02070509030506020304" pitchFamily="49" charset="0"/>
                        </a:rPr>
                        <a:t>Lisa</a:t>
                      </a:r>
                    </a:p>
                  </a:txBody>
                  <a:tcPr>
                    <a:solidFill>
                      <a:schemeClr val="accent4"/>
                    </a:solidFill>
                  </a:tcPr>
                </a:tc>
                <a:extLst>
                  <a:ext uri="{0D108BD9-81ED-4DB2-BD59-A6C34878D82A}">
                    <a16:rowId xmlns:a16="http://schemas.microsoft.com/office/drawing/2014/main" val="10008"/>
                  </a:ext>
                </a:extLst>
              </a:tr>
              <a:tr h="133258">
                <a:tc>
                  <a:txBody>
                    <a:bodyPr/>
                    <a:lstStyle/>
                    <a:p>
                      <a:r>
                        <a:rPr lang="en-US" sz="1400" dirty="0">
                          <a:latin typeface="Prestige12 BT" panose="02070509030506020304" pitchFamily="49" charset="0"/>
                        </a:rPr>
                        <a:t>Ape</a:t>
                      </a:r>
                    </a:p>
                  </a:txBody>
                  <a:tcPr>
                    <a:solidFill>
                      <a:schemeClr val="accent4"/>
                    </a:solidFill>
                  </a:tcPr>
                </a:tc>
                <a:tc>
                  <a:txBody>
                    <a:bodyPr/>
                    <a:lstStyle/>
                    <a:p>
                      <a:r>
                        <a:rPr lang="en-US" sz="1400" dirty="0">
                          <a:latin typeface="Prestige12 BT" panose="02070509030506020304" pitchFamily="49" charset="0"/>
                        </a:rPr>
                        <a:t>Homer</a:t>
                      </a:r>
                    </a:p>
                  </a:txBody>
                  <a:tcPr>
                    <a:solidFill>
                      <a:schemeClr val="accent4"/>
                    </a:solidFill>
                  </a:tcPr>
                </a:tc>
                <a:extLst>
                  <a:ext uri="{0D108BD9-81ED-4DB2-BD59-A6C34878D82A}">
                    <a16:rowId xmlns:a16="http://schemas.microsoft.com/office/drawing/2014/main" val="10009"/>
                  </a:ext>
                </a:extLst>
              </a:tr>
              <a:tr h="133258">
                <a:tc>
                  <a:txBody>
                    <a:bodyPr/>
                    <a:lstStyle/>
                    <a:p>
                      <a:r>
                        <a:rPr lang="en-US" sz="1400" dirty="0">
                          <a:latin typeface="Prestige12 BT" panose="02070509030506020304" pitchFamily="49" charset="0"/>
                        </a:rPr>
                        <a:t>Ape</a:t>
                      </a:r>
                    </a:p>
                  </a:txBody>
                  <a:tcPr>
                    <a:solidFill>
                      <a:schemeClr val="accent6"/>
                    </a:solidFill>
                  </a:tcPr>
                </a:tc>
                <a:tc>
                  <a:txBody>
                    <a:bodyPr/>
                    <a:lstStyle/>
                    <a:p>
                      <a:r>
                        <a:rPr lang="en-US" sz="1400" dirty="0">
                          <a:latin typeface="Prestige12 BT" panose="02070509030506020304" pitchFamily="49" charset="0"/>
                        </a:rPr>
                        <a:t>Bart</a:t>
                      </a:r>
                    </a:p>
                  </a:txBody>
                  <a:tcPr>
                    <a:solidFill>
                      <a:schemeClr val="accent6"/>
                    </a:solidFill>
                  </a:tcPr>
                </a:tc>
                <a:extLst>
                  <a:ext uri="{0D108BD9-81ED-4DB2-BD59-A6C34878D82A}">
                    <a16:rowId xmlns:a16="http://schemas.microsoft.com/office/drawing/2014/main" val="10010"/>
                  </a:ext>
                </a:extLst>
              </a:tr>
              <a:tr h="133258">
                <a:tc>
                  <a:txBody>
                    <a:bodyPr/>
                    <a:lstStyle/>
                    <a:p>
                      <a:r>
                        <a:rPr lang="en-US" sz="1400" dirty="0">
                          <a:latin typeface="Prestige12 BT" panose="02070509030506020304" pitchFamily="49" charset="0"/>
                        </a:rPr>
                        <a:t>Ape</a:t>
                      </a:r>
                    </a:p>
                  </a:txBody>
                  <a:tcPr>
                    <a:solidFill>
                      <a:schemeClr val="accent6"/>
                    </a:solidFill>
                  </a:tcPr>
                </a:tc>
                <a:tc>
                  <a:txBody>
                    <a:bodyPr/>
                    <a:lstStyle/>
                    <a:p>
                      <a:r>
                        <a:rPr lang="en-US" sz="1400" dirty="0">
                          <a:latin typeface="Prestige12 BT" panose="02070509030506020304" pitchFamily="49" charset="0"/>
                        </a:rPr>
                        <a:t>Lisa</a:t>
                      </a:r>
                    </a:p>
                  </a:txBody>
                  <a:tcPr>
                    <a:solidFill>
                      <a:schemeClr val="accent6"/>
                    </a:solidFill>
                  </a:tcPr>
                </a:tc>
                <a:extLst>
                  <a:ext uri="{0D108BD9-81ED-4DB2-BD59-A6C34878D82A}">
                    <a16:rowId xmlns:a16="http://schemas.microsoft.com/office/drawing/2014/main" val="10011"/>
                  </a:ext>
                </a:extLst>
              </a:tr>
            </a:tbl>
          </a:graphicData>
        </a:graphic>
      </p:graphicFrame>
      <p:sp>
        <p:nvSpPr>
          <p:cNvPr id="10" name="Line 12"/>
          <p:cNvSpPr>
            <a:spLocks noChangeShapeType="1"/>
          </p:cNvSpPr>
          <p:nvPr/>
        </p:nvSpPr>
        <p:spPr bwMode="auto">
          <a:xfrm rot="16200000" flipH="1">
            <a:off x="2200104" y="4516584"/>
            <a:ext cx="0" cy="78694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1" name="Line 12"/>
          <p:cNvSpPr>
            <a:spLocks noChangeShapeType="1"/>
          </p:cNvSpPr>
          <p:nvPr/>
        </p:nvSpPr>
        <p:spPr bwMode="auto">
          <a:xfrm rot="16200000" flipH="1">
            <a:off x="4591398" y="4516584"/>
            <a:ext cx="0" cy="78694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2" name="Line 12"/>
          <p:cNvSpPr>
            <a:spLocks noChangeShapeType="1"/>
          </p:cNvSpPr>
          <p:nvPr/>
        </p:nvSpPr>
        <p:spPr bwMode="auto">
          <a:xfrm rot="16200000" flipH="1">
            <a:off x="6972167" y="4459316"/>
            <a:ext cx="0" cy="78694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3" name="Arc 12"/>
          <p:cNvSpPr/>
          <p:nvPr/>
        </p:nvSpPr>
        <p:spPr>
          <a:xfrm>
            <a:off x="7447176" y="2073719"/>
            <a:ext cx="886691" cy="831273"/>
          </a:xfrm>
          <a:prstGeom prst="arc">
            <a:avLst>
              <a:gd name="adj1" fmla="val 7647035"/>
              <a:gd name="adj2" fmla="val 3141148"/>
            </a:avLst>
          </a:prstGeom>
          <a:ln w="25400">
            <a:solidFill>
              <a:schemeClr val="tx1"/>
            </a:solidFill>
            <a:headEnd type="stealth" w="med" len="lg"/>
            <a:tailEnd type="none" w="med"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Rectangle 13">
            <a:extLst>
              <a:ext uri="{FF2B5EF4-FFF2-40B4-BE49-F238E27FC236}">
                <a16:creationId xmlns:a16="http://schemas.microsoft.com/office/drawing/2014/main" id="{C4577CC8-E9CB-4B6C-ACA5-971FCBF38009}"/>
              </a:ext>
            </a:extLst>
          </p:cNvPr>
          <p:cNvSpPr/>
          <p:nvPr/>
        </p:nvSpPr>
        <p:spPr>
          <a:xfrm>
            <a:off x="450622" y="1487957"/>
            <a:ext cx="3768820" cy="1941041"/>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buFont typeface="Wingdings" pitchFamily="2" charset="2"/>
              <a:buNone/>
            </a:pPr>
            <a:r>
              <a:rPr lang="en-US" sz="1600" dirty="0">
                <a:solidFill>
                  <a:schemeClr val="accent2"/>
                </a:solidFill>
                <a:latin typeface="Prestige12 BT" panose="02070509030506020304" pitchFamily="49" charset="0"/>
              </a:rPr>
              <a:t>WITH RECURSIVE</a:t>
            </a:r>
            <a:br>
              <a:rPr lang="en-US" sz="1600" dirty="0">
                <a:solidFill>
                  <a:schemeClr val="accent2"/>
                </a:solidFill>
                <a:latin typeface="Prestige12 BT" panose="02070509030506020304" pitchFamily="49" charset="0"/>
              </a:rPr>
            </a:b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a:t>
            </a:r>
            <a:r>
              <a:rPr lang="en-US" sz="1600" dirty="0" err="1">
                <a:latin typeface="Prestige12 BT" panose="02070509030506020304" pitchFamily="49" charset="0"/>
              </a:rPr>
              <a:t>anc</a:t>
            </a:r>
            <a:r>
              <a:rPr lang="en-US" sz="1600" dirty="0">
                <a:latin typeface="Prestige12 BT" panose="02070509030506020304" pitchFamily="49" charset="0"/>
              </a:rPr>
              <a:t>, desc) </a:t>
            </a:r>
            <a:r>
              <a:rPr lang="en-US" sz="1600" dirty="0">
                <a:solidFill>
                  <a:schemeClr val="accent2"/>
                </a:solidFill>
                <a:latin typeface="Prestige12 BT" panose="02070509030506020304" pitchFamily="49" charset="0"/>
              </a:rPr>
              <a:t>AS</a:t>
            </a:r>
            <a:br>
              <a:rPr lang="en-US" sz="1600" dirty="0">
                <a:solidFill>
                  <a:schemeClr val="tx2"/>
                </a:solidFill>
                <a:latin typeface="Prestige12 BT" panose="02070509030506020304" pitchFamily="49" charset="0"/>
              </a:rPr>
            </a:br>
            <a:r>
              <a:rPr lang="en-US" sz="1600" dirty="0">
                <a:latin typeface="Prestige12 BT" panose="02070509030506020304" pitchFamily="49" charset="0"/>
              </a:rPr>
              <a:t>((SELECT parent, child FROM Parent)</a:t>
            </a:r>
            <a:br>
              <a:rPr lang="en-US" sz="1600" dirty="0">
                <a:latin typeface="Prestige12 BT" panose="02070509030506020304" pitchFamily="49" charset="0"/>
              </a:rPr>
            </a:br>
            <a:r>
              <a:rPr lang="en-US" sz="1600" dirty="0">
                <a:latin typeface="Prestige12 BT" panose="02070509030506020304" pitchFamily="49" charset="0"/>
              </a:rPr>
              <a:t> UNION</a:t>
            </a:r>
            <a:br>
              <a:rPr lang="en-US" sz="1600" dirty="0">
                <a:latin typeface="Prestige12 BT" panose="02070509030506020304" pitchFamily="49" charset="0"/>
              </a:rPr>
            </a:br>
            <a:r>
              <a:rPr lang="en-US" sz="1600" dirty="0">
                <a:latin typeface="Prestige12 BT" panose="02070509030506020304" pitchFamily="49" charset="0"/>
              </a:rPr>
              <a:t> (SELECT a1.anc, a2.desc</a:t>
            </a:r>
            <a:br>
              <a:rPr lang="en-US" sz="1600" dirty="0">
                <a:latin typeface="Prestige12 BT" panose="02070509030506020304" pitchFamily="49" charset="0"/>
              </a:rPr>
            </a:br>
            <a:r>
              <a:rPr lang="en-US" sz="1600" dirty="0">
                <a:latin typeface="Prestige12 BT" panose="02070509030506020304" pitchFamily="49" charset="0"/>
              </a:rPr>
              <a:t>  FROM </a:t>
            </a: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 a1, </a:t>
            </a: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 a2</a:t>
            </a:r>
            <a:br>
              <a:rPr lang="en-US" sz="1600" dirty="0">
                <a:latin typeface="Prestige12 BT" panose="02070509030506020304" pitchFamily="49" charset="0"/>
              </a:rPr>
            </a:br>
            <a:r>
              <a:rPr lang="en-US" sz="1600" dirty="0">
                <a:latin typeface="Prestige12 BT" panose="02070509030506020304" pitchFamily="49" charset="0"/>
              </a:rPr>
              <a:t>  WHERE a1.desc = a2.anc))</a:t>
            </a:r>
            <a:br>
              <a:rPr lang="en-US" sz="1600" dirty="0">
                <a:latin typeface="Prestige12 BT" panose="02070509030506020304" pitchFamily="49" charset="0"/>
              </a:rPr>
            </a:br>
            <a:r>
              <a:rPr lang="en-US" sz="1600" dirty="0">
                <a:latin typeface="Prestige12 BT" panose="02070509030506020304" pitchFamily="49" charset="0"/>
              </a:rPr>
              <a:t>…..;</a:t>
            </a:r>
          </a:p>
        </p:txBody>
      </p:sp>
      <p:sp>
        <p:nvSpPr>
          <p:cNvPr id="17" name="Text Box 11">
            <a:extLst>
              <a:ext uri="{FF2B5EF4-FFF2-40B4-BE49-F238E27FC236}">
                <a16:creationId xmlns:a16="http://schemas.microsoft.com/office/drawing/2014/main" id="{F7C97C59-3523-4280-B65A-F2A53E3C9B65}"/>
              </a:ext>
            </a:extLst>
          </p:cNvPr>
          <p:cNvSpPr txBox="1">
            <a:spLocks noChangeArrowheads="1"/>
          </p:cNvSpPr>
          <p:nvPr/>
        </p:nvSpPr>
        <p:spPr bwMode="auto">
          <a:xfrm>
            <a:off x="3161633" y="1701678"/>
            <a:ext cx="974947"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1600" i="1">
                <a:solidFill>
                  <a:schemeClr val="accent4"/>
                </a:solidFill>
                <a:latin typeface="+mn-lt"/>
              </a:rPr>
              <a:t>base case</a:t>
            </a:r>
          </a:p>
        </p:txBody>
      </p:sp>
      <p:sp>
        <p:nvSpPr>
          <p:cNvPr id="18" name="AutoShape 9">
            <a:extLst>
              <a:ext uri="{FF2B5EF4-FFF2-40B4-BE49-F238E27FC236}">
                <a16:creationId xmlns:a16="http://schemas.microsoft.com/office/drawing/2014/main" id="{E4336513-1172-480B-8588-ED2C4AD950F6}"/>
              </a:ext>
            </a:extLst>
          </p:cNvPr>
          <p:cNvSpPr>
            <a:spLocks noChangeArrowheads="1"/>
          </p:cNvSpPr>
          <p:nvPr/>
        </p:nvSpPr>
        <p:spPr bwMode="auto">
          <a:xfrm>
            <a:off x="657653" y="1974498"/>
            <a:ext cx="2974653" cy="250257"/>
          </a:xfrm>
          <a:prstGeom prst="roundRect">
            <a:avLst>
              <a:gd name="adj" fmla="val 16667"/>
            </a:avLst>
          </a:prstGeom>
          <a:noFill/>
          <a:ln w="22225">
            <a:solidFill>
              <a:schemeClr val="accent4"/>
            </a:solidFill>
            <a:round/>
            <a:headEnd/>
            <a:tailEnd/>
          </a:ln>
        </p:spPr>
        <p:txBody>
          <a:bodyPr wrap="none" anchor="ctr"/>
          <a:lstStyle/>
          <a:p>
            <a:endParaRPr lang="en-US"/>
          </a:p>
        </p:txBody>
      </p:sp>
      <p:sp>
        <p:nvSpPr>
          <p:cNvPr id="19" name="AutoShape 9">
            <a:extLst>
              <a:ext uri="{FF2B5EF4-FFF2-40B4-BE49-F238E27FC236}">
                <a16:creationId xmlns:a16="http://schemas.microsoft.com/office/drawing/2014/main" id="{477F2F32-DBCB-4CB8-ADB9-40F7CF5907B8}"/>
              </a:ext>
            </a:extLst>
          </p:cNvPr>
          <p:cNvSpPr>
            <a:spLocks noChangeArrowheads="1"/>
          </p:cNvSpPr>
          <p:nvPr/>
        </p:nvSpPr>
        <p:spPr bwMode="auto">
          <a:xfrm>
            <a:off x="657653" y="2484357"/>
            <a:ext cx="2634188" cy="720019"/>
          </a:xfrm>
          <a:prstGeom prst="roundRect">
            <a:avLst>
              <a:gd name="adj" fmla="val 16667"/>
            </a:avLst>
          </a:prstGeom>
          <a:noFill/>
          <a:ln w="22225">
            <a:solidFill>
              <a:schemeClr val="accent4"/>
            </a:solidFill>
            <a:round/>
            <a:headEnd/>
            <a:tailEnd/>
          </a:ln>
        </p:spPr>
        <p:txBody>
          <a:bodyPr wrap="none" anchor="ctr"/>
          <a:lstStyle/>
          <a:p>
            <a:endParaRPr lang="en-US"/>
          </a:p>
        </p:txBody>
      </p:sp>
      <p:sp>
        <p:nvSpPr>
          <p:cNvPr id="20" name="Text Box 11">
            <a:extLst>
              <a:ext uri="{FF2B5EF4-FFF2-40B4-BE49-F238E27FC236}">
                <a16:creationId xmlns:a16="http://schemas.microsoft.com/office/drawing/2014/main" id="{BACABCFF-3A74-4AE7-A792-CFE2C0EEA968}"/>
              </a:ext>
            </a:extLst>
          </p:cNvPr>
          <p:cNvSpPr txBox="1">
            <a:spLocks noChangeArrowheads="1"/>
          </p:cNvSpPr>
          <p:nvPr/>
        </p:nvSpPr>
        <p:spPr bwMode="auto">
          <a:xfrm>
            <a:off x="3283604" y="2688664"/>
            <a:ext cx="9893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1600" i="1" dirty="0">
                <a:solidFill>
                  <a:schemeClr val="accent4"/>
                </a:solidFill>
                <a:latin typeface="+mn-lt"/>
              </a:rPr>
              <a:t>recursive </a:t>
            </a:r>
          </a:p>
          <a:p>
            <a:pPr>
              <a:buFont typeface="Wingdings" pitchFamily="2" charset="2"/>
              <a:buNone/>
            </a:pPr>
            <a:r>
              <a:rPr lang="en-US" sz="1600" i="1" dirty="0">
                <a:solidFill>
                  <a:schemeClr val="accent4"/>
                </a:solidFill>
                <a:latin typeface="+mn-lt"/>
              </a:rPr>
              <a:t>step</a:t>
            </a:r>
          </a:p>
        </p:txBody>
      </p:sp>
      <p:graphicFrame>
        <p:nvGraphicFramePr>
          <p:cNvPr id="3" name="Table 2">
            <a:extLst>
              <a:ext uri="{FF2B5EF4-FFF2-40B4-BE49-F238E27FC236}">
                <a16:creationId xmlns:a16="http://schemas.microsoft.com/office/drawing/2014/main" id="{80B5796E-E688-48D1-BE31-D0AC3CD9B874}"/>
              </a:ext>
            </a:extLst>
          </p:cNvPr>
          <p:cNvGraphicFramePr>
            <a:graphicFrameLocks noGrp="1"/>
          </p:cNvGraphicFramePr>
          <p:nvPr>
            <p:extLst>
              <p:ext uri="{D42A27DB-BD31-4B8C-83A1-F6EECF244321}">
                <p14:modId xmlns:p14="http://schemas.microsoft.com/office/powerpoint/2010/main" val="1020400206"/>
              </p:ext>
            </p:extLst>
          </p:nvPr>
        </p:nvGraphicFramePr>
        <p:xfrm>
          <a:off x="195274" y="5030665"/>
          <a:ext cx="1642110" cy="3048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439370738"/>
                    </a:ext>
                  </a:extLst>
                </a:gridCol>
                <a:gridCol w="821055">
                  <a:extLst>
                    <a:ext uri="{9D8B030D-6E8A-4147-A177-3AD203B41FA5}">
                      <a16:colId xmlns:a16="http://schemas.microsoft.com/office/drawing/2014/main" val="82153837"/>
                    </a:ext>
                  </a:extLst>
                </a:gridCol>
              </a:tblGrid>
              <a:tr h="133258">
                <a:tc>
                  <a:txBody>
                    <a:bodyPr/>
                    <a:lstStyle/>
                    <a:p>
                      <a:r>
                        <a:rPr lang="en-US" sz="1400" dirty="0">
                          <a:latin typeface="Prestige12 BT" panose="02070509030506020304" pitchFamily="49" charset="0"/>
                        </a:rPr>
                        <a:t>Bogus</a:t>
                      </a:r>
                    </a:p>
                  </a:txBody>
                  <a:tcPr>
                    <a:solidFill>
                      <a:schemeClr val="accent2"/>
                    </a:solidFill>
                  </a:tcPr>
                </a:tc>
                <a:tc>
                  <a:txBody>
                    <a:bodyPr/>
                    <a:lstStyle/>
                    <a:p>
                      <a:r>
                        <a:rPr lang="en-US" sz="1400" dirty="0">
                          <a:latin typeface="Prestige12 BT" panose="02070509030506020304" pitchFamily="49" charset="0"/>
                        </a:rPr>
                        <a:t>Bogus</a:t>
                      </a:r>
                    </a:p>
                  </a:txBody>
                  <a:tcPr>
                    <a:solidFill>
                      <a:schemeClr val="accent2"/>
                    </a:solidFill>
                  </a:tcPr>
                </a:tc>
                <a:extLst>
                  <a:ext uri="{0D108BD9-81ED-4DB2-BD59-A6C34878D82A}">
                    <a16:rowId xmlns:a16="http://schemas.microsoft.com/office/drawing/2014/main" val="2337796069"/>
                  </a:ext>
                </a:extLst>
              </a:tr>
            </a:tbl>
          </a:graphicData>
        </a:graphic>
      </p:graphicFrame>
      <p:graphicFrame>
        <p:nvGraphicFramePr>
          <p:cNvPr id="21" name="Table 20">
            <a:extLst>
              <a:ext uri="{FF2B5EF4-FFF2-40B4-BE49-F238E27FC236}">
                <a16:creationId xmlns:a16="http://schemas.microsoft.com/office/drawing/2014/main" id="{053944E5-594E-4AE8-ABA0-24644BF78F72}"/>
              </a:ext>
            </a:extLst>
          </p:cNvPr>
          <p:cNvGraphicFramePr>
            <a:graphicFrameLocks noGrp="1"/>
          </p:cNvGraphicFramePr>
          <p:nvPr>
            <p:extLst>
              <p:ext uri="{D42A27DB-BD31-4B8C-83A1-F6EECF244321}">
                <p14:modId xmlns:p14="http://schemas.microsoft.com/office/powerpoint/2010/main" val="4266752000"/>
              </p:ext>
            </p:extLst>
          </p:nvPr>
        </p:nvGraphicFramePr>
        <p:xfrm>
          <a:off x="2555818" y="6143562"/>
          <a:ext cx="1642110" cy="3048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439370738"/>
                    </a:ext>
                  </a:extLst>
                </a:gridCol>
                <a:gridCol w="821055">
                  <a:extLst>
                    <a:ext uri="{9D8B030D-6E8A-4147-A177-3AD203B41FA5}">
                      <a16:colId xmlns:a16="http://schemas.microsoft.com/office/drawing/2014/main" val="82153837"/>
                    </a:ext>
                  </a:extLst>
                </a:gridCol>
              </a:tblGrid>
              <a:tr h="0">
                <a:tc>
                  <a:txBody>
                    <a:bodyPr/>
                    <a:lstStyle/>
                    <a:p>
                      <a:r>
                        <a:rPr lang="en-US" sz="1400" dirty="0">
                          <a:latin typeface="Prestige12 BT" panose="02070509030506020304" pitchFamily="49" charset="0"/>
                        </a:rPr>
                        <a:t>Bogus</a:t>
                      </a:r>
                    </a:p>
                  </a:txBody>
                  <a:tcPr>
                    <a:solidFill>
                      <a:schemeClr val="accent2"/>
                    </a:solidFill>
                  </a:tcPr>
                </a:tc>
                <a:tc>
                  <a:txBody>
                    <a:bodyPr/>
                    <a:lstStyle/>
                    <a:p>
                      <a:r>
                        <a:rPr lang="en-US" sz="1400" dirty="0">
                          <a:latin typeface="Prestige12 BT" panose="02070509030506020304" pitchFamily="49" charset="0"/>
                        </a:rPr>
                        <a:t>Bogus</a:t>
                      </a:r>
                    </a:p>
                  </a:txBody>
                  <a:tcPr>
                    <a:solidFill>
                      <a:schemeClr val="accent2"/>
                    </a:solidFill>
                  </a:tcPr>
                </a:tc>
                <a:extLst>
                  <a:ext uri="{0D108BD9-81ED-4DB2-BD59-A6C34878D82A}">
                    <a16:rowId xmlns:a16="http://schemas.microsoft.com/office/drawing/2014/main" val="2337796069"/>
                  </a:ext>
                </a:extLst>
              </a:tr>
            </a:tbl>
          </a:graphicData>
        </a:graphic>
      </p:graphicFrame>
      <p:graphicFrame>
        <p:nvGraphicFramePr>
          <p:cNvPr id="22" name="Table 21">
            <a:extLst>
              <a:ext uri="{FF2B5EF4-FFF2-40B4-BE49-F238E27FC236}">
                <a16:creationId xmlns:a16="http://schemas.microsoft.com/office/drawing/2014/main" id="{70131EC3-45D5-4158-BDFE-378B6B74F655}"/>
              </a:ext>
            </a:extLst>
          </p:cNvPr>
          <p:cNvGraphicFramePr>
            <a:graphicFrameLocks noGrp="1"/>
          </p:cNvGraphicFramePr>
          <p:nvPr>
            <p:extLst>
              <p:ext uri="{D42A27DB-BD31-4B8C-83A1-F6EECF244321}">
                <p14:modId xmlns:p14="http://schemas.microsoft.com/office/powerpoint/2010/main" val="2839195265"/>
              </p:ext>
            </p:extLst>
          </p:nvPr>
        </p:nvGraphicFramePr>
        <p:xfrm>
          <a:off x="4965644" y="6485805"/>
          <a:ext cx="1642110" cy="3048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439370738"/>
                    </a:ext>
                  </a:extLst>
                </a:gridCol>
                <a:gridCol w="821055">
                  <a:extLst>
                    <a:ext uri="{9D8B030D-6E8A-4147-A177-3AD203B41FA5}">
                      <a16:colId xmlns:a16="http://schemas.microsoft.com/office/drawing/2014/main" val="82153837"/>
                    </a:ext>
                  </a:extLst>
                </a:gridCol>
              </a:tblGrid>
              <a:tr h="0">
                <a:tc>
                  <a:txBody>
                    <a:bodyPr/>
                    <a:lstStyle/>
                    <a:p>
                      <a:r>
                        <a:rPr lang="en-US" sz="1400" dirty="0">
                          <a:latin typeface="Prestige12 BT" panose="02070509030506020304" pitchFamily="49" charset="0"/>
                        </a:rPr>
                        <a:t>Bogus</a:t>
                      </a:r>
                    </a:p>
                  </a:txBody>
                  <a:tcPr>
                    <a:solidFill>
                      <a:schemeClr val="accent2"/>
                    </a:solidFill>
                  </a:tcPr>
                </a:tc>
                <a:tc>
                  <a:txBody>
                    <a:bodyPr/>
                    <a:lstStyle/>
                    <a:p>
                      <a:r>
                        <a:rPr lang="en-US" sz="1400" dirty="0">
                          <a:latin typeface="Prestige12 BT" panose="02070509030506020304" pitchFamily="49" charset="0"/>
                        </a:rPr>
                        <a:t>Bogus</a:t>
                      </a:r>
                    </a:p>
                  </a:txBody>
                  <a:tcPr>
                    <a:solidFill>
                      <a:schemeClr val="accent2"/>
                    </a:solidFill>
                  </a:tcPr>
                </a:tc>
                <a:extLst>
                  <a:ext uri="{0D108BD9-81ED-4DB2-BD59-A6C34878D82A}">
                    <a16:rowId xmlns:a16="http://schemas.microsoft.com/office/drawing/2014/main" val="2337796069"/>
                  </a:ext>
                </a:extLst>
              </a:tr>
            </a:tbl>
          </a:graphicData>
        </a:graphic>
      </p:graphicFrame>
      <p:graphicFrame>
        <p:nvGraphicFramePr>
          <p:cNvPr id="23" name="Table 22">
            <a:extLst>
              <a:ext uri="{FF2B5EF4-FFF2-40B4-BE49-F238E27FC236}">
                <a16:creationId xmlns:a16="http://schemas.microsoft.com/office/drawing/2014/main" id="{6ABAC0D9-A983-4EDC-A5B9-5DC383489497}"/>
              </a:ext>
            </a:extLst>
          </p:cNvPr>
          <p:cNvGraphicFramePr>
            <a:graphicFrameLocks noGrp="1"/>
          </p:cNvGraphicFramePr>
          <p:nvPr>
            <p:extLst>
              <p:ext uri="{D42A27DB-BD31-4B8C-83A1-F6EECF244321}">
                <p14:modId xmlns:p14="http://schemas.microsoft.com/office/powerpoint/2010/main" val="2925780885"/>
              </p:ext>
            </p:extLst>
          </p:nvPr>
        </p:nvGraphicFramePr>
        <p:xfrm>
          <a:off x="7074412" y="6478716"/>
          <a:ext cx="1642110" cy="3048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439370738"/>
                    </a:ext>
                  </a:extLst>
                </a:gridCol>
                <a:gridCol w="821055">
                  <a:extLst>
                    <a:ext uri="{9D8B030D-6E8A-4147-A177-3AD203B41FA5}">
                      <a16:colId xmlns:a16="http://schemas.microsoft.com/office/drawing/2014/main" val="82153837"/>
                    </a:ext>
                  </a:extLst>
                </a:gridCol>
              </a:tblGrid>
              <a:tr h="0">
                <a:tc>
                  <a:txBody>
                    <a:bodyPr/>
                    <a:lstStyle/>
                    <a:p>
                      <a:r>
                        <a:rPr lang="en-US" sz="1400" dirty="0">
                          <a:latin typeface="Prestige12 BT" panose="02070509030506020304" pitchFamily="49" charset="0"/>
                        </a:rPr>
                        <a:t>Bogus</a:t>
                      </a:r>
                    </a:p>
                  </a:txBody>
                  <a:tcPr>
                    <a:solidFill>
                      <a:schemeClr val="accent2"/>
                    </a:solidFill>
                  </a:tcPr>
                </a:tc>
                <a:tc>
                  <a:txBody>
                    <a:bodyPr/>
                    <a:lstStyle/>
                    <a:p>
                      <a:r>
                        <a:rPr lang="en-US" sz="1400" dirty="0">
                          <a:latin typeface="Prestige12 BT" panose="02070509030506020304" pitchFamily="49" charset="0"/>
                        </a:rPr>
                        <a:t>Bogus</a:t>
                      </a:r>
                    </a:p>
                  </a:txBody>
                  <a:tcPr>
                    <a:solidFill>
                      <a:schemeClr val="accent2"/>
                    </a:solidFill>
                  </a:tcPr>
                </a:tc>
                <a:extLst>
                  <a:ext uri="{0D108BD9-81ED-4DB2-BD59-A6C34878D82A}">
                    <a16:rowId xmlns:a16="http://schemas.microsoft.com/office/drawing/2014/main" val="2337796069"/>
                  </a:ext>
                </a:extLst>
              </a:tr>
            </a:tbl>
          </a:graphicData>
        </a:graphic>
      </p:graphicFrame>
    </p:spTree>
    <p:custDataLst>
      <p:tags r:id="rId1"/>
    </p:custDataLst>
    <p:extLst>
      <p:ext uri="{BB962C8B-B14F-4D97-AF65-F5344CB8AC3E}">
        <p14:creationId xmlns:p14="http://schemas.microsoft.com/office/powerpoint/2010/main" val="3116814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Fixed points are not unique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42336" y="4632960"/>
                <a:ext cx="8173014" cy="2088516"/>
              </a:xfrm>
            </p:spPr>
            <p:txBody>
              <a:bodyPr>
                <a:normAutofit/>
              </a:bodyPr>
              <a:lstStyle/>
              <a:p>
                <a:pPr>
                  <a:buSzPct val="75000"/>
                </a:pPr>
                <a:r>
                  <a:rPr lang="en-US" dirty="0"/>
                  <a:t>If </a:t>
                </a:r>
                <a14:m>
                  <m:oMath xmlns:m="http://schemas.openxmlformats.org/officeDocument/2006/math">
                    <m:r>
                      <a:rPr lang="en-US" i="1" dirty="0">
                        <a:latin typeface="Cambria Math"/>
                      </a:rPr>
                      <m:t>𝑞</m:t>
                    </m:r>
                  </m:oMath>
                </a14:m>
                <a:r>
                  <a:rPr lang="en-US" dirty="0"/>
                  <a:t> is</a:t>
                </a:r>
                <a:r>
                  <a:rPr lang="en-US" dirty="0">
                    <a:solidFill>
                      <a:schemeClr val="accent2"/>
                    </a:solidFill>
                  </a:rPr>
                  <a:t> monotone, </a:t>
                </a:r>
                <a:r>
                  <a:rPr lang="en-US" dirty="0"/>
                  <a:t>then starting from </a:t>
                </a:r>
                <a14:m>
                  <m:oMath xmlns:m="http://schemas.openxmlformats.org/officeDocument/2006/math">
                    <m:r>
                      <a:rPr lang="en-US" i="1" dirty="0">
                        <a:latin typeface="Cambria Math"/>
                      </a:rPr>
                      <m:t>∅</m:t>
                    </m:r>
                  </m:oMath>
                </a14:m>
                <a:r>
                  <a:rPr lang="en-US" dirty="0"/>
                  <a:t> produces the </a:t>
                </a:r>
                <a:r>
                  <a:rPr lang="en-US" dirty="0">
                    <a:solidFill>
                      <a:schemeClr val="accent2"/>
                    </a:solidFill>
                  </a:rPr>
                  <a:t>unique minimal fixed point</a:t>
                </a:r>
                <a:endParaRPr lang="en-US" dirty="0"/>
              </a:p>
              <a:p>
                <a:pPr lvl="1">
                  <a:buSzPct val="75000"/>
                </a:pPr>
                <a:r>
                  <a:rPr lang="en-US" dirty="0"/>
                  <a:t>All these fixed points must contain this fixed point</a:t>
                </a:r>
              </a:p>
              <a:p>
                <a:pPr marL="457200" lvl="1" indent="0">
                  <a:buSzPct val="75000"/>
                  <a:buNone/>
                </a:pPr>
                <a:r>
                  <a:rPr lang="en-US" dirty="0">
                    <a:sym typeface="Wingdings" panose="05000000000000000000" pitchFamily="2" charset="2"/>
                  </a:rPr>
                  <a:t> </a:t>
                </a:r>
                <a:r>
                  <a:rPr lang="en-US" dirty="0"/>
                  <a:t>the unique </a:t>
                </a:r>
                <a:r>
                  <a:rPr lang="en-US" dirty="0">
                    <a:solidFill>
                      <a:schemeClr val="accent2"/>
                    </a:solidFill>
                  </a:rPr>
                  <a:t>minimal</a:t>
                </a:r>
                <a:r>
                  <a:rPr lang="en-US" dirty="0"/>
                  <a:t> fixed point is the “natural” answer</a:t>
                </a:r>
              </a:p>
              <a:p>
                <a:pPr lvl="1">
                  <a:buSzPct val="75000"/>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42336" y="4632960"/>
                <a:ext cx="8173014" cy="2088516"/>
              </a:xfrm>
              <a:blipFill>
                <a:blip r:embed="rId6"/>
                <a:stretch>
                  <a:fillRect l="-746" t="-4665" r="-2237"/>
                </a:stretch>
              </a:blipFill>
            </p:spPr>
            <p:txBody>
              <a:bodyPr/>
              <a:lstStyle/>
              <a:p>
                <a:r>
                  <a:rPr lang="en-CA">
                    <a:noFill/>
                  </a:rPr>
                  <a:t> </a:t>
                </a:r>
              </a:p>
            </p:txBody>
          </p:sp>
        </mc:Fallback>
      </mc:AlternateContent>
      <p:sp>
        <p:nvSpPr>
          <p:cNvPr id="4" name="Slide Number Placeholder 3"/>
          <p:cNvSpPr>
            <a:spLocks noGrp="1"/>
          </p:cNvSpPr>
          <p:nvPr>
            <p:ph type="sldNum" sz="quarter" idx="12"/>
          </p:nvPr>
        </p:nvSpPr>
        <p:spPr/>
        <p:txBody>
          <a:bodyPr/>
          <a:lstStyle/>
          <a:p>
            <a:fld id="{44C99FA5-7995-46A9-A97E-16E38AD58950}" type="slidenum">
              <a:rPr lang="en-US" smtClean="0"/>
              <a:t>15</a:t>
            </a:fld>
            <a:endParaRPr lang="en-US"/>
          </a:p>
        </p:txBody>
      </p:sp>
      <p:graphicFrame>
        <p:nvGraphicFramePr>
          <p:cNvPr id="6" name="Table 5"/>
          <p:cNvGraphicFramePr>
            <a:graphicFrameLocks noGrp="1"/>
          </p:cNvGraphicFramePr>
          <p:nvPr/>
        </p:nvGraphicFramePr>
        <p:xfrm>
          <a:off x="4914336" y="1277311"/>
          <a:ext cx="1642110" cy="21336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0000"/>
                    </a:ext>
                  </a:extLst>
                </a:gridCol>
                <a:gridCol w="821055">
                  <a:extLst>
                    <a:ext uri="{9D8B030D-6E8A-4147-A177-3AD203B41FA5}">
                      <a16:colId xmlns:a16="http://schemas.microsoft.com/office/drawing/2014/main" val="20001"/>
                    </a:ext>
                  </a:extLst>
                </a:gridCol>
              </a:tblGrid>
              <a:tr h="133258">
                <a:tc>
                  <a:txBody>
                    <a:bodyPr/>
                    <a:lstStyle/>
                    <a:p>
                      <a:r>
                        <a:rPr lang="en-US" sz="1400" i="1" dirty="0"/>
                        <a:t>parent</a:t>
                      </a:r>
                    </a:p>
                  </a:txBody>
                  <a:tcPr/>
                </a:tc>
                <a:tc>
                  <a:txBody>
                    <a:bodyPr/>
                    <a:lstStyle/>
                    <a:p>
                      <a:r>
                        <a:rPr lang="en-US" sz="1400" i="1" dirty="0"/>
                        <a:t>child</a:t>
                      </a:r>
                    </a:p>
                  </a:txBody>
                  <a:tcPr/>
                </a:tc>
                <a:extLst>
                  <a:ext uri="{0D108BD9-81ED-4DB2-BD59-A6C34878D82A}">
                    <a16:rowId xmlns:a16="http://schemas.microsoft.com/office/drawing/2014/main" val="10000"/>
                  </a:ext>
                </a:extLst>
              </a:tr>
              <a:tr h="133258">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1"/>
                  </a:ext>
                </a:extLst>
              </a:tr>
              <a:tr h="163999">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2"/>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3"/>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4"/>
                  </a:ext>
                </a:extLst>
              </a:tr>
              <a:tr h="133258">
                <a:tc>
                  <a:txBody>
                    <a:bodyPr/>
                    <a:lstStyle/>
                    <a:p>
                      <a:r>
                        <a:rPr lang="en-US" sz="1400" dirty="0">
                          <a:latin typeface="Prestige12 BT" panose="02070509030506020304" pitchFamily="49" charset="0"/>
                        </a:rPr>
                        <a:t>Abe</a:t>
                      </a:r>
                    </a:p>
                  </a:txBody>
                  <a:tcPr/>
                </a:tc>
                <a:tc>
                  <a:txBody>
                    <a:bodyPr/>
                    <a:lstStyle/>
                    <a:p>
                      <a:r>
                        <a:rPr lang="en-US" sz="1400" dirty="0">
                          <a:latin typeface="Prestige12 BT" panose="02070509030506020304" pitchFamily="49" charset="0"/>
                        </a:rPr>
                        <a:t>Homer</a:t>
                      </a:r>
                    </a:p>
                  </a:txBody>
                  <a:tcPr/>
                </a:tc>
                <a:extLst>
                  <a:ext uri="{0D108BD9-81ED-4DB2-BD59-A6C34878D82A}">
                    <a16:rowId xmlns:a16="http://schemas.microsoft.com/office/drawing/2014/main" val="10005"/>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Abe</a:t>
                      </a:r>
                    </a:p>
                  </a:txBody>
                  <a:tcPr/>
                </a:tc>
                <a:extLst>
                  <a:ext uri="{0D108BD9-81ED-4DB2-BD59-A6C34878D82A}">
                    <a16:rowId xmlns:a16="http://schemas.microsoft.com/office/drawing/2014/main" val="10006"/>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2706992722"/>
              </p:ext>
            </p:extLst>
          </p:nvPr>
        </p:nvGraphicFramePr>
        <p:xfrm>
          <a:off x="7051268" y="711567"/>
          <a:ext cx="1642110" cy="3962400"/>
        </p:xfrm>
        <a:graphic>
          <a:graphicData uri="http://schemas.openxmlformats.org/drawingml/2006/table">
            <a:tbl>
              <a:tblPr firstRow="1" bandRow="1">
                <a:tableStyleId>{5C22544A-7EE6-4342-B048-85BDC9FD1C3A}</a:tableStyleId>
              </a:tblPr>
              <a:tblGrid>
                <a:gridCol w="821055">
                  <a:extLst>
                    <a:ext uri="{9D8B030D-6E8A-4147-A177-3AD203B41FA5}">
                      <a16:colId xmlns:a16="http://schemas.microsoft.com/office/drawing/2014/main" val="20000"/>
                    </a:ext>
                  </a:extLst>
                </a:gridCol>
                <a:gridCol w="821055">
                  <a:extLst>
                    <a:ext uri="{9D8B030D-6E8A-4147-A177-3AD203B41FA5}">
                      <a16:colId xmlns:a16="http://schemas.microsoft.com/office/drawing/2014/main" val="20001"/>
                    </a:ext>
                  </a:extLst>
                </a:gridCol>
              </a:tblGrid>
              <a:tr h="133258">
                <a:tc>
                  <a:txBody>
                    <a:bodyPr/>
                    <a:lstStyle/>
                    <a:p>
                      <a:r>
                        <a:rPr lang="en-US" sz="1400" i="1" dirty="0" err="1"/>
                        <a:t>anc</a:t>
                      </a:r>
                      <a:endParaRPr lang="en-US" sz="1400" i="1" dirty="0"/>
                    </a:p>
                  </a:txBody>
                  <a:tcPr/>
                </a:tc>
                <a:tc>
                  <a:txBody>
                    <a:bodyPr/>
                    <a:lstStyle/>
                    <a:p>
                      <a:r>
                        <a:rPr lang="en-US" sz="1400" i="1" dirty="0" err="1"/>
                        <a:t>desc</a:t>
                      </a:r>
                      <a:endParaRPr lang="en-US" sz="1400" i="1" dirty="0"/>
                    </a:p>
                  </a:txBody>
                  <a:tcPr/>
                </a:tc>
                <a:extLst>
                  <a:ext uri="{0D108BD9-81ED-4DB2-BD59-A6C34878D82A}">
                    <a16:rowId xmlns:a16="http://schemas.microsoft.com/office/drawing/2014/main" val="10000"/>
                  </a:ext>
                </a:extLst>
              </a:tr>
              <a:tr h="133258">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1"/>
                  </a:ext>
                </a:extLst>
              </a:tr>
              <a:tr h="163999">
                <a:tc>
                  <a:txBody>
                    <a:bodyPr/>
                    <a:lstStyle/>
                    <a:p>
                      <a:r>
                        <a:rPr lang="en-US" sz="1400" dirty="0">
                          <a:latin typeface="Prestige12 BT" panose="02070509030506020304" pitchFamily="49" charset="0"/>
                        </a:rPr>
                        <a:t>Homer</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2"/>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3"/>
                  </a:ext>
                </a:extLst>
              </a:tr>
              <a:tr h="133258">
                <a:tc>
                  <a:txBody>
                    <a:bodyPr/>
                    <a:lstStyle/>
                    <a:p>
                      <a:r>
                        <a:rPr lang="en-US" sz="1400" dirty="0">
                          <a:latin typeface="Prestige12 BT" panose="02070509030506020304" pitchFamily="49" charset="0"/>
                        </a:rPr>
                        <a:t>Marge</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4"/>
                  </a:ext>
                </a:extLst>
              </a:tr>
              <a:tr h="133258">
                <a:tc>
                  <a:txBody>
                    <a:bodyPr/>
                    <a:lstStyle/>
                    <a:p>
                      <a:r>
                        <a:rPr lang="en-US" sz="1400" dirty="0">
                          <a:latin typeface="Prestige12 BT" panose="02070509030506020304" pitchFamily="49" charset="0"/>
                        </a:rPr>
                        <a:t>Abe</a:t>
                      </a:r>
                    </a:p>
                  </a:txBody>
                  <a:tcPr/>
                </a:tc>
                <a:tc>
                  <a:txBody>
                    <a:bodyPr/>
                    <a:lstStyle/>
                    <a:p>
                      <a:r>
                        <a:rPr lang="en-US" sz="1400" dirty="0">
                          <a:latin typeface="Prestige12 BT" panose="02070509030506020304" pitchFamily="49" charset="0"/>
                        </a:rPr>
                        <a:t>Homer</a:t>
                      </a:r>
                    </a:p>
                  </a:txBody>
                  <a:tcPr/>
                </a:tc>
                <a:extLst>
                  <a:ext uri="{0D108BD9-81ED-4DB2-BD59-A6C34878D82A}">
                    <a16:rowId xmlns:a16="http://schemas.microsoft.com/office/drawing/2014/main" val="10005"/>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Abe</a:t>
                      </a:r>
                    </a:p>
                  </a:txBody>
                  <a:tcPr/>
                </a:tc>
                <a:extLst>
                  <a:ext uri="{0D108BD9-81ED-4DB2-BD59-A6C34878D82A}">
                    <a16:rowId xmlns:a16="http://schemas.microsoft.com/office/drawing/2014/main" val="10006"/>
                  </a:ext>
                </a:extLst>
              </a:tr>
              <a:tr h="133258">
                <a:tc>
                  <a:txBody>
                    <a:bodyPr/>
                    <a:lstStyle/>
                    <a:p>
                      <a:r>
                        <a:rPr lang="en-US" sz="1400" dirty="0">
                          <a:latin typeface="Prestige12 BT" panose="02070509030506020304" pitchFamily="49" charset="0"/>
                        </a:rPr>
                        <a:t>Abe</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07"/>
                  </a:ext>
                </a:extLst>
              </a:tr>
              <a:tr h="133258">
                <a:tc>
                  <a:txBody>
                    <a:bodyPr/>
                    <a:lstStyle/>
                    <a:p>
                      <a:r>
                        <a:rPr lang="en-US" sz="1400" dirty="0">
                          <a:latin typeface="Prestige12 BT" panose="02070509030506020304" pitchFamily="49" charset="0"/>
                        </a:rPr>
                        <a:t>Abe</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08"/>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Homer</a:t>
                      </a:r>
                    </a:p>
                  </a:txBody>
                  <a:tcPr/>
                </a:tc>
                <a:extLst>
                  <a:ext uri="{0D108BD9-81ED-4DB2-BD59-A6C34878D82A}">
                    <a16:rowId xmlns:a16="http://schemas.microsoft.com/office/drawing/2014/main" val="10009"/>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Bart</a:t>
                      </a:r>
                    </a:p>
                  </a:txBody>
                  <a:tcPr/>
                </a:tc>
                <a:extLst>
                  <a:ext uri="{0D108BD9-81ED-4DB2-BD59-A6C34878D82A}">
                    <a16:rowId xmlns:a16="http://schemas.microsoft.com/office/drawing/2014/main" val="10010"/>
                  </a:ext>
                </a:extLst>
              </a:tr>
              <a:tr h="133258">
                <a:tc>
                  <a:txBody>
                    <a:bodyPr/>
                    <a:lstStyle/>
                    <a:p>
                      <a:r>
                        <a:rPr lang="en-US" sz="1400" dirty="0">
                          <a:latin typeface="Prestige12 BT" panose="02070509030506020304" pitchFamily="49" charset="0"/>
                        </a:rPr>
                        <a:t>Ape</a:t>
                      </a:r>
                    </a:p>
                  </a:txBody>
                  <a:tcPr/>
                </a:tc>
                <a:tc>
                  <a:txBody>
                    <a:bodyPr/>
                    <a:lstStyle/>
                    <a:p>
                      <a:r>
                        <a:rPr lang="en-US" sz="1400" dirty="0">
                          <a:latin typeface="Prestige12 BT" panose="02070509030506020304" pitchFamily="49" charset="0"/>
                        </a:rPr>
                        <a:t>Lisa</a:t>
                      </a:r>
                    </a:p>
                  </a:txBody>
                  <a:tcPr/>
                </a:tc>
                <a:extLst>
                  <a:ext uri="{0D108BD9-81ED-4DB2-BD59-A6C34878D82A}">
                    <a16:rowId xmlns:a16="http://schemas.microsoft.com/office/drawing/2014/main" val="10011"/>
                  </a:ext>
                </a:extLst>
              </a:tr>
              <a:tr h="133258">
                <a:tc>
                  <a:txBody>
                    <a:bodyPr/>
                    <a:lstStyle/>
                    <a:p>
                      <a:r>
                        <a:rPr lang="en-US" sz="1400" dirty="0">
                          <a:latin typeface="Prestige12 BT" panose="02070509030506020304" pitchFamily="49" charset="0"/>
                        </a:rPr>
                        <a:t>Bogus</a:t>
                      </a:r>
                    </a:p>
                  </a:txBody>
                  <a:tcPr>
                    <a:solidFill>
                      <a:schemeClr val="accent2"/>
                    </a:solidFill>
                  </a:tcPr>
                </a:tc>
                <a:tc>
                  <a:txBody>
                    <a:bodyPr/>
                    <a:lstStyle/>
                    <a:p>
                      <a:r>
                        <a:rPr lang="en-US" sz="1400" dirty="0">
                          <a:latin typeface="Prestige12 BT" panose="02070509030506020304" pitchFamily="49" charset="0"/>
                        </a:rPr>
                        <a:t>Bogus</a:t>
                      </a:r>
                    </a:p>
                  </a:txBody>
                  <a:tcPr>
                    <a:solidFill>
                      <a:schemeClr val="accent2"/>
                    </a:solidFill>
                  </a:tcPr>
                </a:tc>
                <a:extLst>
                  <a:ext uri="{0D108BD9-81ED-4DB2-BD59-A6C34878D82A}">
                    <a16:rowId xmlns:a16="http://schemas.microsoft.com/office/drawing/2014/main" val="10012"/>
                  </a:ext>
                </a:extLst>
              </a:tr>
            </a:tbl>
          </a:graphicData>
        </a:graphic>
      </p:graphicFrame>
      <p:sp>
        <p:nvSpPr>
          <p:cNvPr id="8" name="Arc 7"/>
          <p:cNvSpPr/>
          <p:nvPr/>
        </p:nvSpPr>
        <p:spPr>
          <a:xfrm rot="5400000">
            <a:off x="8541886" y="4052192"/>
            <a:ext cx="476597" cy="498763"/>
          </a:xfrm>
          <a:prstGeom prst="arc">
            <a:avLst>
              <a:gd name="adj1" fmla="val 7647035"/>
              <a:gd name="adj2" fmla="val 3141148"/>
            </a:avLst>
          </a:prstGeom>
          <a:ln w="25400">
            <a:solidFill>
              <a:schemeClr val="accent2"/>
            </a:solidFill>
            <a:headEnd type="stealth" w="med" len="lg"/>
            <a:tailEnd type="none" w="med"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 Box 8"/>
          <p:cNvSpPr txBox="1">
            <a:spLocks noChangeArrowheads="1"/>
          </p:cNvSpPr>
          <p:nvPr/>
        </p:nvSpPr>
        <p:spPr bwMode="auto">
          <a:xfrm>
            <a:off x="4068807" y="3906987"/>
            <a:ext cx="2903359"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lgn="r">
              <a:buFont typeface="Wingdings" pitchFamily="2" charset="2"/>
              <a:buNone/>
            </a:pPr>
            <a:r>
              <a:rPr lang="en-US" sz="2000" i="1" dirty="0">
                <a:solidFill>
                  <a:schemeClr val="accent2"/>
                </a:solidFill>
                <a:latin typeface="+mn-lt"/>
              </a:rPr>
              <a:t>Note how the bogus tuple</a:t>
            </a:r>
            <a:br>
              <a:rPr lang="en-US" sz="2000" i="1" dirty="0">
                <a:solidFill>
                  <a:schemeClr val="accent2"/>
                </a:solidFill>
                <a:latin typeface="+mn-lt"/>
              </a:rPr>
            </a:br>
            <a:r>
              <a:rPr lang="en-US" sz="2000" i="1" dirty="0">
                <a:solidFill>
                  <a:schemeClr val="accent2"/>
                </a:solidFill>
                <a:latin typeface="+mn-lt"/>
              </a:rPr>
              <a:t>reinforces itself!</a:t>
            </a:r>
          </a:p>
        </p:txBody>
      </p:sp>
      <p:sp>
        <p:nvSpPr>
          <p:cNvPr id="11" name="Rectangle 10">
            <a:extLst>
              <a:ext uri="{FF2B5EF4-FFF2-40B4-BE49-F238E27FC236}">
                <a16:creationId xmlns:a16="http://schemas.microsoft.com/office/drawing/2014/main" id="{EC5B7179-D9BF-42E0-9826-C4532C27ADDC}"/>
              </a:ext>
            </a:extLst>
          </p:cNvPr>
          <p:cNvSpPr/>
          <p:nvPr/>
        </p:nvSpPr>
        <p:spPr>
          <a:xfrm>
            <a:off x="450622" y="1487957"/>
            <a:ext cx="3768820" cy="1941041"/>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buFont typeface="Wingdings" pitchFamily="2" charset="2"/>
              <a:buNone/>
            </a:pPr>
            <a:r>
              <a:rPr lang="en-US" sz="1600" dirty="0">
                <a:solidFill>
                  <a:schemeClr val="accent2"/>
                </a:solidFill>
                <a:latin typeface="Prestige12 BT" panose="02070509030506020304" pitchFamily="49" charset="0"/>
              </a:rPr>
              <a:t>WITH RECURSIVE</a:t>
            </a:r>
            <a:br>
              <a:rPr lang="en-US" sz="1600" dirty="0">
                <a:solidFill>
                  <a:schemeClr val="accent2"/>
                </a:solidFill>
                <a:latin typeface="Prestige12 BT" panose="02070509030506020304" pitchFamily="49" charset="0"/>
              </a:rPr>
            </a:b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a:t>
            </a:r>
            <a:r>
              <a:rPr lang="en-US" sz="1600" dirty="0" err="1">
                <a:latin typeface="Prestige12 BT" panose="02070509030506020304" pitchFamily="49" charset="0"/>
              </a:rPr>
              <a:t>anc</a:t>
            </a:r>
            <a:r>
              <a:rPr lang="en-US" sz="1600" dirty="0">
                <a:latin typeface="Prestige12 BT" panose="02070509030506020304" pitchFamily="49" charset="0"/>
              </a:rPr>
              <a:t>, desc) </a:t>
            </a:r>
            <a:r>
              <a:rPr lang="en-US" sz="1600" dirty="0">
                <a:solidFill>
                  <a:schemeClr val="accent2"/>
                </a:solidFill>
                <a:latin typeface="Prestige12 BT" panose="02070509030506020304" pitchFamily="49" charset="0"/>
              </a:rPr>
              <a:t>AS</a:t>
            </a:r>
            <a:br>
              <a:rPr lang="en-US" sz="1600" dirty="0">
                <a:solidFill>
                  <a:schemeClr val="tx2"/>
                </a:solidFill>
                <a:latin typeface="Prestige12 BT" panose="02070509030506020304" pitchFamily="49" charset="0"/>
              </a:rPr>
            </a:br>
            <a:r>
              <a:rPr lang="en-US" sz="1600" dirty="0">
                <a:latin typeface="Prestige12 BT" panose="02070509030506020304" pitchFamily="49" charset="0"/>
              </a:rPr>
              <a:t>((SELECT parent, child FROM Parent)</a:t>
            </a:r>
            <a:br>
              <a:rPr lang="en-US" sz="1600" dirty="0">
                <a:latin typeface="Prestige12 BT" panose="02070509030506020304" pitchFamily="49" charset="0"/>
              </a:rPr>
            </a:br>
            <a:r>
              <a:rPr lang="en-US" sz="1600" dirty="0">
                <a:latin typeface="Prestige12 BT" panose="02070509030506020304" pitchFamily="49" charset="0"/>
              </a:rPr>
              <a:t> UNION</a:t>
            </a:r>
            <a:br>
              <a:rPr lang="en-US" sz="1600" dirty="0">
                <a:latin typeface="Prestige12 BT" panose="02070509030506020304" pitchFamily="49" charset="0"/>
              </a:rPr>
            </a:br>
            <a:r>
              <a:rPr lang="en-US" sz="1600" dirty="0">
                <a:latin typeface="Prestige12 BT" panose="02070509030506020304" pitchFamily="49" charset="0"/>
              </a:rPr>
              <a:t> (SELECT a1.anc, a2.desc</a:t>
            </a:r>
            <a:br>
              <a:rPr lang="en-US" sz="1600" dirty="0">
                <a:latin typeface="Prestige12 BT" panose="02070509030506020304" pitchFamily="49" charset="0"/>
              </a:rPr>
            </a:br>
            <a:r>
              <a:rPr lang="en-US" sz="1600" dirty="0">
                <a:latin typeface="Prestige12 BT" panose="02070509030506020304" pitchFamily="49" charset="0"/>
              </a:rPr>
              <a:t>  FROM </a:t>
            </a: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 a1, </a:t>
            </a: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 a2</a:t>
            </a:r>
            <a:br>
              <a:rPr lang="en-US" sz="1600" dirty="0">
                <a:latin typeface="Prestige12 BT" panose="02070509030506020304" pitchFamily="49" charset="0"/>
              </a:rPr>
            </a:br>
            <a:r>
              <a:rPr lang="en-US" sz="1600" dirty="0">
                <a:latin typeface="Prestige12 BT" panose="02070509030506020304" pitchFamily="49" charset="0"/>
              </a:rPr>
              <a:t>  WHERE a1.desc = a2.anc))</a:t>
            </a:r>
            <a:br>
              <a:rPr lang="en-US" sz="1600" dirty="0">
                <a:latin typeface="Prestige12 BT" panose="02070509030506020304" pitchFamily="49" charset="0"/>
              </a:rPr>
            </a:br>
            <a:r>
              <a:rPr lang="en-US" sz="1600" dirty="0">
                <a:latin typeface="Prestige12 BT" panose="02070509030506020304" pitchFamily="49" charset="0"/>
              </a:rPr>
              <a:t>…..;</a:t>
            </a:r>
          </a:p>
        </p:txBody>
      </p:sp>
      <p:sp>
        <p:nvSpPr>
          <p:cNvPr id="14" name="Callout: Bent Line 13">
            <a:extLst>
              <a:ext uri="{FF2B5EF4-FFF2-40B4-BE49-F238E27FC236}">
                <a16:creationId xmlns:a16="http://schemas.microsoft.com/office/drawing/2014/main" id="{89935246-4DA3-4BA1-B88C-9F85898A3412}"/>
              </a:ext>
            </a:extLst>
          </p:cNvPr>
          <p:cNvSpPr/>
          <p:nvPr/>
        </p:nvSpPr>
        <p:spPr>
          <a:xfrm>
            <a:off x="2597543" y="3997465"/>
            <a:ext cx="1135076" cy="635495"/>
          </a:xfrm>
          <a:prstGeom prst="borderCallout2">
            <a:avLst>
              <a:gd name="adj1" fmla="val 18750"/>
              <a:gd name="adj2" fmla="val -8333"/>
              <a:gd name="adj3" fmla="val 18750"/>
              <a:gd name="adj4" fmla="val -16667"/>
              <a:gd name="adj5" fmla="val 112500"/>
              <a:gd name="adj6" fmla="val -42126"/>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CA" dirty="0"/>
              <a:t>Lecture 2</a:t>
            </a:r>
          </a:p>
        </p:txBody>
      </p:sp>
    </p:spTree>
    <p:custDataLst>
      <p:tags r:id="rId1"/>
    </p:custDataLst>
    <p:extLst>
      <p:ext uri="{BB962C8B-B14F-4D97-AF65-F5344CB8AC3E}">
        <p14:creationId xmlns:p14="http://schemas.microsoft.com/office/powerpoint/2010/main" val="35768583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Mixing negation with recursion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42336" y="1456854"/>
                <a:ext cx="8336151" cy="5264622"/>
              </a:xfrm>
            </p:spPr>
            <p:txBody>
              <a:bodyPr>
                <a:normAutofit/>
              </a:bodyPr>
              <a:lstStyle/>
              <a:p>
                <a:r>
                  <a:rPr lang="en-US" dirty="0"/>
                  <a:t>If </a:t>
                </a:r>
                <a14:m>
                  <m:oMath xmlns:m="http://schemas.openxmlformats.org/officeDocument/2006/math">
                    <m:r>
                      <a:rPr lang="en-US" i="1" dirty="0">
                        <a:latin typeface="Cambria Math"/>
                      </a:rPr>
                      <m:t>𝑞</m:t>
                    </m:r>
                  </m:oMath>
                </a14:m>
                <a:r>
                  <a:rPr lang="en-US" dirty="0"/>
                  <a:t> is non-monotone</a:t>
                </a:r>
              </a:p>
              <a:p>
                <a:pPr lvl="1"/>
                <a:r>
                  <a:rPr lang="en-US" dirty="0"/>
                  <a:t>The fixed-point iteration may never converge</a:t>
                </a:r>
              </a:p>
              <a:p>
                <a:pPr lvl="1"/>
                <a:r>
                  <a:rPr lang="en-US" dirty="0"/>
                  <a:t>There could be multiple minimal fixed points</a:t>
                </a:r>
              </a:p>
              <a:p>
                <a:pPr lvl="1"/>
                <a:endParaRPr lang="en-US" dirty="0"/>
              </a:p>
              <a:p>
                <a:r>
                  <a:rPr lang="en-US" dirty="0"/>
                  <a:t>Example: popular users (pop </a:t>
                </a:r>
                <a14:m>
                  <m:oMath xmlns:m="http://schemas.openxmlformats.org/officeDocument/2006/math">
                    <m:r>
                      <a:rPr lang="en-US" b="0" i="1" smtClean="0">
                        <a:latin typeface="Cambria Math" panose="02040503050406030204" pitchFamily="18" charset="0"/>
                      </a:rPr>
                      <m:t>≥</m:t>
                    </m:r>
                  </m:oMath>
                </a14:m>
                <a:r>
                  <a:rPr lang="en-US" dirty="0"/>
                  <a:t> 0.8) join either </a:t>
                </a:r>
                <a:r>
                  <a:rPr lang="en-US" dirty="0" err="1"/>
                  <a:t>SGroup</a:t>
                </a:r>
                <a:r>
                  <a:rPr lang="en-US" dirty="0"/>
                  <a:t> or </a:t>
                </a:r>
                <a:r>
                  <a:rPr lang="en-US" dirty="0" err="1"/>
                  <a:t>PGroup</a:t>
                </a:r>
                <a:endParaRPr lang="en-US" dirty="0"/>
              </a:p>
              <a:p>
                <a:pPr lvl="1"/>
                <a:r>
                  <a:rPr lang="en-US" dirty="0"/>
                  <a:t>Those not in </a:t>
                </a:r>
                <a:r>
                  <a:rPr lang="en-US" dirty="0" err="1"/>
                  <a:t>SGroup</a:t>
                </a:r>
                <a:r>
                  <a:rPr lang="en-US" dirty="0"/>
                  <a:t> should be in </a:t>
                </a:r>
                <a:r>
                  <a:rPr lang="en-US" dirty="0" err="1"/>
                  <a:t>PGroup</a:t>
                </a:r>
                <a:endParaRPr lang="en-US" dirty="0"/>
              </a:p>
              <a:p>
                <a:pPr lvl="1"/>
                <a:r>
                  <a:rPr lang="en-US" dirty="0"/>
                  <a:t>Those not in </a:t>
                </a:r>
                <a:r>
                  <a:rPr lang="en-US" dirty="0" err="1"/>
                  <a:t>GGroup</a:t>
                </a:r>
                <a:r>
                  <a:rPr lang="en-US" dirty="0"/>
                  <a:t> should be in </a:t>
                </a:r>
                <a:r>
                  <a:rPr lang="en-US" dirty="0" err="1"/>
                  <a:t>SGroup</a:t>
                </a: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42336" y="1456854"/>
                <a:ext cx="8336151" cy="5264622"/>
              </a:xfrm>
              <a:blipFill>
                <a:blip r:embed="rId6"/>
                <a:stretch>
                  <a:fillRect l="-1316" t="-1968"/>
                </a:stretch>
              </a:blipFill>
            </p:spPr>
            <p:txBody>
              <a:bodyPr/>
              <a:lstStyle/>
              <a:p>
                <a:r>
                  <a:rPr lang="en-CA">
                    <a:noFill/>
                  </a:rPr>
                  <a:t> </a:t>
                </a:r>
              </a:p>
            </p:txBody>
          </p:sp>
        </mc:Fallback>
      </mc:AlternateContent>
      <p:sp>
        <p:nvSpPr>
          <p:cNvPr id="4" name="Slide Number Placeholder 3"/>
          <p:cNvSpPr>
            <a:spLocks noGrp="1"/>
          </p:cNvSpPr>
          <p:nvPr>
            <p:ph type="sldNum" sz="quarter" idx="12"/>
          </p:nvPr>
        </p:nvSpPr>
        <p:spPr/>
        <p:txBody>
          <a:bodyPr/>
          <a:lstStyle/>
          <a:p>
            <a:fld id="{44C99FA5-7995-46A9-A97E-16E38AD58950}" type="slidenum">
              <a:rPr lang="en-US" smtClean="0"/>
              <a:t>16</a:t>
            </a:fld>
            <a:endParaRPr lang="en-US"/>
          </a:p>
        </p:txBody>
      </p:sp>
      <p:sp>
        <p:nvSpPr>
          <p:cNvPr id="5" name="Rectangle 4">
            <a:extLst>
              <a:ext uri="{FF2B5EF4-FFF2-40B4-BE49-F238E27FC236}">
                <a16:creationId xmlns:a16="http://schemas.microsoft.com/office/drawing/2014/main" id="{8C28DE02-1784-4DB4-BB31-883FAC18AE16}"/>
              </a:ext>
            </a:extLst>
          </p:cNvPr>
          <p:cNvSpPr/>
          <p:nvPr/>
        </p:nvSpPr>
        <p:spPr>
          <a:xfrm>
            <a:off x="1653158" y="4806670"/>
            <a:ext cx="5149066" cy="177724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sz="1600" dirty="0">
                <a:latin typeface="Prestige12 BT" panose="02070509030506020304" pitchFamily="49" charset="0"/>
              </a:rPr>
              <a:t>WITH RECURSIVE </a:t>
            </a:r>
            <a:r>
              <a:rPr lang="en-US" sz="1600" dirty="0" err="1">
                <a:solidFill>
                  <a:schemeClr val="accent2"/>
                </a:solidFill>
                <a:latin typeface="Prestige12 BT" panose="02070509030506020304" pitchFamily="49" charset="0"/>
              </a:rPr>
              <a:t>PGroup</a:t>
            </a:r>
            <a:r>
              <a:rPr lang="en-US" sz="1600" dirty="0">
                <a:latin typeface="Prestige12 BT" panose="02070509030506020304" pitchFamily="49" charset="0"/>
              </a:rPr>
              <a:t>(</a:t>
            </a:r>
            <a:r>
              <a:rPr lang="en-US" sz="1600" dirty="0" err="1">
                <a:latin typeface="Prestige12 BT" panose="02070509030506020304" pitchFamily="49" charset="0"/>
              </a:rPr>
              <a:t>uid</a:t>
            </a:r>
            <a:r>
              <a:rPr lang="en-US" sz="1600" dirty="0">
                <a:latin typeface="Prestige12 BT" panose="02070509030506020304" pitchFamily="49" charset="0"/>
              </a:rPr>
              <a:t>) AS</a:t>
            </a:r>
            <a:br>
              <a:rPr lang="en-US" sz="1600" dirty="0">
                <a:latin typeface="Prestige12 BT" panose="02070509030506020304" pitchFamily="49" charset="0"/>
              </a:rPr>
            </a:br>
            <a:r>
              <a:rPr lang="en-US" sz="1600" dirty="0">
                <a:latin typeface="Prestige12 BT" panose="02070509030506020304" pitchFamily="49" charset="0"/>
              </a:rPr>
              <a:t>     (SELECT </a:t>
            </a:r>
            <a:r>
              <a:rPr lang="en-US" sz="1600" dirty="0" err="1">
                <a:latin typeface="Prestige12 BT" panose="02070509030506020304" pitchFamily="49" charset="0"/>
              </a:rPr>
              <a:t>uid</a:t>
            </a:r>
            <a:r>
              <a:rPr lang="en-US" sz="1600" dirty="0">
                <a:latin typeface="Prestige12 BT" panose="02070509030506020304" pitchFamily="49" charset="0"/>
              </a:rPr>
              <a:t> FROM User WHERE pop &gt;= 0.8</a:t>
            </a:r>
            <a:br>
              <a:rPr lang="en-US" sz="1600" dirty="0">
                <a:latin typeface="Prestige12 BT" panose="02070509030506020304" pitchFamily="49" charset="0"/>
              </a:rPr>
            </a:br>
            <a:r>
              <a:rPr lang="en-US" sz="1600" dirty="0">
                <a:latin typeface="Prestige12 BT" panose="02070509030506020304" pitchFamily="49" charset="0"/>
              </a:rPr>
              <a:t>      AND </a:t>
            </a:r>
            <a:r>
              <a:rPr lang="en-US" sz="1600" dirty="0" err="1">
                <a:latin typeface="Prestige12 BT" panose="02070509030506020304" pitchFamily="49" charset="0"/>
              </a:rPr>
              <a:t>uid</a:t>
            </a:r>
            <a:r>
              <a:rPr lang="en-US" sz="1600" dirty="0">
                <a:latin typeface="Prestige12 BT" panose="02070509030506020304" pitchFamily="49" charset="0"/>
              </a:rPr>
              <a:t> NOT IN (SELECT </a:t>
            </a:r>
            <a:r>
              <a:rPr lang="en-US" sz="1600" dirty="0" err="1">
                <a:latin typeface="Prestige12 BT" panose="02070509030506020304" pitchFamily="49" charset="0"/>
              </a:rPr>
              <a:t>uid</a:t>
            </a:r>
            <a:r>
              <a:rPr lang="en-US" sz="1600" dirty="0">
                <a:latin typeface="Prestige12 BT" panose="02070509030506020304" pitchFamily="49" charset="0"/>
              </a:rPr>
              <a:t> FROM </a:t>
            </a:r>
            <a:r>
              <a:rPr lang="en-US" sz="1600" dirty="0" err="1">
                <a:solidFill>
                  <a:schemeClr val="accent2"/>
                </a:solidFill>
                <a:latin typeface="Prestige12 BT" panose="02070509030506020304" pitchFamily="49" charset="0"/>
              </a:rPr>
              <a:t>SGroup</a:t>
            </a:r>
            <a:r>
              <a:rPr lang="en-US" sz="1600" dirty="0">
                <a:latin typeface="Prestige12 BT" panose="02070509030506020304" pitchFamily="49" charset="0"/>
              </a:rPr>
              <a:t>)),</a:t>
            </a:r>
          </a:p>
          <a:p>
            <a:r>
              <a:rPr lang="en-US" sz="1600" dirty="0">
                <a:latin typeface="Prestige12 BT" panose="02070509030506020304" pitchFamily="49" charset="0"/>
              </a:rPr>
              <a:t> RECURSIVE </a:t>
            </a:r>
            <a:r>
              <a:rPr lang="en-US" sz="1600" dirty="0" err="1">
                <a:solidFill>
                  <a:schemeClr val="accent2"/>
                </a:solidFill>
                <a:latin typeface="Prestige12 BT" panose="02070509030506020304" pitchFamily="49" charset="0"/>
              </a:rPr>
              <a:t>SGroup</a:t>
            </a:r>
            <a:r>
              <a:rPr lang="en-US" sz="1600" dirty="0">
                <a:latin typeface="Prestige12 BT" panose="02070509030506020304" pitchFamily="49" charset="0"/>
              </a:rPr>
              <a:t>(</a:t>
            </a:r>
            <a:r>
              <a:rPr lang="en-US" sz="1600" dirty="0" err="1">
                <a:latin typeface="Prestige12 BT" panose="02070509030506020304" pitchFamily="49" charset="0"/>
              </a:rPr>
              <a:t>uid</a:t>
            </a:r>
            <a:r>
              <a:rPr lang="en-US" sz="1600" dirty="0">
                <a:latin typeface="Prestige12 BT" panose="02070509030506020304" pitchFamily="49" charset="0"/>
              </a:rPr>
              <a:t>) AS</a:t>
            </a:r>
            <a:br>
              <a:rPr lang="en-US" sz="1600" dirty="0">
                <a:latin typeface="Prestige12 BT" panose="02070509030506020304" pitchFamily="49" charset="0"/>
              </a:rPr>
            </a:br>
            <a:r>
              <a:rPr lang="en-US" sz="1600" dirty="0">
                <a:latin typeface="Prestige12 BT" panose="02070509030506020304" pitchFamily="49" charset="0"/>
              </a:rPr>
              <a:t>     (SELECT </a:t>
            </a:r>
            <a:r>
              <a:rPr lang="en-US" sz="1600" dirty="0" err="1">
                <a:latin typeface="Prestige12 BT" panose="02070509030506020304" pitchFamily="49" charset="0"/>
              </a:rPr>
              <a:t>uid</a:t>
            </a:r>
            <a:r>
              <a:rPr lang="en-US" sz="1600" dirty="0">
                <a:latin typeface="Prestige12 BT" panose="02070509030506020304" pitchFamily="49" charset="0"/>
              </a:rPr>
              <a:t> FROM User WHERE pop &gt;= 0.8</a:t>
            </a:r>
            <a:br>
              <a:rPr lang="en-US" sz="1600" dirty="0">
                <a:latin typeface="Prestige12 BT" panose="02070509030506020304" pitchFamily="49" charset="0"/>
              </a:rPr>
            </a:br>
            <a:r>
              <a:rPr lang="en-US" sz="1600" dirty="0">
                <a:latin typeface="Prestige12 BT" panose="02070509030506020304" pitchFamily="49" charset="0"/>
              </a:rPr>
              <a:t>      AND </a:t>
            </a:r>
            <a:r>
              <a:rPr lang="en-US" sz="1600" dirty="0" err="1">
                <a:latin typeface="Prestige12 BT" panose="02070509030506020304" pitchFamily="49" charset="0"/>
              </a:rPr>
              <a:t>uid</a:t>
            </a:r>
            <a:r>
              <a:rPr lang="en-US" sz="1600" dirty="0">
                <a:latin typeface="Prestige12 BT" panose="02070509030506020304" pitchFamily="49" charset="0"/>
              </a:rPr>
              <a:t> NOT IN (SELECT </a:t>
            </a:r>
            <a:r>
              <a:rPr lang="en-US" sz="1600" dirty="0" err="1">
                <a:latin typeface="Prestige12 BT" panose="02070509030506020304" pitchFamily="49" charset="0"/>
              </a:rPr>
              <a:t>uid</a:t>
            </a:r>
            <a:r>
              <a:rPr lang="en-US" sz="1600" dirty="0">
                <a:latin typeface="Prestige12 BT" panose="02070509030506020304" pitchFamily="49" charset="0"/>
              </a:rPr>
              <a:t> FROM </a:t>
            </a:r>
            <a:r>
              <a:rPr lang="en-US" sz="1600" dirty="0" err="1">
                <a:solidFill>
                  <a:schemeClr val="accent2"/>
                </a:solidFill>
                <a:latin typeface="Prestige12 BT" panose="02070509030506020304" pitchFamily="49" charset="0"/>
              </a:rPr>
              <a:t>PGroup</a:t>
            </a:r>
            <a:r>
              <a:rPr lang="en-US" sz="1600" dirty="0">
                <a:latin typeface="Prestige12 BT" panose="02070509030506020304" pitchFamily="49" charset="0"/>
              </a:rPr>
              <a:t>))</a:t>
            </a:r>
          </a:p>
        </p:txBody>
      </p:sp>
    </p:spTree>
    <p:custDataLst>
      <p:tags r:id="rId1"/>
    </p:custDataLst>
    <p:extLst>
      <p:ext uri="{BB962C8B-B14F-4D97-AF65-F5344CB8AC3E}">
        <p14:creationId xmlns:p14="http://schemas.microsoft.com/office/powerpoint/2010/main" val="2491120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Fixed-point </a:t>
            </a:r>
            <a:r>
              <a:rPr lang="en-US" dirty="0" err="1"/>
              <a:t>iter</a:t>
            </a:r>
            <a:r>
              <a:rPr lang="en-US" dirty="0"/>
              <a:t> may not converge</a:t>
            </a:r>
          </a:p>
        </p:txBody>
      </p:sp>
      <p:sp>
        <p:nvSpPr>
          <p:cNvPr id="4" name="Slide Number Placeholder 3"/>
          <p:cNvSpPr>
            <a:spLocks noGrp="1"/>
          </p:cNvSpPr>
          <p:nvPr>
            <p:ph type="sldNum" sz="quarter" idx="12"/>
          </p:nvPr>
        </p:nvSpPr>
        <p:spPr/>
        <p:txBody>
          <a:bodyPr/>
          <a:lstStyle/>
          <a:p>
            <a:fld id="{44C99FA5-7995-46A9-A97E-16E38AD58950}" type="slidenum">
              <a:rPr lang="en-US" smtClean="0"/>
              <a:t>17</a:t>
            </a:fld>
            <a:endParaRPr lang="en-US"/>
          </a:p>
        </p:txBody>
      </p:sp>
      <p:graphicFrame>
        <p:nvGraphicFramePr>
          <p:cNvPr id="5" name="Table 4"/>
          <p:cNvGraphicFramePr>
            <a:graphicFrameLocks noGrp="1"/>
          </p:cNvGraphicFramePr>
          <p:nvPr/>
        </p:nvGraphicFramePr>
        <p:xfrm>
          <a:off x="342336" y="3363386"/>
          <a:ext cx="2573020" cy="822960"/>
        </p:xfrm>
        <a:graphic>
          <a:graphicData uri="http://schemas.openxmlformats.org/drawingml/2006/table">
            <a:tbl>
              <a:tblPr firstRow="1" bandRow="1">
                <a:tableStyleId>{5C22544A-7EE6-4342-B048-85BDC9FD1C3A}</a:tableStyleId>
              </a:tblPr>
              <a:tblGrid>
                <a:gridCol w="551180">
                  <a:extLst>
                    <a:ext uri="{9D8B030D-6E8A-4147-A177-3AD203B41FA5}">
                      <a16:colId xmlns:a16="http://schemas.microsoft.com/office/drawing/2014/main" val="20000"/>
                    </a:ext>
                  </a:extLst>
                </a:gridCol>
                <a:gridCol w="1011555">
                  <a:extLst>
                    <a:ext uri="{9D8B030D-6E8A-4147-A177-3AD203B41FA5}">
                      <a16:colId xmlns:a16="http://schemas.microsoft.com/office/drawing/2014/main" val="20001"/>
                    </a:ext>
                  </a:extLst>
                </a:gridCol>
                <a:gridCol w="459105">
                  <a:extLst>
                    <a:ext uri="{9D8B030D-6E8A-4147-A177-3AD203B41FA5}">
                      <a16:colId xmlns:a16="http://schemas.microsoft.com/office/drawing/2014/main" val="20002"/>
                    </a:ext>
                  </a:extLst>
                </a:gridCol>
                <a:gridCol w="551180">
                  <a:extLst>
                    <a:ext uri="{9D8B030D-6E8A-4147-A177-3AD203B41FA5}">
                      <a16:colId xmlns:a16="http://schemas.microsoft.com/office/drawing/2014/main" val="20003"/>
                    </a:ext>
                  </a:extLst>
                </a:gridCol>
              </a:tblGrid>
              <a:tr h="175047">
                <a:tc>
                  <a:txBody>
                    <a:bodyPr/>
                    <a:lstStyle/>
                    <a:p>
                      <a:r>
                        <a:rPr lang="en-US" sz="1200" i="1" dirty="0" err="1"/>
                        <a:t>uid</a:t>
                      </a:r>
                      <a:endParaRPr lang="en-US" sz="1200" i="1" dirty="0"/>
                    </a:p>
                  </a:txBody>
                  <a:tcPr/>
                </a:tc>
                <a:tc>
                  <a:txBody>
                    <a:bodyPr/>
                    <a:lstStyle/>
                    <a:p>
                      <a:r>
                        <a:rPr lang="en-US" sz="1200" i="1" dirty="0"/>
                        <a:t>name</a:t>
                      </a:r>
                    </a:p>
                  </a:txBody>
                  <a:tcPr/>
                </a:tc>
                <a:tc>
                  <a:txBody>
                    <a:bodyPr/>
                    <a:lstStyle/>
                    <a:p>
                      <a:r>
                        <a:rPr lang="en-US" sz="1200" i="1" dirty="0"/>
                        <a:t>age</a:t>
                      </a:r>
                    </a:p>
                  </a:txBody>
                  <a:tcPr/>
                </a:tc>
                <a:tc>
                  <a:txBody>
                    <a:bodyPr/>
                    <a:lstStyle/>
                    <a:p>
                      <a:r>
                        <a:rPr lang="en-US" sz="1200" i="1" dirty="0"/>
                        <a:t>pop</a:t>
                      </a:r>
                    </a:p>
                  </a:txBody>
                  <a:tcPr/>
                </a:tc>
                <a:extLst>
                  <a:ext uri="{0D108BD9-81ED-4DB2-BD59-A6C34878D82A}">
                    <a16:rowId xmlns:a16="http://schemas.microsoft.com/office/drawing/2014/main" val="10000"/>
                  </a:ext>
                </a:extLst>
              </a:tr>
              <a:tr h="245167">
                <a:tc>
                  <a:txBody>
                    <a:bodyPr/>
                    <a:lstStyle/>
                    <a:p>
                      <a:r>
                        <a:rPr lang="en-US" sz="1200" dirty="0">
                          <a:latin typeface="Prestige12 BT" panose="02070509030506020304" pitchFamily="49" charset="0"/>
                        </a:rPr>
                        <a:t>142</a:t>
                      </a:r>
                    </a:p>
                  </a:txBody>
                  <a:tcPr/>
                </a:tc>
                <a:tc>
                  <a:txBody>
                    <a:bodyPr/>
                    <a:lstStyle/>
                    <a:p>
                      <a:r>
                        <a:rPr lang="en-US" sz="1200" dirty="0">
                          <a:latin typeface="Prestige12 BT" panose="02070509030506020304" pitchFamily="49" charset="0"/>
                        </a:rPr>
                        <a:t>Bart</a:t>
                      </a:r>
                    </a:p>
                  </a:txBody>
                  <a:tcPr/>
                </a:tc>
                <a:tc>
                  <a:txBody>
                    <a:bodyPr/>
                    <a:lstStyle/>
                    <a:p>
                      <a:r>
                        <a:rPr lang="en-US" sz="1200" dirty="0">
                          <a:latin typeface="Prestige12 BT" panose="02070509030506020304" pitchFamily="49" charset="0"/>
                        </a:rPr>
                        <a:t>10</a:t>
                      </a:r>
                    </a:p>
                  </a:txBody>
                  <a:tcPr/>
                </a:tc>
                <a:tc>
                  <a:txBody>
                    <a:bodyPr/>
                    <a:lstStyle/>
                    <a:p>
                      <a:r>
                        <a:rPr lang="en-US" sz="1200" dirty="0">
                          <a:latin typeface="Prestige12 BT" panose="02070509030506020304" pitchFamily="49" charset="0"/>
                        </a:rPr>
                        <a:t>0.9</a:t>
                      </a:r>
                    </a:p>
                  </a:txBody>
                  <a:tcPr/>
                </a:tc>
                <a:extLst>
                  <a:ext uri="{0D108BD9-81ED-4DB2-BD59-A6C34878D82A}">
                    <a16:rowId xmlns:a16="http://schemas.microsoft.com/office/drawing/2014/main" val="10001"/>
                  </a:ext>
                </a:extLst>
              </a:tr>
              <a:tr h="0">
                <a:tc>
                  <a:txBody>
                    <a:bodyPr/>
                    <a:lstStyle/>
                    <a:p>
                      <a:r>
                        <a:rPr lang="en-US" sz="1200" dirty="0">
                          <a:latin typeface="Prestige12 BT" panose="02070509030506020304" pitchFamily="49" charset="0"/>
                        </a:rPr>
                        <a:t>121</a:t>
                      </a:r>
                    </a:p>
                  </a:txBody>
                  <a:tcPr/>
                </a:tc>
                <a:tc>
                  <a:txBody>
                    <a:bodyPr/>
                    <a:lstStyle/>
                    <a:p>
                      <a:r>
                        <a:rPr lang="en-US" sz="1200" dirty="0">
                          <a:latin typeface="Prestige12 BT" panose="02070509030506020304" pitchFamily="49" charset="0"/>
                        </a:rPr>
                        <a:t>Allison</a:t>
                      </a:r>
                    </a:p>
                  </a:txBody>
                  <a:tcPr/>
                </a:tc>
                <a:tc>
                  <a:txBody>
                    <a:bodyPr/>
                    <a:lstStyle/>
                    <a:p>
                      <a:r>
                        <a:rPr lang="en-US" sz="1200" dirty="0">
                          <a:latin typeface="Prestige12 BT" panose="02070509030506020304" pitchFamily="49" charset="0"/>
                        </a:rPr>
                        <a:t>8</a:t>
                      </a:r>
                    </a:p>
                  </a:txBody>
                  <a:tcPr/>
                </a:tc>
                <a:tc>
                  <a:txBody>
                    <a:bodyPr/>
                    <a:lstStyle/>
                    <a:p>
                      <a:r>
                        <a:rPr lang="en-US" sz="1200" dirty="0">
                          <a:latin typeface="Prestige12 BT" panose="02070509030506020304" pitchFamily="49" charset="0"/>
                        </a:rPr>
                        <a:t>0.85</a:t>
                      </a:r>
                    </a:p>
                  </a:txBody>
                  <a:tcPr/>
                </a:tc>
                <a:extLst>
                  <a:ext uri="{0D108BD9-81ED-4DB2-BD59-A6C34878D82A}">
                    <a16:rowId xmlns:a16="http://schemas.microsoft.com/office/drawing/2014/main" val="10002"/>
                  </a:ext>
                </a:extLst>
              </a:tr>
            </a:tbl>
          </a:graphicData>
        </a:graphic>
      </p:graphicFrame>
      <p:graphicFrame>
        <p:nvGraphicFramePr>
          <p:cNvPr id="6" name="Table 5"/>
          <p:cNvGraphicFramePr>
            <a:graphicFrameLocks noGrp="1"/>
          </p:cNvGraphicFramePr>
          <p:nvPr/>
        </p:nvGraphicFramePr>
        <p:xfrm>
          <a:off x="1675784" y="4759009"/>
          <a:ext cx="551180" cy="274320"/>
        </p:xfrm>
        <a:graphic>
          <a:graphicData uri="http://schemas.openxmlformats.org/drawingml/2006/table">
            <a:tbl>
              <a:tblPr firstRow="1" bandRow="1">
                <a:tableStyleId>{5C22544A-7EE6-4342-B048-85BDC9FD1C3A}</a:tableStyleId>
              </a:tblPr>
              <a:tblGrid>
                <a:gridCol w="551180">
                  <a:extLst>
                    <a:ext uri="{9D8B030D-6E8A-4147-A177-3AD203B41FA5}">
                      <a16:colId xmlns:a16="http://schemas.microsoft.com/office/drawing/2014/main" val="20000"/>
                    </a:ext>
                  </a:extLst>
                </a:gridCol>
              </a:tblGrid>
              <a:tr h="175047">
                <a:tc>
                  <a:txBody>
                    <a:bodyPr/>
                    <a:lstStyle/>
                    <a:p>
                      <a:r>
                        <a:rPr lang="en-US" sz="1200" i="1" dirty="0" err="1"/>
                        <a:t>uid</a:t>
                      </a:r>
                      <a:endParaRPr lang="en-US" sz="1200" i="1" dirty="0"/>
                    </a:p>
                  </a:txBody>
                  <a:tcPr/>
                </a:tc>
                <a:extLst>
                  <a:ext uri="{0D108BD9-81ED-4DB2-BD59-A6C34878D82A}">
                    <a16:rowId xmlns:a16="http://schemas.microsoft.com/office/drawing/2014/main" val="10000"/>
                  </a:ext>
                </a:extLst>
              </a:tr>
            </a:tbl>
          </a:graphicData>
        </a:graphic>
      </p:graphicFrame>
      <p:graphicFrame>
        <p:nvGraphicFramePr>
          <p:cNvPr id="7" name="Table 6"/>
          <p:cNvGraphicFramePr>
            <a:graphicFrameLocks noGrp="1"/>
          </p:cNvGraphicFramePr>
          <p:nvPr/>
        </p:nvGraphicFramePr>
        <p:xfrm>
          <a:off x="2985750" y="4758258"/>
          <a:ext cx="551180" cy="274320"/>
        </p:xfrm>
        <a:graphic>
          <a:graphicData uri="http://schemas.openxmlformats.org/drawingml/2006/table">
            <a:tbl>
              <a:tblPr firstRow="1" bandRow="1">
                <a:tableStyleId>{5C22544A-7EE6-4342-B048-85BDC9FD1C3A}</a:tableStyleId>
              </a:tblPr>
              <a:tblGrid>
                <a:gridCol w="551180">
                  <a:extLst>
                    <a:ext uri="{9D8B030D-6E8A-4147-A177-3AD203B41FA5}">
                      <a16:colId xmlns:a16="http://schemas.microsoft.com/office/drawing/2014/main" val="20000"/>
                    </a:ext>
                  </a:extLst>
                </a:gridCol>
              </a:tblGrid>
              <a:tr h="175047">
                <a:tc>
                  <a:txBody>
                    <a:bodyPr/>
                    <a:lstStyle/>
                    <a:p>
                      <a:r>
                        <a:rPr lang="en-US" sz="1200" i="1" dirty="0" err="1"/>
                        <a:t>uid</a:t>
                      </a:r>
                      <a:endParaRPr lang="en-US" sz="1200" i="1" dirty="0"/>
                    </a:p>
                  </a:txBody>
                  <a:tcPr/>
                </a:tc>
                <a:extLst>
                  <a:ext uri="{0D108BD9-81ED-4DB2-BD59-A6C34878D82A}">
                    <a16:rowId xmlns:a16="http://schemas.microsoft.com/office/drawing/2014/main" val="10000"/>
                  </a:ext>
                </a:extLst>
              </a:tr>
            </a:tbl>
          </a:graphicData>
        </a:graphic>
      </p:graphicFrame>
      <p:sp>
        <p:nvSpPr>
          <p:cNvPr id="8" name="Rectangle 7"/>
          <p:cNvSpPr/>
          <p:nvPr/>
        </p:nvSpPr>
        <p:spPr>
          <a:xfrm>
            <a:off x="1506848" y="4433504"/>
            <a:ext cx="885179" cy="369332"/>
          </a:xfrm>
          <a:prstGeom prst="rect">
            <a:avLst/>
          </a:prstGeom>
        </p:spPr>
        <p:txBody>
          <a:bodyPr wrap="none">
            <a:spAutoFit/>
          </a:bodyPr>
          <a:lstStyle/>
          <a:p>
            <a:r>
              <a:rPr lang="en-US" i="1" dirty="0" err="1"/>
              <a:t>PGroup</a:t>
            </a:r>
            <a:endParaRPr lang="en-US" i="1" dirty="0"/>
          </a:p>
        </p:txBody>
      </p:sp>
      <p:sp>
        <p:nvSpPr>
          <p:cNvPr id="9" name="Rectangle 8"/>
          <p:cNvSpPr/>
          <p:nvPr/>
        </p:nvSpPr>
        <p:spPr>
          <a:xfrm>
            <a:off x="2850237" y="4419800"/>
            <a:ext cx="877163" cy="369332"/>
          </a:xfrm>
          <a:prstGeom prst="rect">
            <a:avLst/>
          </a:prstGeom>
        </p:spPr>
        <p:txBody>
          <a:bodyPr wrap="none">
            <a:spAutoFit/>
          </a:bodyPr>
          <a:lstStyle/>
          <a:p>
            <a:r>
              <a:rPr lang="en-US" i="1" dirty="0" err="1"/>
              <a:t>SGroup</a:t>
            </a:r>
            <a:endParaRPr lang="en-US" i="1" dirty="0"/>
          </a:p>
        </p:txBody>
      </p:sp>
      <p:graphicFrame>
        <p:nvGraphicFramePr>
          <p:cNvPr id="10" name="Table 9"/>
          <p:cNvGraphicFramePr>
            <a:graphicFrameLocks noGrp="1"/>
          </p:cNvGraphicFramePr>
          <p:nvPr/>
        </p:nvGraphicFramePr>
        <p:xfrm>
          <a:off x="5430944" y="4759009"/>
          <a:ext cx="551180" cy="822960"/>
        </p:xfrm>
        <a:graphic>
          <a:graphicData uri="http://schemas.openxmlformats.org/drawingml/2006/table">
            <a:tbl>
              <a:tblPr firstRow="1" bandRow="1">
                <a:tableStyleId>{5C22544A-7EE6-4342-B048-85BDC9FD1C3A}</a:tableStyleId>
              </a:tblPr>
              <a:tblGrid>
                <a:gridCol w="551180">
                  <a:extLst>
                    <a:ext uri="{9D8B030D-6E8A-4147-A177-3AD203B41FA5}">
                      <a16:colId xmlns:a16="http://schemas.microsoft.com/office/drawing/2014/main" val="20000"/>
                    </a:ext>
                  </a:extLst>
                </a:gridCol>
              </a:tblGrid>
              <a:tr h="175047">
                <a:tc>
                  <a:txBody>
                    <a:bodyPr/>
                    <a:lstStyle/>
                    <a:p>
                      <a:r>
                        <a:rPr lang="en-US" sz="1200" i="1" dirty="0" err="1"/>
                        <a:t>uid</a:t>
                      </a:r>
                      <a:endParaRPr lang="en-US" sz="1200" i="1" dirty="0"/>
                    </a:p>
                  </a:txBody>
                  <a:tcPr/>
                </a:tc>
                <a:extLst>
                  <a:ext uri="{0D108BD9-81ED-4DB2-BD59-A6C34878D82A}">
                    <a16:rowId xmlns:a16="http://schemas.microsoft.com/office/drawing/2014/main" val="10000"/>
                  </a:ext>
                </a:extLst>
              </a:tr>
              <a:tr h="245167">
                <a:tc>
                  <a:txBody>
                    <a:bodyPr/>
                    <a:lstStyle/>
                    <a:p>
                      <a:r>
                        <a:rPr lang="en-US" sz="1200" dirty="0">
                          <a:latin typeface="Prestige12 BT" panose="02070509030506020304" pitchFamily="49" charset="0"/>
                        </a:rPr>
                        <a:t>142</a:t>
                      </a:r>
                    </a:p>
                  </a:txBody>
                  <a:tcPr/>
                </a:tc>
                <a:extLst>
                  <a:ext uri="{0D108BD9-81ED-4DB2-BD59-A6C34878D82A}">
                    <a16:rowId xmlns:a16="http://schemas.microsoft.com/office/drawing/2014/main" val="10001"/>
                  </a:ext>
                </a:extLst>
              </a:tr>
              <a:tr h="0">
                <a:tc>
                  <a:txBody>
                    <a:bodyPr/>
                    <a:lstStyle/>
                    <a:p>
                      <a:r>
                        <a:rPr lang="en-US" sz="1200" dirty="0">
                          <a:latin typeface="Prestige12 BT" panose="02070509030506020304" pitchFamily="49" charset="0"/>
                        </a:rPr>
                        <a:t>121</a:t>
                      </a:r>
                    </a:p>
                  </a:txBody>
                  <a:tcPr/>
                </a:tc>
                <a:extLst>
                  <a:ext uri="{0D108BD9-81ED-4DB2-BD59-A6C34878D82A}">
                    <a16:rowId xmlns:a16="http://schemas.microsoft.com/office/drawing/2014/main" val="10002"/>
                  </a:ext>
                </a:extLst>
              </a:tr>
            </a:tbl>
          </a:graphicData>
        </a:graphic>
      </p:graphicFrame>
      <p:graphicFrame>
        <p:nvGraphicFramePr>
          <p:cNvPr id="11" name="Table 10"/>
          <p:cNvGraphicFramePr>
            <a:graphicFrameLocks noGrp="1"/>
          </p:cNvGraphicFramePr>
          <p:nvPr/>
        </p:nvGraphicFramePr>
        <p:xfrm>
          <a:off x="6740910" y="4758258"/>
          <a:ext cx="551180" cy="822960"/>
        </p:xfrm>
        <a:graphic>
          <a:graphicData uri="http://schemas.openxmlformats.org/drawingml/2006/table">
            <a:tbl>
              <a:tblPr firstRow="1" bandRow="1">
                <a:tableStyleId>{5C22544A-7EE6-4342-B048-85BDC9FD1C3A}</a:tableStyleId>
              </a:tblPr>
              <a:tblGrid>
                <a:gridCol w="551180">
                  <a:extLst>
                    <a:ext uri="{9D8B030D-6E8A-4147-A177-3AD203B41FA5}">
                      <a16:colId xmlns:a16="http://schemas.microsoft.com/office/drawing/2014/main" val="20000"/>
                    </a:ext>
                  </a:extLst>
                </a:gridCol>
              </a:tblGrid>
              <a:tr h="175047">
                <a:tc>
                  <a:txBody>
                    <a:bodyPr/>
                    <a:lstStyle/>
                    <a:p>
                      <a:r>
                        <a:rPr lang="en-US" sz="1200" i="1" dirty="0" err="1"/>
                        <a:t>uid</a:t>
                      </a:r>
                      <a:endParaRPr lang="en-US" sz="1200" i="1" dirty="0"/>
                    </a:p>
                  </a:txBody>
                  <a:tcPr/>
                </a:tc>
                <a:extLst>
                  <a:ext uri="{0D108BD9-81ED-4DB2-BD59-A6C34878D82A}">
                    <a16:rowId xmlns:a16="http://schemas.microsoft.com/office/drawing/2014/main" val="10000"/>
                  </a:ext>
                </a:extLst>
              </a:tr>
              <a:tr h="245167">
                <a:tc>
                  <a:txBody>
                    <a:bodyPr/>
                    <a:lstStyle/>
                    <a:p>
                      <a:r>
                        <a:rPr lang="en-US" sz="1200" dirty="0">
                          <a:latin typeface="Prestige12 BT" panose="02070509030506020304" pitchFamily="49" charset="0"/>
                        </a:rPr>
                        <a:t>142</a:t>
                      </a:r>
                    </a:p>
                  </a:txBody>
                  <a:tcPr/>
                </a:tc>
                <a:extLst>
                  <a:ext uri="{0D108BD9-81ED-4DB2-BD59-A6C34878D82A}">
                    <a16:rowId xmlns:a16="http://schemas.microsoft.com/office/drawing/2014/main" val="10001"/>
                  </a:ext>
                </a:extLst>
              </a:tr>
              <a:tr h="0">
                <a:tc>
                  <a:txBody>
                    <a:bodyPr/>
                    <a:lstStyle/>
                    <a:p>
                      <a:r>
                        <a:rPr lang="en-US" sz="1200" dirty="0">
                          <a:latin typeface="Prestige12 BT" panose="02070509030506020304" pitchFamily="49" charset="0"/>
                        </a:rPr>
                        <a:t>121</a:t>
                      </a:r>
                    </a:p>
                  </a:txBody>
                  <a:tcPr/>
                </a:tc>
                <a:extLst>
                  <a:ext uri="{0D108BD9-81ED-4DB2-BD59-A6C34878D82A}">
                    <a16:rowId xmlns:a16="http://schemas.microsoft.com/office/drawing/2014/main" val="10002"/>
                  </a:ext>
                </a:extLst>
              </a:tr>
            </a:tbl>
          </a:graphicData>
        </a:graphic>
      </p:graphicFrame>
      <p:sp>
        <p:nvSpPr>
          <p:cNvPr id="12" name="Rectangle 11"/>
          <p:cNvSpPr/>
          <p:nvPr/>
        </p:nvSpPr>
        <p:spPr>
          <a:xfrm>
            <a:off x="5281029" y="4424066"/>
            <a:ext cx="885179" cy="369332"/>
          </a:xfrm>
          <a:prstGeom prst="rect">
            <a:avLst/>
          </a:prstGeom>
        </p:spPr>
        <p:txBody>
          <a:bodyPr wrap="none">
            <a:spAutoFit/>
          </a:bodyPr>
          <a:lstStyle/>
          <a:p>
            <a:r>
              <a:rPr lang="en-US" i="1" dirty="0" err="1"/>
              <a:t>PGroup</a:t>
            </a:r>
            <a:endParaRPr lang="en-US" i="1" dirty="0"/>
          </a:p>
        </p:txBody>
      </p:sp>
      <p:sp>
        <p:nvSpPr>
          <p:cNvPr id="13" name="Rectangle 12"/>
          <p:cNvSpPr/>
          <p:nvPr/>
        </p:nvSpPr>
        <p:spPr>
          <a:xfrm>
            <a:off x="6594862" y="4433504"/>
            <a:ext cx="877163" cy="369332"/>
          </a:xfrm>
          <a:prstGeom prst="rect">
            <a:avLst/>
          </a:prstGeom>
        </p:spPr>
        <p:txBody>
          <a:bodyPr wrap="none">
            <a:spAutoFit/>
          </a:bodyPr>
          <a:lstStyle/>
          <a:p>
            <a:r>
              <a:rPr lang="en-US" i="1" dirty="0" err="1"/>
              <a:t>SGroup</a:t>
            </a:r>
            <a:endParaRPr lang="en-US" i="1" dirty="0"/>
          </a:p>
        </p:txBody>
      </p:sp>
      <p:sp>
        <p:nvSpPr>
          <p:cNvPr id="14" name="Line 12"/>
          <p:cNvSpPr>
            <a:spLocks noChangeShapeType="1"/>
          </p:cNvSpPr>
          <p:nvPr/>
        </p:nvSpPr>
        <p:spPr bwMode="auto">
          <a:xfrm rot="16200000" flipH="1">
            <a:off x="4451863" y="4377049"/>
            <a:ext cx="0" cy="155249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6" name="Freeform 31"/>
          <p:cNvSpPr>
            <a:spLocks/>
          </p:cNvSpPr>
          <p:nvPr/>
        </p:nvSpPr>
        <p:spPr bwMode="auto">
          <a:xfrm>
            <a:off x="1063046" y="5153292"/>
            <a:ext cx="6908300" cy="643913"/>
          </a:xfrm>
          <a:custGeom>
            <a:avLst/>
            <a:gdLst>
              <a:gd name="T0" fmla="*/ 2147483647 w 3888"/>
              <a:gd name="T1" fmla="*/ 0 h 672"/>
              <a:gd name="T2" fmla="*/ 2147483647 w 3888"/>
              <a:gd name="T3" fmla="*/ 0 h 672"/>
              <a:gd name="T4" fmla="*/ 2147483647 w 3888"/>
              <a:gd name="T5" fmla="*/ 2147483647 h 672"/>
              <a:gd name="T6" fmla="*/ 0 w 3888"/>
              <a:gd name="T7" fmla="*/ 2147483647 h 672"/>
              <a:gd name="T8" fmla="*/ 0 w 3888"/>
              <a:gd name="T9" fmla="*/ 2147483647 h 672"/>
              <a:gd name="T10" fmla="*/ 0 w 3888"/>
              <a:gd name="T11" fmla="*/ 0 h 672"/>
              <a:gd name="T12" fmla="*/ 2147483647 w 3888"/>
              <a:gd name="T13" fmla="*/ 0 h 672"/>
              <a:gd name="T14" fmla="*/ 0 60000 65536"/>
              <a:gd name="T15" fmla="*/ 0 60000 65536"/>
              <a:gd name="T16" fmla="*/ 0 60000 65536"/>
              <a:gd name="T17" fmla="*/ 0 60000 65536"/>
              <a:gd name="T18" fmla="*/ 0 60000 65536"/>
              <a:gd name="T19" fmla="*/ 0 60000 65536"/>
              <a:gd name="T20" fmla="*/ 0 60000 65536"/>
              <a:gd name="T21" fmla="*/ 0 w 3888"/>
              <a:gd name="T22" fmla="*/ 0 h 672"/>
              <a:gd name="T23" fmla="*/ 3888 w 3888"/>
              <a:gd name="T24" fmla="*/ 672 h 67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888" h="672">
                <a:moveTo>
                  <a:pt x="3552" y="0"/>
                </a:moveTo>
                <a:lnTo>
                  <a:pt x="3888" y="0"/>
                </a:lnTo>
                <a:lnTo>
                  <a:pt x="3888" y="672"/>
                </a:lnTo>
                <a:lnTo>
                  <a:pt x="0" y="672"/>
                </a:lnTo>
                <a:lnTo>
                  <a:pt x="0" y="48"/>
                </a:lnTo>
                <a:lnTo>
                  <a:pt x="0" y="0"/>
                </a:lnTo>
                <a:lnTo>
                  <a:pt x="288" y="0"/>
                </a:lnTo>
              </a:path>
            </a:pathLst>
          </a:custGeom>
          <a:noFill/>
          <a:ln w="22225">
            <a:solidFill>
              <a:schemeClr val="tx1"/>
            </a:solidFill>
            <a:round/>
            <a:headEnd/>
            <a:tailEnd type="stealth" w="med"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7" name="Rectangle 16">
            <a:extLst>
              <a:ext uri="{FF2B5EF4-FFF2-40B4-BE49-F238E27FC236}">
                <a16:creationId xmlns:a16="http://schemas.microsoft.com/office/drawing/2014/main" id="{9F45C348-F75B-45B0-BEAE-167DA827B8EB}"/>
              </a:ext>
            </a:extLst>
          </p:cNvPr>
          <p:cNvSpPr/>
          <p:nvPr/>
        </p:nvSpPr>
        <p:spPr>
          <a:xfrm>
            <a:off x="2025504" y="1342321"/>
            <a:ext cx="5149066" cy="177724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sz="1600" dirty="0">
                <a:latin typeface="Prestige12 BT" panose="02070509030506020304" pitchFamily="49" charset="0"/>
              </a:rPr>
              <a:t>WITH RECURSIVE </a:t>
            </a:r>
            <a:r>
              <a:rPr lang="en-US" sz="1600" dirty="0" err="1">
                <a:solidFill>
                  <a:schemeClr val="accent2"/>
                </a:solidFill>
                <a:latin typeface="Prestige12 BT" panose="02070509030506020304" pitchFamily="49" charset="0"/>
              </a:rPr>
              <a:t>PGroup</a:t>
            </a:r>
            <a:r>
              <a:rPr lang="en-US" sz="1600" dirty="0">
                <a:latin typeface="Prestige12 BT" panose="02070509030506020304" pitchFamily="49" charset="0"/>
              </a:rPr>
              <a:t>(</a:t>
            </a:r>
            <a:r>
              <a:rPr lang="en-US" sz="1600" dirty="0" err="1">
                <a:latin typeface="Prestige12 BT" panose="02070509030506020304" pitchFamily="49" charset="0"/>
              </a:rPr>
              <a:t>uid</a:t>
            </a:r>
            <a:r>
              <a:rPr lang="en-US" sz="1600" dirty="0">
                <a:latin typeface="Prestige12 BT" panose="02070509030506020304" pitchFamily="49" charset="0"/>
              </a:rPr>
              <a:t>) AS</a:t>
            </a:r>
            <a:br>
              <a:rPr lang="en-US" sz="1600" dirty="0">
                <a:latin typeface="Prestige12 BT" panose="02070509030506020304" pitchFamily="49" charset="0"/>
              </a:rPr>
            </a:br>
            <a:r>
              <a:rPr lang="en-US" sz="1600" dirty="0">
                <a:latin typeface="Prestige12 BT" panose="02070509030506020304" pitchFamily="49" charset="0"/>
              </a:rPr>
              <a:t>     (SELECT </a:t>
            </a:r>
            <a:r>
              <a:rPr lang="en-US" sz="1600" dirty="0" err="1">
                <a:latin typeface="Prestige12 BT" panose="02070509030506020304" pitchFamily="49" charset="0"/>
              </a:rPr>
              <a:t>uid</a:t>
            </a:r>
            <a:r>
              <a:rPr lang="en-US" sz="1600" dirty="0">
                <a:latin typeface="Prestige12 BT" panose="02070509030506020304" pitchFamily="49" charset="0"/>
              </a:rPr>
              <a:t> FROM User WHERE pop &gt;= 0.8</a:t>
            </a:r>
            <a:br>
              <a:rPr lang="en-US" sz="1600" dirty="0">
                <a:latin typeface="Prestige12 BT" panose="02070509030506020304" pitchFamily="49" charset="0"/>
              </a:rPr>
            </a:br>
            <a:r>
              <a:rPr lang="en-US" sz="1600" dirty="0">
                <a:latin typeface="Prestige12 BT" panose="02070509030506020304" pitchFamily="49" charset="0"/>
              </a:rPr>
              <a:t>      AND </a:t>
            </a:r>
            <a:r>
              <a:rPr lang="en-US" sz="1600" dirty="0" err="1">
                <a:latin typeface="Prestige12 BT" panose="02070509030506020304" pitchFamily="49" charset="0"/>
              </a:rPr>
              <a:t>uid</a:t>
            </a:r>
            <a:r>
              <a:rPr lang="en-US" sz="1600" dirty="0">
                <a:latin typeface="Prestige12 BT" panose="02070509030506020304" pitchFamily="49" charset="0"/>
              </a:rPr>
              <a:t> NOT IN (SELECT </a:t>
            </a:r>
            <a:r>
              <a:rPr lang="en-US" sz="1600" dirty="0" err="1">
                <a:latin typeface="Prestige12 BT" panose="02070509030506020304" pitchFamily="49" charset="0"/>
              </a:rPr>
              <a:t>uid</a:t>
            </a:r>
            <a:r>
              <a:rPr lang="en-US" sz="1600" dirty="0">
                <a:latin typeface="Prestige12 BT" panose="02070509030506020304" pitchFamily="49" charset="0"/>
              </a:rPr>
              <a:t> FROM </a:t>
            </a:r>
            <a:r>
              <a:rPr lang="en-US" sz="1600" dirty="0" err="1">
                <a:solidFill>
                  <a:schemeClr val="accent2"/>
                </a:solidFill>
                <a:latin typeface="Prestige12 BT" panose="02070509030506020304" pitchFamily="49" charset="0"/>
              </a:rPr>
              <a:t>SGroup</a:t>
            </a:r>
            <a:r>
              <a:rPr lang="en-US" sz="1600" dirty="0">
                <a:latin typeface="Prestige12 BT" panose="02070509030506020304" pitchFamily="49" charset="0"/>
              </a:rPr>
              <a:t>)),</a:t>
            </a:r>
          </a:p>
          <a:p>
            <a:r>
              <a:rPr lang="en-US" sz="1600" dirty="0">
                <a:latin typeface="Prestige12 BT" panose="02070509030506020304" pitchFamily="49" charset="0"/>
              </a:rPr>
              <a:t> RECURSIVE </a:t>
            </a:r>
            <a:r>
              <a:rPr lang="en-US" sz="1600" dirty="0" err="1">
                <a:solidFill>
                  <a:schemeClr val="accent2"/>
                </a:solidFill>
                <a:latin typeface="Prestige12 BT" panose="02070509030506020304" pitchFamily="49" charset="0"/>
              </a:rPr>
              <a:t>SGroup</a:t>
            </a:r>
            <a:r>
              <a:rPr lang="en-US" sz="1600" dirty="0">
                <a:latin typeface="Prestige12 BT" panose="02070509030506020304" pitchFamily="49" charset="0"/>
              </a:rPr>
              <a:t>(</a:t>
            </a:r>
            <a:r>
              <a:rPr lang="en-US" sz="1600" dirty="0" err="1">
                <a:latin typeface="Prestige12 BT" panose="02070509030506020304" pitchFamily="49" charset="0"/>
              </a:rPr>
              <a:t>uid</a:t>
            </a:r>
            <a:r>
              <a:rPr lang="en-US" sz="1600" dirty="0">
                <a:latin typeface="Prestige12 BT" panose="02070509030506020304" pitchFamily="49" charset="0"/>
              </a:rPr>
              <a:t>) AS</a:t>
            </a:r>
            <a:br>
              <a:rPr lang="en-US" sz="1600" dirty="0">
                <a:latin typeface="Prestige12 BT" panose="02070509030506020304" pitchFamily="49" charset="0"/>
              </a:rPr>
            </a:br>
            <a:r>
              <a:rPr lang="en-US" sz="1600" dirty="0">
                <a:latin typeface="Prestige12 BT" panose="02070509030506020304" pitchFamily="49" charset="0"/>
              </a:rPr>
              <a:t>     (SELECT </a:t>
            </a:r>
            <a:r>
              <a:rPr lang="en-US" sz="1600" dirty="0" err="1">
                <a:latin typeface="Prestige12 BT" panose="02070509030506020304" pitchFamily="49" charset="0"/>
              </a:rPr>
              <a:t>uid</a:t>
            </a:r>
            <a:r>
              <a:rPr lang="en-US" sz="1600" dirty="0">
                <a:latin typeface="Prestige12 BT" panose="02070509030506020304" pitchFamily="49" charset="0"/>
              </a:rPr>
              <a:t> FROM User WHERE pop &gt;= 0.8</a:t>
            </a:r>
            <a:br>
              <a:rPr lang="en-US" sz="1600" dirty="0">
                <a:latin typeface="Prestige12 BT" panose="02070509030506020304" pitchFamily="49" charset="0"/>
              </a:rPr>
            </a:br>
            <a:r>
              <a:rPr lang="en-US" sz="1600" dirty="0">
                <a:latin typeface="Prestige12 BT" panose="02070509030506020304" pitchFamily="49" charset="0"/>
              </a:rPr>
              <a:t>      AND </a:t>
            </a:r>
            <a:r>
              <a:rPr lang="en-US" sz="1600" dirty="0" err="1">
                <a:latin typeface="Prestige12 BT" panose="02070509030506020304" pitchFamily="49" charset="0"/>
              </a:rPr>
              <a:t>uid</a:t>
            </a:r>
            <a:r>
              <a:rPr lang="en-US" sz="1600" dirty="0">
                <a:latin typeface="Prestige12 BT" panose="02070509030506020304" pitchFamily="49" charset="0"/>
              </a:rPr>
              <a:t> NOT IN (SELECT </a:t>
            </a:r>
            <a:r>
              <a:rPr lang="en-US" sz="1600" dirty="0" err="1">
                <a:latin typeface="Prestige12 BT" panose="02070509030506020304" pitchFamily="49" charset="0"/>
              </a:rPr>
              <a:t>uid</a:t>
            </a:r>
            <a:r>
              <a:rPr lang="en-US" sz="1600" dirty="0">
                <a:latin typeface="Prestige12 BT" panose="02070509030506020304" pitchFamily="49" charset="0"/>
              </a:rPr>
              <a:t> FROM </a:t>
            </a:r>
            <a:r>
              <a:rPr lang="en-US" sz="1600" dirty="0" err="1">
                <a:solidFill>
                  <a:schemeClr val="accent2"/>
                </a:solidFill>
                <a:latin typeface="Prestige12 BT" panose="02070509030506020304" pitchFamily="49" charset="0"/>
              </a:rPr>
              <a:t>PGroup</a:t>
            </a:r>
            <a:r>
              <a:rPr lang="en-US" sz="1600" dirty="0">
                <a:latin typeface="Prestige12 BT" panose="02070509030506020304" pitchFamily="49" charset="0"/>
              </a:rPr>
              <a:t>))</a:t>
            </a:r>
          </a:p>
        </p:txBody>
      </p:sp>
    </p:spTree>
    <p:custDataLst>
      <p:tags r:id="rId1"/>
    </p:custDataLst>
    <p:extLst>
      <p:ext uri="{BB962C8B-B14F-4D97-AF65-F5344CB8AC3E}">
        <p14:creationId xmlns:p14="http://schemas.microsoft.com/office/powerpoint/2010/main" val="1637412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22" presetClass="entr" presetSubtype="2"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wipe(right)">
                                      <p:cBhvr>
                                        <p:cTn id="1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animBg="1"/>
      <p:bldP spid="1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Multiple minimal fixed points</a:t>
            </a:r>
          </a:p>
        </p:txBody>
      </p:sp>
      <p:sp>
        <p:nvSpPr>
          <p:cNvPr id="3" name="Content Placeholder 2"/>
          <p:cNvSpPr>
            <a:spLocks noGrp="1"/>
          </p:cNvSpPr>
          <p:nvPr>
            <p:ph idx="1"/>
          </p:nvPr>
        </p:nvSpPr>
        <p:spPr/>
        <p:txBody>
          <a:bodyPr/>
          <a:lstStyle/>
          <a:p>
            <a:endParaRPr lang="en-US" dirty="0"/>
          </a:p>
        </p:txBody>
      </p:sp>
      <p:sp>
        <p:nvSpPr>
          <p:cNvPr id="4" name="Slide Number Placeholder 3"/>
          <p:cNvSpPr>
            <a:spLocks noGrp="1"/>
          </p:cNvSpPr>
          <p:nvPr>
            <p:ph type="sldNum" sz="quarter" idx="12"/>
          </p:nvPr>
        </p:nvSpPr>
        <p:spPr/>
        <p:txBody>
          <a:bodyPr/>
          <a:lstStyle/>
          <a:p>
            <a:fld id="{44C99FA5-7995-46A9-A97E-16E38AD58950}" type="slidenum">
              <a:rPr lang="en-US" smtClean="0"/>
              <a:t>18</a:t>
            </a:fld>
            <a:endParaRPr lang="en-US"/>
          </a:p>
        </p:txBody>
      </p:sp>
      <p:graphicFrame>
        <p:nvGraphicFramePr>
          <p:cNvPr id="5" name="Table 4"/>
          <p:cNvGraphicFramePr>
            <a:graphicFrameLocks noGrp="1"/>
          </p:cNvGraphicFramePr>
          <p:nvPr/>
        </p:nvGraphicFramePr>
        <p:xfrm>
          <a:off x="342336" y="3363386"/>
          <a:ext cx="2573020" cy="822960"/>
        </p:xfrm>
        <a:graphic>
          <a:graphicData uri="http://schemas.openxmlformats.org/drawingml/2006/table">
            <a:tbl>
              <a:tblPr firstRow="1" bandRow="1">
                <a:tableStyleId>{5C22544A-7EE6-4342-B048-85BDC9FD1C3A}</a:tableStyleId>
              </a:tblPr>
              <a:tblGrid>
                <a:gridCol w="551180">
                  <a:extLst>
                    <a:ext uri="{9D8B030D-6E8A-4147-A177-3AD203B41FA5}">
                      <a16:colId xmlns:a16="http://schemas.microsoft.com/office/drawing/2014/main" val="20000"/>
                    </a:ext>
                  </a:extLst>
                </a:gridCol>
                <a:gridCol w="1011555">
                  <a:extLst>
                    <a:ext uri="{9D8B030D-6E8A-4147-A177-3AD203B41FA5}">
                      <a16:colId xmlns:a16="http://schemas.microsoft.com/office/drawing/2014/main" val="20001"/>
                    </a:ext>
                  </a:extLst>
                </a:gridCol>
                <a:gridCol w="459105">
                  <a:extLst>
                    <a:ext uri="{9D8B030D-6E8A-4147-A177-3AD203B41FA5}">
                      <a16:colId xmlns:a16="http://schemas.microsoft.com/office/drawing/2014/main" val="20002"/>
                    </a:ext>
                  </a:extLst>
                </a:gridCol>
                <a:gridCol w="551180">
                  <a:extLst>
                    <a:ext uri="{9D8B030D-6E8A-4147-A177-3AD203B41FA5}">
                      <a16:colId xmlns:a16="http://schemas.microsoft.com/office/drawing/2014/main" val="20003"/>
                    </a:ext>
                  </a:extLst>
                </a:gridCol>
              </a:tblGrid>
              <a:tr h="175047">
                <a:tc>
                  <a:txBody>
                    <a:bodyPr/>
                    <a:lstStyle/>
                    <a:p>
                      <a:r>
                        <a:rPr lang="en-US" sz="1200" i="1" dirty="0" err="1"/>
                        <a:t>uid</a:t>
                      </a:r>
                      <a:endParaRPr lang="en-US" sz="1200" i="1" dirty="0"/>
                    </a:p>
                  </a:txBody>
                  <a:tcPr/>
                </a:tc>
                <a:tc>
                  <a:txBody>
                    <a:bodyPr/>
                    <a:lstStyle/>
                    <a:p>
                      <a:r>
                        <a:rPr lang="en-US" sz="1200" i="1" dirty="0"/>
                        <a:t>name</a:t>
                      </a:r>
                    </a:p>
                  </a:txBody>
                  <a:tcPr/>
                </a:tc>
                <a:tc>
                  <a:txBody>
                    <a:bodyPr/>
                    <a:lstStyle/>
                    <a:p>
                      <a:r>
                        <a:rPr lang="en-US" sz="1200" i="1" dirty="0"/>
                        <a:t>age</a:t>
                      </a:r>
                    </a:p>
                  </a:txBody>
                  <a:tcPr/>
                </a:tc>
                <a:tc>
                  <a:txBody>
                    <a:bodyPr/>
                    <a:lstStyle/>
                    <a:p>
                      <a:r>
                        <a:rPr lang="en-US" sz="1200" i="1" dirty="0"/>
                        <a:t>pop</a:t>
                      </a:r>
                    </a:p>
                  </a:txBody>
                  <a:tcPr/>
                </a:tc>
                <a:extLst>
                  <a:ext uri="{0D108BD9-81ED-4DB2-BD59-A6C34878D82A}">
                    <a16:rowId xmlns:a16="http://schemas.microsoft.com/office/drawing/2014/main" val="10000"/>
                  </a:ext>
                </a:extLst>
              </a:tr>
              <a:tr h="245167">
                <a:tc>
                  <a:txBody>
                    <a:bodyPr/>
                    <a:lstStyle/>
                    <a:p>
                      <a:r>
                        <a:rPr lang="en-US" sz="1200" dirty="0">
                          <a:latin typeface="Prestige12 BT" panose="02070509030506020304" pitchFamily="49" charset="0"/>
                        </a:rPr>
                        <a:t>142</a:t>
                      </a:r>
                    </a:p>
                  </a:txBody>
                  <a:tcPr/>
                </a:tc>
                <a:tc>
                  <a:txBody>
                    <a:bodyPr/>
                    <a:lstStyle/>
                    <a:p>
                      <a:r>
                        <a:rPr lang="en-US" sz="1200" dirty="0">
                          <a:latin typeface="Prestige12 BT" panose="02070509030506020304" pitchFamily="49" charset="0"/>
                        </a:rPr>
                        <a:t>Bart</a:t>
                      </a:r>
                    </a:p>
                  </a:txBody>
                  <a:tcPr/>
                </a:tc>
                <a:tc>
                  <a:txBody>
                    <a:bodyPr/>
                    <a:lstStyle/>
                    <a:p>
                      <a:r>
                        <a:rPr lang="en-US" sz="1200" dirty="0">
                          <a:latin typeface="Prestige12 BT" panose="02070509030506020304" pitchFamily="49" charset="0"/>
                        </a:rPr>
                        <a:t>10</a:t>
                      </a:r>
                    </a:p>
                  </a:txBody>
                  <a:tcPr/>
                </a:tc>
                <a:tc>
                  <a:txBody>
                    <a:bodyPr/>
                    <a:lstStyle/>
                    <a:p>
                      <a:r>
                        <a:rPr lang="en-US" sz="1200" dirty="0">
                          <a:latin typeface="Prestige12 BT" panose="02070509030506020304" pitchFamily="49" charset="0"/>
                        </a:rPr>
                        <a:t>0.9</a:t>
                      </a:r>
                    </a:p>
                  </a:txBody>
                  <a:tcPr/>
                </a:tc>
                <a:extLst>
                  <a:ext uri="{0D108BD9-81ED-4DB2-BD59-A6C34878D82A}">
                    <a16:rowId xmlns:a16="http://schemas.microsoft.com/office/drawing/2014/main" val="10001"/>
                  </a:ext>
                </a:extLst>
              </a:tr>
              <a:tr h="0">
                <a:tc>
                  <a:txBody>
                    <a:bodyPr/>
                    <a:lstStyle/>
                    <a:p>
                      <a:r>
                        <a:rPr lang="en-US" sz="1200" dirty="0">
                          <a:latin typeface="Prestige12 BT" panose="02070509030506020304" pitchFamily="49" charset="0"/>
                        </a:rPr>
                        <a:t>121</a:t>
                      </a:r>
                    </a:p>
                  </a:txBody>
                  <a:tcPr/>
                </a:tc>
                <a:tc>
                  <a:txBody>
                    <a:bodyPr/>
                    <a:lstStyle/>
                    <a:p>
                      <a:r>
                        <a:rPr lang="en-US" sz="1200" dirty="0">
                          <a:latin typeface="Prestige12 BT" panose="02070509030506020304" pitchFamily="49" charset="0"/>
                        </a:rPr>
                        <a:t>Allison</a:t>
                      </a:r>
                    </a:p>
                  </a:txBody>
                  <a:tcPr/>
                </a:tc>
                <a:tc>
                  <a:txBody>
                    <a:bodyPr/>
                    <a:lstStyle/>
                    <a:p>
                      <a:r>
                        <a:rPr lang="en-US" sz="1200" dirty="0">
                          <a:latin typeface="Prestige12 BT" panose="02070509030506020304" pitchFamily="49" charset="0"/>
                        </a:rPr>
                        <a:t>8</a:t>
                      </a:r>
                    </a:p>
                  </a:txBody>
                  <a:tcPr/>
                </a:tc>
                <a:tc>
                  <a:txBody>
                    <a:bodyPr/>
                    <a:lstStyle/>
                    <a:p>
                      <a:r>
                        <a:rPr lang="en-US" sz="1200" dirty="0">
                          <a:latin typeface="Prestige12 BT" panose="02070509030506020304" pitchFamily="49" charset="0"/>
                        </a:rPr>
                        <a:t>0.85</a:t>
                      </a:r>
                    </a:p>
                  </a:txBody>
                  <a:tcPr/>
                </a:tc>
                <a:extLst>
                  <a:ext uri="{0D108BD9-81ED-4DB2-BD59-A6C34878D82A}">
                    <a16:rowId xmlns:a16="http://schemas.microsoft.com/office/drawing/2014/main" val="10002"/>
                  </a:ext>
                </a:extLst>
              </a:tr>
            </a:tbl>
          </a:graphicData>
        </a:graphic>
      </p:graphicFrame>
      <p:graphicFrame>
        <p:nvGraphicFramePr>
          <p:cNvPr id="6" name="Table 5"/>
          <p:cNvGraphicFramePr>
            <a:graphicFrameLocks noGrp="1"/>
          </p:cNvGraphicFramePr>
          <p:nvPr/>
        </p:nvGraphicFramePr>
        <p:xfrm>
          <a:off x="1675784" y="4759009"/>
          <a:ext cx="551180" cy="548640"/>
        </p:xfrm>
        <a:graphic>
          <a:graphicData uri="http://schemas.openxmlformats.org/drawingml/2006/table">
            <a:tbl>
              <a:tblPr firstRow="1" bandRow="1">
                <a:tableStyleId>{5C22544A-7EE6-4342-B048-85BDC9FD1C3A}</a:tableStyleId>
              </a:tblPr>
              <a:tblGrid>
                <a:gridCol w="551180">
                  <a:extLst>
                    <a:ext uri="{9D8B030D-6E8A-4147-A177-3AD203B41FA5}">
                      <a16:colId xmlns:a16="http://schemas.microsoft.com/office/drawing/2014/main" val="20000"/>
                    </a:ext>
                  </a:extLst>
                </a:gridCol>
              </a:tblGrid>
              <a:tr h="175047">
                <a:tc>
                  <a:txBody>
                    <a:bodyPr/>
                    <a:lstStyle/>
                    <a:p>
                      <a:r>
                        <a:rPr lang="en-US" sz="1200" i="1" dirty="0" err="1"/>
                        <a:t>uid</a:t>
                      </a:r>
                      <a:endParaRPr lang="en-US" sz="1200" i="1" dirty="0"/>
                    </a:p>
                  </a:txBody>
                  <a:tcPr/>
                </a:tc>
                <a:extLst>
                  <a:ext uri="{0D108BD9-81ED-4DB2-BD59-A6C34878D82A}">
                    <a16:rowId xmlns:a16="http://schemas.microsoft.com/office/drawing/2014/main" val="10000"/>
                  </a:ext>
                </a:extLst>
              </a:tr>
              <a:tr h="245167">
                <a:tc>
                  <a:txBody>
                    <a:bodyPr/>
                    <a:lstStyle/>
                    <a:p>
                      <a:r>
                        <a:rPr lang="en-US" sz="1200" dirty="0">
                          <a:latin typeface="Prestige12 BT" panose="02070509030506020304" pitchFamily="49" charset="0"/>
                        </a:rPr>
                        <a:t>142</a:t>
                      </a:r>
                    </a:p>
                  </a:txBody>
                  <a:tcPr/>
                </a:tc>
                <a:extLst>
                  <a:ext uri="{0D108BD9-81ED-4DB2-BD59-A6C34878D82A}">
                    <a16:rowId xmlns:a16="http://schemas.microsoft.com/office/drawing/2014/main" val="10001"/>
                  </a:ext>
                </a:extLst>
              </a:tr>
            </a:tbl>
          </a:graphicData>
        </a:graphic>
      </p:graphicFrame>
      <p:graphicFrame>
        <p:nvGraphicFramePr>
          <p:cNvPr id="7" name="Table 6"/>
          <p:cNvGraphicFramePr>
            <a:graphicFrameLocks noGrp="1"/>
          </p:cNvGraphicFramePr>
          <p:nvPr/>
        </p:nvGraphicFramePr>
        <p:xfrm>
          <a:off x="2985750" y="4758258"/>
          <a:ext cx="551180" cy="548640"/>
        </p:xfrm>
        <a:graphic>
          <a:graphicData uri="http://schemas.openxmlformats.org/drawingml/2006/table">
            <a:tbl>
              <a:tblPr firstRow="1" bandRow="1">
                <a:tableStyleId>{5C22544A-7EE6-4342-B048-85BDC9FD1C3A}</a:tableStyleId>
              </a:tblPr>
              <a:tblGrid>
                <a:gridCol w="551180">
                  <a:extLst>
                    <a:ext uri="{9D8B030D-6E8A-4147-A177-3AD203B41FA5}">
                      <a16:colId xmlns:a16="http://schemas.microsoft.com/office/drawing/2014/main" val="20000"/>
                    </a:ext>
                  </a:extLst>
                </a:gridCol>
              </a:tblGrid>
              <a:tr h="175047">
                <a:tc>
                  <a:txBody>
                    <a:bodyPr/>
                    <a:lstStyle/>
                    <a:p>
                      <a:r>
                        <a:rPr lang="en-US" sz="1200" i="1" dirty="0" err="1"/>
                        <a:t>uid</a:t>
                      </a:r>
                      <a:endParaRPr lang="en-US" sz="1200" i="1" dirty="0"/>
                    </a:p>
                  </a:txBody>
                  <a:tcPr/>
                </a:tc>
                <a:extLst>
                  <a:ext uri="{0D108BD9-81ED-4DB2-BD59-A6C34878D82A}">
                    <a16:rowId xmlns:a16="http://schemas.microsoft.com/office/drawing/2014/main" val="10000"/>
                  </a:ext>
                </a:extLst>
              </a:tr>
              <a:tr h="245167">
                <a:tc>
                  <a:txBody>
                    <a:bodyPr/>
                    <a:lstStyle/>
                    <a:p>
                      <a:r>
                        <a:rPr lang="en-US" sz="1200" dirty="0">
                          <a:latin typeface="Prestige12 BT" panose="02070509030506020304" pitchFamily="49" charset="0"/>
                        </a:rPr>
                        <a:t>121</a:t>
                      </a:r>
                    </a:p>
                  </a:txBody>
                  <a:tcPr/>
                </a:tc>
                <a:extLst>
                  <a:ext uri="{0D108BD9-81ED-4DB2-BD59-A6C34878D82A}">
                    <a16:rowId xmlns:a16="http://schemas.microsoft.com/office/drawing/2014/main" val="10001"/>
                  </a:ext>
                </a:extLst>
              </a:tr>
            </a:tbl>
          </a:graphicData>
        </a:graphic>
      </p:graphicFrame>
      <p:sp>
        <p:nvSpPr>
          <p:cNvPr id="8" name="Rectangle 7"/>
          <p:cNvSpPr/>
          <p:nvPr/>
        </p:nvSpPr>
        <p:spPr>
          <a:xfrm>
            <a:off x="1526099" y="4433504"/>
            <a:ext cx="885179" cy="369332"/>
          </a:xfrm>
          <a:prstGeom prst="rect">
            <a:avLst/>
          </a:prstGeom>
        </p:spPr>
        <p:txBody>
          <a:bodyPr wrap="none">
            <a:spAutoFit/>
          </a:bodyPr>
          <a:lstStyle/>
          <a:p>
            <a:r>
              <a:rPr lang="en-US" i="1" dirty="0" err="1"/>
              <a:t>PGroup</a:t>
            </a:r>
            <a:endParaRPr lang="en-US" i="1" dirty="0"/>
          </a:p>
        </p:txBody>
      </p:sp>
      <p:sp>
        <p:nvSpPr>
          <p:cNvPr id="9" name="Rectangle 8"/>
          <p:cNvSpPr/>
          <p:nvPr/>
        </p:nvSpPr>
        <p:spPr>
          <a:xfrm>
            <a:off x="2886444" y="4433504"/>
            <a:ext cx="877163" cy="369332"/>
          </a:xfrm>
          <a:prstGeom prst="rect">
            <a:avLst/>
          </a:prstGeom>
        </p:spPr>
        <p:txBody>
          <a:bodyPr wrap="none">
            <a:spAutoFit/>
          </a:bodyPr>
          <a:lstStyle/>
          <a:p>
            <a:r>
              <a:rPr lang="en-US" i="1" dirty="0" err="1"/>
              <a:t>SGroup</a:t>
            </a:r>
            <a:endParaRPr lang="en-US" i="1" dirty="0"/>
          </a:p>
        </p:txBody>
      </p:sp>
      <p:graphicFrame>
        <p:nvGraphicFramePr>
          <p:cNvPr id="10" name="Table 9"/>
          <p:cNvGraphicFramePr>
            <a:graphicFrameLocks noGrp="1"/>
          </p:cNvGraphicFramePr>
          <p:nvPr/>
        </p:nvGraphicFramePr>
        <p:xfrm>
          <a:off x="5430944" y="4759009"/>
          <a:ext cx="551180" cy="548640"/>
        </p:xfrm>
        <a:graphic>
          <a:graphicData uri="http://schemas.openxmlformats.org/drawingml/2006/table">
            <a:tbl>
              <a:tblPr firstRow="1" bandRow="1">
                <a:tableStyleId>{5C22544A-7EE6-4342-B048-85BDC9FD1C3A}</a:tableStyleId>
              </a:tblPr>
              <a:tblGrid>
                <a:gridCol w="551180">
                  <a:extLst>
                    <a:ext uri="{9D8B030D-6E8A-4147-A177-3AD203B41FA5}">
                      <a16:colId xmlns:a16="http://schemas.microsoft.com/office/drawing/2014/main" val="20000"/>
                    </a:ext>
                  </a:extLst>
                </a:gridCol>
              </a:tblGrid>
              <a:tr h="175047">
                <a:tc>
                  <a:txBody>
                    <a:bodyPr/>
                    <a:lstStyle/>
                    <a:p>
                      <a:r>
                        <a:rPr lang="en-US" sz="1200" i="1" dirty="0" err="1"/>
                        <a:t>uid</a:t>
                      </a:r>
                      <a:endParaRPr lang="en-US" sz="1200" i="1" dirty="0"/>
                    </a:p>
                  </a:txBody>
                  <a:tcPr/>
                </a:tc>
                <a:extLst>
                  <a:ext uri="{0D108BD9-81ED-4DB2-BD59-A6C34878D82A}">
                    <a16:rowId xmlns:a16="http://schemas.microsoft.com/office/drawing/2014/main" val="10000"/>
                  </a:ext>
                </a:extLst>
              </a:tr>
              <a:tr h="245167">
                <a:tc>
                  <a:txBody>
                    <a:bodyPr/>
                    <a:lstStyle/>
                    <a:p>
                      <a:r>
                        <a:rPr lang="en-US" sz="1200" dirty="0">
                          <a:latin typeface="Prestige12 BT" panose="02070509030506020304" pitchFamily="49" charset="0"/>
                        </a:rPr>
                        <a:t>121</a:t>
                      </a:r>
                    </a:p>
                  </a:txBody>
                  <a:tcPr/>
                </a:tc>
                <a:extLst>
                  <a:ext uri="{0D108BD9-81ED-4DB2-BD59-A6C34878D82A}">
                    <a16:rowId xmlns:a16="http://schemas.microsoft.com/office/drawing/2014/main" val="10001"/>
                  </a:ext>
                </a:extLst>
              </a:tr>
            </a:tbl>
          </a:graphicData>
        </a:graphic>
      </p:graphicFrame>
      <p:graphicFrame>
        <p:nvGraphicFramePr>
          <p:cNvPr id="11" name="Table 10"/>
          <p:cNvGraphicFramePr>
            <a:graphicFrameLocks noGrp="1"/>
          </p:cNvGraphicFramePr>
          <p:nvPr/>
        </p:nvGraphicFramePr>
        <p:xfrm>
          <a:off x="6740910" y="4758258"/>
          <a:ext cx="551180" cy="548640"/>
        </p:xfrm>
        <a:graphic>
          <a:graphicData uri="http://schemas.openxmlformats.org/drawingml/2006/table">
            <a:tbl>
              <a:tblPr firstRow="1" bandRow="1">
                <a:tableStyleId>{5C22544A-7EE6-4342-B048-85BDC9FD1C3A}</a:tableStyleId>
              </a:tblPr>
              <a:tblGrid>
                <a:gridCol w="551180">
                  <a:extLst>
                    <a:ext uri="{9D8B030D-6E8A-4147-A177-3AD203B41FA5}">
                      <a16:colId xmlns:a16="http://schemas.microsoft.com/office/drawing/2014/main" val="20000"/>
                    </a:ext>
                  </a:extLst>
                </a:gridCol>
              </a:tblGrid>
              <a:tr h="175047">
                <a:tc>
                  <a:txBody>
                    <a:bodyPr/>
                    <a:lstStyle/>
                    <a:p>
                      <a:r>
                        <a:rPr lang="en-US" sz="1200" i="1" dirty="0" err="1"/>
                        <a:t>uid</a:t>
                      </a:r>
                      <a:endParaRPr lang="en-US" sz="1200" i="1" dirty="0"/>
                    </a:p>
                  </a:txBody>
                  <a:tcPr/>
                </a:tc>
                <a:extLst>
                  <a:ext uri="{0D108BD9-81ED-4DB2-BD59-A6C34878D82A}">
                    <a16:rowId xmlns:a16="http://schemas.microsoft.com/office/drawing/2014/main" val="10000"/>
                  </a:ext>
                </a:extLst>
              </a:tr>
              <a:tr h="245167">
                <a:tc>
                  <a:txBody>
                    <a:bodyPr/>
                    <a:lstStyle/>
                    <a:p>
                      <a:r>
                        <a:rPr lang="en-US" sz="1200" dirty="0">
                          <a:latin typeface="Prestige12 BT" panose="02070509030506020304" pitchFamily="49" charset="0"/>
                        </a:rPr>
                        <a:t>142</a:t>
                      </a:r>
                    </a:p>
                  </a:txBody>
                  <a:tcPr/>
                </a:tc>
                <a:extLst>
                  <a:ext uri="{0D108BD9-81ED-4DB2-BD59-A6C34878D82A}">
                    <a16:rowId xmlns:a16="http://schemas.microsoft.com/office/drawing/2014/main" val="10001"/>
                  </a:ext>
                </a:extLst>
              </a:tr>
            </a:tbl>
          </a:graphicData>
        </a:graphic>
      </p:graphicFrame>
      <p:sp>
        <p:nvSpPr>
          <p:cNvPr id="12" name="Rectangle 11"/>
          <p:cNvSpPr/>
          <p:nvPr/>
        </p:nvSpPr>
        <p:spPr>
          <a:xfrm>
            <a:off x="5224615" y="4433504"/>
            <a:ext cx="885179" cy="369332"/>
          </a:xfrm>
          <a:prstGeom prst="rect">
            <a:avLst/>
          </a:prstGeom>
        </p:spPr>
        <p:txBody>
          <a:bodyPr wrap="none">
            <a:spAutoFit/>
          </a:bodyPr>
          <a:lstStyle/>
          <a:p>
            <a:r>
              <a:rPr lang="en-US" i="1" dirty="0" err="1"/>
              <a:t>PGroup</a:t>
            </a:r>
            <a:endParaRPr lang="en-US" i="1" dirty="0"/>
          </a:p>
        </p:txBody>
      </p:sp>
      <p:sp>
        <p:nvSpPr>
          <p:cNvPr id="13" name="Rectangle 12"/>
          <p:cNvSpPr/>
          <p:nvPr/>
        </p:nvSpPr>
        <p:spPr>
          <a:xfrm>
            <a:off x="6552592" y="4433504"/>
            <a:ext cx="877163" cy="369332"/>
          </a:xfrm>
          <a:prstGeom prst="rect">
            <a:avLst/>
          </a:prstGeom>
        </p:spPr>
        <p:txBody>
          <a:bodyPr wrap="none">
            <a:spAutoFit/>
          </a:bodyPr>
          <a:lstStyle/>
          <a:p>
            <a:r>
              <a:rPr lang="en-US" i="1" dirty="0" err="1"/>
              <a:t>SGroup</a:t>
            </a:r>
            <a:endParaRPr lang="en-US" i="1" dirty="0"/>
          </a:p>
        </p:txBody>
      </p:sp>
      <p:sp>
        <p:nvSpPr>
          <p:cNvPr id="15" name="Freeform 31"/>
          <p:cNvSpPr>
            <a:spLocks/>
          </p:cNvSpPr>
          <p:nvPr/>
        </p:nvSpPr>
        <p:spPr bwMode="auto">
          <a:xfrm>
            <a:off x="1177947" y="5153292"/>
            <a:ext cx="2864502" cy="643913"/>
          </a:xfrm>
          <a:custGeom>
            <a:avLst/>
            <a:gdLst>
              <a:gd name="T0" fmla="*/ 2147483647 w 3888"/>
              <a:gd name="T1" fmla="*/ 0 h 672"/>
              <a:gd name="T2" fmla="*/ 2147483647 w 3888"/>
              <a:gd name="T3" fmla="*/ 0 h 672"/>
              <a:gd name="T4" fmla="*/ 2147483647 w 3888"/>
              <a:gd name="T5" fmla="*/ 2147483647 h 672"/>
              <a:gd name="T6" fmla="*/ 0 w 3888"/>
              <a:gd name="T7" fmla="*/ 2147483647 h 672"/>
              <a:gd name="T8" fmla="*/ 0 w 3888"/>
              <a:gd name="T9" fmla="*/ 2147483647 h 672"/>
              <a:gd name="T10" fmla="*/ 0 w 3888"/>
              <a:gd name="T11" fmla="*/ 0 h 672"/>
              <a:gd name="T12" fmla="*/ 2147483647 w 3888"/>
              <a:gd name="T13" fmla="*/ 0 h 672"/>
              <a:gd name="T14" fmla="*/ 0 60000 65536"/>
              <a:gd name="T15" fmla="*/ 0 60000 65536"/>
              <a:gd name="T16" fmla="*/ 0 60000 65536"/>
              <a:gd name="T17" fmla="*/ 0 60000 65536"/>
              <a:gd name="T18" fmla="*/ 0 60000 65536"/>
              <a:gd name="T19" fmla="*/ 0 60000 65536"/>
              <a:gd name="T20" fmla="*/ 0 60000 65536"/>
              <a:gd name="T21" fmla="*/ 0 w 3888"/>
              <a:gd name="T22" fmla="*/ 0 h 672"/>
              <a:gd name="T23" fmla="*/ 3888 w 3888"/>
              <a:gd name="T24" fmla="*/ 672 h 672"/>
              <a:gd name="connsiteX0" fmla="*/ 9136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714 h 10000"/>
              <a:gd name="connsiteX5" fmla="*/ 0 w 10000"/>
              <a:gd name="connsiteY5" fmla="*/ 0 h 10000"/>
              <a:gd name="connsiteX6" fmla="*/ 1309 w 10000"/>
              <a:gd name="connsiteY6" fmla="*/ 0 h 10000"/>
              <a:gd name="connsiteX0" fmla="*/ 8534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714 h 10000"/>
              <a:gd name="connsiteX5" fmla="*/ 0 w 10000"/>
              <a:gd name="connsiteY5" fmla="*/ 0 h 10000"/>
              <a:gd name="connsiteX6" fmla="*/ 1309 w 10000"/>
              <a:gd name="connsiteY6" fmla="*/ 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000" h="10000">
                <a:moveTo>
                  <a:pt x="8534" y="0"/>
                </a:moveTo>
                <a:lnTo>
                  <a:pt x="10000" y="0"/>
                </a:lnTo>
                <a:lnTo>
                  <a:pt x="10000" y="10000"/>
                </a:lnTo>
                <a:lnTo>
                  <a:pt x="0" y="10000"/>
                </a:lnTo>
                <a:lnTo>
                  <a:pt x="0" y="714"/>
                </a:lnTo>
                <a:lnTo>
                  <a:pt x="0" y="0"/>
                </a:lnTo>
                <a:lnTo>
                  <a:pt x="1309" y="0"/>
                </a:lnTo>
              </a:path>
            </a:pathLst>
          </a:custGeom>
          <a:noFill/>
          <a:ln w="22225">
            <a:solidFill>
              <a:schemeClr val="tx1"/>
            </a:solidFill>
            <a:round/>
            <a:headEnd/>
            <a:tailEnd type="stealth" w="med"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6" name="Freeform 31"/>
          <p:cNvSpPr>
            <a:spLocks/>
          </p:cNvSpPr>
          <p:nvPr/>
        </p:nvSpPr>
        <p:spPr bwMode="auto">
          <a:xfrm>
            <a:off x="4918041" y="5153291"/>
            <a:ext cx="2864502" cy="643913"/>
          </a:xfrm>
          <a:custGeom>
            <a:avLst/>
            <a:gdLst>
              <a:gd name="T0" fmla="*/ 2147483647 w 3888"/>
              <a:gd name="T1" fmla="*/ 0 h 672"/>
              <a:gd name="T2" fmla="*/ 2147483647 w 3888"/>
              <a:gd name="T3" fmla="*/ 0 h 672"/>
              <a:gd name="T4" fmla="*/ 2147483647 w 3888"/>
              <a:gd name="T5" fmla="*/ 2147483647 h 672"/>
              <a:gd name="T6" fmla="*/ 0 w 3888"/>
              <a:gd name="T7" fmla="*/ 2147483647 h 672"/>
              <a:gd name="T8" fmla="*/ 0 w 3888"/>
              <a:gd name="T9" fmla="*/ 2147483647 h 672"/>
              <a:gd name="T10" fmla="*/ 0 w 3888"/>
              <a:gd name="T11" fmla="*/ 0 h 672"/>
              <a:gd name="T12" fmla="*/ 2147483647 w 3888"/>
              <a:gd name="T13" fmla="*/ 0 h 672"/>
              <a:gd name="T14" fmla="*/ 0 60000 65536"/>
              <a:gd name="T15" fmla="*/ 0 60000 65536"/>
              <a:gd name="T16" fmla="*/ 0 60000 65536"/>
              <a:gd name="T17" fmla="*/ 0 60000 65536"/>
              <a:gd name="T18" fmla="*/ 0 60000 65536"/>
              <a:gd name="T19" fmla="*/ 0 60000 65536"/>
              <a:gd name="T20" fmla="*/ 0 60000 65536"/>
              <a:gd name="T21" fmla="*/ 0 w 3888"/>
              <a:gd name="T22" fmla="*/ 0 h 672"/>
              <a:gd name="T23" fmla="*/ 3888 w 3888"/>
              <a:gd name="T24" fmla="*/ 672 h 672"/>
              <a:gd name="connsiteX0" fmla="*/ 9136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714 h 10000"/>
              <a:gd name="connsiteX5" fmla="*/ 0 w 10000"/>
              <a:gd name="connsiteY5" fmla="*/ 0 h 10000"/>
              <a:gd name="connsiteX6" fmla="*/ 1309 w 10000"/>
              <a:gd name="connsiteY6" fmla="*/ 0 h 10000"/>
              <a:gd name="connsiteX0" fmla="*/ 8534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714 h 10000"/>
              <a:gd name="connsiteX5" fmla="*/ 0 w 10000"/>
              <a:gd name="connsiteY5" fmla="*/ 0 h 10000"/>
              <a:gd name="connsiteX6" fmla="*/ 1309 w 10000"/>
              <a:gd name="connsiteY6" fmla="*/ 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000" h="10000">
                <a:moveTo>
                  <a:pt x="8534" y="0"/>
                </a:moveTo>
                <a:lnTo>
                  <a:pt x="10000" y="0"/>
                </a:lnTo>
                <a:lnTo>
                  <a:pt x="10000" y="10000"/>
                </a:lnTo>
                <a:lnTo>
                  <a:pt x="0" y="10000"/>
                </a:lnTo>
                <a:lnTo>
                  <a:pt x="0" y="714"/>
                </a:lnTo>
                <a:lnTo>
                  <a:pt x="0" y="0"/>
                </a:lnTo>
                <a:lnTo>
                  <a:pt x="1309" y="0"/>
                </a:lnTo>
              </a:path>
            </a:pathLst>
          </a:custGeom>
          <a:noFill/>
          <a:ln w="22225">
            <a:solidFill>
              <a:schemeClr val="tx1"/>
            </a:solidFill>
            <a:round/>
            <a:headEnd/>
            <a:tailEnd type="stealth" w="med"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7" name="Rectangle 16">
            <a:extLst>
              <a:ext uri="{FF2B5EF4-FFF2-40B4-BE49-F238E27FC236}">
                <a16:creationId xmlns:a16="http://schemas.microsoft.com/office/drawing/2014/main" id="{70BE51D8-48DB-4C50-AD82-86701D645EDD}"/>
              </a:ext>
            </a:extLst>
          </p:cNvPr>
          <p:cNvSpPr/>
          <p:nvPr/>
        </p:nvSpPr>
        <p:spPr>
          <a:xfrm>
            <a:off x="2025504" y="1342321"/>
            <a:ext cx="5149066" cy="177724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sz="1600" dirty="0">
                <a:latin typeface="Prestige12 BT" panose="02070509030506020304" pitchFamily="49" charset="0"/>
              </a:rPr>
              <a:t>WITH RECURSIVE </a:t>
            </a:r>
            <a:r>
              <a:rPr lang="en-US" sz="1600" dirty="0" err="1">
                <a:solidFill>
                  <a:schemeClr val="accent2"/>
                </a:solidFill>
                <a:latin typeface="Prestige12 BT" panose="02070509030506020304" pitchFamily="49" charset="0"/>
              </a:rPr>
              <a:t>PGroup</a:t>
            </a:r>
            <a:r>
              <a:rPr lang="en-US" sz="1600" dirty="0">
                <a:latin typeface="Prestige12 BT" panose="02070509030506020304" pitchFamily="49" charset="0"/>
              </a:rPr>
              <a:t>(</a:t>
            </a:r>
            <a:r>
              <a:rPr lang="en-US" sz="1600" dirty="0" err="1">
                <a:latin typeface="Prestige12 BT" panose="02070509030506020304" pitchFamily="49" charset="0"/>
              </a:rPr>
              <a:t>uid</a:t>
            </a:r>
            <a:r>
              <a:rPr lang="en-US" sz="1600" dirty="0">
                <a:latin typeface="Prestige12 BT" panose="02070509030506020304" pitchFamily="49" charset="0"/>
              </a:rPr>
              <a:t>) AS</a:t>
            </a:r>
            <a:br>
              <a:rPr lang="en-US" sz="1600" dirty="0">
                <a:latin typeface="Prestige12 BT" panose="02070509030506020304" pitchFamily="49" charset="0"/>
              </a:rPr>
            </a:br>
            <a:r>
              <a:rPr lang="en-US" sz="1600" dirty="0">
                <a:latin typeface="Prestige12 BT" panose="02070509030506020304" pitchFamily="49" charset="0"/>
              </a:rPr>
              <a:t>     (SELECT </a:t>
            </a:r>
            <a:r>
              <a:rPr lang="en-US" sz="1600" dirty="0" err="1">
                <a:latin typeface="Prestige12 BT" panose="02070509030506020304" pitchFamily="49" charset="0"/>
              </a:rPr>
              <a:t>uid</a:t>
            </a:r>
            <a:r>
              <a:rPr lang="en-US" sz="1600" dirty="0">
                <a:latin typeface="Prestige12 BT" panose="02070509030506020304" pitchFamily="49" charset="0"/>
              </a:rPr>
              <a:t> FROM User WHERE pop &gt;= 0.8</a:t>
            </a:r>
            <a:br>
              <a:rPr lang="en-US" sz="1600" dirty="0">
                <a:latin typeface="Prestige12 BT" panose="02070509030506020304" pitchFamily="49" charset="0"/>
              </a:rPr>
            </a:br>
            <a:r>
              <a:rPr lang="en-US" sz="1600" dirty="0">
                <a:latin typeface="Prestige12 BT" panose="02070509030506020304" pitchFamily="49" charset="0"/>
              </a:rPr>
              <a:t>      AND </a:t>
            </a:r>
            <a:r>
              <a:rPr lang="en-US" sz="1600" dirty="0" err="1">
                <a:latin typeface="Prestige12 BT" panose="02070509030506020304" pitchFamily="49" charset="0"/>
              </a:rPr>
              <a:t>uid</a:t>
            </a:r>
            <a:r>
              <a:rPr lang="en-US" sz="1600" dirty="0">
                <a:latin typeface="Prestige12 BT" panose="02070509030506020304" pitchFamily="49" charset="0"/>
              </a:rPr>
              <a:t> NOT IN (SELECT </a:t>
            </a:r>
            <a:r>
              <a:rPr lang="en-US" sz="1600" dirty="0" err="1">
                <a:latin typeface="Prestige12 BT" panose="02070509030506020304" pitchFamily="49" charset="0"/>
              </a:rPr>
              <a:t>uid</a:t>
            </a:r>
            <a:r>
              <a:rPr lang="en-US" sz="1600" dirty="0">
                <a:latin typeface="Prestige12 BT" panose="02070509030506020304" pitchFamily="49" charset="0"/>
              </a:rPr>
              <a:t> FROM </a:t>
            </a:r>
            <a:r>
              <a:rPr lang="en-US" sz="1600" dirty="0" err="1">
                <a:solidFill>
                  <a:schemeClr val="accent2"/>
                </a:solidFill>
                <a:latin typeface="Prestige12 BT" panose="02070509030506020304" pitchFamily="49" charset="0"/>
              </a:rPr>
              <a:t>SGroup</a:t>
            </a:r>
            <a:r>
              <a:rPr lang="en-US" sz="1600" dirty="0">
                <a:latin typeface="Prestige12 BT" panose="02070509030506020304" pitchFamily="49" charset="0"/>
              </a:rPr>
              <a:t>)),</a:t>
            </a:r>
          </a:p>
          <a:p>
            <a:r>
              <a:rPr lang="en-US" sz="1600" dirty="0">
                <a:latin typeface="Prestige12 BT" panose="02070509030506020304" pitchFamily="49" charset="0"/>
              </a:rPr>
              <a:t> RECURSIVE </a:t>
            </a:r>
            <a:r>
              <a:rPr lang="en-US" sz="1600" dirty="0" err="1">
                <a:solidFill>
                  <a:schemeClr val="accent2"/>
                </a:solidFill>
                <a:latin typeface="Prestige12 BT" panose="02070509030506020304" pitchFamily="49" charset="0"/>
              </a:rPr>
              <a:t>SGroup</a:t>
            </a:r>
            <a:r>
              <a:rPr lang="en-US" sz="1600" dirty="0">
                <a:latin typeface="Prestige12 BT" panose="02070509030506020304" pitchFamily="49" charset="0"/>
              </a:rPr>
              <a:t>(</a:t>
            </a:r>
            <a:r>
              <a:rPr lang="en-US" sz="1600" dirty="0" err="1">
                <a:latin typeface="Prestige12 BT" panose="02070509030506020304" pitchFamily="49" charset="0"/>
              </a:rPr>
              <a:t>uid</a:t>
            </a:r>
            <a:r>
              <a:rPr lang="en-US" sz="1600" dirty="0">
                <a:latin typeface="Prestige12 BT" panose="02070509030506020304" pitchFamily="49" charset="0"/>
              </a:rPr>
              <a:t>) AS</a:t>
            </a:r>
            <a:br>
              <a:rPr lang="en-US" sz="1600" dirty="0">
                <a:latin typeface="Prestige12 BT" panose="02070509030506020304" pitchFamily="49" charset="0"/>
              </a:rPr>
            </a:br>
            <a:r>
              <a:rPr lang="en-US" sz="1600" dirty="0">
                <a:latin typeface="Prestige12 BT" panose="02070509030506020304" pitchFamily="49" charset="0"/>
              </a:rPr>
              <a:t>     (SELECT </a:t>
            </a:r>
            <a:r>
              <a:rPr lang="en-US" sz="1600" dirty="0" err="1">
                <a:latin typeface="Prestige12 BT" panose="02070509030506020304" pitchFamily="49" charset="0"/>
              </a:rPr>
              <a:t>uid</a:t>
            </a:r>
            <a:r>
              <a:rPr lang="en-US" sz="1600" dirty="0">
                <a:latin typeface="Prestige12 BT" panose="02070509030506020304" pitchFamily="49" charset="0"/>
              </a:rPr>
              <a:t> FROM User WHERE pop &gt;= 0.8</a:t>
            </a:r>
            <a:br>
              <a:rPr lang="en-US" sz="1600" dirty="0">
                <a:latin typeface="Prestige12 BT" panose="02070509030506020304" pitchFamily="49" charset="0"/>
              </a:rPr>
            </a:br>
            <a:r>
              <a:rPr lang="en-US" sz="1600" dirty="0">
                <a:latin typeface="Prestige12 BT" panose="02070509030506020304" pitchFamily="49" charset="0"/>
              </a:rPr>
              <a:t>      AND </a:t>
            </a:r>
            <a:r>
              <a:rPr lang="en-US" sz="1600" dirty="0" err="1">
                <a:latin typeface="Prestige12 BT" panose="02070509030506020304" pitchFamily="49" charset="0"/>
              </a:rPr>
              <a:t>uid</a:t>
            </a:r>
            <a:r>
              <a:rPr lang="en-US" sz="1600" dirty="0">
                <a:latin typeface="Prestige12 BT" panose="02070509030506020304" pitchFamily="49" charset="0"/>
              </a:rPr>
              <a:t> NOT IN (SELECT </a:t>
            </a:r>
            <a:r>
              <a:rPr lang="en-US" sz="1600" dirty="0" err="1">
                <a:latin typeface="Prestige12 BT" panose="02070509030506020304" pitchFamily="49" charset="0"/>
              </a:rPr>
              <a:t>uid</a:t>
            </a:r>
            <a:r>
              <a:rPr lang="en-US" sz="1600" dirty="0">
                <a:latin typeface="Prestige12 BT" panose="02070509030506020304" pitchFamily="49" charset="0"/>
              </a:rPr>
              <a:t> FROM </a:t>
            </a:r>
            <a:r>
              <a:rPr lang="en-US" sz="1600" dirty="0" err="1">
                <a:solidFill>
                  <a:schemeClr val="accent2"/>
                </a:solidFill>
                <a:latin typeface="Prestige12 BT" panose="02070509030506020304" pitchFamily="49" charset="0"/>
              </a:rPr>
              <a:t>PGroup</a:t>
            </a:r>
            <a:r>
              <a:rPr lang="en-US" sz="1600" dirty="0">
                <a:latin typeface="Prestige12 BT" panose="02070509030506020304" pitchFamily="49" charset="0"/>
              </a:rPr>
              <a:t>))</a:t>
            </a:r>
          </a:p>
        </p:txBody>
      </p:sp>
    </p:spTree>
    <p:custDataLst>
      <p:tags r:id="rId1"/>
    </p:custDataLst>
    <p:extLst>
      <p:ext uri="{BB962C8B-B14F-4D97-AF65-F5344CB8AC3E}">
        <p14:creationId xmlns:p14="http://schemas.microsoft.com/office/powerpoint/2010/main" val="3130919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2"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wipe(right)">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11"/>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3"/>
                                        </p:tgtEl>
                                        <p:attrNameLst>
                                          <p:attrName>style.visibility</p:attrName>
                                        </p:attrNameLst>
                                      </p:cBhvr>
                                      <p:to>
                                        <p:strVal val="visible"/>
                                      </p:to>
                                    </p:set>
                                  </p:childTnLst>
                                </p:cTn>
                              </p:par>
                              <p:par>
                                <p:cTn id="28" presetID="22" presetClass="entr" presetSubtype="2"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right)">
                                      <p:cBhvr>
                                        <p:cTn id="3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5" grpId="0" animBg="1"/>
      <p:bldP spid="1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Legal mix of negation and recursion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a:t>Construct a </a:t>
                </a:r>
                <a:r>
                  <a:rPr lang="en-US" dirty="0">
                    <a:solidFill>
                      <a:schemeClr val="accent2"/>
                    </a:solidFill>
                  </a:rPr>
                  <a:t>dependency graph</a:t>
                </a:r>
              </a:p>
              <a:p>
                <a:pPr lvl="1"/>
                <a:r>
                  <a:rPr lang="en-US" dirty="0"/>
                  <a:t>One node for each table defined in </a:t>
                </a:r>
                <a:r>
                  <a:rPr lang="en-US" dirty="0">
                    <a:latin typeface="Prestige12 BT" panose="02070509030506020304" pitchFamily="49" charset="0"/>
                  </a:rPr>
                  <a:t>WITH</a:t>
                </a:r>
              </a:p>
              <a:p>
                <a:pPr lvl="1"/>
                <a:r>
                  <a:rPr lang="en-US" dirty="0"/>
                  <a:t>A directed edge </a:t>
                </a:r>
                <a14:m>
                  <m:oMath xmlns:m="http://schemas.openxmlformats.org/officeDocument/2006/math">
                    <m:r>
                      <a:rPr lang="en-US" i="1">
                        <a:latin typeface="Cambria Math"/>
                      </a:rPr>
                      <m:t>𝑅</m:t>
                    </m:r>
                    <m:r>
                      <a:rPr lang="en-US" i="1">
                        <a:latin typeface="Cambria Math"/>
                      </a:rPr>
                      <m:t>→</m:t>
                    </m:r>
                    <m:r>
                      <a:rPr lang="en-US" i="1">
                        <a:latin typeface="Cambria Math"/>
                      </a:rPr>
                      <m:t>𝑆</m:t>
                    </m:r>
                  </m:oMath>
                </a14:m>
                <a:r>
                  <a:rPr lang="en-US" dirty="0"/>
                  <a:t> if </a:t>
                </a:r>
                <a14:m>
                  <m:oMath xmlns:m="http://schemas.openxmlformats.org/officeDocument/2006/math">
                    <m:r>
                      <a:rPr lang="en-US" i="1" dirty="0">
                        <a:latin typeface="Cambria Math"/>
                      </a:rPr>
                      <m:t>𝑅</m:t>
                    </m:r>
                  </m:oMath>
                </a14:m>
                <a:r>
                  <a:rPr lang="en-US" dirty="0"/>
                  <a:t> is defined in terms of </a:t>
                </a:r>
                <a14:m>
                  <m:oMath xmlns:m="http://schemas.openxmlformats.org/officeDocument/2006/math">
                    <m:r>
                      <a:rPr lang="en-US" i="1" dirty="0">
                        <a:latin typeface="Cambria Math"/>
                      </a:rPr>
                      <m:t>𝑆</m:t>
                    </m:r>
                  </m:oMath>
                </a14:m>
                <a:endParaRPr lang="en-US" i="1" dirty="0"/>
              </a:p>
              <a:p>
                <a:pPr lvl="1"/>
                <a:r>
                  <a:rPr lang="en-US" dirty="0"/>
                  <a:t>Label the directed edge “</a:t>
                </a:r>
                <a14:m>
                  <m:oMath xmlns:m="http://schemas.openxmlformats.org/officeDocument/2006/math">
                    <m:r>
                      <a:rPr lang="en-US" i="1" dirty="0">
                        <a:latin typeface="Cambria Math"/>
                      </a:rPr>
                      <m:t>−</m:t>
                    </m:r>
                  </m:oMath>
                </a14:m>
                <a:r>
                  <a:rPr lang="en-US" dirty="0"/>
                  <a:t>” if the query defining </a:t>
                </a:r>
                <a14:m>
                  <m:oMath xmlns:m="http://schemas.openxmlformats.org/officeDocument/2006/math">
                    <m:r>
                      <a:rPr lang="en-US" i="1" dirty="0">
                        <a:latin typeface="Cambria Math"/>
                      </a:rPr>
                      <m:t>𝑅</m:t>
                    </m:r>
                  </m:oMath>
                </a14:m>
                <a:r>
                  <a:rPr lang="en-US" dirty="0"/>
                  <a:t> is not monotone with respect to </a:t>
                </a:r>
                <a14:m>
                  <m:oMath xmlns:m="http://schemas.openxmlformats.org/officeDocument/2006/math">
                    <m:r>
                      <a:rPr lang="en-US" i="1" dirty="0">
                        <a:latin typeface="Cambria Math"/>
                      </a:rPr>
                      <m:t>𝑆</m:t>
                    </m:r>
                  </m:oMath>
                </a14:m>
                <a:endParaRPr lang="en-US" i="1" dirty="0"/>
              </a:p>
              <a:p>
                <a:r>
                  <a:rPr lang="en-US" dirty="0"/>
                  <a:t>Legal SQL3 recursion: no cycle with a “</a:t>
                </a:r>
                <a14:m>
                  <m:oMath xmlns:m="http://schemas.openxmlformats.org/officeDocument/2006/math">
                    <m:r>
                      <a:rPr lang="en-US" i="1" dirty="0">
                        <a:latin typeface="Cambria Math"/>
                      </a:rPr>
                      <m:t>−</m:t>
                    </m:r>
                  </m:oMath>
                </a14:m>
                <a:r>
                  <a:rPr lang="en-US" dirty="0"/>
                  <a:t>” edge</a:t>
                </a:r>
              </a:p>
              <a:p>
                <a:pPr lvl="1"/>
                <a:r>
                  <a:rPr lang="en-US" dirty="0"/>
                  <a:t>Called </a:t>
                </a:r>
                <a:r>
                  <a:rPr lang="en-US" dirty="0">
                    <a:solidFill>
                      <a:schemeClr val="accent2"/>
                    </a:solidFill>
                  </a:rPr>
                  <a:t>stratified negation</a:t>
                </a:r>
              </a:p>
              <a:p>
                <a:r>
                  <a:rPr lang="en-US" dirty="0"/>
                  <a:t>Bad mix: a cycle with at least one edge labeled “</a:t>
                </a:r>
                <a14:m>
                  <m:oMath xmlns:m="http://schemas.openxmlformats.org/officeDocument/2006/math">
                    <m:r>
                      <a:rPr lang="en-US" i="1" dirty="0">
                        <a:latin typeface="Cambria Math"/>
                      </a:rPr>
                      <m:t>−</m:t>
                    </m:r>
                  </m:oMath>
                </a14:m>
                <a:r>
                  <a:rPr lang="en-US"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6"/>
                <a:stretch>
                  <a:fillRect l="-1342" t="-1968" r="-75"/>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fld id="{44C99FA5-7995-46A9-A97E-16E38AD58950}" type="slidenum">
              <a:rPr lang="en-US" smtClean="0"/>
              <a:t>19</a:t>
            </a:fld>
            <a:endParaRPr lang="en-US"/>
          </a:p>
        </p:txBody>
      </p:sp>
      <p:sp>
        <p:nvSpPr>
          <p:cNvPr id="5" name="Text Box 4"/>
          <p:cNvSpPr txBox="1">
            <a:spLocks noChangeArrowheads="1"/>
          </p:cNvSpPr>
          <p:nvPr/>
        </p:nvSpPr>
        <p:spPr bwMode="auto">
          <a:xfrm>
            <a:off x="1219200" y="5486400"/>
            <a:ext cx="131638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i="1">
                <a:latin typeface="+mn-lt"/>
              </a:rPr>
              <a:t>Ancestor</a:t>
            </a:r>
          </a:p>
        </p:txBody>
      </p:sp>
      <p:sp>
        <p:nvSpPr>
          <p:cNvPr id="6" name="Freeform 5"/>
          <p:cNvSpPr>
            <a:spLocks/>
          </p:cNvSpPr>
          <p:nvPr/>
        </p:nvSpPr>
        <p:spPr bwMode="auto">
          <a:xfrm>
            <a:off x="1752600" y="5232400"/>
            <a:ext cx="762000" cy="1054100"/>
          </a:xfrm>
          <a:custGeom>
            <a:avLst/>
            <a:gdLst>
              <a:gd name="T0" fmla="*/ 0 w 632"/>
              <a:gd name="T1" fmla="*/ 2147483647 h 664"/>
              <a:gd name="T2" fmla="*/ 2147483647 w 632"/>
              <a:gd name="T3" fmla="*/ 2147483647 h 664"/>
              <a:gd name="T4" fmla="*/ 2147483647 w 632"/>
              <a:gd name="T5" fmla="*/ 2147483647 h 664"/>
              <a:gd name="T6" fmla="*/ 2147483647 w 632"/>
              <a:gd name="T7" fmla="*/ 2147483647 h 664"/>
              <a:gd name="T8" fmla="*/ 0 w 632"/>
              <a:gd name="T9" fmla="*/ 2147483647 h 664"/>
              <a:gd name="T10" fmla="*/ 0 60000 65536"/>
              <a:gd name="T11" fmla="*/ 0 60000 65536"/>
              <a:gd name="T12" fmla="*/ 0 60000 65536"/>
              <a:gd name="T13" fmla="*/ 0 60000 65536"/>
              <a:gd name="T14" fmla="*/ 0 60000 65536"/>
              <a:gd name="T15" fmla="*/ 0 w 632"/>
              <a:gd name="T16" fmla="*/ 0 h 664"/>
              <a:gd name="T17" fmla="*/ 632 w 632"/>
              <a:gd name="T18" fmla="*/ 664 h 664"/>
            </a:gdLst>
            <a:ahLst/>
            <a:cxnLst>
              <a:cxn ang="T10">
                <a:pos x="T0" y="T1"/>
              </a:cxn>
              <a:cxn ang="T11">
                <a:pos x="T2" y="T3"/>
              </a:cxn>
              <a:cxn ang="T12">
                <a:pos x="T4" y="T5"/>
              </a:cxn>
              <a:cxn ang="T13">
                <a:pos x="T6" y="T7"/>
              </a:cxn>
              <a:cxn ang="T14">
                <a:pos x="T8" y="T9"/>
              </a:cxn>
            </a:cxnLst>
            <a:rect l="T15" t="T16" r="T17" b="T18"/>
            <a:pathLst>
              <a:path w="632" h="664">
                <a:moveTo>
                  <a:pt x="0" y="208"/>
                </a:moveTo>
                <a:cubicBezTo>
                  <a:pt x="116" y="104"/>
                  <a:pt x="232" y="0"/>
                  <a:pt x="336" y="16"/>
                </a:cubicBezTo>
                <a:cubicBezTo>
                  <a:pt x="440" y="32"/>
                  <a:pt x="616" y="200"/>
                  <a:pt x="624" y="304"/>
                </a:cubicBezTo>
                <a:cubicBezTo>
                  <a:pt x="632" y="408"/>
                  <a:pt x="488" y="616"/>
                  <a:pt x="384" y="640"/>
                </a:cubicBezTo>
                <a:cubicBezTo>
                  <a:pt x="280" y="664"/>
                  <a:pt x="140" y="556"/>
                  <a:pt x="0" y="448"/>
                </a:cubicBezTo>
              </a:path>
            </a:pathLst>
          </a:custGeom>
          <a:noFill/>
          <a:ln w="22225">
            <a:solidFill>
              <a:schemeClr val="tx1"/>
            </a:solidFill>
            <a:round/>
            <a:headEnd/>
            <a:tailEnd type="stealth" w="med"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7" name="Text Box 6"/>
          <p:cNvSpPr txBox="1">
            <a:spLocks noChangeArrowheads="1"/>
          </p:cNvSpPr>
          <p:nvPr/>
        </p:nvSpPr>
        <p:spPr bwMode="auto">
          <a:xfrm>
            <a:off x="2544763" y="6019800"/>
            <a:ext cx="95891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a:latin typeface="+mn-lt"/>
              </a:rPr>
              <a:t>Legal!</a:t>
            </a:r>
          </a:p>
        </p:txBody>
      </p:sp>
      <p:grpSp>
        <p:nvGrpSpPr>
          <p:cNvPr id="8" name="Group 14"/>
          <p:cNvGrpSpPr>
            <a:grpSpLocks/>
          </p:cNvGrpSpPr>
          <p:nvPr/>
        </p:nvGrpSpPr>
        <p:grpSpPr bwMode="auto">
          <a:xfrm>
            <a:off x="4657746" y="5486406"/>
            <a:ext cx="2574934" cy="461963"/>
            <a:chOff x="2934" y="3456"/>
            <a:chExt cx="1622" cy="291"/>
          </a:xfrm>
        </p:grpSpPr>
        <p:sp>
          <p:nvSpPr>
            <p:cNvPr id="9" name="Text Box 7"/>
            <p:cNvSpPr txBox="1">
              <a:spLocks noChangeArrowheads="1"/>
            </p:cNvSpPr>
            <p:nvPr/>
          </p:nvSpPr>
          <p:spPr bwMode="auto">
            <a:xfrm>
              <a:off x="2934" y="3456"/>
              <a:ext cx="707"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i="1" dirty="0" err="1">
                  <a:latin typeface="+mn-lt"/>
                </a:rPr>
                <a:t>PGroup</a:t>
              </a:r>
              <a:endParaRPr lang="en-US" i="1" dirty="0">
                <a:latin typeface="+mn-lt"/>
              </a:endParaRPr>
            </a:p>
          </p:txBody>
        </p:sp>
        <p:sp>
          <p:nvSpPr>
            <p:cNvPr id="10" name="Text Box 8"/>
            <p:cNvSpPr txBox="1">
              <a:spLocks noChangeArrowheads="1"/>
            </p:cNvSpPr>
            <p:nvPr/>
          </p:nvSpPr>
          <p:spPr bwMode="auto">
            <a:xfrm>
              <a:off x="3856" y="3456"/>
              <a:ext cx="700"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i="1" dirty="0" err="1">
                  <a:latin typeface="+mn-lt"/>
                </a:rPr>
                <a:t>SGroup</a:t>
              </a:r>
              <a:endParaRPr lang="en-US" i="1" dirty="0">
                <a:latin typeface="+mn-lt"/>
              </a:endParaRPr>
            </a:p>
          </p:txBody>
        </p:sp>
      </p:grpSp>
      <p:sp>
        <p:nvSpPr>
          <p:cNvPr id="11" name="Freeform 9"/>
          <p:cNvSpPr>
            <a:spLocks/>
          </p:cNvSpPr>
          <p:nvPr/>
        </p:nvSpPr>
        <p:spPr bwMode="auto">
          <a:xfrm>
            <a:off x="5181600" y="5181600"/>
            <a:ext cx="1447800" cy="381000"/>
          </a:xfrm>
          <a:custGeom>
            <a:avLst/>
            <a:gdLst>
              <a:gd name="T0" fmla="*/ 0 w 912"/>
              <a:gd name="T1" fmla="*/ 2147483647 h 240"/>
              <a:gd name="T2" fmla="*/ 2147483647 w 912"/>
              <a:gd name="T3" fmla="*/ 0 h 240"/>
              <a:gd name="T4" fmla="*/ 2147483647 w 912"/>
              <a:gd name="T5" fmla="*/ 2147483647 h 240"/>
              <a:gd name="T6" fmla="*/ 0 60000 65536"/>
              <a:gd name="T7" fmla="*/ 0 60000 65536"/>
              <a:gd name="T8" fmla="*/ 0 60000 65536"/>
              <a:gd name="T9" fmla="*/ 0 w 912"/>
              <a:gd name="T10" fmla="*/ 0 h 240"/>
              <a:gd name="T11" fmla="*/ 912 w 912"/>
              <a:gd name="T12" fmla="*/ 240 h 240"/>
            </a:gdLst>
            <a:ahLst/>
            <a:cxnLst>
              <a:cxn ang="T6">
                <a:pos x="T0" y="T1"/>
              </a:cxn>
              <a:cxn ang="T7">
                <a:pos x="T2" y="T3"/>
              </a:cxn>
              <a:cxn ang="T8">
                <a:pos x="T4" y="T5"/>
              </a:cxn>
            </a:cxnLst>
            <a:rect l="T9" t="T10" r="T11" b="T12"/>
            <a:pathLst>
              <a:path w="912" h="240">
                <a:moveTo>
                  <a:pt x="0" y="240"/>
                </a:moveTo>
                <a:cubicBezTo>
                  <a:pt x="140" y="120"/>
                  <a:pt x="280" y="0"/>
                  <a:pt x="432" y="0"/>
                </a:cubicBezTo>
                <a:cubicBezTo>
                  <a:pt x="584" y="0"/>
                  <a:pt x="748" y="120"/>
                  <a:pt x="912" y="240"/>
                </a:cubicBezTo>
              </a:path>
            </a:pathLst>
          </a:custGeom>
          <a:noFill/>
          <a:ln w="22225">
            <a:solidFill>
              <a:schemeClr val="tx1"/>
            </a:solidFill>
            <a:round/>
            <a:headEnd/>
            <a:tailEnd type="stealth" w="med"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2" name="Freeform 10"/>
          <p:cNvSpPr>
            <a:spLocks/>
          </p:cNvSpPr>
          <p:nvPr/>
        </p:nvSpPr>
        <p:spPr bwMode="auto">
          <a:xfrm flipH="1" flipV="1">
            <a:off x="5181600" y="5867400"/>
            <a:ext cx="1447800" cy="381000"/>
          </a:xfrm>
          <a:custGeom>
            <a:avLst/>
            <a:gdLst>
              <a:gd name="T0" fmla="*/ 0 w 912"/>
              <a:gd name="T1" fmla="*/ 2147483647 h 240"/>
              <a:gd name="T2" fmla="*/ 2147483647 w 912"/>
              <a:gd name="T3" fmla="*/ 0 h 240"/>
              <a:gd name="T4" fmla="*/ 2147483647 w 912"/>
              <a:gd name="T5" fmla="*/ 2147483647 h 240"/>
              <a:gd name="T6" fmla="*/ 0 60000 65536"/>
              <a:gd name="T7" fmla="*/ 0 60000 65536"/>
              <a:gd name="T8" fmla="*/ 0 60000 65536"/>
              <a:gd name="T9" fmla="*/ 0 w 912"/>
              <a:gd name="T10" fmla="*/ 0 h 240"/>
              <a:gd name="T11" fmla="*/ 912 w 912"/>
              <a:gd name="T12" fmla="*/ 240 h 240"/>
            </a:gdLst>
            <a:ahLst/>
            <a:cxnLst>
              <a:cxn ang="T6">
                <a:pos x="T0" y="T1"/>
              </a:cxn>
              <a:cxn ang="T7">
                <a:pos x="T2" y="T3"/>
              </a:cxn>
              <a:cxn ang="T8">
                <a:pos x="T4" y="T5"/>
              </a:cxn>
            </a:cxnLst>
            <a:rect l="T9" t="T10" r="T11" b="T12"/>
            <a:pathLst>
              <a:path w="912" h="240">
                <a:moveTo>
                  <a:pt x="0" y="240"/>
                </a:moveTo>
                <a:cubicBezTo>
                  <a:pt x="140" y="120"/>
                  <a:pt x="280" y="0"/>
                  <a:pt x="432" y="0"/>
                </a:cubicBezTo>
                <a:cubicBezTo>
                  <a:pt x="584" y="0"/>
                  <a:pt x="748" y="120"/>
                  <a:pt x="912" y="240"/>
                </a:cubicBezTo>
              </a:path>
            </a:pathLst>
          </a:custGeom>
          <a:noFill/>
          <a:ln w="22225">
            <a:solidFill>
              <a:schemeClr val="tx1"/>
            </a:solidFill>
            <a:round/>
            <a:headEnd/>
            <a:tailEnd type="stealth" w="med" len="lg"/>
          </a:ln>
          <a:extLst>
            <a:ext uri="{909E8E84-426E-40DD-AFC4-6F175D3DCCD1}">
              <a14:hiddenFill xmlns:a14="http://schemas.microsoft.com/office/drawing/2010/main">
                <a:solidFill>
                  <a:srgbClr val="FFFFFF"/>
                </a:solidFill>
              </a14:hiddenFill>
            </a:ext>
          </a:extLst>
        </p:spPr>
        <p:txBody>
          <a:bodyPr/>
          <a:lstStyle/>
          <a:p>
            <a:endParaRPr lang="en-US"/>
          </a:p>
        </p:txBody>
      </p:sp>
      <mc:AlternateContent xmlns:mc="http://schemas.openxmlformats.org/markup-compatibility/2006" xmlns:a14="http://schemas.microsoft.com/office/drawing/2010/main">
        <mc:Choice Requires="a14">
          <p:sp>
            <p:nvSpPr>
              <p:cNvPr id="13" name="Rectangle 11"/>
              <p:cNvSpPr>
                <a:spLocks noChangeArrowheads="1"/>
              </p:cNvSpPr>
              <p:nvPr/>
            </p:nvSpPr>
            <p:spPr bwMode="auto">
              <a:xfrm>
                <a:off x="5630065" y="4738688"/>
                <a:ext cx="542135" cy="523220"/>
              </a:xfrm>
              <a:prstGeom prst="rect">
                <a:avLst/>
              </a:prstGeom>
              <a:noFill/>
              <a:ln>
                <a:noFill/>
              </a:ln>
              <a:extLst>
                <a:ext uri="{909E8E84-426E-40DD-AFC4-6F175D3DCCD1}">
                  <a14:hiddenFill>
                    <a:solidFill>
                      <a:srgbClr val="FFFFFF"/>
                    </a:solidFill>
                  </a14:hiddenFill>
                </a:ext>
                <a:ext uri="{91240B29-F687-4F45-9708-019B960494DF}">
                  <a14:hiddenLine w="22225">
                    <a:solidFill>
                      <a:srgbClr val="000000"/>
                    </a:solidFill>
                    <a:miter lim="800000"/>
                    <a:headEnd/>
                    <a:tailEnd/>
                  </a14:hiddenLine>
                </a:ext>
              </a:extLst>
            </p:spPr>
            <p:txBody>
              <a:bodyPr wrap="none">
                <a:spAutoFit/>
              </a:bodyPr>
              <a:lstStyle/>
              <a:p>
                <a:pPr>
                  <a:buNone/>
                </a:pPr>
                <a14:m>
                  <m:oMathPara xmlns:m="http://schemas.openxmlformats.org/officeDocument/2006/math">
                    <m:oMathParaPr>
                      <m:jc m:val="centerGroup"/>
                    </m:oMathParaPr>
                    <m:oMath xmlns:m="http://schemas.openxmlformats.org/officeDocument/2006/math">
                      <m:r>
                        <a:rPr lang="en-US" sz="2800" b="0" i="1" dirty="0" smtClean="0">
                          <a:latin typeface="Cambria Math" panose="02040503050406030204" pitchFamily="18" charset="0"/>
                        </a:rPr>
                        <m:t>−</m:t>
                      </m:r>
                    </m:oMath>
                  </m:oMathPara>
                </a14:m>
                <a:endParaRPr lang="en-US" sz="2800" dirty="0"/>
              </a:p>
            </p:txBody>
          </p:sp>
        </mc:Choice>
        <mc:Fallback xmlns="">
          <p:sp>
            <p:nvSpPr>
              <p:cNvPr id="13" name="Rectangle 11"/>
              <p:cNvSpPr>
                <a:spLocks noRot="1" noChangeAspect="1" noMove="1" noResize="1" noEditPoints="1" noAdjustHandles="1" noChangeArrowheads="1" noChangeShapeType="1" noTextEdit="1"/>
              </p:cNvSpPr>
              <p:nvPr/>
            </p:nvSpPr>
            <p:spPr bwMode="auto">
              <a:xfrm>
                <a:off x="5630065" y="4738688"/>
                <a:ext cx="542135" cy="523220"/>
              </a:xfrm>
              <a:prstGeom prst="rect">
                <a:avLst/>
              </a:prstGeom>
              <a:blipFill rotWithShape="0">
                <a:blip r:embed="rId7"/>
                <a:stretch>
                  <a:fillRect/>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2"/>
              <p:cNvSpPr>
                <a:spLocks noChangeArrowheads="1"/>
              </p:cNvSpPr>
              <p:nvPr/>
            </p:nvSpPr>
            <p:spPr bwMode="auto">
              <a:xfrm>
                <a:off x="5638800" y="6096000"/>
                <a:ext cx="542135" cy="523220"/>
              </a:xfrm>
              <a:prstGeom prst="rect">
                <a:avLst/>
              </a:prstGeom>
              <a:noFill/>
              <a:ln>
                <a:noFill/>
              </a:ln>
              <a:extLst>
                <a:ext uri="{909E8E84-426E-40DD-AFC4-6F175D3DCCD1}">
                  <a14:hiddenFill>
                    <a:solidFill>
                      <a:srgbClr val="FFFFFF"/>
                    </a:solidFill>
                  </a14:hiddenFill>
                </a:ext>
                <a:ext uri="{91240B29-F687-4F45-9708-019B960494DF}">
                  <a14:hiddenLine w="22225">
                    <a:solidFill>
                      <a:srgbClr val="000000"/>
                    </a:solidFill>
                    <a:miter lim="800000"/>
                    <a:headEnd/>
                    <a:tailEnd/>
                  </a14:hiddenLine>
                </a:ext>
              </a:extLst>
            </p:spPr>
            <p:txBody>
              <a:bodyPr wrap="none">
                <a:spAutoFit/>
              </a:bodyPr>
              <a:lstStyle/>
              <a:p>
                <a:pPr>
                  <a:buNone/>
                </a:pPr>
                <a14:m>
                  <m:oMathPara xmlns:m="http://schemas.openxmlformats.org/officeDocument/2006/math">
                    <m:oMathParaPr>
                      <m:jc m:val="centerGroup"/>
                    </m:oMathParaPr>
                    <m:oMath xmlns:m="http://schemas.openxmlformats.org/officeDocument/2006/math">
                      <m:r>
                        <a:rPr lang="en-US" sz="2800" b="0" i="1" dirty="0" smtClean="0">
                          <a:latin typeface="Cambria Math" panose="02040503050406030204" pitchFamily="18" charset="0"/>
                        </a:rPr>
                        <m:t>−</m:t>
                      </m:r>
                    </m:oMath>
                  </m:oMathPara>
                </a14:m>
                <a:endParaRPr lang="en-US" sz="2800" dirty="0"/>
              </a:p>
            </p:txBody>
          </p:sp>
        </mc:Choice>
        <mc:Fallback xmlns="">
          <p:sp>
            <p:nvSpPr>
              <p:cNvPr id="14" name="Rectangle 12"/>
              <p:cNvSpPr>
                <a:spLocks noRot="1" noChangeAspect="1" noMove="1" noResize="1" noEditPoints="1" noAdjustHandles="1" noChangeArrowheads="1" noChangeShapeType="1" noTextEdit="1"/>
              </p:cNvSpPr>
              <p:nvPr/>
            </p:nvSpPr>
            <p:spPr bwMode="auto">
              <a:xfrm>
                <a:off x="5638800" y="6096000"/>
                <a:ext cx="542135" cy="523220"/>
              </a:xfrm>
              <a:prstGeom prst="rect">
                <a:avLst/>
              </a:prstGeom>
              <a:blipFill rotWithShape="0">
                <a:blip r:embed="rId8"/>
                <a:stretch>
                  <a:fillRect/>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a:lstStyle/>
              <a:p>
                <a:r>
                  <a:rPr lang="en-US">
                    <a:noFill/>
                  </a:rPr>
                  <a:t> </a:t>
                </a:r>
              </a:p>
            </p:txBody>
          </p:sp>
        </mc:Fallback>
      </mc:AlternateContent>
      <p:sp>
        <p:nvSpPr>
          <p:cNvPr id="15" name="Text Box 13"/>
          <p:cNvSpPr txBox="1">
            <a:spLocks noChangeArrowheads="1"/>
          </p:cNvSpPr>
          <p:nvPr/>
        </p:nvSpPr>
        <p:spPr bwMode="auto">
          <a:xfrm>
            <a:off x="7108825" y="6019800"/>
            <a:ext cx="103425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a:latin typeface="+mn-lt"/>
              </a:rPr>
              <a:t>Illegal!</a:t>
            </a:r>
          </a:p>
        </p:txBody>
      </p:sp>
    </p:spTree>
    <p:custDataLst>
      <p:tags r:id="rId1"/>
    </p:custDataLst>
    <p:extLst>
      <p:ext uri="{BB962C8B-B14F-4D97-AF65-F5344CB8AC3E}">
        <p14:creationId xmlns:p14="http://schemas.microsoft.com/office/powerpoint/2010/main" val="2038723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1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5"/>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499"/>
                                          </p:stCondLst>
                                        </p:cTn>
                                        <p:tgtEl>
                                          <p:spTgt spid="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499"/>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P spid="6" grpId="0" animBg="1"/>
      <p:bldP spid="7" grpId="0" autoUpdateAnimBg="0"/>
      <p:bldP spid="11" grpId="0" animBg="1"/>
      <p:bldP spid="12" grpId="0" animBg="1"/>
      <p:bldP spid="13" grpId="0" autoUpdateAnimBg="0"/>
      <p:bldP spid="14" grpId="0" autoUpdateAnimBg="0"/>
      <p:bldP spid="15" grpId="0" autoUpdateAnimBg="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Stratified negation example</a:t>
            </a:r>
          </a:p>
        </p:txBody>
      </p:sp>
      <p:sp>
        <p:nvSpPr>
          <p:cNvPr id="3" name="Content Placeholder 2"/>
          <p:cNvSpPr>
            <a:spLocks noGrp="1"/>
          </p:cNvSpPr>
          <p:nvPr>
            <p:ph idx="1"/>
          </p:nvPr>
        </p:nvSpPr>
        <p:spPr/>
        <p:txBody>
          <a:bodyPr>
            <a:normAutofit/>
          </a:bodyPr>
          <a:lstStyle/>
          <a:p>
            <a:r>
              <a:rPr lang="en-US" dirty="0"/>
              <a:t>Find pairs of persons with no common ancestors</a:t>
            </a:r>
          </a:p>
        </p:txBody>
      </p:sp>
      <p:sp>
        <p:nvSpPr>
          <p:cNvPr id="4" name="Slide Number Placeholder 3"/>
          <p:cNvSpPr>
            <a:spLocks noGrp="1"/>
          </p:cNvSpPr>
          <p:nvPr>
            <p:ph type="sldNum" sz="quarter" idx="12"/>
          </p:nvPr>
        </p:nvSpPr>
        <p:spPr/>
        <p:txBody>
          <a:bodyPr/>
          <a:lstStyle/>
          <a:p>
            <a:fld id="{44C99FA5-7995-46A9-A97E-16E38AD58950}" type="slidenum">
              <a:rPr lang="en-US" smtClean="0"/>
              <a:t>20</a:t>
            </a:fld>
            <a:endParaRPr lang="en-US"/>
          </a:p>
        </p:txBody>
      </p:sp>
      <p:grpSp>
        <p:nvGrpSpPr>
          <p:cNvPr id="5" name="Group 11"/>
          <p:cNvGrpSpPr>
            <a:grpSpLocks/>
          </p:cNvGrpSpPr>
          <p:nvPr/>
        </p:nvGrpSpPr>
        <p:grpSpPr bwMode="auto">
          <a:xfrm>
            <a:off x="7248838" y="3278195"/>
            <a:ext cx="1817688" cy="2000250"/>
            <a:chOff x="4144" y="1872"/>
            <a:chExt cx="1145" cy="1260"/>
          </a:xfrm>
        </p:grpSpPr>
        <p:sp>
          <p:nvSpPr>
            <p:cNvPr id="6" name="Text Box 4"/>
            <p:cNvSpPr txBox="1">
              <a:spLocks noChangeArrowheads="1"/>
            </p:cNvSpPr>
            <p:nvPr/>
          </p:nvSpPr>
          <p:spPr bwMode="auto">
            <a:xfrm>
              <a:off x="4144" y="1872"/>
              <a:ext cx="711"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2000" i="1">
                  <a:latin typeface="+mn-lt"/>
                </a:rPr>
                <a:t>Ancestor</a:t>
              </a:r>
            </a:p>
          </p:txBody>
        </p:sp>
        <p:sp>
          <p:nvSpPr>
            <p:cNvPr id="7" name="Text Box 5"/>
            <p:cNvSpPr txBox="1">
              <a:spLocks noChangeArrowheads="1"/>
            </p:cNvSpPr>
            <p:nvPr/>
          </p:nvSpPr>
          <p:spPr bwMode="auto">
            <a:xfrm>
              <a:off x="4144" y="2352"/>
              <a:ext cx="571"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2000" i="1">
                  <a:latin typeface="+mn-lt"/>
                </a:rPr>
                <a:t>Person</a:t>
              </a:r>
            </a:p>
          </p:txBody>
        </p:sp>
        <p:sp>
          <p:nvSpPr>
            <p:cNvPr id="8" name="Text Box 6"/>
            <p:cNvSpPr txBox="1">
              <a:spLocks noChangeArrowheads="1"/>
            </p:cNvSpPr>
            <p:nvPr/>
          </p:nvSpPr>
          <p:spPr bwMode="auto">
            <a:xfrm>
              <a:off x="4144" y="2880"/>
              <a:ext cx="1145"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2000" i="1">
                  <a:latin typeface="+mn-lt"/>
                </a:rPr>
                <a:t>NoCommonAnc</a:t>
              </a:r>
            </a:p>
          </p:txBody>
        </p:sp>
      </p:grpSp>
      <p:sp>
        <p:nvSpPr>
          <p:cNvPr id="10" name="Line 8"/>
          <p:cNvSpPr>
            <a:spLocks noChangeShapeType="1"/>
          </p:cNvSpPr>
          <p:nvPr/>
        </p:nvSpPr>
        <p:spPr bwMode="auto">
          <a:xfrm flipV="1">
            <a:off x="7706036" y="4367408"/>
            <a:ext cx="0" cy="53340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1" name="Freeform 9"/>
          <p:cNvSpPr>
            <a:spLocks/>
          </p:cNvSpPr>
          <p:nvPr/>
        </p:nvSpPr>
        <p:spPr bwMode="auto">
          <a:xfrm>
            <a:off x="7002307" y="3551621"/>
            <a:ext cx="304800" cy="1447800"/>
          </a:xfrm>
          <a:custGeom>
            <a:avLst/>
            <a:gdLst>
              <a:gd name="T0" fmla="*/ 2147483647 w 192"/>
              <a:gd name="T1" fmla="*/ 2147483647 h 912"/>
              <a:gd name="T2" fmla="*/ 0 w 192"/>
              <a:gd name="T3" fmla="*/ 2147483647 h 912"/>
              <a:gd name="T4" fmla="*/ 2147483647 w 192"/>
              <a:gd name="T5" fmla="*/ 0 h 912"/>
              <a:gd name="T6" fmla="*/ 0 60000 65536"/>
              <a:gd name="T7" fmla="*/ 0 60000 65536"/>
              <a:gd name="T8" fmla="*/ 0 60000 65536"/>
              <a:gd name="T9" fmla="*/ 0 w 192"/>
              <a:gd name="T10" fmla="*/ 0 h 912"/>
              <a:gd name="T11" fmla="*/ 192 w 192"/>
              <a:gd name="T12" fmla="*/ 912 h 912"/>
            </a:gdLst>
            <a:ahLst/>
            <a:cxnLst>
              <a:cxn ang="T6">
                <a:pos x="T0" y="T1"/>
              </a:cxn>
              <a:cxn ang="T7">
                <a:pos x="T2" y="T3"/>
              </a:cxn>
              <a:cxn ang="T8">
                <a:pos x="T4" y="T5"/>
              </a:cxn>
            </a:cxnLst>
            <a:rect l="T9" t="T10" r="T11" b="T12"/>
            <a:pathLst>
              <a:path w="192" h="912">
                <a:moveTo>
                  <a:pt x="192" y="912"/>
                </a:moveTo>
                <a:cubicBezTo>
                  <a:pt x="96" y="748"/>
                  <a:pt x="0" y="584"/>
                  <a:pt x="0" y="432"/>
                </a:cubicBezTo>
                <a:cubicBezTo>
                  <a:pt x="0" y="280"/>
                  <a:pt x="96" y="140"/>
                  <a:pt x="192" y="0"/>
                </a:cubicBezTo>
              </a:path>
            </a:pathLst>
          </a:custGeom>
          <a:noFill/>
          <a:ln w="22225">
            <a:solidFill>
              <a:schemeClr val="tx1"/>
            </a:solidFill>
            <a:round/>
            <a:headEnd/>
            <a:tailEnd type="stealth" w="med" len="lg"/>
          </a:ln>
          <a:extLst>
            <a:ext uri="{909E8E84-426E-40DD-AFC4-6F175D3DCCD1}">
              <a14:hiddenFill xmlns:a14="http://schemas.microsoft.com/office/drawing/2010/main">
                <a:solidFill>
                  <a:srgbClr val="FFFFFF"/>
                </a:solidFill>
              </a14:hiddenFill>
            </a:ext>
          </a:extLst>
        </p:spPr>
        <p:txBody>
          <a:bodyPr/>
          <a:lstStyle/>
          <a:p>
            <a:endParaRPr lang="en-US" sz="1600"/>
          </a:p>
        </p:txBody>
      </p:sp>
      <mc:AlternateContent xmlns:mc="http://schemas.openxmlformats.org/markup-compatibility/2006" xmlns:a14="http://schemas.microsoft.com/office/drawing/2010/main">
        <mc:Choice Requires="a14">
          <p:sp>
            <p:nvSpPr>
              <p:cNvPr id="12" name="Rectangle 10"/>
              <p:cNvSpPr>
                <a:spLocks noChangeArrowheads="1"/>
              </p:cNvSpPr>
              <p:nvPr/>
            </p:nvSpPr>
            <p:spPr bwMode="auto">
              <a:xfrm>
                <a:off x="6528901" y="4040195"/>
                <a:ext cx="481221" cy="461665"/>
              </a:xfrm>
              <a:prstGeom prst="rect">
                <a:avLst/>
              </a:prstGeom>
              <a:noFill/>
              <a:ln>
                <a:noFill/>
              </a:ln>
              <a:extLst>
                <a:ext uri="{909E8E84-426E-40DD-AFC4-6F175D3DCCD1}">
                  <a14:hiddenFill>
                    <a:solidFill>
                      <a:srgbClr val="FFFFFF"/>
                    </a:solidFill>
                  </a14:hiddenFill>
                </a:ext>
                <a:ext uri="{91240B29-F687-4F45-9708-019B960494DF}">
                  <a14:hiddenLine w="22225">
                    <a:solidFill>
                      <a:srgbClr val="000000"/>
                    </a:solidFill>
                    <a:miter lim="800000"/>
                    <a:headEnd/>
                    <a:tailEnd/>
                  </a14:hiddenLine>
                </a:ext>
              </a:extLst>
            </p:spPr>
            <p:txBody>
              <a:bodyPr wrap="none">
                <a:spAutoFit/>
              </a:bodyPr>
              <a:lstStyle/>
              <a:p>
                <a:pPr>
                  <a:buNone/>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m:t>
                      </m:r>
                    </m:oMath>
                  </m:oMathPara>
                </a14:m>
                <a:endParaRPr lang="en-US" sz="2400" dirty="0"/>
              </a:p>
            </p:txBody>
          </p:sp>
        </mc:Choice>
        <mc:Fallback xmlns="">
          <p:sp>
            <p:nvSpPr>
              <p:cNvPr id="12" name="Rectangle 10"/>
              <p:cNvSpPr>
                <a:spLocks noRot="1" noChangeAspect="1" noMove="1" noResize="1" noEditPoints="1" noAdjustHandles="1" noChangeArrowheads="1" noChangeShapeType="1" noTextEdit="1"/>
              </p:cNvSpPr>
              <p:nvPr/>
            </p:nvSpPr>
            <p:spPr bwMode="auto">
              <a:xfrm>
                <a:off x="6528901" y="4040195"/>
                <a:ext cx="481221" cy="461665"/>
              </a:xfrm>
              <a:prstGeom prst="rect">
                <a:avLst/>
              </a:prstGeom>
              <a:blipFill rotWithShape="0">
                <a:blip r:embed="rId6"/>
                <a:stretch>
                  <a:fillRect/>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a:lstStyle/>
              <a:p>
                <a:r>
                  <a:rPr lang="en-US">
                    <a:noFill/>
                  </a:rPr>
                  <a:t> </a:t>
                </a:r>
              </a:p>
            </p:txBody>
          </p:sp>
        </mc:Fallback>
      </mc:AlternateContent>
      <p:sp>
        <p:nvSpPr>
          <p:cNvPr id="14" name="Arc 13"/>
          <p:cNvSpPr/>
          <p:nvPr/>
        </p:nvSpPr>
        <p:spPr>
          <a:xfrm>
            <a:off x="8155301" y="3110555"/>
            <a:ext cx="548640" cy="548640"/>
          </a:xfrm>
          <a:prstGeom prst="arc">
            <a:avLst>
              <a:gd name="adj1" fmla="val 11374337"/>
              <a:gd name="adj2" fmla="val 7657570"/>
            </a:avLst>
          </a:prstGeom>
          <a:ln w="22225">
            <a:solidFill>
              <a:schemeClr val="tx1"/>
            </a:solidFill>
            <a:headEnd type="stealth" w="med" len="lg"/>
            <a:tailEnd type="none" w="med"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Rectangle 12">
            <a:extLst>
              <a:ext uri="{FF2B5EF4-FFF2-40B4-BE49-F238E27FC236}">
                <a16:creationId xmlns:a16="http://schemas.microsoft.com/office/drawing/2014/main" id="{7465A8D6-6449-4056-AD28-0CAFD7FDE621}"/>
              </a:ext>
            </a:extLst>
          </p:cNvPr>
          <p:cNvSpPr/>
          <p:nvPr/>
        </p:nvSpPr>
        <p:spPr>
          <a:xfrm>
            <a:off x="911360" y="2098799"/>
            <a:ext cx="5038844" cy="4372085"/>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buNone/>
            </a:pPr>
            <a:r>
              <a:rPr lang="en-US" sz="1600" dirty="0">
                <a:latin typeface="Prestige12 BT" panose="02070509030506020304" pitchFamily="49" charset="0"/>
              </a:rPr>
              <a:t>WITH RECURSIVE </a:t>
            </a: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a:t>
            </a:r>
            <a:r>
              <a:rPr lang="en-US" sz="1600" dirty="0" err="1">
                <a:latin typeface="Prestige12 BT" panose="02070509030506020304" pitchFamily="49" charset="0"/>
              </a:rPr>
              <a:t>anc</a:t>
            </a:r>
            <a:r>
              <a:rPr lang="en-US" sz="1600" dirty="0">
                <a:latin typeface="Prestige12 BT" panose="02070509030506020304" pitchFamily="49" charset="0"/>
              </a:rPr>
              <a:t>, desc) AS</a:t>
            </a:r>
            <a:br>
              <a:rPr lang="en-US" sz="1600" dirty="0">
                <a:latin typeface="Prestige12 BT" panose="02070509030506020304" pitchFamily="49" charset="0"/>
              </a:rPr>
            </a:br>
            <a:r>
              <a:rPr lang="en-US" sz="1600" dirty="0">
                <a:latin typeface="Prestige12 BT" panose="02070509030506020304" pitchFamily="49" charset="0"/>
              </a:rPr>
              <a:t> </a:t>
            </a:r>
            <a:r>
              <a:rPr lang="en-US" sz="1600" dirty="0">
                <a:solidFill>
                  <a:schemeClr val="tx2"/>
                </a:solidFill>
                <a:latin typeface="Prestige12 BT" panose="02070509030506020304" pitchFamily="49" charset="0"/>
              </a:rPr>
              <a:t>    </a:t>
            </a:r>
            <a:r>
              <a:rPr lang="en-US" sz="1600" dirty="0">
                <a:latin typeface="Prestige12 BT" panose="02070509030506020304" pitchFamily="49" charset="0"/>
              </a:rPr>
              <a:t>((SELECT parent, child FROM Parent) UNION</a:t>
            </a:r>
            <a:br>
              <a:rPr lang="en-US" sz="1600" dirty="0">
                <a:latin typeface="Prestige12 BT" panose="02070509030506020304" pitchFamily="49" charset="0"/>
              </a:rPr>
            </a:br>
            <a:r>
              <a:rPr lang="en-US" sz="1600" dirty="0">
                <a:latin typeface="Prestige12 BT" panose="02070509030506020304" pitchFamily="49" charset="0"/>
              </a:rPr>
              <a:t>      (SELECT a1.anc, a2.desc</a:t>
            </a:r>
            <a:br>
              <a:rPr lang="en-US" sz="1600" dirty="0">
                <a:latin typeface="Prestige12 BT" panose="02070509030506020304" pitchFamily="49" charset="0"/>
              </a:rPr>
            </a:br>
            <a:r>
              <a:rPr lang="en-US" sz="1600" dirty="0">
                <a:latin typeface="Prestige12 BT" panose="02070509030506020304" pitchFamily="49" charset="0"/>
              </a:rPr>
              <a:t>       FROM </a:t>
            </a: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 a1, </a:t>
            </a: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 a2</a:t>
            </a:r>
            <a:br>
              <a:rPr lang="en-US" sz="1600" dirty="0">
                <a:latin typeface="Prestige12 BT" panose="02070509030506020304" pitchFamily="49" charset="0"/>
              </a:rPr>
            </a:br>
            <a:r>
              <a:rPr lang="en-US" sz="1600" dirty="0">
                <a:latin typeface="Prestige12 BT" panose="02070509030506020304" pitchFamily="49" charset="0"/>
              </a:rPr>
              <a:t>       WHERE a1.desc = a2.anc)),</a:t>
            </a:r>
          </a:p>
          <a:p>
            <a:pPr>
              <a:buNone/>
            </a:pPr>
            <a:r>
              <a:rPr lang="en-US" sz="1600" dirty="0">
                <a:latin typeface="Prestige12 BT" panose="02070509030506020304" pitchFamily="49" charset="0"/>
              </a:rPr>
              <a:t>RECURSIVE  </a:t>
            </a:r>
            <a:r>
              <a:rPr lang="en-US" sz="1600" dirty="0">
                <a:solidFill>
                  <a:schemeClr val="accent2"/>
                </a:solidFill>
                <a:latin typeface="Prestige12 BT" panose="02070509030506020304" pitchFamily="49" charset="0"/>
              </a:rPr>
              <a:t>Person</a:t>
            </a:r>
            <a:r>
              <a:rPr lang="en-US" sz="1600" dirty="0">
                <a:latin typeface="Prestige12 BT" panose="02070509030506020304" pitchFamily="49" charset="0"/>
              </a:rPr>
              <a:t>(person) AS</a:t>
            </a:r>
            <a:br>
              <a:rPr lang="en-US" sz="1600" dirty="0">
                <a:latin typeface="Prestige12 BT" panose="02070509030506020304" pitchFamily="49" charset="0"/>
              </a:rPr>
            </a:br>
            <a:r>
              <a:rPr lang="en-US" sz="1600" dirty="0">
                <a:latin typeface="Prestige12 BT" panose="02070509030506020304" pitchFamily="49" charset="0"/>
              </a:rPr>
              <a:t>     ((SELECT parent FROM Parent) UNION</a:t>
            </a:r>
            <a:br>
              <a:rPr lang="en-US" sz="1600" dirty="0">
                <a:latin typeface="Prestige12 BT" panose="02070509030506020304" pitchFamily="49" charset="0"/>
              </a:rPr>
            </a:br>
            <a:r>
              <a:rPr lang="en-US" sz="1600" dirty="0">
                <a:latin typeface="Prestige12 BT" panose="02070509030506020304" pitchFamily="49" charset="0"/>
              </a:rPr>
              <a:t>      (SELECT child FROM Parent)),</a:t>
            </a:r>
          </a:p>
          <a:p>
            <a:pPr>
              <a:buNone/>
            </a:pPr>
            <a:r>
              <a:rPr lang="en-US" sz="1600" dirty="0">
                <a:latin typeface="Prestige12 BT" panose="02070509030506020304" pitchFamily="49" charset="0"/>
              </a:rPr>
              <a:t>RECURSIVE </a:t>
            </a:r>
            <a:r>
              <a:rPr lang="en-US" sz="1600" dirty="0" err="1">
                <a:solidFill>
                  <a:schemeClr val="accent2"/>
                </a:solidFill>
                <a:latin typeface="Prestige12 BT" panose="02070509030506020304" pitchFamily="49" charset="0"/>
              </a:rPr>
              <a:t>NoCommonAnc</a:t>
            </a:r>
            <a:r>
              <a:rPr lang="en-US" sz="1600" dirty="0">
                <a:latin typeface="Prestige12 BT" panose="02070509030506020304" pitchFamily="49" charset="0"/>
              </a:rPr>
              <a:t>(person1, person2) AS</a:t>
            </a:r>
            <a:br>
              <a:rPr lang="en-US" sz="1600" dirty="0">
                <a:latin typeface="Prestige12 BT" panose="02070509030506020304" pitchFamily="49" charset="0"/>
              </a:rPr>
            </a:br>
            <a:r>
              <a:rPr lang="en-US" sz="1600" dirty="0">
                <a:latin typeface="Prestige12 BT" panose="02070509030506020304" pitchFamily="49" charset="0"/>
              </a:rPr>
              <a:t>     ((SELECT p1.person, p2.person</a:t>
            </a:r>
            <a:br>
              <a:rPr lang="en-US" sz="1600" dirty="0">
                <a:latin typeface="Prestige12 BT" panose="02070509030506020304" pitchFamily="49" charset="0"/>
              </a:rPr>
            </a:br>
            <a:r>
              <a:rPr lang="en-US" sz="1600" dirty="0">
                <a:latin typeface="Prestige12 BT" panose="02070509030506020304" pitchFamily="49" charset="0"/>
              </a:rPr>
              <a:t>       FROM </a:t>
            </a:r>
            <a:r>
              <a:rPr lang="en-US" sz="1600" dirty="0">
                <a:solidFill>
                  <a:schemeClr val="accent2"/>
                </a:solidFill>
                <a:latin typeface="Prestige12 BT" panose="02070509030506020304" pitchFamily="49" charset="0"/>
              </a:rPr>
              <a:t>Person</a:t>
            </a:r>
            <a:r>
              <a:rPr lang="en-US" sz="1600" dirty="0">
                <a:latin typeface="Prestige12 BT" panose="02070509030506020304" pitchFamily="49" charset="0"/>
              </a:rPr>
              <a:t> p1, </a:t>
            </a:r>
            <a:r>
              <a:rPr lang="en-US" sz="1600" dirty="0">
                <a:solidFill>
                  <a:schemeClr val="accent2"/>
                </a:solidFill>
                <a:latin typeface="Prestige12 BT" panose="02070509030506020304" pitchFamily="49" charset="0"/>
              </a:rPr>
              <a:t>Person</a:t>
            </a:r>
            <a:r>
              <a:rPr lang="en-US" sz="1600" dirty="0">
                <a:latin typeface="Prestige12 BT" panose="02070509030506020304" pitchFamily="49" charset="0"/>
              </a:rPr>
              <a:t> p2</a:t>
            </a:r>
            <a:br>
              <a:rPr lang="en-US" sz="1600" dirty="0">
                <a:latin typeface="Prestige12 BT" panose="02070509030506020304" pitchFamily="49" charset="0"/>
              </a:rPr>
            </a:br>
            <a:r>
              <a:rPr lang="en-US" sz="1600" dirty="0">
                <a:latin typeface="Prestige12 BT" panose="02070509030506020304" pitchFamily="49" charset="0"/>
              </a:rPr>
              <a:t>       WHERE p1.person &lt;&gt; p2.person)</a:t>
            </a:r>
            <a:br>
              <a:rPr lang="en-US" sz="1600" dirty="0">
                <a:latin typeface="Prestige12 BT" panose="02070509030506020304" pitchFamily="49" charset="0"/>
              </a:rPr>
            </a:br>
            <a:r>
              <a:rPr lang="en-US" sz="1600" dirty="0">
                <a:latin typeface="Prestige12 BT" panose="02070509030506020304" pitchFamily="49" charset="0"/>
              </a:rPr>
              <a:t>      EXCEPT</a:t>
            </a:r>
            <a:br>
              <a:rPr lang="en-US" sz="1600" dirty="0">
                <a:latin typeface="Prestige12 BT" panose="02070509030506020304" pitchFamily="49" charset="0"/>
              </a:rPr>
            </a:br>
            <a:r>
              <a:rPr lang="en-US" sz="1600" dirty="0">
                <a:latin typeface="Prestige12 BT" panose="02070509030506020304" pitchFamily="49" charset="0"/>
              </a:rPr>
              <a:t>      (SELECT a1.desc, a2.desc</a:t>
            </a:r>
            <a:br>
              <a:rPr lang="en-US" sz="1600" dirty="0">
                <a:latin typeface="Prestige12 BT" panose="02070509030506020304" pitchFamily="49" charset="0"/>
              </a:rPr>
            </a:br>
            <a:r>
              <a:rPr lang="en-US" sz="1600" dirty="0">
                <a:latin typeface="Prestige12 BT" panose="02070509030506020304" pitchFamily="49" charset="0"/>
              </a:rPr>
              <a:t>       FROM </a:t>
            </a: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 a1, </a:t>
            </a:r>
            <a:r>
              <a:rPr lang="en-US" sz="1600" dirty="0">
                <a:solidFill>
                  <a:schemeClr val="accent2"/>
                </a:solidFill>
                <a:latin typeface="Prestige12 BT" panose="02070509030506020304" pitchFamily="49" charset="0"/>
              </a:rPr>
              <a:t>Ancestor</a:t>
            </a:r>
            <a:r>
              <a:rPr lang="en-US" sz="1600" dirty="0">
                <a:latin typeface="Prestige12 BT" panose="02070509030506020304" pitchFamily="49" charset="0"/>
              </a:rPr>
              <a:t> a2</a:t>
            </a:r>
            <a:br>
              <a:rPr lang="en-US" sz="1600" dirty="0">
                <a:latin typeface="Prestige12 BT" panose="02070509030506020304" pitchFamily="49" charset="0"/>
              </a:rPr>
            </a:br>
            <a:r>
              <a:rPr lang="en-US" sz="1600" dirty="0">
                <a:latin typeface="Prestige12 BT" panose="02070509030506020304" pitchFamily="49" charset="0"/>
              </a:rPr>
              <a:t>       WHERE a1.anc = a2.anc))</a:t>
            </a:r>
          </a:p>
          <a:p>
            <a:pPr>
              <a:buNone/>
            </a:pPr>
            <a:endParaRPr lang="en-US" sz="1600" dirty="0">
              <a:latin typeface="Prestige12 BT" panose="02070509030506020304" pitchFamily="49" charset="0"/>
            </a:endParaRPr>
          </a:p>
          <a:p>
            <a:pPr>
              <a:buNone/>
            </a:pPr>
            <a:r>
              <a:rPr lang="en-US" sz="1600" dirty="0">
                <a:latin typeface="Prestige12 BT" panose="02070509030506020304" pitchFamily="49" charset="0"/>
              </a:rPr>
              <a:t>SELECT * FROM </a:t>
            </a:r>
            <a:r>
              <a:rPr lang="en-US" sz="1600" dirty="0" err="1">
                <a:latin typeface="Prestige12 BT" panose="02070509030506020304" pitchFamily="49" charset="0"/>
              </a:rPr>
              <a:t>NoCommonAnc</a:t>
            </a:r>
            <a:r>
              <a:rPr lang="en-US" sz="1600" dirty="0">
                <a:latin typeface="Prestige12 BT" panose="02070509030506020304" pitchFamily="49" charset="0"/>
              </a:rPr>
              <a:t>;</a:t>
            </a:r>
          </a:p>
        </p:txBody>
      </p:sp>
      <mc:AlternateContent xmlns:mc="http://schemas.openxmlformats.org/markup-compatibility/2006" xmlns:p14="http://schemas.microsoft.com/office/powerpoint/2010/main">
        <mc:Choice Requires="p14">
          <p:contentPart p14:bwMode="auto" r:id="rId7">
            <p14:nvContentPartPr>
              <p14:cNvPr id="15" name="Ink 14">
                <a:extLst>
                  <a:ext uri="{FF2B5EF4-FFF2-40B4-BE49-F238E27FC236}">
                    <a16:creationId xmlns:a16="http://schemas.microsoft.com/office/drawing/2014/main" id="{C05C1592-5965-434F-942B-5BC16ADA0F42}"/>
                  </a:ext>
                </a:extLst>
              </p14:cNvPr>
              <p14:cNvContentPartPr/>
              <p14:nvPr/>
            </p14:nvContentPartPr>
            <p14:xfrm>
              <a:off x="1220269" y="5001923"/>
              <a:ext cx="2926080" cy="1255320"/>
            </p14:xfrm>
          </p:contentPart>
        </mc:Choice>
        <mc:Fallback xmlns="">
          <p:pic>
            <p:nvPicPr>
              <p:cNvPr id="15" name="Ink 14">
                <a:extLst>
                  <a:ext uri="{FF2B5EF4-FFF2-40B4-BE49-F238E27FC236}">
                    <a16:creationId xmlns:a16="http://schemas.microsoft.com/office/drawing/2014/main" id="{C05C1592-5965-434F-942B-5BC16ADA0F42}"/>
                  </a:ext>
                </a:extLst>
              </p:cNvPr>
              <p:cNvPicPr/>
              <p:nvPr/>
            </p:nvPicPr>
            <p:blipFill>
              <a:blip r:embed="rId8"/>
              <a:stretch>
                <a:fillRect/>
              </a:stretch>
            </p:blipFill>
            <p:spPr>
              <a:xfrm>
                <a:off x="1211269" y="4993283"/>
                <a:ext cx="2943720" cy="1272960"/>
              </a:xfrm>
              <a:prstGeom prst="rect">
                <a:avLst/>
              </a:prstGeom>
            </p:spPr>
          </p:pic>
        </mc:Fallback>
      </mc:AlternateContent>
    </p:spTree>
    <p:custDataLst>
      <p:tags r:id="rId1"/>
    </p:custDataLst>
    <p:extLst>
      <p:ext uri="{BB962C8B-B14F-4D97-AF65-F5344CB8AC3E}">
        <p14:creationId xmlns:p14="http://schemas.microsoft.com/office/powerpoint/2010/main" val="2336580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p:cTn id="11" dur="1000" fill="hold"/>
                                        <p:tgtEl>
                                          <p:spTgt spid="14"/>
                                        </p:tgtEl>
                                        <p:attrNameLst>
                                          <p:attrName>ppt_w</p:attrName>
                                        </p:attrNameLst>
                                      </p:cBhvr>
                                      <p:tavLst>
                                        <p:tav tm="0">
                                          <p:val>
                                            <p:fltVal val="0"/>
                                          </p:val>
                                        </p:tav>
                                        <p:tav tm="100000">
                                          <p:val>
                                            <p:strVal val="#ppt_w"/>
                                          </p:val>
                                        </p:tav>
                                      </p:tavLst>
                                    </p:anim>
                                    <p:anim calcmode="lin" valueType="num">
                                      <p:cBhvr>
                                        <p:cTn id="12" dur="1000" fill="hold"/>
                                        <p:tgtEl>
                                          <p:spTgt spid="14"/>
                                        </p:tgtEl>
                                        <p:attrNameLst>
                                          <p:attrName>ppt_h</p:attrName>
                                        </p:attrNameLst>
                                      </p:cBhvr>
                                      <p:tavLst>
                                        <p:tav tm="0">
                                          <p:val>
                                            <p:fltVal val="0"/>
                                          </p:val>
                                        </p:tav>
                                        <p:tav tm="100000">
                                          <p:val>
                                            <p:strVal val="#ppt_h"/>
                                          </p:val>
                                        </p:tav>
                                      </p:tavLst>
                                    </p:anim>
                                    <p:anim calcmode="lin" valueType="num">
                                      <p:cBhvr>
                                        <p:cTn id="13" dur="1000" fill="hold"/>
                                        <p:tgtEl>
                                          <p:spTgt spid="14"/>
                                        </p:tgtEl>
                                        <p:attrNameLst>
                                          <p:attrName>style.rotation</p:attrName>
                                        </p:attrNameLst>
                                      </p:cBhvr>
                                      <p:tavLst>
                                        <p:tav tm="0">
                                          <p:val>
                                            <p:fltVal val="90"/>
                                          </p:val>
                                        </p:tav>
                                        <p:tav tm="100000">
                                          <p:val>
                                            <p:fltVal val="0"/>
                                          </p:val>
                                        </p:tav>
                                      </p:tavLst>
                                    </p:anim>
                                    <p:animEffect transition="in" filter="fade">
                                      <p:cBhvr>
                                        <p:cTn id="14" dur="1000"/>
                                        <p:tgtEl>
                                          <p:spTgt spid="14"/>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12"/>
                                        </p:tgtEl>
                                        <p:attrNameLst>
                                          <p:attrName>style.visibility</p:attrName>
                                        </p:attrNameLst>
                                      </p:cBhvr>
                                      <p:to>
                                        <p:strVal val="visible"/>
                                      </p:to>
                                    </p:set>
                                  </p:childTnLst>
                                </p:cTn>
                              </p:par>
                              <p:par>
                                <p:cTn id="27" presetID="63"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anim calcmode="lin" valueType="num">
                                      <p:cBhvr>
                                        <p:cTn id="29" dur="500" fill="hold"/>
                                        <p:tgtEl>
                                          <p:spTgt spid="15"/>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utoUpdateAnimBg="0"/>
      <p:bldP spid="1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Evaluating stratified negation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a:t>The </a:t>
                </a:r>
                <a:r>
                  <a:rPr lang="en-US" dirty="0">
                    <a:solidFill>
                      <a:schemeClr val="accent2"/>
                    </a:solidFill>
                  </a:rPr>
                  <a:t>stratum </a:t>
                </a:r>
                <a:r>
                  <a:rPr lang="en-US" dirty="0"/>
                  <a:t>of a node </a:t>
                </a:r>
                <a14:m>
                  <m:oMath xmlns:m="http://schemas.openxmlformats.org/officeDocument/2006/math">
                    <m:r>
                      <a:rPr lang="en-US" i="1" dirty="0" smtClean="0">
                        <a:latin typeface="Cambria Math" panose="02040503050406030204" pitchFamily="18" charset="0"/>
                      </a:rPr>
                      <m:t>𝑅</m:t>
                    </m:r>
                  </m:oMath>
                </a14:m>
                <a:r>
                  <a:rPr lang="en-US" dirty="0"/>
                  <a:t> is the maximum number of “</a:t>
                </a:r>
                <a14:m>
                  <m:oMath xmlns:m="http://schemas.openxmlformats.org/officeDocument/2006/math">
                    <m:r>
                      <a:rPr lang="en-US" i="1" dirty="0">
                        <a:latin typeface="Cambria Math"/>
                      </a:rPr>
                      <m:t>−</m:t>
                    </m:r>
                  </m:oMath>
                </a14:m>
                <a:r>
                  <a:rPr lang="en-US" dirty="0"/>
                  <a:t>” edges on any path from </a:t>
                </a:r>
                <a14:m>
                  <m:oMath xmlns:m="http://schemas.openxmlformats.org/officeDocument/2006/math">
                    <m:r>
                      <a:rPr lang="en-US" i="1" dirty="0" smtClean="0">
                        <a:latin typeface="Cambria Math" panose="02040503050406030204" pitchFamily="18" charset="0"/>
                      </a:rPr>
                      <m:t>𝑅</m:t>
                    </m:r>
                  </m:oMath>
                </a14:m>
                <a:r>
                  <a:rPr lang="en-US" dirty="0"/>
                  <a:t> </a:t>
                </a:r>
              </a:p>
              <a:p>
                <a:pPr lvl="1"/>
                <a:r>
                  <a:rPr lang="en-US" i="1" dirty="0"/>
                  <a:t>Ancestor</a:t>
                </a:r>
                <a:r>
                  <a:rPr lang="en-US" dirty="0"/>
                  <a:t>: stratum 0</a:t>
                </a:r>
              </a:p>
              <a:p>
                <a:pPr lvl="1"/>
                <a:r>
                  <a:rPr lang="en-US" i="1" dirty="0"/>
                  <a:t>Person</a:t>
                </a:r>
                <a:r>
                  <a:rPr lang="en-US" dirty="0"/>
                  <a:t>: stratum 0</a:t>
                </a:r>
              </a:p>
              <a:p>
                <a:pPr lvl="1"/>
                <a:r>
                  <a:rPr lang="en-US" i="1" dirty="0" err="1"/>
                  <a:t>NoCommonAnc</a:t>
                </a:r>
                <a:r>
                  <a:rPr lang="en-US" dirty="0"/>
                  <a:t>: stratum 1</a:t>
                </a:r>
              </a:p>
              <a:p>
                <a:pPr lvl="1"/>
                <a:endParaRPr lang="en-US" dirty="0"/>
              </a:p>
              <a:p>
                <a:r>
                  <a:rPr lang="en-US" dirty="0"/>
                  <a:t>Evaluation strategy</a:t>
                </a:r>
              </a:p>
              <a:p>
                <a:pPr lvl="1"/>
                <a:r>
                  <a:rPr lang="en-US" dirty="0"/>
                  <a:t>Compute tables lowest-stratum first</a:t>
                </a:r>
              </a:p>
              <a:p>
                <a:pPr lvl="1"/>
                <a:r>
                  <a:rPr lang="en-US" dirty="0"/>
                  <a:t>For each stratum, use fixed-point iteration on all nodes in that stratum</a:t>
                </a:r>
              </a:p>
              <a:p>
                <a:pPr lvl="2"/>
                <a:r>
                  <a:rPr lang="en-US" dirty="0"/>
                  <a:t>Stratum 0: </a:t>
                </a:r>
                <a:r>
                  <a:rPr lang="en-US" i="1" dirty="0"/>
                  <a:t>Ancestor</a:t>
                </a:r>
                <a:r>
                  <a:rPr lang="en-US" dirty="0"/>
                  <a:t> and </a:t>
                </a:r>
                <a:r>
                  <a:rPr lang="en-US" i="1" dirty="0"/>
                  <a:t>Person</a:t>
                </a:r>
              </a:p>
              <a:p>
                <a:pPr lvl="2"/>
                <a:r>
                  <a:rPr lang="en-US" dirty="0"/>
                  <a:t>Stratum 1: </a:t>
                </a:r>
                <a:r>
                  <a:rPr lang="en-US" i="1" dirty="0" err="1"/>
                  <a:t>NoCommonAnc</a:t>
                </a:r>
                <a:endParaRPr lang="en-US" i="1" dirty="0"/>
              </a:p>
              <a:p>
                <a:pPr lvl="1">
                  <a:buFont typeface="Wingdings" pitchFamily="2" charset="2"/>
                  <a:buChar char="F"/>
                </a:pPr>
                <a:r>
                  <a:rPr lang="en-US" dirty="0"/>
                  <a:t>Intuitively, there is </a:t>
                </a:r>
                <a:r>
                  <a:rPr lang="en-US" dirty="0">
                    <a:solidFill>
                      <a:schemeClr val="accent2"/>
                    </a:solidFill>
                  </a:rPr>
                  <a:t>no negation within each stratum</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6"/>
                <a:stretch>
                  <a:fillRect l="-1342" t="-1968" r="-2237"/>
                </a:stretch>
              </a:blipFill>
            </p:spPr>
            <p:txBody>
              <a:bodyPr/>
              <a:lstStyle/>
              <a:p>
                <a:r>
                  <a:rPr lang="en-CA">
                    <a:noFill/>
                  </a:rPr>
                  <a:t> </a:t>
                </a:r>
              </a:p>
            </p:txBody>
          </p:sp>
        </mc:Fallback>
      </mc:AlternateContent>
      <p:sp>
        <p:nvSpPr>
          <p:cNvPr id="4" name="Slide Number Placeholder 3"/>
          <p:cNvSpPr>
            <a:spLocks noGrp="1"/>
          </p:cNvSpPr>
          <p:nvPr>
            <p:ph type="sldNum" sz="quarter" idx="12"/>
          </p:nvPr>
        </p:nvSpPr>
        <p:spPr/>
        <p:txBody>
          <a:bodyPr/>
          <a:lstStyle/>
          <a:p>
            <a:fld id="{44C99FA5-7995-46A9-A97E-16E38AD58950}" type="slidenum">
              <a:rPr lang="en-US" smtClean="0"/>
              <a:t>21</a:t>
            </a:fld>
            <a:endParaRPr lang="en-US"/>
          </a:p>
        </p:txBody>
      </p:sp>
      <p:grpSp>
        <p:nvGrpSpPr>
          <p:cNvPr id="5" name="Group 11"/>
          <p:cNvGrpSpPr>
            <a:grpSpLocks/>
          </p:cNvGrpSpPr>
          <p:nvPr/>
        </p:nvGrpSpPr>
        <p:grpSpPr bwMode="auto">
          <a:xfrm>
            <a:off x="6089565" y="2178677"/>
            <a:ext cx="1817688" cy="2000250"/>
            <a:chOff x="4144" y="1872"/>
            <a:chExt cx="1145" cy="1260"/>
          </a:xfrm>
        </p:grpSpPr>
        <p:sp>
          <p:nvSpPr>
            <p:cNvPr id="6" name="Text Box 4"/>
            <p:cNvSpPr txBox="1">
              <a:spLocks noChangeArrowheads="1"/>
            </p:cNvSpPr>
            <p:nvPr/>
          </p:nvSpPr>
          <p:spPr bwMode="auto">
            <a:xfrm>
              <a:off x="4144" y="1872"/>
              <a:ext cx="711"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2000" i="1">
                  <a:latin typeface="+mn-lt"/>
                </a:rPr>
                <a:t>Ancestor</a:t>
              </a:r>
            </a:p>
          </p:txBody>
        </p:sp>
        <p:sp>
          <p:nvSpPr>
            <p:cNvPr id="7" name="Text Box 5"/>
            <p:cNvSpPr txBox="1">
              <a:spLocks noChangeArrowheads="1"/>
            </p:cNvSpPr>
            <p:nvPr/>
          </p:nvSpPr>
          <p:spPr bwMode="auto">
            <a:xfrm>
              <a:off x="4144" y="2352"/>
              <a:ext cx="571"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2000" i="1">
                  <a:latin typeface="+mn-lt"/>
                </a:rPr>
                <a:t>Person</a:t>
              </a:r>
            </a:p>
          </p:txBody>
        </p:sp>
        <p:sp>
          <p:nvSpPr>
            <p:cNvPr id="8" name="Text Box 6"/>
            <p:cNvSpPr txBox="1">
              <a:spLocks noChangeArrowheads="1"/>
            </p:cNvSpPr>
            <p:nvPr/>
          </p:nvSpPr>
          <p:spPr bwMode="auto">
            <a:xfrm>
              <a:off x="4144" y="2880"/>
              <a:ext cx="1145"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wrap="none">
              <a:spAutoFit/>
            </a:bodyPr>
            <a:lstStyle>
              <a:lvl1pPr>
                <a:defRPr kumimoji="1" sz="2400">
                  <a:solidFill>
                    <a:schemeClr val="tx1"/>
                  </a:solidFill>
                  <a:latin typeface="AmeriGarmnd BT" pitchFamily="18" charset="0"/>
                </a:defRPr>
              </a:lvl1pPr>
              <a:lvl2pPr marL="742950" indent="-285750">
                <a:defRPr kumimoji="1" sz="2400">
                  <a:solidFill>
                    <a:schemeClr val="tx1"/>
                  </a:solidFill>
                  <a:latin typeface="AmeriGarmnd BT" pitchFamily="18" charset="0"/>
                </a:defRPr>
              </a:lvl2pPr>
              <a:lvl3pPr marL="1143000" indent="-228600">
                <a:defRPr kumimoji="1" sz="2400">
                  <a:solidFill>
                    <a:schemeClr val="tx1"/>
                  </a:solidFill>
                  <a:latin typeface="AmeriGarmnd BT" pitchFamily="18" charset="0"/>
                </a:defRPr>
              </a:lvl3pPr>
              <a:lvl4pPr marL="1600200" indent="-228600">
                <a:defRPr kumimoji="1" sz="2400">
                  <a:solidFill>
                    <a:schemeClr val="tx1"/>
                  </a:solidFill>
                  <a:latin typeface="AmeriGarmnd BT" pitchFamily="18" charset="0"/>
                </a:defRPr>
              </a:lvl4pPr>
              <a:lvl5pPr marL="2057400" indent="-228600">
                <a:defRPr kumimoji="1" sz="2400">
                  <a:solidFill>
                    <a:schemeClr val="tx1"/>
                  </a:solidFill>
                  <a:latin typeface="AmeriGarmnd BT" pitchFamily="18" charset="0"/>
                </a:defRPr>
              </a:lvl5pPr>
              <a:lvl6pPr marL="25146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6pPr>
              <a:lvl7pPr marL="29718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7pPr>
              <a:lvl8pPr marL="34290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8pPr>
              <a:lvl9pPr marL="3886200" indent="-228600" eaLnBrk="0" fontAlgn="base" hangingPunct="0">
                <a:spcBef>
                  <a:spcPct val="20000"/>
                </a:spcBef>
                <a:spcAft>
                  <a:spcPct val="0"/>
                </a:spcAft>
                <a:buFont typeface="Wingdings" pitchFamily="2" charset="2"/>
                <a:buChar char="•"/>
                <a:defRPr kumimoji="1" sz="2400">
                  <a:solidFill>
                    <a:schemeClr val="tx1"/>
                  </a:solidFill>
                  <a:latin typeface="AmeriGarmnd BT" pitchFamily="18" charset="0"/>
                </a:defRPr>
              </a:lvl9pPr>
            </a:lstStyle>
            <a:p>
              <a:pPr>
                <a:buFont typeface="Wingdings" pitchFamily="2" charset="2"/>
                <a:buNone/>
              </a:pPr>
              <a:r>
                <a:rPr lang="en-US" sz="2000" i="1">
                  <a:latin typeface="+mn-lt"/>
                </a:rPr>
                <a:t>NoCommonAnc</a:t>
              </a:r>
            </a:p>
          </p:txBody>
        </p:sp>
      </p:grpSp>
      <p:sp>
        <p:nvSpPr>
          <p:cNvPr id="9" name="Line 8"/>
          <p:cNvSpPr>
            <a:spLocks noChangeShapeType="1"/>
          </p:cNvSpPr>
          <p:nvPr/>
        </p:nvSpPr>
        <p:spPr bwMode="auto">
          <a:xfrm flipV="1">
            <a:off x="6546763" y="3267890"/>
            <a:ext cx="0" cy="533400"/>
          </a:xfrm>
          <a:prstGeom prst="line">
            <a:avLst/>
          </a:prstGeom>
          <a:noFill/>
          <a:ln w="22225">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en-US" sz="1600"/>
          </a:p>
        </p:txBody>
      </p:sp>
      <p:sp>
        <p:nvSpPr>
          <p:cNvPr id="10" name="Freeform 9"/>
          <p:cNvSpPr>
            <a:spLocks/>
          </p:cNvSpPr>
          <p:nvPr/>
        </p:nvSpPr>
        <p:spPr bwMode="auto">
          <a:xfrm>
            <a:off x="5825105" y="2434174"/>
            <a:ext cx="304800" cy="1447800"/>
          </a:xfrm>
          <a:custGeom>
            <a:avLst/>
            <a:gdLst>
              <a:gd name="T0" fmla="*/ 2147483647 w 192"/>
              <a:gd name="T1" fmla="*/ 2147483647 h 912"/>
              <a:gd name="T2" fmla="*/ 0 w 192"/>
              <a:gd name="T3" fmla="*/ 2147483647 h 912"/>
              <a:gd name="T4" fmla="*/ 2147483647 w 192"/>
              <a:gd name="T5" fmla="*/ 0 h 912"/>
              <a:gd name="T6" fmla="*/ 0 60000 65536"/>
              <a:gd name="T7" fmla="*/ 0 60000 65536"/>
              <a:gd name="T8" fmla="*/ 0 60000 65536"/>
              <a:gd name="T9" fmla="*/ 0 w 192"/>
              <a:gd name="T10" fmla="*/ 0 h 912"/>
              <a:gd name="T11" fmla="*/ 192 w 192"/>
              <a:gd name="T12" fmla="*/ 912 h 912"/>
            </a:gdLst>
            <a:ahLst/>
            <a:cxnLst>
              <a:cxn ang="T6">
                <a:pos x="T0" y="T1"/>
              </a:cxn>
              <a:cxn ang="T7">
                <a:pos x="T2" y="T3"/>
              </a:cxn>
              <a:cxn ang="T8">
                <a:pos x="T4" y="T5"/>
              </a:cxn>
            </a:cxnLst>
            <a:rect l="T9" t="T10" r="T11" b="T12"/>
            <a:pathLst>
              <a:path w="192" h="912">
                <a:moveTo>
                  <a:pt x="192" y="912"/>
                </a:moveTo>
                <a:cubicBezTo>
                  <a:pt x="96" y="748"/>
                  <a:pt x="0" y="584"/>
                  <a:pt x="0" y="432"/>
                </a:cubicBezTo>
                <a:cubicBezTo>
                  <a:pt x="0" y="280"/>
                  <a:pt x="96" y="140"/>
                  <a:pt x="192" y="0"/>
                </a:cubicBezTo>
              </a:path>
            </a:pathLst>
          </a:custGeom>
          <a:noFill/>
          <a:ln w="22225">
            <a:solidFill>
              <a:schemeClr val="tx1"/>
            </a:solidFill>
            <a:round/>
            <a:headEnd/>
            <a:tailEnd type="stealth" w="med" len="lg"/>
          </a:ln>
          <a:extLst>
            <a:ext uri="{909E8E84-426E-40DD-AFC4-6F175D3DCCD1}">
              <a14:hiddenFill xmlns:a14="http://schemas.microsoft.com/office/drawing/2010/main">
                <a:solidFill>
                  <a:srgbClr val="FFFFFF"/>
                </a:solidFill>
              </a14:hiddenFill>
            </a:ext>
          </a:extLst>
        </p:spPr>
        <p:txBody>
          <a:bodyPr/>
          <a:lstStyle/>
          <a:p>
            <a:endParaRPr lang="en-US" sz="1600"/>
          </a:p>
        </p:txBody>
      </p:sp>
      <mc:AlternateContent xmlns:mc="http://schemas.openxmlformats.org/markup-compatibility/2006" xmlns:a14="http://schemas.microsoft.com/office/drawing/2010/main">
        <mc:Choice Requires="a14">
          <p:sp>
            <p:nvSpPr>
              <p:cNvPr id="11" name="Rectangle 10"/>
              <p:cNvSpPr>
                <a:spLocks noChangeArrowheads="1"/>
              </p:cNvSpPr>
              <p:nvPr/>
            </p:nvSpPr>
            <p:spPr bwMode="auto">
              <a:xfrm>
                <a:off x="5369628" y="2940677"/>
                <a:ext cx="481221" cy="461665"/>
              </a:xfrm>
              <a:prstGeom prst="rect">
                <a:avLst/>
              </a:prstGeom>
              <a:noFill/>
              <a:ln>
                <a:noFill/>
              </a:ln>
              <a:extLst>
                <a:ext uri="{909E8E84-426E-40DD-AFC4-6F175D3DCCD1}">
                  <a14:hiddenFill>
                    <a:solidFill>
                      <a:srgbClr val="FFFFFF"/>
                    </a:solidFill>
                  </a14:hiddenFill>
                </a:ext>
                <a:ext uri="{91240B29-F687-4F45-9708-019B960494DF}">
                  <a14:hiddenLine w="22225">
                    <a:solidFill>
                      <a:srgbClr val="000000"/>
                    </a:solidFill>
                    <a:miter lim="800000"/>
                    <a:headEnd/>
                    <a:tailEnd/>
                  </a14:hiddenLine>
                </a:ext>
              </a:extLst>
            </p:spPr>
            <p:txBody>
              <a:bodyPr wrap="none">
                <a:spAutoFit/>
              </a:bodyPr>
              <a:lstStyle/>
              <a:p>
                <a:pPr>
                  <a:buNone/>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m:t>
                      </m:r>
                    </m:oMath>
                  </m:oMathPara>
                </a14:m>
                <a:endParaRPr lang="en-US" sz="2400" dirty="0"/>
              </a:p>
            </p:txBody>
          </p:sp>
        </mc:Choice>
        <mc:Fallback xmlns="">
          <p:sp>
            <p:nvSpPr>
              <p:cNvPr id="11" name="Rectangle 10"/>
              <p:cNvSpPr>
                <a:spLocks noRot="1" noChangeAspect="1" noMove="1" noResize="1" noEditPoints="1" noAdjustHandles="1" noChangeArrowheads="1" noChangeShapeType="1" noTextEdit="1"/>
              </p:cNvSpPr>
              <p:nvPr/>
            </p:nvSpPr>
            <p:spPr bwMode="auto">
              <a:xfrm>
                <a:off x="5369628" y="2940677"/>
                <a:ext cx="481221" cy="461665"/>
              </a:xfrm>
              <a:prstGeom prst="rect">
                <a:avLst/>
              </a:prstGeom>
              <a:blipFill rotWithShape="0">
                <a:blip r:embed="rId7"/>
                <a:stretch>
                  <a:fillRect/>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2225">
                    <a:solidFill>
                      <a:srgbClr val="000000"/>
                    </a:solidFill>
                    <a:miter lim="800000"/>
                    <a:headEnd/>
                    <a:tailEnd/>
                  </a14:hiddenLine>
                </a:ext>
              </a:extLst>
            </p:spPr>
            <p:txBody>
              <a:bodyPr/>
              <a:lstStyle/>
              <a:p>
                <a:r>
                  <a:rPr lang="en-US">
                    <a:noFill/>
                  </a:rPr>
                  <a:t> </a:t>
                </a:r>
              </a:p>
            </p:txBody>
          </p:sp>
        </mc:Fallback>
      </mc:AlternateContent>
      <p:sp>
        <p:nvSpPr>
          <p:cNvPr id="12" name="Arc 11"/>
          <p:cNvSpPr/>
          <p:nvPr/>
        </p:nvSpPr>
        <p:spPr>
          <a:xfrm>
            <a:off x="6996028" y="2011037"/>
            <a:ext cx="548640" cy="548640"/>
          </a:xfrm>
          <a:prstGeom prst="arc">
            <a:avLst>
              <a:gd name="adj1" fmla="val 11374337"/>
              <a:gd name="adj2" fmla="val 7657570"/>
            </a:avLst>
          </a:prstGeom>
          <a:ln w="22225">
            <a:solidFill>
              <a:schemeClr val="tx1"/>
            </a:solidFill>
            <a:headEnd type="stealth" w="med" len="lg"/>
            <a:tailEnd type="none" w="med"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2939223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F9B0E-932F-7247-AAFA-876A7CC2251F}"/>
              </a:ext>
            </a:extLst>
          </p:cNvPr>
          <p:cNvSpPr>
            <a:spLocks noGrp="1"/>
          </p:cNvSpPr>
          <p:nvPr>
            <p:ph type="title"/>
          </p:nvPr>
        </p:nvSpPr>
        <p:spPr/>
        <p:txBody>
          <a:bodyPr/>
          <a:lstStyle/>
          <a:p>
            <a:r>
              <a:rPr lang="en-US" dirty="0"/>
              <a:t>SQL features covered so far</a:t>
            </a:r>
          </a:p>
        </p:txBody>
      </p:sp>
      <p:sp>
        <p:nvSpPr>
          <p:cNvPr id="3" name="Content Placeholder 2">
            <a:extLst>
              <a:ext uri="{FF2B5EF4-FFF2-40B4-BE49-F238E27FC236}">
                <a16:creationId xmlns:a16="http://schemas.microsoft.com/office/drawing/2014/main" id="{F7F6834E-3031-9141-B7FE-3C7596368561}"/>
              </a:ext>
            </a:extLst>
          </p:cNvPr>
          <p:cNvSpPr>
            <a:spLocks noGrp="1"/>
          </p:cNvSpPr>
          <p:nvPr>
            <p:ph idx="1"/>
          </p:nvPr>
        </p:nvSpPr>
        <p:spPr/>
        <p:txBody>
          <a:bodyPr>
            <a:normAutofit/>
          </a:bodyPr>
          <a:lstStyle/>
          <a:p>
            <a:pPr>
              <a:defRPr/>
            </a:pPr>
            <a:r>
              <a:rPr lang="en-US" dirty="0"/>
              <a:t>Basic SQL (queries, modifications, and constraints)</a:t>
            </a:r>
          </a:p>
          <a:p>
            <a:r>
              <a:rPr lang="en-US" dirty="0"/>
              <a:t>Intermediate SQL(triggers, views, indexes)</a:t>
            </a:r>
          </a:p>
          <a:p>
            <a:endParaRPr lang="en-US" dirty="0"/>
          </a:p>
          <a:p>
            <a:r>
              <a:rPr lang="en-US" dirty="0"/>
              <a:t>Recursion</a:t>
            </a:r>
          </a:p>
          <a:p>
            <a:pPr lvl="1"/>
            <a:r>
              <a:rPr lang="en-US" dirty="0"/>
              <a:t>SQL3 </a:t>
            </a:r>
            <a:r>
              <a:rPr lang="en-US" dirty="0">
                <a:latin typeface="Prestige12 BT" panose="02070509030506020304" pitchFamily="49" charset="0"/>
              </a:rPr>
              <a:t>WITH</a:t>
            </a:r>
            <a:r>
              <a:rPr lang="en-US" dirty="0"/>
              <a:t> recursive queries</a:t>
            </a:r>
          </a:p>
          <a:p>
            <a:pPr lvl="1"/>
            <a:r>
              <a:rPr lang="en-US" dirty="0"/>
              <a:t>Solution to a recursive query (with no negation)</a:t>
            </a:r>
          </a:p>
          <a:p>
            <a:pPr lvl="1"/>
            <a:r>
              <a:rPr lang="en-US" dirty="0"/>
              <a:t>Mixing negation and recursion is tricky</a:t>
            </a:r>
          </a:p>
          <a:p>
            <a:pPr lvl="1"/>
            <a:endParaRPr lang="en-US" dirty="0"/>
          </a:p>
          <a:p>
            <a:r>
              <a:rPr lang="en-US" dirty="0">
                <a:solidFill>
                  <a:schemeClr val="accent2"/>
                </a:solidFill>
              </a:rPr>
              <a:t>Programming </a:t>
            </a:r>
          </a:p>
        </p:txBody>
      </p:sp>
      <p:sp>
        <p:nvSpPr>
          <p:cNvPr id="4" name="Slide Number Placeholder 3">
            <a:extLst>
              <a:ext uri="{FF2B5EF4-FFF2-40B4-BE49-F238E27FC236}">
                <a16:creationId xmlns:a16="http://schemas.microsoft.com/office/drawing/2014/main" id="{51A787F3-8802-774B-856C-CE923BD0386C}"/>
              </a:ext>
            </a:extLst>
          </p:cNvPr>
          <p:cNvSpPr>
            <a:spLocks noGrp="1"/>
          </p:cNvSpPr>
          <p:nvPr>
            <p:ph type="sldNum" sz="quarter" idx="12"/>
          </p:nvPr>
        </p:nvSpPr>
        <p:spPr/>
        <p:txBody>
          <a:bodyPr/>
          <a:lstStyle/>
          <a:p>
            <a:fld id="{44C99FA5-7995-46A9-A97E-16E38AD58950}" type="slidenum">
              <a:rPr lang="en-US" smtClean="0"/>
              <a:t>22</a:t>
            </a:fld>
            <a:endParaRPr lang="en-US"/>
          </a:p>
        </p:txBody>
      </p:sp>
    </p:spTree>
    <p:extLst>
      <p:ext uri="{BB962C8B-B14F-4D97-AF65-F5344CB8AC3E}">
        <p14:creationId xmlns:p14="http://schemas.microsoft.com/office/powerpoint/2010/main" val="3209656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p>
        </p:txBody>
      </p:sp>
      <p:sp>
        <p:nvSpPr>
          <p:cNvPr id="3" name="Content Placeholder 2"/>
          <p:cNvSpPr>
            <a:spLocks noGrp="1"/>
          </p:cNvSpPr>
          <p:nvPr>
            <p:ph idx="1"/>
          </p:nvPr>
        </p:nvSpPr>
        <p:spPr/>
        <p:txBody>
          <a:bodyPr>
            <a:normAutofit/>
          </a:bodyPr>
          <a:lstStyle/>
          <a:p>
            <a:pPr>
              <a:defRPr/>
            </a:pPr>
            <a:r>
              <a:rPr lang="en-US" dirty="0"/>
              <a:t>Pros and cons of SQL</a:t>
            </a:r>
          </a:p>
          <a:p>
            <a:pPr lvl="1">
              <a:defRPr/>
            </a:pPr>
            <a:r>
              <a:rPr lang="en-US" dirty="0"/>
              <a:t>Very high-level, possible to optimize</a:t>
            </a:r>
          </a:p>
          <a:p>
            <a:pPr lvl="1">
              <a:defRPr/>
            </a:pPr>
            <a:r>
              <a:rPr lang="en-US" dirty="0"/>
              <a:t>Not intended for general-purpose computation</a:t>
            </a:r>
          </a:p>
          <a:p>
            <a:pPr>
              <a:defRPr/>
            </a:pPr>
            <a:r>
              <a:rPr lang="en-US" dirty="0"/>
              <a:t>Solutions</a:t>
            </a:r>
          </a:p>
          <a:p>
            <a:pPr lvl="1">
              <a:defRPr/>
            </a:pPr>
            <a:r>
              <a:rPr lang="en-US" dirty="0"/>
              <a:t>Augment SQL with constructs from general-purpose programming languages</a:t>
            </a:r>
          </a:p>
          <a:p>
            <a:pPr lvl="2">
              <a:defRPr/>
            </a:pPr>
            <a:r>
              <a:rPr lang="en-US" dirty="0"/>
              <a:t>E.g.: SQL/PSM</a:t>
            </a:r>
          </a:p>
          <a:p>
            <a:pPr lvl="1">
              <a:defRPr/>
            </a:pPr>
            <a:r>
              <a:rPr lang="en-US" dirty="0"/>
              <a:t>Use SQL together with general-purpose programming languages: many possibilities</a:t>
            </a:r>
          </a:p>
          <a:p>
            <a:pPr lvl="2">
              <a:defRPr/>
            </a:pPr>
            <a:r>
              <a:rPr lang="en-US" dirty="0"/>
              <a:t>Through an API, e.g., Python </a:t>
            </a:r>
            <a:r>
              <a:rPr lang="en-US" dirty="0">
                <a:latin typeface="Prestige12 BT" panose="02070509030506020304" pitchFamily="49" charset="0"/>
              </a:rPr>
              <a:t>psycopg2</a:t>
            </a:r>
            <a:endParaRPr lang="en-US" dirty="0"/>
          </a:p>
          <a:p>
            <a:pPr lvl="2">
              <a:defRPr/>
            </a:pPr>
            <a:r>
              <a:rPr lang="en-US" dirty="0"/>
              <a:t>Embedded SQL, e.g., in C</a:t>
            </a:r>
          </a:p>
          <a:p>
            <a:pPr lvl="2">
              <a:defRPr/>
            </a:pPr>
            <a:r>
              <a:rPr lang="en-US" dirty="0"/>
              <a:t>Automatic object-relational mapping, e.g.: Python </a:t>
            </a:r>
            <a:r>
              <a:rPr lang="en-US" dirty="0" err="1"/>
              <a:t>SQLAlchemy</a:t>
            </a:r>
            <a:endParaRPr lang="en-US" dirty="0"/>
          </a:p>
          <a:p>
            <a:pPr lvl="2">
              <a:defRPr/>
            </a:pPr>
            <a:r>
              <a:rPr lang="en-US" dirty="0"/>
              <a:t>Extending programming languages with SQL-like constructs, e.g.: LINQ</a:t>
            </a:r>
          </a:p>
        </p:txBody>
      </p:sp>
      <p:sp>
        <p:nvSpPr>
          <p:cNvPr id="4" name="Slide Number Placeholder 3"/>
          <p:cNvSpPr>
            <a:spLocks noGrp="1"/>
          </p:cNvSpPr>
          <p:nvPr>
            <p:ph type="sldNum" sz="quarter" idx="12"/>
          </p:nvPr>
        </p:nvSpPr>
        <p:spPr/>
        <p:txBody>
          <a:bodyPr/>
          <a:lstStyle/>
          <a:p>
            <a:fld id="{44C99FA5-7995-46A9-A97E-16E38AD58950}" type="slidenum">
              <a:rPr lang="en-US" smtClean="0"/>
              <a:t>23</a:t>
            </a:fld>
            <a:endParaRPr lang="en-US"/>
          </a:p>
        </p:txBody>
      </p:sp>
    </p:spTree>
    <p:custDataLst>
      <p:tags r:id="rId1"/>
    </p:custDataLst>
    <p:extLst>
      <p:ext uri="{BB962C8B-B14F-4D97-AF65-F5344CB8AC3E}">
        <p14:creationId xmlns:p14="http://schemas.microsoft.com/office/powerpoint/2010/main" val="1278095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 “impedance mismatch”</a:t>
            </a:r>
          </a:p>
        </p:txBody>
      </p:sp>
      <p:sp>
        <p:nvSpPr>
          <p:cNvPr id="3" name="Content Placeholder 2"/>
          <p:cNvSpPr>
            <a:spLocks noGrp="1"/>
          </p:cNvSpPr>
          <p:nvPr>
            <p:ph idx="1"/>
          </p:nvPr>
        </p:nvSpPr>
        <p:spPr/>
        <p:txBody>
          <a:bodyPr>
            <a:normAutofit/>
          </a:bodyPr>
          <a:lstStyle/>
          <a:p>
            <a:r>
              <a:rPr lang="en-US" sz="3200" dirty="0"/>
              <a:t>SQL operates on </a:t>
            </a:r>
            <a:r>
              <a:rPr lang="en-US" sz="3200" dirty="0">
                <a:solidFill>
                  <a:schemeClr val="accent2"/>
                </a:solidFill>
              </a:rPr>
              <a:t>a set of records at a time</a:t>
            </a:r>
          </a:p>
          <a:p>
            <a:r>
              <a:rPr lang="en-US" sz="3200" dirty="0"/>
              <a:t>Typical low-level general-purpose programming languages operate on </a:t>
            </a:r>
            <a:r>
              <a:rPr lang="en-US" sz="3200" dirty="0">
                <a:solidFill>
                  <a:schemeClr val="accent2"/>
                </a:solidFill>
              </a:rPr>
              <a:t>one record at a time</a:t>
            </a:r>
          </a:p>
          <a:p>
            <a:pPr marL="457200" lvl="1" indent="0">
              <a:buNone/>
            </a:pPr>
            <a:endParaRPr lang="en-US" sz="2800" dirty="0"/>
          </a:p>
          <a:p>
            <a:pPr>
              <a:buFont typeface="Wingdings" pitchFamily="2" charset="2"/>
              <a:buChar char="F"/>
            </a:pPr>
            <a:r>
              <a:rPr lang="en-US" sz="3200" dirty="0"/>
              <a:t>Solution: </a:t>
            </a:r>
            <a:r>
              <a:rPr lang="en-US" sz="3200" dirty="0">
                <a:solidFill>
                  <a:schemeClr val="accent2"/>
                </a:solidFill>
              </a:rPr>
              <a:t>cursor</a:t>
            </a:r>
          </a:p>
          <a:p>
            <a:pPr lvl="1"/>
            <a:r>
              <a:rPr lang="en-US" sz="2800" dirty="0">
                <a:solidFill>
                  <a:schemeClr val="accent2"/>
                </a:solidFill>
              </a:rPr>
              <a:t>Open</a:t>
            </a:r>
            <a:r>
              <a:rPr lang="en-US" sz="2800" dirty="0"/>
              <a:t> (a result table), </a:t>
            </a:r>
            <a:r>
              <a:rPr lang="en-US" sz="2800" dirty="0">
                <a:solidFill>
                  <a:schemeClr val="accent2"/>
                </a:solidFill>
              </a:rPr>
              <a:t>Get next</a:t>
            </a:r>
            <a:r>
              <a:rPr lang="en-US" sz="2800" dirty="0"/>
              <a:t>, </a:t>
            </a:r>
            <a:r>
              <a:rPr lang="en-US" sz="2800" dirty="0">
                <a:solidFill>
                  <a:schemeClr val="accent2"/>
                </a:solidFill>
              </a:rPr>
              <a:t>Close</a:t>
            </a:r>
            <a:endParaRPr lang="en-US" sz="2800" dirty="0"/>
          </a:p>
          <a:p>
            <a:pPr lvl="1">
              <a:buFont typeface="Wingdings" pitchFamily="2" charset="2"/>
              <a:buChar char="F"/>
            </a:pPr>
            <a:r>
              <a:rPr lang="en-US" sz="2800" dirty="0"/>
              <a:t>Found in virtually every database language/API</a:t>
            </a:r>
          </a:p>
          <a:p>
            <a:pPr lvl="2"/>
            <a:r>
              <a:rPr lang="en-US" sz="2400" dirty="0"/>
              <a:t>With slightly different syntaxes</a:t>
            </a:r>
          </a:p>
        </p:txBody>
      </p:sp>
      <p:sp>
        <p:nvSpPr>
          <p:cNvPr id="4" name="Slide Number Placeholder 3"/>
          <p:cNvSpPr>
            <a:spLocks noGrp="1"/>
          </p:cNvSpPr>
          <p:nvPr>
            <p:ph type="sldNum" sz="quarter" idx="12"/>
          </p:nvPr>
        </p:nvSpPr>
        <p:spPr/>
        <p:txBody>
          <a:bodyPr/>
          <a:lstStyle/>
          <a:p>
            <a:fld id="{44C99FA5-7995-46A9-A97E-16E38AD58950}" type="slidenum">
              <a:rPr lang="en-US" smtClean="0"/>
              <a:t>24</a:t>
            </a:fld>
            <a:endParaRPr lang="en-US"/>
          </a:p>
        </p:txBody>
      </p:sp>
    </p:spTree>
    <p:custDataLst>
      <p:tags r:id="rId1"/>
    </p:custDataLst>
    <p:extLst>
      <p:ext uri="{BB962C8B-B14F-4D97-AF65-F5344CB8AC3E}">
        <p14:creationId xmlns:p14="http://schemas.microsoft.com/office/powerpoint/2010/main" val="2177287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Augmenting SQL: SQL/PSM</a:t>
            </a:r>
          </a:p>
        </p:txBody>
      </p:sp>
      <p:sp>
        <p:nvSpPr>
          <p:cNvPr id="3" name="Content Placeholder 2"/>
          <p:cNvSpPr>
            <a:spLocks noGrp="1"/>
          </p:cNvSpPr>
          <p:nvPr>
            <p:ph idx="1"/>
          </p:nvPr>
        </p:nvSpPr>
        <p:spPr/>
        <p:txBody>
          <a:bodyPr>
            <a:normAutofit/>
          </a:bodyPr>
          <a:lstStyle/>
          <a:p>
            <a:r>
              <a:rPr lang="en-US" dirty="0">
                <a:solidFill>
                  <a:schemeClr val="accent2"/>
                </a:solidFill>
              </a:rPr>
              <a:t>PSM</a:t>
            </a:r>
            <a:r>
              <a:rPr lang="en-US" dirty="0"/>
              <a:t> = </a:t>
            </a:r>
            <a:r>
              <a:rPr lang="en-US" dirty="0">
                <a:solidFill>
                  <a:schemeClr val="accent2"/>
                </a:solidFill>
              </a:rPr>
              <a:t>P</a:t>
            </a:r>
            <a:r>
              <a:rPr lang="en-US" dirty="0"/>
              <a:t>ersistent</a:t>
            </a:r>
            <a:r>
              <a:rPr lang="en-US" dirty="0">
                <a:solidFill>
                  <a:schemeClr val="tx2"/>
                </a:solidFill>
              </a:rPr>
              <a:t> </a:t>
            </a:r>
            <a:r>
              <a:rPr lang="en-US" dirty="0">
                <a:solidFill>
                  <a:schemeClr val="accent2"/>
                </a:solidFill>
              </a:rPr>
              <a:t>S</a:t>
            </a:r>
            <a:r>
              <a:rPr lang="en-US" dirty="0"/>
              <a:t>tored</a:t>
            </a:r>
            <a:r>
              <a:rPr lang="en-US" dirty="0">
                <a:solidFill>
                  <a:schemeClr val="tx2"/>
                </a:solidFill>
              </a:rPr>
              <a:t> </a:t>
            </a:r>
            <a:r>
              <a:rPr lang="en-US" dirty="0">
                <a:solidFill>
                  <a:schemeClr val="accent2"/>
                </a:solidFill>
              </a:rPr>
              <a:t>M</a:t>
            </a:r>
            <a:r>
              <a:rPr lang="en-US" dirty="0"/>
              <a:t>odules</a:t>
            </a:r>
          </a:p>
          <a:p>
            <a:r>
              <a:rPr lang="en-US" dirty="0">
                <a:solidFill>
                  <a:schemeClr val="accent2"/>
                </a:solidFill>
                <a:latin typeface="Prestige12 BT" panose="02070509030506020304" pitchFamily="49" charset="0"/>
              </a:rPr>
              <a:t>CREATE PROCEDURE </a:t>
            </a:r>
            <a:r>
              <a:rPr lang="en-US" i="1" dirty="0" err="1"/>
              <a:t>proc_name</a:t>
            </a:r>
            <a:r>
              <a:rPr lang="en-US" dirty="0">
                <a:solidFill>
                  <a:schemeClr val="accent2"/>
                </a:solidFill>
                <a:latin typeface="Prestige12 BT" panose="02070509030506020304" pitchFamily="49" charset="0"/>
              </a:rPr>
              <a:t>(</a:t>
            </a:r>
            <a:r>
              <a:rPr lang="en-US" i="1" dirty="0" err="1"/>
              <a:t>param_decls</a:t>
            </a:r>
            <a:r>
              <a:rPr lang="en-US" dirty="0">
                <a:solidFill>
                  <a:schemeClr val="accent2"/>
                </a:solidFill>
                <a:latin typeface="Prestige12 BT" panose="02070509030506020304" pitchFamily="49" charset="0"/>
              </a:rPr>
              <a:t>)</a:t>
            </a:r>
            <a:br>
              <a:rPr lang="en-US" dirty="0">
                <a:solidFill>
                  <a:schemeClr val="tx2"/>
                </a:solidFill>
                <a:latin typeface="Prestige12 BT" panose="02070509030506020304" pitchFamily="49" charset="0"/>
              </a:rPr>
            </a:br>
            <a:r>
              <a:rPr lang="en-US" dirty="0">
                <a:solidFill>
                  <a:schemeClr val="tx2"/>
                </a:solidFill>
                <a:latin typeface="Prestige12 BT" panose="02070509030506020304" pitchFamily="49" charset="0"/>
              </a:rPr>
              <a:t>	</a:t>
            </a:r>
            <a:r>
              <a:rPr lang="en-US" i="1" dirty="0" err="1"/>
              <a:t>local_decls</a:t>
            </a:r>
            <a:br>
              <a:rPr lang="en-US" dirty="0"/>
            </a:br>
            <a:r>
              <a:rPr lang="en-US" dirty="0"/>
              <a:t>	</a:t>
            </a:r>
            <a:r>
              <a:rPr lang="en-US" i="1" dirty="0" err="1"/>
              <a:t>proc_body</a:t>
            </a:r>
            <a:r>
              <a:rPr lang="en-US" dirty="0">
                <a:solidFill>
                  <a:schemeClr val="accent2"/>
                </a:solidFill>
                <a:latin typeface="Prestige12 BT" panose="02070509030506020304" pitchFamily="49" charset="0"/>
              </a:rPr>
              <a:t>;</a:t>
            </a:r>
          </a:p>
          <a:p>
            <a:r>
              <a:rPr lang="en-US" dirty="0">
                <a:solidFill>
                  <a:schemeClr val="accent2"/>
                </a:solidFill>
                <a:latin typeface="Prestige12 BT" panose="02070509030506020304" pitchFamily="49" charset="0"/>
              </a:rPr>
              <a:t>CREATE FUNCTION </a:t>
            </a:r>
            <a:r>
              <a:rPr lang="en-US" i="1" dirty="0" err="1"/>
              <a:t>func_name</a:t>
            </a:r>
            <a:r>
              <a:rPr lang="en-US" dirty="0">
                <a:solidFill>
                  <a:schemeClr val="accent2"/>
                </a:solidFill>
                <a:latin typeface="Prestige12 BT" panose="02070509030506020304" pitchFamily="49" charset="0"/>
              </a:rPr>
              <a:t>(</a:t>
            </a:r>
            <a:r>
              <a:rPr lang="en-US" i="1" dirty="0" err="1"/>
              <a:t>param_decls</a:t>
            </a:r>
            <a:r>
              <a:rPr lang="en-US" dirty="0">
                <a:solidFill>
                  <a:schemeClr val="accent2"/>
                </a:solidFill>
                <a:latin typeface="Prestige12 BT" panose="02070509030506020304" pitchFamily="49" charset="0"/>
              </a:rPr>
              <a:t>)</a:t>
            </a:r>
            <a:br>
              <a:rPr lang="en-US" dirty="0">
                <a:solidFill>
                  <a:schemeClr val="tx2"/>
                </a:solidFill>
                <a:latin typeface="Prestige12 BT" panose="02070509030506020304" pitchFamily="49" charset="0"/>
              </a:rPr>
            </a:br>
            <a:r>
              <a:rPr lang="en-US" dirty="0">
                <a:solidFill>
                  <a:schemeClr val="accent2"/>
                </a:solidFill>
                <a:latin typeface="Prestige12 BT" panose="02070509030506020304" pitchFamily="49" charset="0"/>
              </a:rPr>
              <a:t>RETURNS</a:t>
            </a:r>
            <a:r>
              <a:rPr lang="en-US" dirty="0">
                <a:solidFill>
                  <a:schemeClr val="tx2"/>
                </a:solidFill>
                <a:latin typeface="Prestige12 BT" panose="02070509030506020304" pitchFamily="49" charset="0"/>
              </a:rPr>
              <a:t> </a:t>
            </a:r>
            <a:r>
              <a:rPr lang="en-US" i="1" dirty="0" err="1"/>
              <a:t>return_type</a:t>
            </a:r>
            <a:br>
              <a:rPr lang="en-US" dirty="0">
                <a:latin typeface="Prestige12 BT" panose="02070509030506020304" pitchFamily="49" charset="0"/>
              </a:rPr>
            </a:br>
            <a:r>
              <a:rPr lang="en-US" dirty="0">
                <a:latin typeface="Prestige12 BT" panose="02070509030506020304" pitchFamily="49" charset="0"/>
              </a:rPr>
              <a:t>	</a:t>
            </a:r>
            <a:r>
              <a:rPr lang="en-US" i="1" dirty="0" err="1"/>
              <a:t>local_decls</a:t>
            </a:r>
            <a:br>
              <a:rPr lang="en-US" dirty="0"/>
            </a:br>
            <a:r>
              <a:rPr lang="en-US" dirty="0"/>
              <a:t>	</a:t>
            </a:r>
            <a:r>
              <a:rPr lang="en-US" i="1" dirty="0" err="1"/>
              <a:t>func_body</a:t>
            </a:r>
            <a:r>
              <a:rPr lang="en-US" dirty="0">
                <a:solidFill>
                  <a:schemeClr val="accent2"/>
                </a:solidFill>
                <a:latin typeface="Prestige12 BT" panose="02070509030506020304" pitchFamily="49" charset="0"/>
              </a:rPr>
              <a:t>;</a:t>
            </a:r>
          </a:p>
          <a:p>
            <a:r>
              <a:rPr lang="en-US" dirty="0">
                <a:solidFill>
                  <a:schemeClr val="accent2"/>
                </a:solidFill>
                <a:latin typeface="Prestige12 BT" panose="02070509030506020304" pitchFamily="49" charset="0"/>
              </a:rPr>
              <a:t>CALL</a:t>
            </a:r>
            <a:r>
              <a:rPr lang="en-US" dirty="0">
                <a:solidFill>
                  <a:schemeClr val="tx2"/>
                </a:solidFill>
                <a:latin typeface="Prestige12 BT" panose="02070509030506020304" pitchFamily="49" charset="0"/>
              </a:rPr>
              <a:t> </a:t>
            </a:r>
            <a:r>
              <a:rPr lang="en-US" i="1" dirty="0" err="1"/>
              <a:t>proc_name</a:t>
            </a:r>
            <a:r>
              <a:rPr lang="en-US" dirty="0">
                <a:solidFill>
                  <a:schemeClr val="accent2"/>
                </a:solidFill>
                <a:latin typeface="Prestige12 BT" panose="02070509030506020304" pitchFamily="49" charset="0"/>
              </a:rPr>
              <a:t>(</a:t>
            </a:r>
            <a:r>
              <a:rPr lang="en-US" i="1" dirty="0"/>
              <a:t>params</a:t>
            </a:r>
            <a:r>
              <a:rPr lang="en-US" dirty="0">
                <a:solidFill>
                  <a:schemeClr val="accent2"/>
                </a:solidFill>
                <a:latin typeface="Prestige12 BT" panose="02070509030506020304" pitchFamily="49" charset="0"/>
              </a:rPr>
              <a:t>);</a:t>
            </a:r>
          </a:p>
          <a:p>
            <a:r>
              <a:rPr lang="en-US" dirty="0"/>
              <a:t>Inside procedure body:</a:t>
            </a:r>
            <a:br>
              <a:rPr lang="en-US" dirty="0"/>
            </a:br>
            <a:r>
              <a:rPr lang="en-US" dirty="0">
                <a:solidFill>
                  <a:schemeClr val="accent2"/>
                </a:solidFill>
                <a:latin typeface="Prestige12 BT" panose="02070509030506020304" pitchFamily="49" charset="0"/>
              </a:rPr>
              <a:t>SET</a:t>
            </a:r>
            <a:r>
              <a:rPr lang="en-US" dirty="0">
                <a:solidFill>
                  <a:schemeClr val="tx2"/>
                </a:solidFill>
                <a:latin typeface="Prestige12 BT" panose="02070509030506020304" pitchFamily="49" charset="0"/>
              </a:rPr>
              <a:t> </a:t>
            </a:r>
            <a:r>
              <a:rPr lang="en-US" i="1" dirty="0"/>
              <a:t>variable</a:t>
            </a:r>
            <a:r>
              <a:rPr lang="en-US" dirty="0">
                <a:solidFill>
                  <a:schemeClr val="accent2"/>
                </a:solidFill>
                <a:latin typeface="Prestige12 BT" panose="02070509030506020304" pitchFamily="49" charset="0"/>
              </a:rPr>
              <a:t> = CALL </a:t>
            </a:r>
            <a:r>
              <a:rPr lang="en-US" i="1" dirty="0" err="1"/>
              <a:t>func_name</a:t>
            </a:r>
            <a:r>
              <a:rPr lang="en-US" dirty="0">
                <a:solidFill>
                  <a:schemeClr val="accent2"/>
                </a:solidFill>
                <a:latin typeface="Prestige12 BT" panose="02070509030506020304" pitchFamily="49" charset="0"/>
              </a:rPr>
              <a:t>(</a:t>
            </a:r>
            <a:r>
              <a:rPr lang="en-US" i="1" dirty="0"/>
              <a:t>params</a:t>
            </a:r>
            <a:r>
              <a:rPr lang="en-US" dirty="0">
                <a:solidFill>
                  <a:schemeClr val="accent2"/>
                </a:solidFill>
                <a:latin typeface="Prestige12 BT" panose="02070509030506020304" pitchFamily="49" charset="0"/>
              </a:rPr>
              <a:t>);</a:t>
            </a:r>
          </a:p>
        </p:txBody>
      </p:sp>
      <p:sp>
        <p:nvSpPr>
          <p:cNvPr id="4" name="Slide Number Placeholder 3"/>
          <p:cNvSpPr>
            <a:spLocks noGrp="1"/>
          </p:cNvSpPr>
          <p:nvPr>
            <p:ph type="sldNum" sz="quarter" idx="12"/>
          </p:nvPr>
        </p:nvSpPr>
        <p:spPr/>
        <p:txBody>
          <a:bodyPr/>
          <a:lstStyle/>
          <a:p>
            <a:fld id="{44C99FA5-7995-46A9-A97E-16E38AD58950}" type="slidenum">
              <a:rPr lang="en-US" smtClean="0"/>
              <a:t>25</a:t>
            </a:fld>
            <a:endParaRPr lang="en-US"/>
          </a:p>
        </p:txBody>
      </p:sp>
    </p:spTree>
    <p:custDataLst>
      <p:tags r:id="rId1"/>
    </p:custDataLst>
    <p:extLst>
      <p:ext uri="{BB962C8B-B14F-4D97-AF65-F5344CB8AC3E}">
        <p14:creationId xmlns:p14="http://schemas.microsoft.com/office/powerpoint/2010/main" val="1836618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SQL/PSM example</a:t>
            </a:r>
          </a:p>
        </p:txBody>
      </p:sp>
      <p:sp>
        <p:nvSpPr>
          <p:cNvPr id="4" name="Slide Number Placeholder 3"/>
          <p:cNvSpPr>
            <a:spLocks noGrp="1"/>
          </p:cNvSpPr>
          <p:nvPr>
            <p:ph type="sldNum" sz="quarter" idx="12"/>
          </p:nvPr>
        </p:nvSpPr>
        <p:spPr/>
        <p:txBody>
          <a:bodyPr/>
          <a:lstStyle/>
          <a:p>
            <a:fld id="{44C99FA5-7995-46A9-A97E-16E38AD58950}" type="slidenum">
              <a:rPr lang="en-US" smtClean="0"/>
              <a:t>26</a:t>
            </a:fld>
            <a:endParaRPr lang="en-US"/>
          </a:p>
        </p:txBody>
      </p:sp>
      <p:sp>
        <p:nvSpPr>
          <p:cNvPr id="5" name="Rectangle 4">
            <a:extLst>
              <a:ext uri="{FF2B5EF4-FFF2-40B4-BE49-F238E27FC236}">
                <a16:creationId xmlns:a16="http://schemas.microsoft.com/office/drawing/2014/main" id="{D5E6E5A5-6C63-4EF1-8A76-3286615F8226}"/>
              </a:ext>
            </a:extLst>
          </p:cNvPr>
          <p:cNvSpPr/>
          <p:nvPr/>
        </p:nvSpPr>
        <p:spPr>
          <a:xfrm>
            <a:off x="700484" y="1270000"/>
            <a:ext cx="7671356" cy="5283200"/>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buNone/>
            </a:pPr>
            <a:r>
              <a:rPr lang="en-US" sz="2000" dirty="0">
                <a:latin typeface="Prestige12 BT" panose="02070509030506020304" pitchFamily="49" charset="0"/>
              </a:rPr>
              <a:t>CREATE FUNCTION </a:t>
            </a:r>
            <a:r>
              <a:rPr lang="en-US" sz="2000" dirty="0" err="1">
                <a:latin typeface="Prestige12 BT" panose="02070509030506020304" pitchFamily="49" charset="0"/>
              </a:rPr>
              <a:t>SetMaxPop</a:t>
            </a:r>
            <a:r>
              <a:rPr lang="en-US" sz="2000" dirty="0">
                <a:latin typeface="Prestige12 BT" panose="02070509030506020304" pitchFamily="49" charset="0"/>
              </a:rPr>
              <a:t>(IN </a:t>
            </a:r>
            <a:r>
              <a:rPr lang="en-US" sz="2000" dirty="0" err="1">
                <a:latin typeface="Prestige12 BT" panose="02070509030506020304" pitchFamily="49" charset="0"/>
              </a:rPr>
              <a:t>newMaxPop</a:t>
            </a:r>
            <a:r>
              <a:rPr lang="en-US" sz="2000" dirty="0">
                <a:latin typeface="Prestige12 BT" panose="02070509030506020304" pitchFamily="49" charset="0"/>
              </a:rPr>
              <a:t> FLOAT)</a:t>
            </a:r>
            <a:br>
              <a:rPr lang="en-US" sz="2000" dirty="0">
                <a:latin typeface="Prestige12 BT" panose="02070509030506020304" pitchFamily="49" charset="0"/>
              </a:rPr>
            </a:br>
            <a:r>
              <a:rPr lang="en-US" sz="2000" dirty="0">
                <a:latin typeface="Prestige12 BT" panose="02070509030506020304" pitchFamily="49" charset="0"/>
              </a:rPr>
              <a:t>RETURNS INT</a:t>
            </a:r>
            <a:br>
              <a:rPr lang="en-US" sz="2000" dirty="0">
                <a:latin typeface="Prestige12 BT" panose="02070509030506020304" pitchFamily="49" charset="0"/>
              </a:rPr>
            </a:br>
            <a:r>
              <a:rPr lang="en-US" sz="2000" dirty="0">
                <a:solidFill>
                  <a:schemeClr val="accent6"/>
                </a:solidFill>
                <a:latin typeface="Prestige12 BT" panose="02070509030506020304" pitchFamily="49" charset="0"/>
              </a:rPr>
              <a:t>--</a:t>
            </a:r>
            <a:r>
              <a:rPr lang="en-US" sz="2000" dirty="0">
                <a:solidFill>
                  <a:schemeClr val="accent6"/>
                </a:solidFill>
              </a:rPr>
              <a:t> Enforce </a:t>
            </a:r>
            <a:r>
              <a:rPr lang="en-US" sz="2000" dirty="0" err="1">
                <a:solidFill>
                  <a:schemeClr val="accent6"/>
                </a:solidFill>
                <a:latin typeface="Prestige12 BT" panose="02070509030506020304" pitchFamily="49" charset="0"/>
              </a:rPr>
              <a:t>newMaxPop</a:t>
            </a:r>
            <a:r>
              <a:rPr lang="en-US" sz="2000" dirty="0">
                <a:solidFill>
                  <a:schemeClr val="accent6"/>
                </a:solidFill>
              </a:rPr>
              <a:t>; return # rows modified.</a:t>
            </a:r>
          </a:p>
          <a:p>
            <a:pPr>
              <a:buNone/>
            </a:pPr>
            <a:r>
              <a:rPr lang="en-US" sz="2000" dirty="0">
                <a:latin typeface="Prestige12 BT" panose="02070509030506020304" pitchFamily="49" charset="0"/>
              </a:rPr>
              <a:t>BEGIN</a:t>
            </a:r>
            <a:br>
              <a:rPr lang="en-US" sz="2000" dirty="0">
                <a:latin typeface="Prestige12 BT" panose="02070509030506020304" pitchFamily="49" charset="0"/>
              </a:rPr>
            </a:br>
            <a:r>
              <a:rPr lang="en-US" sz="2000" dirty="0">
                <a:latin typeface="Prestige12 BT" panose="02070509030506020304" pitchFamily="49" charset="0"/>
              </a:rPr>
              <a:t>DECLARE </a:t>
            </a:r>
            <a:r>
              <a:rPr lang="en-US" sz="2000" dirty="0" err="1">
                <a:latin typeface="Prestige12 BT" panose="02070509030506020304" pitchFamily="49" charset="0"/>
              </a:rPr>
              <a:t>rowsUpdated</a:t>
            </a:r>
            <a:r>
              <a:rPr lang="en-US" sz="2000" dirty="0">
                <a:latin typeface="Prestige12 BT" panose="02070509030506020304" pitchFamily="49" charset="0"/>
              </a:rPr>
              <a:t> INT DEFAULT 0;</a:t>
            </a:r>
            <a:br>
              <a:rPr lang="en-US" sz="2000" dirty="0">
                <a:latin typeface="Prestige12 BT" panose="02070509030506020304" pitchFamily="49" charset="0"/>
              </a:rPr>
            </a:br>
            <a:r>
              <a:rPr lang="en-US" sz="2000" dirty="0">
                <a:latin typeface="Prestige12 BT" panose="02070509030506020304" pitchFamily="49" charset="0"/>
              </a:rPr>
              <a:t>DECLARE </a:t>
            </a:r>
            <a:r>
              <a:rPr lang="en-US" sz="2000" dirty="0" err="1">
                <a:latin typeface="Prestige12 BT" panose="02070509030506020304" pitchFamily="49" charset="0"/>
              </a:rPr>
              <a:t>thisPop</a:t>
            </a:r>
            <a:r>
              <a:rPr lang="en-US" sz="2000" dirty="0">
                <a:latin typeface="Prestige12 BT" panose="02070509030506020304" pitchFamily="49" charset="0"/>
              </a:rPr>
              <a:t> FLOAT;</a:t>
            </a:r>
          </a:p>
          <a:p>
            <a:pPr>
              <a:buNone/>
            </a:pPr>
            <a:r>
              <a:rPr lang="en-US" sz="2000" dirty="0">
                <a:latin typeface="Prestige12 BT" panose="02070509030506020304" pitchFamily="49" charset="0"/>
              </a:rPr>
              <a:t>	</a:t>
            </a:r>
            <a:r>
              <a:rPr lang="en-US" sz="2000" dirty="0">
                <a:solidFill>
                  <a:schemeClr val="accent6"/>
                </a:solidFill>
                <a:latin typeface="Prestige12 BT" panose="02070509030506020304" pitchFamily="49" charset="0"/>
              </a:rPr>
              <a:t>--</a:t>
            </a:r>
            <a:r>
              <a:rPr lang="en-US" sz="2000" dirty="0">
                <a:solidFill>
                  <a:schemeClr val="accent6"/>
                </a:solidFill>
              </a:rPr>
              <a:t> A cursor to range over all users:</a:t>
            </a:r>
            <a:br>
              <a:rPr lang="en-US" sz="2000" dirty="0">
                <a:solidFill>
                  <a:schemeClr val="accent6"/>
                </a:solidFill>
              </a:rPr>
            </a:br>
            <a:r>
              <a:rPr lang="en-US" sz="2000" dirty="0">
                <a:latin typeface="Prestige12 BT" panose="02070509030506020304" pitchFamily="49" charset="0"/>
              </a:rPr>
              <a:t>DECLARE </a:t>
            </a:r>
            <a:r>
              <a:rPr lang="en-US" sz="2000" dirty="0" err="1">
                <a:latin typeface="Prestige12 BT" panose="02070509030506020304" pitchFamily="49" charset="0"/>
              </a:rPr>
              <a:t>userCursor</a:t>
            </a:r>
            <a:r>
              <a:rPr lang="en-US" sz="2000" dirty="0">
                <a:latin typeface="Prestige12 BT" panose="02070509030506020304" pitchFamily="49" charset="0"/>
              </a:rPr>
              <a:t> CURSOR FOR</a:t>
            </a:r>
            <a:br>
              <a:rPr lang="en-US" sz="2000" dirty="0">
                <a:latin typeface="Prestige12 BT" panose="02070509030506020304" pitchFamily="49" charset="0"/>
              </a:rPr>
            </a:br>
            <a:r>
              <a:rPr lang="en-US" sz="2000" dirty="0">
                <a:latin typeface="Prestige12 BT" panose="02070509030506020304" pitchFamily="49" charset="0"/>
              </a:rPr>
              <a:t>    SELECT pop FROM User</a:t>
            </a:r>
            <a:br>
              <a:rPr lang="en-US" sz="2000" dirty="0">
                <a:latin typeface="Prestige12 BT" panose="02070509030506020304" pitchFamily="49" charset="0"/>
              </a:rPr>
            </a:br>
            <a:r>
              <a:rPr lang="en-US" sz="2000" dirty="0">
                <a:latin typeface="Prestige12 BT" panose="02070509030506020304" pitchFamily="49" charset="0"/>
              </a:rPr>
              <a:t>FOR UPDATE;</a:t>
            </a:r>
          </a:p>
          <a:p>
            <a:pPr>
              <a:buNone/>
            </a:pPr>
            <a:r>
              <a:rPr lang="en-US" sz="2000" dirty="0">
                <a:latin typeface="Prestige12 BT" panose="02070509030506020304" pitchFamily="49" charset="0"/>
              </a:rPr>
              <a:t>	</a:t>
            </a:r>
            <a:r>
              <a:rPr lang="en-US" sz="2000" dirty="0">
                <a:solidFill>
                  <a:schemeClr val="accent6"/>
                </a:solidFill>
                <a:latin typeface="Prestige12 BT" panose="02070509030506020304" pitchFamily="49" charset="0"/>
              </a:rPr>
              <a:t>--</a:t>
            </a:r>
            <a:r>
              <a:rPr lang="en-US" sz="2000" dirty="0">
                <a:solidFill>
                  <a:schemeClr val="accent6"/>
                </a:solidFill>
              </a:rPr>
              <a:t> Set a flag upon “not found” exception:</a:t>
            </a:r>
            <a:br>
              <a:rPr lang="en-US" sz="2000" dirty="0">
                <a:solidFill>
                  <a:schemeClr val="accent6"/>
                </a:solidFill>
              </a:rPr>
            </a:br>
            <a:r>
              <a:rPr lang="en-US" sz="2000" dirty="0">
                <a:latin typeface="Prestige12 BT" panose="02070509030506020304" pitchFamily="49" charset="0"/>
              </a:rPr>
              <a:t>DECLARE </a:t>
            </a:r>
            <a:r>
              <a:rPr lang="en-US" sz="2000" dirty="0" err="1">
                <a:latin typeface="Prestige12 BT" panose="02070509030506020304" pitchFamily="49" charset="0"/>
              </a:rPr>
              <a:t>noMoreRows</a:t>
            </a:r>
            <a:r>
              <a:rPr lang="en-US" sz="2000" dirty="0">
                <a:latin typeface="Prestige12 BT" panose="02070509030506020304" pitchFamily="49" charset="0"/>
              </a:rPr>
              <a:t> INT DEFAULT 0;</a:t>
            </a:r>
            <a:br>
              <a:rPr lang="en-US" sz="2000" dirty="0">
                <a:latin typeface="Prestige12 BT" panose="02070509030506020304" pitchFamily="49" charset="0"/>
              </a:rPr>
            </a:br>
            <a:r>
              <a:rPr lang="en-US" sz="2000" dirty="0">
                <a:latin typeface="Prestige12 BT" panose="02070509030506020304" pitchFamily="49" charset="0"/>
              </a:rPr>
              <a:t>DECLARE CONTINUE HANDLER FOR NOT FOUND</a:t>
            </a:r>
            <a:br>
              <a:rPr lang="en-US" sz="2000" dirty="0">
                <a:latin typeface="Prestige12 BT" panose="02070509030506020304" pitchFamily="49" charset="0"/>
              </a:rPr>
            </a:br>
            <a:r>
              <a:rPr lang="en-US" sz="2000" dirty="0">
                <a:latin typeface="Prestige12 BT" panose="02070509030506020304" pitchFamily="49" charset="0"/>
              </a:rPr>
              <a:t>    SET </a:t>
            </a:r>
            <a:r>
              <a:rPr lang="en-US" sz="2000" dirty="0" err="1">
                <a:latin typeface="Prestige12 BT" panose="02070509030506020304" pitchFamily="49" charset="0"/>
              </a:rPr>
              <a:t>noMoreRows</a:t>
            </a:r>
            <a:r>
              <a:rPr lang="en-US" sz="2000" dirty="0">
                <a:latin typeface="Prestige12 BT" panose="02070509030506020304" pitchFamily="49" charset="0"/>
              </a:rPr>
              <a:t> = 1;</a:t>
            </a:r>
          </a:p>
          <a:p>
            <a:pPr>
              <a:buNone/>
            </a:pPr>
            <a:r>
              <a:rPr lang="en-US" sz="2000" dirty="0">
                <a:latin typeface="Prestige12 BT" panose="02070509030506020304" pitchFamily="49" charset="0"/>
              </a:rPr>
              <a:t>	</a:t>
            </a:r>
            <a:r>
              <a:rPr lang="en-US" sz="2000" dirty="0">
                <a:solidFill>
                  <a:schemeClr val="accent2"/>
                </a:solidFill>
              </a:rPr>
              <a:t>… (see next slide) …</a:t>
            </a:r>
          </a:p>
          <a:p>
            <a:pPr>
              <a:buNone/>
            </a:pPr>
            <a:r>
              <a:rPr lang="en-US" sz="2000" dirty="0">
                <a:latin typeface="Prestige12 BT" panose="02070509030506020304" pitchFamily="49" charset="0"/>
              </a:rPr>
              <a:t>	RETURN </a:t>
            </a:r>
            <a:r>
              <a:rPr lang="en-US" sz="2000" dirty="0" err="1">
                <a:latin typeface="Prestige12 BT" panose="02070509030506020304" pitchFamily="49" charset="0"/>
              </a:rPr>
              <a:t>rowsUpdated</a:t>
            </a:r>
            <a:r>
              <a:rPr lang="en-US" sz="2000" dirty="0">
                <a:latin typeface="Prestige12 BT" panose="02070509030506020304" pitchFamily="49" charset="0"/>
              </a:rPr>
              <a:t>;</a:t>
            </a:r>
          </a:p>
          <a:p>
            <a:pPr>
              <a:buNone/>
            </a:pPr>
            <a:r>
              <a:rPr lang="en-US" sz="2000" dirty="0">
                <a:latin typeface="Prestige12 BT" panose="02070509030506020304" pitchFamily="49" charset="0"/>
              </a:rPr>
              <a:t>END</a:t>
            </a:r>
          </a:p>
        </p:txBody>
      </p:sp>
      <mc:AlternateContent xmlns:mc="http://schemas.openxmlformats.org/markup-compatibility/2006" xmlns:p14="http://schemas.microsoft.com/office/powerpoint/2010/main">
        <mc:Choice Requires="p14">
          <p:contentPart p14:bwMode="auto" r:id="rId4">
            <p14:nvContentPartPr>
              <p14:cNvPr id="9" name="Ink 8">
                <a:extLst>
                  <a:ext uri="{FF2B5EF4-FFF2-40B4-BE49-F238E27FC236}">
                    <a16:creationId xmlns:a16="http://schemas.microsoft.com/office/drawing/2014/main" id="{480EC260-6828-4083-98A7-BDC3638F744F}"/>
                  </a:ext>
                </a:extLst>
              </p14:cNvPr>
              <p14:cNvContentPartPr/>
              <p14:nvPr/>
            </p14:nvContentPartPr>
            <p14:xfrm>
              <a:off x="11134840" y="4236440"/>
              <a:ext cx="360" cy="360"/>
            </p14:xfrm>
          </p:contentPart>
        </mc:Choice>
        <mc:Fallback xmlns="">
          <p:pic>
            <p:nvPicPr>
              <p:cNvPr id="9" name="Ink 8">
                <a:extLst>
                  <a:ext uri="{FF2B5EF4-FFF2-40B4-BE49-F238E27FC236}">
                    <a16:creationId xmlns:a16="http://schemas.microsoft.com/office/drawing/2014/main" id="{480EC260-6828-4083-98A7-BDC3638F744F}"/>
                  </a:ext>
                </a:extLst>
              </p:cNvPr>
              <p:cNvPicPr/>
              <p:nvPr/>
            </p:nvPicPr>
            <p:blipFill>
              <a:blip r:embed="rId7"/>
              <a:stretch>
                <a:fillRect/>
              </a:stretch>
            </p:blipFill>
            <p:spPr>
              <a:xfrm>
                <a:off x="11116840" y="4218800"/>
                <a:ext cx="36000" cy="36000"/>
              </a:xfrm>
              <a:prstGeom prst="rect">
                <a:avLst/>
              </a:prstGeom>
            </p:spPr>
          </p:pic>
        </mc:Fallback>
      </mc:AlternateContent>
      <p:sp>
        <p:nvSpPr>
          <p:cNvPr id="10" name="Rectangle 9">
            <a:extLst>
              <a:ext uri="{FF2B5EF4-FFF2-40B4-BE49-F238E27FC236}">
                <a16:creationId xmlns:a16="http://schemas.microsoft.com/office/drawing/2014/main" id="{6F5B3A81-5C15-4446-945B-392EB4DDCF82}"/>
              </a:ext>
            </a:extLst>
          </p:cNvPr>
          <p:cNvSpPr/>
          <p:nvPr/>
        </p:nvSpPr>
        <p:spPr>
          <a:xfrm>
            <a:off x="700484" y="3178480"/>
            <a:ext cx="4755436" cy="1180160"/>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ight Bracket 10">
            <a:extLst>
              <a:ext uri="{FF2B5EF4-FFF2-40B4-BE49-F238E27FC236}">
                <a16:creationId xmlns:a16="http://schemas.microsoft.com/office/drawing/2014/main" id="{51FFE957-0443-4214-8608-E8DA2DA987FF}"/>
              </a:ext>
            </a:extLst>
          </p:cNvPr>
          <p:cNvSpPr/>
          <p:nvPr/>
        </p:nvSpPr>
        <p:spPr>
          <a:xfrm>
            <a:off x="6373891" y="2560320"/>
            <a:ext cx="250429" cy="2946400"/>
          </a:xfrm>
          <a:prstGeom prst="rightBracket">
            <a:avLst/>
          </a:prstGeom>
          <a:ln w="38100"/>
        </p:spPr>
        <p:style>
          <a:lnRef idx="1">
            <a:schemeClr val="accent2"/>
          </a:lnRef>
          <a:fillRef idx="0">
            <a:schemeClr val="accent2"/>
          </a:fillRef>
          <a:effectRef idx="0">
            <a:schemeClr val="accent2"/>
          </a:effectRef>
          <a:fontRef idx="minor">
            <a:schemeClr val="tx1"/>
          </a:fontRef>
        </p:style>
        <p:txBody>
          <a:bodyPr rtlCol="0" anchor="ctr"/>
          <a:lstStyle/>
          <a:p>
            <a:pPr algn="ctr"/>
            <a:endParaRPr lang="en-CA"/>
          </a:p>
        </p:txBody>
      </p:sp>
      <p:sp>
        <p:nvSpPr>
          <p:cNvPr id="12" name="TextBox 11">
            <a:extLst>
              <a:ext uri="{FF2B5EF4-FFF2-40B4-BE49-F238E27FC236}">
                <a16:creationId xmlns:a16="http://schemas.microsoft.com/office/drawing/2014/main" id="{25DD96FE-54D5-484D-AE2C-02683F2446F1}"/>
              </a:ext>
            </a:extLst>
          </p:cNvPr>
          <p:cNvSpPr txBox="1"/>
          <p:nvPr/>
        </p:nvSpPr>
        <p:spPr>
          <a:xfrm>
            <a:off x="6841198" y="3347596"/>
            <a:ext cx="1689683" cy="1200329"/>
          </a:xfrm>
          <a:prstGeom prst="rect">
            <a:avLst/>
          </a:prstGeom>
          <a:noFill/>
        </p:spPr>
        <p:txBody>
          <a:bodyPr wrap="square">
            <a:spAutoFit/>
          </a:bodyPr>
          <a:lstStyle/>
          <a:p>
            <a:r>
              <a:rPr lang="en-CA" sz="2400" dirty="0">
                <a:solidFill>
                  <a:schemeClr val="accent2"/>
                </a:solidFill>
              </a:rPr>
              <a:t>Declare local variables</a:t>
            </a:r>
          </a:p>
        </p:txBody>
      </p:sp>
      <p:sp>
        <p:nvSpPr>
          <p:cNvPr id="14" name="Rectangle 13">
            <a:extLst>
              <a:ext uri="{FF2B5EF4-FFF2-40B4-BE49-F238E27FC236}">
                <a16:creationId xmlns:a16="http://schemas.microsoft.com/office/drawing/2014/main" id="{FFCC6ADB-2624-455B-8B79-A49C81BE2A40}"/>
              </a:ext>
            </a:extLst>
          </p:cNvPr>
          <p:cNvSpPr/>
          <p:nvPr/>
        </p:nvSpPr>
        <p:spPr>
          <a:xfrm>
            <a:off x="1618455" y="5588000"/>
            <a:ext cx="3007916" cy="742080"/>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custDataLst>
      <p:tags r:id="rId1"/>
    </p:custDataLst>
    <p:extLst>
      <p:ext uri="{BB962C8B-B14F-4D97-AF65-F5344CB8AC3E}">
        <p14:creationId xmlns:p14="http://schemas.microsoft.com/office/powerpoint/2010/main" val="4086350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p:bldP spid="1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SQL/PSM example continued</a:t>
            </a:r>
          </a:p>
        </p:txBody>
      </p:sp>
      <p:sp>
        <p:nvSpPr>
          <p:cNvPr id="4" name="Slide Number Placeholder 3"/>
          <p:cNvSpPr>
            <a:spLocks noGrp="1"/>
          </p:cNvSpPr>
          <p:nvPr>
            <p:ph type="sldNum" sz="quarter" idx="12"/>
          </p:nvPr>
        </p:nvSpPr>
        <p:spPr/>
        <p:txBody>
          <a:bodyPr/>
          <a:lstStyle/>
          <a:p>
            <a:fld id="{44C99FA5-7995-46A9-A97E-16E38AD58950}" type="slidenum">
              <a:rPr lang="en-US" smtClean="0"/>
              <a:t>27</a:t>
            </a:fld>
            <a:endParaRPr lang="en-US"/>
          </a:p>
        </p:txBody>
      </p:sp>
      <p:sp>
        <p:nvSpPr>
          <p:cNvPr id="5" name="Rectangle 4">
            <a:extLst>
              <a:ext uri="{FF2B5EF4-FFF2-40B4-BE49-F238E27FC236}">
                <a16:creationId xmlns:a16="http://schemas.microsoft.com/office/drawing/2014/main" id="{BFD1C281-625D-44F9-9A19-96F6946B66C4}"/>
              </a:ext>
            </a:extLst>
          </p:cNvPr>
          <p:cNvSpPr/>
          <p:nvPr/>
        </p:nvSpPr>
        <p:spPr>
          <a:xfrm>
            <a:off x="655042" y="1342321"/>
            <a:ext cx="7569756" cy="520071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buFont typeface="Wingdings" pitchFamily="2" charset="2"/>
              <a:buNone/>
            </a:pPr>
            <a:r>
              <a:rPr lang="en-US" sz="2000" dirty="0">
                <a:solidFill>
                  <a:schemeClr val="accent6"/>
                </a:solidFill>
                <a:latin typeface="Prestige12 BT" panose="02070509030506020304" pitchFamily="49" charset="0"/>
              </a:rPr>
              <a:t>--</a:t>
            </a:r>
            <a:r>
              <a:rPr lang="en-US" sz="2000" dirty="0">
                <a:solidFill>
                  <a:schemeClr val="accent6"/>
                </a:solidFill>
              </a:rPr>
              <a:t> Fetch the first result row: </a:t>
            </a:r>
            <a:br>
              <a:rPr lang="en-US" sz="2000" dirty="0">
                <a:solidFill>
                  <a:schemeClr val="accent6"/>
                </a:solidFill>
                <a:latin typeface="Prestige12 BT" panose="02070509030506020304" pitchFamily="49" charset="0"/>
              </a:rPr>
            </a:br>
            <a:r>
              <a:rPr lang="en-US" sz="2000" dirty="0">
                <a:latin typeface="Prestige12 BT" panose="02070509030506020304" pitchFamily="49" charset="0"/>
              </a:rPr>
              <a:t>OPEN </a:t>
            </a:r>
            <a:r>
              <a:rPr lang="en-US" sz="2000" dirty="0" err="1">
                <a:latin typeface="Prestige12 BT" panose="02070509030506020304" pitchFamily="49" charset="0"/>
              </a:rPr>
              <a:t>userCursor</a:t>
            </a:r>
            <a:r>
              <a:rPr lang="en-US" sz="2000" dirty="0">
                <a:latin typeface="Prestige12 BT" panose="02070509030506020304" pitchFamily="49" charset="0"/>
              </a:rPr>
              <a:t>;</a:t>
            </a:r>
            <a:br>
              <a:rPr lang="en-US" sz="2000" dirty="0">
                <a:latin typeface="Prestige12 BT" panose="02070509030506020304" pitchFamily="49" charset="0"/>
              </a:rPr>
            </a:br>
            <a:r>
              <a:rPr lang="en-US" sz="2000" dirty="0">
                <a:latin typeface="Prestige12 BT" panose="02070509030506020304" pitchFamily="49" charset="0"/>
              </a:rPr>
              <a:t>FETCH FROM </a:t>
            </a:r>
            <a:r>
              <a:rPr lang="en-US" sz="2000" dirty="0" err="1">
                <a:latin typeface="Prestige12 BT" panose="02070509030506020304" pitchFamily="49" charset="0"/>
              </a:rPr>
              <a:t>userCursor</a:t>
            </a:r>
            <a:r>
              <a:rPr lang="en-US" sz="2000" dirty="0">
                <a:latin typeface="Prestige12 BT" panose="02070509030506020304" pitchFamily="49" charset="0"/>
              </a:rPr>
              <a:t> INTO </a:t>
            </a:r>
            <a:r>
              <a:rPr lang="en-US" sz="2000" dirty="0" err="1">
                <a:latin typeface="Prestige12 BT" panose="02070509030506020304" pitchFamily="49" charset="0"/>
              </a:rPr>
              <a:t>thisPop</a:t>
            </a:r>
            <a:r>
              <a:rPr lang="en-US" sz="2000" dirty="0">
                <a:latin typeface="Prestige12 BT" panose="02070509030506020304" pitchFamily="49" charset="0"/>
              </a:rPr>
              <a:t>;</a:t>
            </a:r>
            <a:br>
              <a:rPr lang="en-US" sz="2000" dirty="0">
                <a:latin typeface="Prestige12 BT" panose="02070509030506020304" pitchFamily="49" charset="0"/>
              </a:rPr>
            </a:br>
            <a:r>
              <a:rPr lang="en-US" sz="2000" dirty="0">
                <a:solidFill>
                  <a:schemeClr val="accent6"/>
                </a:solidFill>
                <a:latin typeface="Prestige12 BT" panose="02070509030506020304" pitchFamily="49" charset="0"/>
              </a:rPr>
              <a:t>--</a:t>
            </a:r>
            <a:r>
              <a:rPr lang="en-US" sz="2000" dirty="0">
                <a:solidFill>
                  <a:schemeClr val="accent6"/>
                </a:solidFill>
              </a:rPr>
              <a:t> Loop over all result rows: </a:t>
            </a:r>
            <a:br>
              <a:rPr lang="en-US" sz="2000" dirty="0">
                <a:solidFill>
                  <a:schemeClr val="accent6"/>
                </a:solidFill>
                <a:latin typeface="Prestige12 BT" panose="02070509030506020304" pitchFamily="49" charset="0"/>
              </a:rPr>
            </a:br>
            <a:r>
              <a:rPr lang="en-US" sz="2000" dirty="0">
                <a:latin typeface="Prestige12 BT" panose="02070509030506020304" pitchFamily="49" charset="0"/>
              </a:rPr>
              <a:t>WHILE </a:t>
            </a:r>
            <a:r>
              <a:rPr lang="en-US" sz="2000" dirty="0" err="1">
                <a:latin typeface="Prestige12 BT" panose="02070509030506020304" pitchFamily="49" charset="0"/>
              </a:rPr>
              <a:t>noMoreRows</a:t>
            </a:r>
            <a:r>
              <a:rPr lang="en-US" sz="2000" dirty="0">
                <a:latin typeface="Prestige12 BT" panose="02070509030506020304" pitchFamily="49" charset="0"/>
              </a:rPr>
              <a:t> &lt;&gt; 1 DO</a:t>
            </a:r>
            <a:br>
              <a:rPr lang="en-US" sz="2000" dirty="0">
                <a:latin typeface="Prestige12 BT" panose="02070509030506020304" pitchFamily="49" charset="0"/>
              </a:rPr>
            </a:br>
            <a:r>
              <a:rPr lang="en-US" sz="2000" dirty="0">
                <a:latin typeface="Prestige12 BT" panose="02070509030506020304" pitchFamily="49" charset="0"/>
              </a:rPr>
              <a:t>    IF </a:t>
            </a:r>
            <a:r>
              <a:rPr lang="en-US" sz="2000" dirty="0" err="1">
                <a:latin typeface="Prestige12 BT" panose="02070509030506020304" pitchFamily="49" charset="0"/>
              </a:rPr>
              <a:t>thisPop</a:t>
            </a:r>
            <a:r>
              <a:rPr lang="en-US" sz="2000" dirty="0">
                <a:latin typeface="Prestige12 BT" panose="02070509030506020304" pitchFamily="49" charset="0"/>
              </a:rPr>
              <a:t> &gt; </a:t>
            </a:r>
            <a:r>
              <a:rPr lang="en-US" sz="2000" dirty="0" err="1">
                <a:latin typeface="Prestige12 BT" panose="02070509030506020304" pitchFamily="49" charset="0"/>
              </a:rPr>
              <a:t>newMaxPop</a:t>
            </a:r>
            <a:r>
              <a:rPr lang="en-US" sz="2000" dirty="0">
                <a:latin typeface="Prestige12 BT" panose="02070509030506020304" pitchFamily="49" charset="0"/>
              </a:rPr>
              <a:t> THEN</a:t>
            </a:r>
            <a:br>
              <a:rPr lang="en-US" sz="2000" dirty="0">
                <a:latin typeface="Prestige12 BT" panose="02070509030506020304" pitchFamily="49" charset="0"/>
              </a:rPr>
            </a:br>
            <a:r>
              <a:rPr lang="en-US" sz="2000" dirty="0">
                <a:latin typeface="Prestige12 BT" panose="02070509030506020304" pitchFamily="49" charset="0"/>
              </a:rPr>
              <a:t>        </a:t>
            </a:r>
            <a:r>
              <a:rPr lang="en-US" sz="2000" dirty="0">
                <a:solidFill>
                  <a:schemeClr val="accent6"/>
                </a:solidFill>
                <a:latin typeface="Prestige12 BT" panose="02070509030506020304" pitchFamily="49" charset="0"/>
              </a:rPr>
              <a:t>--</a:t>
            </a:r>
            <a:r>
              <a:rPr lang="en-US" sz="2000" dirty="0">
                <a:solidFill>
                  <a:schemeClr val="accent6"/>
                </a:solidFill>
              </a:rPr>
              <a:t> Enforce </a:t>
            </a:r>
            <a:r>
              <a:rPr lang="en-US" sz="2000" dirty="0" err="1">
                <a:solidFill>
                  <a:schemeClr val="accent6"/>
                </a:solidFill>
              </a:rPr>
              <a:t>newMaxPop</a:t>
            </a:r>
            <a:r>
              <a:rPr lang="en-US" sz="2000" dirty="0">
                <a:solidFill>
                  <a:schemeClr val="accent6"/>
                </a:solidFill>
              </a:rPr>
              <a:t>:</a:t>
            </a:r>
            <a:br>
              <a:rPr lang="en-US" sz="2000" dirty="0">
                <a:solidFill>
                  <a:schemeClr val="accent6"/>
                </a:solidFill>
              </a:rPr>
            </a:br>
            <a:r>
              <a:rPr lang="en-US" sz="2000" dirty="0">
                <a:latin typeface="Prestige12 BT" panose="02070509030506020304" pitchFamily="49" charset="0"/>
              </a:rPr>
              <a:t>        UPDATE User SET pop = </a:t>
            </a:r>
            <a:r>
              <a:rPr lang="en-US" sz="2000" dirty="0" err="1">
                <a:latin typeface="Prestige12 BT" panose="02070509030506020304" pitchFamily="49" charset="0"/>
              </a:rPr>
              <a:t>newMaxPop</a:t>
            </a:r>
            <a:br>
              <a:rPr lang="en-US" sz="2000" dirty="0">
                <a:latin typeface="Prestige12 BT" panose="02070509030506020304" pitchFamily="49" charset="0"/>
              </a:rPr>
            </a:br>
            <a:r>
              <a:rPr lang="en-US" sz="2000" dirty="0">
                <a:latin typeface="Prestige12 BT" panose="02070509030506020304" pitchFamily="49" charset="0"/>
              </a:rPr>
              <a:t>        WHERE CURRENT OF </a:t>
            </a:r>
            <a:r>
              <a:rPr lang="en-US" sz="2000" dirty="0" err="1">
                <a:latin typeface="Prestige12 BT" panose="02070509030506020304" pitchFamily="49" charset="0"/>
              </a:rPr>
              <a:t>userCursor</a:t>
            </a:r>
            <a:r>
              <a:rPr lang="en-US" sz="2000" dirty="0">
                <a:latin typeface="Prestige12 BT" panose="02070509030506020304" pitchFamily="49" charset="0"/>
              </a:rPr>
              <a:t>;</a:t>
            </a:r>
            <a:br>
              <a:rPr lang="en-US" sz="2000" dirty="0">
                <a:latin typeface="Prestige12 BT" panose="02070509030506020304" pitchFamily="49" charset="0"/>
              </a:rPr>
            </a:br>
            <a:r>
              <a:rPr lang="en-US" sz="2000" dirty="0">
                <a:latin typeface="Prestige12 BT" panose="02070509030506020304" pitchFamily="49" charset="0"/>
              </a:rPr>
              <a:t>        </a:t>
            </a:r>
            <a:r>
              <a:rPr lang="en-US" sz="2000" dirty="0">
                <a:solidFill>
                  <a:schemeClr val="accent6"/>
                </a:solidFill>
                <a:latin typeface="Prestige12 BT" panose="02070509030506020304" pitchFamily="49" charset="0"/>
              </a:rPr>
              <a:t>--</a:t>
            </a:r>
            <a:r>
              <a:rPr lang="en-US" sz="2000" dirty="0">
                <a:solidFill>
                  <a:schemeClr val="accent6"/>
                </a:solidFill>
              </a:rPr>
              <a:t> Update count:</a:t>
            </a:r>
            <a:br>
              <a:rPr lang="en-US" sz="2000" dirty="0">
                <a:solidFill>
                  <a:schemeClr val="accent6"/>
                </a:solidFill>
              </a:rPr>
            </a:br>
            <a:r>
              <a:rPr lang="en-US" sz="2000" dirty="0">
                <a:latin typeface="Prestige12 BT" panose="02070509030506020304" pitchFamily="49" charset="0"/>
              </a:rPr>
              <a:t>        SET </a:t>
            </a:r>
            <a:r>
              <a:rPr lang="en-US" sz="2000" dirty="0" err="1">
                <a:latin typeface="Prestige12 BT" panose="02070509030506020304" pitchFamily="49" charset="0"/>
              </a:rPr>
              <a:t>rowsUpdated</a:t>
            </a:r>
            <a:r>
              <a:rPr lang="en-US" sz="2000" dirty="0">
                <a:latin typeface="Prestige12 BT" panose="02070509030506020304" pitchFamily="49" charset="0"/>
              </a:rPr>
              <a:t> = </a:t>
            </a:r>
            <a:r>
              <a:rPr lang="en-US" sz="2000" dirty="0" err="1">
                <a:latin typeface="Prestige12 BT" panose="02070509030506020304" pitchFamily="49" charset="0"/>
              </a:rPr>
              <a:t>rowsUpdated</a:t>
            </a:r>
            <a:r>
              <a:rPr lang="en-US" sz="2000" dirty="0">
                <a:latin typeface="Prestige12 BT" panose="02070509030506020304" pitchFamily="49" charset="0"/>
              </a:rPr>
              <a:t> + 1;</a:t>
            </a:r>
            <a:br>
              <a:rPr lang="en-US" sz="2000" dirty="0">
                <a:latin typeface="Prestige12 BT" panose="02070509030506020304" pitchFamily="49" charset="0"/>
              </a:rPr>
            </a:br>
            <a:r>
              <a:rPr lang="en-US" sz="2000" dirty="0">
                <a:latin typeface="Prestige12 BT" panose="02070509030506020304" pitchFamily="49" charset="0"/>
              </a:rPr>
              <a:t>    END IF;</a:t>
            </a:r>
            <a:br>
              <a:rPr lang="en-US" sz="2000" dirty="0">
                <a:latin typeface="Prestige12 BT" panose="02070509030506020304" pitchFamily="49" charset="0"/>
              </a:rPr>
            </a:br>
            <a:r>
              <a:rPr lang="en-US" sz="2000" dirty="0">
                <a:latin typeface="Prestige12 BT" panose="02070509030506020304" pitchFamily="49" charset="0"/>
              </a:rPr>
              <a:t>    </a:t>
            </a:r>
            <a:r>
              <a:rPr lang="en-US" sz="2000" dirty="0">
                <a:solidFill>
                  <a:schemeClr val="accent6"/>
                </a:solidFill>
                <a:latin typeface="Prestige12 BT" panose="02070509030506020304" pitchFamily="49" charset="0"/>
              </a:rPr>
              <a:t>--</a:t>
            </a:r>
            <a:r>
              <a:rPr lang="en-US" sz="2000" dirty="0">
                <a:solidFill>
                  <a:schemeClr val="accent6"/>
                </a:solidFill>
              </a:rPr>
              <a:t> Fetch the next result row:</a:t>
            </a:r>
            <a:br>
              <a:rPr lang="en-US" sz="2000" dirty="0">
                <a:solidFill>
                  <a:schemeClr val="accent6"/>
                </a:solidFill>
              </a:rPr>
            </a:br>
            <a:r>
              <a:rPr lang="en-US" sz="2000" dirty="0">
                <a:latin typeface="Prestige12 BT" panose="02070509030506020304" pitchFamily="49" charset="0"/>
              </a:rPr>
              <a:t>    FETCH FROM </a:t>
            </a:r>
            <a:r>
              <a:rPr lang="en-US" sz="2000" dirty="0" err="1">
                <a:latin typeface="Prestige12 BT" panose="02070509030506020304" pitchFamily="49" charset="0"/>
              </a:rPr>
              <a:t>userCursor</a:t>
            </a:r>
            <a:r>
              <a:rPr lang="en-US" sz="2000" dirty="0">
                <a:latin typeface="Prestige12 BT" panose="02070509030506020304" pitchFamily="49" charset="0"/>
              </a:rPr>
              <a:t> INTO </a:t>
            </a:r>
            <a:r>
              <a:rPr lang="en-US" sz="2000" dirty="0" err="1">
                <a:latin typeface="Prestige12 BT" panose="02070509030506020304" pitchFamily="49" charset="0"/>
              </a:rPr>
              <a:t>thisPop</a:t>
            </a:r>
            <a:r>
              <a:rPr lang="en-US" sz="2000" dirty="0">
                <a:latin typeface="Prestige12 BT" panose="02070509030506020304" pitchFamily="49" charset="0"/>
              </a:rPr>
              <a:t>;</a:t>
            </a:r>
            <a:br>
              <a:rPr lang="en-US" sz="2000" dirty="0">
                <a:latin typeface="Prestige12 BT" panose="02070509030506020304" pitchFamily="49" charset="0"/>
              </a:rPr>
            </a:br>
            <a:r>
              <a:rPr lang="en-US" sz="2000" dirty="0">
                <a:latin typeface="Prestige12 BT" panose="02070509030506020304" pitchFamily="49" charset="0"/>
              </a:rPr>
              <a:t>END WHILE;</a:t>
            </a:r>
            <a:br>
              <a:rPr lang="en-US" sz="2000" dirty="0">
                <a:latin typeface="Prestige12 BT" panose="02070509030506020304" pitchFamily="49" charset="0"/>
              </a:rPr>
            </a:br>
            <a:r>
              <a:rPr lang="en-US" sz="2000" dirty="0">
                <a:latin typeface="Prestige12 BT" panose="02070509030506020304" pitchFamily="49" charset="0"/>
              </a:rPr>
              <a:t>CLOSE </a:t>
            </a:r>
            <a:r>
              <a:rPr lang="en-US" sz="2000" dirty="0" err="1">
                <a:latin typeface="Prestige12 BT" panose="02070509030506020304" pitchFamily="49" charset="0"/>
              </a:rPr>
              <a:t>userCursor</a:t>
            </a:r>
            <a:r>
              <a:rPr lang="en-US" sz="2000" dirty="0">
                <a:latin typeface="Prestige12 BT" panose="02070509030506020304" pitchFamily="49" charset="0"/>
              </a:rPr>
              <a:t>;</a:t>
            </a:r>
          </a:p>
        </p:txBody>
      </p:sp>
      <p:sp>
        <p:nvSpPr>
          <p:cNvPr id="8" name="Right Bracket 7">
            <a:extLst>
              <a:ext uri="{FF2B5EF4-FFF2-40B4-BE49-F238E27FC236}">
                <a16:creationId xmlns:a16="http://schemas.microsoft.com/office/drawing/2014/main" id="{F3CB9130-A032-4C63-B346-D5FEA93A0D33}"/>
              </a:ext>
            </a:extLst>
          </p:cNvPr>
          <p:cNvSpPr/>
          <p:nvPr/>
        </p:nvSpPr>
        <p:spPr>
          <a:xfrm>
            <a:off x="6441440" y="1513840"/>
            <a:ext cx="243840" cy="4673600"/>
          </a:xfrm>
          <a:prstGeom prst="rightBracket">
            <a:avLst/>
          </a:prstGeom>
          <a:ln w="38100"/>
        </p:spPr>
        <p:style>
          <a:lnRef idx="1">
            <a:schemeClr val="accent2"/>
          </a:lnRef>
          <a:fillRef idx="0">
            <a:schemeClr val="accent2"/>
          </a:fillRef>
          <a:effectRef idx="0">
            <a:schemeClr val="accent2"/>
          </a:effectRef>
          <a:fontRef idx="minor">
            <a:schemeClr val="tx1"/>
          </a:fontRef>
        </p:style>
        <p:txBody>
          <a:bodyPr rtlCol="0" anchor="ctr"/>
          <a:lstStyle/>
          <a:p>
            <a:pPr algn="ctr"/>
            <a:endParaRPr lang="en-CA"/>
          </a:p>
        </p:txBody>
      </p:sp>
      <p:sp>
        <p:nvSpPr>
          <p:cNvPr id="9" name="TextBox 8">
            <a:extLst>
              <a:ext uri="{FF2B5EF4-FFF2-40B4-BE49-F238E27FC236}">
                <a16:creationId xmlns:a16="http://schemas.microsoft.com/office/drawing/2014/main" id="{4155FD00-70A0-4E03-A9D3-F3DE13979259}"/>
              </a:ext>
            </a:extLst>
          </p:cNvPr>
          <p:cNvSpPr txBox="1"/>
          <p:nvPr/>
        </p:nvSpPr>
        <p:spPr>
          <a:xfrm>
            <a:off x="6878320" y="2921272"/>
            <a:ext cx="1652561" cy="830997"/>
          </a:xfrm>
          <a:prstGeom prst="rect">
            <a:avLst/>
          </a:prstGeom>
          <a:noFill/>
        </p:spPr>
        <p:txBody>
          <a:bodyPr wrap="square">
            <a:spAutoFit/>
          </a:bodyPr>
          <a:lstStyle/>
          <a:p>
            <a:r>
              <a:rPr lang="en-CA" sz="2400" dirty="0">
                <a:solidFill>
                  <a:schemeClr val="accent2"/>
                </a:solidFill>
              </a:rPr>
              <a:t>Function body</a:t>
            </a:r>
          </a:p>
        </p:txBody>
      </p:sp>
      <p:sp>
        <p:nvSpPr>
          <p:cNvPr id="10" name="Rectangle 9">
            <a:extLst>
              <a:ext uri="{FF2B5EF4-FFF2-40B4-BE49-F238E27FC236}">
                <a16:creationId xmlns:a16="http://schemas.microsoft.com/office/drawing/2014/main" id="{732941C1-9F7E-4766-AEFC-AFBEDD899375}"/>
              </a:ext>
            </a:extLst>
          </p:cNvPr>
          <p:cNvSpPr/>
          <p:nvPr/>
        </p:nvSpPr>
        <p:spPr>
          <a:xfrm>
            <a:off x="766802" y="3026080"/>
            <a:ext cx="4755436" cy="1291920"/>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4454670E-E585-42F0-AB14-AF890AA4523B}"/>
              </a:ext>
            </a:extLst>
          </p:cNvPr>
          <p:cNvSpPr/>
          <p:nvPr/>
        </p:nvSpPr>
        <p:spPr>
          <a:xfrm>
            <a:off x="847943" y="5178964"/>
            <a:ext cx="4755436" cy="571596"/>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ectangle 11">
            <a:extLst>
              <a:ext uri="{FF2B5EF4-FFF2-40B4-BE49-F238E27FC236}">
                <a16:creationId xmlns:a16="http://schemas.microsoft.com/office/drawing/2014/main" id="{189EBB68-4DDE-4D88-8CBC-52373A29B93C}"/>
              </a:ext>
            </a:extLst>
          </p:cNvPr>
          <p:cNvSpPr/>
          <p:nvPr/>
        </p:nvSpPr>
        <p:spPr>
          <a:xfrm>
            <a:off x="721360" y="1513840"/>
            <a:ext cx="4755436" cy="924560"/>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custDataLst>
      <p:tags r:id="rId1"/>
    </p:custDataLst>
    <p:extLst>
      <p:ext uri="{BB962C8B-B14F-4D97-AF65-F5344CB8AC3E}">
        <p14:creationId xmlns:p14="http://schemas.microsoft.com/office/powerpoint/2010/main" val="375970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Other SQL/PSM features </a:t>
            </a:r>
          </a:p>
        </p:txBody>
      </p:sp>
      <p:sp>
        <p:nvSpPr>
          <p:cNvPr id="3" name="Content Placeholder 2"/>
          <p:cNvSpPr>
            <a:spLocks noGrp="1"/>
          </p:cNvSpPr>
          <p:nvPr>
            <p:ph idx="1"/>
          </p:nvPr>
        </p:nvSpPr>
        <p:spPr/>
        <p:txBody>
          <a:bodyPr/>
          <a:lstStyle/>
          <a:p>
            <a:pPr>
              <a:lnSpc>
                <a:spcPct val="80000"/>
              </a:lnSpc>
            </a:pPr>
            <a:r>
              <a:rPr lang="en-US" dirty="0"/>
              <a:t>Assignment using scalar query results</a:t>
            </a:r>
          </a:p>
          <a:p>
            <a:pPr lvl="1">
              <a:lnSpc>
                <a:spcPct val="80000"/>
              </a:lnSpc>
            </a:pPr>
            <a:r>
              <a:rPr lang="en-US" dirty="0">
                <a:latin typeface="Prestige12 BT" panose="02070509030506020304" pitchFamily="49" charset="0"/>
              </a:rPr>
              <a:t>SELECT INTO</a:t>
            </a:r>
          </a:p>
          <a:p>
            <a:pPr>
              <a:lnSpc>
                <a:spcPct val="80000"/>
              </a:lnSpc>
            </a:pPr>
            <a:r>
              <a:rPr lang="en-US" dirty="0"/>
              <a:t>Other loop constructs</a:t>
            </a:r>
          </a:p>
          <a:p>
            <a:pPr lvl="1">
              <a:lnSpc>
                <a:spcPct val="80000"/>
              </a:lnSpc>
            </a:pPr>
            <a:r>
              <a:rPr lang="en-US" dirty="0">
                <a:latin typeface="Prestige12 BT" panose="02070509030506020304" pitchFamily="49" charset="0"/>
              </a:rPr>
              <a:t>FOR</a:t>
            </a:r>
            <a:r>
              <a:rPr lang="en-US" dirty="0"/>
              <a:t>, </a:t>
            </a:r>
            <a:r>
              <a:rPr lang="en-US" dirty="0">
                <a:latin typeface="Prestige12 BT" panose="02070509030506020304" pitchFamily="49" charset="0"/>
              </a:rPr>
              <a:t>REPEAT UNTIL</a:t>
            </a:r>
            <a:r>
              <a:rPr lang="en-US" dirty="0"/>
              <a:t>, </a:t>
            </a:r>
            <a:r>
              <a:rPr lang="en-US" dirty="0">
                <a:latin typeface="Prestige12 BT" panose="02070509030506020304" pitchFamily="49" charset="0"/>
              </a:rPr>
              <a:t>LOOP</a:t>
            </a:r>
          </a:p>
          <a:p>
            <a:pPr>
              <a:lnSpc>
                <a:spcPct val="80000"/>
              </a:lnSpc>
            </a:pPr>
            <a:r>
              <a:rPr lang="en-US" dirty="0"/>
              <a:t>Flow control</a:t>
            </a:r>
          </a:p>
          <a:p>
            <a:pPr lvl="1">
              <a:lnSpc>
                <a:spcPct val="80000"/>
              </a:lnSpc>
            </a:pPr>
            <a:r>
              <a:rPr lang="en-US" dirty="0">
                <a:latin typeface="Prestige12 BT" panose="02070509030506020304" pitchFamily="49" charset="0"/>
              </a:rPr>
              <a:t>GOTO</a:t>
            </a:r>
          </a:p>
          <a:p>
            <a:pPr>
              <a:lnSpc>
                <a:spcPct val="80000"/>
              </a:lnSpc>
            </a:pPr>
            <a:r>
              <a:rPr lang="en-US" dirty="0"/>
              <a:t>Exceptions</a:t>
            </a:r>
          </a:p>
          <a:p>
            <a:pPr lvl="1">
              <a:lnSpc>
                <a:spcPct val="80000"/>
              </a:lnSpc>
            </a:pPr>
            <a:r>
              <a:rPr lang="en-US" dirty="0">
                <a:latin typeface="Prestige12 BT" panose="02070509030506020304" pitchFamily="49" charset="0"/>
              </a:rPr>
              <a:t>SIGNAL</a:t>
            </a:r>
            <a:r>
              <a:rPr lang="en-US" dirty="0"/>
              <a:t>, </a:t>
            </a:r>
            <a:r>
              <a:rPr lang="en-US" dirty="0">
                <a:latin typeface="Prestige12 BT" panose="02070509030506020304" pitchFamily="49" charset="0"/>
              </a:rPr>
              <a:t>RESIGNAL</a:t>
            </a:r>
          </a:p>
          <a:p>
            <a:pPr>
              <a:lnSpc>
                <a:spcPct val="80000"/>
              </a:lnSpc>
              <a:buFont typeface="Wingdings" pitchFamily="2" charset="2"/>
              <a:buNone/>
            </a:pPr>
            <a:r>
              <a:rPr lang="en-US" dirty="0"/>
              <a:t>…</a:t>
            </a:r>
          </a:p>
          <a:p>
            <a:pPr>
              <a:lnSpc>
                <a:spcPct val="80000"/>
              </a:lnSpc>
            </a:pPr>
            <a:r>
              <a:rPr lang="en-US" dirty="0"/>
              <a:t>For more PostgreSQL-specific information, look for “PL/</a:t>
            </a:r>
            <a:r>
              <a:rPr lang="en-US" dirty="0" err="1"/>
              <a:t>pgSQL</a:t>
            </a:r>
            <a:r>
              <a:rPr lang="en-US" dirty="0"/>
              <a:t>” in PostgreSQL documentation</a:t>
            </a:r>
          </a:p>
          <a:p>
            <a:pPr lvl="1">
              <a:lnSpc>
                <a:spcPct val="80000"/>
              </a:lnSpc>
            </a:pPr>
            <a:r>
              <a:rPr lang="en-CA" dirty="0">
                <a:hlinkClick r:id="rId3"/>
              </a:rPr>
              <a:t>https://www.postgresql.org/docs/9.6/plpgsql.html</a:t>
            </a:r>
            <a:endParaRPr lang="en-US" dirty="0"/>
          </a:p>
          <a:p>
            <a:pPr marL="457200" lvl="1" indent="0">
              <a:lnSpc>
                <a:spcPct val="80000"/>
              </a:lnSpc>
              <a:buNone/>
            </a:pPr>
            <a:endParaRPr lang="en-US" dirty="0"/>
          </a:p>
          <a:p>
            <a:pPr marL="0" indent="0">
              <a:buNone/>
            </a:pPr>
            <a:endParaRPr lang="en-US" dirty="0"/>
          </a:p>
        </p:txBody>
      </p:sp>
      <p:sp>
        <p:nvSpPr>
          <p:cNvPr id="4" name="Slide Number Placeholder 3"/>
          <p:cNvSpPr>
            <a:spLocks noGrp="1"/>
          </p:cNvSpPr>
          <p:nvPr>
            <p:ph type="sldNum" sz="quarter" idx="12"/>
          </p:nvPr>
        </p:nvSpPr>
        <p:spPr/>
        <p:txBody>
          <a:bodyPr/>
          <a:lstStyle/>
          <a:p>
            <a:fld id="{44C99FA5-7995-46A9-A97E-16E38AD58950}" type="slidenum">
              <a:rPr lang="en-US" smtClean="0"/>
              <a:t>28</a:t>
            </a:fld>
            <a:endParaRPr lang="en-US"/>
          </a:p>
        </p:txBody>
      </p:sp>
    </p:spTree>
    <p:extLst>
      <p:ext uri="{BB962C8B-B14F-4D97-AF65-F5344CB8AC3E}">
        <p14:creationId xmlns:p14="http://schemas.microsoft.com/office/powerpoint/2010/main" val="17780663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Working with SQL through an API</a:t>
            </a:r>
          </a:p>
        </p:txBody>
      </p:sp>
      <p:sp>
        <p:nvSpPr>
          <p:cNvPr id="3" name="Content Placeholder 2"/>
          <p:cNvSpPr>
            <a:spLocks noGrp="1"/>
          </p:cNvSpPr>
          <p:nvPr>
            <p:ph idx="1"/>
          </p:nvPr>
        </p:nvSpPr>
        <p:spPr/>
        <p:txBody>
          <a:bodyPr>
            <a:normAutofit/>
          </a:bodyPr>
          <a:lstStyle/>
          <a:p>
            <a:r>
              <a:rPr lang="en-US" dirty="0"/>
              <a:t>E.g.: Python </a:t>
            </a:r>
            <a:r>
              <a:rPr lang="en-US" dirty="0">
                <a:latin typeface="Prestige12 BT" panose="02070509030506020304" pitchFamily="49" charset="0"/>
              </a:rPr>
              <a:t>psycopg2</a:t>
            </a:r>
            <a:r>
              <a:rPr lang="en-US" dirty="0"/>
              <a:t>, JDBC, ODBC (C/C</a:t>
            </a:r>
            <a:r>
              <a:rPr lang="en-US" baseline="30000" dirty="0"/>
              <a:t>++</a:t>
            </a:r>
            <a:r>
              <a:rPr lang="en-US" dirty="0"/>
              <a:t>/VB)</a:t>
            </a:r>
          </a:p>
          <a:p>
            <a:pPr lvl="1"/>
            <a:r>
              <a:rPr lang="en-US" dirty="0"/>
              <a:t>All based on the SQL/CLI (Call-Level Interface) standard</a:t>
            </a:r>
          </a:p>
          <a:p>
            <a:endParaRPr lang="en-US" dirty="0"/>
          </a:p>
          <a:p>
            <a:r>
              <a:rPr lang="en-US" dirty="0"/>
              <a:t>The application program sends SQL commands to the DBMS at runtime</a:t>
            </a:r>
          </a:p>
          <a:p>
            <a:endParaRPr lang="en-US" dirty="0"/>
          </a:p>
          <a:p>
            <a:r>
              <a:rPr lang="en-US" dirty="0"/>
              <a:t>Responses/results are converted to objects in the application program</a:t>
            </a:r>
          </a:p>
        </p:txBody>
      </p:sp>
      <p:sp>
        <p:nvSpPr>
          <p:cNvPr id="4" name="Slide Number Placeholder 3"/>
          <p:cNvSpPr>
            <a:spLocks noGrp="1"/>
          </p:cNvSpPr>
          <p:nvPr>
            <p:ph type="sldNum" sz="quarter" idx="12"/>
          </p:nvPr>
        </p:nvSpPr>
        <p:spPr/>
        <p:txBody>
          <a:bodyPr/>
          <a:lstStyle/>
          <a:p>
            <a:fld id="{44C99FA5-7995-46A9-A97E-16E38AD58950}" type="slidenum">
              <a:rPr lang="en-US" smtClean="0"/>
              <a:t>29</a:t>
            </a:fld>
            <a:endParaRPr lang="en-US"/>
          </a:p>
        </p:txBody>
      </p:sp>
    </p:spTree>
    <p:extLst>
      <p:ext uri="{BB962C8B-B14F-4D97-AF65-F5344CB8AC3E}">
        <p14:creationId xmlns:p14="http://schemas.microsoft.com/office/powerpoint/2010/main" val="31978884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B5DB95FB-E180-41D5-9E9F-825A23B391F8}"/>
              </a:ext>
            </a:extLst>
          </p:cNvPr>
          <p:cNvSpPr/>
          <p:nvPr/>
        </p:nvSpPr>
        <p:spPr>
          <a:xfrm>
            <a:off x="342336" y="1463616"/>
            <a:ext cx="7569756" cy="466286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marL="0" indent="0">
              <a:buNone/>
            </a:pPr>
            <a:r>
              <a:rPr lang="en-US" sz="2000" dirty="0">
                <a:latin typeface="Prestige12 BT" panose="02070509030506020304" pitchFamily="49" charset="0"/>
              </a:rPr>
              <a:t>import psycopg2</a:t>
            </a:r>
          </a:p>
          <a:p>
            <a:pPr marL="0" indent="0">
              <a:buNone/>
            </a:pPr>
            <a:r>
              <a:rPr lang="en-US" sz="2000" dirty="0">
                <a:latin typeface="Prestige12 BT" panose="02070509030506020304" pitchFamily="49" charset="0"/>
              </a:rPr>
              <a:t>conn = psycopg2.connect(</a:t>
            </a:r>
            <a:r>
              <a:rPr lang="en-US" sz="2000" dirty="0" err="1">
                <a:latin typeface="Prestige12 BT" panose="02070509030506020304" pitchFamily="49" charset="0"/>
              </a:rPr>
              <a:t>dbname</a:t>
            </a:r>
            <a:r>
              <a:rPr lang="en-US" sz="2000" dirty="0">
                <a:latin typeface="Prestige12 BT" panose="02070509030506020304" pitchFamily="49" charset="0"/>
              </a:rPr>
              <a:t>='beers')</a:t>
            </a:r>
          </a:p>
          <a:p>
            <a:pPr marL="0" indent="0">
              <a:buNone/>
            </a:pPr>
            <a:r>
              <a:rPr lang="en-US" sz="2000" dirty="0">
                <a:latin typeface="Prestige12 BT" panose="02070509030506020304" pitchFamily="49" charset="0"/>
              </a:rPr>
              <a:t>cur = </a:t>
            </a:r>
            <a:r>
              <a:rPr lang="en-US" sz="2000" dirty="0" err="1">
                <a:latin typeface="Prestige12 BT" panose="02070509030506020304" pitchFamily="49" charset="0"/>
              </a:rPr>
              <a:t>conn.cursor</a:t>
            </a:r>
            <a:r>
              <a:rPr lang="en-US" sz="2000" dirty="0">
                <a:latin typeface="Prestige12 BT" panose="02070509030506020304" pitchFamily="49" charset="0"/>
              </a:rPr>
              <a:t>()</a:t>
            </a:r>
          </a:p>
          <a:p>
            <a:pPr marL="0" indent="0">
              <a:buNone/>
            </a:pPr>
            <a:r>
              <a:rPr lang="en-US" sz="2000" dirty="0">
                <a:solidFill>
                  <a:schemeClr val="accent6"/>
                </a:solidFill>
                <a:latin typeface="Prestige12 BT" panose="02070509030506020304" pitchFamily="49" charset="0"/>
              </a:rPr>
              <a:t>#</a:t>
            </a:r>
            <a:r>
              <a:rPr lang="en-US" sz="2000" dirty="0">
                <a:solidFill>
                  <a:schemeClr val="accent6"/>
                </a:solidFill>
              </a:rPr>
              <a:t> list all drinkers:</a:t>
            </a:r>
          </a:p>
          <a:p>
            <a:pPr marL="0" indent="0">
              <a:buNone/>
            </a:pPr>
            <a:r>
              <a:rPr lang="en-US" sz="2000" dirty="0" err="1">
                <a:latin typeface="Prestige12 BT" panose="02070509030506020304" pitchFamily="49" charset="0"/>
              </a:rPr>
              <a:t>cur.execute</a:t>
            </a:r>
            <a:r>
              <a:rPr lang="en-US" sz="2000" dirty="0">
                <a:latin typeface="Prestige12 BT" panose="02070509030506020304" pitchFamily="49" charset="0"/>
              </a:rPr>
              <a:t>('SELECT * FROM Drinker')</a:t>
            </a:r>
          </a:p>
          <a:p>
            <a:pPr marL="0" indent="0">
              <a:buNone/>
            </a:pPr>
            <a:r>
              <a:rPr lang="en-US" sz="2000" dirty="0">
                <a:latin typeface="Prestige12 BT" panose="02070509030506020304" pitchFamily="49" charset="0"/>
              </a:rPr>
              <a:t>for drinker, address in cur:</a:t>
            </a:r>
          </a:p>
          <a:p>
            <a:pPr marL="0" indent="0">
              <a:buNone/>
            </a:pPr>
            <a:r>
              <a:rPr lang="en-US" sz="2000" dirty="0">
                <a:latin typeface="Prestige12 BT" panose="02070509030506020304" pitchFamily="49" charset="0"/>
              </a:rPr>
              <a:t>    print(drinker + ' lives at ' + address)</a:t>
            </a:r>
          </a:p>
          <a:p>
            <a:pPr marL="0" indent="0">
              <a:buNone/>
            </a:pPr>
            <a:r>
              <a:rPr lang="en-US" sz="2000" dirty="0">
                <a:solidFill>
                  <a:schemeClr val="accent6"/>
                </a:solidFill>
                <a:latin typeface="Prestige12 BT" panose="02070509030506020304" pitchFamily="49" charset="0"/>
              </a:rPr>
              <a:t>#</a:t>
            </a:r>
            <a:r>
              <a:rPr lang="en-US" sz="2000" dirty="0">
                <a:solidFill>
                  <a:schemeClr val="accent6"/>
                </a:solidFill>
              </a:rPr>
              <a:t> print menu for bars whose name contains “a”:</a:t>
            </a:r>
          </a:p>
          <a:p>
            <a:pPr marL="0" indent="0">
              <a:buNone/>
            </a:pPr>
            <a:r>
              <a:rPr lang="en-US" sz="2000" dirty="0" err="1">
                <a:latin typeface="Prestige12 BT" panose="02070509030506020304" pitchFamily="49" charset="0"/>
              </a:rPr>
              <a:t>cur.execute</a:t>
            </a:r>
            <a:r>
              <a:rPr lang="en-US" sz="2000" dirty="0">
                <a:latin typeface="Prestige12 BT" panose="02070509030506020304" pitchFamily="49" charset="0"/>
              </a:rPr>
              <a:t>('SELECT * FROM Serves WHERE bar LIKE %s', ('%a%',))</a:t>
            </a:r>
          </a:p>
          <a:p>
            <a:pPr marL="0" indent="0">
              <a:buNone/>
            </a:pPr>
            <a:r>
              <a:rPr lang="en-US" sz="2000" dirty="0">
                <a:latin typeface="Prestige12 BT" panose="02070509030506020304" pitchFamily="49" charset="0"/>
              </a:rPr>
              <a:t>for bar, beer, price in cur:</a:t>
            </a:r>
          </a:p>
          <a:p>
            <a:pPr marL="0" indent="0">
              <a:buNone/>
            </a:pPr>
            <a:r>
              <a:rPr lang="en-US" sz="2000" dirty="0">
                <a:latin typeface="Prestige12 BT" panose="02070509030506020304" pitchFamily="49" charset="0"/>
              </a:rPr>
              <a:t>    print('{} serves {} at ${:,.2f}'.format(bar, beer, price))</a:t>
            </a:r>
          </a:p>
          <a:p>
            <a:pPr marL="0" indent="0">
              <a:buNone/>
            </a:pPr>
            <a:r>
              <a:rPr lang="en-US" sz="2000" dirty="0" err="1">
                <a:latin typeface="Prestige12 BT" panose="02070509030506020304" pitchFamily="49" charset="0"/>
              </a:rPr>
              <a:t>cur.close</a:t>
            </a:r>
            <a:r>
              <a:rPr lang="en-US" sz="2000" dirty="0">
                <a:latin typeface="Prestige12 BT" panose="02070509030506020304" pitchFamily="49" charset="0"/>
              </a:rPr>
              <a:t>()</a:t>
            </a:r>
          </a:p>
          <a:p>
            <a:pPr marL="0" indent="0">
              <a:buNone/>
            </a:pPr>
            <a:r>
              <a:rPr lang="en-US" sz="2000" dirty="0" err="1">
                <a:latin typeface="Prestige12 BT" panose="02070509030506020304" pitchFamily="49" charset="0"/>
              </a:rPr>
              <a:t>conn.close</a:t>
            </a:r>
            <a:r>
              <a:rPr lang="en-US" sz="2000" dirty="0">
                <a:latin typeface="Prestige12 BT" panose="02070509030506020304" pitchFamily="49" charset="0"/>
              </a:rPr>
              <a:t>()</a:t>
            </a:r>
          </a:p>
        </p:txBody>
      </p:sp>
      <p:sp>
        <p:nvSpPr>
          <p:cNvPr id="22" name="Rounded Rectangle 21"/>
          <p:cNvSpPr/>
          <p:nvPr/>
        </p:nvSpPr>
        <p:spPr>
          <a:xfrm>
            <a:off x="6174410" y="4267926"/>
            <a:ext cx="1011954" cy="252248"/>
          </a:xfrm>
          <a:prstGeom prst="round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dirty="0"/>
              <a:t>Example API: Python </a:t>
            </a:r>
            <a:r>
              <a:rPr lang="en-US" dirty="0">
                <a:latin typeface="Prestige12 BT" panose="02070509030506020304" pitchFamily="49" charset="0"/>
              </a:rPr>
              <a:t>psycopg2</a:t>
            </a:r>
          </a:p>
        </p:txBody>
      </p:sp>
      <p:sp>
        <p:nvSpPr>
          <p:cNvPr id="4" name="Slide Number Placeholder 3"/>
          <p:cNvSpPr>
            <a:spLocks noGrp="1"/>
          </p:cNvSpPr>
          <p:nvPr>
            <p:ph type="sldNum" sz="quarter" idx="12"/>
          </p:nvPr>
        </p:nvSpPr>
        <p:spPr/>
        <p:txBody>
          <a:bodyPr/>
          <a:lstStyle/>
          <a:p>
            <a:fld id="{44C99FA5-7995-46A9-A97E-16E38AD58950}" type="slidenum">
              <a:rPr lang="en-US" smtClean="0"/>
              <a:t>30</a:t>
            </a:fld>
            <a:endParaRPr lang="en-US"/>
          </a:p>
        </p:txBody>
      </p:sp>
      <p:sp>
        <p:nvSpPr>
          <p:cNvPr id="8" name="TextBox 7"/>
          <p:cNvSpPr txBox="1"/>
          <p:nvPr/>
        </p:nvSpPr>
        <p:spPr>
          <a:xfrm>
            <a:off x="3965613" y="5110817"/>
            <a:ext cx="4015742" cy="646331"/>
          </a:xfrm>
          <a:prstGeom prst="rect">
            <a:avLst/>
          </a:prstGeom>
          <a:noFill/>
        </p:spPr>
        <p:txBody>
          <a:bodyPr wrap="square" rtlCol="0">
            <a:spAutoFit/>
          </a:bodyPr>
          <a:lstStyle/>
          <a:p>
            <a:pPr algn="ctr"/>
            <a:r>
              <a:rPr lang="en-US" dirty="0">
                <a:solidFill>
                  <a:schemeClr val="accent2"/>
                </a:solidFill>
              </a:rPr>
              <a:t>Tuple of parameter values, </a:t>
            </a:r>
            <a:br>
              <a:rPr lang="en-US" dirty="0">
                <a:solidFill>
                  <a:schemeClr val="accent2"/>
                </a:solidFill>
              </a:rPr>
            </a:br>
            <a:r>
              <a:rPr lang="en-US" dirty="0">
                <a:solidFill>
                  <a:schemeClr val="accent2"/>
                </a:solidFill>
              </a:rPr>
              <a:t>one for each </a:t>
            </a:r>
            <a:r>
              <a:rPr lang="en-US" dirty="0">
                <a:solidFill>
                  <a:schemeClr val="accent2"/>
                </a:solidFill>
                <a:latin typeface="Prestige12 BT" panose="02070509030506020304" pitchFamily="49" charset="0"/>
              </a:rPr>
              <a:t>%s</a:t>
            </a:r>
            <a:r>
              <a:rPr lang="en-US" dirty="0">
                <a:solidFill>
                  <a:schemeClr val="accent2"/>
                </a:solidFill>
              </a:rPr>
              <a:t> </a:t>
            </a:r>
            <a:endParaRPr lang="en-US" sz="1200" dirty="0">
              <a:solidFill>
                <a:schemeClr val="accent2"/>
              </a:solidFill>
            </a:endParaRPr>
          </a:p>
        </p:txBody>
      </p:sp>
      <p:grpSp>
        <p:nvGrpSpPr>
          <p:cNvPr id="17" name="Group 16">
            <a:extLst>
              <a:ext uri="{FF2B5EF4-FFF2-40B4-BE49-F238E27FC236}">
                <a16:creationId xmlns:a16="http://schemas.microsoft.com/office/drawing/2014/main" id="{2BB28C33-C450-48E8-9934-C16C457E7CE2}"/>
              </a:ext>
            </a:extLst>
          </p:cNvPr>
          <p:cNvGrpSpPr/>
          <p:nvPr/>
        </p:nvGrpSpPr>
        <p:grpSpPr>
          <a:xfrm>
            <a:off x="342336" y="2337612"/>
            <a:ext cx="7117244" cy="1270315"/>
            <a:chOff x="342336" y="2337612"/>
            <a:chExt cx="7117244" cy="1270315"/>
          </a:xfrm>
        </p:grpSpPr>
        <p:sp>
          <p:nvSpPr>
            <p:cNvPr id="9" name="Rounded Rectangle 8"/>
            <p:cNvSpPr/>
            <p:nvPr/>
          </p:nvSpPr>
          <p:spPr>
            <a:xfrm>
              <a:off x="342336" y="3355679"/>
              <a:ext cx="3495441" cy="252248"/>
            </a:xfrm>
            <a:prstGeom prst="round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p:cNvSpPr txBox="1"/>
            <p:nvPr/>
          </p:nvSpPr>
          <p:spPr>
            <a:xfrm>
              <a:off x="4804943" y="2337612"/>
              <a:ext cx="2654637" cy="646331"/>
            </a:xfrm>
            <a:prstGeom prst="rect">
              <a:avLst/>
            </a:prstGeom>
            <a:noFill/>
          </p:spPr>
          <p:txBody>
            <a:bodyPr wrap="none" rtlCol="0">
              <a:spAutoFit/>
            </a:bodyPr>
            <a:lstStyle/>
            <a:p>
              <a:r>
                <a:rPr lang="en-US" dirty="0">
                  <a:solidFill>
                    <a:schemeClr val="accent2"/>
                  </a:solidFill>
                </a:rPr>
                <a:t>You can iterate over </a:t>
              </a:r>
              <a:r>
                <a:rPr lang="en-US" dirty="0">
                  <a:solidFill>
                    <a:schemeClr val="accent2"/>
                  </a:solidFill>
                  <a:latin typeface="Prestige12 BT" panose="02070509030506020304" pitchFamily="49" charset="0"/>
                </a:rPr>
                <a:t>cur</a:t>
              </a:r>
              <a:r>
                <a:rPr lang="en-US" dirty="0">
                  <a:solidFill>
                    <a:schemeClr val="accent2"/>
                  </a:solidFill>
                </a:rPr>
                <a:t> </a:t>
              </a:r>
              <a:br>
                <a:rPr lang="en-US" dirty="0">
                  <a:solidFill>
                    <a:schemeClr val="accent2"/>
                  </a:solidFill>
                </a:rPr>
              </a:br>
              <a:r>
                <a:rPr lang="en-US" dirty="0">
                  <a:solidFill>
                    <a:schemeClr val="accent2"/>
                  </a:solidFill>
                </a:rPr>
                <a:t>one tuple at a time</a:t>
              </a:r>
            </a:p>
          </p:txBody>
        </p:sp>
        <p:cxnSp>
          <p:nvCxnSpPr>
            <p:cNvPr id="11" name="Straight Connector 10"/>
            <p:cNvCxnSpPr>
              <a:cxnSpLocks/>
            </p:cNvCxnSpPr>
            <p:nvPr/>
          </p:nvCxnSpPr>
          <p:spPr>
            <a:xfrm flipV="1">
              <a:off x="3768599" y="2717811"/>
              <a:ext cx="1167663" cy="532263"/>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7347E804-9227-4552-8492-956A2689F32B}"/>
              </a:ext>
            </a:extLst>
          </p:cNvPr>
          <p:cNvGrpSpPr/>
          <p:nvPr/>
        </p:nvGrpSpPr>
        <p:grpSpPr>
          <a:xfrm>
            <a:off x="5803981" y="3193041"/>
            <a:ext cx="1851241" cy="1343902"/>
            <a:chOff x="5803981" y="3193041"/>
            <a:chExt cx="1851241" cy="1343902"/>
          </a:xfrm>
        </p:grpSpPr>
        <p:sp>
          <p:nvSpPr>
            <p:cNvPr id="15" name="Rounded Rectangle 14"/>
            <p:cNvSpPr/>
            <p:nvPr/>
          </p:nvSpPr>
          <p:spPr>
            <a:xfrm>
              <a:off x="5876380" y="4284695"/>
              <a:ext cx="298030" cy="252248"/>
            </a:xfrm>
            <a:prstGeom prst="round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p:cNvSpPr txBox="1"/>
            <p:nvPr/>
          </p:nvSpPr>
          <p:spPr>
            <a:xfrm>
              <a:off x="5803981" y="3193041"/>
              <a:ext cx="1851241" cy="646331"/>
            </a:xfrm>
            <a:prstGeom prst="rect">
              <a:avLst/>
            </a:prstGeom>
            <a:noFill/>
          </p:spPr>
          <p:txBody>
            <a:bodyPr wrap="square" rtlCol="0">
              <a:spAutoFit/>
            </a:bodyPr>
            <a:lstStyle/>
            <a:p>
              <a:pPr algn="ctr"/>
              <a:r>
                <a:rPr lang="en-US" dirty="0">
                  <a:solidFill>
                    <a:schemeClr val="accent2"/>
                  </a:solidFill>
                </a:rPr>
                <a:t>Placeholder for </a:t>
              </a:r>
              <a:br>
                <a:rPr lang="en-US" dirty="0">
                  <a:solidFill>
                    <a:schemeClr val="accent2"/>
                  </a:solidFill>
                </a:rPr>
              </a:br>
              <a:r>
                <a:rPr lang="en-US" dirty="0">
                  <a:solidFill>
                    <a:schemeClr val="accent2"/>
                  </a:solidFill>
                </a:rPr>
                <a:t>query parameter</a:t>
              </a:r>
            </a:p>
          </p:txBody>
        </p:sp>
        <p:cxnSp>
          <p:nvCxnSpPr>
            <p:cNvPr id="16" name="Straight Connector 15"/>
            <p:cNvCxnSpPr>
              <a:cxnSpLocks/>
            </p:cNvCxnSpPr>
            <p:nvPr/>
          </p:nvCxnSpPr>
          <p:spPr>
            <a:xfrm flipV="1">
              <a:off x="6056945" y="3839372"/>
              <a:ext cx="665590" cy="428554"/>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cxnSp>
        <p:nvCxnSpPr>
          <p:cNvPr id="28" name="Straight Connector 27"/>
          <p:cNvCxnSpPr>
            <a:cxnSpLocks/>
          </p:cNvCxnSpPr>
          <p:nvPr/>
        </p:nvCxnSpPr>
        <p:spPr>
          <a:xfrm flipH="1">
            <a:off x="6431280" y="4485703"/>
            <a:ext cx="277444" cy="608345"/>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1092528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8"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E4D0E-D3CA-437D-80BF-0DC4C7D81900}"/>
              </a:ext>
            </a:extLst>
          </p:cNvPr>
          <p:cNvSpPr>
            <a:spLocks noGrp="1"/>
          </p:cNvSpPr>
          <p:nvPr>
            <p:ph type="title"/>
          </p:nvPr>
        </p:nvSpPr>
        <p:spPr/>
        <p:txBody>
          <a:bodyPr/>
          <a:lstStyle/>
          <a:p>
            <a:r>
              <a:rPr lang="en-US" dirty="0"/>
              <a:t>More </a:t>
            </a:r>
            <a:r>
              <a:rPr lang="en-US" dirty="0">
                <a:latin typeface="Prestige12 BT" panose="02070509030506020304" pitchFamily="49" charset="0"/>
              </a:rPr>
              <a:t>psycopg2</a:t>
            </a:r>
            <a:r>
              <a:rPr lang="en-US" dirty="0"/>
              <a:t> examples</a:t>
            </a:r>
            <a:endParaRPr lang="en-CA" dirty="0"/>
          </a:p>
        </p:txBody>
      </p:sp>
      <p:sp>
        <p:nvSpPr>
          <p:cNvPr id="3" name="Content Placeholder 2">
            <a:extLst>
              <a:ext uri="{FF2B5EF4-FFF2-40B4-BE49-F238E27FC236}">
                <a16:creationId xmlns:a16="http://schemas.microsoft.com/office/drawing/2014/main" id="{1922D668-C1D9-4073-92CF-6B9366D0D61D}"/>
              </a:ext>
            </a:extLst>
          </p:cNvPr>
          <p:cNvSpPr>
            <a:spLocks noGrp="1"/>
          </p:cNvSpPr>
          <p:nvPr>
            <p:ph idx="1"/>
          </p:nvPr>
        </p:nvSpPr>
        <p:spPr/>
        <p:txBody>
          <a:bodyPr/>
          <a:lstStyle/>
          <a:p>
            <a:endParaRPr lang="en-CA"/>
          </a:p>
        </p:txBody>
      </p:sp>
      <p:sp>
        <p:nvSpPr>
          <p:cNvPr id="4" name="Slide Number Placeholder 3">
            <a:extLst>
              <a:ext uri="{FF2B5EF4-FFF2-40B4-BE49-F238E27FC236}">
                <a16:creationId xmlns:a16="http://schemas.microsoft.com/office/drawing/2014/main" id="{837B01C6-E606-4E98-9347-4E057D6C43CB}"/>
              </a:ext>
            </a:extLst>
          </p:cNvPr>
          <p:cNvSpPr>
            <a:spLocks noGrp="1"/>
          </p:cNvSpPr>
          <p:nvPr>
            <p:ph type="sldNum" sz="quarter" idx="12"/>
          </p:nvPr>
        </p:nvSpPr>
        <p:spPr/>
        <p:txBody>
          <a:bodyPr/>
          <a:lstStyle/>
          <a:p>
            <a:fld id="{44C99FA5-7995-46A9-A97E-16E38AD58950}" type="slidenum">
              <a:rPr lang="en-US" smtClean="0"/>
              <a:t>31</a:t>
            </a:fld>
            <a:endParaRPr lang="en-US"/>
          </a:p>
        </p:txBody>
      </p:sp>
      <p:sp>
        <p:nvSpPr>
          <p:cNvPr id="5" name="Rectangle 4">
            <a:extLst>
              <a:ext uri="{FF2B5EF4-FFF2-40B4-BE49-F238E27FC236}">
                <a16:creationId xmlns:a16="http://schemas.microsoft.com/office/drawing/2014/main" id="{AEF9A2EB-D378-4F7E-961E-13FF4D27F89C}"/>
              </a:ext>
            </a:extLst>
          </p:cNvPr>
          <p:cNvSpPr/>
          <p:nvPr/>
        </p:nvSpPr>
        <p:spPr>
          <a:xfrm>
            <a:off x="342336" y="1456854"/>
            <a:ext cx="8459328" cy="523222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marL="0" indent="0">
              <a:buNone/>
            </a:pPr>
            <a:r>
              <a:rPr lang="en-US" sz="2000" dirty="0">
                <a:solidFill>
                  <a:schemeClr val="accent6"/>
                </a:solidFill>
                <a:latin typeface="Prestige12 BT" panose="02070509030506020304" pitchFamily="49" charset="0"/>
              </a:rPr>
              <a:t>#</a:t>
            </a:r>
            <a:r>
              <a:rPr lang="en-US" sz="2000" dirty="0">
                <a:solidFill>
                  <a:schemeClr val="accent6"/>
                </a:solidFill>
              </a:rPr>
              <a:t> “commit” each change immediately—need to set this option just once at the start of the session</a:t>
            </a:r>
            <a:br>
              <a:rPr lang="en-US" sz="2000" dirty="0">
                <a:solidFill>
                  <a:schemeClr val="accent6"/>
                </a:solidFill>
                <a:latin typeface="Prestige12 BT" panose="02070509030506020304" pitchFamily="49" charset="0"/>
              </a:rPr>
            </a:br>
            <a:r>
              <a:rPr lang="en-US" sz="2000" dirty="0" err="1">
                <a:latin typeface="Prestige12 BT" panose="02070509030506020304" pitchFamily="49" charset="0"/>
              </a:rPr>
              <a:t>conn.set_session</a:t>
            </a:r>
            <a:r>
              <a:rPr lang="en-US" sz="2000" dirty="0">
                <a:latin typeface="Prestige12 BT" panose="02070509030506020304" pitchFamily="49" charset="0"/>
              </a:rPr>
              <a:t>(</a:t>
            </a:r>
            <a:r>
              <a:rPr lang="en-US" sz="2000" dirty="0" err="1">
                <a:latin typeface="Prestige12 BT" panose="02070509030506020304" pitchFamily="49" charset="0"/>
              </a:rPr>
              <a:t>autocommit</a:t>
            </a:r>
            <a:r>
              <a:rPr lang="en-US" sz="2000" dirty="0">
                <a:latin typeface="Prestige12 BT" panose="02070509030506020304" pitchFamily="49" charset="0"/>
              </a:rPr>
              <a:t>=True)</a:t>
            </a:r>
            <a:br>
              <a:rPr lang="en-US" sz="2000" dirty="0">
                <a:latin typeface="Prestige12 BT" panose="02070509030506020304" pitchFamily="49" charset="0"/>
              </a:rPr>
            </a:br>
            <a:r>
              <a:rPr lang="en-US" sz="2000" dirty="0">
                <a:solidFill>
                  <a:schemeClr val="accent6"/>
                </a:solidFill>
                <a:latin typeface="Prestige12 BT" panose="02070509030506020304" pitchFamily="49" charset="0"/>
              </a:rPr>
              <a:t># ...</a:t>
            </a:r>
          </a:p>
          <a:p>
            <a:pPr marL="0" indent="0">
              <a:buNone/>
            </a:pPr>
            <a:r>
              <a:rPr lang="en-US" sz="2000" dirty="0">
                <a:latin typeface="Prestige12 BT" panose="02070509030506020304" pitchFamily="49" charset="0"/>
              </a:rPr>
              <a:t>bar = input('Enter the bar to update: ').strip()</a:t>
            </a:r>
          </a:p>
          <a:p>
            <a:pPr marL="0" indent="0">
              <a:buNone/>
            </a:pPr>
            <a:r>
              <a:rPr lang="en-US" sz="2000" dirty="0">
                <a:latin typeface="Prestige12 BT" panose="02070509030506020304" pitchFamily="49" charset="0"/>
              </a:rPr>
              <a:t>beer = input('Enter the beer to update: ').strip()</a:t>
            </a:r>
          </a:p>
          <a:p>
            <a:pPr marL="0" indent="0">
              <a:buNone/>
            </a:pPr>
            <a:r>
              <a:rPr lang="en-US" sz="2000" dirty="0">
                <a:latin typeface="Prestige12 BT" panose="02070509030506020304" pitchFamily="49" charset="0"/>
              </a:rPr>
              <a:t>price = float(input('Enter the new price: '))</a:t>
            </a:r>
          </a:p>
          <a:p>
            <a:pPr marL="0" indent="0">
              <a:buNone/>
            </a:pPr>
            <a:r>
              <a:rPr lang="en-US" sz="2000" dirty="0">
                <a:latin typeface="Prestige12 BT" panose="02070509030506020304" pitchFamily="49" charset="0"/>
              </a:rPr>
              <a:t>try:</a:t>
            </a:r>
          </a:p>
          <a:p>
            <a:pPr marL="0" indent="0">
              <a:buNone/>
            </a:pPr>
            <a:r>
              <a:rPr lang="en-US" sz="2000" dirty="0">
                <a:latin typeface="Prestige12 BT" panose="02070509030506020304" pitchFamily="49" charset="0"/>
              </a:rPr>
              <a:t>    </a:t>
            </a:r>
            <a:r>
              <a:rPr lang="en-US" sz="2000" dirty="0" err="1">
                <a:latin typeface="Prestige12 BT" panose="02070509030506020304" pitchFamily="49" charset="0"/>
              </a:rPr>
              <a:t>cur.execute</a:t>
            </a:r>
            <a:r>
              <a:rPr lang="en-US" sz="2000" dirty="0">
                <a:latin typeface="Prestige12 BT" panose="02070509030506020304" pitchFamily="49" charset="0"/>
              </a:rPr>
              <a:t>('‘’</a:t>
            </a:r>
            <a:br>
              <a:rPr lang="en-US" sz="2000" dirty="0">
                <a:latin typeface="Prestige12 BT" panose="02070509030506020304" pitchFamily="49" charset="0"/>
              </a:rPr>
            </a:br>
            <a:r>
              <a:rPr lang="en-US" sz="2000" dirty="0">
                <a:latin typeface="Prestige12 BT" panose="02070509030506020304" pitchFamily="49" charset="0"/>
              </a:rPr>
              <a:t>	UPDATE Serves</a:t>
            </a:r>
            <a:br>
              <a:rPr lang="en-US" sz="2000" dirty="0">
                <a:latin typeface="Prestige12 BT" panose="02070509030506020304" pitchFamily="49" charset="0"/>
              </a:rPr>
            </a:br>
            <a:r>
              <a:rPr lang="en-US" sz="2000" dirty="0">
                <a:latin typeface="Prestige12 BT" panose="02070509030506020304" pitchFamily="49" charset="0"/>
              </a:rPr>
              <a:t>	SET price = %s</a:t>
            </a:r>
            <a:br>
              <a:rPr lang="en-US" sz="2000" dirty="0">
                <a:latin typeface="Prestige12 BT" panose="02070509030506020304" pitchFamily="49" charset="0"/>
              </a:rPr>
            </a:br>
            <a:r>
              <a:rPr lang="en-US" sz="2000" dirty="0">
                <a:latin typeface="Prestige12 BT" panose="02070509030506020304" pitchFamily="49" charset="0"/>
              </a:rPr>
              <a:t>	WHERE bar = %s AND beer = %s''', (price, bar, beer))</a:t>
            </a:r>
          </a:p>
          <a:p>
            <a:pPr marL="0" indent="0">
              <a:buNone/>
            </a:pPr>
            <a:r>
              <a:rPr lang="en-US" sz="2000" dirty="0">
                <a:latin typeface="Prestige12 BT" panose="02070509030506020304" pitchFamily="49" charset="0"/>
              </a:rPr>
              <a:t>    if </a:t>
            </a:r>
            <a:r>
              <a:rPr lang="en-US" sz="2000" dirty="0" err="1">
                <a:latin typeface="Prestige12 BT" panose="02070509030506020304" pitchFamily="49" charset="0"/>
              </a:rPr>
              <a:t>cur.rowcount</a:t>
            </a:r>
            <a:r>
              <a:rPr lang="en-US" sz="2000" dirty="0">
                <a:latin typeface="Prestige12 BT" panose="02070509030506020304" pitchFamily="49" charset="0"/>
              </a:rPr>
              <a:t> != 1:</a:t>
            </a:r>
          </a:p>
          <a:p>
            <a:pPr marL="0" indent="0">
              <a:buNone/>
            </a:pPr>
            <a:r>
              <a:rPr lang="en-US" sz="2000" dirty="0">
                <a:latin typeface="Prestige12 BT" panose="02070509030506020304" pitchFamily="49" charset="0"/>
              </a:rPr>
              <a:t>        print('{} row(s) updated: correct bar/beer?'\</a:t>
            </a:r>
            <a:br>
              <a:rPr lang="en-US" sz="2000" dirty="0">
                <a:latin typeface="Prestige12 BT" panose="02070509030506020304" pitchFamily="49" charset="0"/>
              </a:rPr>
            </a:br>
            <a:r>
              <a:rPr lang="en-US" sz="2000" dirty="0">
                <a:latin typeface="Prestige12 BT" panose="02070509030506020304" pitchFamily="49" charset="0"/>
              </a:rPr>
              <a:t>              .format(</a:t>
            </a:r>
            <a:r>
              <a:rPr lang="en-US" sz="2000" dirty="0" err="1">
                <a:latin typeface="Prestige12 BT" panose="02070509030506020304" pitchFamily="49" charset="0"/>
              </a:rPr>
              <a:t>cur.rowcount</a:t>
            </a:r>
            <a:r>
              <a:rPr lang="en-US" sz="2000" dirty="0">
                <a:latin typeface="Prestige12 BT" panose="02070509030506020304" pitchFamily="49" charset="0"/>
              </a:rPr>
              <a:t>))</a:t>
            </a:r>
          </a:p>
          <a:p>
            <a:pPr marL="0" indent="0">
              <a:buNone/>
            </a:pPr>
            <a:r>
              <a:rPr lang="en-US" sz="2000" dirty="0">
                <a:latin typeface="Prestige12 BT" panose="02070509030506020304" pitchFamily="49" charset="0"/>
              </a:rPr>
              <a:t>except Exception as e:</a:t>
            </a:r>
          </a:p>
          <a:p>
            <a:pPr marL="0" indent="0">
              <a:buNone/>
            </a:pPr>
            <a:r>
              <a:rPr lang="en-US" sz="2000" dirty="0">
                <a:latin typeface="Prestige12 BT" panose="02070509030506020304" pitchFamily="49" charset="0"/>
              </a:rPr>
              <a:t>    print(e)</a:t>
            </a:r>
          </a:p>
        </p:txBody>
      </p:sp>
      <p:sp>
        <p:nvSpPr>
          <p:cNvPr id="6" name="Rounded Rectangle 8">
            <a:extLst>
              <a:ext uri="{FF2B5EF4-FFF2-40B4-BE49-F238E27FC236}">
                <a16:creationId xmlns:a16="http://schemas.microsoft.com/office/drawing/2014/main" id="{10D1EA38-3757-4C99-9739-DD744212F0D2}"/>
              </a:ext>
            </a:extLst>
          </p:cNvPr>
          <p:cNvSpPr/>
          <p:nvPr/>
        </p:nvSpPr>
        <p:spPr>
          <a:xfrm>
            <a:off x="586176" y="3942324"/>
            <a:ext cx="6500424" cy="1269756"/>
          </a:xfrm>
          <a:prstGeom prst="round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allout: Bent Line 6">
            <a:extLst>
              <a:ext uri="{FF2B5EF4-FFF2-40B4-BE49-F238E27FC236}">
                <a16:creationId xmlns:a16="http://schemas.microsoft.com/office/drawing/2014/main" id="{9B082B50-A49C-43F7-A387-FDEA153350C9}"/>
              </a:ext>
            </a:extLst>
          </p:cNvPr>
          <p:cNvSpPr/>
          <p:nvPr/>
        </p:nvSpPr>
        <p:spPr>
          <a:xfrm>
            <a:off x="5815657" y="2052320"/>
            <a:ext cx="2699693" cy="1549400"/>
          </a:xfrm>
          <a:prstGeom prst="borderCallout2">
            <a:avLst>
              <a:gd name="adj1" fmla="val 18750"/>
              <a:gd name="adj2" fmla="val -8333"/>
              <a:gd name="adj3" fmla="val 18750"/>
              <a:gd name="adj4" fmla="val -16667"/>
              <a:gd name="adj5" fmla="val 117731"/>
              <a:gd name="adj6" fmla="val -32829"/>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buFont typeface="Wingdings" pitchFamily="2" charset="2"/>
              <a:buNone/>
            </a:pPr>
            <a:r>
              <a:rPr lang="en-US" sz="2000" dirty="0"/>
              <a:t>Perform passing, semantic analysis, optimization, compilation, and finally execution</a:t>
            </a:r>
          </a:p>
        </p:txBody>
      </p:sp>
    </p:spTree>
    <p:custDataLst>
      <p:tags r:id="rId1"/>
    </p:custDataLst>
    <p:extLst>
      <p:ext uri="{BB962C8B-B14F-4D97-AF65-F5344CB8AC3E}">
        <p14:creationId xmlns:p14="http://schemas.microsoft.com/office/powerpoint/2010/main" val="3953937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E4D0E-D3CA-437D-80BF-0DC4C7D81900}"/>
              </a:ext>
            </a:extLst>
          </p:cNvPr>
          <p:cNvSpPr>
            <a:spLocks noGrp="1"/>
          </p:cNvSpPr>
          <p:nvPr>
            <p:ph type="title"/>
          </p:nvPr>
        </p:nvSpPr>
        <p:spPr/>
        <p:txBody>
          <a:bodyPr/>
          <a:lstStyle/>
          <a:p>
            <a:r>
              <a:rPr lang="en-US" dirty="0"/>
              <a:t>More </a:t>
            </a:r>
            <a:r>
              <a:rPr lang="en-US" dirty="0">
                <a:latin typeface="Prestige12 BT" panose="02070509030506020304" pitchFamily="49" charset="0"/>
              </a:rPr>
              <a:t>psycopg2</a:t>
            </a:r>
            <a:r>
              <a:rPr lang="en-US" dirty="0"/>
              <a:t> examples</a:t>
            </a:r>
            <a:endParaRPr lang="en-CA" dirty="0"/>
          </a:p>
        </p:txBody>
      </p:sp>
      <p:sp>
        <p:nvSpPr>
          <p:cNvPr id="3" name="Content Placeholder 2">
            <a:extLst>
              <a:ext uri="{FF2B5EF4-FFF2-40B4-BE49-F238E27FC236}">
                <a16:creationId xmlns:a16="http://schemas.microsoft.com/office/drawing/2014/main" id="{1922D668-C1D9-4073-92CF-6B9366D0D61D}"/>
              </a:ext>
            </a:extLst>
          </p:cNvPr>
          <p:cNvSpPr>
            <a:spLocks noGrp="1"/>
          </p:cNvSpPr>
          <p:nvPr>
            <p:ph idx="1"/>
          </p:nvPr>
        </p:nvSpPr>
        <p:spPr/>
        <p:txBody>
          <a:bodyPr/>
          <a:lstStyle/>
          <a:p>
            <a:endParaRPr lang="en-CA"/>
          </a:p>
        </p:txBody>
      </p:sp>
      <p:sp>
        <p:nvSpPr>
          <p:cNvPr id="4" name="Slide Number Placeholder 3">
            <a:extLst>
              <a:ext uri="{FF2B5EF4-FFF2-40B4-BE49-F238E27FC236}">
                <a16:creationId xmlns:a16="http://schemas.microsoft.com/office/drawing/2014/main" id="{837B01C6-E606-4E98-9347-4E057D6C43CB}"/>
              </a:ext>
            </a:extLst>
          </p:cNvPr>
          <p:cNvSpPr>
            <a:spLocks noGrp="1"/>
          </p:cNvSpPr>
          <p:nvPr>
            <p:ph type="sldNum" sz="quarter" idx="12"/>
          </p:nvPr>
        </p:nvSpPr>
        <p:spPr/>
        <p:txBody>
          <a:bodyPr/>
          <a:lstStyle/>
          <a:p>
            <a:fld id="{44C99FA5-7995-46A9-A97E-16E38AD58950}" type="slidenum">
              <a:rPr lang="en-US" smtClean="0"/>
              <a:t>32</a:t>
            </a:fld>
            <a:endParaRPr lang="en-US"/>
          </a:p>
        </p:txBody>
      </p:sp>
      <p:sp>
        <p:nvSpPr>
          <p:cNvPr id="5" name="Rectangle 4">
            <a:extLst>
              <a:ext uri="{FF2B5EF4-FFF2-40B4-BE49-F238E27FC236}">
                <a16:creationId xmlns:a16="http://schemas.microsoft.com/office/drawing/2014/main" id="{AEF9A2EB-D378-4F7E-961E-13FF4D27F89C}"/>
              </a:ext>
            </a:extLst>
          </p:cNvPr>
          <p:cNvSpPr/>
          <p:nvPr/>
        </p:nvSpPr>
        <p:spPr>
          <a:xfrm>
            <a:off x="342336" y="1456854"/>
            <a:ext cx="8459328" cy="523222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marL="0" indent="0">
              <a:buNone/>
            </a:pPr>
            <a:endParaRPr lang="en-US" sz="2000" dirty="0">
              <a:latin typeface="Prestige12 BT" panose="02070509030506020304" pitchFamily="49" charset="0"/>
            </a:endParaRPr>
          </a:p>
          <a:p>
            <a:pPr marL="0" indent="0">
              <a:buNone/>
            </a:pPr>
            <a:endParaRPr lang="en-US" sz="2000" dirty="0">
              <a:latin typeface="Prestige12 BT" panose="02070509030506020304" pitchFamily="49" charset="0"/>
            </a:endParaRPr>
          </a:p>
          <a:p>
            <a:pPr marL="0" indent="0">
              <a:buNone/>
            </a:pPr>
            <a:r>
              <a:rPr lang="en-US" sz="2000" dirty="0">
                <a:latin typeface="Prestige12 BT" panose="02070509030506020304" pitchFamily="49" charset="0"/>
              </a:rPr>
              <a:t>…. </a:t>
            </a:r>
          </a:p>
          <a:p>
            <a:pPr marL="0" indent="0">
              <a:buNone/>
            </a:pPr>
            <a:r>
              <a:rPr lang="en-US" sz="2000" dirty="0">
                <a:latin typeface="Prestige12 BT" panose="02070509030506020304" pitchFamily="49" charset="0"/>
              </a:rPr>
              <a:t>while true: </a:t>
            </a:r>
            <a:br>
              <a:rPr lang="en-US" sz="2000" dirty="0">
                <a:latin typeface="Prestige12 BT" panose="02070509030506020304" pitchFamily="49" charset="0"/>
              </a:rPr>
            </a:br>
            <a:r>
              <a:rPr lang="en-US" sz="2000" dirty="0">
                <a:solidFill>
                  <a:schemeClr val="accent6"/>
                </a:solidFill>
                <a:latin typeface="Prestige12 BT" panose="02070509030506020304" pitchFamily="49" charset="0"/>
              </a:rPr>
              <a:t>#</a:t>
            </a:r>
            <a:r>
              <a:rPr lang="en-US" sz="2000" dirty="0">
                <a:solidFill>
                  <a:schemeClr val="accent6"/>
                </a:solidFill>
              </a:rPr>
              <a:t> Input bar, beer, price…</a:t>
            </a:r>
          </a:p>
          <a:p>
            <a:pPr lvl="1"/>
            <a:r>
              <a:rPr lang="en-US" sz="2000" dirty="0" err="1">
                <a:latin typeface="Prestige12 BT" panose="02070509030506020304" pitchFamily="49" charset="0"/>
              </a:rPr>
              <a:t>cur.execute</a:t>
            </a:r>
            <a:r>
              <a:rPr lang="en-US" sz="2000" dirty="0">
                <a:latin typeface="Prestige12 BT" panose="02070509030506020304" pitchFamily="49" charset="0"/>
              </a:rPr>
              <a:t>('‘’</a:t>
            </a:r>
            <a:br>
              <a:rPr lang="en-US" sz="2000" dirty="0">
                <a:latin typeface="Prestige12 BT" panose="02070509030506020304" pitchFamily="49" charset="0"/>
              </a:rPr>
            </a:br>
            <a:r>
              <a:rPr lang="en-US" sz="2000" dirty="0">
                <a:latin typeface="Prestige12 BT" panose="02070509030506020304" pitchFamily="49" charset="0"/>
              </a:rPr>
              <a:t>	UPDATE Serves</a:t>
            </a:r>
            <a:br>
              <a:rPr lang="en-US" sz="2000" dirty="0">
                <a:latin typeface="Prestige12 BT" panose="02070509030506020304" pitchFamily="49" charset="0"/>
              </a:rPr>
            </a:br>
            <a:r>
              <a:rPr lang="en-US" sz="2000" dirty="0">
                <a:latin typeface="Prestige12 BT" panose="02070509030506020304" pitchFamily="49" charset="0"/>
              </a:rPr>
              <a:t>	SET price = %s</a:t>
            </a:r>
            <a:br>
              <a:rPr lang="en-US" sz="2000" dirty="0">
                <a:latin typeface="Prestige12 BT" panose="02070509030506020304" pitchFamily="49" charset="0"/>
              </a:rPr>
            </a:br>
            <a:r>
              <a:rPr lang="en-US" sz="2000" dirty="0">
                <a:latin typeface="Prestige12 BT" panose="02070509030506020304" pitchFamily="49" charset="0"/>
              </a:rPr>
              <a:t>	WHERE bar = %s AND beer = %s''', (price, bar, beer))</a:t>
            </a:r>
          </a:p>
          <a:p>
            <a:pPr lvl="1"/>
            <a:r>
              <a:rPr lang="en-US" sz="2000" dirty="0">
                <a:latin typeface="Prestige12 BT" panose="02070509030506020304" pitchFamily="49" charset="0"/>
              </a:rPr>
              <a:t>….</a:t>
            </a:r>
          </a:p>
          <a:p>
            <a:pPr lvl="1"/>
            <a:r>
              <a:rPr lang="en-US" sz="2000" dirty="0">
                <a:solidFill>
                  <a:schemeClr val="accent6"/>
                </a:solidFill>
                <a:latin typeface="Prestige12 BT" panose="02070509030506020304" pitchFamily="49" charset="0"/>
              </a:rPr>
              <a:t>#</a:t>
            </a:r>
            <a:r>
              <a:rPr lang="en-US" sz="2000" dirty="0">
                <a:solidFill>
                  <a:schemeClr val="accent6"/>
                </a:solidFill>
              </a:rPr>
              <a:t> Check result...</a:t>
            </a:r>
            <a:endParaRPr lang="en-US" sz="3200" dirty="0"/>
          </a:p>
          <a:p>
            <a:pPr lvl="1"/>
            <a:endParaRPr lang="en-US" sz="2000" dirty="0">
              <a:latin typeface="Prestige12 BT" panose="02070509030506020304" pitchFamily="49" charset="0"/>
            </a:endParaRPr>
          </a:p>
        </p:txBody>
      </p:sp>
      <p:sp>
        <p:nvSpPr>
          <p:cNvPr id="6" name="Rounded Rectangle 8">
            <a:extLst>
              <a:ext uri="{FF2B5EF4-FFF2-40B4-BE49-F238E27FC236}">
                <a16:creationId xmlns:a16="http://schemas.microsoft.com/office/drawing/2014/main" id="{10D1EA38-3757-4C99-9739-DD744212F0D2}"/>
              </a:ext>
            </a:extLst>
          </p:cNvPr>
          <p:cNvSpPr/>
          <p:nvPr/>
        </p:nvSpPr>
        <p:spPr>
          <a:xfrm>
            <a:off x="675239" y="3796366"/>
            <a:ext cx="6500424" cy="1269756"/>
          </a:xfrm>
          <a:prstGeom prst="round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allout: Bent Line 6">
            <a:extLst>
              <a:ext uri="{FF2B5EF4-FFF2-40B4-BE49-F238E27FC236}">
                <a16:creationId xmlns:a16="http://schemas.microsoft.com/office/drawing/2014/main" id="{9B082B50-A49C-43F7-A387-FDEA153350C9}"/>
              </a:ext>
            </a:extLst>
          </p:cNvPr>
          <p:cNvSpPr/>
          <p:nvPr/>
        </p:nvSpPr>
        <p:spPr>
          <a:xfrm>
            <a:off x="5815657" y="2052320"/>
            <a:ext cx="2699693" cy="1549400"/>
          </a:xfrm>
          <a:prstGeom prst="borderCallout2">
            <a:avLst>
              <a:gd name="adj1" fmla="val 18750"/>
              <a:gd name="adj2" fmla="val -8333"/>
              <a:gd name="adj3" fmla="val 18750"/>
              <a:gd name="adj4" fmla="val -16667"/>
              <a:gd name="adj5" fmla="val 117731"/>
              <a:gd name="adj6" fmla="val -32829"/>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buFont typeface="Wingdings" pitchFamily="2" charset="2"/>
              <a:buNone/>
            </a:pPr>
            <a:r>
              <a:rPr lang="en-US" sz="2000" dirty="0"/>
              <a:t>Perform passing, semantic analysis, optimization, compilation, and finally execution</a:t>
            </a:r>
          </a:p>
        </p:txBody>
      </p:sp>
      <p:sp>
        <p:nvSpPr>
          <p:cNvPr id="9" name="TextBox 8">
            <a:extLst>
              <a:ext uri="{FF2B5EF4-FFF2-40B4-BE49-F238E27FC236}">
                <a16:creationId xmlns:a16="http://schemas.microsoft.com/office/drawing/2014/main" id="{7B68D55B-0755-4747-8530-4641C40EC8BC}"/>
              </a:ext>
            </a:extLst>
          </p:cNvPr>
          <p:cNvSpPr txBox="1"/>
          <p:nvPr/>
        </p:nvSpPr>
        <p:spPr>
          <a:xfrm>
            <a:off x="4229664" y="5116421"/>
            <a:ext cx="4572000" cy="830997"/>
          </a:xfrm>
          <a:prstGeom prst="rect">
            <a:avLst/>
          </a:prstGeom>
          <a:noFill/>
        </p:spPr>
        <p:txBody>
          <a:bodyPr wrap="square">
            <a:spAutoFit/>
          </a:bodyPr>
          <a:lstStyle/>
          <a:p>
            <a:r>
              <a:rPr lang="en-US" sz="2400" dirty="0">
                <a:solidFill>
                  <a:schemeClr val="accent2"/>
                </a:solidFill>
              </a:rPr>
              <a:t>Execute many times </a:t>
            </a:r>
          </a:p>
          <a:p>
            <a:r>
              <a:rPr lang="en-US" sz="2400" dirty="0">
                <a:solidFill>
                  <a:schemeClr val="accent2"/>
                </a:solidFill>
              </a:rPr>
              <a:t>Can we reduce this overhead?</a:t>
            </a:r>
          </a:p>
        </p:txBody>
      </p:sp>
    </p:spTree>
    <p:custDataLst>
      <p:tags r:id="rId1"/>
    </p:custDataLst>
    <p:extLst>
      <p:ext uri="{BB962C8B-B14F-4D97-AF65-F5344CB8AC3E}">
        <p14:creationId xmlns:p14="http://schemas.microsoft.com/office/powerpoint/2010/main" val="17343255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E4D0E-D3CA-437D-80BF-0DC4C7D81900}"/>
              </a:ext>
            </a:extLst>
          </p:cNvPr>
          <p:cNvSpPr>
            <a:spLocks noGrp="1"/>
          </p:cNvSpPr>
          <p:nvPr>
            <p:ph type="title"/>
          </p:nvPr>
        </p:nvSpPr>
        <p:spPr/>
        <p:txBody>
          <a:bodyPr/>
          <a:lstStyle/>
          <a:p>
            <a:r>
              <a:rPr lang="en-US" dirty="0"/>
              <a:t>Prepared statements: example</a:t>
            </a:r>
            <a:endParaRPr lang="en-CA" dirty="0"/>
          </a:p>
        </p:txBody>
      </p:sp>
      <p:sp>
        <p:nvSpPr>
          <p:cNvPr id="3" name="Content Placeholder 2">
            <a:extLst>
              <a:ext uri="{FF2B5EF4-FFF2-40B4-BE49-F238E27FC236}">
                <a16:creationId xmlns:a16="http://schemas.microsoft.com/office/drawing/2014/main" id="{1922D668-C1D9-4073-92CF-6B9366D0D61D}"/>
              </a:ext>
            </a:extLst>
          </p:cNvPr>
          <p:cNvSpPr>
            <a:spLocks noGrp="1"/>
          </p:cNvSpPr>
          <p:nvPr>
            <p:ph idx="1"/>
          </p:nvPr>
        </p:nvSpPr>
        <p:spPr/>
        <p:txBody>
          <a:bodyPr/>
          <a:lstStyle/>
          <a:p>
            <a:endParaRPr lang="en-CA"/>
          </a:p>
        </p:txBody>
      </p:sp>
      <p:sp>
        <p:nvSpPr>
          <p:cNvPr id="4" name="Slide Number Placeholder 3">
            <a:extLst>
              <a:ext uri="{FF2B5EF4-FFF2-40B4-BE49-F238E27FC236}">
                <a16:creationId xmlns:a16="http://schemas.microsoft.com/office/drawing/2014/main" id="{837B01C6-E606-4E98-9347-4E057D6C43CB}"/>
              </a:ext>
            </a:extLst>
          </p:cNvPr>
          <p:cNvSpPr>
            <a:spLocks noGrp="1"/>
          </p:cNvSpPr>
          <p:nvPr>
            <p:ph type="sldNum" sz="quarter" idx="12"/>
          </p:nvPr>
        </p:nvSpPr>
        <p:spPr/>
        <p:txBody>
          <a:bodyPr/>
          <a:lstStyle/>
          <a:p>
            <a:fld id="{44C99FA5-7995-46A9-A97E-16E38AD58950}" type="slidenum">
              <a:rPr lang="en-US" smtClean="0"/>
              <a:t>33</a:t>
            </a:fld>
            <a:endParaRPr lang="en-US"/>
          </a:p>
        </p:txBody>
      </p:sp>
      <p:sp>
        <p:nvSpPr>
          <p:cNvPr id="5" name="Rectangle 4">
            <a:extLst>
              <a:ext uri="{FF2B5EF4-FFF2-40B4-BE49-F238E27FC236}">
                <a16:creationId xmlns:a16="http://schemas.microsoft.com/office/drawing/2014/main" id="{AEF9A2EB-D378-4F7E-961E-13FF4D27F89C}"/>
              </a:ext>
            </a:extLst>
          </p:cNvPr>
          <p:cNvSpPr/>
          <p:nvPr/>
        </p:nvSpPr>
        <p:spPr>
          <a:xfrm>
            <a:off x="342336" y="1456854"/>
            <a:ext cx="8459328" cy="523222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sz="2000" dirty="0" err="1">
                <a:latin typeface="Prestige12 BT" panose="02070509030506020304" pitchFamily="49" charset="0"/>
              </a:rPr>
              <a:t>cur.execute</a:t>
            </a:r>
            <a:r>
              <a:rPr lang="en-US" sz="2000" dirty="0">
                <a:latin typeface="Prestige12 BT" panose="02070509030506020304" pitchFamily="49" charset="0"/>
              </a:rPr>
              <a:t>('''                  </a:t>
            </a:r>
            <a:r>
              <a:rPr lang="en-US" sz="2000" dirty="0">
                <a:solidFill>
                  <a:schemeClr val="accent6"/>
                </a:solidFill>
                <a:latin typeface="Prestige12 BT" panose="02070509030506020304" pitchFamily="49" charset="0"/>
              </a:rPr>
              <a:t>#</a:t>
            </a:r>
            <a:r>
              <a:rPr lang="en-US" sz="2000" dirty="0">
                <a:solidFill>
                  <a:schemeClr val="accent6"/>
                </a:solidFill>
              </a:rPr>
              <a:t> Prepare once (in SQL).</a:t>
            </a:r>
            <a:br>
              <a:rPr lang="en-US" sz="2000" dirty="0">
                <a:solidFill>
                  <a:schemeClr val="accent6"/>
                </a:solidFill>
              </a:rPr>
            </a:br>
            <a:r>
              <a:rPr lang="en-US" sz="2000" dirty="0">
                <a:solidFill>
                  <a:schemeClr val="accent6"/>
                </a:solidFill>
              </a:rPr>
              <a:t>	</a:t>
            </a:r>
            <a:r>
              <a:rPr lang="en-US" sz="2000" dirty="0">
                <a:latin typeface="Prestige12 BT" panose="02070509030506020304" pitchFamily="49" charset="0"/>
              </a:rPr>
              <a:t>PREPARE </a:t>
            </a:r>
            <a:r>
              <a:rPr lang="en-US" sz="2000" dirty="0" err="1">
                <a:latin typeface="Prestige12 BT" panose="02070509030506020304" pitchFamily="49" charset="0"/>
              </a:rPr>
              <a:t>update_price</a:t>
            </a:r>
            <a:r>
              <a:rPr lang="en-US" sz="2000" dirty="0">
                <a:latin typeface="Prestige12 BT" panose="02070509030506020304" pitchFamily="49" charset="0"/>
              </a:rPr>
              <a:t> AS          </a:t>
            </a:r>
            <a:r>
              <a:rPr lang="en-US" sz="2000" dirty="0">
                <a:solidFill>
                  <a:schemeClr val="accent6"/>
                </a:solidFill>
                <a:latin typeface="Prestige12 BT" panose="02070509030506020304" pitchFamily="49" charset="0"/>
              </a:rPr>
              <a:t>#</a:t>
            </a:r>
            <a:r>
              <a:rPr lang="en-US" sz="2000" dirty="0">
                <a:solidFill>
                  <a:schemeClr val="accent6"/>
                </a:solidFill>
              </a:rPr>
              <a:t> Name the prepared plan,</a:t>
            </a:r>
            <a:br>
              <a:rPr lang="en-US" sz="2000" dirty="0">
                <a:solidFill>
                  <a:schemeClr val="accent6"/>
                </a:solidFill>
                <a:latin typeface="Prestige12 BT" panose="02070509030506020304" pitchFamily="49" charset="0"/>
              </a:rPr>
            </a:br>
            <a:r>
              <a:rPr lang="en-US" sz="2000" dirty="0">
                <a:solidFill>
                  <a:schemeClr val="accent6"/>
                </a:solidFill>
                <a:latin typeface="Prestige12 BT" panose="02070509030506020304" pitchFamily="49" charset="0"/>
              </a:rPr>
              <a:t>	</a:t>
            </a:r>
            <a:r>
              <a:rPr lang="en-US" sz="2000" dirty="0">
                <a:latin typeface="Prestige12 BT" panose="02070509030506020304" pitchFamily="49" charset="0"/>
              </a:rPr>
              <a:t>UPDATE Serves</a:t>
            </a:r>
            <a:br>
              <a:rPr lang="en-US" sz="2000" dirty="0">
                <a:latin typeface="Prestige12 BT" panose="02070509030506020304" pitchFamily="49" charset="0"/>
              </a:rPr>
            </a:br>
            <a:r>
              <a:rPr lang="en-US" sz="2000" dirty="0">
                <a:latin typeface="Prestige12 BT" panose="02070509030506020304" pitchFamily="49" charset="0"/>
              </a:rPr>
              <a:t>	SET price = $1                   </a:t>
            </a:r>
            <a:r>
              <a:rPr lang="en-US" sz="2000" dirty="0">
                <a:solidFill>
                  <a:schemeClr val="accent6"/>
                </a:solidFill>
                <a:latin typeface="Prestige12 BT" panose="02070509030506020304" pitchFamily="49" charset="0"/>
              </a:rPr>
              <a:t>#</a:t>
            </a:r>
            <a:r>
              <a:rPr lang="en-US" sz="2000" dirty="0">
                <a:solidFill>
                  <a:schemeClr val="accent6"/>
                </a:solidFill>
              </a:rPr>
              <a:t> and note the </a:t>
            </a:r>
            <a:r>
              <a:rPr lang="en-US" sz="2000" dirty="0">
                <a:solidFill>
                  <a:schemeClr val="accent6"/>
                </a:solidFill>
                <a:latin typeface="Prestige12 BT" panose="02070509030506020304" pitchFamily="49" charset="0"/>
              </a:rPr>
              <a:t>$1</a:t>
            </a:r>
            <a:r>
              <a:rPr lang="en-US" sz="2000" dirty="0">
                <a:solidFill>
                  <a:schemeClr val="accent6"/>
                </a:solidFill>
              </a:rPr>
              <a:t>, </a:t>
            </a:r>
            <a:r>
              <a:rPr lang="en-US" sz="2000" dirty="0">
                <a:solidFill>
                  <a:schemeClr val="accent6"/>
                </a:solidFill>
                <a:latin typeface="Prestige12 BT" panose="02070509030506020304" pitchFamily="49" charset="0"/>
              </a:rPr>
              <a:t>$2</a:t>
            </a:r>
            <a:r>
              <a:rPr lang="en-US" sz="2000" dirty="0">
                <a:solidFill>
                  <a:schemeClr val="accent6"/>
                </a:solidFill>
              </a:rPr>
              <a:t>, … notation for</a:t>
            </a:r>
            <a:br>
              <a:rPr lang="en-US" sz="2000" dirty="0">
                <a:solidFill>
                  <a:schemeClr val="accent6"/>
                </a:solidFill>
                <a:latin typeface="Prestige12 BT" panose="02070509030506020304" pitchFamily="49" charset="0"/>
              </a:rPr>
            </a:br>
            <a:r>
              <a:rPr lang="en-US" sz="2000" dirty="0">
                <a:solidFill>
                  <a:schemeClr val="accent6"/>
                </a:solidFill>
                <a:latin typeface="Prestige12 BT" panose="02070509030506020304" pitchFamily="49" charset="0"/>
              </a:rPr>
              <a:t>	</a:t>
            </a:r>
            <a:r>
              <a:rPr lang="en-US" sz="2000" dirty="0">
                <a:latin typeface="Prestige12 BT" panose="02070509030506020304" pitchFamily="49" charset="0"/>
              </a:rPr>
              <a:t>WHERE bar = $2 AND beer = $3''') </a:t>
            </a:r>
            <a:r>
              <a:rPr lang="en-US" sz="2000" dirty="0">
                <a:solidFill>
                  <a:schemeClr val="accent6"/>
                </a:solidFill>
                <a:latin typeface="Prestige12 BT" panose="02070509030506020304" pitchFamily="49" charset="0"/>
              </a:rPr>
              <a:t>#</a:t>
            </a:r>
            <a:r>
              <a:rPr lang="en-US" sz="2000" dirty="0">
                <a:solidFill>
                  <a:schemeClr val="accent6"/>
                </a:solidFill>
              </a:rPr>
              <a:t> parameter placeholders.</a:t>
            </a:r>
            <a:endParaRPr lang="en-US" sz="2000" dirty="0">
              <a:solidFill>
                <a:schemeClr val="accent6"/>
              </a:solidFill>
              <a:latin typeface="Prestige12 BT" panose="02070509030506020304" pitchFamily="49" charset="0"/>
            </a:endParaRPr>
          </a:p>
          <a:p>
            <a:pPr marL="0" indent="0">
              <a:buNone/>
            </a:pPr>
            <a:r>
              <a:rPr lang="en-US" sz="2000" dirty="0">
                <a:latin typeface="Prestige12 BT" panose="02070509030506020304" pitchFamily="49" charset="0"/>
              </a:rPr>
              <a:t>while true: </a:t>
            </a:r>
            <a:br>
              <a:rPr lang="en-US" sz="2000" dirty="0">
                <a:latin typeface="Prestige12 BT" panose="02070509030506020304" pitchFamily="49" charset="0"/>
              </a:rPr>
            </a:br>
            <a:r>
              <a:rPr lang="en-US" sz="2000" dirty="0">
                <a:solidFill>
                  <a:schemeClr val="accent6"/>
                </a:solidFill>
                <a:latin typeface="Prestige12 BT" panose="02070509030506020304" pitchFamily="49" charset="0"/>
              </a:rPr>
              <a:t>#</a:t>
            </a:r>
            <a:r>
              <a:rPr lang="en-US" sz="2000" dirty="0">
                <a:solidFill>
                  <a:schemeClr val="accent6"/>
                </a:solidFill>
              </a:rPr>
              <a:t> Input bar, beer, price…</a:t>
            </a:r>
          </a:p>
          <a:p>
            <a:pPr lvl="1"/>
            <a:r>
              <a:rPr lang="en-US" sz="2000" dirty="0">
                <a:latin typeface="Prestige12 BT" panose="02070509030506020304" pitchFamily="49" charset="0"/>
              </a:rPr>
              <a:t> </a:t>
            </a:r>
            <a:r>
              <a:rPr lang="en-US" sz="2000" dirty="0" err="1">
                <a:latin typeface="Prestige12 BT" panose="02070509030506020304" pitchFamily="49" charset="0"/>
              </a:rPr>
              <a:t>cur.execute</a:t>
            </a:r>
            <a:r>
              <a:rPr lang="en-US" sz="2000" dirty="0">
                <a:latin typeface="Prestige12 BT" panose="02070509030506020304" pitchFamily="49" charset="0"/>
              </a:rPr>
              <a:t>(‘</a:t>
            </a:r>
          </a:p>
          <a:p>
            <a:pPr lvl="1"/>
            <a:r>
              <a:rPr lang="en-US" sz="2000" dirty="0">
                <a:latin typeface="Prestige12 BT" panose="02070509030506020304" pitchFamily="49" charset="0"/>
              </a:rPr>
              <a:t>	EXECUTE </a:t>
            </a:r>
            <a:r>
              <a:rPr lang="en-US" sz="2000" dirty="0" err="1">
                <a:latin typeface="Prestige12 BT" panose="02070509030506020304" pitchFamily="49" charset="0"/>
              </a:rPr>
              <a:t>update_price</a:t>
            </a:r>
            <a:r>
              <a:rPr lang="en-US" sz="2000" dirty="0">
                <a:latin typeface="Prestige12 BT" panose="02070509030506020304" pitchFamily="49" charset="0"/>
              </a:rPr>
              <a:t>(%s, %s, %s)',\ </a:t>
            </a:r>
            <a:r>
              <a:rPr lang="en-US" sz="2000" dirty="0">
                <a:solidFill>
                  <a:schemeClr val="accent6"/>
                </a:solidFill>
                <a:latin typeface="Prestige12 BT" panose="02070509030506020304" pitchFamily="49" charset="0"/>
              </a:rPr>
              <a:t>#</a:t>
            </a:r>
            <a:r>
              <a:rPr lang="en-US" sz="2000" dirty="0">
                <a:solidFill>
                  <a:schemeClr val="accent6"/>
                </a:solidFill>
              </a:rPr>
              <a:t> Execute many times.</a:t>
            </a:r>
            <a:br>
              <a:rPr lang="en-US" sz="2000" dirty="0">
                <a:solidFill>
                  <a:schemeClr val="accent6"/>
                </a:solidFill>
              </a:rPr>
            </a:br>
            <a:r>
              <a:rPr lang="en-US" sz="2000" dirty="0">
                <a:latin typeface="Prestige12 BT" panose="02070509030506020304" pitchFamily="49" charset="0"/>
              </a:rPr>
              <a:t>                (price, bar, beer))….</a:t>
            </a:r>
          </a:p>
          <a:p>
            <a:pPr lvl="1"/>
            <a:r>
              <a:rPr lang="en-US" sz="2000" dirty="0">
                <a:solidFill>
                  <a:schemeClr val="accent6"/>
                </a:solidFill>
                <a:latin typeface="Prestige12 BT" panose="02070509030506020304" pitchFamily="49" charset="0"/>
              </a:rPr>
              <a:t>#</a:t>
            </a:r>
            <a:r>
              <a:rPr lang="en-US" sz="2000" dirty="0">
                <a:solidFill>
                  <a:schemeClr val="accent6"/>
                </a:solidFill>
              </a:rPr>
              <a:t> Check result...</a:t>
            </a:r>
            <a:endParaRPr lang="en-US" sz="3200" dirty="0"/>
          </a:p>
          <a:p>
            <a:pPr lvl="1"/>
            <a:endParaRPr lang="en-US" sz="2000" dirty="0">
              <a:latin typeface="Prestige12 BT" panose="02070509030506020304" pitchFamily="49" charset="0"/>
            </a:endParaRPr>
          </a:p>
        </p:txBody>
      </p:sp>
      <p:sp>
        <p:nvSpPr>
          <p:cNvPr id="6" name="Rounded Rectangle 8">
            <a:extLst>
              <a:ext uri="{FF2B5EF4-FFF2-40B4-BE49-F238E27FC236}">
                <a16:creationId xmlns:a16="http://schemas.microsoft.com/office/drawing/2014/main" id="{10D1EA38-3757-4C99-9739-DD744212F0D2}"/>
              </a:ext>
            </a:extLst>
          </p:cNvPr>
          <p:cNvSpPr/>
          <p:nvPr/>
        </p:nvSpPr>
        <p:spPr>
          <a:xfrm>
            <a:off x="409011" y="2130126"/>
            <a:ext cx="8283504" cy="1639234"/>
          </a:xfrm>
          <a:prstGeom prst="round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7B68D55B-0755-4747-8530-4641C40EC8BC}"/>
              </a:ext>
            </a:extLst>
          </p:cNvPr>
          <p:cNvSpPr txBox="1"/>
          <p:nvPr/>
        </p:nvSpPr>
        <p:spPr>
          <a:xfrm>
            <a:off x="5659120" y="2130126"/>
            <a:ext cx="4572000" cy="461665"/>
          </a:xfrm>
          <a:prstGeom prst="rect">
            <a:avLst/>
          </a:prstGeom>
          <a:noFill/>
        </p:spPr>
        <p:txBody>
          <a:bodyPr wrap="square">
            <a:spAutoFit/>
          </a:bodyPr>
          <a:lstStyle/>
          <a:p>
            <a:r>
              <a:rPr lang="en-US" sz="2400" dirty="0">
                <a:solidFill>
                  <a:schemeClr val="accent2"/>
                </a:solidFill>
              </a:rPr>
              <a:t>Prepare only once </a:t>
            </a:r>
          </a:p>
        </p:txBody>
      </p:sp>
      <p:sp>
        <p:nvSpPr>
          <p:cNvPr id="10" name="Rounded Rectangle 8">
            <a:extLst>
              <a:ext uri="{FF2B5EF4-FFF2-40B4-BE49-F238E27FC236}">
                <a16:creationId xmlns:a16="http://schemas.microsoft.com/office/drawing/2014/main" id="{B7983D48-0C18-47CC-93DC-06FCBC6625AC}"/>
              </a:ext>
            </a:extLst>
          </p:cNvPr>
          <p:cNvSpPr/>
          <p:nvPr/>
        </p:nvSpPr>
        <p:spPr>
          <a:xfrm>
            <a:off x="689328" y="4442632"/>
            <a:ext cx="7255792" cy="858179"/>
          </a:xfrm>
          <a:prstGeom prst="round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ustDataLst>
      <p:tags r:id="rId1"/>
    </p:custDataLst>
    <p:extLst>
      <p:ext uri="{BB962C8B-B14F-4D97-AF65-F5344CB8AC3E}">
        <p14:creationId xmlns:p14="http://schemas.microsoft.com/office/powerpoint/2010/main" val="1253072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p:bldP spid="10"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“Exploits of a mom”</a:t>
            </a:r>
          </a:p>
        </p:txBody>
      </p:sp>
      <p:sp>
        <p:nvSpPr>
          <p:cNvPr id="3" name="Content Placeholder 2"/>
          <p:cNvSpPr>
            <a:spLocks noGrp="1"/>
          </p:cNvSpPr>
          <p:nvPr>
            <p:ph idx="1"/>
          </p:nvPr>
        </p:nvSpPr>
        <p:spPr>
          <a:xfrm>
            <a:off x="342336" y="4247681"/>
            <a:ext cx="8173014" cy="2473794"/>
          </a:xfrm>
        </p:spPr>
        <p:txBody>
          <a:bodyPr/>
          <a:lstStyle/>
          <a:p>
            <a:r>
              <a:rPr lang="en-US" dirty="0"/>
              <a:t>The school probably had something like:</a:t>
            </a:r>
            <a:br>
              <a:rPr lang="en-US" dirty="0"/>
            </a:br>
            <a:endParaRPr lang="en-US" dirty="0"/>
          </a:p>
          <a:p>
            <a:pPr marL="0" indent="0">
              <a:buNone/>
            </a:pPr>
            <a:br>
              <a:rPr lang="en-US" sz="3000" dirty="0">
                <a:solidFill>
                  <a:schemeClr val="accent2"/>
                </a:solidFill>
                <a:latin typeface="Prestige12 BT" panose="02070509030506020304" pitchFamily="49" charset="0"/>
              </a:rPr>
            </a:br>
            <a:r>
              <a:rPr lang="en-US" sz="3000" dirty="0">
                <a:solidFill>
                  <a:schemeClr val="accent2"/>
                </a:solidFill>
                <a:latin typeface="Prestige12 BT" panose="02070509030506020304" pitchFamily="49" charset="0"/>
              </a:rPr>
              <a:t>	</a:t>
            </a:r>
            <a:r>
              <a:rPr lang="en-US" dirty="0"/>
              <a:t>where </a:t>
            </a:r>
            <a:r>
              <a:rPr lang="en-US" dirty="0">
                <a:solidFill>
                  <a:srgbClr val="FF0000"/>
                </a:solidFill>
                <a:latin typeface="Prestige12 BT" panose="02070509030506020304" pitchFamily="49" charset="0"/>
              </a:rPr>
              <a:t>name</a:t>
            </a:r>
            <a:r>
              <a:rPr lang="en-US" dirty="0">
                <a:solidFill>
                  <a:srgbClr val="FF0000"/>
                </a:solidFill>
              </a:rPr>
              <a:t> </a:t>
            </a:r>
            <a:r>
              <a:rPr lang="en-US" dirty="0"/>
              <a:t>is a string input by user</a:t>
            </a:r>
          </a:p>
          <a:p>
            <a:r>
              <a:rPr lang="en-US" dirty="0"/>
              <a:t>Called an</a:t>
            </a:r>
            <a:r>
              <a:rPr lang="en-US" dirty="0">
                <a:solidFill>
                  <a:schemeClr val="accent2"/>
                </a:solidFill>
              </a:rPr>
              <a:t> SQL injection attack</a:t>
            </a:r>
          </a:p>
        </p:txBody>
      </p:sp>
      <p:sp>
        <p:nvSpPr>
          <p:cNvPr id="4" name="Slide Number Placeholder 3"/>
          <p:cNvSpPr>
            <a:spLocks noGrp="1"/>
          </p:cNvSpPr>
          <p:nvPr>
            <p:ph type="sldNum" sz="quarter" idx="12"/>
          </p:nvPr>
        </p:nvSpPr>
        <p:spPr/>
        <p:txBody>
          <a:bodyPr/>
          <a:lstStyle/>
          <a:p>
            <a:fld id="{44C99FA5-7995-46A9-A97E-16E38AD58950}" type="slidenum">
              <a:rPr lang="en-US" smtClean="0"/>
              <a:t>34</a:t>
            </a:fld>
            <a:endParaRPr lang="en-US"/>
          </a:p>
        </p:txBody>
      </p:sp>
      <p:pic>
        <p:nvPicPr>
          <p:cNvPr id="5" name="Picture 2" descr="Exploits of a Mom"/>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2336" y="1468238"/>
            <a:ext cx="8173014" cy="2515717"/>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6726995" y="3764602"/>
            <a:ext cx="1883849" cy="261610"/>
          </a:xfrm>
          <a:prstGeom prst="rect">
            <a:avLst/>
          </a:prstGeom>
        </p:spPr>
        <p:txBody>
          <a:bodyPr wrap="none">
            <a:spAutoFit/>
          </a:bodyPr>
          <a:lstStyle/>
          <a:p>
            <a:pPr>
              <a:buNone/>
            </a:pPr>
            <a:r>
              <a:rPr lang="en-US" sz="1100" dirty="0">
                <a:latin typeface="Prestige12 BT" panose="02070509030506020304" pitchFamily="49" charset="0"/>
              </a:rPr>
              <a:t>http://xkcd.com/327/</a:t>
            </a:r>
          </a:p>
        </p:txBody>
      </p:sp>
      <p:sp>
        <p:nvSpPr>
          <p:cNvPr id="7" name="Rectangle 6">
            <a:extLst>
              <a:ext uri="{FF2B5EF4-FFF2-40B4-BE49-F238E27FC236}">
                <a16:creationId xmlns:a16="http://schemas.microsoft.com/office/drawing/2014/main" id="{3F96C033-5881-489F-9738-ED5B86F31C21}"/>
              </a:ext>
            </a:extLst>
          </p:cNvPr>
          <p:cNvSpPr/>
          <p:nvPr/>
        </p:nvSpPr>
        <p:spPr>
          <a:xfrm>
            <a:off x="1323471" y="4777617"/>
            <a:ext cx="5087489" cy="814737"/>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sz="2000" dirty="0" err="1">
                <a:solidFill>
                  <a:schemeClr val="accent2"/>
                </a:solidFill>
                <a:latin typeface="Prestige12 BT" panose="02070509030506020304" pitchFamily="49" charset="0"/>
              </a:rPr>
              <a:t>cur.execute</a:t>
            </a:r>
            <a:r>
              <a:rPr lang="en-US" sz="2000" dirty="0">
                <a:solidFill>
                  <a:schemeClr val="accent2"/>
                </a:solidFill>
                <a:latin typeface="Prestige12 BT" panose="02070509030506020304" pitchFamily="49" charset="0"/>
              </a:rPr>
              <a:t>("SELECT * FROM Students " + \</a:t>
            </a:r>
            <a:br>
              <a:rPr lang="en-US" sz="2000" dirty="0">
                <a:solidFill>
                  <a:schemeClr val="accent2"/>
                </a:solidFill>
                <a:latin typeface="Prestige12 BT" panose="02070509030506020304" pitchFamily="49" charset="0"/>
              </a:rPr>
            </a:br>
            <a:r>
              <a:rPr lang="en-US" sz="2000" dirty="0">
                <a:solidFill>
                  <a:schemeClr val="accent2"/>
                </a:solidFill>
                <a:latin typeface="Prestige12 BT" panose="02070509030506020304" pitchFamily="49" charset="0"/>
              </a:rPr>
              <a:t>            "WHERE (name = '" + </a:t>
            </a:r>
            <a:r>
              <a:rPr lang="en-US" sz="2000" b="1" dirty="0">
                <a:solidFill>
                  <a:srgbClr val="FF0000"/>
                </a:solidFill>
                <a:latin typeface="Prestige12 BT" panose="02070509030506020304" pitchFamily="49" charset="0"/>
              </a:rPr>
              <a:t>name</a:t>
            </a:r>
            <a:r>
              <a:rPr lang="en-US" sz="2000" dirty="0">
                <a:solidFill>
                  <a:srgbClr val="FF0000"/>
                </a:solidFill>
                <a:latin typeface="Prestige12 BT" panose="02070509030506020304" pitchFamily="49" charset="0"/>
              </a:rPr>
              <a:t> </a:t>
            </a:r>
            <a:r>
              <a:rPr lang="en-US" sz="2000" dirty="0">
                <a:solidFill>
                  <a:schemeClr val="accent2"/>
                </a:solidFill>
                <a:latin typeface="Prestige12 BT" panose="02070509030506020304" pitchFamily="49" charset="0"/>
              </a:rPr>
              <a:t>+ "')")</a:t>
            </a:r>
            <a:endParaRPr lang="en-US" sz="2000" dirty="0">
              <a:solidFill>
                <a:schemeClr val="bg1"/>
              </a:solidFill>
              <a:latin typeface="+mj-lt"/>
              <a:cs typeface="Calibri" panose="020F0502020204030204" pitchFamily="34" charset="0"/>
            </a:endParaRPr>
          </a:p>
        </p:txBody>
      </p:sp>
    </p:spTree>
    <p:custDataLst>
      <p:tags r:id="rId1"/>
    </p:custDataLst>
    <p:extLst>
      <p:ext uri="{BB962C8B-B14F-4D97-AF65-F5344CB8AC3E}">
        <p14:creationId xmlns:p14="http://schemas.microsoft.com/office/powerpoint/2010/main" val="28936952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Guarding against SQL injection</a:t>
            </a:r>
          </a:p>
        </p:txBody>
      </p:sp>
      <p:sp>
        <p:nvSpPr>
          <p:cNvPr id="3" name="Content Placeholder 2"/>
          <p:cNvSpPr>
            <a:spLocks noGrp="1"/>
          </p:cNvSpPr>
          <p:nvPr>
            <p:ph idx="1"/>
          </p:nvPr>
        </p:nvSpPr>
        <p:spPr/>
        <p:txBody>
          <a:bodyPr/>
          <a:lstStyle/>
          <a:p>
            <a:r>
              <a:rPr lang="en-US" dirty="0"/>
              <a:t>Escape certain characters in a user input string, to ensure that it remains a single string</a:t>
            </a:r>
          </a:p>
          <a:p>
            <a:pPr lvl="1"/>
            <a:r>
              <a:rPr lang="en-US" dirty="0"/>
              <a:t>E.g., </a:t>
            </a:r>
            <a:r>
              <a:rPr lang="en-US" dirty="0">
                <a:latin typeface="Prestige12 BT" panose="02070509030506020304" pitchFamily="49" charset="0"/>
              </a:rPr>
              <a:t>'</a:t>
            </a:r>
            <a:r>
              <a:rPr lang="en-US" dirty="0"/>
              <a:t>, which would terminate a string in SQL, must be replaced by </a:t>
            </a:r>
            <a:r>
              <a:rPr lang="en-US" dirty="0">
                <a:latin typeface="Prestige12 BT" panose="02070509030506020304" pitchFamily="49" charset="0"/>
              </a:rPr>
              <a:t>''</a:t>
            </a:r>
            <a:r>
              <a:rPr lang="en-US" dirty="0"/>
              <a:t> (two single quotes in a row) within the input string</a:t>
            </a:r>
          </a:p>
          <a:p>
            <a:pPr lvl="1"/>
            <a:endParaRPr lang="en-US" dirty="0"/>
          </a:p>
          <a:p>
            <a:r>
              <a:rPr lang="en-US" dirty="0"/>
              <a:t>Luckily, most API’s provide ways to “sanitize” input automatically (if you use them properly)</a:t>
            </a:r>
          </a:p>
          <a:p>
            <a:pPr lvl="1"/>
            <a:r>
              <a:rPr lang="en-US" dirty="0"/>
              <a:t>E.g., pass parameter values in </a:t>
            </a:r>
            <a:r>
              <a:rPr lang="en-US" dirty="0">
                <a:latin typeface="Prestige12 BT" panose="02070509030506020304" pitchFamily="49" charset="0"/>
              </a:rPr>
              <a:t>psycopg2</a:t>
            </a:r>
            <a:r>
              <a:rPr lang="en-US" dirty="0"/>
              <a:t> through </a:t>
            </a:r>
            <a:r>
              <a:rPr lang="en-US" dirty="0">
                <a:latin typeface="Prestige12 BT" panose="02070509030506020304" pitchFamily="49" charset="0"/>
              </a:rPr>
              <a:t>%s</a:t>
            </a:r>
            <a:r>
              <a:rPr lang="en-US" dirty="0"/>
              <a:t>’s</a:t>
            </a:r>
          </a:p>
        </p:txBody>
      </p:sp>
      <p:sp>
        <p:nvSpPr>
          <p:cNvPr id="4" name="Slide Number Placeholder 3"/>
          <p:cNvSpPr>
            <a:spLocks noGrp="1"/>
          </p:cNvSpPr>
          <p:nvPr>
            <p:ph type="sldNum" sz="quarter" idx="12"/>
          </p:nvPr>
        </p:nvSpPr>
        <p:spPr/>
        <p:txBody>
          <a:bodyPr/>
          <a:lstStyle/>
          <a:p>
            <a:fld id="{44C99FA5-7995-46A9-A97E-16E38AD58950}" type="slidenum">
              <a:rPr lang="en-US" smtClean="0"/>
              <a:t>35</a:t>
            </a:fld>
            <a:endParaRPr lang="en-US"/>
          </a:p>
        </p:txBody>
      </p:sp>
    </p:spTree>
    <p:custDataLst>
      <p:tags r:id="rId1"/>
    </p:custDataLst>
    <p:extLst>
      <p:ext uri="{BB962C8B-B14F-4D97-AF65-F5344CB8AC3E}">
        <p14:creationId xmlns:p14="http://schemas.microsoft.com/office/powerpoint/2010/main" val="1709302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Augmenting SQL vs. API</a:t>
            </a:r>
          </a:p>
        </p:txBody>
      </p:sp>
      <p:sp>
        <p:nvSpPr>
          <p:cNvPr id="3" name="Content Placeholder 2"/>
          <p:cNvSpPr>
            <a:spLocks noGrp="1"/>
          </p:cNvSpPr>
          <p:nvPr>
            <p:ph idx="1"/>
          </p:nvPr>
        </p:nvSpPr>
        <p:spPr>
          <a:xfrm>
            <a:off x="200728" y="1431217"/>
            <a:ext cx="8742543" cy="5264622"/>
          </a:xfrm>
        </p:spPr>
        <p:txBody>
          <a:bodyPr>
            <a:normAutofit/>
          </a:bodyPr>
          <a:lstStyle/>
          <a:p>
            <a:r>
              <a:rPr lang="en-US" dirty="0"/>
              <a:t>Pros of augmenting SQL:</a:t>
            </a:r>
          </a:p>
          <a:p>
            <a:pPr lvl="1"/>
            <a:r>
              <a:rPr lang="en-US" dirty="0"/>
              <a:t>More processing features for DBMS</a:t>
            </a:r>
          </a:p>
          <a:p>
            <a:pPr lvl="1"/>
            <a:r>
              <a:rPr lang="en-US" dirty="0"/>
              <a:t>More application logic can be pushed closer to data</a:t>
            </a:r>
          </a:p>
          <a:p>
            <a:pPr marL="0" indent="0">
              <a:buNone/>
            </a:pPr>
            <a:endParaRPr lang="en-US" dirty="0"/>
          </a:p>
          <a:p>
            <a:r>
              <a:rPr lang="en-US" dirty="0"/>
              <a:t>Cons of augmenting SQL:</a:t>
            </a:r>
          </a:p>
          <a:p>
            <a:pPr lvl="1"/>
            <a:r>
              <a:rPr lang="en-US" dirty="0"/>
              <a:t>SQL is already too big</a:t>
            </a:r>
          </a:p>
          <a:p>
            <a:pPr lvl="1"/>
            <a:r>
              <a:rPr lang="en-US" dirty="0"/>
              <a:t>Complicate optimization and make it impossible to guarantee safety</a:t>
            </a:r>
          </a:p>
        </p:txBody>
      </p:sp>
      <p:sp>
        <p:nvSpPr>
          <p:cNvPr id="4" name="Slide Number Placeholder 3"/>
          <p:cNvSpPr>
            <a:spLocks noGrp="1"/>
          </p:cNvSpPr>
          <p:nvPr>
            <p:ph type="sldNum" sz="quarter" idx="12"/>
          </p:nvPr>
        </p:nvSpPr>
        <p:spPr/>
        <p:txBody>
          <a:bodyPr/>
          <a:lstStyle/>
          <a:p>
            <a:fld id="{44C99FA5-7995-46A9-A97E-16E38AD58950}" type="slidenum">
              <a:rPr lang="en-US" smtClean="0"/>
              <a:t>36</a:t>
            </a:fld>
            <a:endParaRPr lang="en-US" dirty="0"/>
          </a:p>
        </p:txBody>
      </p:sp>
    </p:spTree>
    <p:custDataLst>
      <p:tags r:id="rId1"/>
    </p:custDataLst>
    <p:extLst>
      <p:ext uri="{BB962C8B-B14F-4D97-AF65-F5344CB8AC3E}">
        <p14:creationId xmlns:p14="http://schemas.microsoft.com/office/powerpoint/2010/main" val="102369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brief look at other approaches</a:t>
            </a:r>
          </a:p>
        </p:txBody>
      </p:sp>
      <p:sp>
        <p:nvSpPr>
          <p:cNvPr id="3" name="Content Placeholder 2"/>
          <p:cNvSpPr>
            <a:spLocks noGrp="1"/>
          </p:cNvSpPr>
          <p:nvPr>
            <p:ph idx="1"/>
          </p:nvPr>
        </p:nvSpPr>
        <p:spPr/>
        <p:txBody>
          <a:bodyPr/>
          <a:lstStyle/>
          <a:p>
            <a:pPr>
              <a:defRPr/>
            </a:pPr>
            <a:r>
              <a:rPr lang="en-US" dirty="0"/>
              <a:t>“Embed” SQL in a general-purpose programming language</a:t>
            </a:r>
          </a:p>
          <a:p>
            <a:pPr lvl="1">
              <a:defRPr/>
            </a:pPr>
            <a:r>
              <a:rPr lang="en-US" dirty="0"/>
              <a:t>E.g.: embedded SQL</a:t>
            </a:r>
          </a:p>
          <a:p>
            <a:r>
              <a:rPr lang="en-US" dirty="0">
                <a:solidFill>
                  <a:schemeClr val="bg1">
                    <a:lumMod val="85000"/>
                  </a:schemeClr>
                </a:solidFill>
              </a:rPr>
              <a:t>Support database features through an object-oriented programming language</a:t>
            </a:r>
          </a:p>
          <a:p>
            <a:pPr lvl="1"/>
            <a:r>
              <a:rPr lang="en-US" dirty="0">
                <a:solidFill>
                  <a:schemeClr val="bg1">
                    <a:lumMod val="85000"/>
                  </a:schemeClr>
                </a:solidFill>
              </a:rPr>
              <a:t>E.g., object-relational mappers (ORM) like Python </a:t>
            </a:r>
            <a:r>
              <a:rPr lang="en-US" dirty="0" err="1">
                <a:solidFill>
                  <a:schemeClr val="bg1">
                    <a:lumMod val="85000"/>
                  </a:schemeClr>
                </a:solidFill>
              </a:rPr>
              <a:t>SQLAlchemy</a:t>
            </a:r>
            <a:endParaRPr lang="en-US" dirty="0">
              <a:solidFill>
                <a:schemeClr val="bg1">
                  <a:lumMod val="85000"/>
                </a:schemeClr>
              </a:solidFill>
            </a:endParaRPr>
          </a:p>
          <a:p>
            <a:pPr>
              <a:defRPr/>
            </a:pPr>
            <a:r>
              <a:rPr lang="en-US" dirty="0">
                <a:solidFill>
                  <a:schemeClr val="bg1">
                    <a:lumMod val="85000"/>
                  </a:schemeClr>
                </a:solidFill>
              </a:rPr>
              <a:t>Extend a general-purpose programming language with SQL-like constructs</a:t>
            </a:r>
          </a:p>
          <a:p>
            <a:pPr lvl="1">
              <a:defRPr/>
            </a:pPr>
            <a:r>
              <a:rPr lang="en-US" dirty="0">
                <a:solidFill>
                  <a:schemeClr val="bg1">
                    <a:lumMod val="85000"/>
                  </a:schemeClr>
                </a:solidFill>
              </a:rPr>
              <a:t>E.g.: LINQ (Language Integrated Query for .NET)</a:t>
            </a:r>
          </a:p>
        </p:txBody>
      </p:sp>
      <p:sp>
        <p:nvSpPr>
          <p:cNvPr id="4" name="Slide Number Placeholder 3"/>
          <p:cNvSpPr>
            <a:spLocks noGrp="1"/>
          </p:cNvSpPr>
          <p:nvPr>
            <p:ph type="sldNum" sz="quarter" idx="12"/>
          </p:nvPr>
        </p:nvSpPr>
        <p:spPr/>
        <p:txBody>
          <a:bodyPr/>
          <a:lstStyle/>
          <a:p>
            <a:fld id="{44C99FA5-7995-46A9-A97E-16E38AD58950}" type="slidenum">
              <a:rPr lang="en-US" smtClean="0"/>
              <a:t>37</a:t>
            </a:fld>
            <a:endParaRPr lang="en-US"/>
          </a:p>
        </p:txBody>
      </p:sp>
    </p:spTree>
    <p:extLst>
      <p:ext uri="{BB962C8B-B14F-4D97-AF65-F5344CB8AC3E}">
        <p14:creationId xmlns:p14="http://schemas.microsoft.com/office/powerpoint/2010/main" val="329433918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0420651-4943-4DB4-9C0A-DFE4B7A344CF}"/>
              </a:ext>
            </a:extLst>
          </p:cNvPr>
          <p:cNvSpPr/>
          <p:nvPr/>
        </p:nvSpPr>
        <p:spPr>
          <a:xfrm>
            <a:off x="256752" y="1883985"/>
            <a:ext cx="8459328" cy="458689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buFont typeface="Wingdings" pitchFamily="2" charset="2"/>
              <a:buNone/>
            </a:pPr>
            <a:r>
              <a:rPr lang="en-US" sz="1600" dirty="0">
                <a:solidFill>
                  <a:schemeClr val="accent2"/>
                </a:solidFill>
                <a:latin typeface="Prestige12 BT" panose="02070509030506020304" pitchFamily="49" charset="0"/>
              </a:rPr>
              <a:t>EXEC SQL </a:t>
            </a:r>
            <a:r>
              <a:rPr lang="en-US" sz="1600" dirty="0">
                <a:latin typeface="Prestige12 BT" panose="02070509030506020304" pitchFamily="49" charset="0"/>
              </a:rPr>
              <a:t>BEGIN DECLARE SECTION;</a:t>
            </a:r>
            <a:br>
              <a:rPr lang="en-US" sz="1600" dirty="0">
                <a:latin typeface="Prestige12 BT" panose="02070509030506020304" pitchFamily="49" charset="0"/>
              </a:rPr>
            </a:br>
            <a:r>
              <a:rPr lang="en-US" sz="1600" dirty="0">
                <a:latin typeface="Prestige12 BT" panose="02070509030506020304" pitchFamily="49" charset="0"/>
              </a:rPr>
              <a:t>int </a:t>
            </a:r>
            <a:r>
              <a:rPr lang="en-US" sz="1600" dirty="0" err="1">
                <a:latin typeface="Prestige12 BT" panose="02070509030506020304" pitchFamily="49" charset="0"/>
              </a:rPr>
              <a:t>thisUid</a:t>
            </a:r>
            <a:r>
              <a:rPr lang="en-US" sz="1600" dirty="0">
                <a:latin typeface="Prestige12 BT" panose="02070509030506020304" pitchFamily="49" charset="0"/>
              </a:rPr>
              <a:t>; float </a:t>
            </a:r>
            <a:r>
              <a:rPr lang="en-US" sz="1600" dirty="0" err="1">
                <a:latin typeface="Prestige12 BT" panose="02070509030506020304" pitchFamily="49" charset="0"/>
              </a:rPr>
              <a:t>thisPop</a:t>
            </a:r>
            <a:r>
              <a:rPr lang="en-US" sz="1600" dirty="0">
                <a:latin typeface="Prestige12 BT" panose="02070509030506020304" pitchFamily="49" charset="0"/>
              </a:rPr>
              <a:t>;</a:t>
            </a:r>
            <a:br>
              <a:rPr lang="en-US" sz="1600" dirty="0">
                <a:latin typeface="Prestige12 BT" panose="02070509030506020304" pitchFamily="49" charset="0"/>
              </a:rPr>
            </a:br>
            <a:r>
              <a:rPr lang="en-US" sz="1600" dirty="0">
                <a:solidFill>
                  <a:schemeClr val="accent2"/>
                </a:solidFill>
                <a:latin typeface="Prestige12 BT" panose="02070509030506020304" pitchFamily="49" charset="0"/>
              </a:rPr>
              <a:t>EXEC SQL </a:t>
            </a:r>
            <a:r>
              <a:rPr lang="en-US" sz="1600" dirty="0">
                <a:latin typeface="Prestige12 BT" panose="02070509030506020304" pitchFamily="49" charset="0"/>
              </a:rPr>
              <a:t>END DECLARE SECTION;</a:t>
            </a:r>
          </a:p>
          <a:p>
            <a:pPr>
              <a:buNone/>
            </a:pPr>
            <a:r>
              <a:rPr lang="en-US" sz="1600" dirty="0">
                <a:solidFill>
                  <a:schemeClr val="accent2"/>
                </a:solidFill>
                <a:latin typeface="Prestige12 BT" panose="02070509030506020304" pitchFamily="49" charset="0"/>
              </a:rPr>
              <a:t>EXEC SQL </a:t>
            </a:r>
            <a:r>
              <a:rPr lang="en-US" sz="1600" dirty="0">
                <a:latin typeface="Prestige12 BT" panose="02070509030506020304" pitchFamily="49" charset="0"/>
              </a:rPr>
              <a:t>DECLARE </a:t>
            </a:r>
            <a:r>
              <a:rPr lang="en-US" sz="1600" dirty="0" err="1">
                <a:latin typeface="Prestige12 BT" panose="02070509030506020304" pitchFamily="49" charset="0"/>
              </a:rPr>
              <a:t>ABCMember</a:t>
            </a:r>
            <a:r>
              <a:rPr lang="en-US" sz="1600" dirty="0">
                <a:latin typeface="Prestige12 BT" panose="02070509030506020304" pitchFamily="49" charset="0"/>
              </a:rPr>
              <a:t> CURSOR FOR</a:t>
            </a:r>
            <a:br>
              <a:rPr lang="en-US" sz="1600" dirty="0">
                <a:latin typeface="Prestige12 BT" panose="02070509030506020304" pitchFamily="49" charset="0"/>
              </a:rPr>
            </a:br>
            <a:r>
              <a:rPr lang="en-US" sz="1600" dirty="0">
                <a:latin typeface="Prestige12 BT" panose="02070509030506020304" pitchFamily="49" charset="0"/>
              </a:rPr>
              <a:t>    SELECT </a:t>
            </a:r>
            <a:r>
              <a:rPr lang="en-US" sz="1600" dirty="0" err="1">
                <a:latin typeface="Prestige12 BT" panose="02070509030506020304" pitchFamily="49" charset="0"/>
              </a:rPr>
              <a:t>uid</a:t>
            </a:r>
            <a:r>
              <a:rPr lang="en-US" sz="1600" dirty="0">
                <a:latin typeface="Prestige12 BT" panose="02070509030506020304" pitchFamily="49" charset="0"/>
              </a:rPr>
              <a:t>, pop FROM User</a:t>
            </a:r>
            <a:br>
              <a:rPr lang="en-US" sz="1600" dirty="0">
                <a:latin typeface="Prestige12 BT" panose="02070509030506020304" pitchFamily="49" charset="0"/>
              </a:rPr>
            </a:br>
            <a:r>
              <a:rPr lang="en-US" sz="1600" dirty="0">
                <a:latin typeface="Prestige12 BT" panose="02070509030506020304" pitchFamily="49" charset="0"/>
              </a:rPr>
              <a:t>    WHERE </a:t>
            </a:r>
            <a:r>
              <a:rPr lang="en-US" sz="1600" dirty="0" err="1">
                <a:latin typeface="Prestige12 BT" panose="02070509030506020304" pitchFamily="49" charset="0"/>
              </a:rPr>
              <a:t>uid</a:t>
            </a:r>
            <a:r>
              <a:rPr lang="en-US" sz="1600" dirty="0">
                <a:latin typeface="Prestige12 BT" panose="02070509030506020304" pitchFamily="49" charset="0"/>
              </a:rPr>
              <a:t> IN (SELECT </a:t>
            </a:r>
            <a:r>
              <a:rPr lang="en-US" sz="1600" dirty="0" err="1">
                <a:latin typeface="Prestige12 BT" panose="02070509030506020304" pitchFamily="49" charset="0"/>
              </a:rPr>
              <a:t>uid</a:t>
            </a:r>
            <a:r>
              <a:rPr lang="en-US" sz="1600" dirty="0">
                <a:latin typeface="Prestige12 BT" panose="02070509030506020304" pitchFamily="49" charset="0"/>
              </a:rPr>
              <a:t> FROM Member WHERE gid = '</a:t>
            </a:r>
            <a:r>
              <a:rPr lang="en-US" sz="1600" dirty="0" err="1">
                <a:latin typeface="Prestige12 BT" panose="02070509030506020304" pitchFamily="49" charset="0"/>
              </a:rPr>
              <a:t>abc</a:t>
            </a:r>
            <a:r>
              <a:rPr lang="en-US" sz="1600" dirty="0">
                <a:latin typeface="Prestige12 BT" panose="02070509030506020304" pitchFamily="49" charset="0"/>
              </a:rPr>
              <a:t>')</a:t>
            </a:r>
            <a:br>
              <a:rPr lang="en-US" sz="1600" dirty="0">
                <a:latin typeface="Prestige12 BT" panose="02070509030506020304" pitchFamily="49" charset="0"/>
              </a:rPr>
            </a:br>
            <a:r>
              <a:rPr lang="en-US" sz="1600" dirty="0">
                <a:latin typeface="Prestige12 BT" panose="02070509030506020304" pitchFamily="49" charset="0"/>
              </a:rPr>
              <a:t>    FOR UPDATE;</a:t>
            </a:r>
          </a:p>
          <a:p>
            <a:pPr>
              <a:buNone/>
            </a:pPr>
            <a:r>
              <a:rPr lang="en-US" sz="1600" dirty="0">
                <a:solidFill>
                  <a:schemeClr val="accent2"/>
                </a:solidFill>
                <a:latin typeface="Prestige12 BT" panose="02070509030506020304" pitchFamily="49" charset="0"/>
              </a:rPr>
              <a:t>EXEC SQL</a:t>
            </a:r>
            <a:r>
              <a:rPr lang="en-US" sz="1600" dirty="0">
                <a:latin typeface="Prestige12 BT" panose="02070509030506020304" pitchFamily="49" charset="0"/>
              </a:rPr>
              <a:t> OPEN </a:t>
            </a:r>
            <a:r>
              <a:rPr lang="en-US" sz="1600" dirty="0" err="1">
                <a:latin typeface="Prestige12 BT" panose="02070509030506020304" pitchFamily="49" charset="0"/>
              </a:rPr>
              <a:t>ABCMember</a:t>
            </a:r>
            <a:r>
              <a:rPr lang="en-US" sz="1600" dirty="0">
                <a:latin typeface="Prestige12 BT" panose="02070509030506020304" pitchFamily="49" charset="0"/>
              </a:rPr>
              <a:t>;</a:t>
            </a:r>
            <a:br>
              <a:rPr lang="en-US" sz="1600" dirty="0">
                <a:latin typeface="Prestige12 BT" panose="02070509030506020304" pitchFamily="49" charset="0"/>
              </a:rPr>
            </a:br>
            <a:r>
              <a:rPr lang="en-US" sz="1600" dirty="0">
                <a:solidFill>
                  <a:schemeClr val="accent2"/>
                </a:solidFill>
                <a:latin typeface="Prestige12 BT" panose="02070509030506020304" pitchFamily="49" charset="0"/>
              </a:rPr>
              <a:t>EXEC SQL </a:t>
            </a:r>
            <a:r>
              <a:rPr lang="en-US" sz="1600" dirty="0">
                <a:latin typeface="Prestige12 BT" panose="02070509030506020304" pitchFamily="49" charset="0"/>
              </a:rPr>
              <a:t>WHENEVER NOT FOUND DO break;</a:t>
            </a:r>
          </a:p>
          <a:p>
            <a:pPr>
              <a:buNone/>
            </a:pPr>
            <a:r>
              <a:rPr lang="en-US" sz="1600" dirty="0">
                <a:latin typeface="Prestige12 BT" panose="02070509030506020304" pitchFamily="49" charset="0"/>
              </a:rPr>
              <a:t>while (1) {</a:t>
            </a:r>
          </a:p>
          <a:p>
            <a:pPr>
              <a:buNone/>
            </a:pPr>
            <a:r>
              <a:rPr lang="en-US" sz="1600" dirty="0">
                <a:latin typeface="Prestige12 BT" panose="02070509030506020304" pitchFamily="49" charset="0"/>
              </a:rPr>
              <a:t>    </a:t>
            </a:r>
            <a:r>
              <a:rPr lang="en-US" sz="1600" dirty="0">
                <a:solidFill>
                  <a:schemeClr val="accent2"/>
                </a:solidFill>
                <a:latin typeface="Prestige12 BT" panose="02070509030506020304" pitchFamily="49" charset="0"/>
              </a:rPr>
              <a:t>EXEC SQL </a:t>
            </a:r>
            <a:r>
              <a:rPr lang="en-US" sz="1600" dirty="0">
                <a:latin typeface="Prestige12 BT" panose="02070509030506020304" pitchFamily="49" charset="0"/>
              </a:rPr>
              <a:t>FETCH </a:t>
            </a:r>
            <a:r>
              <a:rPr lang="en-US" sz="1600" dirty="0" err="1">
                <a:latin typeface="Prestige12 BT" panose="02070509030506020304" pitchFamily="49" charset="0"/>
              </a:rPr>
              <a:t>ABCMember</a:t>
            </a:r>
            <a:r>
              <a:rPr lang="en-US" sz="1600" dirty="0">
                <a:latin typeface="Prestige12 BT" panose="02070509030506020304" pitchFamily="49" charset="0"/>
              </a:rPr>
              <a:t> INTO :</a:t>
            </a:r>
            <a:r>
              <a:rPr lang="en-US" sz="1600" dirty="0" err="1">
                <a:latin typeface="Prestige12 BT" panose="02070509030506020304" pitchFamily="49" charset="0"/>
              </a:rPr>
              <a:t>thisUid</a:t>
            </a:r>
            <a:r>
              <a:rPr lang="en-US" sz="1600" dirty="0">
                <a:latin typeface="Prestige12 BT" panose="02070509030506020304" pitchFamily="49" charset="0"/>
              </a:rPr>
              <a:t>, :</a:t>
            </a:r>
            <a:r>
              <a:rPr lang="en-US" sz="1600" dirty="0" err="1">
                <a:latin typeface="Prestige12 BT" panose="02070509030506020304" pitchFamily="49" charset="0"/>
              </a:rPr>
              <a:t>thisPop</a:t>
            </a:r>
            <a:r>
              <a:rPr lang="en-US" sz="1600" dirty="0">
                <a:latin typeface="Prestige12 BT" panose="02070509030506020304" pitchFamily="49" charset="0"/>
              </a:rPr>
              <a:t>;</a:t>
            </a:r>
            <a:br>
              <a:rPr lang="en-US" sz="1600" dirty="0">
                <a:latin typeface="Prestige12 BT" panose="02070509030506020304" pitchFamily="49" charset="0"/>
              </a:rPr>
            </a:br>
            <a:r>
              <a:rPr lang="en-US" sz="1600" dirty="0">
                <a:latin typeface="Prestige12 BT" panose="02070509030506020304" pitchFamily="49" charset="0"/>
              </a:rPr>
              <a:t>    </a:t>
            </a:r>
            <a:r>
              <a:rPr lang="en-US" sz="1600" dirty="0" err="1">
                <a:latin typeface="Prestige12 BT" panose="02070509030506020304" pitchFamily="49" charset="0"/>
              </a:rPr>
              <a:t>printf</a:t>
            </a:r>
            <a:r>
              <a:rPr lang="en-US" sz="1600" dirty="0">
                <a:latin typeface="Prestige12 BT" panose="02070509030506020304" pitchFamily="49" charset="0"/>
              </a:rPr>
              <a:t>("</a:t>
            </a:r>
            <a:r>
              <a:rPr lang="en-US" sz="1600" dirty="0" err="1">
                <a:latin typeface="Prestige12 BT" panose="02070509030506020304" pitchFamily="49" charset="0"/>
              </a:rPr>
              <a:t>uid</a:t>
            </a:r>
            <a:r>
              <a:rPr lang="en-US" sz="1600" dirty="0">
                <a:latin typeface="Prestige12 BT" panose="02070509030506020304" pitchFamily="49" charset="0"/>
              </a:rPr>
              <a:t> %d: current pop is %f\n", </a:t>
            </a:r>
            <a:r>
              <a:rPr lang="en-US" sz="1600" dirty="0" err="1">
                <a:latin typeface="Prestige12 BT" panose="02070509030506020304" pitchFamily="49" charset="0"/>
              </a:rPr>
              <a:t>thisUid</a:t>
            </a:r>
            <a:r>
              <a:rPr lang="en-US" sz="1600" dirty="0">
                <a:latin typeface="Prestige12 BT" panose="02070509030506020304" pitchFamily="49" charset="0"/>
              </a:rPr>
              <a:t>, </a:t>
            </a:r>
            <a:r>
              <a:rPr lang="en-US" sz="1600" dirty="0" err="1">
                <a:latin typeface="Prestige12 BT" panose="02070509030506020304" pitchFamily="49" charset="0"/>
              </a:rPr>
              <a:t>thisPop</a:t>
            </a:r>
            <a:r>
              <a:rPr lang="en-US" sz="1600" dirty="0">
                <a:latin typeface="Prestige12 BT" panose="02070509030506020304" pitchFamily="49" charset="0"/>
              </a:rPr>
              <a:t>);</a:t>
            </a:r>
          </a:p>
          <a:p>
            <a:pPr>
              <a:buNone/>
            </a:pPr>
            <a:r>
              <a:rPr lang="en-US" sz="1600" dirty="0">
                <a:latin typeface="Prestige12 BT" panose="02070509030506020304" pitchFamily="49" charset="0"/>
              </a:rPr>
              <a:t>	    </a:t>
            </a:r>
            <a:r>
              <a:rPr lang="en-US" sz="1600" dirty="0" err="1">
                <a:latin typeface="Prestige12 BT" panose="02070509030506020304" pitchFamily="49" charset="0"/>
              </a:rPr>
              <a:t>printf</a:t>
            </a:r>
            <a:r>
              <a:rPr lang="en-US" sz="1600" dirty="0">
                <a:latin typeface="Prestige12 BT" panose="02070509030506020304" pitchFamily="49" charset="0"/>
              </a:rPr>
              <a:t>("Enter new popularity: ");</a:t>
            </a:r>
            <a:br>
              <a:rPr lang="en-US" sz="1600" dirty="0">
                <a:latin typeface="Prestige12 BT" panose="02070509030506020304" pitchFamily="49" charset="0"/>
              </a:rPr>
            </a:br>
            <a:r>
              <a:rPr lang="en-US" sz="1600" dirty="0">
                <a:latin typeface="Prestige12 BT" panose="02070509030506020304" pitchFamily="49" charset="0"/>
              </a:rPr>
              <a:t>    </a:t>
            </a:r>
            <a:r>
              <a:rPr lang="en-US" sz="1600" dirty="0" err="1">
                <a:latin typeface="Prestige12 BT" panose="02070509030506020304" pitchFamily="49" charset="0"/>
              </a:rPr>
              <a:t>scanf</a:t>
            </a:r>
            <a:r>
              <a:rPr lang="en-US" sz="1600" dirty="0">
                <a:latin typeface="Prestige12 BT" panose="02070509030506020304" pitchFamily="49" charset="0"/>
              </a:rPr>
              <a:t>("%f", &amp;</a:t>
            </a:r>
            <a:r>
              <a:rPr lang="en-US" sz="1600" dirty="0" err="1">
                <a:latin typeface="Prestige12 BT" panose="02070509030506020304" pitchFamily="49" charset="0"/>
              </a:rPr>
              <a:t>thisPop</a:t>
            </a:r>
            <a:r>
              <a:rPr lang="en-US" sz="1600" dirty="0">
                <a:latin typeface="Prestige12 BT" panose="02070509030506020304" pitchFamily="49" charset="0"/>
              </a:rPr>
              <a:t>);</a:t>
            </a:r>
            <a:br>
              <a:rPr lang="en-US" sz="1600" dirty="0">
                <a:latin typeface="Prestige12 BT" panose="02070509030506020304" pitchFamily="49" charset="0"/>
              </a:rPr>
            </a:br>
            <a:r>
              <a:rPr lang="en-US" sz="1600" dirty="0">
                <a:latin typeface="Prestige12 BT" panose="02070509030506020304" pitchFamily="49" charset="0"/>
              </a:rPr>
              <a:t>    </a:t>
            </a:r>
            <a:r>
              <a:rPr lang="en-US" sz="1600" dirty="0">
                <a:solidFill>
                  <a:schemeClr val="accent2"/>
                </a:solidFill>
                <a:latin typeface="Prestige12 BT" panose="02070509030506020304" pitchFamily="49" charset="0"/>
              </a:rPr>
              <a:t>EXEC SQL </a:t>
            </a:r>
            <a:r>
              <a:rPr lang="en-US" sz="1600" dirty="0">
                <a:latin typeface="Prestige12 BT" panose="02070509030506020304" pitchFamily="49" charset="0"/>
              </a:rPr>
              <a:t>UPDATE User SET pop = :</a:t>
            </a:r>
            <a:r>
              <a:rPr lang="en-US" sz="1600" dirty="0" err="1">
                <a:latin typeface="Prestige12 BT" panose="02070509030506020304" pitchFamily="49" charset="0"/>
              </a:rPr>
              <a:t>thisPop</a:t>
            </a:r>
            <a:br>
              <a:rPr lang="en-US" sz="1600" dirty="0">
                <a:latin typeface="Prestige12 BT" panose="02070509030506020304" pitchFamily="49" charset="0"/>
              </a:rPr>
            </a:br>
            <a:r>
              <a:rPr lang="en-US" sz="1600" dirty="0">
                <a:latin typeface="Prestige12 BT" panose="02070509030506020304" pitchFamily="49" charset="0"/>
              </a:rPr>
              <a:t>        WHERE CURRENT OF </a:t>
            </a:r>
            <a:r>
              <a:rPr lang="en-US" sz="1600" dirty="0" err="1">
                <a:latin typeface="Prestige12 BT" panose="02070509030506020304" pitchFamily="49" charset="0"/>
              </a:rPr>
              <a:t>ABCMember</a:t>
            </a:r>
            <a:r>
              <a:rPr lang="en-US" sz="1600" dirty="0">
                <a:latin typeface="Prestige12 BT" panose="02070509030506020304" pitchFamily="49" charset="0"/>
              </a:rPr>
              <a:t>;</a:t>
            </a:r>
            <a:br>
              <a:rPr lang="en-US" sz="1600" dirty="0">
                <a:latin typeface="Prestige12 BT" panose="02070509030506020304" pitchFamily="49" charset="0"/>
              </a:rPr>
            </a:br>
            <a:r>
              <a:rPr lang="en-US" sz="1600" dirty="0">
                <a:latin typeface="Prestige12 BT" panose="02070509030506020304" pitchFamily="49" charset="0"/>
              </a:rPr>
              <a:t>}</a:t>
            </a:r>
          </a:p>
          <a:p>
            <a:pPr>
              <a:buNone/>
            </a:pPr>
            <a:r>
              <a:rPr lang="en-US" sz="1600" dirty="0">
                <a:solidFill>
                  <a:schemeClr val="accent2"/>
                </a:solidFill>
                <a:latin typeface="Prestige12 BT" panose="02070509030506020304" pitchFamily="49" charset="0"/>
              </a:rPr>
              <a:t>EXEC SQL </a:t>
            </a:r>
            <a:r>
              <a:rPr lang="en-US" sz="1600" dirty="0">
                <a:latin typeface="Prestige12 BT" panose="02070509030506020304" pitchFamily="49" charset="0"/>
              </a:rPr>
              <a:t>CLOSE </a:t>
            </a:r>
            <a:r>
              <a:rPr lang="en-US" sz="1600" dirty="0" err="1">
                <a:latin typeface="Prestige12 BT" panose="02070509030506020304" pitchFamily="49" charset="0"/>
              </a:rPr>
              <a:t>ABCMember</a:t>
            </a:r>
            <a:r>
              <a:rPr lang="en-US" sz="1600" dirty="0">
                <a:latin typeface="Prestige12 BT" panose="02070509030506020304" pitchFamily="49" charset="0"/>
              </a:rPr>
              <a:t>;</a:t>
            </a:r>
          </a:p>
        </p:txBody>
      </p:sp>
      <p:sp>
        <p:nvSpPr>
          <p:cNvPr id="2" name="Title 1"/>
          <p:cNvSpPr>
            <a:spLocks noGrp="1"/>
          </p:cNvSpPr>
          <p:nvPr>
            <p:ph type="title"/>
          </p:nvPr>
        </p:nvSpPr>
        <p:spPr/>
        <p:txBody>
          <a:bodyPr/>
          <a:lstStyle/>
          <a:p>
            <a:r>
              <a:rPr lang="en-US" dirty="0"/>
              <a:t>Embedding SQL in a language</a:t>
            </a:r>
          </a:p>
        </p:txBody>
      </p:sp>
      <p:sp>
        <p:nvSpPr>
          <p:cNvPr id="4" name="Slide Number Placeholder 3"/>
          <p:cNvSpPr>
            <a:spLocks noGrp="1"/>
          </p:cNvSpPr>
          <p:nvPr>
            <p:ph type="sldNum" sz="quarter" idx="12"/>
          </p:nvPr>
        </p:nvSpPr>
        <p:spPr/>
        <p:txBody>
          <a:bodyPr/>
          <a:lstStyle/>
          <a:p>
            <a:fld id="{44C99FA5-7995-46A9-A97E-16E38AD58950}" type="slidenum">
              <a:rPr lang="en-US" smtClean="0"/>
              <a:t>38</a:t>
            </a:fld>
            <a:endParaRPr lang="en-US"/>
          </a:p>
        </p:txBody>
      </p:sp>
      <p:sp>
        <p:nvSpPr>
          <p:cNvPr id="5" name="TextBox 4"/>
          <p:cNvSpPr txBox="1"/>
          <p:nvPr/>
        </p:nvSpPr>
        <p:spPr>
          <a:xfrm>
            <a:off x="4657584" y="1883985"/>
            <a:ext cx="3618751" cy="646331"/>
          </a:xfrm>
          <a:prstGeom prst="rect">
            <a:avLst/>
          </a:prstGeom>
          <a:noFill/>
        </p:spPr>
        <p:txBody>
          <a:bodyPr wrap="square" rtlCol="0">
            <a:spAutoFit/>
          </a:bodyPr>
          <a:lstStyle/>
          <a:p>
            <a:r>
              <a:rPr lang="en-US" dirty="0">
                <a:solidFill>
                  <a:schemeClr val="accent2"/>
                </a:solidFill>
              </a:rPr>
              <a:t>Declare variables to be “shared” between the application and DBMS</a:t>
            </a:r>
            <a:endParaRPr lang="en-US" sz="1200" dirty="0">
              <a:solidFill>
                <a:schemeClr val="accent2"/>
              </a:solidFill>
            </a:endParaRPr>
          </a:p>
        </p:txBody>
      </p:sp>
      <p:sp>
        <p:nvSpPr>
          <p:cNvPr id="6" name="Right Brace 5"/>
          <p:cNvSpPr/>
          <p:nvPr/>
        </p:nvSpPr>
        <p:spPr>
          <a:xfrm>
            <a:off x="4486416" y="1923372"/>
            <a:ext cx="171168" cy="525501"/>
          </a:xfrm>
          <a:prstGeom prst="rightBrace">
            <a:avLst>
              <a:gd name="adj1" fmla="val 55701"/>
              <a:gd name="adj2" fmla="val 50000"/>
            </a:avLst>
          </a:prstGeom>
          <a:ln w="127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Rectangle 7">
            <a:extLst>
              <a:ext uri="{FF2B5EF4-FFF2-40B4-BE49-F238E27FC236}">
                <a16:creationId xmlns:a16="http://schemas.microsoft.com/office/drawing/2014/main" id="{041B4FD7-5FCF-2245-B317-87B5B1B0D815}"/>
              </a:ext>
            </a:extLst>
          </p:cNvPr>
          <p:cNvSpPr/>
          <p:nvPr/>
        </p:nvSpPr>
        <p:spPr>
          <a:xfrm>
            <a:off x="342336" y="1342321"/>
            <a:ext cx="2193229" cy="523220"/>
          </a:xfrm>
          <a:prstGeom prst="rect">
            <a:avLst/>
          </a:prstGeom>
        </p:spPr>
        <p:txBody>
          <a:bodyPr wrap="none">
            <a:spAutoFit/>
          </a:bodyPr>
          <a:lstStyle/>
          <a:p>
            <a:r>
              <a:rPr lang="en-US" sz="2800" dirty="0"/>
              <a:t> Example in C</a:t>
            </a:r>
          </a:p>
        </p:txBody>
      </p:sp>
    </p:spTree>
    <p:custDataLst>
      <p:tags r:id="rId1"/>
    </p:custDataLst>
    <p:extLst>
      <p:ext uri="{BB962C8B-B14F-4D97-AF65-F5344CB8AC3E}">
        <p14:creationId xmlns:p14="http://schemas.microsoft.com/office/powerpoint/2010/main" val="3365223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BE3DC0-5325-4343-B4B1-BA151C4FD325}"/>
              </a:ext>
            </a:extLst>
          </p:cNvPr>
          <p:cNvSpPr>
            <a:spLocks noGrp="1"/>
          </p:cNvSpPr>
          <p:nvPr>
            <p:ph type="title"/>
          </p:nvPr>
        </p:nvSpPr>
        <p:spPr/>
        <p:txBody>
          <a:bodyPr>
            <a:normAutofit/>
          </a:bodyPr>
          <a:lstStyle/>
          <a:p>
            <a:r>
              <a:rPr lang="en-CA" dirty="0"/>
              <a:t>Embedded SQL </a:t>
            </a:r>
            <a:r>
              <a:rPr lang="en-CA" dirty="0" err="1"/>
              <a:t>v.s</a:t>
            </a:r>
            <a:r>
              <a:rPr lang="en-CA" dirty="0"/>
              <a:t>. API</a:t>
            </a:r>
          </a:p>
        </p:txBody>
      </p:sp>
      <p:sp>
        <p:nvSpPr>
          <p:cNvPr id="3" name="Content Placeholder 2">
            <a:extLst>
              <a:ext uri="{FF2B5EF4-FFF2-40B4-BE49-F238E27FC236}">
                <a16:creationId xmlns:a16="http://schemas.microsoft.com/office/drawing/2014/main" id="{856858C4-E771-44A0-86E5-DD346732A09E}"/>
              </a:ext>
            </a:extLst>
          </p:cNvPr>
          <p:cNvSpPr>
            <a:spLocks noGrp="1"/>
          </p:cNvSpPr>
          <p:nvPr>
            <p:ph idx="1"/>
          </p:nvPr>
        </p:nvSpPr>
        <p:spPr/>
        <p:txBody>
          <a:bodyPr/>
          <a:lstStyle/>
          <a:p>
            <a:r>
              <a:rPr lang="en-CA" dirty="0"/>
              <a:t>Pros of embedded SQL:</a:t>
            </a:r>
          </a:p>
          <a:p>
            <a:pPr lvl="1"/>
            <a:r>
              <a:rPr lang="en-CA" dirty="0"/>
              <a:t>Be processed by a preprocessor prior to compilation </a:t>
            </a:r>
            <a:r>
              <a:rPr lang="en-CA" dirty="0">
                <a:sym typeface="Wingdings" panose="05000000000000000000" pitchFamily="2" charset="2"/>
              </a:rPr>
              <a:t> may </a:t>
            </a:r>
            <a:r>
              <a:rPr lang="en-CA" dirty="0"/>
              <a:t>catch SQL-related errors at preprocessing time</a:t>
            </a:r>
          </a:p>
          <a:p>
            <a:pPr lvl="1"/>
            <a:r>
              <a:rPr lang="en-CA" dirty="0"/>
              <a:t>API: SQL statements are interpreted at runtime</a:t>
            </a:r>
          </a:p>
          <a:p>
            <a:pPr lvl="1"/>
            <a:endParaRPr lang="en-CA" dirty="0"/>
          </a:p>
          <a:p>
            <a:r>
              <a:rPr lang="en-CA" dirty="0"/>
              <a:t>Cons of embedded SQL:</a:t>
            </a:r>
          </a:p>
          <a:p>
            <a:pPr lvl="1"/>
            <a:r>
              <a:rPr lang="en-CA" dirty="0"/>
              <a:t>New host language code </a:t>
            </a:r>
            <a:r>
              <a:rPr lang="en-CA" dirty="0">
                <a:sym typeface="Wingdings" panose="05000000000000000000" pitchFamily="2" charset="2"/>
              </a:rPr>
              <a:t> complicate debugging </a:t>
            </a:r>
            <a:endParaRPr lang="en-CA" dirty="0"/>
          </a:p>
          <a:p>
            <a:endParaRPr lang="en-CA" dirty="0"/>
          </a:p>
        </p:txBody>
      </p:sp>
      <p:sp>
        <p:nvSpPr>
          <p:cNvPr id="4" name="Slide Number Placeholder 3">
            <a:extLst>
              <a:ext uri="{FF2B5EF4-FFF2-40B4-BE49-F238E27FC236}">
                <a16:creationId xmlns:a16="http://schemas.microsoft.com/office/drawing/2014/main" id="{DFE6D54D-AE1C-415E-B96A-62710BA7B2A3}"/>
              </a:ext>
            </a:extLst>
          </p:cNvPr>
          <p:cNvSpPr>
            <a:spLocks noGrp="1"/>
          </p:cNvSpPr>
          <p:nvPr>
            <p:ph type="sldNum" sz="quarter" idx="12"/>
          </p:nvPr>
        </p:nvSpPr>
        <p:spPr/>
        <p:txBody>
          <a:bodyPr/>
          <a:lstStyle/>
          <a:p>
            <a:fld id="{44C99FA5-7995-46A9-A97E-16E38AD58950}" type="slidenum">
              <a:rPr lang="en-US" smtClean="0"/>
              <a:t>39</a:t>
            </a:fld>
            <a:endParaRPr lang="en-US"/>
          </a:p>
        </p:txBody>
      </p:sp>
    </p:spTree>
    <p:custDataLst>
      <p:tags r:id="rId1"/>
    </p:custDataLst>
    <p:extLst>
      <p:ext uri="{BB962C8B-B14F-4D97-AF65-F5344CB8AC3E}">
        <p14:creationId xmlns:p14="http://schemas.microsoft.com/office/powerpoint/2010/main" val="3509077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brief look at other approaches</a:t>
            </a:r>
          </a:p>
        </p:txBody>
      </p:sp>
      <p:sp>
        <p:nvSpPr>
          <p:cNvPr id="3" name="Content Placeholder 2"/>
          <p:cNvSpPr>
            <a:spLocks noGrp="1"/>
          </p:cNvSpPr>
          <p:nvPr>
            <p:ph idx="1"/>
          </p:nvPr>
        </p:nvSpPr>
        <p:spPr/>
        <p:txBody>
          <a:bodyPr/>
          <a:lstStyle/>
          <a:p>
            <a:pPr>
              <a:defRPr/>
            </a:pPr>
            <a:r>
              <a:rPr lang="en-US" dirty="0">
                <a:solidFill>
                  <a:schemeClr val="bg1">
                    <a:lumMod val="85000"/>
                  </a:schemeClr>
                </a:solidFill>
              </a:rPr>
              <a:t>“Embed” SQL in a general-purpose programming language</a:t>
            </a:r>
          </a:p>
          <a:p>
            <a:pPr lvl="1">
              <a:defRPr/>
            </a:pPr>
            <a:r>
              <a:rPr lang="en-US" dirty="0">
                <a:solidFill>
                  <a:schemeClr val="bg1">
                    <a:lumMod val="85000"/>
                  </a:schemeClr>
                </a:solidFill>
              </a:rPr>
              <a:t>E.g.: embedded SQL</a:t>
            </a:r>
          </a:p>
          <a:p>
            <a:r>
              <a:rPr lang="en-US" dirty="0"/>
              <a:t>Support database features through an object-oriented programming language</a:t>
            </a:r>
          </a:p>
          <a:p>
            <a:pPr lvl="1"/>
            <a:r>
              <a:rPr lang="en-US" dirty="0"/>
              <a:t>E.g., object-relational mappers (ORM) like Python </a:t>
            </a:r>
            <a:r>
              <a:rPr lang="en-US" dirty="0" err="1"/>
              <a:t>SQLAlchemy</a:t>
            </a:r>
            <a:endParaRPr lang="en-US" dirty="0"/>
          </a:p>
          <a:p>
            <a:pPr>
              <a:defRPr/>
            </a:pPr>
            <a:r>
              <a:rPr lang="en-US" dirty="0">
                <a:solidFill>
                  <a:schemeClr val="bg1">
                    <a:lumMod val="85000"/>
                  </a:schemeClr>
                </a:solidFill>
              </a:rPr>
              <a:t>Extend a general-purpose programming language with SQL-like constructs</a:t>
            </a:r>
          </a:p>
          <a:p>
            <a:pPr lvl="1">
              <a:defRPr/>
            </a:pPr>
            <a:r>
              <a:rPr lang="en-US" dirty="0">
                <a:solidFill>
                  <a:schemeClr val="bg1">
                    <a:lumMod val="85000"/>
                  </a:schemeClr>
                </a:solidFill>
              </a:rPr>
              <a:t>E.g.: LINQ (Language Integrated Query for .NET)</a:t>
            </a:r>
          </a:p>
        </p:txBody>
      </p:sp>
      <p:sp>
        <p:nvSpPr>
          <p:cNvPr id="4" name="Slide Number Placeholder 3"/>
          <p:cNvSpPr>
            <a:spLocks noGrp="1"/>
          </p:cNvSpPr>
          <p:nvPr>
            <p:ph type="sldNum" sz="quarter" idx="12"/>
          </p:nvPr>
        </p:nvSpPr>
        <p:spPr/>
        <p:txBody>
          <a:bodyPr/>
          <a:lstStyle/>
          <a:p>
            <a:fld id="{44C99FA5-7995-46A9-A97E-16E38AD58950}" type="slidenum">
              <a:rPr lang="en-US" smtClean="0"/>
              <a:t>40</a:t>
            </a:fld>
            <a:endParaRPr lang="en-US"/>
          </a:p>
        </p:txBody>
      </p:sp>
    </p:spTree>
    <p:extLst>
      <p:ext uri="{BB962C8B-B14F-4D97-AF65-F5344CB8AC3E}">
        <p14:creationId xmlns:p14="http://schemas.microsoft.com/office/powerpoint/2010/main" val="19915305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Object-relational mapping</a:t>
            </a:r>
          </a:p>
        </p:txBody>
      </p:sp>
      <p:sp>
        <p:nvSpPr>
          <p:cNvPr id="3" name="Content Placeholder 2"/>
          <p:cNvSpPr>
            <a:spLocks noGrp="1"/>
          </p:cNvSpPr>
          <p:nvPr>
            <p:ph idx="1"/>
          </p:nvPr>
        </p:nvSpPr>
        <p:spPr>
          <a:xfrm>
            <a:off x="342336" y="1456854"/>
            <a:ext cx="8173014" cy="5264622"/>
          </a:xfrm>
        </p:spPr>
        <p:txBody>
          <a:bodyPr>
            <a:normAutofit fontScale="85000" lnSpcReduction="20000"/>
          </a:bodyPr>
          <a:lstStyle/>
          <a:p>
            <a:r>
              <a:rPr lang="en-US" dirty="0"/>
              <a:t>Example: Python </a:t>
            </a:r>
            <a:r>
              <a:rPr lang="en-US" dirty="0" err="1"/>
              <a:t>SQLAlchemy</a:t>
            </a:r>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endParaRPr lang="en-US" dirty="0"/>
          </a:p>
          <a:p>
            <a:r>
              <a:rPr lang="en-US" dirty="0"/>
              <a:t>Automatic data mapping and query translation</a:t>
            </a:r>
          </a:p>
          <a:p>
            <a:r>
              <a:rPr lang="en-US" dirty="0"/>
              <a:t>But syntax may vary for different host languages</a:t>
            </a:r>
          </a:p>
          <a:p>
            <a:r>
              <a:rPr lang="en-US" dirty="0"/>
              <a:t>Very convenient for simple structures/queries, but quickly get complicated and less intuitive for more complex situations</a:t>
            </a:r>
          </a:p>
        </p:txBody>
      </p:sp>
      <p:sp>
        <p:nvSpPr>
          <p:cNvPr id="4" name="Slide Number Placeholder 3"/>
          <p:cNvSpPr>
            <a:spLocks noGrp="1"/>
          </p:cNvSpPr>
          <p:nvPr>
            <p:ph type="sldNum" sz="quarter" idx="12"/>
          </p:nvPr>
        </p:nvSpPr>
        <p:spPr/>
        <p:txBody>
          <a:bodyPr/>
          <a:lstStyle/>
          <a:p>
            <a:fld id="{44C99FA5-7995-46A9-A97E-16E38AD58950}" type="slidenum">
              <a:rPr lang="en-US" smtClean="0"/>
              <a:t>41</a:t>
            </a:fld>
            <a:endParaRPr lang="en-US"/>
          </a:p>
        </p:txBody>
      </p:sp>
      <p:sp>
        <p:nvSpPr>
          <p:cNvPr id="5" name="Rectangle 4">
            <a:extLst>
              <a:ext uri="{FF2B5EF4-FFF2-40B4-BE49-F238E27FC236}">
                <a16:creationId xmlns:a16="http://schemas.microsoft.com/office/drawing/2014/main" id="{A4440CA6-E4B5-994C-9706-44769805EEA5}"/>
              </a:ext>
            </a:extLst>
          </p:cNvPr>
          <p:cNvSpPr/>
          <p:nvPr/>
        </p:nvSpPr>
        <p:spPr>
          <a:xfrm>
            <a:off x="254642" y="1893077"/>
            <a:ext cx="3657601" cy="1015663"/>
          </a:xfrm>
          <a:prstGeom prst="rect">
            <a:avLst/>
          </a:prstGeom>
          <a:solidFill>
            <a:schemeClr val="tx1"/>
          </a:solidFill>
        </p:spPr>
        <p:txBody>
          <a:bodyPr wrap="square">
            <a:spAutoFit/>
          </a:bodyPr>
          <a:lstStyle/>
          <a:p>
            <a:r>
              <a:rPr lang="en-US" sz="1200" dirty="0">
                <a:solidFill>
                  <a:schemeClr val="accent2"/>
                </a:solidFill>
                <a:latin typeface="Prestige12 BT Roman" panose="02070509030506020304" pitchFamily="49" charset="0"/>
              </a:rPr>
              <a:t>class User(Base):</a:t>
            </a:r>
          </a:p>
          <a:p>
            <a:r>
              <a:rPr lang="en-US" sz="1200" dirty="0">
                <a:solidFill>
                  <a:schemeClr val="bg1"/>
                </a:solidFill>
                <a:latin typeface="Prestige12 BT Roman" panose="02070509030506020304" pitchFamily="49" charset="0"/>
              </a:rPr>
              <a:t>  __</a:t>
            </a:r>
            <a:r>
              <a:rPr lang="en-US" sz="1200" dirty="0" err="1">
                <a:solidFill>
                  <a:schemeClr val="bg1"/>
                </a:solidFill>
                <a:latin typeface="Prestige12 BT Roman" panose="02070509030506020304" pitchFamily="49" charset="0"/>
              </a:rPr>
              <a:t>tablename</a:t>
            </a:r>
            <a:r>
              <a:rPr lang="en-US" sz="1200" dirty="0">
                <a:solidFill>
                  <a:schemeClr val="bg1"/>
                </a:solidFill>
                <a:latin typeface="Prestige12 BT Roman" panose="02070509030506020304" pitchFamily="49" charset="0"/>
              </a:rPr>
              <a:t>__ = 'users'</a:t>
            </a:r>
          </a:p>
          <a:p>
            <a:r>
              <a:rPr lang="en-US" sz="1200" dirty="0">
                <a:solidFill>
                  <a:schemeClr val="bg1"/>
                </a:solidFill>
                <a:latin typeface="Prestige12 BT Roman" panose="02070509030506020304" pitchFamily="49" charset="0"/>
              </a:rPr>
              <a:t>  id = Column(Integer, </a:t>
            </a:r>
            <a:r>
              <a:rPr lang="en-US" sz="1200" dirty="0" err="1">
                <a:solidFill>
                  <a:schemeClr val="bg1"/>
                </a:solidFill>
                <a:latin typeface="Prestige12 BT Roman" panose="02070509030506020304" pitchFamily="49" charset="0"/>
              </a:rPr>
              <a:t>primary_key</a:t>
            </a:r>
            <a:r>
              <a:rPr lang="en-US" sz="1200" dirty="0">
                <a:solidFill>
                  <a:schemeClr val="bg1"/>
                </a:solidFill>
                <a:latin typeface="Prestige12 BT Roman" panose="02070509030506020304" pitchFamily="49" charset="0"/>
              </a:rPr>
              <a:t>=True)</a:t>
            </a:r>
          </a:p>
          <a:p>
            <a:r>
              <a:rPr lang="en-US" sz="1200" dirty="0">
                <a:solidFill>
                  <a:schemeClr val="bg1"/>
                </a:solidFill>
                <a:latin typeface="Prestige12 BT Roman" panose="02070509030506020304" pitchFamily="49" charset="0"/>
              </a:rPr>
              <a:t>  name = Column(String)</a:t>
            </a:r>
          </a:p>
          <a:p>
            <a:r>
              <a:rPr lang="en-US" sz="1200" dirty="0">
                <a:solidFill>
                  <a:schemeClr val="bg1"/>
                </a:solidFill>
                <a:latin typeface="Prestige12 BT Roman" panose="02070509030506020304" pitchFamily="49" charset="0"/>
              </a:rPr>
              <a:t>  password = Column(String)</a:t>
            </a:r>
          </a:p>
        </p:txBody>
      </p:sp>
      <p:sp>
        <p:nvSpPr>
          <p:cNvPr id="6" name="Rectangle 5">
            <a:extLst>
              <a:ext uri="{FF2B5EF4-FFF2-40B4-BE49-F238E27FC236}">
                <a16:creationId xmlns:a16="http://schemas.microsoft.com/office/drawing/2014/main" id="{6DA4AE93-35AE-AC43-A84F-FFF558B058EF}"/>
              </a:ext>
            </a:extLst>
          </p:cNvPr>
          <p:cNvSpPr/>
          <p:nvPr/>
        </p:nvSpPr>
        <p:spPr>
          <a:xfrm>
            <a:off x="3943350" y="1893077"/>
            <a:ext cx="4540893" cy="1015663"/>
          </a:xfrm>
          <a:prstGeom prst="rect">
            <a:avLst/>
          </a:prstGeom>
          <a:solidFill>
            <a:schemeClr val="tx1"/>
          </a:solidFill>
        </p:spPr>
        <p:txBody>
          <a:bodyPr wrap="square">
            <a:spAutoFit/>
          </a:bodyPr>
          <a:lstStyle/>
          <a:p>
            <a:r>
              <a:rPr lang="en-US" sz="1200" dirty="0">
                <a:solidFill>
                  <a:schemeClr val="accent2"/>
                </a:solidFill>
                <a:latin typeface="Prestige12 BT Roman" panose="02070509030506020304" pitchFamily="49" charset="0"/>
              </a:rPr>
              <a:t>class Address(Base):</a:t>
            </a:r>
          </a:p>
          <a:p>
            <a:r>
              <a:rPr lang="en-US" sz="1200" dirty="0">
                <a:solidFill>
                  <a:schemeClr val="bg1"/>
                </a:solidFill>
                <a:latin typeface="Prestige12 BT Roman" panose="02070509030506020304" pitchFamily="49" charset="0"/>
              </a:rPr>
              <a:t>  __</a:t>
            </a:r>
            <a:r>
              <a:rPr lang="en-US" sz="1200" dirty="0" err="1">
                <a:solidFill>
                  <a:schemeClr val="bg1"/>
                </a:solidFill>
                <a:latin typeface="Prestige12 BT Roman" panose="02070509030506020304" pitchFamily="49" charset="0"/>
              </a:rPr>
              <a:t>tablename</a:t>
            </a:r>
            <a:r>
              <a:rPr lang="en-US" sz="1200" dirty="0">
                <a:solidFill>
                  <a:schemeClr val="bg1"/>
                </a:solidFill>
                <a:latin typeface="Prestige12 BT Roman" panose="02070509030506020304" pitchFamily="49" charset="0"/>
              </a:rPr>
              <a:t>__ = 'addresses'</a:t>
            </a:r>
          </a:p>
          <a:p>
            <a:r>
              <a:rPr lang="en-US" sz="1200" dirty="0">
                <a:solidFill>
                  <a:schemeClr val="bg1"/>
                </a:solidFill>
                <a:latin typeface="Prestige12 BT Roman" panose="02070509030506020304" pitchFamily="49" charset="0"/>
              </a:rPr>
              <a:t>  id = Column(Integer, </a:t>
            </a:r>
            <a:r>
              <a:rPr lang="en-US" sz="1200" dirty="0" err="1">
                <a:solidFill>
                  <a:schemeClr val="bg1"/>
                </a:solidFill>
                <a:latin typeface="Prestige12 BT Roman" panose="02070509030506020304" pitchFamily="49" charset="0"/>
              </a:rPr>
              <a:t>primary_key</a:t>
            </a:r>
            <a:r>
              <a:rPr lang="en-US" sz="1200" dirty="0">
                <a:solidFill>
                  <a:schemeClr val="bg1"/>
                </a:solidFill>
                <a:latin typeface="Prestige12 BT Roman" panose="02070509030506020304" pitchFamily="49" charset="0"/>
              </a:rPr>
              <a:t>=True)</a:t>
            </a:r>
          </a:p>
          <a:p>
            <a:r>
              <a:rPr lang="en-US" sz="1200" dirty="0">
                <a:solidFill>
                  <a:schemeClr val="bg1"/>
                </a:solidFill>
                <a:latin typeface="Prestige12 BT Roman" panose="02070509030506020304" pitchFamily="49" charset="0"/>
              </a:rPr>
              <a:t>  </a:t>
            </a:r>
            <a:r>
              <a:rPr lang="en-US" sz="1200" dirty="0" err="1">
                <a:solidFill>
                  <a:schemeClr val="bg1"/>
                </a:solidFill>
                <a:latin typeface="Prestige12 BT Roman" panose="02070509030506020304" pitchFamily="49" charset="0"/>
              </a:rPr>
              <a:t>email_address</a:t>
            </a:r>
            <a:r>
              <a:rPr lang="en-US" sz="1200" dirty="0">
                <a:solidFill>
                  <a:schemeClr val="bg1"/>
                </a:solidFill>
                <a:latin typeface="Prestige12 BT Roman" panose="02070509030506020304" pitchFamily="49" charset="0"/>
              </a:rPr>
              <a:t> = Column(String, nullable=False)</a:t>
            </a:r>
          </a:p>
          <a:p>
            <a:r>
              <a:rPr lang="en-US" sz="1200" dirty="0">
                <a:solidFill>
                  <a:schemeClr val="bg1"/>
                </a:solidFill>
                <a:latin typeface="Prestige12 BT Roman" panose="02070509030506020304" pitchFamily="49" charset="0"/>
              </a:rPr>
              <a:t>  </a:t>
            </a:r>
            <a:r>
              <a:rPr lang="en-US" sz="1200" dirty="0" err="1">
                <a:solidFill>
                  <a:schemeClr val="bg1"/>
                </a:solidFill>
                <a:latin typeface="Prestige12 BT Roman" panose="02070509030506020304" pitchFamily="49" charset="0"/>
              </a:rPr>
              <a:t>user_id</a:t>
            </a:r>
            <a:r>
              <a:rPr lang="en-US" sz="1200" dirty="0">
                <a:solidFill>
                  <a:schemeClr val="bg1"/>
                </a:solidFill>
                <a:latin typeface="Prestige12 BT Roman" panose="02070509030506020304" pitchFamily="49" charset="0"/>
              </a:rPr>
              <a:t> = Column(Integer, </a:t>
            </a:r>
            <a:r>
              <a:rPr lang="en-US" sz="1200" dirty="0" err="1">
                <a:solidFill>
                  <a:schemeClr val="bg1"/>
                </a:solidFill>
                <a:latin typeface="Prestige12 BT Roman" panose="02070509030506020304" pitchFamily="49" charset="0"/>
              </a:rPr>
              <a:t>ForeignKey</a:t>
            </a:r>
            <a:r>
              <a:rPr lang="en-US" sz="1200" dirty="0">
                <a:solidFill>
                  <a:schemeClr val="bg1"/>
                </a:solidFill>
                <a:latin typeface="Prestige12 BT Roman" panose="02070509030506020304" pitchFamily="49" charset="0"/>
              </a:rPr>
              <a:t>('</a:t>
            </a:r>
            <a:r>
              <a:rPr lang="en-US" sz="1200" dirty="0" err="1">
                <a:solidFill>
                  <a:schemeClr val="bg1"/>
                </a:solidFill>
                <a:latin typeface="Prestige12 BT Roman" panose="02070509030506020304" pitchFamily="49" charset="0"/>
              </a:rPr>
              <a:t>users.id</a:t>
            </a:r>
            <a:r>
              <a:rPr lang="en-US" sz="1200" dirty="0">
                <a:solidFill>
                  <a:schemeClr val="bg1"/>
                </a:solidFill>
                <a:latin typeface="Prestige12 BT Roman" panose="02070509030506020304" pitchFamily="49" charset="0"/>
              </a:rPr>
              <a:t>'))</a:t>
            </a:r>
          </a:p>
        </p:txBody>
      </p:sp>
      <p:sp>
        <p:nvSpPr>
          <p:cNvPr id="7" name="Rectangle 6">
            <a:extLst>
              <a:ext uri="{FF2B5EF4-FFF2-40B4-BE49-F238E27FC236}">
                <a16:creationId xmlns:a16="http://schemas.microsoft.com/office/drawing/2014/main" id="{BF25CB2E-84CC-1E41-8B3B-9B80470FCBAB}"/>
              </a:ext>
            </a:extLst>
          </p:cNvPr>
          <p:cNvSpPr/>
          <p:nvPr/>
        </p:nvSpPr>
        <p:spPr>
          <a:xfrm>
            <a:off x="254642" y="2950393"/>
            <a:ext cx="8229600" cy="461665"/>
          </a:xfrm>
          <a:prstGeom prst="rect">
            <a:avLst/>
          </a:prstGeom>
          <a:solidFill>
            <a:schemeClr val="tx1"/>
          </a:solidFill>
        </p:spPr>
        <p:txBody>
          <a:bodyPr wrap="square">
            <a:spAutoFit/>
          </a:bodyPr>
          <a:lstStyle/>
          <a:p>
            <a:r>
              <a:rPr lang="en-US" sz="1200" dirty="0" err="1">
                <a:solidFill>
                  <a:schemeClr val="bg1"/>
                </a:solidFill>
                <a:latin typeface="Prestige12 BT Roman" panose="02070509030506020304" pitchFamily="49" charset="0"/>
              </a:rPr>
              <a:t>Address.user</a:t>
            </a:r>
            <a:r>
              <a:rPr lang="en-US" sz="1200" dirty="0">
                <a:solidFill>
                  <a:schemeClr val="bg1"/>
                </a:solidFill>
                <a:latin typeface="Prestige12 BT Roman" panose="02070509030506020304" pitchFamily="49" charset="0"/>
              </a:rPr>
              <a:t> = relationship("User", </a:t>
            </a:r>
            <a:r>
              <a:rPr lang="en-US" sz="1200" dirty="0" err="1">
                <a:solidFill>
                  <a:schemeClr val="bg1"/>
                </a:solidFill>
                <a:latin typeface="Prestige12 BT Roman" panose="02070509030506020304" pitchFamily="49" charset="0"/>
              </a:rPr>
              <a:t>back_populates</a:t>
            </a:r>
            <a:r>
              <a:rPr lang="en-US" sz="1200" dirty="0">
                <a:solidFill>
                  <a:schemeClr val="bg1"/>
                </a:solidFill>
                <a:latin typeface="Prestige12 BT Roman" panose="02070509030506020304" pitchFamily="49" charset="0"/>
              </a:rPr>
              <a:t>="addresses")</a:t>
            </a:r>
          </a:p>
          <a:p>
            <a:r>
              <a:rPr lang="en-US" sz="1200" dirty="0" err="1">
                <a:solidFill>
                  <a:schemeClr val="bg1"/>
                </a:solidFill>
                <a:latin typeface="Prestige12 BT Roman" panose="02070509030506020304" pitchFamily="49" charset="0"/>
              </a:rPr>
              <a:t>User.addresses</a:t>
            </a:r>
            <a:r>
              <a:rPr lang="en-US" sz="1200" dirty="0">
                <a:solidFill>
                  <a:schemeClr val="bg1"/>
                </a:solidFill>
                <a:latin typeface="Prestige12 BT Roman" panose="02070509030506020304" pitchFamily="49" charset="0"/>
              </a:rPr>
              <a:t> = relationship("Address", </a:t>
            </a:r>
            <a:r>
              <a:rPr lang="en-US" sz="1200" dirty="0" err="1">
                <a:solidFill>
                  <a:schemeClr val="bg1"/>
                </a:solidFill>
                <a:latin typeface="Prestige12 BT Roman" panose="02070509030506020304" pitchFamily="49" charset="0"/>
              </a:rPr>
              <a:t>order_by</a:t>
            </a:r>
            <a:r>
              <a:rPr lang="en-US" sz="1200" dirty="0">
                <a:solidFill>
                  <a:schemeClr val="bg1"/>
                </a:solidFill>
                <a:latin typeface="Prestige12 BT Roman" panose="02070509030506020304" pitchFamily="49" charset="0"/>
              </a:rPr>
              <a:t>=</a:t>
            </a:r>
            <a:r>
              <a:rPr lang="en-US" sz="1200" dirty="0" err="1">
                <a:solidFill>
                  <a:schemeClr val="bg1"/>
                </a:solidFill>
                <a:latin typeface="Prestige12 BT Roman" panose="02070509030506020304" pitchFamily="49" charset="0"/>
              </a:rPr>
              <a:t>Address.id</a:t>
            </a:r>
            <a:r>
              <a:rPr lang="en-US" sz="1200" dirty="0">
                <a:solidFill>
                  <a:schemeClr val="bg1"/>
                </a:solidFill>
                <a:latin typeface="Prestige12 BT Roman" panose="02070509030506020304" pitchFamily="49" charset="0"/>
              </a:rPr>
              <a:t>, </a:t>
            </a:r>
            <a:r>
              <a:rPr lang="en-US" sz="1200" dirty="0" err="1">
                <a:solidFill>
                  <a:schemeClr val="bg1"/>
                </a:solidFill>
                <a:latin typeface="Prestige12 BT Roman" panose="02070509030506020304" pitchFamily="49" charset="0"/>
              </a:rPr>
              <a:t>back_populates</a:t>
            </a:r>
            <a:r>
              <a:rPr lang="en-US" sz="1200" dirty="0">
                <a:solidFill>
                  <a:schemeClr val="bg1"/>
                </a:solidFill>
                <a:latin typeface="Prestige12 BT Roman" panose="02070509030506020304" pitchFamily="49" charset="0"/>
              </a:rPr>
              <a:t>="user")</a:t>
            </a:r>
            <a:endParaRPr lang="en-US" sz="1200" dirty="0">
              <a:solidFill>
                <a:schemeClr val="bg1"/>
              </a:solidFill>
              <a:effectLst/>
              <a:latin typeface="Prestige12 BT Roman" panose="02070509030506020304" pitchFamily="49" charset="0"/>
            </a:endParaRPr>
          </a:p>
        </p:txBody>
      </p:sp>
      <p:sp>
        <p:nvSpPr>
          <p:cNvPr id="8" name="Rectangle 7">
            <a:extLst>
              <a:ext uri="{FF2B5EF4-FFF2-40B4-BE49-F238E27FC236}">
                <a16:creationId xmlns:a16="http://schemas.microsoft.com/office/drawing/2014/main" id="{919E0FEB-41C7-C748-AF1E-64D408BAAD95}"/>
              </a:ext>
            </a:extLst>
          </p:cNvPr>
          <p:cNvSpPr/>
          <p:nvPr/>
        </p:nvSpPr>
        <p:spPr>
          <a:xfrm>
            <a:off x="254642" y="3432379"/>
            <a:ext cx="8229600" cy="1015663"/>
          </a:xfrm>
          <a:prstGeom prst="rect">
            <a:avLst/>
          </a:prstGeom>
          <a:solidFill>
            <a:schemeClr val="tx1"/>
          </a:solidFill>
        </p:spPr>
        <p:txBody>
          <a:bodyPr wrap="square">
            <a:spAutoFit/>
          </a:bodyPr>
          <a:lstStyle/>
          <a:p>
            <a:r>
              <a:rPr lang="en-US" sz="1200" dirty="0">
                <a:solidFill>
                  <a:schemeClr val="bg1"/>
                </a:solidFill>
                <a:latin typeface="Prestige12 BT Roman" panose="02070509030506020304" pitchFamily="49" charset="0"/>
              </a:rPr>
              <a:t>jack = User(name='jack', password='</a:t>
            </a:r>
            <a:r>
              <a:rPr lang="en-US" sz="1200" dirty="0" err="1">
                <a:solidFill>
                  <a:schemeClr val="bg1"/>
                </a:solidFill>
                <a:latin typeface="Prestige12 BT Roman" panose="02070509030506020304" pitchFamily="49" charset="0"/>
              </a:rPr>
              <a:t>gjffdd</a:t>
            </a:r>
            <a:r>
              <a:rPr lang="en-US" sz="1200" dirty="0">
                <a:solidFill>
                  <a:schemeClr val="bg1"/>
                </a:solidFill>
                <a:latin typeface="Prestige12 BT Roman" panose="02070509030506020304" pitchFamily="49" charset="0"/>
              </a:rPr>
              <a:t>')</a:t>
            </a:r>
          </a:p>
          <a:p>
            <a:r>
              <a:rPr lang="en-US" sz="1200" dirty="0" err="1">
                <a:solidFill>
                  <a:schemeClr val="bg1"/>
                </a:solidFill>
                <a:latin typeface="Prestige12 BT Roman" panose="02070509030506020304" pitchFamily="49" charset="0"/>
              </a:rPr>
              <a:t>jack.addresses</a:t>
            </a:r>
            <a:r>
              <a:rPr lang="en-US" sz="1200" dirty="0">
                <a:solidFill>
                  <a:schemeClr val="bg1"/>
                </a:solidFill>
                <a:latin typeface="Prestige12 BT Roman" panose="02070509030506020304" pitchFamily="49" charset="0"/>
              </a:rPr>
              <a:t> = [Address(</a:t>
            </a:r>
            <a:r>
              <a:rPr lang="en-US" sz="1200" dirty="0" err="1">
                <a:solidFill>
                  <a:schemeClr val="bg1"/>
                </a:solidFill>
                <a:latin typeface="Prestige12 BT Roman" panose="02070509030506020304" pitchFamily="49" charset="0"/>
              </a:rPr>
              <a:t>email_address</a:t>
            </a:r>
            <a:r>
              <a:rPr lang="en-US" sz="1200" dirty="0">
                <a:solidFill>
                  <a:schemeClr val="bg1"/>
                </a:solidFill>
                <a:latin typeface="Prestige12 BT Roman" panose="02070509030506020304" pitchFamily="49" charset="0"/>
              </a:rPr>
              <a:t>='</a:t>
            </a:r>
            <a:r>
              <a:rPr lang="en-US" sz="1200" dirty="0" err="1">
                <a:solidFill>
                  <a:schemeClr val="bg1"/>
                </a:solidFill>
                <a:latin typeface="Prestige12 BT Roman" panose="02070509030506020304" pitchFamily="49" charset="0"/>
              </a:rPr>
              <a:t>jack@google.com</a:t>
            </a:r>
            <a:r>
              <a:rPr lang="en-US" sz="1200" dirty="0">
                <a:solidFill>
                  <a:schemeClr val="bg1"/>
                </a:solidFill>
                <a:latin typeface="Prestige12 BT Roman" panose="02070509030506020304" pitchFamily="49" charset="0"/>
              </a:rPr>
              <a:t>’),</a:t>
            </a:r>
            <a:br>
              <a:rPr lang="en-US" sz="1200" dirty="0">
                <a:solidFill>
                  <a:schemeClr val="bg1"/>
                </a:solidFill>
                <a:latin typeface="Prestige12 BT Roman" panose="02070509030506020304" pitchFamily="49" charset="0"/>
              </a:rPr>
            </a:br>
            <a:r>
              <a:rPr lang="en-US" sz="1200" dirty="0">
                <a:solidFill>
                  <a:schemeClr val="bg1"/>
                </a:solidFill>
                <a:latin typeface="Prestige12 BT Roman" panose="02070509030506020304" pitchFamily="49" charset="0"/>
              </a:rPr>
              <a:t>                  Address(</a:t>
            </a:r>
            <a:r>
              <a:rPr lang="en-US" sz="1200" dirty="0" err="1">
                <a:solidFill>
                  <a:schemeClr val="bg1"/>
                </a:solidFill>
                <a:latin typeface="Prestige12 BT Roman" panose="02070509030506020304" pitchFamily="49" charset="0"/>
              </a:rPr>
              <a:t>email_address</a:t>
            </a:r>
            <a:r>
              <a:rPr lang="en-US" sz="1200" dirty="0">
                <a:solidFill>
                  <a:schemeClr val="bg1"/>
                </a:solidFill>
                <a:latin typeface="Prestige12 BT Roman" panose="02070509030506020304" pitchFamily="49" charset="0"/>
              </a:rPr>
              <a:t>='j25@yahoo.com')]</a:t>
            </a:r>
          </a:p>
          <a:p>
            <a:r>
              <a:rPr lang="en-US" sz="1200" dirty="0" err="1">
                <a:solidFill>
                  <a:schemeClr val="bg1"/>
                </a:solidFill>
                <a:latin typeface="Prestige12 BT Roman" panose="02070509030506020304" pitchFamily="49" charset="0"/>
              </a:rPr>
              <a:t>session.add</a:t>
            </a:r>
            <a:r>
              <a:rPr lang="en-US" sz="1200" dirty="0">
                <a:solidFill>
                  <a:schemeClr val="bg1"/>
                </a:solidFill>
                <a:latin typeface="Prestige12 BT Roman" panose="02070509030506020304" pitchFamily="49" charset="0"/>
              </a:rPr>
              <a:t>(jack)</a:t>
            </a:r>
          </a:p>
          <a:p>
            <a:r>
              <a:rPr lang="en-US" sz="1200" dirty="0" err="1">
                <a:solidFill>
                  <a:schemeClr val="bg1"/>
                </a:solidFill>
                <a:latin typeface="Prestige12 BT Roman" panose="02070509030506020304" pitchFamily="49" charset="0"/>
              </a:rPr>
              <a:t>session.commit</a:t>
            </a:r>
            <a:r>
              <a:rPr lang="en-US" sz="1200" dirty="0">
                <a:solidFill>
                  <a:schemeClr val="bg1"/>
                </a:solidFill>
                <a:latin typeface="Prestige12 BT Roman" panose="02070509030506020304" pitchFamily="49" charset="0"/>
              </a:rPr>
              <a:t>()</a:t>
            </a:r>
          </a:p>
        </p:txBody>
      </p:sp>
      <p:sp>
        <p:nvSpPr>
          <p:cNvPr id="9" name="Rectangle 8">
            <a:extLst>
              <a:ext uri="{FF2B5EF4-FFF2-40B4-BE49-F238E27FC236}">
                <a16:creationId xmlns:a16="http://schemas.microsoft.com/office/drawing/2014/main" id="{C147F16C-9314-254D-BCE2-5A46F8F39E3D}"/>
              </a:ext>
            </a:extLst>
          </p:cNvPr>
          <p:cNvSpPr/>
          <p:nvPr/>
        </p:nvSpPr>
        <p:spPr>
          <a:xfrm>
            <a:off x="254643" y="4468363"/>
            <a:ext cx="8229600" cy="276999"/>
          </a:xfrm>
          <a:prstGeom prst="rect">
            <a:avLst/>
          </a:prstGeom>
          <a:solidFill>
            <a:schemeClr val="tx1"/>
          </a:solidFill>
        </p:spPr>
        <p:txBody>
          <a:bodyPr wrap="square">
            <a:spAutoFit/>
          </a:bodyPr>
          <a:lstStyle/>
          <a:p>
            <a:r>
              <a:rPr lang="en-US" sz="1200" dirty="0" err="1">
                <a:solidFill>
                  <a:schemeClr val="accent2"/>
                </a:solidFill>
                <a:latin typeface="Prestige12 BT Roman" panose="02070509030506020304" pitchFamily="49" charset="0"/>
              </a:rPr>
              <a:t>session.query</a:t>
            </a:r>
            <a:r>
              <a:rPr lang="en-US" sz="1200" dirty="0">
                <a:solidFill>
                  <a:schemeClr val="accent2"/>
                </a:solidFill>
                <a:latin typeface="Prestige12 BT Roman" panose="02070509030506020304" pitchFamily="49" charset="0"/>
              </a:rPr>
              <a:t>(User).join(Address).filter(</a:t>
            </a:r>
            <a:r>
              <a:rPr lang="en-US" sz="1200" dirty="0" err="1">
                <a:solidFill>
                  <a:schemeClr val="accent2"/>
                </a:solidFill>
                <a:latin typeface="Prestige12 BT Roman" panose="02070509030506020304" pitchFamily="49" charset="0"/>
              </a:rPr>
              <a:t>Address.email_address</a:t>
            </a:r>
            <a:r>
              <a:rPr lang="en-US" sz="1200" dirty="0">
                <a:solidFill>
                  <a:schemeClr val="accent2"/>
                </a:solidFill>
                <a:latin typeface="Prestige12 BT Roman" panose="02070509030506020304" pitchFamily="49" charset="0"/>
              </a:rPr>
              <a:t>=='</a:t>
            </a:r>
            <a:r>
              <a:rPr lang="en-US" sz="1200" dirty="0" err="1">
                <a:solidFill>
                  <a:schemeClr val="accent2"/>
                </a:solidFill>
                <a:latin typeface="Prestige12 BT Roman" panose="02070509030506020304" pitchFamily="49" charset="0"/>
              </a:rPr>
              <a:t>jack@google.com</a:t>
            </a:r>
            <a:r>
              <a:rPr lang="en-US" sz="1200" dirty="0">
                <a:solidFill>
                  <a:schemeClr val="accent2"/>
                </a:solidFill>
                <a:latin typeface="Prestige12 BT Roman" panose="02070509030506020304" pitchFamily="49" charset="0"/>
              </a:rPr>
              <a:t>').all()</a:t>
            </a:r>
          </a:p>
        </p:txBody>
      </p:sp>
    </p:spTree>
    <p:custDataLst>
      <p:tags r:id="rId1"/>
    </p:custDataLst>
    <p:extLst>
      <p:ext uri="{BB962C8B-B14F-4D97-AF65-F5344CB8AC3E}">
        <p14:creationId xmlns:p14="http://schemas.microsoft.com/office/powerpoint/2010/main" val="2991375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brief look at other approaches</a:t>
            </a:r>
          </a:p>
        </p:txBody>
      </p:sp>
      <p:sp>
        <p:nvSpPr>
          <p:cNvPr id="3" name="Content Placeholder 2"/>
          <p:cNvSpPr>
            <a:spLocks noGrp="1"/>
          </p:cNvSpPr>
          <p:nvPr>
            <p:ph idx="1"/>
          </p:nvPr>
        </p:nvSpPr>
        <p:spPr/>
        <p:txBody>
          <a:bodyPr/>
          <a:lstStyle/>
          <a:p>
            <a:pPr>
              <a:defRPr/>
            </a:pPr>
            <a:r>
              <a:rPr lang="en-US" dirty="0">
                <a:solidFill>
                  <a:schemeClr val="bg1">
                    <a:lumMod val="85000"/>
                  </a:schemeClr>
                </a:solidFill>
              </a:rPr>
              <a:t>“Embed” SQL in a general-purpose programming language</a:t>
            </a:r>
          </a:p>
          <a:p>
            <a:pPr lvl="1">
              <a:defRPr/>
            </a:pPr>
            <a:r>
              <a:rPr lang="en-US" dirty="0">
                <a:solidFill>
                  <a:schemeClr val="bg1">
                    <a:lumMod val="85000"/>
                  </a:schemeClr>
                </a:solidFill>
              </a:rPr>
              <a:t>E.g.: embedded SQL</a:t>
            </a:r>
          </a:p>
          <a:p>
            <a:r>
              <a:rPr lang="en-US" dirty="0">
                <a:solidFill>
                  <a:schemeClr val="bg1">
                    <a:lumMod val="85000"/>
                  </a:schemeClr>
                </a:solidFill>
              </a:rPr>
              <a:t>Support database features through an object-oriented programming language</a:t>
            </a:r>
          </a:p>
          <a:p>
            <a:pPr lvl="1"/>
            <a:r>
              <a:rPr lang="en-US" dirty="0">
                <a:solidFill>
                  <a:schemeClr val="bg1">
                    <a:lumMod val="85000"/>
                  </a:schemeClr>
                </a:solidFill>
              </a:rPr>
              <a:t>By automatically storing objects in tables and translating methods to SQL</a:t>
            </a:r>
          </a:p>
          <a:p>
            <a:pPr lvl="1"/>
            <a:r>
              <a:rPr lang="en-US" dirty="0">
                <a:solidFill>
                  <a:schemeClr val="bg1">
                    <a:lumMod val="85000"/>
                  </a:schemeClr>
                </a:solidFill>
              </a:rPr>
              <a:t>E.g., object-relational mappers (ORM) like Python </a:t>
            </a:r>
            <a:r>
              <a:rPr lang="en-US" dirty="0" err="1">
                <a:solidFill>
                  <a:schemeClr val="bg1">
                    <a:lumMod val="85000"/>
                  </a:schemeClr>
                </a:solidFill>
              </a:rPr>
              <a:t>SQLAlchemy</a:t>
            </a:r>
            <a:endParaRPr lang="en-US" dirty="0">
              <a:solidFill>
                <a:schemeClr val="bg1">
                  <a:lumMod val="85000"/>
                </a:schemeClr>
              </a:solidFill>
            </a:endParaRPr>
          </a:p>
          <a:p>
            <a:pPr>
              <a:defRPr/>
            </a:pPr>
            <a:r>
              <a:rPr lang="en-US" dirty="0"/>
              <a:t>Extend a general-purpose programming language with SQL-like constructs</a:t>
            </a:r>
          </a:p>
          <a:p>
            <a:pPr lvl="1">
              <a:defRPr/>
            </a:pPr>
            <a:r>
              <a:rPr lang="en-US" dirty="0"/>
              <a:t>E.g.: LINQ (Language Integrated Query for .NET)</a:t>
            </a:r>
          </a:p>
        </p:txBody>
      </p:sp>
      <p:sp>
        <p:nvSpPr>
          <p:cNvPr id="4" name="Slide Number Placeholder 3"/>
          <p:cNvSpPr>
            <a:spLocks noGrp="1"/>
          </p:cNvSpPr>
          <p:nvPr>
            <p:ph type="sldNum" sz="quarter" idx="12"/>
          </p:nvPr>
        </p:nvSpPr>
        <p:spPr/>
        <p:txBody>
          <a:bodyPr/>
          <a:lstStyle/>
          <a:p>
            <a:fld id="{44C99FA5-7995-46A9-A97E-16E38AD58950}" type="slidenum">
              <a:rPr lang="en-US" smtClean="0"/>
              <a:t>42</a:t>
            </a:fld>
            <a:endParaRPr lang="en-US"/>
          </a:p>
        </p:txBody>
      </p:sp>
    </p:spTree>
    <p:extLst>
      <p:ext uri="{BB962C8B-B14F-4D97-AF65-F5344CB8AC3E}">
        <p14:creationId xmlns:p14="http://schemas.microsoft.com/office/powerpoint/2010/main" val="422088309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Deeper language integration</a:t>
            </a:r>
          </a:p>
        </p:txBody>
      </p:sp>
      <p:sp>
        <p:nvSpPr>
          <p:cNvPr id="3" name="Content Placeholder 2"/>
          <p:cNvSpPr>
            <a:spLocks noGrp="1"/>
          </p:cNvSpPr>
          <p:nvPr>
            <p:ph idx="1"/>
          </p:nvPr>
        </p:nvSpPr>
        <p:spPr>
          <a:xfrm>
            <a:off x="342336" y="1456854"/>
            <a:ext cx="8913424" cy="5264622"/>
          </a:xfrm>
        </p:spPr>
        <p:txBody>
          <a:bodyPr>
            <a:normAutofit/>
          </a:bodyPr>
          <a:lstStyle/>
          <a:p>
            <a:r>
              <a:rPr lang="en-US" dirty="0"/>
              <a:t>Example: LINQ (Language Integrated Query) for Microsoft .NET languages (e.g., C#)</a:t>
            </a:r>
          </a:p>
          <a:p>
            <a:endParaRPr lang="en-US" dirty="0"/>
          </a:p>
          <a:p>
            <a:endParaRPr lang="en-US" dirty="0"/>
          </a:p>
          <a:p>
            <a:endParaRPr lang="en-US" dirty="0"/>
          </a:p>
          <a:p>
            <a:endParaRPr lang="en-US" dirty="0"/>
          </a:p>
          <a:p>
            <a:endParaRPr lang="en-US" dirty="0"/>
          </a:p>
          <a:p>
            <a:r>
              <a:rPr lang="en-US" dirty="0"/>
              <a:t>Again, automatic data mapping and query translation</a:t>
            </a:r>
          </a:p>
          <a:p>
            <a:r>
              <a:rPr lang="en-US" dirty="0"/>
              <a:t>Much cleaner syntax, but it still may vary for different host languages</a:t>
            </a:r>
          </a:p>
        </p:txBody>
      </p:sp>
      <p:sp>
        <p:nvSpPr>
          <p:cNvPr id="4" name="Slide Number Placeholder 3"/>
          <p:cNvSpPr>
            <a:spLocks noGrp="1"/>
          </p:cNvSpPr>
          <p:nvPr>
            <p:ph type="sldNum" sz="quarter" idx="12"/>
          </p:nvPr>
        </p:nvSpPr>
        <p:spPr/>
        <p:txBody>
          <a:bodyPr/>
          <a:lstStyle/>
          <a:p>
            <a:fld id="{44C99FA5-7995-46A9-A97E-16E38AD58950}" type="slidenum">
              <a:rPr lang="en-US" smtClean="0"/>
              <a:t>43</a:t>
            </a:fld>
            <a:endParaRPr lang="en-US"/>
          </a:p>
        </p:txBody>
      </p:sp>
      <p:sp>
        <p:nvSpPr>
          <p:cNvPr id="5" name="Rectangle 4">
            <a:extLst>
              <a:ext uri="{FF2B5EF4-FFF2-40B4-BE49-F238E27FC236}">
                <a16:creationId xmlns:a16="http://schemas.microsoft.com/office/drawing/2014/main" id="{4605D547-1C3E-4302-8E4C-82B05489382B}"/>
              </a:ext>
            </a:extLst>
          </p:cNvPr>
          <p:cNvSpPr/>
          <p:nvPr/>
        </p:nvSpPr>
        <p:spPr>
          <a:xfrm>
            <a:off x="1729952" y="2489200"/>
            <a:ext cx="4813088" cy="219701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marL="0" indent="0">
              <a:buNone/>
            </a:pPr>
            <a:r>
              <a:rPr lang="en-US" sz="1600" dirty="0">
                <a:latin typeface="Prestige12 BT" panose="02070509030506020304" pitchFamily="49" charset="0"/>
              </a:rPr>
              <a:t>int </a:t>
            </a:r>
            <a:r>
              <a:rPr lang="en-US" sz="1600" dirty="0" err="1">
                <a:latin typeface="Prestige12 BT" panose="02070509030506020304" pitchFamily="49" charset="0"/>
              </a:rPr>
              <a:t>someValue</a:t>
            </a:r>
            <a:r>
              <a:rPr lang="en-US" sz="1600" dirty="0">
                <a:latin typeface="Prestige12 BT" panose="02070509030506020304" pitchFamily="49" charset="0"/>
              </a:rPr>
              <a:t> = 5;</a:t>
            </a:r>
            <a:br>
              <a:rPr lang="en-US" sz="1600" dirty="0">
                <a:latin typeface="Prestige12 BT" panose="02070509030506020304" pitchFamily="49" charset="0"/>
              </a:rPr>
            </a:br>
            <a:r>
              <a:rPr lang="en-US" sz="1600" dirty="0">
                <a:latin typeface="Prestige12 BT" panose="02070509030506020304" pitchFamily="49" charset="0"/>
              </a:rPr>
              <a:t>var results = from c in </a:t>
            </a:r>
            <a:r>
              <a:rPr lang="en-US" sz="1600" dirty="0" err="1">
                <a:latin typeface="Prestige12 BT" panose="02070509030506020304" pitchFamily="49" charset="0"/>
              </a:rPr>
              <a:t>someCollection</a:t>
            </a:r>
            <a:br>
              <a:rPr lang="en-US" sz="1600" dirty="0">
                <a:latin typeface="Prestige12 BT" panose="02070509030506020304" pitchFamily="49" charset="0"/>
              </a:rPr>
            </a:br>
            <a:r>
              <a:rPr lang="en-US" sz="1600" dirty="0">
                <a:latin typeface="Prestige12 BT" panose="02070509030506020304" pitchFamily="49" charset="0"/>
              </a:rPr>
              <a:t>              let x = </a:t>
            </a:r>
            <a:r>
              <a:rPr lang="en-US" sz="1600" dirty="0" err="1">
                <a:latin typeface="Prestige12 BT" panose="02070509030506020304" pitchFamily="49" charset="0"/>
              </a:rPr>
              <a:t>someValue</a:t>
            </a:r>
            <a:r>
              <a:rPr lang="en-US" sz="1600" dirty="0">
                <a:latin typeface="Prestige12 BT" panose="02070509030506020304" pitchFamily="49" charset="0"/>
              </a:rPr>
              <a:t> * 2</a:t>
            </a:r>
            <a:br>
              <a:rPr lang="en-US" sz="1600" dirty="0">
                <a:latin typeface="Prestige12 BT" panose="02070509030506020304" pitchFamily="49" charset="0"/>
              </a:rPr>
            </a:br>
            <a:r>
              <a:rPr lang="en-US" sz="1600" dirty="0">
                <a:latin typeface="Prestige12 BT" panose="02070509030506020304" pitchFamily="49" charset="0"/>
              </a:rPr>
              <a:t>              where </a:t>
            </a:r>
            <a:r>
              <a:rPr lang="en-US" sz="1600" dirty="0" err="1">
                <a:latin typeface="Prestige12 BT" panose="02070509030506020304" pitchFamily="49" charset="0"/>
              </a:rPr>
              <a:t>c.SomeProperty</a:t>
            </a:r>
            <a:r>
              <a:rPr lang="en-US" sz="1600" dirty="0">
                <a:latin typeface="Prestige12 BT" panose="02070509030506020304" pitchFamily="49" charset="0"/>
              </a:rPr>
              <a:t> &lt; x</a:t>
            </a:r>
            <a:br>
              <a:rPr lang="en-US" sz="1600" dirty="0">
                <a:latin typeface="Prestige12 BT" panose="02070509030506020304" pitchFamily="49" charset="0"/>
              </a:rPr>
            </a:br>
            <a:r>
              <a:rPr lang="en-US" sz="1600" dirty="0">
                <a:latin typeface="Prestige12 BT" panose="02070509030506020304" pitchFamily="49" charset="0"/>
              </a:rPr>
              <a:t>              select new {</a:t>
            </a:r>
            <a:r>
              <a:rPr lang="en-US" sz="1600" dirty="0" err="1">
                <a:latin typeface="Prestige12 BT" panose="02070509030506020304" pitchFamily="49" charset="0"/>
              </a:rPr>
              <a:t>c.SomeProperty</a:t>
            </a:r>
            <a:r>
              <a:rPr lang="en-US" sz="1600" dirty="0">
                <a:latin typeface="Prestige12 BT" panose="02070509030506020304" pitchFamily="49" charset="0"/>
              </a:rPr>
              <a:t>, </a:t>
            </a:r>
            <a:r>
              <a:rPr lang="en-US" sz="1600" dirty="0" err="1">
                <a:latin typeface="Prestige12 BT" panose="02070509030506020304" pitchFamily="49" charset="0"/>
              </a:rPr>
              <a:t>c.OtherProperty</a:t>
            </a:r>
            <a:r>
              <a:rPr lang="en-US" sz="1600" dirty="0">
                <a:latin typeface="Prestige12 BT" panose="02070509030506020304" pitchFamily="49" charset="0"/>
              </a:rPr>
              <a:t>};</a:t>
            </a:r>
            <a:br>
              <a:rPr lang="en-US" sz="1600" dirty="0">
                <a:latin typeface="Prestige12 BT" panose="02070509030506020304" pitchFamily="49" charset="0"/>
              </a:rPr>
            </a:br>
            <a:r>
              <a:rPr lang="en-US" sz="1600" dirty="0">
                <a:latin typeface="Prestige12 BT" panose="02070509030506020304" pitchFamily="49" charset="0"/>
              </a:rPr>
              <a:t>foreach (var result in results) {</a:t>
            </a:r>
            <a:br>
              <a:rPr lang="en-US" sz="1600" dirty="0">
                <a:latin typeface="Prestige12 BT" panose="02070509030506020304" pitchFamily="49" charset="0"/>
              </a:rPr>
            </a:br>
            <a:r>
              <a:rPr lang="en-US" sz="1600" dirty="0">
                <a:latin typeface="Prestige12 BT" panose="02070509030506020304" pitchFamily="49" charset="0"/>
              </a:rPr>
              <a:t>  </a:t>
            </a:r>
            <a:r>
              <a:rPr lang="en-US" sz="1600" dirty="0" err="1">
                <a:latin typeface="Prestige12 BT" panose="02070509030506020304" pitchFamily="49" charset="0"/>
              </a:rPr>
              <a:t>Console.WriteLine</a:t>
            </a:r>
            <a:r>
              <a:rPr lang="en-US" sz="1600" dirty="0">
                <a:latin typeface="Prestige12 BT" panose="02070509030506020304" pitchFamily="49" charset="0"/>
              </a:rPr>
              <a:t>(result);</a:t>
            </a:r>
            <a:br>
              <a:rPr lang="en-US" sz="1600" dirty="0">
                <a:latin typeface="Prestige12 BT" panose="02070509030506020304" pitchFamily="49" charset="0"/>
              </a:rPr>
            </a:br>
            <a:r>
              <a:rPr lang="en-US" sz="1600" dirty="0">
                <a:latin typeface="Prestige12 BT" panose="02070509030506020304" pitchFamily="49" charset="0"/>
              </a:rPr>
              <a:t>}</a:t>
            </a:r>
          </a:p>
        </p:txBody>
      </p:sp>
    </p:spTree>
    <p:extLst>
      <p:ext uri="{BB962C8B-B14F-4D97-AF65-F5344CB8AC3E}">
        <p14:creationId xmlns:p14="http://schemas.microsoft.com/office/powerpoint/2010/main" val="31990168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F9B0E-932F-7247-AAFA-876A7CC2251F}"/>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F7F6834E-3031-9141-B7FE-3C7596368561}"/>
              </a:ext>
            </a:extLst>
          </p:cNvPr>
          <p:cNvSpPr>
            <a:spLocks noGrp="1"/>
          </p:cNvSpPr>
          <p:nvPr>
            <p:ph idx="1"/>
          </p:nvPr>
        </p:nvSpPr>
        <p:spPr/>
        <p:txBody>
          <a:bodyPr>
            <a:normAutofit/>
          </a:bodyPr>
          <a:lstStyle/>
          <a:p>
            <a:pPr>
              <a:defRPr/>
            </a:pPr>
            <a:r>
              <a:rPr lang="en-US" dirty="0"/>
              <a:t>Basic SQL (queries, modifications, and constraints)</a:t>
            </a:r>
          </a:p>
          <a:p>
            <a:r>
              <a:rPr lang="en-US" dirty="0"/>
              <a:t>Intermediate SQL(triggers, views, indexes)</a:t>
            </a:r>
          </a:p>
          <a:p>
            <a:r>
              <a:rPr lang="en-US" dirty="0"/>
              <a:t>Recursion</a:t>
            </a:r>
          </a:p>
          <a:p>
            <a:r>
              <a:rPr lang="en-US" dirty="0"/>
              <a:t>Programming </a:t>
            </a:r>
          </a:p>
          <a:p>
            <a:pPr lvl="1">
              <a:defRPr/>
            </a:pPr>
            <a:r>
              <a:rPr lang="en-US" dirty="0"/>
              <a:t>Augment SQL, e.g., SQL/PSM</a:t>
            </a:r>
          </a:p>
          <a:p>
            <a:pPr lvl="1">
              <a:defRPr/>
            </a:pPr>
            <a:r>
              <a:rPr lang="en-US" dirty="0"/>
              <a:t>Through an API, e.g., Python </a:t>
            </a:r>
            <a:r>
              <a:rPr lang="en-US" dirty="0">
                <a:latin typeface="Prestige12 BT" panose="02070509030506020304" pitchFamily="49" charset="0"/>
              </a:rPr>
              <a:t>psycopg2, </a:t>
            </a:r>
            <a:r>
              <a:rPr lang="en-US" dirty="0"/>
              <a:t>JDBC</a:t>
            </a:r>
          </a:p>
          <a:p>
            <a:pPr lvl="1">
              <a:defRPr/>
            </a:pPr>
            <a:r>
              <a:rPr lang="en-US" dirty="0"/>
              <a:t>Embedded SQL, e.g., in C</a:t>
            </a:r>
          </a:p>
          <a:p>
            <a:pPr lvl="1">
              <a:defRPr/>
            </a:pPr>
            <a:r>
              <a:rPr lang="en-US" dirty="0"/>
              <a:t>Automatic object-relational mapping, e.g.: Python </a:t>
            </a:r>
            <a:r>
              <a:rPr lang="en-US" dirty="0" err="1"/>
              <a:t>SQLAlchemy</a:t>
            </a:r>
            <a:endParaRPr lang="en-US" dirty="0"/>
          </a:p>
          <a:p>
            <a:pPr lvl="1">
              <a:defRPr/>
            </a:pPr>
            <a:r>
              <a:rPr lang="en-US" dirty="0"/>
              <a:t>Extending programming languages with SQL-like constructs, e.g.: LINQ</a:t>
            </a:r>
          </a:p>
          <a:p>
            <a:endParaRPr lang="en-US" dirty="0">
              <a:solidFill>
                <a:schemeClr val="accent2"/>
              </a:solidFill>
            </a:endParaRPr>
          </a:p>
        </p:txBody>
      </p:sp>
      <p:sp>
        <p:nvSpPr>
          <p:cNvPr id="4" name="Slide Number Placeholder 3">
            <a:extLst>
              <a:ext uri="{FF2B5EF4-FFF2-40B4-BE49-F238E27FC236}">
                <a16:creationId xmlns:a16="http://schemas.microsoft.com/office/drawing/2014/main" id="{51A787F3-8802-774B-856C-CE923BD0386C}"/>
              </a:ext>
            </a:extLst>
          </p:cNvPr>
          <p:cNvSpPr>
            <a:spLocks noGrp="1"/>
          </p:cNvSpPr>
          <p:nvPr>
            <p:ph type="sldNum" sz="quarter" idx="12"/>
          </p:nvPr>
        </p:nvSpPr>
        <p:spPr/>
        <p:txBody>
          <a:bodyPr/>
          <a:lstStyle/>
          <a:p>
            <a:fld id="{44C99FA5-7995-46A9-A97E-16E38AD58950}" type="slidenum">
              <a:rPr lang="en-US" smtClean="0"/>
              <a:t>44</a:t>
            </a:fld>
            <a:endParaRPr lang="en-US"/>
          </a:p>
        </p:txBody>
      </p:sp>
    </p:spTree>
    <p:custDataLst>
      <p:tags r:id="rId1"/>
    </p:custDataLst>
    <p:extLst>
      <p:ext uri="{BB962C8B-B14F-4D97-AF65-F5344CB8AC3E}">
        <p14:creationId xmlns:p14="http://schemas.microsoft.com/office/powerpoint/2010/main" val="284704332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25.2|11.3|5.1"/>
</p:tagLst>
</file>

<file path=ppt/tags/tag2.xml><?xml version="1.0" encoding="utf-8"?>
<p:tagLst xmlns:a="http://schemas.openxmlformats.org/drawingml/2006/main" xmlns:r="http://schemas.openxmlformats.org/officeDocument/2006/relationships" xmlns:p="http://schemas.openxmlformats.org/presentationml/2006/main">
  <p:tag name="TIMING" val="|12|1.5"/>
</p:tagLst>
</file>

<file path=ppt/tags/tag3.xml><?xml version="1.0" encoding="utf-8"?>
<p:tagLst xmlns:a="http://schemas.openxmlformats.org/drawingml/2006/main" xmlns:r="http://schemas.openxmlformats.org/officeDocument/2006/relationships" xmlns:p="http://schemas.openxmlformats.org/presentationml/2006/main">
  <p:tag name="TIMING" val="|7.3|23.5|15|25.3|18.8"/>
</p:tagLst>
</file>

<file path=ppt/tags/tag4.xml><?xml version="1.0" encoding="utf-8"?>
<p:tagLst xmlns:a="http://schemas.openxmlformats.org/drawingml/2006/main" xmlns:r="http://schemas.openxmlformats.org/officeDocument/2006/relationships" xmlns:p="http://schemas.openxmlformats.org/presentationml/2006/main">
  <p:tag name="TIMING" val="|9.9|4.4|3|11.9|6.5|37|10.2"/>
</p:tagLst>
</file>

<file path=ppt/tags/tag5.xml><?xml version="1.0" encoding="utf-8"?>
<p:tagLst xmlns:a="http://schemas.openxmlformats.org/drawingml/2006/main" xmlns:r="http://schemas.openxmlformats.org/officeDocument/2006/relationships" xmlns:p="http://schemas.openxmlformats.org/presentationml/2006/main">
  <p:tag name="TIMING" val="|15.6|14.2|21.3"/>
</p:tagLst>
</file>

<file path=ppt/tags/tag6.xml><?xml version="1.0" encoding="utf-8"?>
<p:tagLst xmlns:a="http://schemas.openxmlformats.org/drawingml/2006/main" xmlns:r="http://schemas.openxmlformats.org/officeDocument/2006/relationships" xmlns:p="http://schemas.openxmlformats.org/presentationml/2006/main">
  <p:tag name="TIMING" val="|13.4|4|4.2"/>
</p:tagLst>
</file>

<file path=ppt/tags/tag7.xml><?xml version="1.0" encoding="utf-8"?>
<p:tagLst xmlns:a="http://schemas.openxmlformats.org/drawingml/2006/main" xmlns:r="http://schemas.openxmlformats.org/officeDocument/2006/relationships" xmlns:p="http://schemas.openxmlformats.org/presentationml/2006/main">
  <p:tag name="TIMING" val="|12.8"/>
</p:tagLst>
</file>

<file path=ppt/tags/tag8.xml><?xml version="1.0" encoding="utf-8"?>
<p:tagLst xmlns:a="http://schemas.openxmlformats.org/drawingml/2006/main" xmlns:r="http://schemas.openxmlformats.org/officeDocument/2006/relationships" xmlns:p="http://schemas.openxmlformats.org/presentationml/2006/main">
  <p:tag name="TIMING" val="|3.6|13.9|11.4|9.5|38.7|2.2"/>
</p:tagLst>
</file>

<file path=ppt/tags/tag9.xml><?xml version="1.0" encoding="utf-8"?>
<p:tagLst xmlns:a="http://schemas.openxmlformats.org/drawingml/2006/main" xmlns:r="http://schemas.openxmlformats.org/officeDocument/2006/relationships" xmlns:p="http://schemas.openxmlformats.org/presentationml/2006/main">
  <p:tag name="TIMING" val="|5.7|10.1|18|5.1|13.9|9.6|7.4"/>
</p:tagLst>
</file>

<file path=ppt/tags/tag10.xml><?xml version="1.0" encoding="utf-8"?>
<p:tagLst xmlns:a="http://schemas.openxmlformats.org/drawingml/2006/main" xmlns:r="http://schemas.openxmlformats.org/officeDocument/2006/relationships" xmlns:p="http://schemas.openxmlformats.org/presentationml/2006/main">
  <p:tag name="TIMING" val="|7.7|6.6|11.2|9.5"/>
</p:tagLst>
</file>

<file path=ppt/tags/tag11.xml><?xml version="1.0" encoding="utf-8"?>
<p:tagLst xmlns:a="http://schemas.openxmlformats.org/drawingml/2006/main" xmlns:r="http://schemas.openxmlformats.org/officeDocument/2006/relationships" xmlns:p="http://schemas.openxmlformats.org/presentationml/2006/main">
  <p:tag name="TIMING" val="|35.3|4.4|13.1|11.2"/>
</p:tagLst>
</file>

<file path=ppt/tags/tag12.xml><?xml version="1.0" encoding="utf-8"?>
<p:tagLst xmlns:a="http://schemas.openxmlformats.org/drawingml/2006/main" xmlns:r="http://schemas.openxmlformats.org/officeDocument/2006/relationships" xmlns:p="http://schemas.openxmlformats.org/presentationml/2006/main">
  <p:tag name="TIMING" val="|13.5|13.4"/>
</p:tagLst>
</file>

<file path=ppt/tags/tag13.xml><?xml version="1.0" encoding="utf-8"?>
<p:tagLst xmlns:a="http://schemas.openxmlformats.org/drawingml/2006/main" xmlns:r="http://schemas.openxmlformats.org/officeDocument/2006/relationships" xmlns:p="http://schemas.openxmlformats.org/presentationml/2006/main">
  <p:tag name="TIMING" val="|13"/>
</p:tagLst>
</file>

<file path=ppt/tags/tag14.xml><?xml version="1.0" encoding="utf-8"?>
<p:tagLst xmlns:a="http://schemas.openxmlformats.org/drawingml/2006/main" xmlns:r="http://schemas.openxmlformats.org/officeDocument/2006/relationships" xmlns:p="http://schemas.openxmlformats.org/presentationml/2006/main">
  <p:tag name="TIMING" val="|18.2|17.4"/>
</p:tagLst>
</file>

<file path=ppt/tags/tag15.xml><?xml version="1.0" encoding="utf-8"?>
<p:tagLst xmlns:a="http://schemas.openxmlformats.org/drawingml/2006/main" xmlns:r="http://schemas.openxmlformats.org/officeDocument/2006/relationships" xmlns:p="http://schemas.openxmlformats.org/presentationml/2006/main">
  <p:tag name="TIMING" val="|16|5.1"/>
</p:tagLst>
</file>

<file path=ppt/tags/tag16.xml><?xml version="1.0" encoding="utf-8"?>
<p:tagLst xmlns:a="http://schemas.openxmlformats.org/drawingml/2006/main" xmlns:r="http://schemas.openxmlformats.org/officeDocument/2006/relationships" xmlns:p="http://schemas.openxmlformats.org/presentationml/2006/main">
  <p:tag name="TIMING" val="|6.7|12.1|1.8"/>
</p:tagLst>
</file>

<file path=ppt/tags/tag17.xml><?xml version="1.0" encoding="utf-8"?>
<p:tagLst xmlns:a="http://schemas.openxmlformats.org/drawingml/2006/main" xmlns:r="http://schemas.openxmlformats.org/officeDocument/2006/relationships" xmlns:p="http://schemas.openxmlformats.org/presentationml/2006/main">
  <p:tag name="TIMING" val="|13.6|15.9|9.9|13.4|4.2|10.1|9.9|3.9"/>
</p:tagLst>
</file>

<file path=ppt/tags/tag18.xml><?xml version="1.0" encoding="utf-8"?>
<p:tagLst xmlns:a="http://schemas.openxmlformats.org/drawingml/2006/main" xmlns:r="http://schemas.openxmlformats.org/officeDocument/2006/relationships" xmlns:p="http://schemas.openxmlformats.org/presentationml/2006/main">
  <p:tag name="TIMING" val="|17.1|9.4|12|7.1|12.7"/>
</p:tagLst>
</file>

<file path=ppt/tags/tag19.xml><?xml version="1.0" encoding="utf-8"?>
<p:tagLst xmlns:a="http://schemas.openxmlformats.org/drawingml/2006/main" xmlns:r="http://schemas.openxmlformats.org/officeDocument/2006/relationships" xmlns:p="http://schemas.openxmlformats.org/presentationml/2006/main">
  <p:tag name="TIMING" val="|31.1|36|4.6"/>
</p:tagLst>
</file>

<file path=ppt/tags/tag20.xml><?xml version="1.0" encoding="utf-8"?>
<p:tagLst xmlns:a="http://schemas.openxmlformats.org/drawingml/2006/main" xmlns:r="http://schemas.openxmlformats.org/officeDocument/2006/relationships" xmlns:p="http://schemas.openxmlformats.org/presentationml/2006/main">
  <p:tag name="TIMING" val="|16.4|24.8"/>
</p:tagLst>
</file>

<file path=ppt/tags/tag21.xml><?xml version="1.0" encoding="utf-8"?>
<p:tagLst xmlns:a="http://schemas.openxmlformats.org/drawingml/2006/main" xmlns:r="http://schemas.openxmlformats.org/officeDocument/2006/relationships" xmlns:p="http://schemas.openxmlformats.org/presentationml/2006/main">
  <p:tag name="TIMING" val="|11.1|23.6|35"/>
</p:tagLst>
</file>

<file path=ppt/tags/tag22.xml><?xml version="1.0" encoding="utf-8"?>
<p:tagLst xmlns:a="http://schemas.openxmlformats.org/drawingml/2006/main" xmlns:r="http://schemas.openxmlformats.org/officeDocument/2006/relationships" xmlns:p="http://schemas.openxmlformats.org/presentationml/2006/main">
  <p:tag name="TIMING" val="|10.7|1.2|3.5|2.7"/>
</p:tagLst>
</file>

<file path=ppt/tags/tag23.xml><?xml version="1.0" encoding="utf-8"?>
<p:tagLst xmlns:a="http://schemas.openxmlformats.org/drawingml/2006/main" xmlns:r="http://schemas.openxmlformats.org/officeDocument/2006/relationships" xmlns:p="http://schemas.openxmlformats.org/presentationml/2006/main">
  <p:tag name="TIMING" val="|18.6|16.3|5.6"/>
</p:tagLst>
</file>

<file path=ppt/tags/tag24.xml><?xml version="1.0" encoding="utf-8"?>
<p:tagLst xmlns:a="http://schemas.openxmlformats.org/drawingml/2006/main" xmlns:r="http://schemas.openxmlformats.org/officeDocument/2006/relationships" xmlns:p="http://schemas.openxmlformats.org/presentationml/2006/main">
  <p:tag name="TIMING" val="|8.6|8.3|8.3"/>
</p:tagLst>
</file>

<file path=ppt/tags/tag25.xml><?xml version="1.0" encoding="utf-8"?>
<p:tagLst xmlns:a="http://schemas.openxmlformats.org/drawingml/2006/main" xmlns:r="http://schemas.openxmlformats.org/officeDocument/2006/relationships" xmlns:p="http://schemas.openxmlformats.org/presentationml/2006/main">
  <p:tag name="TIMING" val="|13|11.9|11.8"/>
</p:tagLst>
</file>

<file path=ppt/tags/tag26.xml><?xml version="1.0" encoding="utf-8"?>
<p:tagLst xmlns:a="http://schemas.openxmlformats.org/drawingml/2006/main" xmlns:r="http://schemas.openxmlformats.org/officeDocument/2006/relationships" xmlns:p="http://schemas.openxmlformats.org/presentationml/2006/main">
  <p:tag name="TIMING" val="|8.8|9"/>
</p:tagLst>
</file>

<file path=ppt/tags/tag27.xml><?xml version="1.0" encoding="utf-8"?>
<p:tagLst xmlns:a="http://schemas.openxmlformats.org/drawingml/2006/main" xmlns:r="http://schemas.openxmlformats.org/officeDocument/2006/relationships" xmlns:p="http://schemas.openxmlformats.org/presentationml/2006/main">
  <p:tag name="TIMING" val="|20.9|3"/>
</p:tagLst>
</file>

<file path=ppt/tags/tag28.xml><?xml version="1.0" encoding="utf-8"?>
<p:tagLst xmlns:a="http://schemas.openxmlformats.org/drawingml/2006/main" xmlns:r="http://schemas.openxmlformats.org/officeDocument/2006/relationships" xmlns:p="http://schemas.openxmlformats.org/presentationml/2006/main">
  <p:tag name="TIMING" val="|4.3|10.1"/>
</p:tagLst>
</file>

<file path=ppt/tags/tag29.xml><?xml version="1.0" encoding="utf-8"?>
<p:tagLst xmlns:a="http://schemas.openxmlformats.org/drawingml/2006/main" xmlns:r="http://schemas.openxmlformats.org/officeDocument/2006/relationships" xmlns:p="http://schemas.openxmlformats.org/presentationml/2006/main">
  <p:tag name="TIMING" val="|37.7"/>
</p:tagLst>
</file>

<file path=ppt/tags/tag30.xml><?xml version="1.0" encoding="utf-8"?>
<p:tagLst xmlns:a="http://schemas.openxmlformats.org/drawingml/2006/main" xmlns:r="http://schemas.openxmlformats.org/officeDocument/2006/relationships" xmlns:p="http://schemas.openxmlformats.org/presentationml/2006/main">
  <p:tag name="TIMING" val="|21.6"/>
</p:tagLst>
</file>

<file path=ppt/tags/tag31.xml><?xml version="1.0" encoding="utf-8"?>
<p:tagLst xmlns:a="http://schemas.openxmlformats.org/drawingml/2006/main" xmlns:r="http://schemas.openxmlformats.org/officeDocument/2006/relationships" xmlns:p="http://schemas.openxmlformats.org/presentationml/2006/main">
  <p:tag name="TIMING" val="|38.8"/>
</p:tagLst>
</file>

<file path=ppt/tags/tag32.xml><?xml version="1.0" encoding="utf-8"?>
<p:tagLst xmlns:a="http://schemas.openxmlformats.org/drawingml/2006/main" xmlns:r="http://schemas.openxmlformats.org/officeDocument/2006/relationships" xmlns:p="http://schemas.openxmlformats.org/presentationml/2006/main">
  <p:tag name="TIMING" val="|29"/>
</p:tagLst>
</file>

<file path=ppt/tags/tag33.xml><?xml version="1.0" encoding="utf-8"?>
<p:tagLst xmlns:a="http://schemas.openxmlformats.org/drawingml/2006/main" xmlns:r="http://schemas.openxmlformats.org/officeDocument/2006/relationships" xmlns:p="http://schemas.openxmlformats.org/presentationml/2006/main">
  <p:tag name="TIMING" val="|30.7|9.7"/>
</p:tagLst>
</file>

<file path=ppt/tags/tag34.xml><?xml version="1.0" encoding="utf-8"?>
<p:tagLst xmlns:a="http://schemas.openxmlformats.org/drawingml/2006/main" xmlns:r="http://schemas.openxmlformats.org/officeDocument/2006/relationships" xmlns:p="http://schemas.openxmlformats.org/presentationml/2006/main">
  <p:tag name="TIMING" val="|30.1|11.3"/>
</p:tagLst>
</file>

<file path=ppt/tags/tag35.xml><?xml version="1.0" encoding="utf-8"?>
<p:tagLst xmlns:a="http://schemas.openxmlformats.org/drawingml/2006/main" xmlns:r="http://schemas.openxmlformats.org/officeDocument/2006/relationships" xmlns:p="http://schemas.openxmlformats.org/presentationml/2006/main">
  <p:tag name="TIMING" val="|11.6|8"/>
</p:tagLst>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ndara">
      <a:maj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4367</Words>
  <Application>Microsoft Office PowerPoint</Application>
  <PresentationFormat>On-screen Show (4:3)</PresentationFormat>
  <Paragraphs>760</Paragraphs>
  <Slides>44</Slides>
  <Notes>43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LettrGoth12 BT</vt:lpstr>
      <vt:lpstr>Prestige12 BT</vt:lpstr>
      <vt:lpstr>Prestige12 BT Roman</vt:lpstr>
      <vt:lpstr>Arial</vt:lpstr>
      <vt:lpstr>Calibri</vt:lpstr>
      <vt:lpstr>Cambria Math</vt:lpstr>
      <vt:lpstr>Candara</vt:lpstr>
      <vt:lpstr>Wingdings</vt:lpstr>
      <vt:lpstr>Office Theme</vt:lpstr>
      <vt:lpstr>SQL:  Recursion, Programming </vt:lpstr>
      <vt:lpstr>SQL </vt:lpstr>
      <vt:lpstr>A motivating example</vt:lpstr>
      <vt:lpstr>Recursion in SQL</vt:lpstr>
      <vt:lpstr>Ancestor query in SQL3</vt:lpstr>
      <vt:lpstr>Finding ancestors</vt:lpstr>
      <vt:lpstr>Fixed point of a function</vt:lpstr>
      <vt:lpstr>Fixed point of a query</vt:lpstr>
      <vt:lpstr>Non-linear v.s. linear recursion</vt:lpstr>
      <vt:lpstr>Linear vs. non-linear recursion</vt:lpstr>
      <vt:lpstr>Mutual recursion example</vt:lpstr>
      <vt:lpstr>Computing mutual recursion</vt:lpstr>
      <vt:lpstr>Semantics of WITH</vt:lpstr>
      <vt:lpstr>Starting with non-empty set</vt:lpstr>
      <vt:lpstr>Fixed points are not unique</vt:lpstr>
      <vt:lpstr>Mixing negation with recursion</vt:lpstr>
      <vt:lpstr>Fixed-point iter may not converge</vt:lpstr>
      <vt:lpstr>Multiple minimal fixed points</vt:lpstr>
      <vt:lpstr>Legal mix of negation and recursion</vt:lpstr>
      <vt:lpstr>Stratified negation example</vt:lpstr>
      <vt:lpstr>Evaluating stratified negation</vt:lpstr>
      <vt:lpstr>SQL features covered so far</vt:lpstr>
      <vt:lpstr>Motivation</vt:lpstr>
      <vt:lpstr>An “impedance mismatch”</vt:lpstr>
      <vt:lpstr>Augmenting SQL: SQL/PSM</vt:lpstr>
      <vt:lpstr>SQL/PSM example</vt:lpstr>
      <vt:lpstr>SQL/PSM example continued</vt:lpstr>
      <vt:lpstr>Other SQL/PSM features </vt:lpstr>
      <vt:lpstr>Working with SQL through an API</vt:lpstr>
      <vt:lpstr>Example API: Python psycopg2</vt:lpstr>
      <vt:lpstr>More psycopg2 examples</vt:lpstr>
      <vt:lpstr>More psycopg2 examples</vt:lpstr>
      <vt:lpstr>Prepared statements: example</vt:lpstr>
      <vt:lpstr>“Exploits of a mom”</vt:lpstr>
      <vt:lpstr>Guarding against SQL injection</vt:lpstr>
      <vt:lpstr>Augmenting SQL vs. API</vt:lpstr>
      <vt:lpstr>A brief look at other approaches</vt:lpstr>
      <vt:lpstr>Embedding SQL in a language</vt:lpstr>
      <vt:lpstr>Embedded SQL v.s. API</vt:lpstr>
      <vt:lpstr>A brief look at other approaches</vt:lpstr>
      <vt:lpstr>Object-relational mapping</vt:lpstr>
      <vt:lpstr>A brief look at other approaches</vt:lpstr>
      <vt:lpstr>Deeper language integration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2021-07-27T02:20:52Z</dcterms:created>
  <dcterms:modified xsi:type="dcterms:W3CDTF">2021-07-27T02:21:01Z</dcterms:modified>
</cp:coreProperties>
</file>