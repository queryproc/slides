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1.xml" ContentType="application/vnd.openxmlformats-officedocument.presentationml.tags+xml"/>
  <Override PartName="/ppt/notesSlides/notesSlide41.xml" ContentType="application/vnd.openxmlformats-officedocument.presentationml.notesSlide+xml"/>
  <Override PartName="/ppt/tags/tag2.xml" ContentType="application/vnd.openxmlformats-officedocument.presentationml.tags+xml"/>
  <Override PartName="/ppt/notesSlides/notesSlide42.xml" ContentType="application/vnd.openxmlformats-officedocument.presentationml.notesSlide+xml"/>
  <Override PartName="/ppt/tags/tag3.xml" ContentType="application/vnd.openxmlformats-officedocument.presentationml.tags+xml"/>
  <Override PartName="/ppt/notesSlides/notesSlide43.xml" ContentType="application/vnd.openxmlformats-officedocument.presentationml.notesSlide+xml"/>
  <Override PartName="/ppt/ink/ink1.xml" ContentType="application/inkml+xml"/>
  <Override PartName="/ppt/tags/tag4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tags/tag5.xml" ContentType="application/vnd.openxmlformats-officedocument.presentationml.tags+xml"/>
  <Override PartName="/ppt/notesSlides/notesSlide47.xml" ContentType="application/vnd.openxmlformats-officedocument.presentationml.notesSlide+xml"/>
  <Override PartName="/ppt/tags/tag6.xml" ContentType="application/vnd.openxmlformats-officedocument.presentationml.tags+xml"/>
  <Override PartName="/ppt/notesSlides/notesSlide48.xml" ContentType="application/vnd.openxmlformats-officedocument.presentationml.notesSlide+xml"/>
  <Override PartName="/ppt/tags/tag7.xml" ContentType="application/vnd.openxmlformats-officedocument.presentationml.tags+xml"/>
  <Override PartName="/ppt/notesSlides/notesSlide49.xml" ContentType="application/vnd.openxmlformats-officedocument.presentationml.notesSlide+xml"/>
  <Override PartName="/ppt/tags/tag8.xml" ContentType="application/vnd.openxmlformats-officedocument.presentationml.tags+xml"/>
  <Override PartName="/ppt/notesSlides/notesSlide50.xml" ContentType="application/vnd.openxmlformats-officedocument.presentationml.notesSlide+xml"/>
  <Override PartName="/ppt/tags/tag9.xml" ContentType="application/vnd.openxmlformats-officedocument.presentationml.tags+xml"/>
  <Override PartName="/ppt/notesSlides/notesSlide51.xml" ContentType="application/vnd.openxmlformats-officedocument.presentationml.notesSlide+xml"/>
  <Override PartName="/ppt/tags/tag10.xml" ContentType="application/vnd.openxmlformats-officedocument.presentationml.tags+xml"/>
  <Override PartName="/ppt/notesSlides/notesSlide52.xml" ContentType="application/vnd.openxmlformats-officedocument.presentationml.notesSlide+xml"/>
  <Override PartName="/ppt/tags/tag11.xml" ContentType="application/vnd.openxmlformats-officedocument.presentationml.tags+xml"/>
  <Override PartName="/ppt/notesSlides/notesSlide53.xml" ContentType="application/vnd.openxmlformats-officedocument.presentationml.notesSlide+xml"/>
  <Override PartName="/ppt/tags/tag12.xml" ContentType="application/vnd.openxmlformats-officedocument.presentationml.tags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8"/>
  </p:notesMasterIdLst>
  <p:sldIdLst>
    <p:sldId id="320" r:id="rId3"/>
    <p:sldId id="284" r:id="rId4"/>
    <p:sldId id="321" r:id="rId5"/>
    <p:sldId id="322" r:id="rId6"/>
    <p:sldId id="323" r:id="rId7"/>
    <p:sldId id="324" r:id="rId8"/>
    <p:sldId id="325" r:id="rId9"/>
    <p:sldId id="326" r:id="rId10"/>
    <p:sldId id="331" r:id="rId11"/>
    <p:sldId id="328" r:id="rId12"/>
    <p:sldId id="329" r:id="rId13"/>
    <p:sldId id="333" r:id="rId14"/>
    <p:sldId id="334" r:id="rId15"/>
    <p:sldId id="335" r:id="rId16"/>
    <p:sldId id="336" r:id="rId17"/>
    <p:sldId id="337" r:id="rId18"/>
    <p:sldId id="338" r:id="rId19"/>
    <p:sldId id="340" r:id="rId20"/>
    <p:sldId id="341" r:id="rId21"/>
    <p:sldId id="342" r:id="rId22"/>
    <p:sldId id="351" r:id="rId23"/>
    <p:sldId id="339" r:id="rId24"/>
    <p:sldId id="343" r:id="rId25"/>
    <p:sldId id="346" r:id="rId26"/>
    <p:sldId id="347" r:id="rId27"/>
    <p:sldId id="348" r:id="rId28"/>
    <p:sldId id="349" r:id="rId29"/>
    <p:sldId id="350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2" r:id="rId40"/>
    <p:sldId id="361" r:id="rId41"/>
    <p:sldId id="363" r:id="rId42"/>
    <p:sldId id="259" r:id="rId43"/>
    <p:sldId id="261" r:id="rId44"/>
    <p:sldId id="262" r:id="rId45"/>
    <p:sldId id="263" r:id="rId46"/>
    <p:sldId id="264" r:id="rId47"/>
    <p:sldId id="265" r:id="rId48"/>
    <p:sldId id="266" r:id="rId49"/>
    <p:sldId id="309" r:id="rId50"/>
    <p:sldId id="310" r:id="rId51"/>
    <p:sldId id="311" r:id="rId52"/>
    <p:sldId id="270" r:id="rId53"/>
    <p:sldId id="272" r:id="rId54"/>
    <p:sldId id="365" r:id="rId55"/>
    <p:sldId id="364" r:id="rId56"/>
    <p:sldId id="36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894"/>
    <p:restoredTop sz="81156" autoAdjust="0"/>
  </p:normalViewPr>
  <p:slideViewPr>
    <p:cSldViewPr snapToGrid="0" snapToObjects="1">
      <p:cViewPr varScale="1">
        <p:scale>
          <a:sx n="76" d="100"/>
          <a:sy n="76" d="100"/>
        </p:scale>
        <p:origin x="208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3T22:32:56.65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1/24/22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2173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6256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609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0941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5633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338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4106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7844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176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2859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2942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1539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057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311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93379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90237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98734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9955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57181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92749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78532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39068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3224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31362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85900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9967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6972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72825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49953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61232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55890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43924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96531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78165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27974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95338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30282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4922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48186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4614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9125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0529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6310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873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601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3015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4058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96238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9802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3289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7723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120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17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3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70884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89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98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1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1/24/22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54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1/24/22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3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1/24/22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8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70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607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90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8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6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ucsc.edu/~palvaro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20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customXml" Target="../ink/ink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9.6/plpgsql.html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14423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4565"/>
            <a:ext cx="9144001" cy="2549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 Lecture 6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Recursion in SQL, </a:t>
            </a:r>
            <a:r>
              <a:rPr lang="en-US" sz="3700" kern="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SQL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255" y="2534466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 25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8" y="4677659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 Recursive Query Support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Recursion Motivation &amp;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FixedPoint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Subroutine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and WITH RECURSIVE Clauses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Monotonicity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Linear vs Non-Linear Recursion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Mutual Recursion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Important Note About Convergence of Recursive Queries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 More Elegant Query Languages For Recursion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 Programming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Strengths and Limitations of SQL So Far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78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Strengths:</a:t>
            </a:r>
          </a:p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Excellent fit for tasks using fundamental set operations: </a:t>
            </a:r>
          </a:p>
          <a:p>
            <a:pPr marL="914400" lvl="1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projection, joins, filtering, grouping etc. and combinations</a:t>
            </a:r>
          </a:p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Very high-level:</a:t>
            </a:r>
          </a:p>
          <a:p>
            <a:pPr marL="971550" lvl="1" indent="-514350">
              <a:lnSpc>
                <a:spcPts val="3680"/>
              </a:lnSpc>
              <a:buFont typeface="+mj-lt"/>
              <a:buAutoNum type="romanU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Declarative: abstracts users away from low-level computations</a:t>
            </a:r>
          </a:p>
          <a:p>
            <a:pPr marL="971550" lvl="1" indent="-514350">
              <a:lnSpc>
                <a:spcPts val="3680"/>
              </a:lnSpc>
              <a:buFont typeface="+mj-lt"/>
              <a:buAutoNum type="romanU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Physical data independence: abstracts away low-level storage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not Turing-complete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More specifically: Cannot express recursive computations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Historically: Recursion was an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afterthougt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when standardizing SQL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Motivating Example 1: Transitive Closure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98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Ex: Given academic &lt;(co-)supervisor, student&gt; relationships:</a:t>
            </a:r>
          </a:p>
          <a:p>
            <a:pPr marL="914400" lvl="1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Find all academic ancestors/descendants of an academic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1783ABB-E3E6-EE46-81B7-471E46450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920396"/>
              </p:ext>
            </p:extLst>
          </p:nvPr>
        </p:nvGraphicFramePr>
        <p:xfrm>
          <a:off x="283967" y="1903118"/>
          <a:ext cx="204533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5" name="Group 54">
            <a:extLst>
              <a:ext uri="{FF2B5EF4-FFF2-40B4-BE49-F238E27FC236}">
                <a16:creationId xmlns:a16="http://schemas.microsoft.com/office/drawing/2014/main" id="{E16A8327-9AEC-F449-830C-0FEB56D1C03D}"/>
              </a:ext>
            </a:extLst>
          </p:cNvPr>
          <p:cNvGrpSpPr/>
          <p:nvPr/>
        </p:nvGrpSpPr>
        <p:grpSpPr>
          <a:xfrm>
            <a:off x="3863810" y="2031684"/>
            <a:ext cx="1903193" cy="2785946"/>
            <a:chOff x="5351075" y="2522218"/>
            <a:chExt cx="1903193" cy="278594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C1EE99D-9101-9C4B-9578-1F23C8A128B8}"/>
                </a:ext>
              </a:extLst>
            </p:cNvPr>
            <p:cNvSpPr/>
            <p:nvPr/>
          </p:nvSpPr>
          <p:spPr>
            <a:xfrm>
              <a:off x="5385354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E79B80B-D4F3-904E-8D41-BCA8BEF6429A}"/>
                </a:ext>
              </a:extLst>
            </p:cNvPr>
            <p:cNvSpPr/>
            <p:nvPr/>
          </p:nvSpPr>
          <p:spPr>
            <a:xfrm>
              <a:off x="6826441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535F354-4613-5744-9D28-B76E43D06BDA}"/>
                </a:ext>
              </a:extLst>
            </p:cNvPr>
            <p:cNvSpPr/>
            <p:nvPr/>
          </p:nvSpPr>
          <p:spPr>
            <a:xfrm>
              <a:off x="6826441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36AEF5E-8D4A-3247-8A31-89F8B0FF34B7}"/>
                </a:ext>
              </a:extLst>
            </p:cNvPr>
            <p:cNvSpPr/>
            <p:nvPr/>
          </p:nvSpPr>
          <p:spPr>
            <a:xfrm>
              <a:off x="5385354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608438F-1423-A545-A89F-E31E8ADA90A5}"/>
                </a:ext>
              </a:extLst>
            </p:cNvPr>
            <p:cNvSpPr/>
            <p:nvPr/>
          </p:nvSpPr>
          <p:spPr>
            <a:xfrm>
              <a:off x="5385354" y="33436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87D6D1E-5527-CE43-8780-422CB0A24264}"/>
                </a:ext>
              </a:extLst>
            </p:cNvPr>
            <p:cNvSpPr/>
            <p:nvPr/>
          </p:nvSpPr>
          <p:spPr>
            <a:xfrm>
              <a:off x="5385354" y="2550922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6B7346F-4CEA-7446-A850-A1C59A5D52CD}"/>
                </a:ext>
              </a:extLst>
            </p:cNvPr>
            <p:cNvCxnSpPr>
              <a:stCxn id="39" idx="4"/>
              <a:endCxn id="38" idx="0"/>
            </p:cNvCxnSpPr>
            <p:nvPr/>
          </p:nvCxnSpPr>
          <p:spPr>
            <a:xfrm>
              <a:off x="5577378" y="2933768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F94FC8A-DA5C-7C4C-AA0D-074C745A6048}"/>
                </a:ext>
              </a:extLst>
            </p:cNvPr>
            <p:cNvCxnSpPr>
              <a:cxnSpLocks/>
              <a:stCxn id="38" idx="4"/>
              <a:endCxn id="37" idx="0"/>
            </p:cNvCxnSpPr>
            <p:nvPr/>
          </p:nvCxnSpPr>
          <p:spPr>
            <a:xfrm>
              <a:off x="5577378" y="3726494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F2BA3A7-C392-8B45-908F-E2A86E4C83BB}"/>
                </a:ext>
              </a:extLst>
            </p:cNvPr>
            <p:cNvCxnSpPr>
              <a:cxnSpLocks/>
              <a:stCxn id="37" idx="4"/>
              <a:endCxn id="3" idx="0"/>
            </p:cNvCxnSpPr>
            <p:nvPr/>
          </p:nvCxnSpPr>
          <p:spPr>
            <a:xfrm>
              <a:off x="5577378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EFEF877-A5D0-A743-B9AD-DED75F84A76B}"/>
                </a:ext>
              </a:extLst>
            </p:cNvPr>
            <p:cNvCxnSpPr>
              <a:cxnSpLocks/>
              <a:stCxn id="37" idx="4"/>
              <a:endCxn id="35" idx="0"/>
            </p:cNvCxnSpPr>
            <p:nvPr/>
          </p:nvCxnSpPr>
          <p:spPr>
            <a:xfrm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F81DBBD-B4A4-1C42-B184-577CF8343C34}"/>
                </a:ext>
              </a:extLst>
            </p:cNvPr>
            <p:cNvCxnSpPr>
              <a:cxnSpLocks/>
              <a:stCxn id="36" idx="4"/>
              <a:endCxn id="35" idx="0"/>
            </p:cNvCxnSpPr>
            <p:nvPr/>
          </p:nvCxnSpPr>
          <p:spPr>
            <a:xfrm>
              <a:off x="7018465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BFB0607-CB6C-F64D-AF5F-F5DE1650DA03}"/>
                </a:ext>
              </a:extLst>
            </p:cNvPr>
            <p:cNvCxnSpPr>
              <a:cxnSpLocks/>
              <a:stCxn id="36" idx="4"/>
              <a:endCxn id="3" idx="0"/>
            </p:cNvCxnSpPr>
            <p:nvPr/>
          </p:nvCxnSpPr>
          <p:spPr>
            <a:xfrm flipH="1"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 Box 7">
              <a:extLst>
                <a:ext uri="{FF2B5EF4-FFF2-40B4-BE49-F238E27FC236}">
                  <a16:creationId xmlns:a16="http://schemas.microsoft.com/office/drawing/2014/main" id="{00A265FB-9CD4-464C-B38A-2D3B350F7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664" y="4908054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D2</a:t>
              </a:r>
            </a:p>
          </p:txBody>
        </p:sp>
        <p:sp>
          <p:nvSpPr>
            <p:cNvPr id="58" name="Text Box 8">
              <a:extLst>
                <a:ext uri="{FF2B5EF4-FFF2-40B4-BE49-F238E27FC236}">
                  <a16:creationId xmlns:a16="http://schemas.microsoft.com/office/drawing/2014/main" id="{B7A4D27C-010D-7E49-BB1B-0D3856D99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300" y="4033828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C2</a:t>
              </a:r>
            </a:p>
          </p:txBody>
        </p:sp>
        <p:sp>
          <p:nvSpPr>
            <p:cNvPr id="59" name="Text Box 9">
              <a:extLst>
                <a:ext uri="{FF2B5EF4-FFF2-40B4-BE49-F238E27FC236}">
                  <a16:creationId xmlns:a16="http://schemas.microsoft.com/office/drawing/2014/main" id="{BA72D818-7A38-5445-B5D6-87FAEED5E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996" y="4040352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C1</a:t>
              </a:r>
            </a:p>
          </p:txBody>
        </p:sp>
        <p:sp>
          <p:nvSpPr>
            <p:cNvPr id="60" name="Text Box 11">
              <a:extLst>
                <a:ext uri="{FF2B5EF4-FFF2-40B4-BE49-F238E27FC236}">
                  <a16:creationId xmlns:a16="http://schemas.microsoft.com/office/drawing/2014/main" id="{83362B92-9D78-D24D-8B0A-EDCCD063D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004" y="2522218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61" name="Text Box 10">
              <a:extLst>
                <a:ext uri="{FF2B5EF4-FFF2-40B4-BE49-F238E27FC236}">
                  <a16:creationId xmlns:a16="http://schemas.microsoft.com/office/drawing/2014/main" id="{D9DD7157-252B-9048-B905-EABE2EA12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3238" y="332348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62" name="Text Box 6">
              <a:extLst>
                <a:ext uri="{FF2B5EF4-FFF2-40B4-BE49-F238E27FC236}">
                  <a16:creationId xmlns:a16="http://schemas.microsoft.com/office/drawing/2014/main" id="{99E9547E-DF8B-4E4F-89D5-C67706B7F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075" y="4896616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D1</a:t>
              </a: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AE0726D-1989-4846-ADD0-B30FE1440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035200"/>
              </p:ext>
            </p:extLst>
          </p:nvPr>
        </p:nvGraphicFramePr>
        <p:xfrm>
          <a:off x="6664247" y="1898444"/>
          <a:ext cx="144786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Ancestors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8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2098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82732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99697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3686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969347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770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38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Motivating Example 1: Transitive Closure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5</a:t>
            </a:fld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16A8327-9AEC-F449-830C-0FEB56D1C03D}"/>
              </a:ext>
            </a:extLst>
          </p:cNvPr>
          <p:cNvGrpSpPr/>
          <p:nvPr/>
        </p:nvGrpSpPr>
        <p:grpSpPr>
          <a:xfrm>
            <a:off x="2387955" y="865426"/>
            <a:ext cx="1903193" cy="2785946"/>
            <a:chOff x="5351075" y="2522218"/>
            <a:chExt cx="1903193" cy="278594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C1EE99D-9101-9C4B-9578-1F23C8A128B8}"/>
                </a:ext>
              </a:extLst>
            </p:cNvPr>
            <p:cNvSpPr/>
            <p:nvPr/>
          </p:nvSpPr>
          <p:spPr>
            <a:xfrm>
              <a:off x="5385354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E79B80B-D4F3-904E-8D41-BCA8BEF6429A}"/>
                </a:ext>
              </a:extLst>
            </p:cNvPr>
            <p:cNvSpPr/>
            <p:nvPr/>
          </p:nvSpPr>
          <p:spPr>
            <a:xfrm>
              <a:off x="6826441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535F354-4613-5744-9D28-B76E43D06BDA}"/>
                </a:ext>
              </a:extLst>
            </p:cNvPr>
            <p:cNvSpPr/>
            <p:nvPr/>
          </p:nvSpPr>
          <p:spPr>
            <a:xfrm>
              <a:off x="6826441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36AEF5E-8D4A-3247-8A31-89F8B0FF34B7}"/>
                </a:ext>
              </a:extLst>
            </p:cNvPr>
            <p:cNvSpPr/>
            <p:nvPr/>
          </p:nvSpPr>
          <p:spPr>
            <a:xfrm>
              <a:off x="5385354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608438F-1423-A545-A89F-E31E8ADA90A5}"/>
                </a:ext>
              </a:extLst>
            </p:cNvPr>
            <p:cNvSpPr/>
            <p:nvPr/>
          </p:nvSpPr>
          <p:spPr>
            <a:xfrm>
              <a:off x="5385354" y="33436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87D6D1E-5527-CE43-8780-422CB0A24264}"/>
                </a:ext>
              </a:extLst>
            </p:cNvPr>
            <p:cNvSpPr/>
            <p:nvPr/>
          </p:nvSpPr>
          <p:spPr>
            <a:xfrm>
              <a:off x="5385354" y="2550922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6B7346F-4CEA-7446-A850-A1C59A5D52CD}"/>
                </a:ext>
              </a:extLst>
            </p:cNvPr>
            <p:cNvCxnSpPr>
              <a:stCxn id="39" idx="4"/>
              <a:endCxn id="38" idx="0"/>
            </p:cNvCxnSpPr>
            <p:nvPr/>
          </p:nvCxnSpPr>
          <p:spPr>
            <a:xfrm>
              <a:off x="5577378" y="2933768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F94FC8A-DA5C-7C4C-AA0D-074C745A6048}"/>
                </a:ext>
              </a:extLst>
            </p:cNvPr>
            <p:cNvCxnSpPr>
              <a:cxnSpLocks/>
              <a:stCxn id="38" idx="4"/>
              <a:endCxn id="37" idx="0"/>
            </p:cNvCxnSpPr>
            <p:nvPr/>
          </p:nvCxnSpPr>
          <p:spPr>
            <a:xfrm>
              <a:off x="5577378" y="3726494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F2BA3A7-C392-8B45-908F-E2A86E4C83BB}"/>
                </a:ext>
              </a:extLst>
            </p:cNvPr>
            <p:cNvCxnSpPr>
              <a:cxnSpLocks/>
              <a:stCxn id="37" idx="4"/>
              <a:endCxn id="3" idx="0"/>
            </p:cNvCxnSpPr>
            <p:nvPr/>
          </p:nvCxnSpPr>
          <p:spPr>
            <a:xfrm>
              <a:off x="5577378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EFEF877-A5D0-A743-B9AD-DED75F84A76B}"/>
                </a:ext>
              </a:extLst>
            </p:cNvPr>
            <p:cNvCxnSpPr>
              <a:cxnSpLocks/>
              <a:stCxn id="37" idx="4"/>
              <a:endCxn id="35" idx="0"/>
            </p:cNvCxnSpPr>
            <p:nvPr/>
          </p:nvCxnSpPr>
          <p:spPr>
            <a:xfrm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F81DBBD-B4A4-1C42-B184-577CF8343C34}"/>
                </a:ext>
              </a:extLst>
            </p:cNvPr>
            <p:cNvCxnSpPr>
              <a:cxnSpLocks/>
              <a:stCxn id="36" idx="4"/>
              <a:endCxn id="35" idx="0"/>
            </p:cNvCxnSpPr>
            <p:nvPr/>
          </p:nvCxnSpPr>
          <p:spPr>
            <a:xfrm>
              <a:off x="7018465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BFB0607-CB6C-F64D-AF5F-F5DE1650DA03}"/>
                </a:ext>
              </a:extLst>
            </p:cNvPr>
            <p:cNvCxnSpPr>
              <a:cxnSpLocks/>
              <a:stCxn id="36" idx="4"/>
              <a:endCxn id="3" idx="0"/>
            </p:cNvCxnSpPr>
            <p:nvPr/>
          </p:nvCxnSpPr>
          <p:spPr>
            <a:xfrm flipH="1"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 Box 7">
              <a:extLst>
                <a:ext uri="{FF2B5EF4-FFF2-40B4-BE49-F238E27FC236}">
                  <a16:creationId xmlns:a16="http://schemas.microsoft.com/office/drawing/2014/main" id="{00A265FB-9CD4-464C-B38A-2D3B350F7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664" y="4908054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D2</a:t>
              </a:r>
            </a:p>
          </p:txBody>
        </p:sp>
        <p:sp>
          <p:nvSpPr>
            <p:cNvPr id="58" name="Text Box 8">
              <a:extLst>
                <a:ext uri="{FF2B5EF4-FFF2-40B4-BE49-F238E27FC236}">
                  <a16:creationId xmlns:a16="http://schemas.microsoft.com/office/drawing/2014/main" id="{B7A4D27C-010D-7E49-BB1B-0D3856D99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300" y="4033828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C2</a:t>
              </a:r>
            </a:p>
          </p:txBody>
        </p:sp>
        <p:sp>
          <p:nvSpPr>
            <p:cNvPr id="59" name="Text Box 9">
              <a:extLst>
                <a:ext uri="{FF2B5EF4-FFF2-40B4-BE49-F238E27FC236}">
                  <a16:creationId xmlns:a16="http://schemas.microsoft.com/office/drawing/2014/main" id="{BA72D818-7A38-5445-B5D6-87FAEED5E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996" y="4040352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C1</a:t>
              </a:r>
            </a:p>
          </p:txBody>
        </p:sp>
        <p:sp>
          <p:nvSpPr>
            <p:cNvPr id="60" name="Text Box 11">
              <a:extLst>
                <a:ext uri="{FF2B5EF4-FFF2-40B4-BE49-F238E27FC236}">
                  <a16:creationId xmlns:a16="http://schemas.microsoft.com/office/drawing/2014/main" id="{83362B92-9D78-D24D-8B0A-EDCCD063D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004" y="2522218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61" name="Text Box 10">
              <a:extLst>
                <a:ext uri="{FF2B5EF4-FFF2-40B4-BE49-F238E27FC236}">
                  <a16:creationId xmlns:a16="http://schemas.microsoft.com/office/drawing/2014/main" id="{D9DD7157-252B-9048-B905-EABE2EA12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3238" y="332348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62" name="Text Box 6">
              <a:extLst>
                <a:ext uri="{FF2B5EF4-FFF2-40B4-BE49-F238E27FC236}">
                  <a16:creationId xmlns:a16="http://schemas.microsoft.com/office/drawing/2014/main" id="{99E9547E-DF8B-4E4F-89D5-C67706B7F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075" y="4896616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D1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6914BA1-8F18-5043-A78E-9E643A72CB41}"/>
              </a:ext>
            </a:extLst>
          </p:cNvPr>
          <p:cNvSpPr txBox="1"/>
          <p:nvPr/>
        </p:nvSpPr>
        <p:spPr>
          <a:xfrm>
            <a:off x="-13896" y="3682075"/>
            <a:ext cx="9157896" cy="2730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find ancestors at any fixed degree, e.g., 1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2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or 4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degree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max depth d is known: union all possible queries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upto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degree d: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(SELECT * FROM Advisor) UNION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(SELECT Adv1.sup, Adv2.stu FROM Adv1,Adv2 WHERE Adv1.stu=Adv2.sup) UNION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… (SQL Query for d-degree ancestors)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cannot express arbitrary depths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5A92B23-ACBA-F444-9937-80069D4C0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67226"/>
              </p:ext>
            </p:extLst>
          </p:nvPr>
        </p:nvGraphicFramePr>
        <p:xfrm>
          <a:off x="121705" y="833749"/>
          <a:ext cx="204533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6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16C0843-9FDC-CE4F-B972-0C9E3E3583E1}"/>
              </a:ext>
            </a:extLst>
          </p:cNvPr>
          <p:cNvSpPr/>
          <p:nvPr/>
        </p:nvSpPr>
        <p:spPr>
          <a:xfrm>
            <a:off x="3676463" y="654161"/>
            <a:ext cx="5532239" cy="1709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 Degree Ancestors Query: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Adv1.sup AS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anc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Adv2.stu as desc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Advisor Adv1, Advisor Adv2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Adv1.stu = Adv2.sup</a:t>
            </a:r>
          </a:p>
        </p:txBody>
      </p:sp>
    </p:spTree>
    <p:extLst>
      <p:ext uri="{BB962C8B-B14F-4D97-AF65-F5344CB8AC3E}">
        <p14:creationId xmlns:p14="http://schemas.microsoft.com/office/powerpoint/2010/main" val="219212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Motivating Example 1: Transitive Closure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6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51B585-DF18-1C4F-8BC4-583A9F1F2B4A}"/>
              </a:ext>
            </a:extLst>
          </p:cNvPr>
          <p:cNvSpPr txBox="1"/>
          <p:nvPr/>
        </p:nvSpPr>
        <p:spPr>
          <a:xfrm>
            <a:off x="83452" y="807082"/>
            <a:ext cx="9060548" cy="1461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Historical Fact: killer app of graph DBMSs before relational systems was the “parts explosion query” equivalent transitive closure</a:t>
            </a:r>
          </a:p>
          <a:p>
            <a:pPr marL="914400" lvl="1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Ask me offline if you want to hear more about this history!</a:t>
            </a:r>
          </a:p>
        </p:txBody>
      </p:sp>
    </p:spTree>
    <p:extLst>
      <p:ext uri="{BB962C8B-B14F-4D97-AF65-F5344CB8AC3E}">
        <p14:creationId xmlns:p14="http://schemas.microsoft.com/office/powerpoint/2010/main" val="75012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Motivating Example 2: Shortest Paths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1461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Many other queries builds on top of transitive closure.</a:t>
            </a:r>
          </a:p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Ex: Given flights &lt;from, to, price&gt; relationships:</a:t>
            </a:r>
          </a:p>
          <a:p>
            <a:pPr marL="914400" lvl="1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Find cheapest paths from A to 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1783ABB-E3E6-EE46-81B7-471E46450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147759"/>
              </p:ext>
            </p:extLst>
          </p:nvPr>
        </p:nvGraphicFramePr>
        <p:xfrm>
          <a:off x="1309081" y="2471436"/>
          <a:ext cx="1866264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767">
                  <a:extLst>
                    <a:ext uri="{9D8B030D-6E8A-4147-A177-3AD203B41FA5}">
                      <a16:colId xmlns:a16="http://schemas.microsoft.com/office/drawing/2014/main" val="481628771"/>
                    </a:ext>
                  </a:extLst>
                </a:gridCol>
              </a:tblGrid>
              <a:tr h="281826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Flights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164865"/>
                  </a:ext>
                </a:extLst>
              </a:tr>
            </a:tbl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A3BE4158-C503-264F-B1BB-48A57E067786}"/>
              </a:ext>
            </a:extLst>
          </p:cNvPr>
          <p:cNvGrpSpPr/>
          <p:nvPr/>
        </p:nvGrpSpPr>
        <p:grpSpPr>
          <a:xfrm>
            <a:off x="4444330" y="2291588"/>
            <a:ext cx="3190818" cy="1587526"/>
            <a:chOff x="4444330" y="2291588"/>
            <a:chExt cx="3190818" cy="1587526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535F354-4613-5744-9D28-B76E43D06BDA}"/>
                </a:ext>
              </a:extLst>
            </p:cNvPr>
            <p:cNvSpPr/>
            <p:nvPr/>
          </p:nvSpPr>
          <p:spPr>
            <a:xfrm>
              <a:off x="5859294" y="2491643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36AEF5E-8D4A-3247-8A31-89F8B0FF34B7}"/>
                </a:ext>
              </a:extLst>
            </p:cNvPr>
            <p:cNvSpPr/>
            <p:nvPr/>
          </p:nvSpPr>
          <p:spPr>
            <a:xfrm>
              <a:off x="5859294" y="328758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608438F-1423-A545-A89F-E31E8ADA90A5}"/>
                </a:ext>
              </a:extLst>
            </p:cNvPr>
            <p:cNvSpPr/>
            <p:nvPr/>
          </p:nvSpPr>
          <p:spPr>
            <a:xfrm>
              <a:off x="4606279" y="328758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87D6D1E-5527-CE43-8780-422CB0A24264}"/>
                </a:ext>
              </a:extLst>
            </p:cNvPr>
            <p:cNvSpPr/>
            <p:nvPr/>
          </p:nvSpPr>
          <p:spPr>
            <a:xfrm>
              <a:off x="4606279" y="2491643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6B7346F-4CEA-7446-A850-A1C59A5D52CD}"/>
                </a:ext>
              </a:extLst>
            </p:cNvPr>
            <p:cNvCxnSpPr>
              <a:stCxn id="39" idx="4"/>
              <a:endCxn id="38" idx="0"/>
            </p:cNvCxnSpPr>
            <p:nvPr/>
          </p:nvCxnSpPr>
          <p:spPr>
            <a:xfrm>
              <a:off x="4798303" y="2874489"/>
              <a:ext cx="0" cy="4130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F94FC8A-DA5C-7C4C-AA0D-074C745A6048}"/>
                </a:ext>
              </a:extLst>
            </p:cNvPr>
            <p:cNvCxnSpPr>
              <a:cxnSpLocks/>
              <a:stCxn id="38" idx="6"/>
              <a:endCxn id="37" idx="2"/>
            </p:cNvCxnSpPr>
            <p:nvPr/>
          </p:nvCxnSpPr>
          <p:spPr>
            <a:xfrm>
              <a:off x="4990327" y="3479004"/>
              <a:ext cx="8689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11">
              <a:extLst>
                <a:ext uri="{FF2B5EF4-FFF2-40B4-BE49-F238E27FC236}">
                  <a16:creationId xmlns:a16="http://schemas.microsoft.com/office/drawing/2014/main" id="{83362B92-9D78-D24D-8B0A-EDCCD063D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8972" y="2462804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8B67CD5-0DD4-3342-94A7-E06A92D38AE2}"/>
                </a:ext>
              </a:extLst>
            </p:cNvPr>
            <p:cNvSpPr/>
            <p:nvPr/>
          </p:nvSpPr>
          <p:spPr>
            <a:xfrm>
              <a:off x="7112310" y="328758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7E1E887-9D90-3746-BA96-5F82960D2227}"/>
                </a:ext>
              </a:extLst>
            </p:cNvPr>
            <p:cNvSpPr/>
            <p:nvPr/>
          </p:nvSpPr>
          <p:spPr>
            <a:xfrm>
              <a:off x="7112310" y="2491643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6BB429A-AAAD-A64C-8E3C-931A38566F66}"/>
                </a:ext>
              </a:extLst>
            </p:cNvPr>
            <p:cNvCxnSpPr>
              <a:cxnSpLocks/>
              <a:stCxn id="39" idx="6"/>
              <a:endCxn id="36" idx="2"/>
            </p:cNvCxnSpPr>
            <p:nvPr/>
          </p:nvCxnSpPr>
          <p:spPr>
            <a:xfrm>
              <a:off x="4990327" y="2683066"/>
              <a:ext cx="8689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13D7862-9C73-1A49-A925-E0B33E57026C}"/>
                </a:ext>
              </a:extLst>
            </p:cNvPr>
            <p:cNvCxnSpPr>
              <a:cxnSpLocks/>
              <a:stCxn id="36" idx="4"/>
              <a:endCxn id="37" idx="0"/>
            </p:cNvCxnSpPr>
            <p:nvPr/>
          </p:nvCxnSpPr>
          <p:spPr>
            <a:xfrm>
              <a:off x="6051318" y="2874489"/>
              <a:ext cx="0" cy="4130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6CB4C5C-6353-7F4C-B04A-310773715E6D}"/>
                </a:ext>
              </a:extLst>
            </p:cNvPr>
            <p:cNvCxnSpPr>
              <a:cxnSpLocks/>
              <a:stCxn id="36" idx="6"/>
              <a:endCxn id="47" idx="2"/>
            </p:cNvCxnSpPr>
            <p:nvPr/>
          </p:nvCxnSpPr>
          <p:spPr>
            <a:xfrm>
              <a:off x="6243342" y="2683066"/>
              <a:ext cx="8689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6F7B325E-9C8A-DA42-8A8F-801A0AA18D48}"/>
                </a:ext>
              </a:extLst>
            </p:cNvPr>
            <p:cNvCxnSpPr>
              <a:cxnSpLocks/>
              <a:stCxn id="37" idx="6"/>
              <a:endCxn id="46" idx="2"/>
            </p:cNvCxnSpPr>
            <p:nvPr/>
          </p:nvCxnSpPr>
          <p:spPr>
            <a:xfrm>
              <a:off x="6243342" y="3479004"/>
              <a:ext cx="8689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E4EF208-ECB1-3845-AD3D-A528EFCCA09D}"/>
                </a:ext>
              </a:extLst>
            </p:cNvPr>
            <p:cNvCxnSpPr>
              <a:cxnSpLocks/>
              <a:stCxn id="46" idx="0"/>
              <a:endCxn id="47" idx="4"/>
            </p:cNvCxnSpPr>
            <p:nvPr/>
          </p:nvCxnSpPr>
          <p:spPr>
            <a:xfrm flipV="1">
              <a:off x="7304334" y="2874489"/>
              <a:ext cx="0" cy="4130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ED0AD9DA-9FB0-C642-BCA3-9E58A05CC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9208" y="325730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68" name="Text Box 11">
              <a:extLst>
                <a:ext uri="{FF2B5EF4-FFF2-40B4-BE49-F238E27FC236}">
                  <a16:creationId xmlns:a16="http://schemas.microsoft.com/office/drawing/2014/main" id="{EA182EDC-41DE-0D46-97F1-08ABFB17D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223" y="3257301"/>
              <a:ext cx="3417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</a:t>
              </a:r>
            </a:p>
          </p:txBody>
        </p:sp>
        <p:sp>
          <p:nvSpPr>
            <p:cNvPr id="69" name="Text Box 11">
              <a:extLst>
                <a:ext uri="{FF2B5EF4-FFF2-40B4-BE49-F238E27FC236}">
                  <a16:creationId xmlns:a16="http://schemas.microsoft.com/office/drawing/2014/main" id="{680CD942-F39D-664F-9ACC-DA87642A7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973" y="2471436"/>
              <a:ext cx="3209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</a:t>
              </a:r>
            </a:p>
          </p:txBody>
        </p:sp>
        <p:sp>
          <p:nvSpPr>
            <p:cNvPr id="70" name="Text Box 11">
              <a:extLst>
                <a:ext uri="{FF2B5EF4-FFF2-40B4-BE49-F238E27FC236}">
                  <a16:creationId xmlns:a16="http://schemas.microsoft.com/office/drawing/2014/main" id="{C8050DBE-5ED8-8E46-A23E-597FE0802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6987" y="2471436"/>
              <a:ext cx="3097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E</a:t>
              </a:r>
            </a:p>
          </p:txBody>
        </p:sp>
        <p:sp>
          <p:nvSpPr>
            <p:cNvPr id="71" name="Text Box 11">
              <a:extLst>
                <a:ext uri="{FF2B5EF4-FFF2-40B4-BE49-F238E27FC236}">
                  <a16:creationId xmlns:a16="http://schemas.microsoft.com/office/drawing/2014/main" id="{AF16CB8A-547D-884B-AB53-022B09345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9836" y="3251121"/>
              <a:ext cx="3032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F</a:t>
              </a:r>
            </a:p>
          </p:txBody>
        </p:sp>
        <p:sp>
          <p:nvSpPr>
            <p:cNvPr id="72" name="Text Box 11">
              <a:extLst>
                <a:ext uri="{FF2B5EF4-FFF2-40B4-BE49-F238E27FC236}">
                  <a16:creationId xmlns:a16="http://schemas.microsoft.com/office/drawing/2014/main" id="{F190233D-0E94-5640-84CF-2EA918D2B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9523" y="2291588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73" name="Text Box 11">
              <a:extLst>
                <a:ext uri="{FF2B5EF4-FFF2-40B4-BE49-F238E27FC236}">
                  <a16:creationId xmlns:a16="http://schemas.microsoft.com/office/drawing/2014/main" id="{B31859EA-C75B-4146-B27D-A7A2F98F1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4330" y="2891753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74" name="Text Box 11">
              <a:extLst>
                <a:ext uri="{FF2B5EF4-FFF2-40B4-BE49-F238E27FC236}">
                  <a16:creationId xmlns:a16="http://schemas.microsoft.com/office/drawing/2014/main" id="{E93C7D60-EB07-B148-9A0B-6E92186EB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0323" y="3479004"/>
              <a:ext cx="4443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10</a:t>
              </a:r>
            </a:p>
          </p:txBody>
        </p:sp>
        <p:sp>
          <p:nvSpPr>
            <p:cNvPr id="75" name="Text Box 11">
              <a:extLst>
                <a:ext uri="{FF2B5EF4-FFF2-40B4-BE49-F238E27FC236}">
                  <a16:creationId xmlns:a16="http://schemas.microsoft.com/office/drawing/2014/main" id="{28831A7F-5658-0749-BCA6-55C44D0A9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9014" y="2868103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76" name="Text Box 11">
              <a:extLst>
                <a:ext uri="{FF2B5EF4-FFF2-40B4-BE49-F238E27FC236}">
                  <a16:creationId xmlns:a16="http://schemas.microsoft.com/office/drawing/2014/main" id="{1EFE4532-640B-484B-B76C-B1BBE89C4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0638" y="288217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77" name="Text Box 11">
              <a:extLst>
                <a:ext uri="{FF2B5EF4-FFF2-40B4-BE49-F238E27FC236}">
                  <a16:creationId xmlns:a16="http://schemas.microsoft.com/office/drawing/2014/main" id="{13DF444E-AFF0-BE4B-89F3-319810561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6091" y="2291588"/>
              <a:ext cx="4443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10</a:t>
              </a:r>
            </a:p>
          </p:txBody>
        </p:sp>
        <p:sp>
          <p:nvSpPr>
            <p:cNvPr id="78" name="Text Box 11">
              <a:extLst>
                <a:ext uri="{FF2B5EF4-FFF2-40B4-BE49-F238E27FC236}">
                  <a16:creationId xmlns:a16="http://schemas.microsoft.com/office/drawing/2014/main" id="{142FFBA2-7347-8847-8AB2-036CD53C0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5169" y="3475032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020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Motivating Example 2: Shortest Paths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1783ABB-E3E6-EE46-81B7-471E46450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378486"/>
              </p:ext>
            </p:extLst>
          </p:nvPr>
        </p:nvGraphicFramePr>
        <p:xfrm>
          <a:off x="372441" y="890705"/>
          <a:ext cx="1866264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767">
                  <a:extLst>
                    <a:ext uri="{9D8B030D-6E8A-4147-A177-3AD203B41FA5}">
                      <a16:colId xmlns:a16="http://schemas.microsoft.com/office/drawing/2014/main" val="481628771"/>
                    </a:ext>
                  </a:extLst>
                </a:gridCol>
              </a:tblGrid>
              <a:tr h="281826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Flights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164865"/>
                  </a:ext>
                </a:extLst>
              </a:tr>
            </a:tbl>
          </a:graphicData>
        </a:graphic>
      </p:graphicFrame>
      <p:grpSp>
        <p:nvGrpSpPr>
          <p:cNvPr id="34" name="Group 33">
            <a:extLst>
              <a:ext uri="{FF2B5EF4-FFF2-40B4-BE49-F238E27FC236}">
                <a16:creationId xmlns:a16="http://schemas.microsoft.com/office/drawing/2014/main" id="{656F7389-9888-0542-84D0-FEB04D964A58}"/>
              </a:ext>
            </a:extLst>
          </p:cNvPr>
          <p:cNvGrpSpPr/>
          <p:nvPr/>
        </p:nvGrpSpPr>
        <p:grpSpPr>
          <a:xfrm>
            <a:off x="2473061" y="807082"/>
            <a:ext cx="3190818" cy="1587526"/>
            <a:chOff x="4444330" y="2291588"/>
            <a:chExt cx="3190818" cy="158752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396E13D-9643-7B40-BB9E-9ABB7A72685E}"/>
                </a:ext>
              </a:extLst>
            </p:cNvPr>
            <p:cNvSpPr/>
            <p:nvPr/>
          </p:nvSpPr>
          <p:spPr>
            <a:xfrm>
              <a:off x="5859294" y="2491643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0E7C80E-5CB4-744C-AD55-21B688C2D858}"/>
                </a:ext>
              </a:extLst>
            </p:cNvPr>
            <p:cNvSpPr/>
            <p:nvPr/>
          </p:nvSpPr>
          <p:spPr>
            <a:xfrm>
              <a:off x="5859294" y="328758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4C5DD0A-1C26-B349-BE9E-11741452CC25}"/>
                </a:ext>
              </a:extLst>
            </p:cNvPr>
            <p:cNvSpPr/>
            <p:nvPr/>
          </p:nvSpPr>
          <p:spPr>
            <a:xfrm>
              <a:off x="4606279" y="328758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1E085BC-D6DB-E345-B279-BADF0121A628}"/>
                </a:ext>
              </a:extLst>
            </p:cNvPr>
            <p:cNvSpPr/>
            <p:nvPr/>
          </p:nvSpPr>
          <p:spPr>
            <a:xfrm>
              <a:off x="4606279" y="2491643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777386A-F6C8-F44E-B24D-F67623621E45}"/>
                </a:ext>
              </a:extLst>
            </p:cNvPr>
            <p:cNvCxnSpPr>
              <a:stCxn id="43" idx="4"/>
              <a:endCxn id="41" idx="0"/>
            </p:cNvCxnSpPr>
            <p:nvPr/>
          </p:nvCxnSpPr>
          <p:spPr>
            <a:xfrm>
              <a:off x="4798303" y="2874489"/>
              <a:ext cx="0" cy="4130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1689F78-EABB-714B-9408-57EE3AC2F0D3}"/>
                </a:ext>
              </a:extLst>
            </p:cNvPr>
            <p:cNvCxnSpPr>
              <a:cxnSpLocks/>
              <a:stCxn id="41" idx="6"/>
              <a:endCxn id="40" idx="2"/>
            </p:cNvCxnSpPr>
            <p:nvPr/>
          </p:nvCxnSpPr>
          <p:spPr>
            <a:xfrm>
              <a:off x="4990327" y="3479004"/>
              <a:ext cx="8689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 Box 11">
              <a:extLst>
                <a:ext uri="{FF2B5EF4-FFF2-40B4-BE49-F238E27FC236}">
                  <a16:creationId xmlns:a16="http://schemas.microsoft.com/office/drawing/2014/main" id="{DC5AF81A-12B6-8F43-9BE0-E799195A2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8972" y="2462804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FB8F43-4369-C843-B2DB-AC39C1E744B2}"/>
                </a:ext>
              </a:extLst>
            </p:cNvPr>
            <p:cNvSpPr/>
            <p:nvPr/>
          </p:nvSpPr>
          <p:spPr>
            <a:xfrm>
              <a:off x="7112310" y="328758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5A04F6F-38B0-384D-965D-478A41C70023}"/>
                </a:ext>
              </a:extLst>
            </p:cNvPr>
            <p:cNvSpPr/>
            <p:nvPr/>
          </p:nvSpPr>
          <p:spPr>
            <a:xfrm>
              <a:off x="7112310" y="2491643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C3A8B11-11C1-9643-BB73-08BF742D5021}"/>
                </a:ext>
              </a:extLst>
            </p:cNvPr>
            <p:cNvCxnSpPr>
              <a:cxnSpLocks/>
              <a:stCxn id="43" idx="6"/>
              <a:endCxn id="35" idx="2"/>
            </p:cNvCxnSpPr>
            <p:nvPr/>
          </p:nvCxnSpPr>
          <p:spPr>
            <a:xfrm>
              <a:off x="4990327" y="2683066"/>
              <a:ext cx="8689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BCCD427D-3505-D348-88A8-08E1C0E98AAD}"/>
                </a:ext>
              </a:extLst>
            </p:cNvPr>
            <p:cNvCxnSpPr>
              <a:cxnSpLocks/>
              <a:stCxn id="35" idx="4"/>
              <a:endCxn id="40" idx="0"/>
            </p:cNvCxnSpPr>
            <p:nvPr/>
          </p:nvCxnSpPr>
          <p:spPr>
            <a:xfrm>
              <a:off x="6051318" y="2874489"/>
              <a:ext cx="0" cy="4130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5BCF282-022C-844D-8916-D09B3F912936}"/>
                </a:ext>
              </a:extLst>
            </p:cNvPr>
            <p:cNvCxnSpPr>
              <a:cxnSpLocks/>
              <a:stCxn id="35" idx="6"/>
              <a:endCxn id="51" idx="2"/>
            </p:cNvCxnSpPr>
            <p:nvPr/>
          </p:nvCxnSpPr>
          <p:spPr>
            <a:xfrm>
              <a:off x="6243342" y="2683066"/>
              <a:ext cx="8689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71DA892-3552-4241-B345-C510A593CEF6}"/>
                </a:ext>
              </a:extLst>
            </p:cNvPr>
            <p:cNvCxnSpPr>
              <a:cxnSpLocks/>
              <a:stCxn id="40" idx="6"/>
              <a:endCxn id="50" idx="2"/>
            </p:cNvCxnSpPr>
            <p:nvPr/>
          </p:nvCxnSpPr>
          <p:spPr>
            <a:xfrm>
              <a:off x="6243342" y="3479004"/>
              <a:ext cx="8689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515CDC6-6958-3B40-9AC8-82BE3AF3EE0E}"/>
                </a:ext>
              </a:extLst>
            </p:cNvPr>
            <p:cNvCxnSpPr>
              <a:cxnSpLocks/>
              <a:stCxn id="50" idx="0"/>
              <a:endCxn id="51" idx="4"/>
            </p:cNvCxnSpPr>
            <p:nvPr/>
          </p:nvCxnSpPr>
          <p:spPr>
            <a:xfrm flipV="1">
              <a:off x="7304334" y="2874489"/>
              <a:ext cx="0" cy="4130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Box 11">
              <a:extLst>
                <a:ext uri="{FF2B5EF4-FFF2-40B4-BE49-F238E27FC236}">
                  <a16:creationId xmlns:a16="http://schemas.microsoft.com/office/drawing/2014/main" id="{4BBB1F44-53BD-6D4D-820C-C562A8C3E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9208" y="325730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61" name="Text Box 11">
              <a:extLst>
                <a:ext uri="{FF2B5EF4-FFF2-40B4-BE49-F238E27FC236}">
                  <a16:creationId xmlns:a16="http://schemas.microsoft.com/office/drawing/2014/main" id="{C2ADCFEE-13EE-5B47-AE8B-3E3CF1C9C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223" y="3257301"/>
              <a:ext cx="3417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</a:t>
              </a:r>
            </a:p>
          </p:txBody>
        </p:sp>
        <p:sp>
          <p:nvSpPr>
            <p:cNvPr id="62" name="Text Box 11">
              <a:extLst>
                <a:ext uri="{FF2B5EF4-FFF2-40B4-BE49-F238E27FC236}">
                  <a16:creationId xmlns:a16="http://schemas.microsoft.com/office/drawing/2014/main" id="{FAF1C4A7-8313-2F46-9611-C9A7238FAB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973" y="2471436"/>
              <a:ext cx="3209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</a:t>
              </a:r>
            </a:p>
          </p:txBody>
        </p:sp>
        <p:sp>
          <p:nvSpPr>
            <p:cNvPr id="79" name="Text Box 11">
              <a:extLst>
                <a:ext uri="{FF2B5EF4-FFF2-40B4-BE49-F238E27FC236}">
                  <a16:creationId xmlns:a16="http://schemas.microsoft.com/office/drawing/2014/main" id="{D95E821C-D0BC-0F45-A18C-439BEE75B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6987" y="2471436"/>
              <a:ext cx="3097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E</a:t>
              </a:r>
            </a:p>
          </p:txBody>
        </p:sp>
        <p:sp>
          <p:nvSpPr>
            <p:cNvPr id="80" name="Text Box 11">
              <a:extLst>
                <a:ext uri="{FF2B5EF4-FFF2-40B4-BE49-F238E27FC236}">
                  <a16:creationId xmlns:a16="http://schemas.microsoft.com/office/drawing/2014/main" id="{E4706EBE-77C9-A04E-8E8B-2A34A9B93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9836" y="3251121"/>
              <a:ext cx="3032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F</a:t>
              </a:r>
            </a:p>
          </p:txBody>
        </p:sp>
        <p:sp>
          <p:nvSpPr>
            <p:cNvPr id="81" name="Text Box 11">
              <a:extLst>
                <a:ext uri="{FF2B5EF4-FFF2-40B4-BE49-F238E27FC236}">
                  <a16:creationId xmlns:a16="http://schemas.microsoft.com/office/drawing/2014/main" id="{7290D9B9-6FB0-C440-9585-131C924A9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9523" y="2291588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82" name="Text Box 11">
              <a:extLst>
                <a:ext uri="{FF2B5EF4-FFF2-40B4-BE49-F238E27FC236}">
                  <a16:creationId xmlns:a16="http://schemas.microsoft.com/office/drawing/2014/main" id="{BD598683-717A-D649-913E-A225551F4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4330" y="2891753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83" name="Text Box 11">
              <a:extLst>
                <a:ext uri="{FF2B5EF4-FFF2-40B4-BE49-F238E27FC236}">
                  <a16:creationId xmlns:a16="http://schemas.microsoft.com/office/drawing/2014/main" id="{0D3498AF-5F6C-6941-95B3-45E5FCE8F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0323" y="3479004"/>
              <a:ext cx="4443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10</a:t>
              </a:r>
            </a:p>
          </p:txBody>
        </p:sp>
        <p:sp>
          <p:nvSpPr>
            <p:cNvPr id="84" name="Text Box 11">
              <a:extLst>
                <a:ext uri="{FF2B5EF4-FFF2-40B4-BE49-F238E27FC236}">
                  <a16:creationId xmlns:a16="http://schemas.microsoft.com/office/drawing/2014/main" id="{321F8B1E-41E8-6146-8B52-5B59803C6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9014" y="2868103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85" name="Text Box 11">
              <a:extLst>
                <a:ext uri="{FF2B5EF4-FFF2-40B4-BE49-F238E27FC236}">
                  <a16:creationId xmlns:a16="http://schemas.microsoft.com/office/drawing/2014/main" id="{E7899156-B74F-B347-9AD6-7EC4F07FC4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0638" y="288217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86" name="Text Box 11">
              <a:extLst>
                <a:ext uri="{FF2B5EF4-FFF2-40B4-BE49-F238E27FC236}">
                  <a16:creationId xmlns:a16="http://schemas.microsoft.com/office/drawing/2014/main" id="{FA411966-4A6D-C043-9E84-F007B943C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6091" y="2291588"/>
              <a:ext cx="4443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10</a:t>
              </a:r>
            </a:p>
          </p:txBody>
        </p:sp>
        <p:sp>
          <p:nvSpPr>
            <p:cNvPr id="87" name="Text Box 11">
              <a:extLst>
                <a:ext uri="{FF2B5EF4-FFF2-40B4-BE49-F238E27FC236}">
                  <a16:creationId xmlns:a16="http://schemas.microsoft.com/office/drawing/2014/main" id="{A4932761-51C7-024A-B8F5-28B7D37D1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5169" y="3475032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6FE27EDA-98D7-6D45-8630-6CEF23D4ED24}"/>
              </a:ext>
            </a:extLst>
          </p:cNvPr>
          <p:cNvSpPr txBox="1"/>
          <p:nvPr/>
        </p:nvSpPr>
        <p:spPr>
          <a:xfrm>
            <a:off x="-13896" y="4050103"/>
            <a:ext cx="9157896" cy="256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find all (shortest) paths with any fixed number, e.g., k, edges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max depth d is known (*and (directed) graph is acyclic*)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Union all paths with up to d edges. Call this relation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AllPaths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SELECT from, to, min(cost) FROM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AllPaths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cannot express arbitrary depths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AC84FE7-D05B-4D41-8871-47046DAB5F1A}"/>
              </a:ext>
            </a:extLst>
          </p:cNvPr>
          <p:cNvSpPr/>
          <p:nvPr/>
        </p:nvSpPr>
        <p:spPr>
          <a:xfrm>
            <a:off x="2415186" y="2236694"/>
            <a:ext cx="6788117" cy="1619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3-edge Paths Query: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SELECT F1.from, F3.to, F1.cost+F2.cost+F3.cost as cost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FROM Flights F1, Flights F2, Flights F3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WHERE F1.to=F2.from AND F2.to=F3.from</a:t>
            </a:r>
          </a:p>
        </p:txBody>
      </p:sp>
    </p:spTree>
    <p:extLst>
      <p:ext uri="{BB962C8B-B14F-4D97-AF65-F5344CB8AC3E}">
        <p14:creationId xmlns:p14="http://schemas.microsoft.com/office/powerpoint/2010/main" val="347731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Solution: Recursive “Fixed Point” Computations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9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51B585-DF18-1C4F-8BC4-583A9F1F2B4A}"/>
              </a:ext>
            </a:extLst>
          </p:cNvPr>
          <p:cNvSpPr txBox="1"/>
          <p:nvPr/>
        </p:nvSpPr>
        <p:spPr>
          <a:xfrm>
            <a:off x="83452" y="807082"/>
            <a:ext cx="9060548" cy="5744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Transitive closure (TC) and all paths (or shortest paths which depend on all paths) are inherently recursive properties of graphs</a:t>
            </a:r>
          </a:p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Example: TC of v: all nodes that v can directly or indirectly reach</a:t>
            </a:r>
          </a:p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Computing them require a recursive computation subroutine:</a:t>
            </a:r>
          </a:p>
          <a:p>
            <a:pPr marL="914400" lvl="1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High-level Recursive Subroutine for TC:</a:t>
            </a:r>
          </a:p>
          <a:p>
            <a:pPr>
              <a:lnSpc>
                <a:spcPts val="3080"/>
              </a:lnSpc>
            </a:pP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FixedPoint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F w/ T as input)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: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ts val="3080"/>
              </a:lnSpc>
            </a:pP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∅</a:t>
            </a:r>
          </a:p>
          <a:p>
            <a:pPr lvl="1">
              <a:lnSpc>
                <a:spcPts val="3080"/>
              </a:lnSpc>
            </a:pP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F(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 // 1</a:t>
            </a:r>
            <a:r>
              <a:rPr lang="en-US" sz="2000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st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degree ancestors</a:t>
            </a:r>
          </a:p>
          <a:p>
            <a:pPr lvl="1">
              <a:lnSpc>
                <a:spcPts val="308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>
              <a:lnSpc>
                <a:spcPts val="308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endParaRPr lang="en-US" sz="2000" baseline="-25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ts val="3080"/>
              </a:lnSpc>
            </a:pPr>
            <a:r>
              <a:rPr lang="en-US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F(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0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 // compute up to next-degree ancestors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Equivalently: Compute 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=∅; 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=F(T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); 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=F(T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); ... until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Upshot: SQL WITH RECURSIVE is a way to run FP subroutine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337ED4-405C-DC48-AEB1-24D78AB3B927}"/>
              </a:ext>
            </a:extLst>
          </p:cNvPr>
          <p:cNvSpPr/>
          <p:nvPr/>
        </p:nvSpPr>
        <p:spPr>
          <a:xfrm>
            <a:off x="5705602" y="3429000"/>
            <a:ext cx="3354946" cy="1455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8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Important Questions: </a:t>
            </a:r>
          </a:p>
          <a:p>
            <a:pPr marL="342900" indent="-342900">
              <a:lnSpc>
                <a:spcPts val="3680"/>
              </a:lnSpc>
              <a:buFont typeface="+mj-lt"/>
              <a:buAutoNum type="arabicPeriod"/>
            </a:pPr>
            <a:r>
              <a:rPr lang="en-US" sz="20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does </a:t>
            </a:r>
            <a:r>
              <a:rPr lang="en-US" sz="2000" i="1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</a:t>
            </a:r>
            <a:r>
              <a:rPr lang="en-US" sz="20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converge?</a:t>
            </a:r>
          </a:p>
          <a:p>
            <a:pPr marL="342900" indent="-342900">
              <a:lnSpc>
                <a:spcPts val="3680"/>
              </a:lnSpc>
              <a:buFont typeface="+mj-lt"/>
              <a:buAutoNum type="arabicPeriod"/>
            </a:pPr>
            <a:r>
              <a:rPr lang="en-US" sz="20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it unique?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087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SQL WITH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15ECE-B8FA-AF44-85D9-3FE179D6A004}"/>
              </a:ext>
            </a:extLst>
          </p:cNvPr>
          <p:cNvSpPr txBox="1"/>
          <p:nvPr/>
        </p:nvSpPr>
        <p:spPr>
          <a:xfrm>
            <a:off x="-13896" y="758856"/>
            <a:ext cx="9060548" cy="6068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convenient way to define sub-queries and temporary views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WITH 	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R2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Q2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…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Rn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Qn</a:t>
            </a:r>
            <a:endParaRPr lang="en-US" sz="22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 // a query that can use existing tables *and* 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R1, …, Rn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Ex: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WITH Deg2Anc AS (SELECT Adv1.sup AS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Adv2.stu as desc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			FROM Advisor Adv1, Advisor Adv2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			WHERE Adv1.stu = Adv2.sup)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 Deg3Anc AS (….)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desc FROM (SELECT * FROM Deg2Anc UNION 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			  SELECT * FROM Deg3Anc) 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WHERE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“A”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B69C05-6BB1-0243-B8A2-BB2390CCCE43}"/>
              </a:ext>
            </a:extLst>
          </p:cNvPr>
          <p:cNvSpPr txBox="1"/>
          <p:nvPr/>
        </p:nvSpPr>
        <p:spPr>
          <a:xfrm>
            <a:off x="3298786" y="1265997"/>
            <a:ext cx="5058136" cy="1935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Ri is the result of Qi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Ri visible to Ri+1, …, Rn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explicitly specify schema as 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R1(foo, bar) AS Q1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o.w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inherits from Q</a:t>
            </a:r>
          </a:p>
        </p:txBody>
      </p:sp>
    </p:spTree>
    <p:extLst>
      <p:ext uri="{BB962C8B-B14F-4D97-AF65-F5344CB8AC3E}">
        <p14:creationId xmlns:p14="http://schemas.microsoft.com/office/powerpoint/2010/main" val="259345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SQL WITH RECURSIVE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15ECE-B8FA-AF44-85D9-3FE179D6A004}"/>
              </a:ext>
            </a:extLst>
          </p:cNvPr>
          <p:cNvSpPr txBox="1"/>
          <p:nvPr/>
        </p:nvSpPr>
        <p:spPr>
          <a:xfrm>
            <a:off x="-13896" y="758856"/>
            <a:ext cx="9060548" cy="539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WITH can be suffixed with RECURSIVE keyword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WITH  RECURSIVE 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R1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R2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Q2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…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Rn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sz="2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Qn</a:t>
            </a:r>
            <a:endParaRPr lang="en-US" sz="22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 // a query that can use existing tables *and* 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R1, …, Rn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Semantics of “RECURSIVE 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”: run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FixedPoint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subroutine</a:t>
            </a:r>
          </a:p>
          <a:p>
            <a:pPr>
              <a:lnSpc>
                <a:spcPts val="3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∅</a:t>
            </a:r>
          </a:p>
          <a:p>
            <a:pPr>
              <a:lnSpc>
                <a:spcPts val="3000"/>
              </a:lnSpc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Q (but use T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for T)</a:t>
            </a:r>
          </a:p>
          <a:p>
            <a:pPr>
              <a:lnSpc>
                <a:spcPts val="3000"/>
              </a:lnSpc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Q (but use T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for T)</a:t>
            </a:r>
          </a:p>
          <a:p>
            <a:pPr>
              <a:lnSpc>
                <a:spcPts val="3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… until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 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B69C05-6BB1-0243-B8A2-BB2390CCCE43}"/>
              </a:ext>
            </a:extLst>
          </p:cNvPr>
          <p:cNvSpPr txBox="1"/>
          <p:nvPr/>
        </p:nvSpPr>
        <p:spPr>
          <a:xfrm>
            <a:off x="41726" y="6123933"/>
            <a:ext cx="9060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In SQL standard RECURSIVE is bound to specific Ri. We will and some systems bound it to WITH, so all Ri.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6712C-77A2-7D46-AFE0-D6283058FFE6}"/>
              </a:ext>
            </a:extLst>
          </p:cNvPr>
          <p:cNvSpPr txBox="1"/>
          <p:nvPr/>
        </p:nvSpPr>
        <p:spPr>
          <a:xfrm>
            <a:off x="2951726" y="1844866"/>
            <a:ext cx="218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reference R1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0C0D93-F73A-3A46-BF01-83F04859C5F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349842" y="2029532"/>
            <a:ext cx="6018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F77FCFB-DEFB-C34E-9D7C-F267A5A48AEF}"/>
              </a:ext>
            </a:extLst>
          </p:cNvPr>
          <p:cNvSpPr/>
          <p:nvPr/>
        </p:nvSpPr>
        <p:spPr>
          <a:xfrm>
            <a:off x="1815871" y="1831987"/>
            <a:ext cx="451412" cy="369332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TC: ATTEMPT 1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99544F-894B-9144-80CB-027CDA8826AA}"/>
              </a:ext>
            </a:extLst>
          </p:cNvPr>
          <p:cNvGrpSpPr/>
          <p:nvPr/>
        </p:nvGrpSpPr>
        <p:grpSpPr>
          <a:xfrm>
            <a:off x="7240807" y="884926"/>
            <a:ext cx="1903193" cy="2785946"/>
            <a:chOff x="5351075" y="2522218"/>
            <a:chExt cx="1903193" cy="278594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A93CC0-0B3A-DA4F-B2CE-D78A6160B2EF}"/>
                </a:ext>
              </a:extLst>
            </p:cNvPr>
            <p:cNvSpPr/>
            <p:nvPr/>
          </p:nvSpPr>
          <p:spPr>
            <a:xfrm>
              <a:off x="5385354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13C993-59A3-7D4F-8270-8752A90F0C96}"/>
                </a:ext>
              </a:extLst>
            </p:cNvPr>
            <p:cNvSpPr/>
            <p:nvPr/>
          </p:nvSpPr>
          <p:spPr>
            <a:xfrm>
              <a:off x="6826441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53994D2-74C7-604A-8D2A-3DA1B5EB91CB}"/>
                </a:ext>
              </a:extLst>
            </p:cNvPr>
            <p:cNvSpPr/>
            <p:nvPr/>
          </p:nvSpPr>
          <p:spPr>
            <a:xfrm>
              <a:off x="6826441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2C59E82-1290-5A46-9C28-17F0F74D55FE}"/>
                </a:ext>
              </a:extLst>
            </p:cNvPr>
            <p:cNvSpPr/>
            <p:nvPr/>
          </p:nvSpPr>
          <p:spPr>
            <a:xfrm>
              <a:off x="5385354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728780-8866-2D4A-B206-524D68D49FD4}"/>
                </a:ext>
              </a:extLst>
            </p:cNvPr>
            <p:cNvSpPr/>
            <p:nvPr/>
          </p:nvSpPr>
          <p:spPr>
            <a:xfrm>
              <a:off x="5385354" y="33436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C04D14-52D7-3549-8D5A-EB2234A94E33}"/>
                </a:ext>
              </a:extLst>
            </p:cNvPr>
            <p:cNvSpPr/>
            <p:nvPr/>
          </p:nvSpPr>
          <p:spPr>
            <a:xfrm>
              <a:off x="5385354" y="2550922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F567140-E1D7-7047-887D-E83764B4A417}"/>
                </a:ext>
              </a:extLst>
            </p:cNvPr>
            <p:cNvCxnSpPr>
              <a:stCxn id="20" idx="4"/>
              <a:endCxn id="19" idx="0"/>
            </p:cNvCxnSpPr>
            <p:nvPr/>
          </p:nvCxnSpPr>
          <p:spPr>
            <a:xfrm>
              <a:off x="5577378" y="2933768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47909C9-D944-E34E-B539-051DAA38A7E8}"/>
                </a:ext>
              </a:extLst>
            </p:cNvPr>
            <p:cNvCxnSpPr>
              <a:cxnSpLocks/>
              <a:stCxn id="19" idx="4"/>
              <a:endCxn id="17" idx="0"/>
            </p:cNvCxnSpPr>
            <p:nvPr/>
          </p:nvCxnSpPr>
          <p:spPr>
            <a:xfrm>
              <a:off x="5577378" y="3726494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8A5FDF8-8C8A-C44E-8092-37D26374CB70}"/>
                </a:ext>
              </a:extLst>
            </p:cNvPr>
            <p:cNvCxnSpPr>
              <a:cxnSpLocks/>
              <a:stCxn id="17" idx="4"/>
              <a:endCxn id="14" idx="0"/>
            </p:cNvCxnSpPr>
            <p:nvPr/>
          </p:nvCxnSpPr>
          <p:spPr>
            <a:xfrm>
              <a:off x="5577378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02B4242-430D-ED4A-9055-5355AD2E7C4F}"/>
                </a:ext>
              </a:extLst>
            </p:cNvPr>
            <p:cNvCxnSpPr>
              <a:cxnSpLocks/>
              <a:stCxn id="17" idx="4"/>
              <a:endCxn id="15" idx="0"/>
            </p:cNvCxnSpPr>
            <p:nvPr/>
          </p:nvCxnSpPr>
          <p:spPr>
            <a:xfrm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8CFB3C-2009-8F44-BDD0-E21027E13FF0}"/>
                </a:ext>
              </a:extLst>
            </p:cNvPr>
            <p:cNvCxnSpPr>
              <a:cxnSpLocks/>
              <a:stCxn id="16" idx="4"/>
              <a:endCxn id="15" idx="0"/>
            </p:cNvCxnSpPr>
            <p:nvPr/>
          </p:nvCxnSpPr>
          <p:spPr>
            <a:xfrm>
              <a:off x="7018465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AC44959-D199-9845-A032-3AA1EDFEF93A}"/>
                </a:ext>
              </a:extLst>
            </p:cNvPr>
            <p:cNvCxnSpPr>
              <a:cxnSpLocks/>
              <a:stCxn id="16" idx="4"/>
              <a:endCxn id="14" idx="0"/>
            </p:cNvCxnSpPr>
            <p:nvPr/>
          </p:nvCxnSpPr>
          <p:spPr>
            <a:xfrm flipH="1"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06D9E1A8-8E32-0646-BAD6-69EF48F7C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664" y="4908054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D2</a:t>
              </a: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24ABEB31-0165-3045-8EE3-38AC8B30D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300" y="4033828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C2</a:t>
              </a: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635687E3-AFFE-8044-AA9B-86490B49E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996" y="4040352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C1</a:t>
              </a:r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338541CB-DCC5-044D-9F57-81076FEA0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004" y="2522218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31" name="Text Box 10">
              <a:extLst>
                <a:ext uri="{FF2B5EF4-FFF2-40B4-BE49-F238E27FC236}">
                  <a16:creationId xmlns:a16="http://schemas.microsoft.com/office/drawing/2014/main" id="{EFDEC91D-E934-2F49-A06A-2B23B7A99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3238" y="332348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32" name="Text Box 6">
              <a:extLst>
                <a:ext uri="{FF2B5EF4-FFF2-40B4-BE49-F238E27FC236}">
                  <a16:creationId xmlns:a16="http://schemas.microsoft.com/office/drawing/2014/main" id="{D95FD243-6488-8047-AC85-DFFED7AEB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075" y="4896616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D1</a:t>
              </a:r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EC9CE39-52DC-5B48-89B5-D3AA08E4D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451295"/>
              </p:ext>
            </p:extLst>
          </p:nvPr>
        </p:nvGraphicFramePr>
        <p:xfrm>
          <a:off x="5982411" y="884926"/>
          <a:ext cx="110553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6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DA56F4C-E506-4043-A57D-EB86BB9449ED}"/>
              </a:ext>
            </a:extLst>
          </p:cNvPr>
          <p:cNvSpPr/>
          <p:nvPr/>
        </p:nvSpPr>
        <p:spPr>
          <a:xfrm>
            <a:off x="16079" y="724098"/>
            <a:ext cx="5587168" cy="193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8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WITH RECURSIVE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Ancestors(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desc)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 (</a:t>
            </a:r>
          </a:p>
          <a:p>
            <a:pPr>
              <a:lnSpc>
                <a:spcPts val="368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SELECT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Ancestor.anc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Adv.stu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368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FROM Ancestor, Advisor </a:t>
            </a:r>
          </a:p>
          <a:p>
            <a:pPr>
              <a:lnSpc>
                <a:spcPts val="368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Ancestor.desc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Advisor.sup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7CBB5-BEFA-3B45-A4B7-08571F13FA99}"/>
              </a:ext>
            </a:extLst>
          </p:cNvPr>
          <p:cNvSpPr txBox="1"/>
          <p:nvPr/>
        </p:nvSpPr>
        <p:spPr>
          <a:xfrm>
            <a:off x="0" y="3780526"/>
            <a:ext cx="9100217" cy="2425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Problem? Ancestor starts as ∅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Common fix: UNION with a 2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query that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inits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Ancestor to Advisor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Common WITH RECURSIVE query template:</a:t>
            </a:r>
          </a:p>
          <a:p>
            <a:pPr algn="ctr">
              <a:lnSpc>
                <a:spcPts val="3680"/>
              </a:lnSpc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WITH RECURSIVE R AS (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sz="2400" baseline="-25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UNION Q</a:t>
            </a:r>
            <a:r>
              <a:rPr lang="en-US" sz="2400" baseline="-25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>
              <a:lnSpc>
                <a:spcPts val="3680"/>
              </a:lnSpc>
            </a:pPr>
            <a:endParaRPr lang="en-US" sz="24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A5133C8-1BF3-434B-B638-4E16B6B45205}"/>
              </a:ext>
            </a:extLst>
          </p:cNvPr>
          <p:cNvSpPr/>
          <p:nvPr/>
        </p:nvSpPr>
        <p:spPr>
          <a:xfrm>
            <a:off x="5580097" y="5307476"/>
            <a:ext cx="358814" cy="369332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82073B9-954F-CB4D-B39D-16C3037BC0C2}"/>
              </a:ext>
            </a:extLst>
          </p:cNvPr>
          <p:cNvSpPr/>
          <p:nvPr/>
        </p:nvSpPr>
        <p:spPr>
          <a:xfrm>
            <a:off x="7020048" y="5326787"/>
            <a:ext cx="358814" cy="369332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BD559E-D8E7-1548-BF4B-FEFD6F802E50}"/>
              </a:ext>
            </a:extLst>
          </p:cNvPr>
          <p:cNvSpPr txBox="1"/>
          <p:nvPr/>
        </p:nvSpPr>
        <p:spPr>
          <a:xfrm>
            <a:off x="4583568" y="6192086"/>
            <a:ext cx="1868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non-recursive “base” query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AB70F0-D80B-E64B-A4E9-50269EB5241E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5517809" y="5676808"/>
            <a:ext cx="241695" cy="515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691E158-D1A1-DB4E-9F01-F51A8F6F4868}"/>
              </a:ext>
            </a:extLst>
          </p:cNvPr>
          <p:cNvSpPr txBox="1"/>
          <p:nvPr/>
        </p:nvSpPr>
        <p:spPr>
          <a:xfrm>
            <a:off x="6444621" y="6192086"/>
            <a:ext cx="1868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query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48218D7-B3F9-BB4F-8F40-B2CAD9C2E73E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>
            <a:off x="7199455" y="5696119"/>
            <a:ext cx="179407" cy="495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38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TC: ATTEMPT 2: Union w/ a “Base” Case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99544F-894B-9144-80CB-027CDA8826AA}"/>
              </a:ext>
            </a:extLst>
          </p:cNvPr>
          <p:cNvGrpSpPr/>
          <p:nvPr/>
        </p:nvGrpSpPr>
        <p:grpSpPr>
          <a:xfrm>
            <a:off x="7240807" y="884926"/>
            <a:ext cx="1903193" cy="2785946"/>
            <a:chOff x="5351075" y="2522218"/>
            <a:chExt cx="1903193" cy="278594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A93CC0-0B3A-DA4F-B2CE-D78A6160B2EF}"/>
                </a:ext>
              </a:extLst>
            </p:cNvPr>
            <p:cNvSpPr/>
            <p:nvPr/>
          </p:nvSpPr>
          <p:spPr>
            <a:xfrm>
              <a:off x="5385354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13C993-59A3-7D4F-8270-8752A90F0C96}"/>
                </a:ext>
              </a:extLst>
            </p:cNvPr>
            <p:cNvSpPr/>
            <p:nvPr/>
          </p:nvSpPr>
          <p:spPr>
            <a:xfrm>
              <a:off x="6826441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53994D2-74C7-604A-8D2A-3DA1B5EB91CB}"/>
                </a:ext>
              </a:extLst>
            </p:cNvPr>
            <p:cNvSpPr/>
            <p:nvPr/>
          </p:nvSpPr>
          <p:spPr>
            <a:xfrm>
              <a:off x="6826441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2C59E82-1290-5A46-9C28-17F0F74D55FE}"/>
                </a:ext>
              </a:extLst>
            </p:cNvPr>
            <p:cNvSpPr/>
            <p:nvPr/>
          </p:nvSpPr>
          <p:spPr>
            <a:xfrm>
              <a:off x="5385354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728780-8866-2D4A-B206-524D68D49FD4}"/>
                </a:ext>
              </a:extLst>
            </p:cNvPr>
            <p:cNvSpPr/>
            <p:nvPr/>
          </p:nvSpPr>
          <p:spPr>
            <a:xfrm>
              <a:off x="5385354" y="33436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C04D14-52D7-3549-8D5A-EB2234A94E33}"/>
                </a:ext>
              </a:extLst>
            </p:cNvPr>
            <p:cNvSpPr/>
            <p:nvPr/>
          </p:nvSpPr>
          <p:spPr>
            <a:xfrm>
              <a:off x="5385354" y="2550922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F567140-E1D7-7047-887D-E83764B4A417}"/>
                </a:ext>
              </a:extLst>
            </p:cNvPr>
            <p:cNvCxnSpPr>
              <a:stCxn id="20" idx="4"/>
              <a:endCxn id="19" idx="0"/>
            </p:cNvCxnSpPr>
            <p:nvPr/>
          </p:nvCxnSpPr>
          <p:spPr>
            <a:xfrm>
              <a:off x="5577378" y="2933768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47909C9-D944-E34E-B539-051DAA38A7E8}"/>
                </a:ext>
              </a:extLst>
            </p:cNvPr>
            <p:cNvCxnSpPr>
              <a:cxnSpLocks/>
              <a:stCxn id="19" idx="4"/>
              <a:endCxn id="17" idx="0"/>
            </p:cNvCxnSpPr>
            <p:nvPr/>
          </p:nvCxnSpPr>
          <p:spPr>
            <a:xfrm>
              <a:off x="5577378" y="3726494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8A5FDF8-8C8A-C44E-8092-37D26374CB70}"/>
                </a:ext>
              </a:extLst>
            </p:cNvPr>
            <p:cNvCxnSpPr>
              <a:cxnSpLocks/>
              <a:stCxn id="17" idx="4"/>
              <a:endCxn id="14" idx="0"/>
            </p:cNvCxnSpPr>
            <p:nvPr/>
          </p:nvCxnSpPr>
          <p:spPr>
            <a:xfrm>
              <a:off x="5577378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02B4242-430D-ED4A-9055-5355AD2E7C4F}"/>
                </a:ext>
              </a:extLst>
            </p:cNvPr>
            <p:cNvCxnSpPr>
              <a:cxnSpLocks/>
              <a:stCxn id="17" idx="4"/>
              <a:endCxn id="15" idx="0"/>
            </p:cNvCxnSpPr>
            <p:nvPr/>
          </p:nvCxnSpPr>
          <p:spPr>
            <a:xfrm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8CFB3C-2009-8F44-BDD0-E21027E13FF0}"/>
                </a:ext>
              </a:extLst>
            </p:cNvPr>
            <p:cNvCxnSpPr>
              <a:cxnSpLocks/>
              <a:stCxn id="16" idx="4"/>
              <a:endCxn id="15" idx="0"/>
            </p:cNvCxnSpPr>
            <p:nvPr/>
          </p:nvCxnSpPr>
          <p:spPr>
            <a:xfrm>
              <a:off x="7018465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AC44959-D199-9845-A032-3AA1EDFEF93A}"/>
                </a:ext>
              </a:extLst>
            </p:cNvPr>
            <p:cNvCxnSpPr>
              <a:cxnSpLocks/>
              <a:stCxn id="16" idx="4"/>
              <a:endCxn id="14" idx="0"/>
            </p:cNvCxnSpPr>
            <p:nvPr/>
          </p:nvCxnSpPr>
          <p:spPr>
            <a:xfrm flipH="1"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06D9E1A8-8E32-0646-BAD6-69EF48F7C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664" y="4908054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D2</a:t>
              </a: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24ABEB31-0165-3045-8EE3-38AC8B30D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300" y="4033828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C2</a:t>
              </a: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635687E3-AFFE-8044-AA9B-86490B49E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996" y="4040352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C1</a:t>
              </a:r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338541CB-DCC5-044D-9F57-81076FEA0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004" y="2522218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31" name="Text Box 10">
              <a:extLst>
                <a:ext uri="{FF2B5EF4-FFF2-40B4-BE49-F238E27FC236}">
                  <a16:creationId xmlns:a16="http://schemas.microsoft.com/office/drawing/2014/main" id="{EFDEC91D-E934-2F49-A06A-2B23B7A99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3238" y="332348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32" name="Text Box 6">
              <a:extLst>
                <a:ext uri="{FF2B5EF4-FFF2-40B4-BE49-F238E27FC236}">
                  <a16:creationId xmlns:a16="http://schemas.microsoft.com/office/drawing/2014/main" id="{D95FD243-6488-8047-AC85-DFFED7AEB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075" y="4896616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D1</a:t>
              </a:r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EC9CE39-52DC-5B48-89B5-D3AA08E4D396}"/>
              </a:ext>
            </a:extLst>
          </p:cNvPr>
          <p:cNvGraphicFramePr>
            <a:graphicFrameLocks noGrp="1"/>
          </p:cNvGraphicFramePr>
          <p:nvPr/>
        </p:nvGraphicFramePr>
        <p:xfrm>
          <a:off x="5982411" y="884926"/>
          <a:ext cx="110553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6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DA56F4C-E506-4043-A57D-EB86BB9449ED}"/>
              </a:ext>
            </a:extLst>
          </p:cNvPr>
          <p:cNvSpPr/>
          <p:nvPr/>
        </p:nvSpPr>
        <p:spPr>
          <a:xfrm>
            <a:off x="16079" y="724098"/>
            <a:ext cx="6211466" cy="301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8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WITH RECURSIVE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Ancestors(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desc)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 (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SELECT sup as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desc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FROM Advisor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UNION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SELECT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Ancestor.anc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Adv.stu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FROM Ancestor, Advisor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Ancestor.desc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Advisor.sup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AE0374FE-3A47-004A-BA5F-1FA7CD16CC9E}"/>
              </a:ext>
            </a:extLst>
          </p:cNvPr>
          <p:cNvSpPr/>
          <p:nvPr/>
        </p:nvSpPr>
        <p:spPr>
          <a:xfrm rot="10800000">
            <a:off x="1116694" y="1389457"/>
            <a:ext cx="326037" cy="491890"/>
          </a:xfrm>
          <a:prstGeom prst="rightBrace">
            <a:avLst>
              <a:gd name="adj1" fmla="val 8333"/>
              <a:gd name="adj2" fmla="val 53376"/>
            </a:avLst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1E311B-499A-1F43-9306-FFB875543BCF}"/>
              </a:ext>
            </a:extLst>
          </p:cNvPr>
          <p:cNvSpPr txBox="1"/>
          <p:nvPr/>
        </p:nvSpPr>
        <p:spPr>
          <a:xfrm>
            <a:off x="218614" y="1298238"/>
            <a:ext cx="965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 query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0DD053-E7B8-D540-8FD4-4343B66BFDC3}"/>
              </a:ext>
            </a:extLst>
          </p:cNvPr>
          <p:cNvSpPr txBox="1"/>
          <p:nvPr/>
        </p:nvSpPr>
        <p:spPr>
          <a:xfrm>
            <a:off x="42713" y="2724763"/>
            <a:ext cx="121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query</a:t>
            </a:r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FB809880-949C-4544-AD9B-77DC24C76770}"/>
              </a:ext>
            </a:extLst>
          </p:cNvPr>
          <p:cNvSpPr/>
          <p:nvPr/>
        </p:nvSpPr>
        <p:spPr>
          <a:xfrm rot="10800000">
            <a:off x="1165627" y="2572986"/>
            <a:ext cx="319237" cy="1093920"/>
          </a:xfrm>
          <a:prstGeom prst="rightBrace">
            <a:avLst>
              <a:gd name="adj1" fmla="val 8333"/>
              <a:gd name="adj2" fmla="val 53376"/>
            </a:avLst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937058A-C472-FA45-828D-F90201119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616139"/>
              </p:ext>
            </p:extLst>
          </p:nvPr>
        </p:nvGraphicFramePr>
        <p:xfrm>
          <a:off x="195739" y="4341471"/>
          <a:ext cx="1447865" cy="65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3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DCFFE92F-D8B7-5C42-ADE5-DEF5EF89288D}"/>
              </a:ext>
            </a:extLst>
          </p:cNvPr>
          <p:cNvSpPr txBox="1"/>
          <p:nvPr/>
        </p:nvSpPr>
        <p:spPr>
          <a:xfrm>
            <a:off x="1435932" y="5427023"/>
            <a:ext cx="196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Ancestor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007EB9-A5E7-1D45-A037-2A453E5EB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26612"/>
              </p:ext>
            </p:extLst>
          </p:nvPr>
        </p:nvGraphicFramePr>
        <p:xfrm>
          <a:off x="3121812" y="4269806"/>
          <a:ext cx="1173798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F8154A24-C085-734A-94EC-DED10B0C447C}"/>
              </a:ext>
            </a:extLst>
          </p:cNvPr>
          <p:cNvSpPr txBox="1"/>
          <p:nvPr/>
        </p:nvSpPr>
        <p:spPr>
          <a:xfrm>
            <a:off x="3318176" y="1925968"/>
            <a:ext cx="2438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duplicate eliminating union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8E14A30-2C22-0B46-A48B-82702D0B30CD}"/>
              </a:ext>
            </a:extLst>
          </p:cNvPr>
          <p:cNvCxnSpPr>
            <a:cxnSpLocks/>
          </p:cNvCxnSpPr>
          <p:nvPr/>
        </p:nvCxnSpPr>
        <p:spPr>
          <a:xfrm>
            <a:off x="2670275" y="2300650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6E3E5F9-052F-2E48-A343-54F1E95A067D}"/>
              </a:ext>
            </a:extLst>
          </p:cNvPr>
          <p:cNvSpPr txBox="1"/>
          <p:nvPr/>
        </p:nvSpPr>
        <p:spPr>
          <a:xfrm>
            <a:off x="4236336" y="5157828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C090F3E-F3C3-7E4B-8254-10EE0ADF1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29346"/>
              </p:ext>
            </p:extLst>
          </p:nvPr>
        </p:nvGraphicFramePr>
        <p:xfrm>
          <a:off x="5229486" y="4230873"/>
          <a:ext cx="117379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11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CA49DEC6-57F3-624A-BEFE-1033F01B3564}"/>
              </a:ext>
            </a:extLst>
          </p:cNvPr>
          <p:cNvSpPr txBox="1"/>
          <p:nvPr/>
        </p:nvSpPr>
        <p:spPr>
          <a:xfrm>
            <a:off x="4660018" y="3826233"/>
            <a:ext cx="258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Anc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⋈ Advisor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25480094-2081-E94B-ACE2-7009710A3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291769"/>
              </p:ext>
            </p:extLst>
          </p:nvPr>
        </p:nvGraphicFramePr>
        <p:xfrm>
          <a:off x="7269483" y="4192951"/>
          <a:ext cx="1173798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B8EB3F70-ACD1-A041-AC41-C3C0D52B1C61}"/>
              </a:ext>
            </a:extLst>
          </p:cNvPr>
          <p:cNvSpPr txBox="1"/>
          <p:nvPr/>
        </p:nvSpPr>
        <p:spPr>
          <a:xfrm>
            <a:off x="6403284" y="5157828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702459-17D5-8245-83F6-349A7514FB0B}"/>
              </a:ext>
            </a:extLst>
          </p:cNvPr>
          <p:cNvSpPr txBox="1"/>
          <p:nvPr/>
        </p:nvSpPr>
        <p:spPr>
          <a:xfrm>
            <a:off x="4445175" y="6124176"/>
            <a:ext cx="2580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Anc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–Ans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=∅?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No: Repeat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DC9725CF-85DE-D54F-8673-C70B8B0197B0}"/>
              </a:ext>
            </a:extLst>
          </p:cNvPr>
          <p:cNvSpPr/>
          <p:nvPr/>
        </p:nvSpPr>
        <p:spPr>
          <a:xfrm>
            <a:off x="7302434" y="4840089"/>
            <a:ext cx="1106121" cy="1852222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0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/>
      <p:bldP spid="37" grpId="0"/>
      <p:bldP spid="38" grpId="0" animBg="1"/>
      <p:bldP spid="41" grpId="0"/>
      <p:bldP spid="44" grpId="0"/>
      <p:bldP spid="46" grpId="0"/>
      <p:bldP spid="48" grpId="0"/>
      <p:bldP spid="50" grpId="0"/>
      <p:bldP spid="51" grpId="0"/>
      <p:bldP spid="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TC: ATTEMPT 2: Union w/ a “Base” Case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66621" y="640404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99544F-894B-9144-80CB-027CDA8826AA}"/>
              </a:ext>
            </a:extLst>
          </p:cNvPr>
          <p:cNvGrpSpPr/>
          <p:nvPr/>
        </p:nvGrpSpPr>
        <p:grpSpPr>
          <a:xfrm>
            <a:off x="7240807" y="884926"/>
            <a:ext cx="1903193" cy="2785946"/>
            <a:chOff x="5351075" y="2522218"/>
            <a:chExt cx="1903193" cy="278594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A93CC0-0B3A-DA4F-B2CE-D78A6160B2EF}"/>
                </a:ext>
              </a:extLst>
            </p:cNvPr>
            <p:cNvSpPr/>
            <p:nvPr/>
          </p:nvSpPr>
          <p:spPr>
            <a:xfrm>
              <a:off x="5385354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13C993-59A3-7D4F-8270-8752A90F0C96}"/>
                </a:ext>
              </a:extLst>
            </p:cNvPr>
            <p:cNvSpPr/>
            <p:nvPr/>
          </p:nvSpPr>
          <p:spPr>
            <a:xfrm>
              <a:off x="6826441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53994D2-74C7-604A-8D2A-3DA1B5EB91CB}"/>
                </a:ext>
              </a:extLst>
            </p:cNvPr>
            <p:cNvSpPr/>
            <p:nvPr/>
          </p:nvSpPr>
          <p:spPr>
            <a:xfrm>
              <a:off x="6826441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2C59E82-1290-5A46-9C28-17F0F74D55FE}"/>
                </a:ext>
              </a:extLst>
            </p:cNvPr>
            <p:cNvSpPr/>
            <p:nvPr/>
          </p:nvSpPr>
          <p:spPr>
            <a:xfrm>
              <a:off x="5385354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728780-8866-2D4A-B206-524D68D49FD4}"/>
                </a:ext>
              </a:extLst>
            </p:cNvPr>
            <p:cNvSpPr/>
            <p:nvPr/>
          </p:nvSpPr>
          <p:spPr>
            <a:xfrm>
              <a:off x="5385354" y="33436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C04D14-52D7-3549-8D5A-EB2234A94E33}"/>
                </a:ext>
              </a:extLst>
            </p:cNvPr>
            <p:cNvSpPr/>
            <p:nvPr/>
          </p:nvSpPr>
          <p:spPr>
            <a:xfrm>
              <a:off x="5385354" y="2550922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F567140-E1D7-7047-887D-E83764B4A417}"/>
                </a:ext>
              </a:extLst>
            </p:cNvPr>
            <p:cNvCxnSpPr>
              <a:stCxn id="20" idx="4"/>
              <a:endCxn id="19" idx="0"/>
            </p:cNvCxnSpPr>
            <p:nvPr/>
          </p:nvCxnSpPr>
          <p:spPr>
            <a:xfrm>
              <a:off x="5577378" y="2933768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47909C9-D944-E34E-B539-051DAA38A7E8}"/>
                </a:ext>
              </a:extLst>
            </p:cNvPr>
            <p:cNvCxnSpPr>
              <a:cxnSpLocks/>
              <a:stCxn id="19" idx="4"/>
              <a:endCxn id="17" idx="0"/>
            </p:cNvCxnSpPr>
            <p:nvPr/>
          </p:nvCxnSpPr>
          <p:spPr>
            <a:xfrm>
              <a:off x="5577378" y="3726494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8A5FDF8-8C8A-C44E-8092-37D26374CB70}"/>
                </a:ext>
              </a:extLst>
            </p:cNvPr>
            <p:cNvCxnSpPr>
              <a:cxnSpLocks/>
              <a:stCxn id="17" idx="4"/>
              <a:endCxn id="14" idx="0"/>
            </p:cNvCxnSpPr>
            <p:nvPr/>
          </p:nvCxnSpPr>
          <p:spPr>
            <a:xfrm>
              <a:off x="5577378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02B4242-430D-ED4A-9055-5355AD2E7C4F}"/>
                </a:ext>
              </a:extLst>
            </p:cNvPr>
            <p:cNvCxnSpPr>
              <a:cxnSpLocks/>
              <a:stCxn id="17" idx="4"/>
              <a:endCxn id="15" idx="0"/>
            </p:cNvCxnSpPr>
            <p:nvPr/>
          </p:nvCxnSpPr>
          <p:spPr>
            <a:xfrm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8CFB3C-2009-8F44-BDD0-E21027E13FF0}"/>
                </a:ext>
              </a:extLst>
            </p:cNvPr>
            <p:cNvCxnSpPr>
              <a:cxnSpLocks/>
              <a:stCxn id="16" idx="4"/>
              <a:endCxn id="15" idx="0"/>
            </p:cNvCxnSpPr>
            <p:nvPr/>
          </p:nvCxnSpPr>
          <p:spPr>
            <a:xfrm>
              <a:off x="7018465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AC44959-D199-9845-A032-3AA1EDFEF93A}"/>
                </a:ext>
              </a:extLst>
            </p:cNvPr>
            <p:cNvCxnSpPr>
              <a:cxnSpLocks/>
              <a:stCxn id="16" idx="4"/>
              <a:endCxn id="14" idx="0"/>
            </p:cNvCxnSpPr>
            <p:nvPr/>
          </p:nvCxnSpPr>
          <p:spPr>
            <a:xfrm flipH="1"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06D9E1A8-8E32-0646-BAD6-69EF48F7C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664" y="4908054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D2</a:t>
              </a: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24ABEB31-0165-3045-8EE3-38AC8B30D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300" y="4033828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C2</a:t>
              </a: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635687E3-AFFE-8044-AA9B-86490B49E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996" y="4040352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C1</a:t>
              </a:r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338541CB-DCC5-044D-9F57-81076FEA0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004" y="2522218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31" name="Text Box 10">
              <a:extLst>
                <a:ext uri="{FF2B5EF4-FFF2-40B4-BE49-F238E27FC236}">
                  <a16:creationId xmlns:a16="http://schemas.microsoft.com/office/drawing/2014/main" id="{EFDEC91D-E934-2F49-A06A-2B23B7A99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3238" y="332348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32" name="Text Box 6">
              <a:extLst>
                <a:ext uri="{FF2B5EF4-FFF2-40B4-BE49-F238E27FC236}">
                  <a16:creationId xmlns:a16="http://schemas.microsoft.com/office/drawing/2014/main" id="{D95FD243-6488-8047-AC85-DFFED7AEB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075" y="4896616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D1</a:t>
              </a:r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EC9CE39-52DC-5B48-89B5-D3AA08E4D396}"/>
              </a:ext>
            </a:extLst>
          </p:cNvPr>
          <p:cNvGraphicFramePr>
            <a:graphicFrameLocks noGrp="1"/>
          </p:cNvGraphicFramePr>
          <p:nvPr/>
        </p:nvGraphicFramePr>
        <p:xfrm>
          <a:off x="5982411" y="884926"/>
          <a:ext cx="110553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6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DCFFE92F-D8B7-5C42-ADE5-DEF5EF89288D}"/>
              </a:ext>
            </a:extLst>
          </p:cNvPr>
          <p:cNvSpPr txBox="1"/>
          <p:nvPr/>
        </p:nvSpPr>
        <p:spPr>
          <a:xfrm>
            <a:off x="125760" y="5436035"/>
            <a:ext cx="145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Ancestor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007EB9-A5E7-1D45-A037-2A453E5EB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745857"/>
              </p:ext>
            </p:extLst>
          </p:nvPr>
        </p:nvGraphicFramePr>
        <p:xfrm>
          <a:off x="1640257" y="4269806"/>
          <a:ext cx="1173798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C6E3E5F9-052F-2E48-A343-54F1E95A067D}"/>
              </a:ext>
            </a:extLst>
          </p:cNvPr>
          <p:cNvSpPr txBox="1"/>
          <p:nvPr/>
        </p:nvSpPr>
        <p:spPr>
          <a:xfrm>
            <a:off x="2754781" y="5150024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C090F3E-F3C3-7E4B-8254-10EE0ADF1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085475"/>
              </p:ext>
            </p:extLst>
          </p:nvPr>
        </p:nvGraphicFramePr>
        <p:xfrm>
          <a:off x="3747931" y="4230873"/>
          <a:ext cx="117379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11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415773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777182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CA49DEC6-57F3-624A-BEFE-1033F01B3564}"/>
              </a:ext>
            </a:extLst>
          </p:cNvPr>
          <p:cNvSpPr txBox="1"/>
          <p:nvPr/>
        </p:nvSpPr>
        <p:spPr>
          <a:xfrm>
            <a:off x="3178463" y="3826233"/>
            <a:ext cx="258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Anc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⋈ Advisor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25480094-2081-E94B-ACE2-7009710A3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311805"/>
              </p:ext>
            </p:extLst>
          </p:nvPr>
        </p:nvGraphicFramePr>
        <p:xfrm>
          <a:off x="235802" y="960019"/>
          <a:ext cx="1173798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9FBAF759-1C04-8446-8B86-66BF71F41C25}"/>
              </a:ext>
            </a:extLst>
          </p:cNvPr>
          <p:cNvSpPr txBox="1"/>
          <p:nvPr/>
        </p:nvSpPr>
        <p:spPr>
          <a:xfrm>
            <a:off x="4921729" y="5157828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B3E6ABF-79EE-044C-906B-92447C6A4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06314"/>
              </p:ext>
            </p:extLst>
          </p:nvPr>
        </p:nvGraphicFramePr>
        <p:xfrm>
          <a:off x="5792823" y="4230873"/>
          <a:ext cx="223012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1134638936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354804442"/>
                    </a:ext>
                  </a:extLst>
                </a:gridCol>
              </a:tblGrid>
              <a:tr h="3016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FFE91392-6A0B-9B41-8A1D-F7982ABB3E92}"/>
              </a:ext>
            </a:extLst>
          </p:cNvPr>
          <p:cNvSpPr txBox="1"/>
          <p:nvPr/>
        </p:nvSpPr>
        <p:spPr>
          <a:xfrm>
            <a:off x="3178462" y="6019320"/>
            <a:ext cx="2580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Anc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–Ans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=∅?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No: Repeat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2FECBA0-79D8-7449-B015-8A6305C4441B}"/>
              </a:ext>
            </a:extLst>
          </p:cNvPr>
          <p:cNvSpPr/>
          <p:nvPr/>
        </p:nvSpPr>
        <p:spPr>
          <a:xfrm>
            <a:off x="6966622" y="4884516"/>
            <a:ext cx="1055932" cy="62651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70FC12-AE42-BF4E-A718-4697F0A26BF5}"/>
              </a:ext>
            </a:extLst>
          </p:cNvPr>
          <p:cNvSpPr txBox="1"/>
          <p:nvPr/>
        </p:nvSpPr>
        <p:spPr>
          <a:xfrm>
            <a:off x="2056054" y="1108584"/>
            <a:ext cx="1775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1-degree ancestors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756245F-1ABB-7643-9102-9AD482458626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1408153" y="1431750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95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0" grpId="0"/>
      <p:bldP spid="50" grpId="0"/>
      <p:bldP spid="5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TC: ATTEMPT 2: Union w/ a “Base” Case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66621" y="640404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99544F-894B-9144-80CB-027CDA8826AA}"/>
              </a:ext>
            </a:extLst>
          </p:cNvPr>
          <p:cNvGrpSpPr/>
          <p:nvPr/>
        </p:nvGrpSpPr>
        <p:grpSpPr>
          <a:xfrm>
            <a:off x="7240807" y="884926"/>
            <a:ext cx="1903193" cy="2785946"/>
            <a:chOff x="5351075" y="2522218"/>
            <a:chExt cx="1903193" cy="278594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A93CC0-0B3A-DA4F-B2CE-D78A6160B2EF}"/>
                </a:ext>
              </a:extLst>
            </p:cNvPr>
            <p:cNvSpPr/>
            <p:nvPr/>
          </p:nvSpPr>
          <p:spPr>
            <a:xfrm>
              <a:off x="5385354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13C993-59A3-7D4F-8270-8752A90F0C96}"/>
                </a:ext>
              </a:extLst>
            </p:cNvPr>
            <p:cNvSpPr/>
            <p:nvPr/>
          </p:nvSpPr>
          <p:spPr>
            <a:xfrm>
              <a:off x="6826441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53994D2-74C7-604A-8D2A-3DA1B5EB91CB}"/>
                </a:ext>
              </a:extLst>
            </p:cNvPr>
            <p:cNvSpPr/>
            <p:nvPr/>
          </p:nvSpPr>
          <p:spPr>
            <a:xfrm>
              <a:off x="6826441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2C59E82-1290-5A46-9C28-17F0F74D55FE}"/>
                </a:ext>
              </a:extLst>
            </p:cNvPr>
            <p:cNvSpPr/>
            <p:nvPr/>
          </p:nvSpPr>
          <p:spPr>
            <a:xfrm>
              <a:off x="5385354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728780-8866-2D4A-B206-524D68D49FD4}"/>
                </a:ext>
              </a:extLst>
            </p:cNvPr>
            <p:cNvSpPr/>
            <p:nvPr/>
          </p:nvSpPr>
          <p:spPr>
            <a:xfrm>
              <a:off x="5385354" y="33436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C04D14-52D7-3549-8D5A-EB2234A94E33}"/>
                </a:ext>
              </a:extLst>
            </p:cNvPr>
            <p:cNvSpPr/>
            <p:nvPr/>
          </p:nvSpPr>
          <p:spPr>
            <a:xfrm>
              <a:off x="5385354" y="2550922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F567140-E1D7-7047-887D-E83764B4A417}"/>
                </a:ext>
              </a:extLst>
            </p:cNvPr>
            <p:cNvCxnSpPr>
              <a:stCxn id="20" idx="4"/>
              <a:endCxn id="19" idx="0"/>
            </p:cNvCxnSpPr>
            <p:nvPr/>
          </p:nvCxnSpPr>
          <p:spPr>
            <a:xfrm>
              <a:off x="5577378" y="2933768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47909C9-D944-E34E-B539-051DAA38A7E8}"/>
                </a:ext>
              </a:extLst>
            </p:cNvPr>
            <p:cNvCxnSpPr>
              <a:cxnSpLocks/>
              <a:stCxn id="19" idx="4"/>
              <a:endCxn id="17" idx="0"/>
            </p:cNvCxnSpPr>
            <p:nvPr/>
          </p:nvCxnSpPr>
          <p:spPr>
            <a:xfrm>
              <a:off x="5577378" y="3726494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8A5FDF8-8C8A-C44E-8092-37D26374CB70}"/>
                </a:ext>
              </a:extLst>
            </p:cNvPr>
            <p:cNvCxnSpPr>
              <a:cxnSpLocks/>
              <a:stCxn id="17" idx="4"/>
              <a:endCxn id="14" idx="0"/>
            </p:cNvCxnSpPr>
            <p:nvPr/>
          </p:nvCxnSpPr>
          <p:spPr>
            <a:xfrm>
              <a:off x="5577378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02B4242-430D-ED4A-9055-5355AD2E7C4F}"/>
                </a:ext>
              </a:extLst>
            </p:cNvPr>
            <p:cNvCxnSpPr>
              <a:cxnSpLocks/>
              <a:stCxn id="17" idx="4"/>
              <a:endCxn id="15" idx="0"/>
            </p:cNvCxnSpPr>
            <p:nvPr/>
          </p:nvCxnSpPr>
          <p:spPr>
            <a:xfrm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8CFB3C-2009-8F44-BDD0-E21027E13FF0}"/>
                </a:ext>
              </a:extLst>
            </p:cNvPr>
            <p:cNvCxnSpPr>
              <a:cxnSpLocks/>
              <a:stCxn id="16" idx="4"/>
              <a:endCxn id="15" idx="0"/>
            </p:cNvCxnSpPr>
            <p:nvPr/>
          </p:nvCxnSpPr>
          <p:spPr>
            <a:xfrm>
              <a:off x="7018465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AC44959-D199-9845-A032-3AA1EDFEF93A}"/>
                </a:ext>
              </a:extLst>
            </p:cNvPr>
            <p:cNvCxnSpPr>
              <a:cxnSpLocks/>
              <a:stCxn id="16" idx="4"/>
              <a:endCxn id="14" idx="0"/>
            </p:cNvCxnSpPr>
            <p:nvPr/>
          </p:nvCxnSpPr>
          <p:spPr>
            <a:xfrm flipH="1"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06D9E1A8-8E32-0646-BAD6-69EF48F7C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664" y="4908054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D2</a:t>
              </a: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24ABEB31-0165-3045-8EE3-38AC8B30D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300" y="4033828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C2</a:t>
              </a: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635687E3-AFFE-8044-AA9B-86490B49E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996" y="4040352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C1</a:t>
              </a:r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338541CB-DCC5-044D-9F57-81076FEA0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004" y="2522218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31" name="Text Box 10">
              <a:extLst>
                <a:ext uri="{FF2B5EF4-FFF2-40B4-BE49-F238E27FC236}">
                  <a16:creationId xmlns:a16="http://schemas.microsoft.com/office/drawing/2014/main" id="{EFDEC91D-E934-2F49-A06A-2B23B7A99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3238" y="332348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32" name="Text Box 6">
              <a:extLst>
                <a:ext uri="{FF2B5EF4-FFF2-40B4-BE49-F238E27FC236}">
                  <a16:creationId xmlns:a16="http://schemas.microsoft.com/office/drawing/2014/main" id="{D95FD243-6488-8047-AC85-DFFED7AEB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075" y="4896616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D1</a:t>
              </a:r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EC9CE39-52DC-5B48-89B5-D3AA08E4D396}"/>
              </a:ext>
            </a:extLst>
          </p:cNvPr>
          <p:cNvGraphicFramePr>
            <a:graphicFrameLocks noGrp="1"/>
          </p:cNvGraphicFramePr>
          <p:nvPr/>
        </p:nvGraphicFramePr>
        <p:xfrm>
          <a:off x="5982411" y="884926"/>
          <a:ext cx="110553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6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DCFFE92F-D8B7-5C42-ADE5-DEF5EF89288D}"/>
              </a:ext>
            </a:extLst>
          </p:cNvPr>
          <p:cNvSpPr txBox="1"/>
          <p:nvPr/>
        </p:nvSpPr>
        <p:spPr>
          <a:xfrm>
            <a:off x="125760" y="5436035"/>
            <a:ext cx="145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Ancestor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007EB9-A5E7-1D45-A037-2A453E5EB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439576"/>
              </p:ext>
            </p:extLst>
          </p:nvPr>
        </p:nvGraphicFramePr>
        <p:xfrm>
          <a:off x="1640257" y="4269806"/>
          <a:ext cx="1173798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C6E3E5F9-052F-2E48-A343-54F1E95A067D}"/>
              </a:ext>
            </a:extLst>
          </p:cNvPr>
          <p:cNvSpPr txBox="1"/>
          <p:nvPr/>
        </p:nvSpPr>
        <p:spPr>
          <a:xfrm>
            <a:off x="2754781" y="5150024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C090F3E-F3C3-7E4B-8254-10EE0ADF1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016496"/>
              </p:ext>
            </p:extLst>
          </p:nvPr>
        </p:nvGraphicFramePr>
        <p:xfrm>
          <a:off x="3747931" y="4230873"/>
          <a:ext cx="1173798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11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415773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777182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838162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81139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CA49DEC6-57F3-624A-BEFE-1033F01B3564}"/>
              </a:ext>
            </a:extLst>
          </p:cNvPr>
          <p:cNvSpPr txBox="1"/>
          <p:nvPr/>
        </p:nvSpPr>
        <p:spPr>
          <a:xfrm>
            <a:off x="3178463" y="3826233"/>
            <a:ext cx="258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Anc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⋈ Advisor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BAF759-1C04-8446-8B86-66BF71F41C25}"/>
              </a:ext>
            </a:extLst>
          </p:cNvPr>
          <p:cNvSpPr txBox="1"/>
          <p:nvPr/>
        </p:nvSpPr>
        <p:spPr>
          <a:xfrm>
            <a:off x="4921729" y="5157828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B3E6ABF-79EE-044C-906B-92447C6A4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321304"/>
              </p:ext>
            </p:extLst>
          </p:nvPr>
        </p:nvGraphicFramePr>
        <p:xfrm>
          <a:off x="5792823" y="4230873"/>
          <a:ext cx="223012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1134638936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354804442"/>
                    </a:ext>
                  </a:extLst>
                </a:gridCol>
              </a:tblGrid>
              <a:tr h="3016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E92E4BD-3B64-7E48-9EEE-F7849DC51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45359"/>
              </p:ext>
            </p:extLst>
          </p:nvPr>
        </p:nvGraphicFramePr>
        <p:xfrm>
          <a:off x="235802" y="884926"/>
          <a:ext cx="223012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1134638936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354804442"/>
                    </a:ext>
                  </a:extLst>
                </a:gridCol>
              </a:tblGrid>
              <a:tr h="3016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9620117-C63B-E14B-96DC-F846A5C00814}"/>
              </a:ext>
            </a:extLst>
          </p:cNvPr>
          <p:cNvSpPr txBox="1"/>
          <p:nvPr/>
        </p:nvSpPr>
        <p:spPr>
          <a:xfrm>
            <a:off x="3097437" y="6077195"/>
            <a:ext cx="2580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Anc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–Ans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=∅?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No: Repeat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3C1688C-1162-6F41-87BD-9DB7428FDB20}"/>
              </a:ext>
            </a:extLst>
          </p:cNvPr>
          <p:cNvSpPr/>
          <p:nvPr/>
        </p:nvSpPr>
        <p:spPr>
          <a:xfrm>
            <a:off x="6977489" y="5491077"/>
            <a:ext cx="1055932" cy="62651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F51239-10DB-4647-BF63-9B99B4D9B690}"/>
              </a:ext>
            </a:extLst>
          </p:cNvPr>
          <p:cNvSpPr txBox="1"/>
          <p:nvPr/>
        </p:nvSpPr>
        <p:spPr>
          <a:xfrm>
            <a:off x="3143356" y="1029833"/>
            <a:ext cx="223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1- and 2-degree ancestors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3BD51C9-D5FD-EF4C-8157-77987FFFACDC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2495455" y="1352999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16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0" grpId="0"/>
      <p:bldP spid="35" grpId="0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TC: ATTEMPT 2: Union w/ a “Base” Case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66621" y="640404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16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99544F-894B-9144-80CB-027CDA8826AA}"/>
              </a:ext>
            </a:extLst>
          </p:cNvPr>
          <p:cNvGrpSpPr/>
          <p:nvPr/>
        </p:nvGrpSpPr>
        <p:grpSpPr>
          <a:xfrm>
            <a:off x="7240807" y="884926"/>
            <a:ext cx="1903193" cy="2785946"/>
            <a:chOff x="5351075" y="2522218"/>
            <a:chExt cx="1903193" cy="278594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A93CC0-0B3A-DA4F-B2CE-D78A6160B2EF}"/>
                </a:ext>
              </a:extLst>
            </p:cNvPr>
            <p:cNvSpPr/>
            <p:nvPr/>
          </p:nvSpPr>
          <p:spPr>
            <a:xfrm>
              <a:off x="5385354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13C993-59A3-7D4F-8270-8752A90F0C96}"/>
                </a:ext>
              </a:extLst>
            </p:cNvPr>
            <p:cNvSpPr/>
            <p:nvPr/>
          </p:nvSpPr>
          <p:spPr>
            <a:xfrm>
              <a:off x="6826441" y="492531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53994D2-74C7-604A-8D2A-3DA1B5EB91CB}"/>
                </a:ext>
              </a:extLst>
            </p:cNvPr>
            <p:cNvSpPr/>
            <p:nvPr/>
          </p:nvSpPr>
          <p:spPr>
            <a:xfrm>
              <a:off x="6826441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2C59E82-1290-5A46-9C28-17F0F74D55FE}"/>
                </a:ext>
              </a:extLst>
            </p:cNvPr>
            <p:cNvSpPr/>
            <p:nvPr/>
          </p:nvSpPr>
          <p:spPr>
            <a:xfrm>
              <a:off x="5385354" y="406414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728780-8866-2D4A-B206-524D68D49FD4}"/>
                </a:ext>
              </a:extLst>
            </p:cNvPr>
            <p:cNvSpPr/>
            <p:nvPr/>
          </p:nvSpPr>
          <p:spPr>
            <a:xfrm>
              <a:off x="5385354" y="33436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C04D14-52D7-3549-8D5A-EB2234A94E33}"/>
                </a:ext>
              </a:extLst>
            </p:cNvPr>
            <p:cNvSpPr/>
            <p:nvPr/>
          </p:nvSpPr>
          <p:spPr>
            <a:xfrm>
              <a:off x="5385354" y="2550922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F567140-E1D7-7047-887D-E83764B4A417}"/>
                </a:ext>
              </a:extLst>
            </p:cNvPr>
            <p:cNvCxnSpPr>
              <a:stCxn id="20" idx="4"/>
              <a:endCxn id="19" idx="0"/>
            </p:cNvCxnSpPr>
            <p:nvPr/>
          </p:nvCxnSpPr>
          <p:spPr>
            <a:xfrm>
              <a:off x="5577378" y="2933768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47909C9-D944-E34E-B539-051DAA38A7E8}"/>
                </a:ext>
              </a:extLst>
            </p:cNvPr>
            <p:cNvCxnSpPr>
              <a:cxnSpLocks/>
              <a:stCxn id="19" idx="4"/>
              <a:endCxn id="17" idx="0"/>
            </p:cNvCxnSpPr>
            <p:nvPr/>
          </p:nvCxnSpPr>
          <p:spPr>
            <a:xfrm>
              <a:off x="5577378" y="3726494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8A5FDF8-8C8A-C44E-8092-37D26374CB70}"/>
                </a:ext>
              </a:extLst>
            </p:cNvPr>
            <p:cNvCxnSpPr>
              <a:cxnSpLocks/>
              <a:stCxn id="17" idx="4"/>
              <a:endCxn id="14" idx="0"/>
            </p:cNvCxnSpPr>
            <p:nvPr/>
          </p:nvCxnSpPr>
          <p:spPr>
            <a:xfrm>
              <a:off x="5577378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02B4242-430D-ED4A-9055-5355AD2E7C4F}"/>
                </a:ext>
              </a:extLst>
            </p:cNvPr>
            <p:cNvCxnSpPr>
              <a:cxnSpLocks/>
              <a:stCxn id="17" idx="4"/>
              <a:endCxn id="15" idx="0"/>
            </p:cNvCxnSpPr>
            <p:nvPr/>
          </p:nvCxnSpPr>
          <p:spPr>
            <a:xfrm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8CFB3C-2009-8F44-BDD0-E21027E13FF0}"/>
                </a:ext>
              </a:extLst>
            </p:cNvPr>
            <p:cNvCxnSpPr>
              <a:cxnSpLocks/>
              <a:stCxn id="16" idx="4"/>
              <a:endCxn id="15" idx="0"/>
            </p:cNvCxnSpPr>
            <p:nvPr/>
          </p:nvCxnSpPr>
          <p:spPr>
            <a:xfrm>
              <a:off x="7018465" y="4446986"/>
              <a:ext cx="0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AC44959-D199-9845-A032-3AA1EDFEF93A}"/>
                </a:ext>
              </a:extLst>
            </p:cNvPr>
            <p:cNvCxnSpPr>
              <a:cxnSpLocks/>
              <a:stCxn id="16" idx="4"/>
              <a:endCxn id="14" idx="0"/>
            </p:cNvCxnSpPr>
            <p:nvPr/>
          </p:nvCxnSpPr>
          <p:spPr>
            <a:xfrm flipH="1">
              <a:off x="5577378" y="4446986"/>
              <a:ext cx="1441087" cy="478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06D9E1A8-8E32-0646-BAD6-69EF48F7C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664" y="4908054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D2</a:t>
              </a: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24ABEB31-0165-3045-8EE3-38AC8B30D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300" y="4033828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C2</a:t>
              </a: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635687E3-AFFE-8044-AA9B-86490B49E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996" y="4040352"/>
              <a:ext cx="450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C1</a:t>
              </a:r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338541CB-DCC5-044D-9F57-81076FEA0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004" y="2522218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A</a:t>
              </a:r>
            </a:p>
          </p:txBody>
        </p:sp>
        <p:sp>
          <p:nvSpPr>
            <p:cNvPr id="31" name="Text Box 10">
              <a:extLst>
                <a:ext uri="{FF2B5EF4-FFF2-40B4-BE49-F238E27FC236}">
                  <a16:creationId xmlns:a16="http://schemas.microsoft.com/office/drawing/2014/main" id="{EFDEC91D-E934-2F49-A06A-2B23B7A99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3238" y="3323481"/>
              <a:ext cx="3241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B</a:t>
              </a:r>
            </a:p>
          </p:txBody>
        </p:sp>
        <p:sp>
          <p:nvSpPr>
            <p:cNvPr id="32" name="Text Box 6">
              <a:extLst>
                <a:ext uri="{FF2B5EF4-FFF2-40B4-BE49-F238E27FC236}">
                  <a16:creationId xmlns:a16="http://schemas.microsoft.com/office/drawing/2014/main" id="{D95FD243-6488-8047-AC85-DFFED7AEB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075" y="4896616"/>
              <a:ext cx="4716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D1</a:t>
              </a:r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EC9CE39-52DC-5B48-89B5-D3AA08E4D396}"/>
              </a:ext>
            </a:extLst>
          </p:cNvPr>
          <p:cNvGraphicFramePr>
            <a:graphicFrameLocks noGrp="1"/>
          </p:cNvGraphicFramePr>
          <p:nvPr/>
        </p:nvGraphicFramePr>
        <p:xfrm>
          <a:off x="5982411" y="884926"/>
          <a:ext cx="110553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6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DCFFE92F-D8B7-5C42-ADE5-DEF5EF89288D}"/>
              </a:ext>
            </a:extLst>
          </p:cNvPr>
          <p:cNvSpPr txBox="1"/>
          <p:nvPr/>
        </p:nvSpPr>
        <p:spPr>
          <a:xfrm>
            <a:off x="125760" y="5436035"/>
            <a:ext cx="145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Ancestor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007EB9-A5E7-1D45-A037-2A453E5EB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450617"/>
              </p:ext>
            </p:extLst>
          </p:nvPr>
        </p:nvGraphicFramePr>
        <p:xfrm>
          <a:off x="1640257" y="4269806"/>
          <a:ext cx="1173798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C6E3E5F9-052F-2E48-A343-54F1E95A067D}"/>
              </a:ext>
            </a:extLst>
          </p:cNvPr>
          <p:cNvSpPr txBox="1"/>
          <p:nvPr/>
        </p:nvSpPr>
        <p:spPr>
          <a:xfrm>
            <a:off x="2754781" y="5150024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C090F3E-F3C3-7E4B-8254-10EE0ADF1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526386"/>
              </p:ext>
            </p:extLst>
          </p:nvPr>
        </p:nvGraphicFramePr>
        <p:xfrm>
          <a:off x="3747931" y="4230873"/>
          <a:ext cx="1173798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11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415773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777182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838162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81139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CA49DEC6-57F3-624A-BEFE-1033F01B3564}"/>
              </a:ext>
            </a:extLst>
          </p:cNvPr>
          <p:cNvSpPr txBox="1"/>
          <p:nvPr/>
        </p:nvSpPr>
        <p:spPr>
          <a:xfrm>
            <a:off x="3178463" y="3826233"/>
            <a:ext cx="258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Anc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⋈ Advisor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BAF759-1C04-8446-8B86-66BF71F41C25}"/>
              </a:ext>
            </a:extLst>
          </p:cNvPr>
          <p:cNvSpPr txBox="1"/>
          <p:nvPr/>
        </p:nvSpPr>
        <p:spPr>
          <a:xfrm>
            <a:off x="4948113" y="5157828"/>
            <a:ext cx="624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B3E6ABF-79EE-044C-906B-92447C6A4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970476"/>
              </p:ext>
            </p:extLst>
          </p:nvPr>
        </p:nvGraphicFramePr>
        <p:xfrm>
          <a:off x="5607628" y="4230873"/>
          <a:ext cx="223012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1134638936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354804442"/>
                    </a:ext>
                  </a:extLst>
                </a:gridCol>
              </a:tblGrid>
              <a:tr h="3016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9620117-C63B-E14B-96DC-F846A5C00814}"/>
              </a:ext>
            </a:extLst>
          </p:cNvPr>
          <p:cNvSpPr txBox="1"/>
          <p:nvPr/>
        </p:nvSpPr>
        <p:spPr>
          <a:xfrm>
            <a:off x="3097437" y="6077195"/>
            <a:ext cx="2580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Anc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–Ans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=∅?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Yes: Stop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EA6B09A-EA49-254E-95BD-D6B4AD231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075958"/>
              </p:ext>
            </p:extLst>
          </p:nvPr>
        </p:nvGraphicFramePr>
        <p:xfrm>
          <a:off x="236831" y="907513"/>
          <a:ext cx="223012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1134638936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354804442"/>
                    </a:ext>
                  </a:extLst>
                </a:gridCol>
              </a:tblGrid>
              <a:tr h="3016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0412C3A1-BA8A-AF46-B22E-AF28D6AB9092}"/>
              </a:ext>
            </a:extLst>
          </p:cNvPr>
          <p:cNvSpPr txBox="1"/>
          <p:nvPr/>
        </p:nvSpPr>
        <p:spPr>
          <a:xfrm>
            <a:off x="3143356" y="1029833"/>
            <a:ext cx="223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1-, 2-, and 3-degree ancestors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8E3F0E-1D63-2E4F-B660-C1B7977AC24B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2495455" y="1352999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E9EB691-555A-E04E-8357-C657DE5833D5}"/>
              </a:ext>
            </a:extLst>
          </p:cNvPr>
          <p:cNvSpPr txBox="1"/>
          <p:nvPr/>
        </p:nvSpPr>
        <p:spPr>
          <a:xfrm>
            <a:off x="7741686" y="4823158"/>
            <a:ext cx="14410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Answer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called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 point of Q.</a:t>
            </a:r>
          </a:p>
        </p:txBody>
      </p:sp>
    </p:spTree>
    <p:extLst>
      <p:ext uri="{BB962C8B-B14F-4D97-AF65-F5344CB8AC3E}">
        <p14:creationId xmlns:p14="http://schemas.microsoft.com/office/powerpoint/2010/main" val="9343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0" grpId="0"/>
      <p:bldP spid="35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Some Comments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17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7CBB5-BEFA-3B45-A4B7-08571F13FA99}"/>
              </a:ext>
            </a:extLst>
          </p:cNvPr>
          <p:cNvSpPr txBox="1"/>
          <p:nvPr/>
        </p:nvSpPr>
        <p:spPr>
          <a:xfrm>
            <a:off x="16079" y="758856"/>
            <a:ext cx="9100217" cy="478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Recall common WITH RECURSIVE query template:</a:t>
            </a:r>
          </a:p>
          <a:p>
            <a:pPr algn="ctr">
              <a:lnSpc>
                <a:spcPts val="3680"/>
              </a:lnSpc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WITH RECURSIVE R AS (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sz="2400" baseline="-25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UNION Q</a:t>
            </a:r>
            <a:r>
              <a:rPr lang="en-US" sz="2400" baseline="-25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use other queries/templates (e.g., multiple base cases)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some restrictions apply (stay tuned)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 that fixed-point computation was very well-behaved in TC:</a:t>
            </a:r>
          </a:p>
          <a:p>
            <a:pPr marL="914400" lvl="1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Computation converged:</a:t>
            </a:r>
          </a:p>
          <a:p>
            <a:pPr marL="1371600" lvl="2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finite steps (and computed a finite relation)</a:t>
            </a:r>
          </a:p>
          <a:p>
            <a:pPr marL="1371600" lvl="2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 oscillations</a:t>
            </a:r>
          </a:p>
          <a:p>
            <a:pPr marL="457200" indent="-4572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Question: Are there conditions that guarantee convergence to a unique fixed point of Q?</a:t>
            </a:r>
          </a:p>
        </p:txBody>
      </p:sp>
    </p:spTree>
    <p:extLst>
      <p:ext uri="{BB962C8B-B14F-4D97-AF65-F5344CB8AC3E}">
        <p14:creationId xmlns:p14="http://schemas.microsoft.com/office/powerpoint/2010/main" val="387906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Monotonicity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18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7CBB5-BEFA-3B45-A4B7-08571F13FA99}"/>
              </a:ext>
            </a:extLst>
          </p:cNvPr>
          <p:cNvSpPr txBox="1"/>
          <p:nvPr/>
        </p:nvSpPr>
        <p:spPr>
          <a:xfrm>
            <a:off x="16079" y="758856"/>
            <a:ext cx="9100217" cy="478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we focus on core relational algebra foundation of SQL: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Select/project/cross product/join/union/set difference/intersection 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Ignore group by and aggregations and arithmetic functions etc.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Theorem: If a recursive Q is “monotone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w.r.t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to every relation it contains”, then Q has a unique and finite fixed point (i.e., the fixed point subroutine is guaranteed to converge)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Definition: Q is monotone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w.r.t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iff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adding more tuples to R can not remove tuples from output of Q (but new tuples can appear)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i.e., if each t that used to be in the output of Q is guaranteed to remain in output if add more tuples to R (keeping all else same)</a:t>
            </a:r>
          </a:p>
        </p:txBody>
      </p:sp>
    </p:spTree>
    <p:extLst>
      <p:ext uri="{BB962C8B-B14F-4D97-AF65-F5344CB8AC3E}">
        <p14:creationId xmlns:p14="http://schemas.microsoft.com/office/powerpoint/2010/main" val="266834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Monotonicity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917CBB5-BEFA-3B45-A4B7-08571F13FA99}"/>
                  </a:ext>
                </a:extLst>
              </p:cNvPr>
              <p:cNvSpPr txBox="1"/>
              <p:nvPr/>
            </p:nvSpPr>
            <p:spPr>
              <a:xfrm>
                <a:off x="16079" y="758856"/>
                <a:ext cx="9100217" cy="4308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6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Recall each core RA operator except set difference is monotone 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w.r.t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their arguments</a:t>
                </a:r>
              </a:p>
              <a:p>
                <a:pPr marL="342900" indent="-342900">
                  <a:lnSpc>
                    <a:spcPts val="36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E.g.: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monotone 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w.r.t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R and S</a:t>
                </a:r>
              </a:p>
              <a:p>
                <a:pPr marL="342900" indent="-342900">
                  <a:lnSpc>
                    <a:spcPts val="36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But: 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𝑅</m:t>
                    </m:r>
                    <m:r>
                      <a:rPr lang="en-US" sz="2400" i="1" dirty="0">
                        <a:latin typeface="Cambria Math"/>
                      </a:rPr>
                      <m:t>−</m:t>
                    </m:r>
                    <m:r>
                      <a:rPr lang="en-US" sz="24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non-monotone 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w.r.t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S</a:t>
                </a:r>
              </a:p>
              <a:p>
                <a:pPr marL="342900" indent="-342900">
                  <a:lnSpc>
                    <a:spcPts val="36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Therefore: Any Q that uses core relational algebraic operations and does not use set difference is monotone </a:t>
                </a:r>
              </a:p>
              <a:p>
                <a:pPr lvl="1">
                  <a:lnSpc>
                    <a:spcPts val="368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=&gt; Q will converge to a unique fixed point (if recursive)</a:t>
                </a:r>
              </a:p>
              <a:p>
                <a:pPr marL="342900" indent="-342900">
                  <a:lnSpc>
                    <a:spcPts val="36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Q can still be monotone even if it contains set difference. But not guaranteed to be.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917CBB5-BEFA-3B45-A4B7-08571F13F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758856"/>
                <a:ext cx="9100217" cy="4308295"/>
              </a:xfrm>
              <a:prstGeom prst="rect">
                <a:avLst/>
              </a:prstGeom>
              <a:blipFill>
                <a:blip r:embed="rId3"/>
                <a:stretch>
                  <a:fillRect l="-697" b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358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Why Does Monotonicity Guarantee A Unique Fixed Point For A Recursive Query?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1573" y="116722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20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7CBB5-BEFA-3B45-A4B7-08571F13FA99}"/>
              </a:ext>
            </a:extLst>
          </p:cNvPr>
          <p:cNvSpPr txBox="1"/>
          <p:nvPr/>
        </p:nvSpPr>
        <p:spPr>
          <a:xfrm>
            <a:off x="0" y="1172296"/>
            <a:ext cx="9100217" cy="2795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Proof Sketch: Recall fixed point subroutine:</a:t>
            </a:r>
          </a:p>
          <a:p>
            <a:pPr>
              <a:lnSpc>
                <a:spcPts val="3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∅; T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Q (but use T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for T); T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Q (but use T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for T)</a:t>
            </a:r>
          </a:p>
          <a:p>
            <a:pPr algn="ctr"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 we are assuming we are focusing on core RA: 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value in a column of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is from a value from base relation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every base relation in Q is finite.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0ACB5F-71F9-834D-9DBB-82AFF459B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485121"/>
              </p:ext>
            </p:extLst>
          </p:nvPr>
        </p:nvGraphicFramePr>
        <p:xfrm>
          <a:off x="198635" y="4039870"/>
          <a:ext cx="223012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1134638936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354804442"/>
                    </a:ext>
                  </a:extLst>
                </a:gridCol>
              </a:tblGrid>
              <a:tr h="3016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9BABD6-AD87-EA4A-8BFE-55DE0456D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637320"/>
              </p:ext>
            </p:extLst>
          </p:nvPr>
        </p:nvGraphicFramePr>
        <p:xfrm>
          <a:off x="2596923" y="4039552"/>
          <a:ext cx="1105535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E776BE-9D61-9042-A042-9653EE3B46EE}"/>
              </a:ext>
            </a:extLst>
          </p:cNvPr>
          <p:cNvSpPr/>
          <p:nvPr/>
        </p:nvSpPr>
        <p:spPr>
          <a:xfrm>
            <a:off x="1376194" y="5643887"/>
            <a:ext cx="371581" cy="270776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C8333F-7D90-F547-8366-91E377B9B655}"/>
              </a:ext>
            </a:extLst>
          </p:cNvPr>
          <p:cNvSpPr/>
          <p:nvPr/>
        </p:nvSpPr>
        <p:spPr>
          <a:xfrm>
            <a:off x="2668864" y="6232537"/>
            <a:ext cx="371581" cy="270776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A68DA-A5B4-F44E-BC26-98AEE5BD6D4A}"/>
              </a:ext>
            </a:extLst>
          </p:cNvPr>
          <p:cNvSpPr/>
          <p:nvPr/>
        </p:nvSpPr>
        <p:spPr>
          <a:xfrm>
            <a:off x="1921137" y="5028314"/>
            <a:ext cx="371581" cy="270776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C8ADFB5-69B4-F444-AACF-89CF4B4100F1}"/>
              </a:ext>
            </a:extLst>
          </p:cNvPr>
          <p:cNvSpPr/>
          <p:nvPr/>
        </p:nvSpPr>
        <p:spPr>
          <a:xfrm>
            <a:off x="3236425" y="4721439"/>
            <a:ext cx="371581" cy="270776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981900-A7F2-4B4E-8CBE-73F55F67C1B8}"/>
              </a:ext>
            </a:extLst>
          </p:cNvPr>
          <p:cNvSpPr txBox="1"/>
          <p:nvPr/>
        </p:nvSpPr>
        <p:spPr>
          <a:xfrm>
            <a:off x="3679947" y="3915512"/>
            <a:ext cx="5442206" cy="2412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Any relation, no matter what its schema is, has a finite maximum size.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B/c Q is monotone (specifically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w.r.t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T):</a:t>
            </a:r>
          </a:p>
          <a:p>
            <a:pPr algn="ctr">
              <a:lnSpc>
                <a:spcPts val="368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⊂T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⊂T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⊂…  (must stop b/c finiteness)</a:t>
            </a:r>
          </a:p>
          <a:p>
            <a:pPr algn="ctr">
              <a:lnSpc>
                <a:spcPts val="368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i.e.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⊂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⊂ …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k+1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stops)</a:t>
            </a:r>
          </a:p>
        </p:txBody>
      </p:sp>
    </p:spTree>
    <p:extLst>
      <p:ext uri="{BB962C8B-B14F-4D97-AF65-F5344CB8AC3E}">
        <p14:creationId xmlns:p14="http://schemas.microsoft.com/office/powerpoint/2010/main" val="212233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Example Non-Monotone Recursive Query 1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8A783-93C7-9B4D-83E4-A1945A391348}"/>
              </a:ext>
            </a:extLst>
          </p:cNvPr>
          <p:cNvSpPr/>
          <p:nvPr/>
        </p:nvSpPr>
        <p:spPr>
          <a:xfrm>
            <a:off x="16079" y="724098"/>
            <a:ext cx="4929408" cy="176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8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WITH RECURSIVE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T(x)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 (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SELECT x FROM R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UNION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SELECT sum(x) as x FROM 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64E2A8-952F-3046-B0C5-764367B66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23418"/>
              </p:ext>
            </p:extLst>
          </p:nvPr>
        </p:nvGraphicFramePr>
        <p:xfrm>
          <a:off x="5660490" y="995641"/>
          <a:ext cx="567055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554AC3-4B2A-F741-B73B-85190CCA2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683142"/>
              </p:ext>
            </p:extLst>
          </p:nvPr>
        </p:nvGraphicFramePr>
        <p:xfrm>
          <a:off x="3803821" y="2801477"/>
          <a:ext cx="56705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3608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9905F2-05F6-7A40-90A5-78F116F1E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40257"/>
              </p:ext>
            </p:extLst>
          </p:nvPr>
        </p:nvGraphicFramePr>
        <p:xfrm>
          <a:off x="4686554" y="2801477"/>
          <a:ext cx="56705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36082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7834F0-8CB5-AB46-B43B-6A80177C2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019890"/>
              </p:ext>
            </p:extLst>
          </p:nvPr>
        </p:nvGraphicFramePr>
        <p:xfrm>
          <a:off x="5569286" y="2801477"/>
          <a:ext cx="56705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36082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305635-DAE8-B144-AB0E-A4A8D430C825}"/>
              </a:ext>
            </a:extLst>
          </p:cNvPr>
          <p:cNvSpPr txBox="1"/>
          <p:nvPr/>
        </p:nvSpPr>
        <p:spPr>
          <a:xfrm>
            <a:off x="0" y="4542598"/>
            <a:ext cx="9100217" cy="1461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 is non-monotone b/c as we added 3, 3 got deleted, as we added 6, 6 got deleted etc.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That’s why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aggr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not allowed in recursive queries in SQL standard 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3DD56-9262-3641-973A-3AAE56646A33}"/>
              </a:ext>
            </a:extLst>
          </p:cNvPr>
          <p:cNvSpPr txBox="1"/>
          <p:nvPr/>
        </p:nvSpPr>
        <p:spPr>
          <a:xfrm>
            <a:off x="3803820" y="4206694"/>
            <a:ext cx="5670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BBCFFC-533B-4249-8A71-AD5008E11F38}"/>
              </a:ext>
            </a:extLst>
          </p:cNvPr>
          <p:cNvSpPr txBox="1"/>
          <p:nvPr/>
        </p:nvSpPr>
        <p:spPr>
          <a:xfrm>
            <a:off x="4686553" y="4227830"/>
            <a:ext cx="5670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A3196C-2708-B941-B11F-C0241003FB4D}"/>
              </a:ext>
            </a:extLst>
          </p:cNvPr>
          <p:cNvSpPr txBox="1"/>
          <p:nvPr/>
        </p:nvSpPr>
        <p:spPr>
          <a:xfrm>
            <a:off x="6136341" y="3385907"/>
            <a:ext cx="24668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… would never converge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B8A5A-7F07-4D46-8298-F0086BFEC0CC}"/>
              </a:ext>
            </a:extLst>
          </p:cNvPr>
          <p:cNvSpPr txBox="1"/>
          <p:nvPr/>
        </p:nvSpPr>
        <p:spPr>
          <a:xfrm>
            <a:off x="0" y="6121800"/>
            <a:ext cx="9100218" cy="512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80"/>
              </a:lnSpc>
            </a:pP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2</a:t>
            </a:r>
            <a:r>
              <a:rPr lang="en-US" sz="22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example after we cover “mutual recursion” (stay tuned).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F05ABF8-DFB2-C941-AA7B-19DEB3F90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778206"/>
              </p:ext>
            </p:extLst>
          </p:nvPr>
        </p:nvGraphicFramePr>
        <p:xfrm>
          <a:off x="2038355" y="2813186"/>
          <a:ext cx="56705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A030613-7908-F243-90EB-68E24262A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835787"/>
              </p:ext>
            </p:extLst>
          </p:nvPr>
        </p:nvGraphicFramePr>
        <p:xfrm>
          <a:off x="2921088" y="2801477"/>
          <a:ext cx="567055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49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Linear vs Non-linear Recursion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22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7CBB5-BEFA-3B45-A4B7-08571F13FA99}"/>
              </a:ext>
            </a:extLst>
          </p:cNvPr>
          <p:cNvSpPr txBox="1"/>
          <p:nvPr/>
        </p:nvSpPr>
        <p:spPr>
          <a:xfrm>
            <a:off x="16079" y="758856"/>
            <a:ext cx="9100217" cy="2766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Recall Q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 transitive closure: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Ancestor.anc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Adv.stu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FROM Ancestor, Advisor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WHERE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Ancestor.desc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Advisor</a:t>
            </a:r>
            <a:r>
              <a:rPr lang="en-US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.sup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Has 1 reference to itself Ancestor: Called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 linear recursion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have &gt; 1 reference to Ancestor, called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non-linear recursion</a:t>
            </a:r>
          </a:p>
        </p:txBody>
      </p:sp>
    </p:spTree>
    <p:extLst>
      <p:ext uri="{BB962C8B-B14F-4D97-AF65-F5344CB8AC3E}">
        <p14:creationId xmlns:p14="http://schemas.microsoft.com/office/powerpoint/2010/main" val="329774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4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Non-linear Recursive Computation of Ancestors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D05DB-F84B-3B47-9EB0-6A45DAA21E57}"/>
              </a:ext>
            </a:extLst>
          </p:cNvPr>
          <p:cNvSpPr/>
          <p:nvPr/>
        </p:nvSpPr>
        <p:spPr>
          <a:xfrm>
            <a:off x="16079" y="664464"/>
            <a:ext cx="6211466" cy="301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8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WITH RECURSIVE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Ancestors(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desc)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 (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SELECT sup as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desc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FROM Advisor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UNION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SELECT Anc1.anc,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Anct.desc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FROM Ancestor Anc1, Ancestor Anc2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WHERE Ac1.desc = Anc2.anc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851B85A-7007-2B4E-8F1E-A82273C6C4DC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AD4509-1FB2-2540-A246-CEF93BA68631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BD4C690-5E59-2343-9B99-470285E2A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00008"/>
              </p:ext>
            </p:extLst>
          </p:nvPr>
        </p:nvGraphicFramePr>
        <p:xfrm>
          <a:off x="195739" y="3956656"/>
          <a:ext cx="1447865" cy="65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3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2655F12-B930-0F42-B089-C8561F222FE7}"/>
              </a:ext>
            </a:extLst>
          </p:cNvPr>
          <p:cNvSpPr txBox="1"/>
          <p:nvPr/>
        </p:nvSpPr>
        <p:spPr>
          <a:xfrm>
            <a:off x="1435932" y="5427023"/>
            <a:ext cx="196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Ancestor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7532C6-6B26-4F4C-9007-AB6273B90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585125"/>
              </p:ext>
            </p:extLst>
          </p:nvPr>
        </p:nvGraphicFramePr>
        <p:xfrm>
          <a:off x="3121812" y="3956656"/>
          <a:ext cx="1173798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1966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E58E69-1133-2649-8C5F-6A065D432193}"/>
              </a:ext>
            </a:extLst>
          </p:cNvPr>
          <p:cNvSpPr txBox="1"/>
          <p:nvPr/>
        </p:nvSpPr>
        <p:spPr>
          <a:xfrm>
            <a:off x="4236336" y="5157828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A142023-65FB-A34F-94E9-C0EB554D6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103903"/>
              </p:ext>
            </p:extLst>
          </p:nvPr>
        </p:nvGraphicFramePr>
        <p:xfrm>
          <a:off x="5229486" y="3956656"/>
          <a:ext cx="117379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11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531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B0EF4D-69A3-5440-8460-1CCE0B6F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478247"/>
              </p:ext>
            </p:extLst>
          </p:nvPr>
        </p:nvGraphicFramePr>
        <p:xfrm>
          <a:off x="7231905" y="3956656"/>
          <a:ext cx="1173798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AB355DA-8644-1348-B7BA-B21EC478C6A1}"/>
              </a:ext>
            </a:extLst>
          </p:cNvPr>
          <p:cNvSpPr txBox="1"/>
          <p:nvPr/>
        </p:nvSpPr>
        <p:spPr>
          <a:xfrm>
            <a:off x="6403284" y="5157828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493C4C-3AE6-BC4E-8887-E9DFDFCA153F}"/>
              </a:ext>
            </a:extLst>
          </p:cNvPr>
          <p:cNvSpPr txBox="1"/>
          <p:nvPr/>
        </p:nvSpPr>
        <p:spPr>
          <a:xfrm>
            <a:off x="4445175" y="6124176"/>
            <a:ext cx="2580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Anc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–Ans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=∅?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No: Repeat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A9467CB-1084-3749-BF77-C1B9B99A6A24}"/>
              </a:ext>
            </a:extLst>
          </p:cNvPr>
          <p:cNvSpPr/>
          <p:nvPr/>
        </p:nvSpPr>
        <p:spPr>
          <a:xfrm>
            <a:off x="7264856" y="4611976"/>
            <a:ext cx="1106121" cy="214884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B05117-742B-6948-8A53-3147AACEA346}"/>
              </a:ext>
            </a:extLst>
          </p:cNvPr>
          <p:cNvGrpSpPr/>
          <p:nvPr/>
        </p:nvGrpSpPr>
        <p:grpSpPr>
          <a:xfrm>
            <a:off x="7620000" y="853206"/>
            <a:ext cx="1215728" cy="2732221"/>
            <a:chOff x="7275086" y="884926"/>
            <a:chExt cx="1215728" cy="273222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80FD706-F92B-A240-809C-4F0EF1635343}"/>
                </a:ext>
              </a:extLst>
            </p:cNvPr>
            <p:cNvSpPr/>
            <p:nvPr/>
          </p:nvSpPr>
          <p:spPr>
            <a:xfrm>
              <a:off x="727508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EE7C62-6411-9B40-BA47-06E8A0C2EEF3}"/>
                </a:ext>
              </a:extLst>
            </p:cNvPr>
            <p:cNvSpPr/>
            <p:nvPr/>
          </p:nvSpPr>
          <p:spPr>
            <a:xfrm>
              <a:off x="810676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92FFEC-427B-8649-8B92-23B7C1D2C505}"/>
                </a:ext>
              </a:extLst>
            </p:cNvPr>
            <p:cNvSpPr/>
            <p:nvPr/>
          </p:nvSpPr>
          <p:spPr>
            <a:xfrm>
              <a:off x="810676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55C39CE-F708-0446-ADC0-64D13D2D0517}"/>
                </a:ext>
              </a:extLst>
            </p:cNvPr>
            <p:cNvSpPr/>
            <p:nvPr/>
          </p:nvSpPr>
          <p:spPr>
            <a:xfrm>
              <a:off x="727508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2AF35B-FA3B-0640-9815-194E0B816BF2}"/>
                </a:ext>
              </a:extLst>
            </p:cNvPr>
            <p:cNvSpPr/>
            <p:nvPr/>
          </p:nvSpPr>
          <p:spPr>
            <a:xfrm>
              <a:off x="7275086" y="170635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FEBFAEF-7F2C-0842-8652-BEE493EF8D41}"/>
                </a:ext>
              </a:extLst>
            </p:cNvPr>
            <p:cNvSpPr/>
            <p:nvPr/>
          </p:nvSpPr>
          <p:spPr>
            <a:xfrm>
              <a:off x="7275086" y="91363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82EF0F-C13D-DB4C-B1C7-3619BCC37469}"/>
                </a:ext>
              </a:extLst>
            </p:cNvPr>
            <p:cNvCxnSpPr>
              <a:stCxn id="25" idx="4"/>
              <a:endCxn id="24" idx="0"/>
            </p:cNvCxnSpPr>
            <p:nvPr/>
          </p:nvCxnSpPr>
          <p:spPr>
            <a:xfrm>
              <a:off x="7467110" y="1296476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83CA351-525F-A24B-8B28-33A3519BEFDD}"/>
                </a:ext>
              </a:extLst>
            </p:cNvPr>
            <p:cNvCxnSpPr>
              <a:cxnSpLocks/>
              <a:stCxn id="24" idx="4"/>
              <a:endCxn id="23" idx="0"/>
            </p:cNvCxnSpPr>
            <p:nvPr/>
          </p:nvCxnSpPr>
          <p:spPr>
            <a:xfrm>
              <a:off x="7467110" y="2089202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4ABC143-28A1-FF49-803C-36E322B618B3}"/>
                </a:ext>
              </a:extLst>
            </p:cNvPr>
            <p:cNvCxnSpPr>
              <a:cxnSpLocks/>
              <a:stCxn id="23" idx="4"/>
              <a:endCxn id="20" idx="0"/>
            </p:cNvCxnSpPr>
            <p:nvPr/>
          </p:nvCxnSpPr>
          <p:spPr>
            <a:xfrm>
              <a:off x="746711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F996F18-8007-5641-9384-52F7F40D6947}"/>
                </a:ext>
              </a:extLst>
            </p:cNvPr>
            <p:cNvCxnSpPr>
              <a:cxnSpLocks/>
              <a:stCxn id="21" idx="0"/>
              <a:endCxn id="22" idx="4"/>
            </p:cNvCxnSpPr>
            <p:nvPr/>
          </p:nvCxnSpPr>
          <p:spPr>
            <a:xfrm flipV="1">
              <a:off x="829879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9006B43-2706-8044-9F75-5801C85BE6DD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7659134" y="3416819"/>
              <a:ext cx="44763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7">
              <a:extLst>
                <a:ext uri="{FF2B5EF4-FFF2-40B4-BE49-F238E27FC236}">
                  <a16:creationId xmlns:a16="http://schemas.microsoft.com/office/drawing/2014/main" id="{0DC06526-9AFD-7D46-893D-06180697F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3217037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33" name="Text Box 8">
              <a:extLst>
                <a:ext uri="{FF2B5EF4-FFF2-40B4-BE49-F238E27FC236}">
                  <a16:creationId xmlns:a16="http://schemas.microsoft.com/office/drawing/2014/main" id="{469CDC25-0F2D-434D-8D14-2D194367D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730" y="243267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6</a:t>
              </a: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2585CD19-7AF1-6642-9B09-205CF5AB8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6884" y="240306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3</a:t>
              </a:r>
            </a:p>
          </p:txBody>
        </p:sp>
        <p:sp>
          <p:nvSpPr>
            <p:cNvPr id="36" name="Text Box 11">
              <a:extLst>
                <a:ext uri="{FF2B5EF4-FFF2-40B4-BE49-F238E27FC236}">
                  <a16:creationId xmlns:a16="http://schemas.microsoft.com/office/drawing/2014/main" id="{33A97795-67DC-8342-88E2-2C78FD4BE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9736" y="88492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</a:t>
              </a: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20A291FD-5C4C-B445-A199-BF3F3BDE0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970" y="168618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38" name="Text Box 6">
              <a:extLst>
                <a:ext uri="{FF2B5EF4-FFF2-40B4-BE49-F238E27FC236}">
                  <a16:creationId xmlns:a16="http://schemas.microsoft.com/office/drawing/2014/main" id="{7B94FE9B-3554-DA48-B28F-6D73C47D1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2558" y="3196978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6625B34-DEF1-1448-8606-0914D29FD102}"/>
                </a:ext>
              </a:extLst>
            </p:cNvPr>
            <p:cNvSpPr/>
            <p:nvPr/>
          </p:nvSpPr>
          <p:spPr>
            <a:xfrm>
              <a:off x="8106766" y="171650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2346413E-0B56-BF44-AA3B-A054B9F31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7510" y="1724814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7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AC7C3F9-2C17-1B4A-97B8-6163BF1C65BF}"/>
                </a:ext>
              </a:extLst>
            </p:cNvPr>
            <p:cNvSpPr/>
            <p:nvPr/>
          </p:nvSpPr>
          <p:spPr>
            <a:xfrm>
              <a:off x="8106766" y="916615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D02870A0-3690-0643-B470-776736543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90781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8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F3C7E38-9FD3-A945-A72E-15E709DB4224}"/>
                </a:ext>
              </a:extLst>
            </p:cNvPr>
            <p:cNvCxnSpPr>
              <a:cxnSpLocks/>
              <a:stCxn id="22" idx="0"/>
              <a:endCxn id="40" idx="4"/>
            </p:cNvCxnSpPr>
            <p:nvPr/>
          </p:nvCxnSpPr>
          <p:spPr>
            <a:xfrm flipV="1">
              <a:off x="8298790" y="2099347"/>
              <a:ext cx="0" cy="327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B5E60C0-F4B1-734F-94A3-80CD1DCF95BC}"/>
                </a:ext>
              </a:extLst>
            </p:cNvPr>
            <p:cNvCxnSpPr>
              <a:cxnSpLocks/>
              <a:stCxn id="40" idx="0"/>
              <a:endCxn id="42" idx="4"/>
            </p:cNvCxnSpPr>
            <p:nvPr/>
          </p:nvCxnSpPr>
          <p:spPr>
            <a:xfrm flipV="1">
              <a:off x="8298790" y="1299461"/>
              <a:ext cx="0" cy="4170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4E02F2AB-4E04-5348-9F20-A95D8CEB9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98522"/>
              </p:ext>
            </p:extLst>
          </p:nvPr>
        </p:nvGraphicFramePr>
        <p:xfrm>
          <a:off x="6129805" y="853206"/>
          <a:ext cx="110553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70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02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6" grpId="0"/>
      <p:bldP spid="17" grpId="0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4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Non-linear Recursive Computation of Ancestors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3722318" y="6317066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24</a:t>
            </a:fld>
            <a:endParaRPr lang="en-US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851B85A-7007-2B4E-8F1E-A82273C6C4DC}"/>
              </a:ext>
            </a:extLst>
          </p:cNvPr>
          <p:cNvSpPr txBox="1">
            <a:spLocks/>
          </p:cNvSpPr>
          <p:nvPr/>
        </p:nvSpPr>
        <p:spPr>
          <a:xfrm>
            <a:off x="3722318" y="631706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AD4509-1FB2-2540-A246-CEF93BA68631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7532C6-6B26-4F4C-9007-AB6273B90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769281"/>
              </p:ext>
            </p:extLst>
          </p:nvPr>
        </p:nvGraphicFramePr>
        <p:xfrm>
          <a:off x="215774" y="3917372"/>
          <a:ext cx="1173798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1966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E58E69-1133-2649-8C5F-6A065D432193}"/>
              </a:ext>
            </a:extLst>
          </p:cNvPr>
          <p:cNvSpPr txBox="1"/>
          <p:nvPr/>
        </p:nvSpPr>
        <p:spPr>
          <a:xfrm>
            <a:off x="1380402" y="5118544"/>
            <a:ext cx="623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B0EF4D-69A3-5440-8460-1CCE0B6F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632250"/>
              </p:ext>
            </p:extLst>
          </p:nvPr>
        </p:nvGraphicFramePr>
        <p:xfrm>
          <a:off x="4401023" y="3917372"/>
          <a:ext cx="223012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</a:tblGrid>
              <a:tr h="3016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AB355DA-8644-1348-B7BA-B21EC478C6A1}"/>
              </a:ext>
            </a:extLst>
          </p:cNvPr>
          <p:cNvSpPr txBox="1"/>
          <p:nvPr/>
        </p:nvSpPr>
        <p:spPr>
          <a:xfrm>
            <a:off x="3259330" y="5121596"/>
            <a:ext cx="993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A9467CB-1084-3749-BF77-C1B9B99A6A24}"/>
              </a:ext>
            </a:extLst>
          </p:cNvPr>
          <p:cNvSpPr/>
          <p:nvPr/>
        </p:nvSpPr>
        <p:spPr>
          <a:xfrm>
            <a:off x="5516083" y="4534043"/>
            <a:ext cx="1106121" cy="1882689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B05117-742B-6948-8A53-3147AACEA346}"/>
              </a:ext>
            </a:extLst>
          </p:cNvPr>
          <p:cNvGrpSpPr/>
          <p:nvPr/>
        </p:nvGrpSpPr>
        <p:grpSpPr>
          <a:xfrm>
            <a:off x="7620000" y="853206"/>
            <a:ext cx="1215728" cy="2732221"/>
            <a:chOff x="7275086" y="884926"/>
            <a:chExt cx="1215728" cy="273222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80FD706-F92B-A240-809C-4F0EF1635343}"/>
                </a:ext>
              </a:extLst>
            </p:cNvPr>
            <p:cNvSpPr/>
            <p:nvPr/>
          </p:nvSpPr>
          <p:spPr>
            <a:xfrm>
              <a:off x="727508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EE7C62-6411-9B40-BA47-06E8A0C2EEF3}"/>
                </a:ext>
              </a:extLst>
            </p:cNvPr>
            <p:cNvSpPr/>
            <p:nvPr/>
          </p:nvSpPr>
          <p:spPr>
            <a:xfrm>
              <a:off x="810676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92FFEC-427B-8649-8B92-23B7C1D2C505}"/>
                </a:ext>
              </a:extLst>
            </p:cNvPr>
            <p:cNvSpPr/>
            <p:nvPr/>
          </p:nvSpPr>
          <p:spPr>
            <a:xfrm>
              <a:off x="810676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55C39CE-F708-0446-ADC0-64D13D2D0517}"/>
                </a:ext>
              </a:extLst>
            </p:cNvPr>
            <p:cNvSpPr/>
            <p:nvPr/>
          </p:nvSpPr>
          <p:spPr>
            <a:xfrm>
              <a:off x="727508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2AF35B-FA3B-0640-9815-194E0B816BF2}"/>
                </a:ext>
              </a:extLst>
            </p:cNvPr>
            <p:cNvSpPr/>
            <p:nvPr/>
          </p:nvSpPr>
          <p:spPr>
            <a:xfrm>
              <a:off x="7275086" y="170635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FEBFAEF-7F2C-0842-8652-BEE493EF8D41}"/>
                </a:ext>
              </a:extLst>
            </p:cNvPr>
            <p:cNvSpPr/>
            <p:nvPr/>
          </p:nvSpPr>
          <p:spPr>
            <a:xfrm>
              <a:off x="7275086" y="91363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82EF0F-C13D-DB4C-B1C7-3619BCC37469}"/>
                </a:ext>
              </a:extLst>
            </p:cNvPr>
            <p:cNvCxnSpPr>
              <a:stCxn id="25" idx="4"/>
              <a:endCxn id="24" idx="0"/>
            </p:cNvCxnSpPr>
            <p:nvPr/>
          </p:nvCxnSpPr>
          <p:spPr>
            <a:xfrm>
              <a:off x="7467110" y="1296476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83CA351-525F-A24B-8B28-33A3519BEFDD}"/>
                </a:ext>
              </a:extLst>
            </p:cNvPr>
            <p:cNvCxnSpPr>
              <a:cxnSpLocks/>
              <a:stCxn id="24" idx="4"/>
              <a:endCxn id="23" idx="0"/>
            </p:cNvCxnSpPr>
            <p:nvPr/>
          </p:nvCxnSpPr>
          <p:spPr>
            <a:xfrm>
              <a:off x="7467110" y="2089202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4ABC143-28A1-FF49-803C-36E322B618B3}"/>
                </a:ext>
              </a:extLst>
            </p:cNvPr>
            <p:cNvCxnSpPr>
              <a:cxnSpLocks/>
              <a:stCxn id="23" idx="4"/>
              <a:endCxn id="20" idx="0"/>
            </p:cNvCxnSpPr>
            <p:nvPr/>
          </p:nvCxnSpPr>
          <p:spPr>
            <a:xfrm>
              <a:off x="746711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F996F18-8007-5641-9384-52F7F40D6947}"/>
                </a:ext>
              </a:extLst>
            </p:cNvPr>
            <p:cNvCxnSpPr>
              <a:cxnSpLocks/>
              <a:stCxn id="21" idx="0"/>
              <a:endCxn id="22" idx="4"/>
            </p:cNvCxnSpPr>
            <p:nvPr/>
          </p:nvCxnSpPr>
          <p:spPr>
            <a:xfrm flipV="1">
              <a:off x="829879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9006B43-2706-8044-9F75-5801C85BE6DD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7659134" y="3416819"/>
              <a:ext cx="44763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7">
              <a:extLst>
                <a:ext uri="{FF2B5EF4-FFF2-40B4-BE49-F238E27FC236}">
                  <a16:creationId xmlns:a16="http://schemas.microsoft.com/office/drawing/2014/main" id="{0DC06526-9AFD-7D46-893D-06180697F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3217037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33" name="Text Box 8">
              <a:extLst>
                <a:ext uri="{FF2B5EF4-FFF2-40B4-BE49-F238E27FC236}">
                  <a16:creationId xmlns:a16="http://schemas.microsoft.com/office/drawing/2014/main" id="{469CDC25-0F2D-434D-8D14-2D194367D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730" y="243267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6</a:t>
              </a: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2585CD19-7AF1-6642-9B09-205CF5AB8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6884" y="240306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3</a:t>
              </a:r>
            </a:p>
          </p:txBody>
        </p:sp>
        <p:sp>
          <p:nvSpPr>
            <p:cNvPr id="36" name="Text Box 11">
              <a:extLst>
                <a:ext uri="{FF2B5EF4-FFF2-40B4-BE49-F238E27FC236}">
                  <a16:creationId xmlns:a16="http://schemas.microsoft.com/office/drawing/2014/main" id="{33A97795-67DC-8342-88E2-2C78FD4BE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9736" y="88492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</a:t>
              </a: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20A291FD-5C4C-B445-A199-BF3F3BDE0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970" y="168618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38" name="Text Box 6">
              <a:extLst>
                <a:ext uri="{FF2B5EF4-FFF2-40B4-BE49-F238E27FC236}">
                  <a16:creationId xmlns:a16="http://schemas.microsoft.com/office/drawing/2014/main" id="{7B94FE9B-3554-DA48-B28F-6D73C47D1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2558" y="3196978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6625B34-DEF1-1448-8606-0914D29FD102}"/>
                </a:ext>
              </a:extLst>
            </p:cNvPr>
            <p:cNvSpPr/>
            <p:nvPr/>
          </p:nvSpPr>
          <p:spPr>
            <a:xfrm>
              <a:off x="8106766" y="171650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2346413E-0B56-BF44-AA3B-A054B9F31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7510" y="1724814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7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AC7C3F9-2C17-1B4A-97B8-6163BF1C65BF}"/>
                </a:ext>
              </a:extLst>
            </p:cNvPr>
            <p:cNvSpPr/>
            <p:nvPr/>
          </p:nvSpPr>
          <p:spPr>
            <a:xfrm>
              <a:off x="8106766" y="916615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D02870A0-3690-0643-B470-776736543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90781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8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F3C7E38-9FD3-A945-A72E-15E709DB4224}"/>
                </a:ext>
              </a:extLst>
            </p:cNvPr>
            <p:cNvCxnSpPr>
              <a:cxnSpLocks/>
              <a:stCxn id="22" idx="0"/>
              <a:endCxn id="40" idx="4"/>
            </p:cNvCxnSpPr>
            <p:nvPr/>
          </p:nvCxnSpPr>
          <p:spPr>
            <a:xfrm flipV="1">
              <a:off x="8298790" y="2099347"/>
              <a:ext cx="0" cy="327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B5E60C0-F4B1-734F-94A3-80CD1DCF95BC}"/>
                </a:ext>
              </a:extLst>
            </p:cNvPr>
            <p:cNvCxnSpPr>
              <a:cxnSpLocks/>
              <a:stCxn id="40" idx="0"/>
              <a:endCxn id="42" idx="4"/>
            </p:cNvCxnSpPr>
            <p:nvPr/>
          </p:nvCxnSpPr>
          <p:spPr>
            <a:xfrm flipV="1">
              <a:off x="8298790" y="1299461"/>
              <a:ext cx="0" cy="4170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4E02F2AB-4E04-5348-9F20-A95D8CEB99F0}"/>
              </a:ext>
            </a:extLst>
          </p:cNvPr>
          <p:cNvGraphicFramePr>
            <a:graphicFrameLocks noGrp="1"/>
          </p:cNvGraphicFramePr>
          <p:nvPr/>
        </p:nvGraphicFramePr>
        <p:xfrm>
          <a:off x="6129805" y="853206"/>
          <a:ext cx="110553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70149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584B6854-0851-6743-9F08-089CC9791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382452"/>
              </p:ext>
            </p:extLst>
          </p:nvPr>
        </p:nvGraphicFramePr>
        <p:xfrm>
          <a:off x="195739" y="884895"/>
          <a:ext cx="1173798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A3B978FF-77D3-5243-B4DC-5296ABC05DBD}"/>
              </a:ext>
            </a:extLst>
          </p:cNvPr>
          <p:cNvSpPr txBox="1"/>
          <p:nvPr/>
        </p:nvSpPr>
        <p:spPr>
          <a:xfrm>
            <a:off x="2056054" y="1108584"/>
            <a:ext cx="1775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1-degree ancestors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E6D199B-05E5-EA4A-ABB1-D86ABF8FE4B1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408153" y="1431750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F6A7048F-6ADD-0244-B322-9B277E7E0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849257"/>
              </p:ext>
            </p:extLst>
          </p:nvPr>
        </p:nvGraphicFramePr>
        <p:xfrm>
          <a:off x="1936990" y="3917372"/>
          <a:ext cx="1173798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Slide Number Placeholder 1">
            <a:extLst>
              <a:ext uri="{FF2B5EF4-FFF2-40B4-BE49-F238E27FC236}">
                <a16:creationId xmlns:a16="http://schemas.microsoft.com/office/drawing/2014/main" id="{711F72D0-C4E8-8843-AFE9-3668DDEE79B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AD4509-1FB2-2540-A246-CEF93BA6863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4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Non-linear Recursive Computation of Ancestors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7532C6-6B26-4F4C-9007-AB6273B90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3048"/>
              </p:ext>
            </p:extLst>
          </p:nvPr>
        </p:nvGraphicFramePr>
        <p:xfrm>
          <a:off x="215774" y="3917372"/>
          <a:ext cx="1173798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1966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E58E69-1133-2649-8C5F-6A065D432193}"/>
              </a:ext>
            </a:extLst>
          </p:cNvPr>
          <p:cNvSpPr txBox="1"/>
          <p:nvPr/>
        </p:nvSpPr>
        <p:spPr>
          <a:xfrm>
            <a:off x="1341765" y="5118544"/>
            <a:ext cx="623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B0EF4D-69A3-5440-8460-1CCE0B6F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945481"/>
              </p:ext>
            </p:extLst>
          </p:nvPr>
        </p:nvGraphicFramePr>
        <p:xfrm>
          <a:off x="1888705" y="3917372"/>
          <a:ext cx="334518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2709393576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72728319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2523121752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4066749824"/>
                    </a:ext>
                  </a:extLst>
                </a:gridCol>
              </a:tblGrid>
              <a:tr h="301669"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AB355DA-8644-1348-B7BA-B21EC478C6A1}"/>
              </a:ext>
            </a:extLst>
          </p:cNvPr>
          <p:cNvSpPr txBox="1"/>
          <p:nvPr/>
        </p:nvSpPr>
        <p:spPr>
          <a:xfrm>
            <a:off x="5181969" y="5063405"/>
            <a:ext cx="4965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B05117-742B-6948-8A53-3147AACEA346}"/>
              </a:ext>
            </a:extLst>
          </p:cNvPr>
          <p:cNvGrpSpPr/>
          <p:nvPr/>
        </p:nvGrpSpPr>
        <p:grpSpPr>
          <a:xfrm>
            <a:off x="7620000" y="853206"/>
            <a:ext cx="1215728" cy="2732221"/>
            <a:chOff x="7275086" y="884926"/>
            <a:chExt cx="1215728" cy="273222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80FD706-F92B-A240-809C-4F0EF1635343}"/>
                </a:ext>
              </a:extLst>
            </p:cNvPr>
            <p:cNvSpPr/>
            <p:nvPr/>
          </p:nvSpPr>
          <p:spPr>
            <a:xfrm>
              <a:off x="727508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EE7C62-6411-9B40-BA47-06E8A0C2EEF3}"/>
                </a:ext>
              </a:extLst>
            </p:cNvPr>
            <p:cNvSpPr/>
            <p:nvPr/>
          </p:nvSpPr>
          <p:spPr>
            <a:xfrm>
              <a:off x="810676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92FFEC-427B-8649-8B92-23B7C1D2C505}"/>
                </a:ext>
              </a:extLst>
            </p:cNvPr>
            <p:cNvSpPr/>
            <p:nvPr/>
          </p:nvSpPr>
          <p:spPr>
            <a:xfrm>
              <a:off x="810676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55C39CE-F708-0446-ADC0-64D13D2D0517}"/>
                </a:ext>
              </a:extLst>
            </p:cNvPr>
            <p:cNvSpPr/>
            <p:nvPr/>
          </p:nvSpPr>
          <p:spPr>
            <a:xfrm>
              <a:off x="727508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2AF35B-FA3B-0640-9815-194E0B816BF2}"/>
                </a:ext>
              </a:extLst>
            </p:cNvPr>
            <p:cNvSpPr/>
            <p:nvPr/>
          </p:nvSpPr>
          <p:spPr>
            <a:xfrm>
              <a:off x="7275086" y="170635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FEBFAEF-7F2C-0842-8652-BEE493EF8D41}"/>
                </a:ext>
              </a:extLst>
            </p:cNvPr>
            <p:cNvSpPr/>
            <p:nvPr/>
          </p:nvSpPr>
          <p:spPr>
            <a:xfrm>
              <a:off x="7275086" y="91363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82EF0F-C13D-DB4C-B1C7-3619BCC37469}"/>
                </a:ext>
              </a:extLst>
            </p:cNvPr>
            <p:cNvCxnSpPr>
              <a:stCxn id="25" idx="4"/>
              <a:endCxn id="24" idx="0"/>
            </p:cNvCxnSpPr>
            <p:nvPr/>
          </p:nvCxnSpPr>
          <p:spPr>
            <a:xfrm>
              <a:off x="7467110" y="1296476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83CA351-525F-A24B-8B28-33A3519BEFDD}"/>
                </a:ext>
              </a:extLst>
            </p:cNvPr>
            <p:cNvCxnSpPr>
              <a:cxnSpLocks/>
              <a:stCxn id="24" idx="4"/>
              <a:endCxn id="23" idx="0"/>
            </p:cNvCxnSpPr>
            <p:nvPr/>
          </p:nvCxnSpPr>
          <p:spPr>
            <a:xfrm>
              <a:off x="7467110" y="2089202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4ABC143-28A1-FF49-803C-36E322B618B3}"/>
                </a:ext>
              </a:extLst>
            </p:cNvPr>
            <p:cNvCxnSpPr>
              <a:cxnSpLocks/>
              <a:stCxn id="23" idx="4"/>
              <a:endCxn id="20" idx="0"/>
            </p:cNvCxnSpPr>
            <p:nvPr/>
          </p:nvCxnSpPr>
          <p:spPr>
            <a:xfrm>
              <a:off x="746711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F996F18-8007-5641-9384-52F7F40D6947}"/>
                </a:ext>
              </a:extLst>
            </p:cNvPr>
            <p:cNvCxnSpPr>
              <a:cxnSpLocks/>
              <a:stCxn id="21" idx="0"/>
              <a:endCxn id="22" idx="4"/>
            </p:cNvCxnSpPr>
            <p:nvPr/>
          </p:nvCxnSpPr>
          <p:spPr>
            <a:xfrm flipV="1">
              <a:off x="829879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9006B43-2706-8044-9F75-5801C85BE6DD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7659134" y="3416819"/>
              <a:ext cx="44763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7">
              <a:extLst>
                <a:ext uri="{FF2B5EF4-FFF2-40B4-BE49-F238E27FC236}">
                  <a16:creationId xmlns:a16="http://schemas.microsoft.com/office/drawing/2014/main" id="{0DC06526-9AFD-7D46-893D-06180697F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3217037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33" name="Text Box 8">
              <a:extLst>
                <a:ext uri="{FF2B5EF4-FFF2-40B4-BE49-F238E27FC236}">
                  <a16:creationId xmlns:a16="http://schemas.microsoft.com/office/drawing/2014/main" id="{469CDC25-0F2D-434D-8D14-2D194367D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730" y="243267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6</a:t>
              </a: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2585CD19-7AF1-6642-9B09-205CF5AB8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6884" y="240306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3</a:t>
              </a:r>
            </a:p>
          </p:txBody>
        </p:sp>
        <p:sp>
          <p:nvSpPr>
            <p:cNvPr id="36" name="Text Box 11">
              <a:extLst>
                <a:ext uri="{FF2B5EF4-FFF2-40B4-BE49-F238E27FC236}">
                  <a16:creationId xmlns:a16="http://schemas.microsoft.com/office/drawing/2014/main" id="{33A97795-67DC-8342-88E2-2C78FD4BE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9736" y="88492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</a:t>
              </a: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20A291FD-5C4C-B445-A199-BF3F3BDE0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970" y="168618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38" name="Text Box 6">
              <a:extLst>
                <a:ext uri="{FF2B5EF4-FFF2-40B4-BE49-F238E27FC236}">
                  <a16:creationId xmlns:a16="http://schemas.microsoft.com/office/drawing/2014/main" id="{7B94FE9B-3554-DA48-B28F-6D73C47D1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2558" y="3196978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6625B34-DEF1-1448-8606-0914D29FD102}"/>
                </a:ext>
              </a:extLst>
            </p:cNvPr>
            <p:cNvSpPr/>
            <p:nvPr/>
          </p:nvSpPr>
          <p:spPr>
            <a:xfrm>
              <a:off x="8106766" y="171650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2346413E-0B56-BF44-AA3B-A054B9F31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7510" y="1724814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7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AC7C3F9-2C17-1B4A-97B8-6163BF1C65BF}"/>
                </a:ext>
              </a:extLst>
            </p:cNvPr>
            <p:cNvSpPr/>
            <p:nvPr/>
          </p:nvSpPr>
          <p:spPr>
            <a:xfrm>
              <a:off x="8106766" y="916615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D02870A0-3690-0643-B470-776736543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90781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8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F3C7E38-9FD3-A945-A72E-15E709DB4224}"/>
                </a:ext>
              </a:extLst>
            </p:cNvPr>
            <p:cNvCxnSpPr>
              <a:cxnSpLocks/>
              <a:stCxn id="22" idx="0"/>
              <a:endCxn id="40" idx="4"/>
            </p:cNvCxnSpPr>
            <p:nvPr/>
          </p:nvCxnSpPr>
          <p:spPr>
            <a:xfrm flipV="1">
              <a:off x="8298790" y="2099347"/>
              <a:ext cx="0" cy="327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B5E60C0-F4B1-734F-94A3-80CD1DCF95BC}"/>
                </a:ext>
              </a:extLst>
            </p:cNvPr>
            <p:cNvCxnSpPr>
              <a:cxnSpLocks/>
              <a:stCxn id="40" idx="0"/>
              <a:endCxn id="42" idx="4"/>
            </p:cNvCxnSpPr>
            <p:nvPr/>
          </p:nvCxnSpPr>
          <p:spPr>
            <a:xfrm flipV="1">
              <a:off x="8298790" y="1299461"/>
              <a:ext cx="0" cy="4170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4E02F2AB-4E04-5348-9F20-A95D8CEB99F0}"/>
              </a:ext>
            </a:extLst>
          </p:cNvPr>
          <p:cNvGraphicFramePr>
            <a:graphicFrameLocks noGrp="1"/>
          </p:cNvGraphicFramePr>
          <p:nvPr/>
        </p:nvGraphicFramePr>
        <p:xfrm>
          <a:off x="6129805" y="853206"/>
          <a:ext cx="110553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70149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A3B978FF-77D3-5243-B4DC-5296ABC05DBD}"/>
              </a:ext>
            </a:extLst>
          </p:cNvPr>
          <p:cNvSpPr txBox="1"/>
          <p:nvPr/>
        </p:nvSpPr>
        <p:spPr>
          <a:xfrm>
            <a:off x="2888663" y="1403381"/>
            <a:ext cx="2345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1 and 2-degree ancestors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E6D199B-05E5-EA4A-ABB1-D86ABF8FE4B1}"/>
              </a:ext>
            </a:extLst>
          </p:cNvPr>
          <p:cNvCxnSpPr>
            <a:cxnSpLocks/>
          </p:cNvCxnSpPr>
          <p:nvPr/>
        </p:nvCxnSpPr>
        <p:spPr>
          <a:xfrm>
            <a:off x="2296666" y="1684781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AA736E19-E2D3-384E-826D-3FED642EA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114755"/>
              </p:ext>
            </p:extLst>
          </p:nvPr>
        </p:nvGraphicFramePr>
        <p:xfrm>
          <a:off x="66546" y="875136"/>
          <a:ext cx="223012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</a:tblGrid>
              <a:tr h="3016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1C8C1352-F702-B249-A262-72BD866F8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74684"/>
              </p:ext>
            </p:extLst>
          </p:nvPr>
        </p:nvGraphicFramePr>
        <p:xfrm>
          <a:off x="5678921" y="3917372"/>
          <a:ext cx="2644136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17">
                  <a:extLst>
                    <a:ext uri="{9D8B030D-6E8A-4147-A177-3AD203B41FA5}">
                      <a16:colId xmlns:a16="http://schemas.microsoft.com/office/drawing/2014/main" val="3748210300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50896978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709393576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727283191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23121752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4066749824"/>
                    </a:ext>
                  </a:extLst>
                </a:gridCol>
              </a:tblGrid>
              <a:tr h="301669"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C7D7EEF-D1CD-FD44-B005-E7DA62A6E742}"/>
              </a:ext>
            </a:extLst>
          </p:cNvPr>
          <p:cNvSpPr/>
          <p:nvPr/>
        </p:nvSpPr>
        <p:spPr>
          <a:xfrm>
            <a:off x="6324108" y="6406799"/>
            <a:ext cx="677942" cy="314733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DB6D9CFF-8E7D-684B-B1E4-7CB200C371D4}"/>
              </a:ext>
            </a:extLst>
          </p:cNvPr>
          <p:cNvSpPr/>
          <p:nvPr/>
        </p:nvSpPr>
        <p:spPr>
          <a:xfrm>
            <a:off x="6994995" y="4558553"/>
            <a:ext cx="677942" cy="2162979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05BFB068-0FF2-1D4A-993B-EF39AA8915FE}"/>
              </a:ext>
            </a:extLst>
          </p:cNvPr>
          <p:cNvSpPr/>
          <p:nvPr/>
        </p:nvSpPr>
        <p:spPr>
          <a:xfrm>
            <a:off x="7647237" y="4557832"/>
            <a:ext cx="677942" cy="325008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Slide Number Placeholder 1">
            <a:extLst>
              <a:ext uri="{FF2B5EF4-FFF2-40B4-BE49-F238E27FC236}">
                <a16:creationId xmlns:a16="http://schemas.microsoft.com/office/drawing/2014/main" id="{46418D92-2C2E-C541-9F52-0B51D7809C2C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AD4509-1FB2-2540-A246-CEF93BA6863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0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50" grpId="0" animBg="1"/>
      <p:bldP spid="52" grpId="0" animBg="1"/>
      <p:bldP spid="5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4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Non-linear Recursive Computation of Ancestors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7532C6-6B26-4F4C-9007-AB6273B90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819213"/>
              </p:ext>
            </p:extLst>
          </p:nvPr>
        </p:nvGraphicFramePr>
        <p:xfrm>
          <a:off x="215774" y="3917372"/>
          <a:ext cx="1173798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1966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E58E69-1133-2649-8C5F-6A065D432193}"/>
              </a:ext>
            </a:extLst>
          </p:cNvPr>
          <p:cNvSpPr txBox="1"/>
          <p:nvPr/>
        </p:nvSpPr>
        <p:spPr>
          <a:xfrm>
            <a:off x="1341765" y="5118544"/>
            <a:ext cx="623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B355DA-8644-1348-B7BA-B21EC478C6A1}"/>
              </a:ext>
            </a:extLst>
          </p:cNvPr>
          <p:cNvSpPr txBox="1"/>
          <p:nvPr/>
        </p:nvSpPr>
        <p:spPr>
          <a:xfrm>
            <a:off x="3984841" y="5086044"/>
            <a:ext cx="4965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B05117-742B-6948-8A53-3147AACEA346}"/>
              </a:ext>
            </a:extLst>
          </p:cNvPr>
          <p:cNvGrpSpPr/>
          <p:nvPr/>
        </p:nvGrpSpPr>
        <p:grpSpPr>
          <a:xfrm>
            <a:off x="7620000" y="853206"/>
            <a:ext cx="1215728" cy="2732221"/>
            <a:chOff x="7275086" y="884926"/>
            <a:chExt cx="1215728" cy="273222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80FD706-F92B-A240-809C-4F0EF1635343}"/>
                </a:ext>
              </a:extLst>
            </p:cNvPr>
            <p:cNvSpPr/>
            <p:nvPr/>
          </p:nvSpPr>
          <p:spPr>
            <a:xfrm>
              <a:off x="727508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EE7C62-6411-9B40-BA47-06E8A0C2EEF3}"/>
                </a:ext>
              </a:extLst>
            </p:cNvPr>
            <p:cNvSpPr/>
            <p:nvPr/>
          </p:nvSpPr>
          <p:spPr>
            <a:xfrm>
              <a:off x="810676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92FFEC-427B-8649-8B92-23B7C1D2C505}"/>
                </a:ext>
              </a:extLst>
            </p:cNvPr>
            <p:cNvSpPr/>
            <p:nvPr/>
          </p:nvSpPr>
          <p:spPr>
            <a:xfrm>
              <a:off x="810676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55C39CE-F708-0446-ADC0-64D13D2D0517}"/>
                </a:ext>
              </a:extLst>
            </p:cNvPr>
            <p:cNvSpPr/>
            <p:nvPr/>
          </p:nvSpPr>
          <p:spPr>
            <a:xfrm>
              <a:off x="727508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2AF35B-FA3B-0640-9815-194E0B816BF2}"/>
                </a:ext>
              </a:extLst>
            </p:cNvPr>
            <p:cNvSpPr/>
            <p:nvPr/>
          </p:nvSpPr>
          <p:spPr>
            <a:xfrm>
              <a:off x="7275086" y="170635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FEBFAEF-7F2C-0842-8652-BEE493EF8D41}"/>
                </a:ext>
              </a:extLst>
            </p:cNvPr>
            <p:cNvSpPr/>
            <p:nvPr/>
          </p:nvSpPr>
          <p:spPr>
            <a:xfrm>
              <a:off x="7275086" y="91363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82EF0F-C13D-DB4C-B1C7-3619BCC37469}"/>
                </a:ext>
              </a:extLst>
            </p:cNvPr>
            <p:cNvCxnSpPr>
              <a:stCxn id="25" idx="4"/>
              <a:endCxn id="24" idx="0"/>
            </p:cNvCxnSpPr>
            <p:nvPr/>
          </p:nvCxnSpPr>
          <p:spPr>
            <a:xfrm>
              <a:off x="7467110" y="1296476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83CA351-525F-A24B-8B28-33A3519BEFDD}"/>
                </a:ext>
              </a:extLst>
            </p:cNvPr>
            <p:cNvCxnSpPr>
              <a:cxnSpLocks/>
              <a:stCxn id="24" idx="4"/>
              <a:endCxn id="23" idx="0"/>
            </p:cNvCxnSpPr>
            <p:nvPr/>
          </p:nvCxnSpPr>
          <p:spPr>
            <a:xfrm>
              <a:off x="7467110" y="2089202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4ABC143-28A1-FF49-803C-36E322B618B3}"/>
                </a:ext>
              </a:extLst>
            </p:cNvPr>
            <p:cNvCxnSpPr>
              <a:cxnSpLocks/>
              <a:stCxn id="23" idx="4"/>
              <a:endCxn id="20" idx="0"/>
            </p:cNvCxnSpPr>
            <p:nvPr/>
          </p:nvCxnSpPr>
          <p:spPr>
            <a:xfrm>
              <a:off x="746711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F996F18-8007-5641-9384-52F7F40D6947}"/>
                </a:ext>
              </a:extLst>
            </p:cNvPr>
            <p:cNvCxnSpPr>
              <a:cxnSpLocks/>
              <a:stCxn id="21" idx="0"/>
              <a:endCxn id="22" idx="4"/>
            </p:cNvCxnSpPr>
            <p:nvPr/>
          </p:nvCxnSpPr>
          <p:spPr>
            <a:xfrm flipV="1">
              <a:off x="829879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9006B43-2706-8044-9F75-5801C85BE6DD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7659134" y="3416819"/>
              <a:ext cx="44763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7">
              <a:extLst>
                <a:ext uri="{FF2B5EF4-FFF2-40B4-BE49-F238E27FC236}">
                  <a16:creationId xmlns:a16="http://schemas.microsoft.com/office/drawing/2014/main" id="{0DC06526-9AFD-7D46-893D-06180697F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3217037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33" name="Text Box 8">
              <a:extLst>
                <a:ext uri="{FF2B5EF4-FFF2-40B4-BE49-F238E27FC236}">
                  <a16:creationId xmlns:a16="http://schemas.microsoft.com/office/drawing/2014/main" id="{469CDC25-0F2D-434D-8D14-2D194367D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730" y="243267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6</a:t>
              </a: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2585CD19-7AF1-6642-9B09-205CF5AB8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6884" y="240306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3</a:t>
              </a:r>
            </a:p>
          </p:txBody>
        </p:sp>
        <p:sp>
          <p:nvSpPr>
            <p:cNvPr id="36" name="Text Box 11">
              <a:extLst>
                <a:ext uri="{FF2B5EF4-FFF2-40B4-BE49-F238E27FC236}">
                  <a16:creationId xmlns:a16="http://schemas.microsoft.com/office/drawing/2014/main" id="{33A97795-67DC-8342-88E2-2C78FD4BE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9736" y="88492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</a:t>
              </a: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20A291FD-5C4C-B445-A199-BF3F3BDE0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970" y="168618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38" name="Text Box 6">
              <a:extLst>
                <a:ext uri="{FF2B5EF4-FFF2-40B4-BE49-F238E27FC236}">
                  <a16:creationId xmlns:a16="http://schemas.microsoft.com/office/drawing/2014/main" id="{7B94FE9B-3554-DA48-B28F-6D73C47D1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2558" y="3196978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6625B34-DEF1-1448-8606-0914D29FD102}"/>
                </a:ext>
              </a:extLst>
            </p:cNvPr>
            <p:cNvSpPr/>
            <p:nvPr/>
          </p:nvSpPr>
          <p:spPr>
            <a:xfrm>
              <a:off x="8106766" y="171650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2346413E-0B56-BF44-AA3B-A054B9F31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7510" y="1724814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7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AC7C3F9-2C17-1B4A-97B8-6163BF1C65BF}"/>
                </a:ext>
              </a:extLst>
            </p:cNvPr>
            <p:cNvSpPr/>
            <p:nvPr/>
          </p:nvSpPr>
          <p:spPr>
            <a:xfrm>
              <a:off x="8106766" y="916615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D02870A0-3690-0643-B470-776736543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90781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8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F3C7E38-9FD3-A945-A72E-15E709DB4224}"/>
                </a:ext>
              </a:extLst>
            </p:cNvPr>
            <p:cNvCxnSpPr>
              <a:cxnSpLocks/>
              <a:stCxn id="22" idx="0"/>
              <a:endCxn id="40" idx="4"/>
            </p:cNvCxnSpPr>
            <p:nvPr/>
          </p:nvCxnSpPr>
          <p:spPr>
            <a:xfrm flipV="1">
              <a:off x="8298790" y="2099347"/>
              <a:ext cx="0" cy="327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B5E60C0-F4B1-734F-94A3-80CD1DCF95BC}"/>
                </a:ext>
              </a:extLst>
            </p:cNvPr>
            <p:cNvCxnSpPr>
              <a:cxnSpLocks/>
              <a:stCxn id="40" idx="0"/>
              <a:endCxn id="42" idx="4"/>
            </p:cNvCxnSpPr>
            <p:nvPr/>
          </p:nvCxnSpPr>
          <p:spPr>
            <a:xfrm flipV="1">
              <a:off x="8298790" y="1299461"/>
              <a:ext cx="0" cy="4170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4E02F2AB-4E04-5348-9F20-A95D8CEB99F0}"/>
              </a:ext>
            </a:extLst>
          </p:cNvPr>
          <p:cNvGraphicFramePr>
            <a:graphicFrameLocks noGrp="1"/>
          </p:cNvGraphicFramePr>
          <p:nvPr/>
        </p:nvGraphicFramePr>
        <p:xfrm>
          <a:off x="6129805" y="853206"/>
          <a:ext cx="110553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70149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A3B978FF-77D3-5243-B4DC-5296ABC05DBD}"/>
              </a:ext>
            </a:extLst>
          </p:cNvPr>
          <p:cNvSpPr txBox="1"/>
          <p:nvPr/>
        </p:nvSpPr>
        <p:spPr>
          <a:xfrm>
            <a:off x="3212638" y="1653101"/>
            <a:ext cx="2664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1, 2, 3, and 4-degree ancestors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E6D199B-05E5-EA4A-ABB1-D86ABF8FE4B1}"/>
              </a:ext>
            </a:extLst>
          </p:cNvPr>
          <p:cNvCxnSpPr>
            <a:cxnSpLocks/>
          </p:cNvCxnSpPr>
          <p:nvPr/>
        </p:nvCxnSpPr>
        <p:spPr>
          <a:xfrm>
            <a:off x="2729100" y="2086446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1C8C1352-F702-B249-A262-72BD866F8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943271"/>
              </p:ext>
            </p:extLst>
          </p:nvPr>
        </p:nvGraphicFramePr>
        <p:xfrm>
          <a:off x="4589159" y="3917372"/>
          <a:ext cx="2644136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17">
                  <a:extLst>
                    <a:ext uri="{9D8B030D-6E8A-4147-A177-3AD203B41FA5}">
                      <a16:colId xmlns:a16="http://schemas.microsoft.com/office/drawing/2014/main" val="3748210300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50896978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709393576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727283191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23121752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4066749824"/>
                    </a:ext>
                  </a:extLst>
                </a:gridCol>
              </a:tblGrid>
              <a:tr h="301669"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05BFB068-0FF2-1D4A-993B-EF39AA8915FE}"/>
              </a:ext>
            </a:extLst>
          </p:cNvPr>
          <p:cNvSpPr/>
          <p:nvPr/>
        </p:nvSpPr>
        <p:spPr>
          <a:xfrm>
            <a:off x="6558122" y="4858299"/>
            <a:ext cx="677942" cy="1876731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88916167-F8E0-1349-9094-6DC3C0608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903362"/>
              </p:ext>
            </p:extLst>
          </p:nvPr>
        </p:nvGraphicFramePr>
        <p:xfrm>
          <a:off x="84964" y="884895"/>
          <a:ext cx="2644136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17">
                  <a:extLst>
                    <a:ext uri="{9D8B030D-6E8A-4147-A177-3AD203B41FA5}">
                      <a16:colId xmlns:a16="http://schemas.microsoft.com/office/drawing/2014/main" val="3748210300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50896978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709393576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727283191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23121752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4066749824"/>
                    </a:ext>
                  </a:extLst>
                </a:gridCol>
              </a:tblGrid>
              <a:tr h="301669"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5A48E29A-0B3D-8249-BF52-69B53F3D1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362217"/>
              </p:ext>
            </p:extLst>
          </p:nvPr>
        </p:nvGraphicFramePr>
        <p:xfrm>
          <a:off x="1943943" y="3917372"/>
          <a:ext cx="1983102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709393576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727283191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23121752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4066749824"/>
                    </a:ext>
                  </a:extLst>
                </a:gridCol>
              </a:tblGrid>
              <a:tr h="301669"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56" name="Slide Number Placeholder 1">
            <a:extLst>
              <a:ext uri="{FF2B5EF4-FFF2-40B4-BE49-F238E27FC236}">
                <a16:creationId xmlns:a16="http://schemas.microsoft.com/office/drawing/2014/main" id="{C1C14DDE-DD0C-1A47-9FCE-0672BF64A90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AD4509-1FB2-2540-A246-CEF93BA6863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5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5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4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Non-linear Recursive Computation of Ancestors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7532C6-6B26-4F4C-9007-AB6273B90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24972"/>
              </p:ext>
            </p:extLst>
          </p:nvPr>
        </p:nvGraphicFramePr>
        <p:xfrm>
          <a:off x="215774" y="3917372"/>
          <a:ext cx="1173798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6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1966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E58E69-1133-2649-8C5F-6A065D432193}"/>
              </a:ext>
            </a:extLst>
          </p:cNvPr>
          <p:cNvSpPr txBox="1"/>
          <p:nvPr/>
        </p:nvSpPr>
        <p:spPr>
          <a:xfrm>
            <a:off x="1316007" y="5118544"/>
            <a:ext cx="623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B355DA-8644-1348-B7BA-B21EC478C6A1}"/>
              </a:ext>
            </a:extLst>
          </p:cNvPr>
          <p:cNvSpPr txBox="1"/>
          <p:nvPr/>
        </p:nvSpPr>
        <p:spPr>
          <a:xfrm>
            <a:off x="3822185" y="5038817"/>
            <a:ext cx="4965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B05117-742B-6948-8A53-3147AACEA346}"/>
              </a:ext>
            </a:extLst>
          </p:cNvPr>
          <p:cNvGrpSpPr/>
          <p:nvPr/>
        </p:nvGrpSpPr>
        <p:grpSpPr>
          <a:xfrm>
            <a:off x="7620000" y="853206"/>
            <a:ext cx="1215728" cy="2732221"/>
            <a:chOff x="7275086" y="884926"/>
            <a:chExt cx="1215728" cy="273222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80FD706-F92B-A240-809C-4F0EF1635343}"/>
                </a:ext>
              </a:extLst>
            </p:cNvPr>
            <p:cNvSpPr/>
            <p:nvPr/>
          </p:nvSpPr>
          <p:spPr>
            <a:xfrm>
              <a:off x="727508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EE7C62-6411-9B40-BA47-06E8A0C2EEF3}"/>
                </a:ext>
              </a:extLst>
            </p:cNvPr>
            <p:cNvSpPr/>
            <p:nvPr/>
          </p:nvSpPr>
          <p:spPr>
            <a:xfrm>
              <a:off x="8106766" y="322539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92FFEC-427B-8649-8B92-23B7C1D2C505}"/>
                </a:ext>
              </a:extLst>
            </p:cNvPr>
            <p:cNvSpPr/>
            <p:nvPr/>
          </p:nvSpPr>
          <p:spPr>
            <a:xfrm>
              <a:off x="810676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55C39CE-F708-0446-ADC0-64D13D2D0517}"/>
                </a:ext>
              </a:extLst>
            </p:cNvPr>
            <p:cNvSpPr/>
            <p:nvPr/>
          </p:nvSpPr>
          <p:spPr>
            <a:xfrm>
              <a:off x="7275086" y="2426848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2AF35B-FA3B-0640-9815-194E0B816BF2}"/>
                </a:ext>
              </a:extLst>
            </p:cNvPr>
            <p:cNvSpPr/>
            <p:nvPr/>
          </p:nvSpPr>
          <p:spPr>
            <a:xfrm>
              <a:off x="7275086" y="1706356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FEBFAEF-7F2C-0842-8652-BEE493EF8D41}"/>
                </a:ext>
              </a:extLst>
            </p:cNvPr>
            <p:cNvSpPr/>
            <p:nvPr/>
          </p:nvSpPr>
          <p:spPr>
            <a:xfrm>
              <a:off x="7275086" y="913630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82EF0F-C13D-DB4C-B1C7-3619BCC37469}"/>
                </a:ext>
              </a:extLst>
            </p:cNvPr>
            <p:cNvCxnSpPr>
              <a:stCxn id="25" idx="4"/>
              <a:endCxn id="24" idx="0"/>
            </p:cNvCxnSpPr>
            <p:nvPr/>
          </p:nvCxnSpPr>
          <p:spPr>
            <a:xfrm>
              <a:off x="7467110" y="1296476"/>
              <a:ext cx="0" cy="409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83CA351-525F-A24B-8B28-33A3519BEFDD}"/>
                </a:ext>
              </a:extLst>
            </p:cNvPr>
            <p:cNvCxnSpPr>
              <a:cxnSpLocks/>
              <a:stCxn id="24" idx="4"/>
              <a:endCxn id="23" idx="0"/>
            </p:cNvCxnSpPr>
            <p:nvPr/>
          </p:nvCxnSpPr>
          <p:spPr>
            <a:xfrm>
              <a:off x="7467110" y="2089202"/>
              <a:ext cx="0" cy="3376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4ABC143-28A1-FF49-803C-36E322B618B3}"/>
                </a:ext>
              </a:extLst>
            </p:cNvPr>
            <p:cNvCxnSpPr>
              <a:cxnSpLocks/>
              <a:stCxn id="23" idx="4"/>
              <a:endCxn id="20" idx="0"/>
            </p:cNvCxnSpPr>
            <p:nvPr/>
          </p:nvCxnSpPr>
          <p:spPr>
            <a:xfrm>
              <a:off x="746711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F996F18-8007-5641-9384-52F7F40D6947}"/>
                </a:ext>
              </a:extLst>
            </p:cNvPr>
            <p:cNvCxnSpPr>
              <a:cxnSpLocks/>
              <a:stCxn id="21" idx="0"/>
              <a:endCxn id="22" idx="4"/>
            </p:cNvCxnSpPr>
            <p:nvPr/>
          </p:nvCxnSpPr>
          <p:spPr>
            <a:xfrm flipV="1">
              <a:off x="8298790" y="2809694"/>
              <a:ext cx="0" cy="41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9006B43-2706-8044-9F75-5801C85BE6DD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7659134" y="3416819"/>
              <a:ext cx="44763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7">
              <a:extLst>
                <a:ext uri="{FF2B5EF4-FFF2-40B4-BE49-F238E27FC236}">
                  <a16:creationId xmlns:a16="http://schemas.microsoft.com/office/drawing/2014/main" id="{0DC06526-9AFD-7D46-893D-06180697F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3217037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5</a:t>
              </a:r>
            </a:p>
          </p:txBody>
        </p:sp>
        <p:sp>
          <p:nvSpPr>
            <p:cNvPr id="33" name="Text Box 8">
              <a:extLst>
                <a:ext uri="{FF2B5EF4-FFF2-40B4-BE49-F238E27FC236}">
                  <a16:creationId xmlns:a16="http://schemas.microsoft.com/office/drawing/2014/main" id="{469CDC25-0F2D-434D-8D14-2D194367D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730" y="243267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6</a:t>
              </a: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2585CD19-7AF1-6642-9B09-205CF5AB8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6884" y="240306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3</a:t>
              </a:r>
            </a:p>
          </p:txBody>
        </p:sp>
        <p:sp>
          <p:nvSpPr>
            <p:cNvPr id="36" name="Text Box 11">
              <a:extLst>
                <a:ext uri="{FF2B5EF4-FFF2-40B4-BE49-F238E27FC236}">
                  <a16:creationId xmlns:a16="http://schemas.microsoft.com/office/drawing/2014/main" id="{33A97795-67DC-8342-88E2-2C78FD4BE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9736" y="88492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1</a:t>
              </a: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20A291FD-5C4C-B445-A199-BF3F3BDE0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970" y="1686189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2</a:t>
              </a:r>
            </a:p>
          </p:txBody>
        </p:sp>
        <p:sp>
          <p:nvSpPr>
            <p:cNvPr id="38" name="Text Box 6">
              <a:extLst>
                <a:ext uri="{FF2B5EF4-FFF2-40B4-BE49-F238E27FC236}">
                  <a16:creationId xmlns:a16="http://schemas.microsoft.com/office/drawing/2014/main" id="{7B94FE9B-3554-DA48-B28F-6D73C47D1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2558" y="3196978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6625B34-DEF1-1448-8606-0914D29FD102}"/>
                </a:ext>
              </a:extLst>
            </p:cNvPr>
            <p:cNvSpPr/>
            <p:nvPr/>
          </p:nvSpPr>
          <p:spPr>
            <a:xfrm>
              <a:off x="8106766" y="1716501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2346413E-0B56-BF44-AA3B-A054B9F31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7510" y="1724814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7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AC7C3F9-2C17-1B4A-97B8-6163BF1C65BF}"/>
                </a:ext>
              </a:extLst>
            </p:cNvPr>
            <p:cNvSpPr/>
            <p:nvPr/>
          </p:nvSpPr>
          <p:spPr>
            <a:xfrm>
              <a:off x="8106766" y="916615"/>
              <a:ext cx="384048" cy="382846"/>
            </a:xfrm>
            <a:prstGeom prst="ellipse">
              <a:avLst/>
            </a:prstGeom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D02870A0-3690-0643-B470-776736543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1534" y="907816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latin typeface="+mn-lt"/>
                </a:rPr>
                <a:t>8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F3C7E38-9FD3-A945-A72E-15E709DB4224}"/>
                </a:ext>
              </a:extLst>
            </p:cNvPr>
            <p:cNvCxnSpPr>
              <a:cxnSpLocks/>
              <a:stCxn id="22" idx="0"/>
              <a:endCxn id="40" idx="4"/>
            </p:cNvCxnSpPr>
            <p:nvPr/>
          </p:nvCxnSpPr>
          <p:spPr>
            <a:xfrm flipV="1">
              <a:off x="8298790" y="2099347"/>
              <a:ext cx="0" cy="327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B5E60C0-F4B1-734F-94A3-80CD1DCF95BC}"/>
                </a:ext>
              </a:extLst>
            </p:cNvPr>
            <p:cNvCxnSpPr>
              <a:cxnSpLocks/>
              <a:stCxn id="40" idx="0"/>
              <a:endCxn id="42" idx="4"/>
            </p:cNvCxnSpPr>
            <p:nvPr/>
          </p:nvCxnSpPr>
          <p:spPr>
            <a:xfrm flipV="1">
              <a:off x="8298790" y="1299461"/>
              <a:ext cx="0" cy="4170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4E02F2AB-4E04-5348-9F20-A95D8CEB99F0}"/>
              </a:ext>
            </a:extLst>
          </p:cNvPr>
          <p:cNvGraphicFramePr>
            <a:graphicFrameLocks noGrp="1"/>
          </p:cNvGraphicFramePr>
          <p:nvPr/>
        </p:nvGraphicFramePr>
        <p:xfrm>
          <a:off x="6129805" y="853206"/>
          <a:ext cx="110553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</a:t>
                      </a:r>
                      <a:endParaRPr lang="en-US" sz="1400" b="0" i="0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2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70149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A3B978FF-77D3-5243-B4DC-5296ABC05DBD}"/>
              </a:ext>
            </a:extLst>
          </p:cNvPr>
          <p:cNvSpPr txBox="1"/>
          <p:nvPr/>
        </p:nvSpPr>
        <p:spPr>
          <a:xfrm>
            <a:off x="3212638" y="1653101"/>
            <a:ext cx="2664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1, …  8-degree ancestors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E6D199B-05E5-EA4A-ABB1-D86ABF8FE4B1}"/>
              </a:ext>
            </a:extLst>
          </p:cNvPr>
          <p:cNvCxnSpPr>
            <a:cxnSpLocks/>
          </p:cNvCxnSpPr>
          <p:nvPr/>
        </p:nvCxnSpPr>
        <p:spPr>
          <a:xfrm>
            <a:off x="2741502" y="2107498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1C8C1352-F702-B249-A262-72BD866F8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775654"/>
              </p:ext>
            </p:extLst>
          </p:nvPr>
        </p:nvGraphicFramePr>
        <p:xfrm>
          <a:off x="1890570" y="3917315"/>
          <a:ext cx="1983102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709393576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727283191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23121752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4066749824"/>
                    </a:ext>
                  </a:extLst>
                </a:gridCol>
              </a:tblGrid>
              <a:tr h="301669"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56" name="Slide Number Placeholder 1">
            <a:extLst>
              <a:ext uri="{FF2B5EF4-FFF2-40B4-BE49-F238E27FC236}">
                <a16:creationId xmlns:a16="http://schemas.microsoft.com/office/drawing/2014/main" id="{C1C14DDE-DD0C-1A47-9FCE-0672BF64A90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AD4509-1FB2-2540-A246-CEF93BA68631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BB45D8A-3BA8-0842-AAB2-2E837E437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311422"/>
              </p:ext>
            </p:extLst>
          </p:nvPr>
        </p:nvGraphicFramePr>
        <p:xfrm>
          <a:off x="97366" y="880324"/>
          <a:ext cx="2644136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17">
                  <a:extLst>
                    <a:ext uri="{9D8B030D-6E8A-4147-A177-3AD203B41FA5}">
                      <a16:colId xmlns:a16="http://schemas.microsoft.com/office/drawing/2014/main" val="3748210300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50896978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709393576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727283191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23121752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4066749824"/>
                    </a:ext>
                  </a:extLst>
                </a:gridCol>
              </a:tblGrid>
              <a:tr h="301669"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0CECC3ED-BBF1-B346-9EE2-EBBBEEF52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604343"/>
              </p:ext>
            </p:extLst>
          </p:nvPr>
        </p:nvGraphicFramePr>
        <p:xfrm>
          <a:off x="4305881" y="3913736"/>
          <a:ext cx="2644136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17">
                  <a:extLst>
                    <a:ext uri="{9D8B030D-6E8A-4147-A177-3AD203B41FA5}">
                      <a16:colId xmlns:a16="http://schemas.microsoft.com/office/drawing/2014/main" val="3748210300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50896978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54636419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3522151044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709393576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727283191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2523121752"/>
                    </a:ext>
                  </a:extLst>
                </a:gridCol>
                <a:gridCol w="330517">
                  <a:extLst>
                    <a:ext uri="{9D8B030D-6E8A-4147-A177-3AD203B41FA5}">
                      <a16:colId xmlns:a16="http://schemas.microsoft.com/office/drawing/2014/main" val="4066749824"/>
                    </a:ext>
                  </a:extLst>
                </a:gridCol>
              </a:tblGrid>
              <a:tr h="301669"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1800" i="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64451"/>
                  </a:ext>
                </a:extLst>
              </a:tr>
              <a:tr h="27653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3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19315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88AE12BF-1488-0E46-A8C0-41328153DE96}"/>
              </a:ext>
            </a:extLst>
          </p:cNvPr>
          <p:cNvSpPr txBox="1"/>
          <p:nvPr/>
        </p:nvSpPr>
        <p:spPr>
          <a:xfrm>
            <a:off x="6859864" y="4431085"/>
            <a:ext cx="23678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Anc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–Ans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=∅?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Yes: Stop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Fixed Point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Linear recursion would take 8 steps</a:t>
            </a:r>
          </a:p>
        </p:txBody>
      </p:sp>
    </p:spTree>
    <p:extLst>
      <p:ext uri="{BB962C8B-B14F-4D97-AF65-F5344CB8AC3E}">
        <p14:creationId xmlns:p14="http://schemas.microsoft.com/office/powerpoint/2010/main" val="408150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5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Linear vs Non-linear Recursion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28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7CBB5-BEFA-3B45-A4B7-08571F13FA99}"/>
              </a:ext>
            </a:extLst>
          </p:cNvPr>
          <p:cNvSpPr txBox="1"/>
          <p:nvPr/>
        </p:nvSpPr>
        <p:spPr>
          <a:xfrm>
            <a:off x="16079" y="758856"/>
            <a:ext cx="9100217" cy="478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-like computations: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Linear recursion: </a:t>
            </a:r>
          </a:p>
          <a:p>
            <a:pPr marL="1257300" lvl="2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Takes *linear* # iterations in the depth of the relationships</a:t>
            </a:r>
          </a:p>
          <a:p>
            <a:pPr marL="1257300" lvl="2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each iteration might perform less work b/c joins are between smaller tables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Non-linear recursion:</a:t>
            </a:r>
          </a:p>
          <a:p>
            <a:pPr marL="1257300" lvl="2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Takes logarithmic # iterations in the same depth</a:t>
            </a:r>
          </a:p>
          <a:p>
            <a:pPr marL="1257300" lvl="2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each iteration performs more work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SQL standard requires/allows linear recursion for performance reasons</a:t>
            </a:r>
          </a:p>
        </p:txBody>
      </p:sp>
    </p:spTree>
    <p:extLst>
      <p:ext uri="{BB962C8B-B14F-4D97-AF65-F5344CB8AC3E}">
        <p14:creationId xmlns:p14="http://schemas.microsoft.com/office/powerpoint/2010/main" val="143523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Mutual Recursion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29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7CBB5-BEFA-3B45-A4B7-08571F13FA99}"/>
              </a:ext>
            </a:extLst>
          </p:cNvPr>
          <p:cNvSpPr txBox="1"/>
          <p:nvPr/>
        </p:nvSpPr>
        <p:spPr>
          <a:xfrm>
            <a:off x="16079" y="758856"/>
            <a:ext cx="9100217" cy="98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Qi in our examples so far referred to itself.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We can have the following “mutually recursive” set of 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987202-1ED7-7D4C-B98F-B79D29F5B167}"/>
              </a:ext>
            </a:extLst>
          </p:cNvPr>
          <p:cNvSpPr/>
          <p:nvPr/>
        </p:nvSpPr>
        <p:spPr>
          <a:xfrm>
            <a:off x="27704" y="1745729"/>
            <a:ext cx="4572000" cy="28731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68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WITH  RECURSIVE </a:t>
            </a:r>
          </a:p>
          <a:p>
            <a:pPr>
              <a:lnSpc>
                <a:spcPts val="3680"/>
              </a:lnSpc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RECURSIVE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>
              <a:lnSpc>
                <a:spcPts val="3680"/>
              </a:lnSpc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RECURSIVE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Q2</a:t>
            </a:r>
          </a:p>
          <a:p>
            <a:pPr>
              <a:lnSpc>
                <a:spcPts val="368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RECURSIVE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Q3</a:t>
            </a:r>
          </a:p>
          <a:p>
            <a:pPr>
              <a:lnSpc>
                <a:spcPts val="3680"/>
              </a:lnSpc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…</a:t>
            </a:r>
          </a:p>
          <a:p>
            <a:pPr>
              <a:lnSpc>
                <a:spcPts val="3680"/>
              </a:lnSpc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376D9-9A31-2A48-A935-71B20890A78D}"/>
              </a:ext>
            </a:extLst>
          </p:cNvPr>
          <p:cNvSpPr txBox="1"/>
          <p:nvPr/>
        </p:nvSpPr>
        <p:spPr>
          <a:xfrm>
            <a:off x="4334006" y="2323443"/>
            <a:ext cx="234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references  R2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E75007-D8B8-1A4B-A7F2-C4FD01C56594}"/>
              </a:ext>
            </a:extLst>
          </p:cNvPr>
          <p:cNvCxnSpPr>
            <a:cxnSpLocks/>
          </p:cNvCxnSpPr>
          <p:nvPr/>
        </p:nvCxnSpPr>
        <p:spPr>
          <a:xfrm>
            <a:off x="3713809" y="2529687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CF81507-AA6C-1E4F-9B94-65FBF00801A0}"/>
              </a:ext>
            </a:extLst>
          </p:cNvPr>
          <p:cNvSpPr txBox="1"/>
          <p:nvPr/>
        </p:nvSpPr>
        <p:spPr>
          <a:xfrm>
            <a:off x="4334006" y="2785108"/>
            <a:ext cx="234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references  R3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4F8517-B6B6-5B4B-B8F9-1EA30583FD0B}"/>
              </a:ext>
            </a:extLst>
          </p:cNvPr>
          <p:cNvCxnSpPr>
            <a:cxnSpLocks/>
          </p:cNvCxnSpPr>
          <p:nvPr/>
        </p:nvCxnSpPr>
        <p:spPr>
          <a:xfrm>
            <a:off x="3713809" y="2991352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06E9C7-99FE-784E-A56F-CC593285B4B9}"/>
              </a:ext>
            </a:extLst>
          </p:cNvPr>
          <p:cNvSpPr txBox="1"/>
          <p:nvPr/>
        </p:nvSpPr>
        <p:spPr>
          <a:xfrm>
            <a:off x="4310280" y="3246633"/>
            <a:ext cx="234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references  R1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20D794-70E6-4F41-8542-277ABE39AB2D}"/>
              </a:ext>
            </a:extLst>
          </p:cNvPr>
          <p:cNvCxnSpPr>
            <a:cxnSpLocks/>
          </p:cNvCxnSpPr>
          <p:nvPr/>
        </p:nvCxnSpPr>
        <p:spPr>
          <a:xfrm>
            <a:off x="3727661" y="3465403"/>
            <a:ext cx="6479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BDE80C2-8A22-D147-AD57-BD8DF5B6255C}"/>
              </a:ext>
            </a:extLst>
          </p:cNvPr>
          <p:cNvSpPr txBox="1"/>
          <p:nvPr/>
        </p:nvSpPr>
        <p:spPr>
          <a:xfrm>
            <a:off x="0" y="4587115"/>
            <a:ext cx="9100217" cy="98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 query alone is recursive but Q1, Q2, Q3 together is recursive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 they need to be executed “in tandem” until fixed point.</a:t>
            </a:r>
          </a:p>
        </p:txBody>
      </p:sp>
    </p:spTree>
    <p:extLst>
      <p:ext uri="{BB962C8B-B14F-4D97-AF65-F5344CB8AC3E}">
        <p14:creationId xmlns:p14="http://schemas.microsoft.com/office/powerpoint/2010/main" val="202966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Mutual Recursion Example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30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17CBB5-BEFA-3B45-A4B7-08571F13FA99}"/>
              </a:ext>
            </a:extLst>
          </p:cNvPr>
          <p:cNvSpPr txBox="1"/>
          <p:nvPr/>
        </p:nvSpPr>
        <p:spPr>
          <a:xfrm>
            <a:off x="16079" y="758856"/>
            <a:ext cx="9100217" cy="98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400" dirty="0"/>
              <a:t>Table </a:t>
            </a:r>
            <a:r>
              <a:rPr lang="en-US" sz="2400" i="1" dirty="0"/>
              <a:t>Natural</a:t>
            </a:r>
            <a:r>
              <a:rPr lang="en-US" sz="2400" dirty="0"/>
              <a:t> (</a:t>
            </a:r>
            <a:r>
              <a:rPr lang="en-US" sz="2400" i="1" dirty="0"/>
              <a:t>n</a:t>
            </a:r>
            <a:r>
              <a:rPr lang="en-US" sz="2400" dirty="0"/>
              <a:t>) contains 1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Even/Odd numbers &lt; 100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823290-57AA-E743-B459-1BFFF1519BCC}"/>
              </a:ext>
            </a:extLst>
          </p:cNvPr>
          <p:cNvSpPr/>
          <p:nvPr/>
        </p:nvSpPr>
        <p:spPr>
          <a:xfrm>
            <a:off x="1745318" y="1705278"/>
            <a:ext cx="72713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WITH RECURSIVE </a:t>
            </a:r>
          </a:p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Even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(n) AS (SELECT n FROM Natural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WHERE n = ANY(SELECT n+1 FROM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Odd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AND n &lt; 100),</a:t>
            </a:r>
          </a:p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Odd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(n) AS (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(SELECT n FROM Natural WHERE n = 1)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UNION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(SELECT n FROM Natural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WHERE n = ANY(SELECT n+1 FROM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Even)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AND n &lt; 100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A398C7-1EA4-344F-872A-F93EF3D0DB4C}"/>
                  </a:ext>
                </a:extLst>
              </p:cNvPr>
              <p:cNvSpPr/>
              <p:nvPr/>
            </p:nvSpPr>
            <p:spPr>
              <a:xfrm>
                <a:off x="16702" y="4013602"/>
                <a:ext cx="4242147" cy="2462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Even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200" i="0" dirty="0">
                        <a:latin typeface="Cambria Math"/>
                      </a:rPr>
                      <m:t>∅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	Odd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200" i="0" dirty="0">
                        <a:latin typeface="Cambria Math"/>
                      </a:rPr>
                      <m:t>∅</m:t>
                    </m:r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Even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200" i="0" dirty="0">
                        <a:latin typeface="Cambria Math"/>
                      </a:rPr>
                      <m:t>∅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	Odd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{1}</a:t>
                </a:r>
              </a:p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Even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{2}, 	Odd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{1}</a:t>
                </a:r>
              </a:p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Even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{2}, 	Odd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{1, 3}</a:t>
                </a:r>
              </a:p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Even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{2, 4}, Odd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{1, 3}</a:t>
                </a:r>
              </a:p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Even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{2, 4}, Odd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{1, 3, 5}</a:t>
                </a:r>
              </a:p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A398C7-1EA4-344F-872A-F93EF3D0D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2" y="4013602"/>
                <a:ext cx="4242147" cy="2462213"/>
              </a:xfrm>
              <a:prstGeom prst="rect">
                <a:avLst/>
              </a:prstGeom>
              <a:blipFill>
                <a:blip r:embed="rId3"/>
                <a:stretch>
                  <a:fillRect l="-1791" t="-1538" b="-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57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Example Non-Monotone Recursive Query 2:</a:t>
            </a:r>
          </a:p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Set Difference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55622" y="117229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8A783-93C7-9B4D-83E4-A1945A391348}"/>
              </a:ext>
            </a:extLst>
          </p:cNvPr>
          <p:cNvSpPr/>
          <p:nvPr/>
        </p:nvSpPr>
        <p:spPr>
          <a:xfrm>
            <a:off x="16079" y="1183257"/>
            <a:ext cx="62114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WITH RECURSIVE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PGroup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AS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(SELECT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FROM User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NOT IN (SELECT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FROM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SGroup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)),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RECURSIVE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SGroup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AS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(SELECT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FROM User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	 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NOT IN (SELECT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FROM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PGroup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05635-DAE8-B144-AB0E-A4A8D430C825}"/>
              </a:ext>
            </a:extLst>
          </p:cNvPr>
          <p:cNvSpPr txBox="1"/>
          <p:nvPr/>
        </p:nvSpPr>
        <p:spPr>
          <a:xfrm>
            <a:off x="-55622" y="6242162"/>
            <a:ext cx="9100217" cy="512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 is non-monotone b/c recall set diff. is nonmonotone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w.r.t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arg.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865E265-3272-8045-A88C-191A9C26F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793514"/>
              </p:ext>
            </p:extLst>
          </p:nvPr>
        </p:nvGraphicFramePr>
        <p:xfrm>
          <a:off x="383520" y="3011333"/>
          <a:ext cx="2186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80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uid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A76304C-1677-FD47-B08A-3AEF4098E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361905"/>
              </p:ext>
            </p:extLst>
          </p:nvPr>
        </p:nvGraphicFramePr>
        <p:xfrm>
          <a:off x="1675784" y="4971951"/>
          <a:ext cx="5511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80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uid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59C39D1-8727-D840-9241-549476A3C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928154"/>
              </p:ext>
            </p:extLst>
          </p:nvPr>
        </p:nvGraphicFramePr>
        <p:xfrm>
          <a:off x="2985750" y="4971200"/>
          <a:ext cx="5511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80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uid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CE7DCF8-A271-EE4F-A22B-4C1054C0D2CA}"/>
              </a:ext>
            </a:extLst>
          </p:cNvPr>
          <p:cNvSpPr/>
          <p:nvPr/>
        </p:nvSpPr>
        <p:spPr>
          <a:xfrm>
            <a:off x="1431692" y="4608868"/>
            <a:ext cx="10679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PGroup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289DE-24BF-A845-82C4-96B94DA12345}"/>
              </a:ext>
            </a:extLst>
          </p:cNvPr>
          <p:cNvSpPr/>
          <p:nvPr/>
        </p:nvSpPr>
        <p:spPr>
          <a:xfrm>
            <a:off x="2775081" y="4595164"/>
            <a:ext cx="10679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SGroup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D2CAD28-4F65-A34B-854F-E83F3BC6C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330678"/>
              </p:ext>
            </p:extLst>
          </p:nvPr>
        </p:nvGraphicFramePr>
        <p:xfrm>
          <a:off x="5430944" y="4971951"/>
          <a:ext cx="6273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80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uid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1F0F743-A705-2741-A1EA-A30BC373D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41880"/>
              </p:ext>
            </p:extLst>
          </p:nvPr>
        </p:nvGraphicFramePr>
        <p:xfrm>
          <a:off x="6740910" y="4971200"/>
          <a:ext cx="6273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80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uid</a:t>
                      </a:r>
                      <a:endParaRPr lang="en-US" sz="18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5160B6FE-F45E-954D-B1C9-E016B4F66429}"/>
              </a:ext>
            </a:extLst>
          </p:cNvPr>
          <p:cNvSpPr/>
          <p:nvPr/>
        </p:nvSpPr>
        <p:spPr>
          <a:xfrm>
            <a:off x="5205873" y="4599430"/>
            <a:ext cx="10679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PGroup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52BF87-67FC-F64B-8537-9F3C8AD709EB}"/>
              </a:ext>
            </a:extLst>
          </p:cNvPr>
          <p:cNvSpPr/>
          <p:nvPr/>
        </p:nvSpPr>
        <p:spPr>
          <a:xfrm>
            <a:off x="6519706" y="4608868"/>
            <a:ext cx="10679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SGroup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Line 12">
            <a:extLst>
              <a:ext uri="{FF2B5EF4-FFF2-40B4-BE49-F238E27FC236}">
                <a16:creationId xmlns:a16="http://schemas.microsoft.com/office/drawing/2014/main" id="{F8BB2EA8-6B4D-714F-A128-23D0B2D03BAA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451863" y="4589991"/>
            <a:ext cx="0" cy="155249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89CA399E-1BBC-F54D-A820-6311971F49DF}"/>
              </a:ext>
            </a:extLst>
          </p:cNvPr>
          <p:cNvSpPr>
            <a:spLocks/>
          </p:cNvSpPr>
          <p:nvPr/>
        </p:nvSpPr>
        <p:spPr bwMode="auto">
          <a:xfrm>
            <a:off x="1063046" y="5366235"/>
            <a:ext cx="6908300" cy="814462"/>
          </a:xfrm>
          <a:custGeom>
            <a:avLst/>
            <a:gdLst>
              <a:gd name="T0" fmla="*/ 2147483647 w 3888"/>
              <a:gd name="T1" fmla="*/ 0 h 672"/>
              <a:gd name="T2" fmla="*/ 2147483647 w 3888"/>
              <a:gd name="T3" fmla="*/ 0 h 672"/>
              <a:gd name="T4" fmla="*/ 2147483647 w 3888"/>
              <a:gd name="T5" fmla="*/ 2147483647 h 672"/>
              <a:gd name="T6" fmla="*/ 0 w 3888"/>
              <a:gd name="T7" fmla="*/ 2147483647 h 672"/>
              <a:gd name="T8" fmla="*/ 0 w 3888"/>
              <a:gd name="T9" fmla="*/ 2147483647 h 672"/>
              <a:gd name="T10" fmla="*/ 0 w 3888"/>
              <a:gd name="T11" fmla="*/ 0 h 672"/>
              <a:gd name="T12" fmla="*/ 2147483647 w 3888"/>
              <a:gd name="T13" fmla="*/ 0 h 6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888"/>
              <a:gd name="T22" fmla="*/ 0 h 672"/>
              <a:gd name="T23" fmla="*/ 3888 w 3888"/>
              <a:gd name="T24" fmla="*/ 672 h 6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888" h="672">
                <a:moveTo>
                  <a:pt x="3552" y="0"/>
                </a:moveTo>
                <a:lnTo>
                  <a:pt x="3888" y="0"/>
                </a:lnTo>
                <a:lnTo>
                  <a:pt x="3888" y="672"/>
                </a:lnTo>
                <a:lnTo>
                  <a:pt x="0" y="672"/>
                </a:lnTo>
                <a:lnTo>
                  <a:pt x="0" y="48"/>
                </a:ln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5B3120-EE3E-E44E-8752-13DB49E536DD}"/>
              </a:ext>
            </a:extLst>
          </p:cNvPr>
          <p:cNvSpPr txBox="1"/>
          <p:nvPr/>
        </p:nvSpPr>
        <p:spPr>
          <a:xfrm>
            <a:off x="3431390" y="3226510"/>
            <a:ext cx="5712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MINUS can replace with AND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NOT IN. In general negated sub-queries or MINUS in recursive parts are not allowed.</a:t>
            </a:r>
          </a:p>
        </p:txBody>
      </p:sp>
    </p:spTree>
    <p:extLst>
      <p:ext uri="{BB962C8B-B14F-4D97-AF65-F5344CB8AC3E}">
        <p14:creationId xmlns:p14="http://schemas.microsoft.com/office/powerpoint/2010/main" val="113188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  <p:bldP spid="24" grpId="0"/>
      <p:bldP spid="25" grpId="0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Important Note On Monotonicity/Convergence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21892" y="80904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05635-DAE8-B144-AB0E-A4A8D430C825}"/>
              </a:ext>
            </a:extLst>
          </p:cNvPr>
          <p:cNvSpPr txBox="1"/>
          <p:nvPr/>
        </p:nvSpPr>
        <p:spPr>
          <a:xfrm>
            <a:off x="-77255" y="827940"/>
            <a:ext cx="9100217" cy="3359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practice: DBMSs will not/cannot check for monotonicity and may allow much more than SQL standard: arithmetic, aggregations.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Nor will they detect oscillations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You can write non-converging code. Systems will often run a max # iterations (e.g., 100) and error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SQL compiler will not error for these errors. This is on the user!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 careful with recursive queries: Know your query &amp; database!</a:t>
            </a:r>
          </a:p>
        </p:txBody>
      </p:sp>
    </p:spTree>
    <p:extLst>
      <p:ext uri="{BB962C8B-B14F-4D97-AF65-F5344CB8AC3E}">
        <p14:creationId xmlns:p14="http://schemas.microsoft.com/office/powerpoint/2010/main" val="417519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Example Non-convergence Based On Database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21892" y="72135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05635-DAE8-B144-AB0E-A4A8D430C825}"/>
              </a:ext>
            </a:extLst>
          </p:cNvPr>
          <p:cNvSpPr txBox="1"/>
          <p:nvPr/>
        </p:nvSpPr>
        <p:spPr>
          <a:xfrm>
            <a:off x="21891" y="783149"/>
            <a:ext cx="9100217" cy="512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Consider this All Paths query Q: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DECFE0-A5F7-E644-8FFF-E736EAB72C88}"/>
              </a:ext>
            </a:extLst>
          </p:cNvPr>
          <p:cNvSpPr/>
          <p:nvPr/>
        </p:nvSpPr>
        <p:spPr>
          <a:xfrm>
            <a:off x="28604" y="1334170"/>
            <a:ext cx="83513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WITH RECURSIVE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AllPaths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(s, d, cost)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(SELECT s, d, cost FROM Edges)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UNION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(SELECT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AllPaths.s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Edges.d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AllPaths.cost+Edges.cost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FROM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AllPaths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Edges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AllPaths.d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Edges.s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A96AF-BEDB-C14C-9A26-F0B790084166}"/>
              </a:ext>
            </a:extLst>
          </p:cNvPr>
          <p:cNvSpPr txBox="1"/>
          <p:nvPr/>
        </p:nvSpPr>
        <p:spPr>
          <a:xfrm>
            <a:off x="-33731" y="3063940"/>
            <a:ext cx="9100217" cy="1935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Edges { (1, 2, 10) } =&gt; All Paths: { (1, 2, 10) }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Keep Q the same but add one more tuple (2, 1, 5) to Edges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Now there are infinitely many (1, 2) and (2, 1) paths:</a:t>
            </a:r>
          </a:p>
          <a:p>
            <a:pPr lvl="1"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(1, 2, 10), (1, 2, 25), (1, 2, 40) etc..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C02A2FE-2A0A-EE4A-8FEC-F0DE150CD36B}"/>
              </a:ext>
            </a:extLst>
          </p:cNvPr>
          <p:cNvSpPr/>
          <p:nvPr/>
        </p:nvSpPr>
        <p:spPr>
          <a:xfrm>
            <a:off x="902618" y="5589100"/>
            <a:ext cx="638828" cy="62630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1B2125-AF24-3146-BAC5-3655755EE469}"/>
              </a:ext>
            </a:extLst>
          </p:cNvPr>
          <p:cNvSpPr/>
          <p:nvPr/>
        </p:nvSpPr>
        <p:spPr>
          <a:xfrm>
            <a:off x="3109286" y="5626530"/>
            <a:ext cx="638828" cy="62630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5ED36954-40F6-BB42-A78E-416428F76B65}"/>
              </a:ext>
            </a:extLst>
          </p:cNvPr>
          <p:cNvCxnSpPr>
            <a:stCxn id="3" idx="0"/>
            <a:endCxn id="10" idx="0"/>
          </p:cNvCxnSpPr>
          <p:nvPr/>
        </p:nvCxnSpPr>
        <p:spPr>
          <a:xfrm rot="16200000" flipH="1">
            <a:off x="2306651" y="4504481"/>
            <a:ext cx="37430" cy="2206668"/>
          </a:xfrm>
          <a:prstGeom prst="curvedConnector3">
            <a:avLst>
              <a:gd name="adj1" fmla="val -610740"/>
            </a:avLst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F37DAF-64FA-CE4A-888F-AD6BA2A3DA25}"/>
              </a:ext>
            </a:extLst>
          </p:cNvPr>
          <p:cNvSpPr txBox="1"/>
          <p:nvPr/>
        </p:nvSpPr>
        <p:spPr>
          <a:xfrm>
            <a:off x="2024741" y="4999791"/>
            <a:ext cx="60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C9DEDBCD-1E3B-0741-998D-F9B7E2C28FA6}"/>
              </a:ext>
            </a:extLst>
          </p:cNvPr>
          <p:cNvCxnSpPr>
            <a:cxnSpLocks/>
            <a:stCxn id="10" idx="4"/>
            <a:endCxn id="3" idx="4"/>
          </p:cNvCxnSpPr>
          <p:nvPr/>
        </p:nvCxnSpPr>
        <p:spPr>
          <a:xfrm rot="5400000" flipH="1">
            <a:off x="2306651" y="5130782"/>
            <a:ext cx="37430" cy="2206668"/>
          </a:xfrm>
          <a:prstGeom prst="curvedConnector3">
            <a:avLst>
              <a:gd name="adj1" fmla="val -610740"/>
            </a:avLst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05F6E6-0047-2F47-B835-0CC21D7575E6}"/>
              </a:ext>
            </a:extLst>
          </p:cNvPr>
          <p:cNvSpPr txBox="1"/>
          <p:nvPr/>
        </p:nvSpPr>
        <p:spPr>
          <a:xfrm>
            <a:off x="2019522" y="6509584"/>
            <a:ext cx="60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D3EB38-C864-7548-88C3-CD41953CB86D}"/>
              </a:ext>
            </a:extLst>
          </p:cNvPr>
          <p:cNvSpPr/>
          <p:nvPr/>
        </p:nvSpPr>
        <p:spPr>
          <a:xfrm>
            <a:off x="3954049" y="5328868"/>
            <a:ext cx="4572000" cy="52046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Systems will allow this query!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0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9" grpId="0"/>
      <p:bldP spid="20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Summary of SQL Recursion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21892" y="72135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83078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05635-DAE8-B144-AB0E-A4A8D430C825}"/>
              </a:ext>
            </a:extLst>
          </p:cNvPr>
          <p:cNvSpPr txBox="1"/>
          <p:nvPr/>
        </p:nvSpPr>
        <p:spPr>
          <a:xfrm>
            <a:off x="21891" y="784208"/>
            <a:ext cx="9100217" cy="98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Recursion did not exist from 1986-1999 in SQL Standard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General Syntax: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A96AF-BEDB-C14C-9A26-F0B790084166}"/>
              </a:ext>
            </a:extLst>
          </p:cNvPr>
          <p:cNvSpPr txBox="1"/>
          <p:nvPr/>
        </p:nvSpPr>
        <p:spPr>
          <a:xfrm>
            <a:off x="21891" y="3643476"/>
            <a:ext cx="9100217" cy="2884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Basic functionality: linear recursion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Extended functionality: non-linear and mutual recursion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Unsafe recursive queries: non-monotone (may not converge) queries or query is monotone but output relation’s size is infinite (e.g., due to use of arithmetic)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Personal opinion: Recursive computations are not elegant in SQL.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B1A6A9-C86B-B946-8BA8-26E6E587400E}"/>
              </a:ext>
            </a:extLst>
          </p:cNvPr>
          <p:cNvSpPr/>
          <p:nvPr/>
        </p:nvSpPr>
        <p:spPr>
          <a:xfrm>
            <a:off x="2601453" y="1237946"/>
            <a:ext cx="4572000" cy="24055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68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WITH  RECURSIVE </a:t>
            </a:r>
          </a:p>
          <a:p>
            <a:pPr>
              <a:lnSpc>
                <a:spcPts val="368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R1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Q1</a:t>
            </a:r>
          </a:p>
          <a:p>
            <a:pPr>
              <a:lnSpc>
                <a:spcPts val="368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R2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Q2</a:t>
            </a:r>
          </a:p>
          <a:p>
            <a:pPr>
              <a:lnSpc>
                <a:spcPts val="368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…</a:t>
            </a:r>
          </a:p>
          <a:p>
            <a:pPr>
              <a:lnSpc>
                <a:spcPts val="3680"/>
              </a:lnSpc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Qn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52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Logic-based DB Query Language with Recursion As a First Class Citizen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8846" y="1296592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83078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A96AF-BEDB-C14C-9A26-F0B790084166}"/>
              </a:ext>
            </a:extLst>
          </p:cNvPr>
          <p:cNvSpPr txBox="1"/>
          <p:nvPr/>
        </p:nvSpPr>
        <p:spPr>
          <a:xfrm>
            <a:off x="0" y="1296592"/>
            <a:ext cx="9100217" cy="2884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QL based on logical rules of the form: 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 := Body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DB consists of a set of “base relations” (called “extensional”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Likes(person,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foodItem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Sells(restaurant,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foodItem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cost)</a:t>
            </a:r>
          </a:p>
          <a:p>
            <a:pPr lvl="1"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Frequents(person, restaurant)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 Rule: Happy(p) := Likes(p, f), Frequents(p, r), Sells(r, f, c)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E96C991-4583-D346-8D74-2692CE485C08}"/>
              </a:ext>
            </a:extLst>
          </p:cNvPr>
          <p:cNvSpPr/>
          <p:nvPr/>
        </p:nvSpPr>
        <p:spPr>
          <a:xfrm>
            <a:off x="1495348" y="3777247"/>
            <a:ext cx="1247851" cy="366596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4FD286-6675-E945-9CB7-EA66E378D92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119274" y="4143843"/>
            <a:ext cx="0" cy="4601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6538A0A-C816-284A-9004-2BF26C3EDFB5}"/>
              </a:ext>
            </a:extLst>
          </p:cNvPr>
          <p:cNvSpPr txBox="1"/>
          <p:nvPr/>
        </p:nvSpPr>
        <p:spPr>
          <a:xfrm>
            <a:off x="1590806" y="4679117"/>
            <a:ext cx="9519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E34F6B9-1076-C54E-A229-52CD2D15D611}"/>
              </a:ext>
            </a:extLst>
          </p:cNvPr>
          <p:cNvSpPr/>
          <p:nvPr/>
        </p:nvSpPr>
        <p:spPr>
          <a:xfrm>
            <a:off x="3013372" y="3777247"/>
            <a:ext cx="5065915" cy="366596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338B94-38DB-2741-A6F6-084C8326E72C}"/>
              </a:ext>
            </a:extLst>
          </p:cNvPr>
          <p:cNvCxnSpPr>
            <a:cxnSpLocks/>
          </p:cNvCxnSpPr>
          <p:nvPr/>
        </p:nvCxnSpPr>
        <p:spPr>
          <a:xfrm>
            <a:off x="5566019" y="4196035"/>
            <a:ext cx="0" cy="4601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8535BF-EEA9-6C4F-B14B-F2D1E5C1DBDE}"/>
              </a:ext>
            </a:extLst>
          </p:cNvPr>
          <p:cNvSpPr txBox="1"/>
          <p:nvPr/>
        </p:nvSpPr>
        <p:spPr>
          <a:xfrm>
            <a:off x="3013373" y="4679117"/>
            <a:ext cx="58174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Body: conjunction/AND of “subgoals”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7CBB8D-01BD-704A-8982-48467F457A8E}"/>
              </a:ext>
            </a:extLst>
          </p:cNvPr>
          <p:cNvSpPr txBox="1"/>
          <p:nvPr/>
        </p:nvSpPr>
        <p:spPr>
          <a:xfrm>
            <a:off x="-1" y="5153849"/>
            <a:ext cx="9100217" cy="1461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simplicity: assume head, subgoals can be relation names (called predicates) with arguments that can be variables or constants.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allows other predicates: e.g., c &lt; 20</a:t>
            </a:r>
          </a:p>
        </p:txBody>
      </p:sp>
    </p:spTree>
    <p:extLst>
      <p:ext uri="{BB962C8B-B14F-4D97-AF65-F5344CB8AC3E}">
        <p14:creationId xmlns:p14="http://schemas.microsoft.com/office/powerpoint/2010/main" val="383975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  <p:bldP spid="13" grpId="0" animBg="1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Semantics of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Rules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6079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83078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A96AF-BEDB-C14C-9A26-F0B790084166}"/>
              </a:ext>
            </a:extLst>
          </p:cNvPr>
          <p:cNvSpPr txBox="1"/>
          <p:nvPr/>
        </p:nvSpPr>
        <p:spPr>
          <a:xfrm>
            <a:off x="-33731" y="817262"/>
            <a:ext cx="9100217" cy="478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Happy(p) := Likes(p, f), Frequents(p, r), Sells(r, f, c)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Natural join on common variables: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Any p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s.t.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”∃ a food f &amp; rest r | p likes f &amp; p frequents r &amp; r sells f” is happy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RA:  𝚷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person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(Likes ⋈ Frequents ⋈ Sells)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Equality filters on constants: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Happy(p) := Likes(p, f), Frequents(p, r), Sells(r, f, 20)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Any p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s.t.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” ∃ a food f &amp; rest r | p likes f &amp; p frequents r &amp; r sells f &amp; x costs 20 CAD” is happy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Note: also declarative</a:t>
            </a:r>
          </a:p>
        </p:txBody>
      </p:sp>
    </p:spTree>
    <p:extLst>
      <p:ext uri="{BB962C8B-B14F-4D97-AF65-F5344CB8AC3E}">
        <p14:creationId xmlns:p14="http://schemas.microsoft.com/office/powerpoint/2010/main" val="244556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More “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Program” Examples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6079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83078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A96AF-BEDB-C14C-9A26-F0B790084166}"/>
              </a:ext>
            </a:extLst>
          </p:cNvPr>
          <p:cNvSpPr txBox="1"/>
          <p:nvPr/>
        </p:nvSpPr>
        <p:spPr>
          <a:xfrm>
            <a:off x="0" y="967080"/>
            <a:ext cx="9100217" cy="573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There can be multiple rules with the same head predicate</a:t>
            </a:r>
          </a:p>
          <a:p>
            <a:pPr>
              <a:lnSpc>
                <a:spcPts val="368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Happy(p) := Likes(p, f), Frequents(p, r), Sells(r, f, c)</a:t>
            </a:r>
          </a:p>
          <a:p>
            <a:pPr>
              <a:lnSpc>
                <a:spcPts val="368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Happy(p) := Likes(p, “Chocolate Cake”) </a:t>
            </a:r>
          </a:p>
          <a:p>
            <a:pPr>
              <a:lnSpc>
                <a:spcPts val="368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Happy(p) := Frequents(p, r), Frequents(“Karim”, r)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Meaning: Any p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s.t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1) ” ∃ a food f &amp; rest r | p likes f &amp; p frequents r &amp; r sells f” OR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2) “p likes Chocolate Cake” OR 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3) “∃ a restaurant r | both Karim and p frequent r” </a:t>
            </a:r>
          </a:p>
          <a:p>
            <a:pPr algn="ctr"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happy!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Advantage: Arbitrary recursive, non-recursive, mutually recursive rules can be just written down as logical “derivation” rules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Similar to context-free grammar rules in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45736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More Elegant Recursive Programs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6079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83078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A96AF-BEDB-C14C-9A26-F0B790084166}"/>
              </a:ext>
            </a:extLst>
          </p:cNvPr>
          <p:cNvSpPr txBox="1"/>
          <p:nvPr/>
        </p:nvSpPr>
        <p:spPr>
          <a:xfrm>
            <a:off x="16079" y="808077"/>
            <a:ext cx="9100217" cy="525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 1: Transitive Closure:</a:t>
            </a:r>
          </a:p>
          <a:p>
            <a:pPr>
              <a:lnSpc>
                <a:spcPts val="368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Ancestor(a, d) := Advisor(a, d)</a:t>
            </a:r>
          </a:p>
          <a:p>
            <a:pPr>
              <a:lnSpc>
                <a:spcPts val="368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Ancestor(a, d) := Ancestor(a, b), Advisor(b, d) </a:t>
            </a:r>
          </a:p>
          <a:p>
            <a:pPr>
              <a:lnSpc>
                <a:spcPts val="368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 2: Shortest Paths:</a:t>
            </a:r>
          </a:p>
          <a:p>
            <a:pPr>
              <a:lnSpc>
                <a:spcPts val="3680"/>
              </a:lnSpc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AllPaths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(a, d, cost) := Edge(a, d, cost)</a:t>
            </a:r>
          </a:p>
          <a:p>
            <a:pPr>
              <a:lnSpc>
                <a:spcPts val="3680"/>
              </a:lnSpc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AllPaths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(a, d,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totalCost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:=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AllPaths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(a, k, cost1), Edge(k, d, cost2), </a:t>
            </a:r>
          </a:p>
          <a:p>
            <a:pPr>
              <a:lnSpc>
                <a:spcPts val="368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totalCost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cost1 + cost2</a:t>
            </a:r>
          </a:p>
          <a:p>
            <a:pPr>
              <a:lnSpc>
                <a:spcPts val="3680"/>
              </a:lnSpc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ShortestPaths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(a, d, min(cost)) :=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AllPaths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(a, k, cost)</a:t>
            </a:r>
          </a:p>
          <a:p>
            <a:pPr marL="285750" indent="-28575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be done in SQL WITH RECURSIVE but don’t need to think about any recursive execution.</a:t>
            </a:r>
          </a:p>
          <a:p>
            <a:pPr marL="285750" indent="-28575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Syntax forces one to focus on logical derivation rules for relations.</a:t>
            </a:r>
          </a:p>
        </p:txBody>
      </p:sp>
    </p:spTree>
    <p:extLst>
      <p:ext uri="{BB962C8B-B14F-4D97-AF65-F5344CB8AC3E}">
        <p14:creationId xmlns:p14="http://schemas.microsoft.com/office/powerpoint/2010/main" val="36446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Very Strong and Beautiful Result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6079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83078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A96AF-BEDB-C14C-9A26-F0B790084166}"/>
              </a:ext>
            </a:extLst>
          </p:cNvPr>
          <p:cNvSpPr txBox="1"/>
          <p:nvPr/>
        </p:nvSpPr>
        <p:spPr>
          <a:xfrm>
            <a:off x="16079" y="808077"/>
            <a:ext cx="9100217" cy="5868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Given a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program that satisfy some properties (specifically some monotonicity and finiteness rules as before):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:= body 1 (possibly recursive)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:= body 2 (possibly recursive)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2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:= body 7 (possibly recursive)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lvl="1"/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2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:= body 1000 (possibly recursive)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Apply rules in arbitrary order to generate new tuples and one always converges to same unique fixed-point =&gt; i.e., the order of execution does not matter</a:t>
            </a:r>
          </a:p>
          <a:p>
            <a:pPr marL="800100" lvl="1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If you want: run R</a:t>
            </a:r>
            <a:r>
              <a:rPr lang="en-US" sz="23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:= body 1 500 times if it keeps producing new tuples; then run R</a:t>
            </a:r>
            <a:r>
              <a:rPr lang="en-US" sz="2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:= body 2, then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Rj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then R</a:t>
            </a:r>
            <a:r>
              <a:rPr lang="en-US" sz="23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again etc. </a:t>
            </a:r>
          </a:p>
          <a:p>
            <a:pPr marL="342900" indent="-34290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Extends the convergence criteria we discussed for SQL recursion</a:t>
            </a:r>
          </a:p>
        </p:txBody>
      </p:sp>
    </p:spTree>
    <p:extLst>
      <p:ext uri="{BB962C8B-B14F-4D97-AF65-F5344CB8AC3E}">
        <p14:creationId xmlns:p14="http://schemas.microsoft.com/office/powerpoint/2010/main" val="261192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00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Last Comments On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16079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83078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A96AF-BEDB-C14C-9A26-F0B790084166}"/>
              </a:ext>
            </a:extLst>
          </p:cNvPr>
          <p:cNvSpPr txBox="1"/>
          <p:nvPr/>
        </p:nvSpPr>
        <p:spPr>
          <a:xfrm>
            <a:off x="16079" y="808077"/>
            <a:ext cx="9100217" cy="414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Several DBMSs, e.g., recent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LogicBlox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LinkedIN’s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core graph DBMS, adopts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as a query language instead of SQL</a:t>
            </a:r>
          </a:p>
          <a:p>
            <a:pPr marL="285750" indent="-28575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Better fit for apps requiring recursion and logical inference rules (e.g., in knowledge management and traditional AI applications)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Sibling(x, y) :=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BioParent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(z, x),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BioParent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(z, y), x != 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Many cool applications have been developed 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(e.g., declarative distributed network programming)</a:t>
            </a:r>
          </a:p>
          <a:p>
            <a:pPr marL="742950" lvl="1" indent="-28575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Peter Alvaro’s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work from UC Santa Cruz</a:t>
            </a:r>
          </a:p>
          <a:p>
            <a:pPr marL="285750" indent="-285750">
              <a:lnSpc>
                <a:spcPts val="368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Has been the foundation for many seminal theoretical results</a:t>
            </a:r>
          </a:p>
        </p:txBody>
      </p:sp>
    </p:spTree>
    <p:extLst>
      <p:ext uri="{BB962C8B-B14F-4D97-AF65-F5344CB8AC3E}">
        <p14:creationId xmlns:p14="http://schemas.microsoft.com/office/powerpoint/2010/main" val="31738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8463"/>
            <a:ext cx="8801664" cy="118016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Programming Applications W/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79" y="972643"/>
            <a:ext cx="9118948" cy="526462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Challenge of using SQL on a real app: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 intended for general-purpose computation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Augment SQL with constructs from general-purpose programming languages</a:t>
            </a:r>
          </a:p>
          <a:p>
            <a:pPr lvl="2"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E.g.: SQL/PSM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 SQL together with general-purpose programming languages: many possibilities</a:t>
            </a:r>
          </a:p>
          <a:p>
            <a:pPr lvl="2"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Through an API, e.g., Python psycopg2</a:t>
            </a:r>
          </a:p>
          <a:p>
            <a:pPr lvl="2"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Embedded SQL, e.g., in C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SQL generating approaches: Web Programming Frameworks (e.g., Django)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2710F7-7822-BC47-B1D7-77761FF96F1B}"/>
              </a:ext>
            </a:extLst>
          </p:cNvPr>
          <p:cNvCxnSpPr/>
          <p:nvPr/>
        </p:nvCxnSpPr>
        <p:spPr>
          <a:xfrm>
            <a:off x="-8973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7809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11" y="45781"/>
            <a:ext cx="8801664" cy="7898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1) Augmenting SQL: SQL/PSM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12" y="835594"/>
            <a:ext cx="9115988" cy="581785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 ISO standard to extend SQL to an advanced prog. lang.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Control flow, exception handling, etc.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Several systems adopt SQL/PSM partially (e.g. MySQL, PostgreSQL)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PSM = 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ersistent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tored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odules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PROCEDURE 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proc_name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param_decls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local_decls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proc_body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FUNCTION 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func_name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param_decls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return_type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local_decls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func_body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proc_name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params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Inside procedure body: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CALL 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func_name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params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2CE65E-899B-944C-A4BD-4B6536CAAAF9}"/>
              </a:ext>
            </a:extLst>
          </p:cNvPr>
          <p:cNvCxnSpPr/>
          <p:nvPr/>
        </p:nvCxnSpPr>
        <p:spPr>
          <a:xfrm>
            <a:off x="-8973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3661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973" y="-133280"/>
            <a:ext cx="8801664" cy="118016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SQL/PSM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6E5A5-6C63-4EF1-8A76-3286615F8226}"/>
              </a:ext>
            </a:extLst>
          </p:cNvPr>
          <p:cNvSpPr/>
          <p:nvPr/>
        </p:nvSpPr>
        <p:spPr>
          <a:xfrm>
            <a:off x="700484" y="1270000"/>
            <a:ext cx="7671356" cy="5283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CREATE FUNCTION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SetMaxPop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(IN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newMaxPop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FLOAT)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RETURNS INT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--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Enforce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newMaxPop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; return # rows modified.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BEGIN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DECLARE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rowsUpdated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INT DEFAULT 0;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DECLARE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thisPop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FLOAT;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--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A cursor to range over all users: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DECLARE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userCursor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CURSOR FOR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SELECT pop FROM User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FOR UPDATE;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--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Set a flag upon “not found” exception: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DECLARE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noMoreRows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INT DEFAULT 0;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DECLARE CONTINUE HANDLER FOR NOT FOUND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SET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noMoreRows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=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… (see next slide)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RETURN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rowsUpdated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END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80EC260-6828-4083-98A7-BDC3638F744F}"/>
                  </a:ext>
                </a:extLst>
              </p14:cNvPr>
              <p14:cNvContentPartPr/>
              <p14:nvPr/>
            </p14:nvContentPartPr>
            <p14:xfrm>
              <a:off x="11134840" y="423644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80EC260-6828-4083-98A7-BDC3638F74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16840" y="4218800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F5B3A81-5C15-4446-945B-392EB4DDCF82}"/>
              </a:ext>
            </a:extLst>
          </p:cNvPr>
          <p:cNvSpPr/>
          <p:nvPr/>
        </p:nvSpPr>
        <p:spPr>
          <a:xfrm>
            <a:off x="700484" y="3178480"/>
            <a:ext cx="4755436" cy="118016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51FFE957-0443-4214-8608-E8DA2DA987FF}"/>
              </a:ext>
            </a:extLst>
          </p:cNvPr>
          <p:cNvSpPr/>
          <p:nvPr/>
        </p:nvSpPr>
        <p:spPr>
          <a:xfrm>
            <a:off x="6373891" y="2560320"/>
            <a:ext cx="250429" cy="2946400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DD96FE-54D5-484D-AE2C-02683F2446F1}"/>
              </a:ext>
            </a:extLst>
          </p:cNvPr>
          <p:cNvSpPr txBox="1"/>
          <p:nvPr/>
        </p:nvSpPr>
        <p:spPr>
          <a:xfrm>
            <a:off x="6841198" y="3347596"/>
            <a:ext cx="16896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Declare local variables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CC6ADB-2624-455B-8B79-A49C81BE2A40}"/>
              </a:ext>
            </a:extLst>
          </p:cNvPr>
          <p:cNvSpPr/>
          <p:nvPr/>
        </p:nvSpPr>
        <p:spPr>
          <a:xfrm>
            <a:off x="1618455" y="5588000"/>
            <a:ext cx="3007916" cy="74208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4FEB30-1DD6-5D4A-954B-E79DDB832365}"/>
              </a:ext>
            </a:extLst>
          </p:cNvPr>
          <p:cNvCxnSpPr/>
          <p:nvPr/>
        </p:nvCxnSpPr>
        <p:spPr>
          <a:xfrm>
            <a:off x="-8973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8635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D1C281-625D-44F9-9A19-96F6946B66C4}"/>
              </a:ext>
            </a:extLst>
          </p:cNvPr>
          <p:cNvSpPr/>
          <p:nvPr/>
        </p:nvSpPr>
        <p:spPr>
          <a:xfrm>
            <a:off x="655042" y="1342321"/>
            <a:ext cx="7569756" cy="5200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--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Fetch the first result row: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OPEN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userCursor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FETCH FROM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userCursor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INTO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thisPop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--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Loop over all result rows: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WHILE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noMoreRows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&lt;&gt; 1 DO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IF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thisPop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&gt;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newMaxPop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THEN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--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Enforce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newMaxPop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UPDATE User SET pop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newMaxPop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WHERE CURRENT OF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userCursor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--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Update count: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SET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rowsUpdated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rowsUpdated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+ 1;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END IF;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--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Fetch the next result row: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FETCH FROM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userCursor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INTO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thisPop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END WHILE;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CLOSE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userCursor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;</a:t>
            </a:r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F3CB9130-A032-4C63-B346-D5FEA93A0D33}"/>
              </a:ext>
            </a:extLst>
          </p:cNvPr>
          <p:cNvSpPr/>
          <p:nvPr/>
        </p:nvSpPr>
        <p:spPr>
          <a:xfrm>
            <a:off x="6441440" y="1513840"/>
            <a:ext cx="243840" cy="4673600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5FD00-70A0-4E03-A9D3-F3DE13979259}"/>
              </a:ext>
            </a:extLst>
          </p:cNvPr>
          <p:cNvSpPr txBox="1"/>
          <p:nvPr/>
        </p:nvSpPr>
        <p:spPr>
          <a:xfrm>
            <a:off x="6878320" y="2921272"/>
            <a:ext cx="1652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Function body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941C1-9F7E-4766-AEFC-AFBEDD899375}"/>
              </a:ext>
            </a:extLst>
          </p:cNvPr>
          <p:cNvSpPr/>
          <p:nvPr/>
        </p:nvSpPr>
        <p:spPr>
          <a:xfrm>
            <a:off x="766802" y="3026080"/>
            <a:ext cx="4755436" cy="129192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54670E-E585-42F0-AB14-AF890AA4523B}"/>
              </a:ext>
            </a:extLst>
          </p:cNvPr>
          <p:cNvSpPr/>
          <p:nvPr/>
        </p:nvSpPr>
        <p:spPr>
          <a:xfrm>
            <a:off x="847943" y="5178964"/>
            <a:ext cx="4755436" cy="57159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9EBB68-4DDE-4D88-8CBC-52373A29B93C}"/>
              </a:ext>
            </a:extLst>
          </p:cNvPr>
          <p:cNvSpPr/>
          <p:nvPr/>
        </p:nvSpPr>
        <p:spPr>
          <a:xfrm>
            <a:off x="721360" y="1513840"/>
            <a:ext cx="4755436" cy="92456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D9D251-930C-1643-8918-BDD40EA6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73" y="-133280"/>
            <a:ext cx="8801664" cy="118016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SQL/PSM Example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1AAA17-2108-5940-B340-7A10D3EDD43B}"/>
              </a:ext>
            </a:extLst>
          </p:cNvPr>
          <p:cNvCxnSpPr/>
          <p:nvPr/>
        </p:nvCxnSpPr>
        <p:spPr>
          <a:xfrm>
            <a:off x="-8973" y="80807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5970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2" y="871577"/>
            <a:ext cx="8982627" cy="5264622"/>
          </a:xfrm>
        </p:spPr>
        <p:txBody>
          <a:bodyPr>
            <a:noAutofit/>
          </a:bodyPr>
          <a:lstStyle/>
          <a:p>
            <a:pPr>
              <a:lnSpc>
                <a:spcPts val="288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Assignment using scalar query results</a:t>
            </a:r>
          </a:p>
          <a:p>
            <a:pPr lvl="1">
              <a:lnSpc>
                <a:spcPts val="288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INTO</a:t>
            </a:r>
          </a:p>
          <a:p>
            <a:pPr>
              <a:lnSpc>
                <a:spcPts val="288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loop constructs</a:t>
            </a:r>
          </a:p>
          <a:p>
            <a:pPr lvl="1">
              <a:lnSpc>
                <a:spcPts val="288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FOR, REPEAT UNTIL, LOOP</a:t>
            </a:r>
          </a:p>
          <a:p>
            <a:pPr>
              <a:lnSpc>
                <a:spcPts val="288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Flow control</a:t>
            </a:r>
          </a:p>
          <a:p>
            <a:pPr lvl="1">
              <a:lnSpc>
                <a:spcPts val="288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GOTO</a:t>
            </a:r>
          </a:p>
          <a:p>
            <a:pPr>
              <a:lnSpc>
                <a:spcPts val="288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Exceptions</a:t>
            </a:r>
          </a:p>
          <a:p>
            <a:pPr lvl="1">
              <a:lnSpc>
                <a:spcPts val="288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SIGNAL, RESIGNAL</a:t>
            </a:r>
          </a:p>
          <a:p>
            <a:pPr>
              <a:lnSpc>
                <a:spcPts val="288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lnSpc>
                <a:spcPts val="288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more PostgreSQL-specific information, look for “PL/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pgSQL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in PostgreSQL documentation</a:t>
            </a:r>
          </a:p>
          <a:p>
            <a:pPr lvl="1">
              <a:lnSpc>
                <a:spcPts val="2880"/>
              </a:lnSpc>
              <a:buFont typeface="Wingdings" pitchFamily="2" charset="2"/>
              <a:buChar char="Ø"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https://www.postgresql.org/docs/9.6/plpgsql.html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80"/>
              </a:lnSpc>
              <a:buFont typeface="Wingdings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FC531D-9A2D-E048-9120-54E55F1B8A4A}"/>
              </a:ext>
            </a:extLst>
          </p:cNvPr>
          <p:cNvSpPr txBox="1">
            <a:spLocks/>
          </p:cNvSpPr>
          <p:nvPr/>
        </p:nvSpPr>
        <p:spPr>
          <a:xfrm>
            <a:off x="0" y="114300"/>
            <a:ext cx="8801664" cy="678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Other SQL/PSM Features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E0EDAE-43F2-554B-B1A8-6E24D73FF4D8}"/>
              </a:ext>
            </a:extLst>
          </p:cNvPr>
          <p:cNvCxnSpPr>
            <a:cxnSpLocks/>
          </p:cNvCxnSpPr>
          <p:nvPr/>
        </p:nvCxnSpPr>
        <p:spPr>
          <a:xfrm>
            <a:off x="0" y="81575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0663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5533"/>
            <a:ext cx="9144000" cy="5264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E.g.: Python psycopg2, JDBC, ODBC (C/C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/VB)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the SQL/CLI (Call-Level Interface) standard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application program sends SQL commands to the DBMS at runtime. Gets back a “cursor” that can iterate over results.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Results are converted to objects in the application program. Often you use a cursor to loop through result tuples.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CD185A-B89D-1E44-A146-D60D871FB47A}"/>
              </a:ext>
            </a:extLst>
          </p:cNvPr>
          <p:cNvSpPr txBox="1">
            <a:spLocks/>
          </p:cNvSpPr>
          <p:nvPr/>
        </p:nvSpPr>
        <p:spPr>
          <a:xfrm>
            <a:off x="0" y="114300"/>
            <a:ext cx="8801664" cy="678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2) Working with SQL through an API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0EF11F-E92C-B44D-B6AF-44EDAD4294F2}"/>
              </a:ext>
            </a:extLst>
          </p:cNvPr>
          <p:cNvCxnSpPr>
            <a:cxnSpLocks/>
          </p:cNvCxnSpPr>
          <p:nvPr/>
        </p:nvCxnSpPr>
        <p:spPr>
          <a:xfrm>
            <a:off x="0" y="81575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88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5DB95FB-E180-41D5-9E9F-825A23B391F8}"/>
              </a:ext>
            </a:extLst>
          </p:cNvPr>
          <p:cNvSpPr/>
          <p:nvPr/>
        </p:nvSpPr>
        <p:spPr>
          <a:xfrm>
            <a:off x="342336" y="1463616"/>
            <a:ext cx="7569756" cy="46628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import psycopg2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conn = psycopg2.connect(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dbname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='beers')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conn.cursor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list all drinkers: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('SELECT * FROM Drinker')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for drinker, address in cur: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print(drinker + ' lives at ' + address)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print menu for bars whose name contains “a”: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('SELECT * FROM Serves WHERE bar LIKE %s', ('%a%',))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for bar, beer, price in cur: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print('{} serves {} at ${:,.2f}'.format(bar, beer, price))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cur.close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conn.close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4410" y="4267926"/>
            <a:ext cx="1011954" cy="2522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991"/>
            <a:ext cx="8801664" cy="65249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API: Python psycopg2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65613" y="5110817"/>
            <a:ext cx="4015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Tuple of parameter values,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one for each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%s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B28C33-C450-48E8-9934-C16C457E7CE2}"/>
              </a:ext>
            </a:extLst>
          </p:cNvPr>
          <p:cNvGrpSpPr/>
          <p:nvPr/>
        </p:nvGrpSpPr>
        <p:grpSpPr>
          <a:xfrm>
            <a:off x="342336" y="2337612"/>
            <a:ext cx="7117244" cy="1270315"/>
            <a:chOff x="342336" y="2337612"/>
            <a:chExt cx="7117244" cy="1270315"/>
          </a:xfrm>
        </p:grpSpPr>
        <p:sp>
          <p:nvSpPr>
            <p:cNvPr id="9" name="Rounded Rectangle 8"/>
            <p:cNvSpPr/>
            <p:nvPr/>
          </p:nvSpPr>
          <p:spPr>
            <a:xfrm>
              <a:off x="342336" y="3355679"/>
              <a:ext cx="3495441" cy="252248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804943" y="2337612"/>
              <a:ext cx="26546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rPr>
                <a:t>You can iterate over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Prestige12 BT" panose="02070509030506020304" pitchFamily="49" charset="0"/>
                  <a:ea typeface="+mn-ea"/>
                  <a:cs typeface="+mn-cs"/>
                </a:rPr>
                <a:t>cur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rPr>
                <a:t>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rPr>
                <a:t>one tuple at a time</a:t>
              </a:r>
            </a:p>
          </p:txBody>
        </p:sp>
        <p:cxnSp>
          <p:nvCxnSpPr>
            <p:cNvPr id="11" name="Straight Connector 10"/>
            <p:cNvCxnSpPr>
              <a:cxnSpLocks/>
            </p:cNvCxnSpPr>
            <p:nvPr/>
          </p:nvCxnSpPr>
          <p:spPr>
            <a:xfrm flipV="1">
              <a:off x="3768599" y="2717811"/>
              <a:ext cx="1167663" cy="532263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47E804-9227-4552-8492-956A2689F32B}"/>
              </a:ext>
            </a:extLst>
          </p:cNvPr>
          <p:cNvGrpSpPr/>
          <p:nvPr/>
        </p:nvGrpSpPr>
        <p:grpSpPr>
          <a:xfrm>
            <a:off x="5803981" y="3193041"/>
            <a:ext cx="1851241" cy="1343902"/>
            <a:chOff x="5803981" y="3193041"/>
            <a:chExt cx="1851241" cy="1343902"/>
          </a:xfrm>
        </p:grpSpPr>
        <p:sp>
          <p:nvSpPr>
            <p:cNvPr id="15" name="Rounded Rectangle 14"/>
            <p:cNvSpPr/>
            <p:nvPr/>
          </p:nvSpPr>
          <p:spPr>
            <a:xfrm>
              <a:off x="5876380" y="4284695"/>
              <a:ext cx="298030" cy="252248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803981" y="3193041"/>
              <a:ext cx="18512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rPr>
                <a:t>Placeholder for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rPr>
                <a:t>query parameter</a:t>
              </a:r>
            </a:p>
          </p:txBody>
        </p:sp>
        <p:cxnSp>
          <p:nvCxnSpPr>
            <p:cNvPr id="16" name="Straight Connector 15"/>
            <p:cNvCxnSpPr>
              <a:cxnSpLocks/>
            </p:cNvCxnSpPr>
            <p:nvPr/>
          </p:nvCxnSpPr>
          <p:spPr>
            <a:xfrm flipV="1">
              <a:off x="6056945" y="3839372"/>
              <a:ext cx="665590" cy="428554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>
            <a:cxnSpLocks/>
          </p:cNvCxnSpPr>
          <p:nvPr/>
        </p:nvCxnSpPr>
        <p:spPr>
          <a:xfrm flipH="1">
            <a:off x="6431280" y="4485703"/>
            <a:ext cx="277444" cy="608345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2EE4F5-962B-2E40-83FC-54DD6655C67E}"/>
              </a:ext>
            </a:extLst>
          </p:cNvPr>
          <p:cNvCxnSpPr>
            <a:cxnSpLocks/>
          </p:cNvCxnSpPr>
          <p:nvPr/>
        </p:nvCxnSpPr>
        <p:spPr>
          <a:xfrm>
            <a:off x="0" y="81575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9252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2D668-C1D9-4073-92CF-6B9366D0D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B01C6-E606-4E98-9347-4E057D6C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F9A2EB-D378-4F7E-961E-13FF4D27F89C}"/>
              </a:ext>
            </a:extLst>
          </p:cNvPr>
          <p:cNvSpPr/>
          <p:nvPr/>
        </p:nvSpPr>
        <p:spPr>
          <a:xfrm>
            <a:off x="342336" y="1456854"/>
            <a:ext cx="8459328" cy="52322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“commit” each change immediately—need to set this option just once at the start of the session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conn.set_session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autocommit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=True)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 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bar = input('Enter the bar to update: ').strip()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beer = input('Enter the beer to update: ').strip()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price = float(input('Enter the new price: '))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try: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('‘’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UPDATE Serves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SET price = %s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WHERE bar = %s AND beer = %s''', (price, bar, beer))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if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cur.rowcount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!= 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print('{} row(s) updated: correct bar/beer?'\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      .format(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cur.rowcount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except Exception as 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print(e)</a:t>
            </a: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10D1EA38-3757-4C99-9739-DD744212F0D2}"/>
              </a:ext>
            </a:extLst>
          </p:cNvPr>
          <p:cNvSpPr/>
          <p:nvPr/>
        </p:nvSpPr>
        <p:spPr>
          <a:xfrm>
            <a:off x="586176" y="3942324"/>
            <a:ext cx="6500424" cy="1269756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9B082B50-A49C-43F7-A387-FDEA153350C9}"/>
              </a:ext>
            </a:extLst>
          </p:cNvPr>
          <p:cNvSpPr/>
          <p:nvPr/>
        </p:nvSpPr>
        <p:spPr>
          <a:xfrm>
            <a:off x="5815657" y="2052320"/>
            <a:ext cx="2699693" cy="15494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7731"/>
              <a:gd name="adj6" fmla="val -32829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Perform passing, semantic analysis, optimization, compilation, and finally execution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7B42D14-6276-404C-BC2C-76F6A3D10540}"/>
              </a:ext>
            </a:extLst>
          </p:cNvPr>
          <p:cNvSpPr txBox="1">
            <a:spLocks/>
          </p:cNvSpPr>
          <p:nvPr/>
        </p:nvSpPr>
        <p:spPr>
          <a:xfrm>
            <a:off x="0" y="21991"/>
            <a:ext cx="8801664" cy="652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More psycopg2 Examples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15F400-83D3-F347-802F-7A9BC5C33813}"/>
              </a:ext>
            </a:extLst>
          </p:cNvPr>
          <p:cNvCxnSpPr>
            <a:cxnSpLocks/>
          </p:cNvCxnSpPr>
          <p:nvPr/>
        </p:nvCxnSpPr>
        <p:spPr>
          <a:xfrm>
            <a:off x="0" y="81575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5393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2D668-C1D9-4073-92CF-6B9366D0D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B01C6-E606-4E98-9347-4E057D6C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F9A2EB-D378-4F7E-961E-13FF4D27F89C}"/>
              </a:ext>
            </a:extLst>
          </p:cNvPr>
          <p:cNvSpPr/>
          <p:nvPr/>
        </p:nvSpPr>
        <p:spPr>
          <a:xfrm>
            <a:off x="342336" y="1456854"/>
            <a:ext cx="8459328" cy="52322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stige12 BT" panose="020705090305060203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stige12 BT" panose="020705090305060203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….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while true: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Input bar, beer, price…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('‘’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UPDATE Serves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SET price = %s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WHERE bar = %s AND beer = %s''', (price, bar, beer))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….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Check result...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stige12 BT" panose="02070509030506020304" pitchFamily="49" charset="0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10D1EA38-3757-4C99-9739-DD744212F0D2}"/>
              </a:ext>
            </a:extLst>
          </p:cNvPr>
          <p:cNvSpPr/>
          <p:nvPr/>
        </p:nvSpPr>
        <p:spPr>
          <a:xfrm>
            <a:off x="675239" y="3796366"/>
            <a:ext cx="6500424" cy="1269756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9B082B50-A49C-43F7-A387-FDEA153350C9}"/>
              </a:ext>
            </a:extLst>
          </p:cNvPr>
          <p:cNvSpPr/>
          <p:nvPr/>
        </p:nvSpPr>
        <p:spPr>
          <a:xfrm>
            <a:off x="5815657" y="2052320"/>
            <a:ext cx="2699693" cy="15494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7731"/>
              <a:gd name="adj6" fmla="val -32829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Perform passing, semantic analysis, optimization, compilation, and finally execution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8D55B-0755-4747-8530-4641C40EC8BC}"/>
              </a:ext>
            </a:extLst>
          </p:cNvPr>
          <p:cNvSpPr txBox="1"/>
          <p:nvPr/>
        </p:nvSpPr>
        <p:spPr>
          <a:xfrm>
            <a:off x="4229664" y="511642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Execute many times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Can we reduce this overhead?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0F6C509-07C4-9249-8247-DB83A34A95DD}"/>
              </a:ext>
            </a:extLst>
          </p:cNvPr>
          <p:cNvSpPr txBox="1">
            <a:spLocks/>
          </p:cNvSpPr>
          <p:nvPr/>
        </p:nvSpPr>
        <p:spPr>
          <a:xfrm>
            <a:off x="0" y="60091"/>
            <a:ext cx="8801664" cy="652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More psycopg2 Examples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0B9A1C-718E-3B40-9BC3-97521217AAC7}"/>
              </a:ext>
            </a:extLst>
          </p:cNvPr>
          <p:cNvCxnSpPr>
            <a:cxnSpLocks/>
          </p:cNvCxnSpPr>
          <p:nvPr/>
        </p:nvCxnSpPr>
        <p:spPr>
          <a:xfrm>
            <a:off x="0" y="81575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34325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4D0E-D3CA-437D-80BF-0DC4C7D8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1" y="100764"/>
            <a:ext cx="8801664" cy="60046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Prepared Statements: Example</a:t>
            </a:r>
            <a:endParaRPr lang="en-CA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2D668-C1D9-4073-92CF-6B9366D0D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B01C6-E606-4E98-9347-4E057D6C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F9A2EB-D378-4F7E-961E-13FF4D27F89C}"/>
              </a:ext>
            </a:extLst>
          </p:cNvPr>
          <p:cNvSpPr/>
          <p:nvPr/>
        </p:nvSpPr>
        <p:spPr>
          <a:xfrm>
            <a:off x="342336" y="1456854"/>
            <a:ext cx="8459328" cy="52322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('''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Prepare once (in SQL).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PREPARE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update_price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AS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Name the prepared plan,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UPDATE Serves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SET price = $1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and note 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$1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$2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, … notation for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WHERE bar = $2 AND beer = $3''')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parameter placeholders.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Prestige12 BT" panose="020705090305060203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while true: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Input bar, beer, price…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(‘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	EXECUTE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update_price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(%s, %s, %s)',\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Execute many times.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        (price, bar, beer))….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 Check result...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stige12 BT" panose="02070509030506020304" pitchFamily="49" charset="0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10D1EA38-3757-4C99-9739-DD744212F0D2}"/>
              </a:ext>
            </a:extLst>
          </p:cNvPr>
          <p:cNvSpPr/>
          <p:nvPr/>
        </p:nvSpPr>
        <p:spPr>
          <a:xfrm>
            <a:off x="409011" y="2130126"/>
            <a:ext cx="8283504" cy="1639234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8D55B-0755-4747-8530-4641C40EC8BC}"/>
              </a:ext>
            </a:extLst>
          </p:cNvPr>
          <p:cNvSpPr txBox="1"/>
          <p:nvPr/>
        </p:nvSpPr>
        <p:spPr>
          <a:xfrm>
            <a:off x="5659120" y="21301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Prepare only once 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B7983D48-0C18-47CC-93DC-06FCBC6625AC}"/>
              </a:ext>
            </a:extLst>
          </p:cNvPr>
          <p:cNvSpPr/>
          <p:nvPr/>
        </p:nvSpPr>
        <p:spPr>
          <a:xfrm>
            <a:off x="689328" y="4442632"/>
            <a:ext cx="7255792" cy="858179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E5FDD5-2E09-7347-8EF8-1D831D4EFB82}"/>
              </a:ext>
            </a:extLst>
          </p:cNvPr>
          <p:cNvCxnSpPr>
            <a:cxnSpLocks/>
          </p:cNvCxnSpPr>
          <p:nvPr/>
        </p:nvCxnSpPr>
        <p:spPr>
          <a:xfrm>
            <a:off x="0" y="81575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5307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991"/>
            <a:ext cx="8801664" cy="72683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Watch Out For SQL Injection Attacks!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3899949"/>
            <a:ext cx="8687364" cy="270690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school probably had something like: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n-US" sz="3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 string input by user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Called an SQL injection attack. Most APIs have ways to sanitize inputs.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86600" y="6499568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pic>
        <p:nvPicPr>
          <p:cNvPr id="5" name="Picture 2" descr="Exploits of a M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36" y="965393"/>
            <a:ext cx="8173014" cy="251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631501" y="3512516"/>
            <a:ext cx="188384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http://xkcd.com/327/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96C033-5881-489F-9738-ED5B86F31C21}"/>
              </a:ext>
            </a:extLst>
          </p:cNvPr>
          <p:cNvSpPr/>
          <p:nvPr/>
        </p:nvSpPr>
        <p:spPr>
          <a:xfrm>
            <a:off x="1310593" y="4399384"/>
            <a:ext cx="5087489" cy="814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cur.execute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("SELECT * FROM Students " + \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           "WHERE (name = '" +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Prestige12 BT" panose="02070509030506020304" pitchFamily="49" charset="0"/>
                <a:ea typeface="+mn-ea"/>
                <a:cs typeface="+mn-cs"/>
              </a:rPr>
              <a:t>+ "')")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CB2053-168F-5F43-A99B-D50593EDCC7B}"/>
              </a:ext>
            </a:extLst>
          </p:cNvPr>
          <p:cNvCxnSpPr>
            <a:cxnSpLocks/>
          </p:cNvCxnSpPr>
          <p:nvPr/>
        </p:nvCxnSpPr>
        <p:spPr>
          <a:xfrm>
            <a:off x="0" y="81575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9369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0433"/>
            <a:ext cx="8801664" cy="118016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Augmenting SQL vs. Programming Through an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728" y="1431217"/>
            <a:ext cx="8742543" cy="5264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Pros of augmenting SQL: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processing features for DBMS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application logic can be pushed closer to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 of augmenting SQL: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is already too big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Complicate optimization and make it impossible to guarantee 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177726-1544-C949-9287-030EAD7C743E}"/>
              </a:ext>
            </a:extLst>
          </p:cNvPr>
          <p:cNvCxnSpPr>
            <a:cxnSpLocks/>
          </p:cNvCxnSpPr>
          <p:nvPr/>
        </p:nvCxnSpPr>
        <p:spPr>
          <a:xfrm>
            <a:off x="0" y="126059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2369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0433"/>
            <a:ext cx="8801664" cy="56351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3) “Embedding” SQL in a host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21" y="769660"/>
            <a:ext cx="9084879" cy="5264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thought of as the opposite of SQL/PSM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Extends a host language, e.g., C or Java, with SQL-based features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compile host language together with SQL statements and catch SQL errors during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application compilation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177726-1544-C949-9287-030EAD7C743E}"/>
              </a:ext>
            </a:extLst>
          </p:cNvPr>
          <p:cNvCxnSpPr>
            <a:cxnSpLocks/>
          </p:cNvCxnSpPr>
          <p:nvPr/>
        </p:nvCxnSpPr>
        <p:spPr>
          <a:xfrm>
            <a:off x="0" y="7068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575947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750"/>
            <a:ext cx="8801664" cy="59242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4) Web Programming Frameworks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177726-1544-C949-9287-030EAD7C743E}"/>
              </a:ext>
            </a:extLst>
          </p:cNvPr>
          <p:cNvCxnSpPr>
            <a:cxnSpLocks/>
          </p:cNvCxnSpPr>
          <p:nvPr/>
        </p:nvCxnSpPr>
        <p:spPr>
          <a:xfrm>
            <a:off x="0" y="66439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A8A6C2-9703-A841-9690-4477B0B689A6}"/>
              </a:ext>
            </a:extLst>
          </p:cNvPr>
          <p:cNvSpPr txBox="1"/>
          <p:nvPr/>
        </p:nvSpPr>
        <p:spPr>
          <a:xfrm>
            <a:off x="43783" y="640178"/>
            <a:ext cx="9100217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web development “framework” e.g., Django or Ruby on Rails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Very frequent approach to web apps that need a DB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most parts, no explicitly writing SQL is needed: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Example: Django Web App Programming: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Define “Models”: python objects and only do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programming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Models will be backed up with Relations in an RDBMS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E.g.: a Person class/object with first and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78632B-BCB0-1F48-B708-5AE7A6084582}"/>
              </a:ext>
            </a:extLst>
          </p:cNvPr>
          <p:cNvSpPr/>
          <p:nvPr/>
        </p:nvSpPr>
        <p:spPr>
          <a:xfrm>
            <a:off x="4705936" y="4187302"/>
            <a:ext cx="44818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TABLE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myapp_person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( </a:t>
            </a:r>
          </a:p>
          <a:p>
            <a:r>
              <a:rPr lang="en-US" sz="1700" dirty="0">
                <a:solidFill>
                  <a:srgbClr val="19177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"id"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serial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PRIMARY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1700" dirty="0">
                <a:solidFill>
                  <a:srgbClr val="19177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 dirty="0" err="1">
                <a:solidFill>
                  <a:srgbClr val="19177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f_name</a:t>
            </a:r>
            <a:r>
              <a:rPr lang="en-US" sz="1700" dirty="0">
                <a:solidFill>
                  <a:srgbClr val="19177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varchar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700" dirty="0">
                <a:solidFill>
                  <a:srgbClr val="19177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 dirty="0" err="1">
                <a:solidFill>
                  <a:srgbClr val="19177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l_name</a:t>
            </a:r>
            <a:r>
              <a:rPr lang="en-US" sz="1700" dirty="0">
                <a:solidFill>
                  <a:srgbClr val="19177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varchar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1AB69-5E5E-364A-9F69-CBC865E35FC4}"/>
              </a:ext>
            </a:extLst>
          </p:cNvPr>
          <p:cNvSpPr/>
          <p:nvPr/>
        </p:nvSpPr>
        <p:spPr>
          <a:xfrm>
            <a:off x="43784" y="4249690"/>
            <a:ext cx="4662152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django.db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models</a:t>
            </a:r>
          </a:p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models.Model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f_name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models.CharField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max_len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=30) </a:t>
            </a:r>
          </a:p>
          <a:p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l_name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models.CharField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max_len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=30)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30A5E-29C1-B94B-9273-EA94BDFFD268}"/>
              </a:ext>
            </a:extLst>
          </p:cNvPr>
          <p:cNvSpPr/>
          <p:nvPr/>
        </p:nvSpPr>
        <p:spPr>
          <a:xfrm>
            <a:off x="21891" y="5695210"/>
            <a:ext cx="9100217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Would lead the “framework” (not the user) to generate the following SQL code somewhere in the web application files: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083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541EE-C16D-AC48-936E-57707150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44" y="3133557"/>
            <a:ext cx="4381513" cy="59088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1919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4|2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1.2|3.5|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6|16.3|5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8.3|8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|11.9|11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9|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32293</TotalTime>
  <Words>6370</Words>
  <Application>Microsoft Macintosh PowerPoint</Application>
  <PresentationFormat>On-screen Show (4:3)</PresentationFormat>
  <Paragraphs>1915</Paragraphs>
  <Slides>55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Calibri</vt:lpstr>
      <vt:lpstr>Cambria Math</vt:lpstr>
      <vt:lpstr>Candara</vt:lpstr>
      <vt:lpstr>Consolas</vt:lpstr>
      <vt:lpstr>Prestige12 BT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Programming Applications W/ SQL</vt:lpstr>
      <vt:lpstr>1) Augmenting SQL: SQL/PSM</vt:lpstr>
      <vt:lpstr>SQL/PSM Example</vt:lpstr>
      <vt:lpstr>SQL/PSM Example</vt:lpstr>
      <vt:lpstr>PowerPoint Presentation</vt:lpstr>
      <vt:lpstr>PowerPoint Presentation</vt:lpstr>
      <vt:lpstr>Example API: Python psycopg2</vt:lpstr>
      <vt:lpstr>PowerPoint Presentation</vt:lpstr>
      <vt:lpstr>PowerPoint Presentation</vt:lpstr>
      <vt:lpstr>Prepared Statements: Example</vt:lpstr>
      <vt:lpstr>Watch Out For SQL Injection Attacks!</vt:lpstr>
      <vt:lpstr>Augmenting SQL vs. Programming Through an API</vt:lpstr>
      <vt:lpstr>3) “Embedding” SQL in a host language</vt:lpstr>
      <vt:lpstr>4) Web Programming Frameworks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1239</cp:revision>
  <dcterms:created xsi:type="dcterms:W3CDTF">2016-04-06T14:30:24Z</dcterms:created>
  <dcterms:modified xsi:type="dcterms:W3CDTF">2022-01-25T00:40:41Z</dcterms:modified>
</cp:coreProperties>
</file>