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tags/tag14.xml" ContentType="application/vnd.openxmlformats-officedocument.presentationml.tags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0.xml" ContentType="application/vnd.openxmlformats-officedocument.presentationml.tags+xml"/>
  <Override PartName="/ppt/notesSlides/notesSlide26.xml" ContentType="application/vnd.openxmlformats-officedocument.presentationml.notesSlide+xml"/>
  <Override PartName="/ppt/tags/tag21.xml" ContentType="application/vnd.openxmlformats-officedocument.presentationml.tags+xml"/>
  <Override PartName="/ppt/notesSlides/notesSlide27.xml" ContentType="application/vnd.openxmlformats-officedocument.presentationml.notesSlide+xml"/>
  <Override PartName="/ppt/tags/tag22.xml" ContentType="application/vnd.openxmlformats-officedocument.presentationml.tags+xml"/>
  <Override PartName="/ppt/notesSlides/notesSlide28.xml" ContentType="application/vnd.openxmlformats-officedocument.presentationml.notesSlide+xml"/>
  <Override PartName="/ppt/tags/tag23.xml" ContentType="application/vnd.openxmlformats-officedocument.presentationml.tags+xml"/>
  <Override PartName="/ppt/notesSlides/notesSlide29.xml" ContentType="application/vnd.openxmlformats-officedocument.presentationml.notesSlide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tags/tag25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26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7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39"/>
  </p:notesMasterIdLst>
  <p:sldIdLst>
    <p:sldId id="256" r:id="rId2"/>
    <p:sldId id="259" r:id="rId3"/>
    <p:sldId id="285" r:id="rId4"/>
    <p:sldId id="260" r:id="rId5"/>
    <p:sldId id="261" r:id="rId6"/>
    <p:sldId id="284" r:id="rId7"/>
    <p:sldId id="283" r:id="rId8"/>
    <p:sldId id="286" r:id="rId9"/>
    <p:sldId id="266" r:id="rId10"/>
    <p:sldId id="267" r:id="rId11"/>
    <p:sldId id="308" r:id="rId12"/>
    <p:sldId id="268" r:id="rId13"/>
    <p:sldId id="269" r:id="rId14"/>
    <p:sldId id="287" r:id="rId15"/>
    <p:sldId id="270" r:id="rId16"/>
    <p:sldId id="288" r:id="rId17"/>
    <p:sldId id="282" r:id="rId18"/>
    <p:sldId id="272" r:id="rId19"/>
    <p:sldId id="289" r:id="rId20"/>
    <p:sldId id="291" r:id="rId21"/>
    <p:sldId id="290" r:id="rId22"/>
    <p:sldId id="273" r:id="rId23"/>
    <p:sldId id="274" r:id="rId24"/>
    <p:sldId id="292" r:id="rId25"/>
    <p:sldId id="275" r:id="rId26"/>
    <p:sldId id="276" r:id="rId27"/>
    <p:sldId id="295" r:id="rId28"/>
    <p:sldId id="296" r:id="rId29"/>
    <p:sldId id="301" r:id="rId30"/>
    <p:sldId id="302" r:id="rId31"/>
    <p:sldId id="303" r:id="rId32"/>
    <p:sldId id="305" r:id="rId33"/>
    <p:sldId id="306" r:id="rId34"/>
    <p:sldId id="304" r:id="rId35"/>
    <p:sldId id="307" r:id="rId36"/>
    <p:sldId id="300" r:id="rId37"/>
    <p:sldId id="281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8" autoAdjust="0"/>
    <p:restoredTop sz="76603" autoAdjust="0"/>
  </p:normalViewPr>
  <p:slideViewPr>
    <p:cSldViewPr snapToGrid="0">
      <p:cViewPr varScale="1">
        <p:scale>
          <a:sx n="76" d="100"/>
          <a:sy n="76" d="100"/>
        </p:scale>
        <p:origin x="1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6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7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42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70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80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72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80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36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62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47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5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09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53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47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45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81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75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18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4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88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33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87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07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9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22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52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9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407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895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280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02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409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872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067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0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58186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3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0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90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2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80.png"/><Relationship Id="rId9" Type="http://schemas.openxmlformats.org/officeDocument/2006/relationships/image" Target="../media/image1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280.png"/><Relationship Id="rId10" Type="http://schemas.openxmlformats.org/officeDocument/2006/relationships/image" Target="../media/image1.jpg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Concurrency control &amp; recovery system </a:t>
            </a:r>
            <a:r>
              <a:rPr lang="en-US" sz="4000" dirty="0"/>
              <a:t>Transaction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ACID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Atomicity</a:t>
            </a:r>
            <a:r>
              <a:rPr lang="en-US" dirty="0"/>
              <a:t>: TX’s are either completely done or not done at all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Consistency</a:t>
            </a:r>
            <a:r>
              <a:rPr lang="en-US" dirty="0"/>
              <a:t>: TX’s should leave the database in a consistent state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Isolation</a:t>
            </a:r>
            <a:r>
              <a:rPr lang="en-US" dirty="0"/>
              <a:t>: TX’s must behave as if they are executed in isolation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Durability</a:t>
            </a:r>
            <a:r>
              <a:rPr lang="en-US" dirty="0"/>
              <a:t>: Effects of committed TX’s are resilient against failures</a:t>
            </a:r>
          </a:p>
          <a:p>
            <a:r>
              <a:rPr lang="en-US" dirty="0"/>
              <a:t>SQL transactions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accent6"/>
                </a:solidFill>
                <a:latin typeface="Prestige12 BT" panose="02070509030506020304" pitchFamily="49" charset="0"/>
              </a:rPr>
              <a:t>-- Begins implicitly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latin typeface="Prestige12 BT" panose="02070509030506020304" pitchFamily="49" charset="0"/>
              </a:rPr>
              <a:t>SELECT …;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latin typeface="Prestige12 BT" panose="02070509030506020304" pitchFamily="49" charset="0"/>
              </a:rPr>
              <a:t>UPDATE …;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ROLLBACK </a:t>
            </a:r>
            <a:r>
              <a:rPr lang="en-US" dirty="0">
                <a:latin typeface="Prestige12 BT" panose="02070509030506020304" pitchFamily="49" charset="0"/>
              </a:rPr>
              <a:t>|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COMMIT</a:t>
            </a:r>
            <a:r>
              <a:rPr lang="en-US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5017-65CB-45E0-A05E-FF66CA74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CBF0-74F3-4E67-92A2-2FCA205D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Concurrency control -- isolation</a:t>
            </a:r>
          </a:p>
          <a:p>
            <a:pPr lvl="1"/>
            <a:r>
              <a:rPr lang="en-CA" dirty="0"/>
              <a:t>Review serializable execution histories</a:t>
            </a:r>
          </a:p>
          <a:p>
            <a:pPr lvl="1"/>
            <a:r>
              <a:rPr lang="en-CA" dirty="0"/>
              <a:t>Locking-based concurrency control </a:t>
            </a:r>
          </a:p>
          <a:p>
            <a:pPr lvl="1"/>
            <a:endParaRPr lang="en-CA" dirty="0"/>
          </a:p>
          <a:p>
            <a:r>
              <a:rPr lang="en-CA" dirty="0"/>
              <a:t>Recovery – atomicity and durability</a:t>
            </a:r>
          </a:p>
          <a:p>
            <a:pPr lvl="1"/>
            <a:r>
              <a:rPr lang="en-CA" dirty="0"/>
              <a:t>Naïve approaches</a:t>
            </a:r>
          </a:p>
          <a:p>
            <a:pPr lvl="1"/>
            <a:r>
              <a:rPr lang="en-CA" dirty="0"/>
              <a:t>Logging for undo and redo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B8C68-14F1-4F80-89DD-40206DDC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1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ensure the “I” (isolation) in ACID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971800" y="4800600"/>
            <a:ext cx="2667000" cy="1371600"/>
            <a:chOff x="1872" y="3024"/>
            <a:chExt cx="1680" cy="864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1872" y="3024"/>
              <a:ext cx="1680" cy="864"/>
            </a:xfrm>
            <a:prstGeom prst="can">
              <a:avLst>
                <a:gd name="adj" fmla="val 25000"/>
              </a:avLst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240" y="3376"/>
              <a:ext cx="798" cy="330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800" i="1" dirty="0">
                  <a:latin typeface="+mn-lt"/>
                </a:rPr>
                <a:t>x    y    z</a:t>
              </a:r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873375" y="2295525"/>
            <a:ext cx="2854325" cy="2733675"/>
            <a:chOff x="1810" y="1446"/>
            <a:chExt cx="1798" cy="1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810" y="1446"/>
                  <a:ext cx="790" cy="1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0"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dirty="0">
                      <a:latin typeface="+mn-lt"/>
                    </a:rPr>
                    <a:t>: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r1(</a:t>
                  </a:r>
                  <a:r>
                    <a:rPr kumimoji="0" lang="en-US" i="1" dirty="0">
                      <a:latin typeface="+mn-lt"/>
                    </a:rPr>
                    <a:t>x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w1(</a:t>
                  </a:r>
                  <a:r>
                    <a:rPr kumimoji="0" lang="en-US" i="1" dirty="0">
                      <a:latin typeface="+mn-lt"/>
                    </a:rPr>
                    <a:t>x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r1(</a:t>
                  </a:r>
                  <a:r>
                    <a:rPr kumimoji="0" lang="en-US" i="1" dirty="0">
                      <a:latin typeface="+mn-lt"/>
                    </a:rPr>
                    <a:t>y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w1(</a:t>
                  </a:r>
                  <a:r>
                    <a:rPr kumimoji="0" lang="en-US" i="1" dirty="0">
                      <a:latin typeface="+mn-lt"/>
                    </a:rPr>
                    <a:t>y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commit;</a:t>
                  </a:r>
                </a:p>
              </p:txBody>
            </p:sp>
          </mc:Choice>
          <mc:Fallback xmlns="">
            <p:sp>
              <p:nvSpPr>
                <p:cNvPr id="9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10" y="1446"/>
                  <a:ext cx="790" cy="1454"/>
                </a:xfrm>
                <a:prstGeom prst="rect">
                  <a:avLst/>
                </a:prstGeom>
                <a:blipFill>
                  <a:blip r:embed="rId6"/>
                  <a:stretch>
                    <a:fillRect l="-7282" t="-2116" r="-7282" b="-52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818" y="1446"/>
                  <a:ext cx="790" cy="1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0"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0" lang="en-US" dirty="0">
                      <a:latin typeface="+mn-lt"/>
                    </a:rPr>
                    <a:t>: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r2(</a:t>
                  </a:r>
                  <a:r>
                    <a:rPr kumimoji="0" lang="en-US" i="1" dirty="0">
                      <a:latin typeface="+mn-lt"/>
                    </a:rPr>
                    <a:t>x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w2(</a:t>
                  </a:r>
                  <a:r>
                    <a:rPr kumimoji="0" lang="en-US" i="1" dirty="0">
                      <a:latin typeface="+mn-lt"/>
                    </a:rPr>
                    <a:t>x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r2(</a:t>
                  </a:r>
                  <a:r>
                    <a:rPr kumimoji="0" lang="en-US" i="1" dirty="0">
                      <a:latin typeface="+mn-lt"/>
                    </a:rPr>
                    <a:t>z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w2(</a:t>
                  </a:r>
                  <a:r>
                    <a:rPr kumimoji="0" lang="en-US" i="1" dirty="0">
                      <a:latin typeface="+mn-lt"/>
                    </a:rPr>
                    <a:t>z</a:t>
                  </a:r>
                  <a:r>
                    <a:rPr kumimoji="0" lang="en-US" dirty="0">
                      <a:latin typeface="+mn-lt"/>
                    </a:rPr>
                    <a:t>);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dirty="0">
                      <a:latin typeface="+mn-lt"/>
                    </a:rPr>
                    <a:t>commit;</a:t>
                  </a:r>
                </a:p>
              </p:txBody>
            </p:sp>
          </mc:Choice>
          <mc:Fallback xmlns="">
            <p:sp>
              <p:nvSpPr>
                <p:cNvPr id="10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18" y="1446"/>
                  <a:ext cx="790" cy="1454"/>
                </a:xfrm>
                <a:prstGeom prst="rect">
                  <a:avLst/>
                </a:prstGeom>
                <a:blipFill>
                  <a:blip r:embed="rId7"/>
                  <a:stretch>
                    <a:fillRect l="-7767" t="-2116" r="-6796" b="-52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2064" y="2880"/>
              <a:ext cx="288" cy="28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3072" y="2880"/>
              <a:ext cx="288" cy="28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449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versus bad execution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89013" y="1916113"/>
            <a:ext cx="2093913" cy="4400550"/>
            <a:chOff x="240" y="1207"/>
            <a:chExt cx="1319" cy="2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71" cy="27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8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800" dirty="0"/>
                  </a:b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w2(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w2(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71" cy="2772"/>
                </a:xfrm>
                <a:prstGeom prst="rect">
                  <a:avLst/>
                </a:prstGeom>
                <a:blipFill>
                  <a:blip r:embed="rId6"/>
                  <a:stretch>
                    <a:fillRect l="-6344" r="-2719" b="-30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6400801" y="1916113"/>
            <a:ext cx="2054226" cy="4400550"/>
            <a:chOff x="2208" y="1207"/>
            <a:chExt cx="1294" cy="2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>
                  <a:spLocks noChangeArrowheads="1"/>
                </p:cNvSpPr>
                <p:nvPr/>
              </p:nvSpPr>
              <p:spPr bwMode="auto">
                <a:xfrm>
                  <a:off x="2255" y="1207"/>
                  <a:ext cx="1247" cy="27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8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800" dirty="0"/>
                  </a:b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w2(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C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C</a:t>
                  </a:r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5" y="1207"/>
                  <a:ext cx="1247" cy="2772"/>
                </a:xfrm>
                <a:prstGeom prst="rect">
                  <a:avLst/>
                </a:prstGeom>
                <a:blipFill>
                  <a:blip r:embed="rId7"/>
                  <a:stretch>
                    <a:fillRect l="-6154" r="-4923" b="-30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208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832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3656015" y="1916113"/>
            <a:ext cx="2055813" cy="4400551"/>
            <a:chOff x="4128" y="1207"/>
            <a:chExt cx="1295" cy="2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>
                  <a:spLocks noChangeArrowheads="1"/>
                </p:cNvSpPr>
                <p:nvPr/>
              </p:nvSpPr>
              <p:spPr bwMode="auto">
                <a:xfrm>
                  <a:off x="4176" y="1207"/>
                  <a:ext cx="1247" cy="27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8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800" dirty="0"/>
                  </a:b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w1(x)	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6" y="1207"/>
                  <a:ext cx="1247" cy="2772"/>
                </a:xfrm>
                <a:prstGeom prst="rect">
                  <a:avLst/>
                </a:prstGeom>
                <a:blipFill>
                  <a:blip r:embed="rId8"/>
                  <a:stretch>
                    <a:fillRect l="-6154" r="-4923" b="-30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128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752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420813" y="1370013"/>
            <a:ext cx="1095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 dirty="0">
                <a:solidFill>
                  <a:schemeClr val="accent2"/>
                </a:solidFill>
                <a:latin typeface="+mn-lt"/>
              </a:rPr>
              <a:t>Good!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758796" y="1384089"/>
            <a:ext cx="2058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 dirty="0">
                <a:solidFill>
                  <a:schemeClr val="accent2"/>
                </a:solidFill>
                <a:latin typeface="+mn-lt"/>
              </a:rPr>
              <a:t>Good!  Why?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4230688" y="1379538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>
                <a:solidFill>
                  <a:schemeClr val="accent2"/>
                </a:solidFill>
                <a:latin typeface="+mn-lt"/>
              </a:rPr>
              <a:t>Bad!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000375" y="3128963"/>
            <a:ext cx="1417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Read 400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938713" y="3514725"/>
            <a:ext cx="1417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Read 400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2862605" y="3634758"/>
            <a:ext cx="1417376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Write</a:t>
            </a:r>
            <a:br>
              <a:rPr kumimoji="0" lang="en-US" dirty="0">
                <a:solidFill>
                  <a:schemeClr val="accent2"/>
                </a:solidFill>
                <a:latin typeface="+mn-lt"/>
              </a:rPr>
            </a:br>
            <a:r>
              <a:rPr kumimoji="0" lang="en-US" dirty="0">
                <a:solidFill>
                  <a:schemeClr val="accent2"/>
                </a:solidFill>
                <a:latin typeface="+mn-lt"/>
              </a:rPr>
              <a:t>400 – 100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4987809" y="4279900"/>
            <a:ext cx="1292341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0" lang="en-US">
                <a:solidFill>
                  <a:schemeClr val="accent2"/>
                </a:solidFill>
                <a:latin typeface="+mn-lt"/>
              </a:rPr>
              <a:t>Write</a:t>
            </a:r>
            <a:br>
              <a:rPr kumimoji="0" lang="en-US">
                <a:solidFill>
                  <a:schemeClr val="accent2"/>
                </a:solidFill>
                <a:latin typeface="+mn-lt"/>
              </a:rPr>
            </a:br>
            <a:r>
              <a:rPr kumimoji="0" lang="en-US">
                <a:solidFill>
                  <a:schemeClr val="accent2"/>
                </a:solidFill>
                <a:latin typeface="+mn-lt"/>
              </a:rPr>
              <a:t>400 – 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/>
              <p:nvPr/>
            </p:nvSpPr>
            <p:spPr>
              <a:xfrm>
                <a:off x="1342504" y="5837573"/>
                <a:ext cx="69092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</m:t>
                    </m:r>
                    <m:sSub>
                      <m:sSubPr>
                        <m:ctrlP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           </m:t>
                    </m:r>
                    <m:sSub>
                      <m:sSubPr>
                        <m:ctrlPr>
                          <a:rPr lang="en-CA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C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504" y="5837573"/>
                <a:ext cx="690921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FC52FB1-3A38-4BBF-BB0B-FB1B461BD630}"/>
              </a:ext>
            </a:extLst>
          </p:cNvPr>
          <p:cNvSpPr/>
          <p:nvPr/>
        </p:nvSpPr>
        <p:spPr>
          <a:xfrm>
            <a:off x="1594733" y="1075219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Serial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83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C12171E-20AE-4B79-92A8-54BC2BA590BD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1916113"/>
            <a:ext cx="2054226" cy="4400550"/>
            <a:chOff x="2208" y="1207"/>
            <a:chExt cx="1294" cy="2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B687465-4BA2-4DA8-A329-994FF5305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207"/>
                  <a:ext cx="1247" cy="27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8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800" dirty="0"/>
                  </a:b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w2(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C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C</a:t>
                  </a:r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B687465-4BA2-4DA8-A329-994FF5305C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5" y="1207"/>
                  <a:ext cx="1247" cy="2772"/>
                </a:xfrm>
                <a:prstGeom prst="rect">
                  <a:avLst/>
                </a:prstGeom>
                <a:blipFill>
                  <a:blip r:embed="rId6"/>
                  <a:stretch>
                    <a:fillRect l="-6154" r="-4923" b="-30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5DB1D469-8D19-4D8C-9992-DB18E9890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393CF5B2-5E25-40D5-888E-CD3D18F48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versus bad execution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/>
              <p:nvPr/>
            </p:nvSpPr>
            <p:spPr>
              <a:xfrm>
                <a:off x="5067827" y="5887609"/>
                <a:ext cx="26334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2800" b="0" dirty="0">
                    <a:solidFill>
                      <a:srgbClr val="FF0000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C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827" y="5887609"/>
                <a:ext cx="263344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17">
            <a:extLst>
              <a:ext uri="{FF2B5EF4-FFF2-40B4-BE49-F238E27FC236}">
                <a16:creationId xmlns:a16="http://schemas.microsoft.com/office/drawing/2014/main" id="{C1BDDABF-040E-4FE6-A109-B9A1887580D7}"/>
              </a:ext>
            </a:extLst>
          </p:cNvPr>
          <p:cNvGrpSpPr>
            <a:grpSpLocks/>
          </p:cNvGrpSpPr>
          <p:nvPr/>
        </p:nvGrpSpPr>
        <p:grpSpPr bwMode="auto">
          <a:xfrm>
            <a:off x="5316049" y="3134746"/>
            <a:ext cx="540219" cy="1447800"/>
            <a:chOff x="4232" y="1920"/>
            <a:chExt cx="341" cy="912"/>
          </a:xfrm>
        </p:grpSpPr>
        <p:sp>
          <p:nvSpPr>
            <p:cNvPr id="38" name="Oval 19">
              <a:extLst>
                <a:ext uri="{FF2B5EF4-FFF2-40B4-BE49-F238E27FC236}">
                  <a16:creationId xmlns:a16="http://schemas.microsoft.com/office/drawing/2014/main" id="{C1EDCEE2-680E-45B2-BBD5-0C19899C5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1920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20">
              <a:extLst>
                <a:ext uri="{FF2B5EF4-FFF2-40B4-BE49-F238E27FC236}">
                  <a16:creationId xmlns:a16="http://schemas.microsoft.com/office/drawing/2014/main" id="{97144E0E-9378-4C9E-96C1-E6213B80B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2496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21">
                  <a:extLst>
                    <a:ext uri="{FF2B5EF4-FFF2-40B4-BE49-F238E27FC236}">
                      <a16:creationId xmlns:a16="http://schemas.microsoft.com/office/drawing/2014/main" id="{9663F8D0-2374-410C-B5F7-E60939552B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22">
                  <a:extLst>
                    <a:ext uri="{FF2B5EF4-FFF2-40B4-BE49-F238E27FC236}">
                      <a16:creationId xmlns:a16="http://schemas.microsoft.com/office/drawing/2014/main" id="{B3A9E871-925F-47B4-8C24-50E183CAA2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2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307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23">
              <a:extLst>
                <a:ext uri="{FF2B5EF4-FFF2-40B4-BE49-F238E27FC236}">
                  <a16:creationId xmlns:a16="http://schemas.microsoft.com/office/drawing/2014/main" id="{76AF0ABC-3F76-433A-A93F-2E6AB17C2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5" y="22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6" name="Line 24">
            <a:extLst>
              <a:ext uri="{FF2B5EF4-FFF2-40B4-BE49-F238E27FC236}">
                <a16:creationId xmlns:a16="http://schemas.microsoft.com/office/drawing/2014/main" id="{B864CE6C-3DB8-42AA-BE4E-91E362C932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517904"/>
            <a:ext cx="309871" cy="208844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5923941F-0985-4AF1-ABB2-934BB7750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796" y="1384089"/>
            <a:ext cx="11737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 dirty="0">
                <a:solidFill>
                  <a:schemeClr val="accent2"/>
                </a:solidFill>
                <a:latin typeface="+mn-lt"/>
              </a:rPr>
              <a:t>Good!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E905AD-DF8E-42FA-B00C-DE09671EEFD3}"/>
              </a:ext>
            </a:extLst>
          </p:cNvPr>
          <p:cNvSpPr/>
          <p:nvPr/>
        </p:nvSpPr>
        <p:spPr>
          <a:xfrm>
            <a:off x="6628017" y="108744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Serializable </a:t>
            </a:r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C667A5C5-922F-421F-B925-8345C1BAC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1" y="3691976"/>
            <a:ext cx="309871" cy="57518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77A84-207C-4A27-A01B-F15BBDB162A4}"/>
              </a:ext>
            </a:extLst>
          </p:cNvPr>
          <p:cNvSpPr txBox="1"/>
          <p:nvPr/>
        </p:nvSpPr>
        <p:spPr>
          <a:xfrm>
            <a:off x="864067" y="3256294"/>
            <a:ext cx="3626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Serialization graph (Lecture 15)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3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versus bad execution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3656015" y="1916113"/>
            <a:ext cx="2055813" cy="4400551"/>
            <a:chOff x="4128" y="1207"/>
            <a:chExt cx="1295" cy="2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>
                  <a:spLocks noChangeArrowheads="1"/>
                </p:cNvSpPr>
                <p:nvPr/>
              </p:nvSpPr>
              <p:spPr bwMode="auto">
                <a:xfrm>
                  <a:off x="4176" y="1207"/>
                  <a:ext cx="1247" cy="27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8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800" dirty="0"/>
                  </a:b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w1(x)	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x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r1(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	r2(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  <a:br>
                    <a:rPr lang="en-US" sz="2800" dirty="0"/>
                  </a:br>
                  <a:r>
                    <a:rPr lang="en-US" sz="2800" dirty="0"/>
                    <a:t>w1(</a:t>
                  </a:r>
                  <a:r>
                    <a:rPr lang="en-US" sz="2800" i="1" dirty="0"/>
                    <a:t>y</a:t>
                  </a:r>
                  <a:r>
                    <a:rPr lang="en-US" sz="2800" dirty="0"/>
                    <a:t>)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800" dirty="0"/>
                    <a:t>	w2(</a:t>
                  </a:r>
                  <a:r>
                    <a:rPr lang="en-US" sz="2800" i="1" dirty="0"/>
                    <a:t>z</a:t>
                  </a:r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6" y="1207"/>
                  <a:ext cx="1247" cy="2772"/>
                </a:xfrm>
                <a:prstGeom prst="rect">
                  <a:avLst/>
                </a:prstGeom>
                <a:blipFill>
                  <a:blip r:embed="rId6"/>
                  <a:stretch>
                    <a:fillRect l="-6154" r="-4923" b="-30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128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752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4230688" y="1379538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>
                <a:solidFill>
                  <a:schemeClr val="accent2"/>
                </a:solidFill>
                <a:latin typeface="+mn-lt"/>
              </a:rPr>
              <a:t>Bad!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/>
              <p:nvPr/>
            </p:nvSpPr>
            <p:spPr>
              <a:xfrm>
                <a:off x="1511836" y="5837573"/>
                <a:ext cx="69092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2800" b="0" dirty="0">
                    <a:solidFill>
                      <a:srgbClr val="FF0000"/>
                    </a:solidFill>
                  </a:rPr>
                  <a:t>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C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BC0EE4-F38F-42A9-AD82-1CA2B8AF1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836" y="5837573"/>
                <a:ext cx="690921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62A7AFC7-91FA-472A-8F3E-094D6B8D0973}"/>
              </a:ext>
            </a:extLst>
          </p:cNvPr>
          <p:cNvSpPr/>
          <p:nvPr/>
        </p:nvSpPr>
        <p:spPr>
          <a:xfrm>
            <a:off x="3817917" y="1071250"/>
            <a:ext cx="1683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Not serializable</a:t>
            </a:r>
          </a:p>
        </p:txBody>
      </p:sp>
      <p:sp>
        <p:nvSpPr>
          <p:cNvPr id="38" name="Oval 19">
            <a:extLst>
              <a:ext uri="{FF2B5EF4-FFF2-40B4-BE49-F238E27FC236}">
                <a16:creationId xmlns:a16="http://schemas.microsoft.com/office/drawing/2014/main" id="{C1EDCEE2-680E-45B2-BBD5-0C19899C5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6" y="3048000"/>
            <a:ext cx="533400" cy="533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Oval 20">
            <a:extLst>
              <a:ext uri="{FF2B5EF4-FFF2-40B4-BE49-F238E27FC236}">
                <a16:creationId xmlns:a16="http://schemas.microsoft.com/office/drawing/2014/main" id="{97144E0E-9378-4C9E-96C1-E6213B80B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6" y="3962400"/>
            <a:ext cx="533400" cy="5334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663F8D0-2374-410C-B5F7-E60939552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4506" y="3114675"/>
                <a:ext cx="460375" cy="39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baseline="-25000" dirty="0"/>
              </a:p>
            </p:txBody>
          </p:sp>
        </mc:Choice>
        <mc:Fallback xmlns=""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663F8D0-2374-410C-B5F7-E60939552B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4506" y="3114675"/>
                <a:ext cx="460375" cy="39370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22">
                <a:extLst>
                  <a:ext uri="{FF2B5EF4-FFF2-40B4-BE49-F238E27FC236}">
                    <a16:creationId xmlns:a16="http://schemas.microsoft.com/office/drawing/2014/main" id="{B3A9E871-925F-47B4-8C24-50E183CAA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4506" y="4029075"/>
                <a:ext cx="465138" cy="39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aseline="-25000" dirty="0"/>
              </a:p>
            </p:txBody>
          </p:sp>
        </mc:Choice>
        <mc:Fallback xmlns="">
          <p:sp>
            <p:nvSpPr>
              <p:cNvPr id="41" name="Rectangle 22">
                <a:extLst>
                  <a:ext uri="{FF2B5EF4-FFF2-40B4-BE49-F238E27FC236}">
                    <a16:creationId xmlns:a16="http://schemas.microsoft.com/office/drawing/2014/main" id="{B3A9E871-925F-47B4-8C24-50E183CAA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4506" y="4029075"/>
                <a:ext cx="465138" cy="39370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ine 23">
            <a:extLst>
              <a:ext uri="{FF2B5EF4-FFF2-40B4-BE49-F238E27FC236}">
                <a16:creationId xmlns:a16="http://schemas.microsoft.com/office/drawing/2014/main" id="{76AF0ABC-3F76-433A-A93F-2E6AB17C2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7069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reeform 26">
            <a:extLst>
              <a:ext uri="{FF2B5EF4-FFF2-40B4-BE49-F238E27FC236}">
                <a16:creationId xmlns:a16="http://schemas.microsoft.com/office/drawing/2014/main" id="{1B5B3295-0E75-41D1-AA8E-37402C0BFFF8}"/>
              </a:ext>
            </a:extLst>
          </p:cNvPr>
          <p:cNvSpPr>
            <a:spLocks/>
          </p:cNvSpPr>
          <p:nvPr/>
        </p:nvSpPr>
        <p:spPr bwMode="auto">
          <a:xfrm>
            <a:off x="7148519" y="3548063"/>
            <a:ext cx="152400" cy="457200"/>
          </a:xfrm>
          <a:custGeom>
            <a:avLst/>
            <a:gdLst>
              <a:gd name="T0" fmla="*/ 0 w 96"/>
              <a:gd name="T1" fmla="*/ 288 h 288"/>
              <a:gd name="T2" fmla="*/ 96 w 96"/>
              <a:gd name="T3" fmla="*/ 144 h 288"/>
              <a:gd name="T4" fmla="*/ 0 w 96"/>
              <a:gd name="T5" fmla="*/ 0 h 288"/>
              <a:gd name="T6" fmla="*/ 0 60000 65536"/>
              <a:gd name="T7" fmla="*/ 0 60000 65536"/>
              <a:gd name="T8" fmla="*/ 0 60000 65536"/>
              <a:gd name="T9" fmla="*/ 0 w 96"/>
              <a:gd name="T10" fmla="*/ 0 h 288"/>
              <a:gd name="T11" fmla="*/ 96 w 9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288">
                <a:moveTo>
                  <a:pt x="0" y="288"/>
                </a:moveTo>
                <a:cubicBezTo>
                  <a:pt x="48" y="240"/>
                  <a:pt x="96" y="192"/>
                  <a:pt x="96" y="144"/>
                </a:cubicBezTo>
                <a:cubicBezTo>
                  <a:pt x="96" y="96"/>
                  <a:pt x="48" y="48"/>
                  <a:pt x="0" y="0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B864CE6C-3DB8-42AA-BE4E-91E362C932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1999" y="3616325"/>
            <a:ext cx="340521" cy="31624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4">
            <a:extLst>
              <a:ext uri="{FF2B5EF4-FFF2-40B4-BE49-F238E27FC236}">
                <a16:creationId xmlns:a16="http://schemas.microsoft.com/office/drawing/2014/main" id="{CD81C07F-A631-40B3-B289-B3AE3FB13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254" y="4029076"/>
            <a:ext cx="340520" cy="31624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102E9-B645-4277-810B-C3F1719EA6A1}"/>
              </a:ext>
            </a:extLst>
          </p:cNvPr>
          <p:cNvSpPr txBox="1"/>
          <p:nvPr/>
        </p:nvSpPr>
        <p:spPr>
          <a:xfrm>
            <a:off x="290923" y="3398271"/>
            <a:ext cx="2679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How to avoid this?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76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837E-8F08-49CD-833A-5DA0028F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Concurrency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6B5A-B94C-44EC-8149-110618F29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Possible classification</a:t>
            </a:r>
          </a:p>
          <a:p>
            <a:r>
              <a:rPr lang="en-US" dirty="0"/>
              <a:t>Pessimistic – assume that conflicts will happen and take preventive </a:t>
            </a:r>
            <a:r>
              <a:rPr lang="en-CA" dirty="0"/>
              <a:t>action</a:t>
            </a:r>
          </a:p>
          <a:p>
            <a:pPr lvl="1"/>
            <a:r>
              <a:rPr lang="en-CA" dirty="0"/>
              <a:t>Two-phase locking (2PL)</a:t>
            </a:r>
          </a:p>
          <a:p>
            <a:pPr lvl="1"/>
            <a:r>
              <a:rPr lang="en-CA" dirty="0"/>
              <a:t>Timestamp ordering</a:t>
            </a:r>
          </a:p>
          <a:p>
            <a:r>
              <a:rPr lang="en-US" dirty="0"/>
              <a:t>Optimistic – assume that conflicts are rare and run transactions and fix if </a:t>
            </a:r>
            <a:r>
              <a:rPr lang="en-CA" dirty="0"/>
              <a:t>there is a problem</a:t>
            </a:r>
          </a:p>
          <a:p>
            <a:r>
              <a:rPr lang="en-US" dirty="0"/>
              <a:t>We will only review 2PL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91EF6-00D9-4E73-92E3-9A425D10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8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  <a:p>
            <a:pPr lvl="1"/>
            <a:r>
              <a:rPr lang="en-US" dirty="0"/>
              <a:t>If a transaction wants to </a:t>
            </a:r>
            <a:r>
              <a:rPr lang="en-US" dirty="0">
                <a:solidFill>
                  <a:schemeClr val="accent2"/>
                </a:solidFill>
              </a:rPr>
              <a:t>read</a:t>
            </a:r>
            <a:r>
              <a:rPr lang="en-US" dirty="0"/>
              <a:t> an object, it must first request a </a:t>
            </a:r>
            <a:r>
              <a:rPr lang="en-US" dirty="0">
                <a:solidFill>
                  <a:schemeClr val="accent2"/>
                </a:solidFill>
              </a:rPr>
              <a:t>shared lock (S mode) </a:t>
            </a:r>
            <a:r>
              <a:rPr lang="en-US" dirty="0"/>
              <a:t>on that object</a:t>
            </a:r>
            <a:endParaRPr lang="en-US" i="1" dirty="0"/>
          </a:p>
          <a:p>
            <a:pPr lvl="1"/>
            <a:r>
              <a:rPr lang="en-US" dirty="0"/>
              <a:t>If a transaction wants to </a:t>
            </a:r>
            <a:r>
              <a:rPr lang="en-US" dirty="0">
                <a:solidFill>
                  <a:schemeClr val="accent2"/>
                </a:solidFill>
              </a:rPr>
              <a:t>modify</a:t>
            </a:r>
            <a:r>
              <a:rPr lang="en-US" dirty="0"/>
              <a:t> an object, it must first request an </a:t>
            </a:r>
            <a:r>
              <a:rPr lang="en-US" dirty="0">
                <a:solidFill>
                  <a:schemeClr val="accent2"/>
                </a:solidFill>
              </a:rPr>
              <a:t>exclusive lock (X mode)</a:t>
            </a:r>
            <a:r>
              <a:rPr lang="en-US" dirty="0"/>
              <a:t> on that object</a:t>
            </a:r>
          </a:p>
          <a:p>
            <a:pPr lvl="1"/>
            <a:r>
              <a:rPr lang="en-US" dirty="0"/>
              <a:t>Allow one exclusive lock, or multiple shared 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413736" y="4667373"/>
            <a:ext cx="24288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sz="2000" i="1" dirty="0">
                <a:solidFill>
                  <a:schemeClr val="accent2"/>
                </a:solidFill>
                <a:latin typeface="+mn-lt"/>
              </a:rPr>
              <a:t>Mode of lock(s)</a:t>
            </a:r>
            <a:br>
              <a:rPr kumimoji="0" lang="en-US" sz="2000" i="1" dirty="0">
                <a:solidFill>
                  <a:schemeClr val="accent2"/>
                </a:solidFill>
                <a:latin typeface="+mn-lt"/>
              </a:rPr>
            </a:br>
            <a:r>
              <a:rPr kumimoji="0" lang="en-US" sz="2000" i="1" dirty="0">
                <a:solidFill>
                  <a:schemeClr val="accent2"/>
                </a:solidFill>
                <a:latin typeface="+mn-lt"/>
              </a:rPr>
              <a:t>currently held</a:t>
            </a:r>
            <a:br>
              <a:rPr kumimoji="0" lang="en-US" sz="2000" i="1" dirty="0">
                <a:solidFill>
                  <a:schemeClr val="accent2"/>
                </a:solidFill>
                <a:latin typeface="+mn-lt"/>
              </a:rPr>
            </a:br>
            <a:r>
              <a:rPr kumimoji="0" lang="en-US" sz="2000" i="1" dirty="0">
                <a:solidFill>
                  <a:schemeClr val="accent2"/>
                </a:solidFill>
                <a:latin typeface="+mn-lt"/>
              </a:rPr>
              <a:t>by other transactions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407038" y="4033108"/>
            <a:ext cx="30572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i="1" dirty="0">
                <a:solidFill>
                  <a:schemeClr val="accent2"/>
                </a:solidFill>
                <a:latin typeface="+mn-lt"/>
              </a:rPr>
              <a:t>Mode of the lock requested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940425" y="4871308"/>
            <a:ext cx="21242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solidFill>
                  <a:schemeClr val="accent2"/>
                </a:solidFill>
                <a:latin typeface="+mn-lt"/>
              </a:rPr>
              <a:t>Grant the lock?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428601" y="5646777"/>
            <a:ext cx="2885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400" dirty="0"/>
              <a:t> Compatibility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820776"/>
              </p:ext>
            </p:extLst>
          </p:nvPr>
        </p:nvGraphicFramePr>
        <p:xfrm>
          <a:off x="3962400" y="4461733"/>
          <a:ext cx="1828800" cy="1114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meriGarmnd BT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112646A-D742-4E25-9B63-1400674FFD4E}"/>
              </a:ext>
            </a:extLst>
          </p:cNvPr>
          <p:cNvSpPr/>
          <p:nvPr/>
        </p:nvSpPr>
        <p:spPr>
          <a:xfrm>
            <a:off x="3959604" y="5201174"/>
            <a:ext cx="1828800" cy="37498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4CCFAD-132D-4A65-B543-63B758BA0D6A}"/>
              </a:ext>
            </a:extLst>
          </p:cNvPr>
          <p:cNvSpPr/>
          <p:nvPr/>
        </p:nvSpPr>
        <p:spPr>
          <a:xfrm>
            <a:off x="3957064" y="4831231"/>
            <a:ext cx="1828800" cy="37498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17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4"/>
              <p:cNvSpPr>
                <a:spLocks noChangeArrowheads="1"/>
              </p:cNvSpPr>
              <p:nvPr/>
            </p:nvSpPr>
            <p:spPr bwMode="auto">
              <a:xfrm>
                <a:off x="3502833" y="935534"/>
                <a:ext cx="1980029" cy="5693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2800" i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aseline="-25000" dirty="0"/>
                  <a:t>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r1(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w1(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	r2(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	w2(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	r2(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	w2(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endParaRPr lang="en-US" sz="2800" dirty="0"/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2800" dirty="0"/>
                  <a:t>r1(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w1(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9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2833" y="935534"/>
                <a:ext cx="1980029" cy="5693866"/>
              </a:xfrm>
              <a:prstGeom prst="rect">
                <a:avLst/>
              </a:prstGeom>
              <a:blipFill>
                <a:blip r:embed="rId6"/>
                <a:stretch>
                  <a:fillRect l="-6481" r="-4938" b="-20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locking is not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513485" y="1561502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4419600" y="1073150"/>
            <a:ext cx="0" cy="5556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566737" y="1609725"/>
            <a:ext cx="5130800" cy="5200650"/>
            <a:chOff x="357" y="1014"/>
            <a:chExt cx="3232" cy="3276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872" y="1014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802" y="2646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901" y="4038"/>
              <a:ext cx="7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901" y="1638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784" y="1782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784" y="2454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832" y="3222"/>
              <a:ext cx="7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842" y="3414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57" y="2029"/>
              <a:ext cx="131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Possible schedule</a:t>
              </a:r>
              <a:br>
                <a:rPr kumimoji="0" lang="en-US" sz="2000" dirty="0">
                  <a:solidFill>
                    <a:schemeClr val="accent5"/>
                  </a:solidFill>
                  <a:latin typeface="+mn-lt"/>
                </a:rPr>
              </a:b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under locking</a:t>
              </a: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304800" y="2590800"/>
            <a:ext cx="6996113" cy="3276600"/>
            <a:chOff x="192" y="1632"/>
            <a:chExt cx="4407" cy="2064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92" y="2640"/>
              <a:ext cx="17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en-US" dirty="0">
                  <a:latin typeface="+mn-lt"/>
                </a:rPr>
                <a:t>But still not</a:t>
              </a:r>
              <a:br>
                <a:rPr kumimoji="0" lang="en-US" dirty="0">
                  <a:latin typeface="+mn-lt"/>
                </a:rPr>
              </a:br>
              <a:r>
                <a:rPr kumimoji="0" lang="en-US" dirty="0">
                  <a:latin typeface="+mn-lt"/>
                </a:rPr>
                <a:t>conflict-</a:t>
              </a:r>
              <a:r>
                <a:rPr kumimoji="0" lang="en-US" dirty="0" err="1">
                  <a:latin typeface="+mn-lt"/>
                </a:rPr>
                <a:t>serializable</a:t>
              </a:r>
              <a:r>
                <a:rPr kumimoji="0" lang="en-US" dirty="0">
                  <a:latin typeface="+mn-lt"/>
                </a:rPr>
                <a:t>!</a:t>
              </a: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4232" y="1920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232" y="2496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1"/>
                <p:cNvSpPr>
                  <a:spLocks noChangeArrowheads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2"/>
                <p:cNvSpPr>
                  <a:spLocks noChangeArrowheads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2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307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4395" y="22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>
              <a:off x="2640" y="3312"/>
              <a:ext cx="240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688" y="1632"/>
              <a:ext cx="192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4503" y="2235"/>
              <a:ext cx="96" cy="288"/>
            </a:xfrm>
            <a:custGeom>
              <a:avLst/>
              <a:gdLst>
                <a:gd name="T0" fmla="*/ 0 w 96"/>
                <a:gd name="T1" fmla="*/ 288 h 288"/>
                <a:gd name="T2" fmla="*/ 96 w 96"/>
                <a:gd name="T3" fmla="*/ 144 h 288"/>
                <a:gd name="T4" fmla="*/ 0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cubicBezTo>
                    <a:pt x="48" y="240"/>
                    <a:pt x="96" y="192"/>
                    <a:pt x="96" y="144"/>
                  </a:cubicBezTo>
                  <a:cubicBezTo>
                    <a:pt x="96" y="96"/>
                    <a:pt x="48" y="48"/>
                    <a:pt x="0" y="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5713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4"/>
              <p:cNvSpPr>
                <a:spLocks noChangeArrowheads="1"/>
              </p:cNvSpPr>
              <p:nvPr/>
            </p:nvSpPr>
            <p:spPr bwMode="auto">
              <a:xfrm>
                <a:off x="3502833" y="935534"/>
                <a:ext cx="1980029" cy="5693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2800" i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aseline="-25000" dirty="0"/>
                  <a:t>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r1(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w1(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	r2(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	w2(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	r2(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	w2(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endParaRPr lang="en-US" sz="2800" dirty="0"/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2800" dirty="0"/>
                  <a:t>r1(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:r>
                  <a:rPr lang="en-US" sz="2800" dirty="0"/>
                  <a:t>w1(</a:t>
                </a:r>
                <a:r>
                  <a:rPr lang="en-US" sz="2800" i="1" dirty="0"/>
                  <a:t>y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9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2833" y="935534"/>
                <a:ext cx="1980029" cy="5693866"/>
              </a:xfrm>
              <a:prstGeom prst="rect">
                <a:avLst/>
              </a:prstGeom>
              <a:blipFill>
                <a:blip r:embed="rId6"/>
                <a:stretch>
                  <a:fillRect l="-6481" r="-4938" b="-20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locking is not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513485" y="1561502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4419600" y="1073150"/>
            <a:ext cx="0" cy="5556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566737" y="1609725"/>
            <a:ext cx="5130800" cy="5200650"/>
            <a:chOff x="357" y="1014"/>
            <a:chExt cx="3232" cy="3276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872" y="1014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802" y="2646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901" y="4038"/>
              <a:ext cx="7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901" y="1638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784" y="1782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784" y="2454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832" y="3222"/>
              <a:ext cx="7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unlock(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842" y="3414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lock-X(</a:t>
              </a:r>
              <a:r>
                <a:rPr kumimoji="0" lang="en-US" sz="2000" i="1" dirty="0">
                  <a:solidFill>
                    <a:schemeClr val="accent5"/>
                  </a:solidFill>
                  <a:latin typeface="+mn-lt"/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57" y="2029"/>
              <a:ext cx="131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Possible schedule</a:t>
              </a:r>
              <a:br>
                <a:rPr kumimoji="0" lang="en-US" sz="2000" dirty="0">
                  <a:solidFill>
                    <a:schemeClr val="accent5"/>
                  </a:solidFill>
                  <a:latin typeface="+mn-lt"/>
                </a:rPr>
              </a:br>
              <a:r>
                <a:rPr kumimoji="0" lang="en-US" sz="2000" dirty="0">
                  <a:solidFill>
                    <a:schemeClr val="accent5"/>
                  </a:solidFill>
                  <a:latin typeface="+mn-lt"/>
                </a:rPr>
                <a:t>under locking</a:t>
              </a: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304800" y="2590800"/>
            <a:ext cx="6996113" cy="3276600"/>
            <a:chOff x="192" y="1632"/>
            <a:chExt cx="4407" cy="2064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92" y="2640"/>
              <a:ext cx="17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en-US" dirty="0">
                  <a:latin typeface="+mn-lt"/>
                </a:rPr>
                <a:t>But still not</a:t>
              </a:r>
              <a:br>
                <a:rPr kumimoji="0" lang="en-US" dirty="0">
                  <a:latin typeface="+mn-lt"/>
                </a:rPr>
              </a:br>
              <a:r>
                <a:rPr kumimoji="0" lang="en-US" dirty="0">
                  <a:latin typeface="+mn-lt"/>
                </a:rPr>
                <a:t>conflict-</a:t>
              </a:r>
              <a:r>
                <a:rPr kumimoji="0" lang="en-US" dirty="0" err="1">
                  <a:latin typeface="+mn-lt"/>
                </a:rPr>
                <a:t>serializable</a:t>
              </a:r>
              <a:r>
                <a:rPr kumimoji="0" lang="en-US" dirty="0">
                  <a:latin typeface="+mn-lt"/>
                </a:rPr>
                <a:t>!</a:t>
              </a: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4232" y="1920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232" y="2496"/>
              <a:ext cx="336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1"/>
                <p:cNvSpPr>
                  <a:spLocks noChangeArrowheads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1962"/>
                  <a:ext cx="290" cy="24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2"/>
                <p:cNvSpPr>
                  <a:spLocks noChangeArrowheads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baseline="-25000" dirty="0"/>
                </a:p>
              </p:txBody>
            </p:sp>
          </mc:Choice>
          <mc:Fallback xmlns="">
            <p:sp>
              <p:nvSpPr>
                <p:cNvPr id="22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0" y="2538"/>
                  <a:ext cx="293" cy="24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307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4395" y="22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>
              <a:off x="2640" y="3312"/>
              <a:ext cx="240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688" y="1632"/>
              <a:ext cx="192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4503" y="2235"/>
              <a:ext cx="96" cy="288"/>
            </a:xfrm>
            <a:custGeom>
              <a:avLst/>
              <a:gdLst>
                <a:gd name="T0" fmla="*/ 0 w 96"/>
                <a:gd name="T1" fmla="*/ 288 h 288"/>
                <a:gd name="T2" fmla="*/ 96 w 96"/>
                <a:gd name="T3" fmla="*/ 144 h 288"/>
                <a:gd name="T4" fmla="*/ 0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cubicBezTo>
                    <a:pt x="48" y="240"/>
                    <a:pt x="96" y="192"/>
                    <a:pt x="96" y="144"/>
                  </a:cubicBezTo>
                  <a:cubicBezTo>
                    <a:pt x="96" y="96"/>
                    <a:pt x="48" y="48"/>
                    <a:pt x="0" y="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905001" y="1958975"/>
            <a:ext cx="116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Read 100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1600201" y="2339975"/>
            <a:ext cx="142557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Write 100+1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5257802" y="3254375"/>
            <a:ext cx="110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Read 101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5257802" y="3646488"/>
            <a:ext cx="145732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Write 101*2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5257802" y="4500563"/>
            <a:ext cx="116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Read 100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5257802" y="4881563"/>
            <a:ext cx="145732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Write 100*2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1905001" y="5780088"/>
            <a:ext cx="1195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Read 200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1600201" y="6161088"/>
            <a:ext cx="1455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Write 200+1</a:t>
            </a: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1049338" y="1073150"/>
            <a:ext cx="2452689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Add 1 to both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x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 and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y</a:t>
            </a:r>
            <a:endParaRPr kumimoji="0" lang="en-US" sz="2000" dirty="0">
              <a:solidFill>
                <a:srgbClr val="FF0000"/>
              </a:solidFill>
              <a:latin typeface="+mn-lt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(preserve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x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=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y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)</a:t>
            </a:r>
            <a:endParaRPr kumimoji="0" lang="en-US" sz="2000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5167315" y="1073150"/>
            <a:ext cx="295275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Multiply both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x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 and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y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 by 2</a:t>
            </a:r>
            <a:br>
              <a:rPr kumimoji="0" lang="en-US" sz="2000" dirty="0">
                <a:solidFill>
                  <a:srgbClr val="FF0000"/>
                </a:solidFill>
                <a:latin typeface="+mn-lt"/>
              </a:rPr>
            </a:b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(preserves 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x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=</a:t>
            </a:r>
            <a:r>
              <a:rPr kumimoji="0" lang="en-US" sz="2000" i="1" dirty="0">
                <a:solidFill>
                  <a:srgbClr val="FF0000"/>
                </a:solidFill>
                <a:latin typeface="+mn-lt"/>
              </a:rPr>
              <a:t>y</a:t>
            </a:r>
            <a:r>
              <a:rPr kumimoji="0" lang="en-US" sz="2000" dirty="0">
                <a:solidFill>
                  <a:srgbClr val="FF0000"/>
                </a:solidFill>
                <a:latin typeface="+mn-lt"/>
              </a:rPr>
              <a:t>)</a:t>
            </a:r>
            <a:endParaRPr kumimoji="0" lang="en-US" sz="2000" i="1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38"/>
              <p:cNvSpPr txBox="1">
                <a:spLocks noChangeArrowheads="1"/>
              </p:cNvSpPr>
              <p:nvPr/>
            </p:nvSpPr>
            <p:spPr bwMode="auto">
              <a:xfrm>
                <a:off x="5699127" y="5805488"/>
                <a:ext cx="84296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sz="2000" i="1" dirty="0">
                    <a:solidFill>
                      <a:srgbClr val="FF0000"/>
                    </a:solidFill>
                    <a:latin typeface="+mn-lt"/>
                  </a:rPr>
                  <a:t>x </a:t>
                </a:r>
                <a14:m>
                  <m:oMath xmlns:m="http://schemas.openxmlformats.org/officeDocument/2006/math">
                    <m:r>
                      <a:rPr kumimoji="0"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0" lang="en-US" sz="2000" i="1" dirty="0">
                    <a:solidFill>
                      <a:srgbClr val="FF0000"/>
                    </a:solidFill>
                    <a:latin typeface="+mn-lt"/>
                  </a:rPr>
                  <a:t> y </a:t>
                </a:r>
                <a:r>
                  <a:rPr kumimoji="0" lang="en-US" sz="2000" dirty="0">
                    <a:solidFill>
                      <a:srgbClr val="FF0000"/>
                    </a:solidFill>
                    <a:latin typeface="+mn-lt"/>
                  </a:rPr>
                  <a:t>!</a:t>
                </a:r>
              </a:p>
            </p:txBody>
          </p:sp>
        </mc:Choice>
        <mc:Fallback xmlns="">
          <p:sp>
            <p:nvSpPr>
              <p:cNvPr id="38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9127" y="5805488"/>
                <a:ext cx="842963" cy="400050"/>
              </a:xfrm>
              <a:prstGeom prst="rect">
                <a:avLst/>
              </a:prstGeom>
              <a:blipFill>
                <a:blip r:embed="rId9"/>
                <a:stretch>
                  <a:fillRect l="-7971" t="-7576" r="-6522" b="-257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974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Two-phase locking (2PL)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lock requests precede all unlock requests</a:t>
            </a:r>
          </a:p>
          <a:p>
            <a:pPr lvl="1"/>
            <a:r>
              <a:rPr lang="en-US" dirty="0"/>
              <a:t>Phase 1: obtain locks, phase 2: release 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600200" y="2422525"/>
            <a:ext cx="1730375" cy="4135438"/>
            <a:chOff x="1008" y="1571"/>
            <a:chExt cx="1090" cy="2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>
                  <a:spLocks noChangeArrowheads="1"/>
                </p:cNvSpPr>
                <p:nvPr/>
              </p:nvSpPr>
              <p:spPr bwMode="auto">
                <a:xfrm>
                  <a:off x="1008" y="1571"/>
                  <a:ext cx="1090" cy="25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0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r1(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	r2(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w2(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	r2(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	w2(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r1(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8" y="1571"/>
                  <a:ext cx="1090" cy="2579"/>
                </a:xfrm>
                <a:prstGeom prst="rect">
                  <a:avLst/>
                </a:prstGeom>
                <a:blipFill>
                  <a:blip r:embed="rId6"/>
                  <a:stretch>
                    <a:fillRect l="-3887" r="-3180" b="-163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056" y="1830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536" y="1590"/>
              <a:ext cx="0" cy="2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920750" y="2814405"/>
            <a:ext cx="1271588" cy="3995737"/>
            <a:chOff x="580" y="1802"/>
            <a:chExt cx="801" cy="2517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0" y="1802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lock-X(</a:t>
              </a:r>
              <a:r>
                <a:rPr lang="en-US" sz="2000" i="1" dirty="0">
                  <a:solidFill>
                    <a:schemeClr val="accent5"/>
                  </a:solidFill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94" y="2308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lock-X(</a:t>
              </a:r>
              <a:r>
                <a:rPr lang="en-US" sz="2000" i="1" dirty="0">
                  <a:solidFill>
                    <a:schemeClr val="accent5"/>
                  </a:solidFill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24" y="4067"/>
              <a:ext cx="7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unlock(</a:t>
              </a:r>
              <a:r>
                <a:rPr lang="en-US" sz="2000" i="1" dirty="0">
                  <a:solidFill>
                    <a:schemeClr val="accent5"/>
                  </a:solidFill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608" y="2476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unlock(</a:t>
              </a:r>
              <a:r>
                <a:rPr lang="en-US" sz="2000" i="1" dirty="0">
                  <a:solidFill>
                    <a:schemeClr val="accent5"/>
                  </a:solidFill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2466976" y="4022725"/>
            <a:ext cx="1177926" cy="1249363"/>
            <a:chOff x="1554" y="2579"/>
            <a:chExt cx="742" cy="787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554" y="2579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</a:rPr>
                <a:t>lock-X(</a:t>
              </a:r>
              <a:r>
                <a:rPr lang="en-US" sz="2000" i="1" dirty="0">
                  <a:solidFill>
                    <a:schemeClr val="accent2"/>
                  </a:solidFill>
                </a:rPr>
                <a:t>x</a:t>
              </a:r>
              <a:r>
                <a:rPr kumimoji="0" lang="en-US" sz="2000" dirty="0">
                  <a:solidFill>
                    <a:schemeClr val="accent2"/>
                  </a:solidFill>
                </a:rPr>
                <a:t>)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584" y="3114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</a:rPr>
                <a:t>lock-X(</a:t>
              </a:r>
              <a:r>
                <a:rPr lang="en-US" sz="2000" i="1" dirty="0">
                  <a:solidFill>
                    <a:schemeClr val="accent2"/>
                  </a:solidFill>
                </a:rPr>
                <a:t>y</a:t>
              </a:r>
              <a:r>
                <a:rPr kumimoji="0" lang="en-US" sz="20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2209800" y="5262563"/>
            <a:ext cx="4214813" cy="1295400"/>
            <a:chOff x="1392" y="3360"/>
            <a:chExt cx="2655" cy="8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064" y="3645"/>
                  <a:ext cx="1983" cy="4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Cannot obtain the lock on </a:t>
                  </a:r>
                  <a:r>
                    <a:rPr kumimoji="0" lang="en-US" sz="2000" i="1" dirty="0">
                      <a:solidFill>
                        <a:schemeClr val="accent2"/>
                      </a:solidFill>
                      <a:latin typeface="+mn-lt"/>
                    </a:rPr>
                    <a:t>y</a:t>
                  </a:r>
                  <a:b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</a:b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until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 unlocks</a:t>
                  </a:r>
                </a:p>
              </p:txBody>
            </p:sp>
          </mc:Choice>
          <mc:Fallback xmlns="">
            <p:sp>
              <p:nvSpPr>
                <p:cNvPr id="18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4" y="3645"/>
                  <a:ext cx="1983" cy="446"/>
                </a:xfrm>
                <a:prstGeom prst="rect">
                  <a:avLst/>
                </a:prstGeom>
                <a:blipFill>
                  <a:blip r:embed="rId7"/>
                  <a:stretch>
                    <a:fillRect l="-2132" t="-5172" r="-969" b="-137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392" y="3360"/>
              <a:ext cx="768" cy="816"/>
            </a:xfrm>
            <a:custGeom>
              <a:avLst/>
              <a:gdLst>
                <a:gd name="T0" fmla="*/ 232 w 912"/>
                <a:gd name="T1" fmla="*/ 0 h 864"/>
                <a:gd name="T2" fmla="*/ 146 w 912"/>
                <a:gd name="T3" fmla="*/ 394 h 864"/>
                <a:gd name="T4" fmla="*/ 0 w 912"/>
                <a:gd name="T5" fmla="*/ 548 h 864"/>
                <a:gd name="T6" fmla="*/ 0 60000 65536"/>
                <a:gd name="T7" fmla="*/ 0 60000 65536"/>
                <a:gd name="T8" fmla="*/ 0 60000 65536"/>
                <a:gd name="T9" fmla="*/ 0 w 912"/>
                <a:gd name="T10" fmla="*/ 0 h 864"/>
                <a:gd name="T11" fmla="*/ 912 w 912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864">
                  <a:moveTo>
                    <a:pt x="912" y="0"/>
                  </a:moveTo>
                  <a:cubicBezTo>
                    <a:pt x="820" y="240"/>
                    <a:pt x="728" y="480"/>
                    <a:pt x="576" y="624"/>
                  </a:cubicBezTo>
                  <a:cubicBezTo>
                    <a:pt x="424" y="768"/>
                    <a:pt x="212" y="816"/>
                    <a:pt x="0" y="86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3886200" y="2422525"/>
            <a:ext cx="3695700" cy="3221038"/>
            <a:chOff x="2448" y="1571"/>
            <a:chExt cx="2328" cy="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>
                  <a:spLocks noChangeArrowheads="1"/>
                </p:cNvSpPr>
                <p:nvPr/>
              </p:nvSpPr>
              <p:spPr bwMode="auto">
                <a:xfrm>
                  <a:off x="3692" y="1571"/>
                  <a:ext cx="1084" cy="19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sz="20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r1(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r2(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w2(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r1(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</a:t>
                  </a:r>
                  <a:r>
                    <a:rPr lang="en-US" sz="2000" i="1" dirty="0"/>
                    <a:t>(y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	r2(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	w2(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2" y="1571"/>
                  <a:ext cx="1084" cy="1997"/>
                </a:xfrm>
                <a:prstGeom prst="rect">
                  <a:avLst/>
                </a:prstGeom>
                <a:blipFill>
                  <a:blip r:embed="rId8"/>
                  <a:stretch>
                    <a:fillRect l="-3534" r="-3534" b="-2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740" y="1830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224" y="1632"/>
              <a:ext cx="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utoShape 23"/>
            <p:cNvSpPr>
              <a:spLocks noChangeArrowheads="1"/>
            </p:cNvSpPr>
            <p:nvPr/>
          </p:nvSpPr>
          <p:spPr bwMode="auto">
            <a:xfrm>
              <a:off x="2448" y="2400"/>
              <a:ext cx="1152" cy="336"/>
            </a:xfrm>
            <a:prstGeom prst="rightArrow">
              <a:avLst>
                <a:gd name="adj1" fmla="val 50000"/>
                <a:gd name="adj2" fmla="val 53270"/>
              </a:avLst>
            </a:prstGeom>
            <a:noFill/>
            <a:ln w="38100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3162704" y="2627313"/>
            <a:ext cx="267413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2PL guarantees a</a:t>
            </a:r>
            <a:br>
              <a:rPr kumimoji="0" lang="en-US" dirty="0">
                <a:solidFill>
                  <a:schemeClr val="accent2"/>
                </a:solidFill>
                <a:latin typeface="+mn-lt"/>
              </a:rPr>
            </a:br>
            <a:r>
              <a:rPr kumimoji="0" lang="en-US" dirty="0">
                <a:solidFill>
                  <a:schemeClr val="accent2"/>
                </a:solidFill>
                <a:latin typeface="+mn-lt"/>
              </a:rPr>
              <a:t>conflict-serializable</a:t>
            </a:r>
            <a:br>
              <a:rPr kumimoji="0" lang="en-US" dirty="0">
                <a:solidFill>
                  <a:schemeClr val="accent2"/>
                </a:solidFill>
                <a:latin typeface="+mn-lt"/>
              </a:rPr>
            </a:br>
            <a:r>
              <a:rPr kumimoji="0" lang="en-US" dirty="0">
                <a:solidFill>
                  <a:schemeClr val="accent2"/>
                </a:solidFill>
                <a:latin typeface="+mn-lt"/>
              </a:rPr>
              <a:t>schedule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286E97-F164-4738-920F-722DFFD76306}"/>
              </a:ext>
            </a:extLst>
          </p:cNvPr>
          <p:cNvGrpSpPr/>
          <p:nvPr/>
        </p:nvGrpSpPr>
        <p:grpSpPr>
          <a:xfrm>
            <a:off x="6424613" y="3223584"/>
            <a:ext cx="591886" cy="2121357"/>
            <a:chOff x="6424613" y="3223584"/>
            <a:chExt cx="591886" cy="2121357"/>
          </a:xfrm>
        </p:grpSpPr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E61B3629-8A6D-4029-A65D-ABA94BBE7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1215" y="3542971"/>
              <a:ext cx="340520" cy="31624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C5E0D6AE-5CD4-4C85-9276-F3AC5265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6999" y="3634416"/>
              <a:ext cx="259695" cy="50973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6B071849-C174-4C0F-888F-67DFEE931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4613" y="3223584"/>
              <a:ext cx="467122" cy="9205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5FB238A7-7B73-4C31-A3A3-CFB0D26DF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5147" y="4424395"/>
              <a:ext cx="467122" cy="9205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2C6744A4-D837-4395-9BC0-F4FF9EB8E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9376" y="4872038"/>
              <a:ext cx="467123" cy="11941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7246B6CF-8367-419F-AD8D-8576F7EEC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9377" y="4932727"/>
              <a:ext cx="237318" cy="33896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8451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Remaining problems </a:t>
            </a:r>
            <a:r>
              <a:rPr lang="en-US" dirty="0"/>
              <a:t>of 2PL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44846" y="1456854"/>
                <a:ext cx="4570504" cy="385719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read uncommitted data written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aseline="-250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aborts,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must abort as well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Cascading aborts</a:t>
                </a:r>
                <a:r>
                  <a:rPr lang="en-US" dirty="0"/>
                  <a:t> possible if other transactions have read data written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4846" y="1456854"/>
                <a:ext cx="4570504" cy="3857198"/>
              </a:xfrm>
              <a:blipFill rotWithShape="0">
                <a:blip r:embed="rId6"/>
                <a:stretch>
                  <a:fillRect l="-2400" t="-2686" r="-4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62512" y="5007653"/>
                <a:ext cx="8053263" cy="17091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Even worse, 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commits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Schedule is </a:t>
                </a:r>
                <a:r>
                  <a:rPr lang="en-US" dirty="0">
                    <a:solidFill>
                      <a:schemeClr val="accent2"/>
                    </a:solidFill>
                  </a:rPr>
                  <a:t>not recoverable</a:t>
                </a:r>
                <a:r>
                  <a:rPr lang="en-US" dirty="0"/>
                  <a:t> if the system crashes right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commits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12" y="5007653"/>
                <a:ext cx="8053263" cy="1709114"/>
              </a:xfrm>
              <a:prstGeom prst="rect">
                <a:avLst/>
              </a:prstGeom>
              <a:blipFill rotWithShape="0">
                <a:blip r:embed="rId7"/>
                <a:stretch>
                  <a:fillRect l="-1363" t="-5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95400" y="1377950"/>
            <a:ext cx="1730375" cy="3478213"/>
            <a:chOff x="908" y="1098"/>
            <a:chExt cx="1090" cy="21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>
                  <a:spLocks noChangeArrowheads="1"/>
                </p:cNvSpPr>
                <p:nvPr/>
              </p:nvSpPr>
              <p:spPr bwMode="auto">
                <a:xfrm>
                  <a:off x="908" y="1098"/>
                  <a:ext cx="1090" cy="2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20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r1(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r2(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w2(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r1(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	r2(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 	w2(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>
                      <a:solidFill>
                        <a:schemeClr val="accent2"/>
                      </a:solidFill>
                    </a:rPr>
                    <a:t>Abort!</a:t>
                  </a:r>
                  <a:endParaRPr lang="en-US" sz="1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8" y="1098"/>
                  <a:ext cx="1090" cy="2191"/>
                </a:xfrm>
                <a:prstGeom prst="rect">
                  <a:avLst/>
                </a:prstGeom>
                <a:blipFill>
                  <a:blip r:embed="rId8"/>
                  <a:stretch>
                    <a:fillRect l="-3887" r="-3180" b="-210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956" y="1357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440" y="1121"/>
              <a:ext cx="0" cy="21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8384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27CF-0B72-487D-9303-EA1D098A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Deadlocks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69507-3215-4406-80E6-1B7219E51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sz="2400" dirty="0"/>
                  <a:t>A transaction is deadlocked if it is blocked and will remain blocked until there is an intervention.</a:t>
                </a:r>
              </a:p>
              <a:p>
                <a:r>
                  <a:rPr lang="en-US" sz="2400" dirty="0"/>
                  <a:t>Locking-based concurrency control algorithms may cause deadlocks requiring abort of one of the transactions</a:t>
                </a:r>
                <a:br>
                  <a:rPr lang="en-US" sz="2400" dirty="0"/>
                </a:br>
                <a:endParaRPr lang="en-CA" sz="2400" dirty="0"/>
              </a:p>
              <a:p>
                <a:r>
                  <a:rPr lang="en-US" sz="2400" dirty="0"/>
                  <a:t>Consider the partial history </a:t>
                </a:r>
              </a:p>
              <a:p>
                <a:pPr lvl="1"/>
                <a:r>
                  <a:rPr lang="en-US" sz="2000" dirty="0"/>
                  <a:t>Neither 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sz="2000" dirty="0"/>
                  <a:t> nor 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sz="2000" dirty="0"/>
                  <a:t> can make progress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CA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69507-3215-4406-80E6-1B7219E51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969" t="-16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A5630-E701-4BE8-9A34-9065EF05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7A631B-2997-4C50-AD80-6054D56D7BED}"/>
              </a:ext>
            </a:extLst>
          </p:cNvPr>
          <p:cNvGrpSpPr>
            <a:grpSpLocks/>
          </p:cNvGrpSpPr>
          <p:nvPr/>
        </p:nvGrpSpPr>
        <p:grpSpPr bwMode="auto">
          <a:xfrm>
            <a:off x="5722147" y="3013804"/>
            <a:ext cx="1614488" cy="3478213"/>
            <a:chOff x="908" y="1098"/>
            <a:chExt cx="1017" cy="21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D90C22-B029-4427-904C-175BB6655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8" y="1098"/>
                  <a:ext cx="1017" cy="2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2000" i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baseline="-25000" dirty="0"/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lang="en-US" sz="2000" dirty="0"/>
                  </a:br>
                  <a:br>
                    <a:rPr lang="en-US" sz="2000" dirty="0"/>
                  </a:br>
                  <a:r>
                    <a:rPr lang="en-US" sz="2000" dirty="0"/>
                    <a:t>r1(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x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r2(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	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sz="2000" dirty="0"/>
                </a:p>
                <a:p>
                  <a:pPr>
                    <a:spcBef>
                      <a:spcPct val="0"/>
                    </a:spcBef>
                  </a:pPr>
                  <a:endParaRPr lang="en-US" sz="2000" dirty="0"/>
                </a:p>
                <a:p>
                  <a:pPr>
                    <a:spcBef>
                      <a:spcPct val="0"/>
                    </a:spcBef>
                  </a:pPr>
                  <a:r>
                    <a:rPr lang="en-US" sz="2000" dirty="0"/>
                    <a:t> r1(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  <a:br>
                    <a:rPr lang="en-US" sz="2000" dirty="0"/>
                  </a:br>
                  <a:r>
                    <a:rPr lang="en-US" sz="2000" dirty="0"/>
                    <a:t>w1(</a:t>
                  </a:r>
                  <a:r>
                    <a:rPr lang="en-US" sz="2000" i="1" dirty="0"/>
                    <a:t>y</a:t>
                  </a:r>
                  <a:r>
                    <a:rPr lang="en-US" sz="2000" dirty="0"/>
                    <a:t>)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2000" dirty="0"/>
                    <a:t>… 	…</a:t>
                  </a:r>
                  <a:endParaRPr lang="en-US" sz="1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D90C22-B029-4427-904C-175BB6655A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8" y="1098"/>
                  <a:ext cx="1017" cy="2191"/>
                </a:xfrm>
                <a:prstGeom prst="rect">
                  <a:avLst/>
                </a:prstGeom>
                <a:blipFill>
                  <a:blip r:embed="rId7"/>
                  <a:stretch>
                    <a:fillRect l="-4151" r="-3019" b="-210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7630A233-79D8-4039-9DA9-50CEF39AB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" y="1357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256F7448-F134-4574-9112-12460D876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121"/>
              <a:ext cx="0" cy="21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DA9E03-8069-4E19-BE45-226142456B61}"/>
              </a:ext>
            </a:extLst>
          </p:cNvPr>
          <p:cNvGrpSpPr>
            <a:grpSpLocks/>
          </p:cNvGrpSpPr>
          <p:nvPr/>
        </p:nvGrpSpPr>
        <p:grpSpPr bwMode="auto">
          <a:xfrm>
            <a:off x="5315746" y="3424979"/>
            <a:ext cx="1152525" cy="2057407"/>
            <a:chOff x="580" y="1802"/>
            <a:chExt cx="726" cy="129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41B3E2-6608-4FE6-A7F1-24A0FBAB7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1802"/>
              <a:ext cx="7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lock-X(</a:t>
              </a:r>
              <a:r>
                <a:rPr lang="en-US" sz="2000" i="1" dirty="0">
                  <a:solidFill>
                    <a:schemeClr val="accent5"/>
                  </a:solidFill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3E7740-5A80-412D-B6CD-2ACA81803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2846"/>
              <a:ext cx="7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lock-X(</a:t>
              </a:r>
              <a:r>
                <a:rPr lang="en-US" sz="2000" i="1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DDAC61-4196-48E9-9143-395483921F60}"/>
              </a:ext>
            </a:extLst>
          </p:cNvPr>
          <p:cNvGrpSpPr>
            <a:grpSpLocks/>
          </p:cNvGrpSpPr>
          <p:nvPr/>
        </p:nvGrpSpPr>
        <p:grpSpPr bwMode="auto">
          <a:xfrm>
            <a:off x="6977860" y="4016321"/>
            <a:ext cx="1150938" cy="966793"/>
            <a:chOff x="580" y="1802"/>
            <a:chExt cx="725" cy="60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0C11DF-5869-4513-8A97-5A0394F19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1802"/>
              <a:ext cx="7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</a:rPr>
                <a:t>lock-S(</a:t>
              </a:r>
              <a:r>
                <a:rPr kumimoji="0" lang="en-US" sz="2000" i="1" dirty="0">
                  <a:solidFill>
                    <a:schemeClr val="accent5"/>
                  </a:solidFill>
                </a:rPr>
                <a:t>y</a:t>
              </a:r>
              <a:r>
                <a:rPr kumimoji="0" lang="en-US" sz="2000" dirty="0">
                  <a:solidFill>
                    <a:schemeClr val="accent5"/>
                  </a:solidFill>
                </a:rPr>
                <a:t>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5F8A6E-1707-4EC5-B5AB-497DCF310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2159"/>
              <a:ext cx="7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lock-S(</a:t>
              </a:r>
              <a:r>
                <a:rPr kumimoji="0" lang="en-US" sz="2000" i="1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x</a:t>
              </a:r>
              <a:r>
                <a:rPr kumimoji="0" lang="en-US" sz="2000" dirty="0">
                  <a:solidFill>
                    <a:schemeClr val="accent5"/>
                  </a:solidFill>
                  <a:highlight>
                    <a:srgbClr val="FFFF00"/>
                  </a:highlight>
                </a:rPr>
                <a:t>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0138C4-F592-4EE1-96C8-0CAC1350A4B1}"/>
              </a:ext>
            </a:extLst>
          </p:cNvPr>
          <p:cNvGrpSpPr>
            <a:grpSpLocks/>
          </p:cNvGrpSpPr>
          <p:nvPr/>
        </p:nvGrpSpPr>
        <p:grpSpPr bwMode="auto">
          <a:xfrm>
            <a:off x="6183908" y="5258972"/>
            <a:ext cx="2911895" cy="1016155"/>
            <a:chOff x="-222" y="3202"/>
            <a:chExt cx="1795" cy="8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7">
                  <a:extLst>
                    <a:ext uri="{FF2B5EF4-FFF2-40B4-BE49-F238E27FC236}">
                      <a16:creationId xmlns:a16="http://schemas.microsoft.com/office/drawing/2014/main" id="{3A9C2C94-CADE-4F0E-8E92-CE2D3A4316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0" y="3202"/>
                  <a:ext cx="1193" cy="8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Cannot obtain the lock on </a:t>
                  </a:r>
                  <a:r>
                    <a:rPr kumimoji="0" lang="en-US" sz="2000" i="1" dirty="0">
                      <a:solidFill>
                        <a:schemeClr val="accent2"/>
                      </a:solidFill>
                      <a:latin typeface="+mn-lt"/>
                    </a:rPr>
                    <a:t>y</a:t>
                  </a:r>
                  <a:b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</a:b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until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 unlocks</a:t>
                  </a:r>
                </a:p>
              </p:txBody>
            </p:sp>
          </mc:Choice>
          <mc:Fallback xmlns="">
            <p:sp>
              <p:nvSpPr>
                <p:cNvPr id="25" name="Text Box 17">
                  <a:extLst>
                    <a:ext uri="{FF2B5EF4-FFF2-40B4-BE49-F238E27FC236}">
                      <a16:creationId xmlns:a16="http://schemas.microsoft.com/office/drawing/2014/main" id="{3A9C2C94-CADE-4F0E-8E92-CE2D3A431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0" y="3202"/>
                  <a:ext cx="1193" cy="865"/>
                </a:xfrm>
                <a:prstGeom prst="rect">
                  <a:avLst/>
                </a:prstGeom>
                <a:blipFill>
                  <a:blip r:embed="rId8"/>
                  <a:stretch>
                    <a:fillRect l="-3470" t="-3614" b="-1024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5BEF015D-A85E-4192-8C88-B5CD62AF8EF3}"/>
                </a:ext>
              </a:extLst>
            </p:cNvPr>
            <p:cNvSpPr>
              <a:spLocks/>
            </p:cNvSpPr>
            <p:nvPr/>
          </p:nvSpPr>
          <p:spPr bwMode="auto">
            <a:xfrm rot="20284063">
              <a:off x="-222" y="3221"/>
              <a:ext cx="773" cy="828"/>
            </a:xfrm>
            <a:custGeom>
              <a:avLst/>
              <a:gdLst>
                <a:gd name="T0" fmla="*/ 232 w 912"/>
                <a:gd name="T1" fmla="*/ 0 h 864"/>
                <a:gd name="T2" fmla="*/ 146 w 912"/>
                <a:gd name="T3" fmla="*/ 394 h 864"/>
                <a:gd name="T4" fmla="*/ 0 w 912"/>
                <a:gd name="T5" fmla="*/ 548 h 864"/>
                <a:gd name="T6" fmla="*/ 0 60000 65536"/>
                <a:gd name="T7" fmla="*/ 0 60000 65536"/>
                <a:gd name="T8" fmla="*/ 0 60000 65536"/>
                <a:gd name="T9" fmla="*/ 0 w 912"/>
                <a:gd name="T10" fmla="*/ 0 h 864"/>
                <a:gd name="T11" fmla="*/ 912 w 912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864">
                  <a:moveTo>
                    <a:pt x="912" y="0"/>
                  </a:moveTo>
                  <a:cubicBezTo>
                    <a:pt x="820" y="240"/>
                    <a:pt x="728" y="480"/>
                    <a:pt x="576" y="624"/>
                  </a:cubicBezTo>
                  <a:cubicBezTo>
                    <a:pt x="424" y="768"/>
                    <a:pt x="212" y="816"/>
                    <a:pt x="0" y="86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2E9966-94D8-4B1D-9FF2-8304CD6ED7A8}"/>
              </a:ext>
            </a:extLst>
          </p:cNvPr>
          <p:cNvGrpSpPr>
            <a:grpSpLocks/>
          </p:cNvGrpSpPr>
          <p:nvPr/>
        </p:nvGrpSpPr>
        <p:grpSpPr bwMode="auto">
          <a:xfrm rot="18562644" flipH="1">
            <a:off x="5228685" y="3258079"/>
            <a:ext cx="1024625" cy="3882267"/>
            <a:chOff x="1525" y="341"/>
            <a:chExt cx="825" cy="3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7">
                  <a:extLst>
                    <a:ext uri="{FF2B5EF4-FFF2-40B4-BE49-F238E27FC236}">
                      <a16:creationId xmlns:a16="http://schemas.microsoft.com/office/drawing/2014/main" id="{3DB8ABDB-4854-4609-9598-7897D5B0D2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8562644">
                  <a:off x="1021" y="852"/>
                  <a:ext cx="1839" cy="8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Cannot obtain the lock on </a:t>
                  </a:r>
                  <a:r>
                    <a:rPr kumimoji="0" lang="en-US" sz="2000" i="1" dirty="0">
                      <a:solidFill>
                        <a:schemeClr val="accent2"/>
                      </a:solidFill>
                      <a:latin typeface="+mn-lt"/>
                    </a:rPr>
                    <a:t>y</a:t>
                  </a:r>
                  <a:b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</a:br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until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CA" sz="20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0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0" lang="en-US" sz="2000" dirty="0">
                      <a:solidFill>
                        <a:schemeClr val="accent2"/>
                      </a:solidFill>
                      <a:latin typeface="+mn-lt"/>
                    </a:rPr>
                    <a:t>unlocks</a:t>
                  </a:r>
                </a:p>
              </p:txBody>
            </p:sp>
          </mc:Choice>
          <mc:Fallback xmlns="">
            <p:sp>
              <p:nvSpPr>
                <p:cNvPr id="28" name="Text Box 17">
                  <a:extLst>
                    <a:ext uri="{FF2B5EF4-FFF2-40B4-BE49-F238E27FC236}">
                      <a16:creationId xmlns:a16="http://schemas.microsoft.com/office/drawing/2014/main" id="{3DB8ABDB-4854-4609-9598-7897D5B0D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rot="18562644">
                  <a:off x="1021" y="852"/>
                  <a:ext cx="1839" cy="818"/>
                </a:xfrm>
                <a:prstGeom prst="rect">
                  <a:avLst/>
                </a:prstGeom>
                <a:blipFill>
                  <a:blip r:embed="rId9"/>
                  <a:stretch>
                    <a:fillRect l="-3155" t="-2994" b="-958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07E3A511-9C51-4712-8067-4F8C417A262E}"/>
                </a:ext>
              </a:extLst>
            </p:cNvPr>
            <p:cNvSpPr>
              <a:spLocks/>
            </p:cNvSpPr>
            <p:nvPr/>
          </p:nvSpPr>
          <p:spPr bwMode="auto">
            <a:xfrm rot="892111" flipH="1">
              <a:off x="1525" y="2670"/>
              <a:ext cx="546" cy="1371"/>
            </a:xfrm>
            <a:custGeom>
              <a:avLst/>
              <a:gdLst>
                <a:gd name="T0" fmla="*/ 232 w 912"/>
                <a:gd name="T1" fmla="*/ 0 h 864"/>
                <a:gd name="T2" fmla="*/ 146 w 912"/>
                <a:gd name="T3" fmla="*/ 394 h 864"/>
                <a:gd name="T4" fmla="*/ 0 w 912"/>
                <a:gd name="T5" fmla="*/ 548 h 864"/>
                <a:gd name="T6" fmla="*/ 0 60000 65536"/>
                <a:gd name="T7" fmla="*/ 0 60000 65536"/>
                <a:gd name="T8" fmla="*/ 0 60000 65536"/>
                <a:gd name="T9" fmla="*/ 0 w 912"/>
                <a:gd name="T10" fmla="*/ 0 h 864"/>
                <a:gd name="T11" fmla="*/ 912 w 912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864">
                  <a:moveTo>
                    <a:pt x="912" y="0"/>
                  </a:moveTo>
                  <a:cubicBezTo>
                    <a:pt x="820" y="240"/>
                    <a:pt x="728" y="480"/>
                    <a:pt x="576" y="624"/>
                  </a:cubicBezTo>
                  <a:cubicBezTo>
                    <a:pt x="424" y="768"/>
                    <a:pt x="212" y="816"/>
                    <a:pt x="0" y="86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C4D9EE5-E8A7-4037-8531-BCAD3C260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545" y="6208024"/>
            <a:ext cx="1417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chemeClr val="accent5"/>
                </a:solidFill>
                <a:highlight>
                  <a:srgbClr val="FFFF00"/>
                </a:highlight>
              </a:rPr>
              <a:t>unlock-X(</a:t>
            </a:r>
            <a:r>
              <a:rPr kumimoji="0" lang="en-US" sz="2000" i="1" dirty="0">
                <a:solidFill>
                  <a:schemeClr val="accent5"/>
                </a:solidFill>
                <a:highlight>
                  <a:srgbClr val="FFFF00"/>
                </a:highlight>
              </a:rPr>
              <a:t>x</a:t>
            </a:r>
            <a:r>
              <a:rPr kumimoji="0" lang="en-US" sz="2000" dirty="0">
                <a:solidFill>
                  <a:schemeClr val="accent5"/>
                </a:solidFill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4D42AF-6CBB-465E-A961-6C923F539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31" y="6385109"/>
            <a:ext cx="13965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solidFill>
                  <a:schemeClr val="accent5"/>
                </a:solidFill>
                <a:highlight>
                  <a:srgbClr val="FFFF00"/>
                </a:highlight>
              </a:rPr>
              <a:t>unlock-S(</a:t>
            </a:r>
            <a:r>
              <a:rPr lang="en-US" sz="2000" i="1" dirty="0">
                <a:solidFill>
                  <a:schemeClr val="accent5"/>
                </a:solidFill>
                <a:highlight>
                  <a:srgbClr val="FFFF00"/>
                </a:highlight>
              </a:rPr>
              <a:t>y</a:t>
            </a:r>
            <a:r>
              <a:rPr kumimoji="0" lang="en-US" sz="2000" dirty="0">
                <a:solidFill>
                  <a:schemeClr val="accent5"/>
                </a:solidFill>
                <a:highlight>
                  <a:srgbClr val="FFFF00"/>
                </a:highlight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242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2PL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release X-locks at commit/abort time</a:t>
            </a:r>
          </a:p>
          <a:p>
            <a:pPr lvl="1"/>
            <a:r>
              <a:rPr lang="en-US" dirty="0"/>
              <a:t>A writer will block all other readers until the writer commits or aborts</a:t>
            </a:r>
          </a:p>
          <a:p>
            <a:endParaRPr lang="en-US" dirty="0"/>
          </a:p>
          <a:p>
            <a:r>
              <a:rPr lang="en-US" dirty="0"/>
              <a:t>Used in many commercial DBMS</a:t>
            </a:r>
          </a:p>
          <a:p>
            <a:pPr lvl="1"/>
            <a:r>
              <a:rPr lang="en-US" dirty="0"/>
              <a:t>Oracle is a notable exception</a:t>
            </a:r>
          </a:p>
          <a:p>
            <a:pPr lvl="1"/>
            <a:endParaRPr lang="en-US" dirty="0"/>
          </a:p>
          <a:p>
            <a:r>
              <a:rPr lang="en-US" dirty="0"/>
              <a:t>Why do we use strict 2PL? (assignment question)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41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5017-65CB-45E0-A05E-FF66CA74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CBF0-74F3-4E67-92A2-2FCA205D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Concurrency control -- isolation</a:t>
            </a:r>
          </a:p>
          <a:p>
            <a:pPr lvl="1"/>
            <a:r>
              <a:rPr lang="en-CA" dirty="0"/>
              <a:t>Review serializable execution histories</a:t>
            </a:r>
          </a:p>
          <a:p>
            <a:pPr lvl="1"/>
            <a:r>
              <a:rPr lang="en-CA" dirty="0"/>
              <a:t>Locking-based concurrency control 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chemeClr val="accent2"/>
                </a:solidFill>
              </a:rPr>
              <a:t>Recovery – atomicity and durability</a:t>
            </a:r>
          </a:p>
          <a:p>
            <a:pPr lvl="1"/>
            <a:r>
              <a:rPr lang="en-CA" dirty="0">
                <a:solidFill>
                  <a:schemeClr val="accent2"/>
                </a:solidFill>
              </a:rPr>
              <a:t>Naïve approaches</a:t>
            </a:r>
          </a:p>
          <a:p>
            <a:pPr lvl="1"/>
            <a:r>
              <a:rPr lang="en-CA" dirty="0">
                <a:solidFill>
                  <a:schemeClr val="accent2"/>
                </a:solidFill>
              </a:rPr>
              <a:t>Logging for undo and redo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B8C68-14F1-4F80-89DD-40206DDC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03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read/write </a:t>
            </a:r>
            <a:r>
              <a:rPr lang="en-US" i="1" dirty="0"/>
              <a:t>X</a:t>
            </a:r>
            <a:endParaRPr lang="en-US" dirty="0"/>
          </a:p>
          <a:p>
            <a:r>
              <a:rPr lang="en-US" dirty="0"/>
              <a:t>The disk block containing </a:t>
            </a:r>
            <a:r>
              <a:rPr lang="en-US" i="1" dirty="0"/>
              <a:t>X</a:t>
            </a:r>
            <a:r>
              <a:rPr lang="en-US" dirty="0"/>
              <a:t> must be first brought into memory</a:t>
            </a:r>
          </a:p>
          <a:p>
            <a:r>
              <a:rPr lang="en-US" i="1" dirty="0"/>
              <a:t>X</a:t>
            </a:r>
            <a:r>
              <a:rPr lang="en-US" dirty="0"/>
              <a:t> is read/written in memory</a:t>
            </a:r>
          </a:p>
          <a:p>
            <a:r>
              <a:rPr lang="en-US" dirty="0"/>
              <a:t>The memory block containing </a:t>
            </a:r>
            <a:r>
              <a:rPr lang="en-US" i="1" dirty="0"/>
              <a:t>X</a:t>
            </a:r>
            <a:r>
              <a:rPr lang="en-US" dirty="0"/>
              <a:t>, if modified, must be written back (flushed) to disk eventually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85800" y="4789028"/>
            <a:ext cx="7772400" cy="1544638"/>
            <a:chOff x="432" y="755"/>
            <a:chExt cx="4896" cy="973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432" y="960"/>
              <a:ext cx="528" cy="5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488" y="864"/>
              <a:ext cx="1248" cy="7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3264" y="768"/>
              <a:ext cx="2064" cy="960"/>
            </a:xfrm>
            <a:prstGeom prst="can">
              <a:avLst>
                <a:gd name="adj" fmla="val 25000"/>
              </a:avLst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456" y="1067"/>
              <a:ext cx="4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CPU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488" y="867"/>
              <a:ext cx="80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Memory</a:t>
              </a:r>
              <a:br>
                <a:rPr kumimoji="0" lang="en-US">
                  <a:latin typeface="+mn-lt"/>
                </a:rPr>
              </a:br>
              <a:r>
                <a:rPr kumimoji="0" lang="en-US">
                  <a:latin typeface="+mn-lt"/>
                </a:rPr>
                <a:t>buffer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080" y="755"/>
              <a:ext cx="4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Disk</a:t>
              </a:r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5943600" y="5266866"/>
            <a:ext cx="1752600" cy="914400"/>
            <a:chOff x="3744" y="1056"/>
            <a:chExt cx="1104" cy="576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512" y="1104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416" y="1152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320" y="1056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4224" y="1152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4128" y="1104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032" y="1056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936" y="1104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840" y="1152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744" y="1104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2000" i="1"/>
                <a:t>X</a:t>
              </a:r>
              <a:br>
                <a:rPr kumimoji="0" lang="en-US" sz="2000" i="1"/>
              </a:br>
              <a:r>
                <a:rPr kumimoji="0" lang="en-US" sz="2000" i="1"/>
                <a:t> Y…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3556000" y="5089066"/>
            <a:ext cx="685800" cy="914400"/>
            <a:chOff x="2208" y="960"/>
            <a:chExt cx="432" cy="576"/>
          </a:xfrm>
        </p:grpSpPr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304" y="960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256" y="1008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2208" y="1056"/>
              <a:ext cx="336" cy="48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2000" i="1" dirty="0"/>
                <a:t>X</a:t>
              </a:r>
              <a:br>
                <a:rPr kumimoji="0" lang="en-US" sz="2000" i="1" dirty="0"/>
              </a:br>
              <a:r>
                <a:rPr kumimoji="0" lang="en-US" sz="2000" i="1" dirty="0"/>
                <a:t>Y…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918D983-A595-4439-BAA8-656F95E48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5257332"/>
            <a:ext cx="533400" cy="76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i="1" dirty="0">
                <a:solidFill>
                  <a:schemeClr val="accent2"/>
                </a:solidFill>
              </a:rPr>
              <a:t>X</a:t>
            </a:r>
            <a:br>
              <a:rPr kumimoji="0" lang="en-US" sz="2000" i="1" dirty="0">
                <a:solidFill>
                  <a:schemeClr val="accent2"/>
                </a:solidFill>
              </a:rPr>
            </a:br>
            <a:r>
              <a:rPr kumimoji="0" lang="en-US" sz="2000" i="1" dirty="0">
                <a:solidFill>
                  <a:schemeClr val="accent2"/>
                </a:solidFill>
              </a:rPr>
              <a:t>Y…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025EC4-E93C-4D38-BF86-73EC7410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807" y="5341702"/>
            <a:ext cx="533400" cy="76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i="1" dirty="0">
                <a:solidFill>
                  <a:schemeClr val="accent2"/>
                </a:solidFill>
              </a:rPr>
              <a:t>X</a:t>
            </a:r>
            <a:br>
              <a:rPr kumimoji="0" lang="en-US" sz="2000" i="1" dirty="0">
                <a:solidFill>
                  <a:schemeClr val="accent2"/>
                </a:solidFill>
              </a:rPr>
            </a:br>
            <a:r>
              <a:rPr kumimoji="0" lang="en-US" sz="2000" i="1" dirty="0">
                <a:solidFill>
                  <a:schemeClr val="accent2"/>
                </a:solidFill>
              </a:rPr>
              <a:t>Y…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5" y="1456854"/>
            <a:ext cx="8315097" cy="5264622"/>
          </a:xfrm>
        </p:spPr>
        <p:txBody>
          <a:bodyPr/>
          <a:lstStyle/>
          <a:p>
            <a:r>
              <a:rPr lang="en-US" dirty="0"/>
              <a:t>System crashes right after a transaction </a:t>
            </a:r>
            <a:r>
              <a:rPr lang="en-US" i="1" dirty="0"/>
              <a:t>T1</a:t>
            </a:r>
            <a:r>
              <a:rPr lang="en-US" dirty="0"/>
              <a:t> commits; </a:t>
            </a:r>
            <a:r>
              <a:rPr lang="en-US" dirty="0">
                <a:solidFill>
                  <a:schemeClr val="accent2"/>
                </a:solidFill>
              </a:rPr>
              <a:t>but not all effects of </a:t>
            </a:r>
            <a:r>
              <a:rPr lang="en-US" i="1" dirty="0">
                <a:solidFill>
                  <a:schemeClr val="accent2"/>
                </a:solidFill>
              </a:rPr>
              <a:t>T1</a:t>
            </a:r>
            <a:r>
              <a:rPr lang="en-US" dirty="0">
                <a:solidFill>
                  <a:schemeClr val="accent2"/>
                </a:solidFill>
              </a:rPr>
              <a:t> were written to disk</a:t>
            </a:r>
          </a:p>
          <a:p>
            <a:pPr lvl="1"/>
            <a:r>
              <a:rPr lang="en-US" dirty="0"/>
              <a:t>How do we complete/redo </a:t>
            </a:r>
            <a:r>
              <a:rPr lang="en-US" i="1" dirty="0"/>
              <a:t>T1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durability</a:t>
            </a:r>
            <a:r>
              <a:rPr lang="en-US" dirty="0"/>
              <a:t>)?</a:t>
            </a:r>
          </a:p>
          <a:p>
            <a:pPr lvl="1"/>
            <a:endParaRPr lang="en-US" dirty="0"/>
          </a:p>
          <a:p>
            <a:r>
              <a:rPr lang="en-US" dirty="0"/>
              <a:t>System crashes in the middle of a transaction </a:t>
            </a:r>
            <a:r>
              <a:rPr lang="en-US" i="1" dirty="0"/>
              <a:t>T2</a:t>
            </a:r>
            <a:r>
              <a:rPr lang="en-US" dirty="0"/>
              <a:t>; </a:t>
            </a:r>
            <a:r>
              <a:rPr lang="en-US" dirty="0">
                <a:solidFill>
                  <a:schemeClr val="accent2"/>
                </a:solidFill>
              </a:rPr>
              <a:t>partial effects of </a:t>
            </a:r>
            <a:r>
              <a:rPr lang="en-US" i="1" dirty="0">
                <a:solidFill>
                  <a:schemeClr val="accent2"/>
                </a:solidFill>
              </a:rPr>
              <a:t>T2</a:t>
            </a:r>
            <a:r>
              <a:rPr lang="en-US" dirty="0">
                <a:solidFill>
                  <a:schemeClr val="accent2"/>
                </a:solidFill>
              </a:rPr>
              <a:t> were written to disk</a:t>
            </a:r>
          </a:p>
          <a:p>
            <a:pPr lvl="1"/>
            <a:r>
              <a:rPr lang="en-US" dirty="0"/>
              <a:t>How do we undo </a:t>
            </a:r>
            <a:r>
              <a:rPr lang="en-US" i="1" dirty="0"/>
              <a:t>T2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atomicity</a:t>
            </a:r>
            <a:r>
              <a:rPr lang="en-US" dirty="0"/>
              <a:t>)?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782883-7278-4AF1-9F5E-4398FEB09A4F}"/>
              </a:ext>
            </a:extLst>
          </p:cNvPr>
          <p:cNvCxnSpPr>
            <a:cxnSpLocks/>
          </p:cNvCxnSpPr>
          <p:nvPr/>
        </p:nvCxnSpPr>
        <p:spPr>
          <a:xfrm>
            <a:off x="964735" y="6262416"/>
            <a:ext cx="7155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A87396-53F9-4B58-B3DF-282E6F664B95}"/>
              </a:ext>
            </a:extLst>
          </p:cNvPr>
          <p:cNvGrpSpPr/>
          <p:nvPr/>
        </p:nvGrpSpPr>
        <p:grpSpPr>
          <a:xfrm>
            <a:off x="1560718" y="4886641"/>
            <a:ext cx="2601796" cy="369332"/>
            <a:chOff x="687091" y="4655675"/>
            <a:chExt cx="2601796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A3DC8B6-6737-4B47-B460-275BD25AE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735" y="5016617"/>
              <a:ext cx="1954634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B5009B-84EA-4353-AC9E-5CF40BC51D2D}"/>
                </a:ext>
              </a:extLst>
            </p:cNvPr>
            <p:cNvSpPr txBox="1"/>
            <p:nvPr/>
          </p:nvSpPr>
          <p:spPr>
            <a:xfrm flipH="1">
              <a:off x="1627465" y="4655675"/>
              <a:ext cx="629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T1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50AFB9-E4FC-4DC2-87EC-9832F161AD0C}"/>
                </a:ext>
              </a:extLst>
            </p:cNvPr>
            <p:cNvSpPr txBox="1"/>
            <p:nvPr/>
          </p:nvSpPr>
          <p:spPr>
            <a:xfrm flipH="1">
              <a:off x="687091" y="4655675"/>
              <a:ext cx="739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start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7BC69C-741A-438A-9242-AA89014F408A}"/>
                </a:ext>
              </a:extLst>
            </p:cNvPr>
            <p:cNvSpPr txBox="1"/>
            <p:nvPr/>
          </p:nvSpPr>
          <p:spPr>
            <a:xfrm flipH="1">
              <a:off x="2549851" y="4655675"/>
              <a:ext cx="739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end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AA15B4-7F3F-433B-AC4C-D5EFB87597E8}"/>
              </a:ext>
            </a:extLst>
          </p:cNvPr>
          <p:cNvGrpSpPr/>
          <p:nvPr/>
        </p:nvGrpSpPr>
        <p:grpSpPr>
          <a:xfrm>
            <a:off x="4114944" y="4712440"/>
            <a:ext cx="855389" cy="2102457"/>
            <a:chOff x="-581794" y="2570319"/>
            <a:chExt cx="855389" cy="210245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F72640-66CE-43AD-A74C-C7F0325F9D5E}"/>
                </a:ext>
              </a:extLst>
            </p:cNvPr>
            <p:cNvCxnSpPr>
              <a:cxnSpLocks/>
            </p:cNvCxnSpPr>
            <p:nvPr/>
          </p:nvCxnSpPr>
          <p:spPr>
            <a:xfrm>
              <a:off x="-182655" y="2570319"/>
              <a:ext cx="0" cy="2102457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3" name="Picture 22" descr="A close up of a logo&#10;&#10;Description automatically generated">
              <a:extLst>
                <a:ext uri="{FF2B5EF4-FFF2-40B4-BE49-F238E27FC236}">
                  <a16:creationId xmlns:a16="http://schemas.microsoft.com/office/drawing/2014/main" id="{BC456172-B004-43DF-8C69-209A9DC44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81794" y="3826787"/>
              <a:ext cx="855389" cy="845989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79DE128-CFF1-4B44-9D70-0ACD688B5B93}"/>
              </a:ext>
            </a:extLst>
          </p:cNvPr>
          <p:cNvSpPr/>
          <p:nvPr/>
        </p:nvSpPr>
        <p:spPr>
          <a:xfrm>
            <a:off x="7463254" y="5895465"/>
            <a:ext cx="595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latin typeface="TimesNewRomanPSMT"/>
              </a:rPr>
              <a:t>time</a:t>
            </a:r>
            <a:endParaRPr lang="en-CA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2B2558-B5A6-4A5C-B32D-7A43D28C8433}"/>
              </a:ext>
            </a:extLst>
          </p:cNvPr>
          <p:cNvGrpSpPr/>
          <p:nvPr/>
        </p:nvGrpSpPr>
        <p:grpSpPr>
          <a:xfrm>
            <a:off x="2281805" y="5401146"/>
            <a:ext cx="3220045" cy="369332"/>
            <a:chOff x="2281805" y="5401146"/>
            <a:chExt cx="3220045" cy="3693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4C928E-167B-4A5B-B1A6-875B94778891}"/>
                </a:ext>
              </a:extLst>
            </p:cNvPr>
            <p:cNvGrpSpPr/>
            <p:nvPr/>
          </p:nvGrpSpPr>
          <p:grpSpPr>
            <a:xfrm>
              <a:off x="2281805" y="5401146"/>
              <a:ext cx="2232278" cy="369332"/>
              <a:chOff x="687091" y="4655675"/>
              <a:chExt cx="2232278" cy="369332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ECFEB4E-23FE-4F54-A173-9414D16E6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4735" y="5016617"/>
                <a:ext cx="1954634" cy="0"/>
              </a:xfrm>
              <a:prstGeom prst="straightConnector1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4ECCF4-8B16-46DE-949C-24BFEE4FB5DB}"/>
                  </a:ext>
                </a:extLst>
              </p:cNvPr>
              <p:cNvSpPr txBox="1"/>
              <p:nvPr/>
            </p:nvSpPr>
            <p:spPr>
              <a:xfrm flipH="1">
                <a:off x="1627465" y="4655675"/>
                <a:ext cx="6291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159377-5631-4DD5-8109-6D473AA44767}"/>
                  </a:ext>
                </a:extLst>
              </p:cNvPr>
              <p:cNvSpPr txBox="1"/>
              <p:nvPr/>
            </p:nvSpPr>
            <p:spPr>
              <a:xfrm flipH="1">
                <a:off x="687091" y="4655675"/>
                <a:ext cx="739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start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E56C7E-3E01-42CF-A126-A8BA9E9652B9}"/>
                </a:ext>
              </a:extLst>
            </p:cNvPr>
            <p:cNvGrpSpPr/>
            <p:nvPr/>
          </p:nvGrpSpPr>
          <p:grpSpPr>
            <a:xfrm>
              <a:off x="3148077" y="5401146"/>
              <a:ext cx="2353773" cy="369332"/>
              <a:chOff x="964735" y="4654277"/>
              <a:chExt cx="2353773" cy="369332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5D27073-3018-4C8E-9FD7-E560D20A0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4735" y="5016617"/>
                <a:ext cx="1954634" cy="0"/>
              </a:xfrm>
              <a:prstGeom prst="straightConnector1">
                <a:avLst/>
              </a:prstGeom>
              <a:ln w="28575"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46D85A-20EF-4085-AEC9-5C93D76BC0B8}"/>
                  </a:ext>
                </a:extLst>
              </p:cNvPr>
              <p:cNvSpPr txBox="1"/>
              <p:nvPr/>
            </p:nvSpPr>
            <p:spPr>
              <a:xfrm flipH="1">
                <a:off x="2579472" y="4654277"/>
                <a:ext cx="739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end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0899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approach: Force -- 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650815" y="20306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650815" y="24116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7184213" y="20259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7184215" y="24069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650815" y="14877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409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687840" y="3551238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687840" y="14568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102724" y="4127404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7102724" y="4508404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308882" y="3502611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grpSp>
        <p:nvGrpSpPr>
          <p:cNvPr id="31" name="Group 33"/>
          <p:cNvGrpSpPr>
            <a:grpSpLocks/>
          </p:cNvGrpSpPr>
          <p:nvPr/>
        </p:nvGrpSpPr>
        <p:grpSpPr bwMode="auto">
          <a:xfrm>
            <a:off x="7412044" y="4127198"/>
            <a:ext cx="1439864" cy="461962"/>
            <a:chOff x="6111" y="1791"/>
            <a:chExt cx="907" cy="291"/>
          </a:xfrm>
        </p:grpSpPr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V="1">
              <a:off x="6111" y="1855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6598" y="1791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sp>
        <p:nvSpPr>
          <p:cNvPr id="35" name="Rectangle 45"/>
          <p:cNvSpPr>
            <a:spLocks noChangeArrowheads="1"/>
          </p:cNvSpPr>
          <p:nvPr/>
        </p:nvSpPr>
        <p:spPr bwMode="auto">
          <a:xfrm>
            <a:off x="347663" y="3276600"/>
            <a:ext cx="9861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commit;</a:t>
            </a:r>
          </a:p>
        </p:txBody>
      </p: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7429508" y="4465636"/>
            <a:ext cx="1462090" cy="490537"/>
            <a:chOff x="5496" y="1373"/>
            <a:chExt cx="921" cy="309"/>
          </a:xfrm>
        </p:grpSpPr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5496" y="1490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5994" y="1373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p:sp>
        <p:nvSpPr>
          <p:cNvPr id="38" name="Text Box 51"/>
          <p:cNvSpPr txBox="1">
            <a:spLocks noChangeArrowheads="1"/>
          </p:cNvSpPr>
          <p:nvPr/>
        </p:nvSpPr>
        <p:spPr bwMode="auto">
          <a:xfrm>
            <a:off x="214309" y="3998911"/>
            <a:ext cx="60102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Force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: all writes must be reflected on disk when a transaction commits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969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35" grpId="0" autoUpdateAnimBg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approach: Force -- 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650815" y="20306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650815" y="24116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7184213" y="20259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7184215" y="24069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650815" y="14877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409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687840" y="3551238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687840" y="14568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102724" y="4127404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7102724" y="4508404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308882" y="3502611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sp>
        <p:nvSpPr>
          <p:cNvPr id="35" name="Rectangle 45"/>
          <p:cNvSpPr>
            <a:spLocks noChangeArrowheads="1"/>
          </p:cNvSpPr>
          <p:nvPr/>
        </p:nvSpPr>
        <p:spPr bwMode="auto">
          <a:xfrm>
            <a:off x="347663" y="3276600"/>
            <a:ext cx="9861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commit;</a:t>
            </a:r>
          </a:p>
        </p:txBody>
      </p:sp>
      <p:sp>
        <p:nvSpPr>
          <p:cNvPr id="38" name="Text Box 51"/>
          <p:cNvSpPr txBox="1">
            <a:spLocks noChangeArrowheads="1"/>
          </p:cNvSpPr>
          <p:nvPr/>
        </p:nvSpPr>
        <p:spPr bwMode="auto">
          <a:xfrm>
            <a:off x="214309" y="3998911"/>
            <a:ext cx="60102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Force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: all writes must be reflected on disk when a transaction commits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9586F3-FDA2-429B-9DCE-27D4B9A1D746}"/>
              </a:ext>
            </a:extLst>
          </p:cNvPr>
          <p:cNvSpPr/>
          <p:nvPr/>
        </p:nvSpPr>
        <p:spPr>
          <a:xfrm>
            <a:off x="329220" y="5642741"/>
            <a:ext cx="8965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If system crashes right after </a:t>
            </a:r>
            <a:r>
              <a:rPr lang="en-US" sz="2400" i="1" dirty="0">
                <a:solidFill>
                  <a:schemeClr val="accent6"/>
                </a:solidFill>
              </a:rPr>
              <a:t>T1</a:t>
            </a:r>
            <a:r>
              <a:rPr lang="en-US" sz="2400" dirty="0">
                <a:solidFill>
                  <a:schemeClr val="accent6"/>
                </a:solidFill>
              </a:rPr>
              <a:t> commits, effects of </a:t>
            </a:r>
            <a:r>
              <a:rPr lang="en-US" sz="2400" i="1" dirty="0">
                <a:solidFill>
                  <a:schemeClr val="accent6"/>
                </a:solidFill>
              </a:rPr>
              <a:t>T1</a:t>
            </a:r>
            <a:r>
              <a:rPr lang="en-US" sz="2400" dirty="0">
                <a:solidFill>
                  <a:schemeClr val="accent6"/>
                </a:solidFill>
              </a:rPr>
              <a:t> will be lost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3D055C-0C46-45AA-9DDA-D9A8B7010042}"/>
              </a:ext>
            </a:extLst>
          </p:cNvPr>
          <p:cNvGrpSpPr/>
          <p:nvPr/>
        </p:nvGrpSpPr>
        <p:grpSpPr>
          <a:xfrm>
            <a:off x="443520" y="2732915"/>
            <a:ext cx="4454554" cy="1259115"/>
            <a:chOff x="343949" y="2362433"/>
            <a:chExt cx="4454554" cy="1259115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87180C-B5CA-43AC-80CC-3100DAA62A41}"/>
                </a:ext>
              </a:extLst>
            </p:cNvPr>
            <p:cNvCxnSpPr>
              <a:cxnSpLocks/>
            </p:cNvCxnSpPr>
            <p:nvPr/>
          </p:nvCxnSpPr>
          <p:spPr>
            <a:xfrm>
              <a:off x="343949" y="3310970"/>
              <a:ext cx="4454554" cy="11668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43" name="Picture 42" descr="A close up of a logo&#10;&#10;Description automatically generated">
              <a:extLst>
                <a:ext uri="{FF2B5EF4-FFF2-40B4-BE49-F238E27FC236}">
                  <a16:creationId xmlns:a16="http://schemas.microsoft.com/office/drawing/2014/main" id="{42484C6B-6154-4940-BD30-D588A1579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874" y="2362433"/>
              <a:ext cx="1273105" cy="125911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538781-AC4B-46F5-8857-0F9A7236A9C9}"/>
              </a:ext>
            </a:extLst>
          </p:cNvPr>
          <p:cNvSpPr/>
          <p:nvPr/>
        </p:nvSpPr>
        <p:spPr>
          <a:xfrm>
            <a:off x="358044" y="5199024"/>
            <a:ext cx="83916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Without force: not all writes are on disk when T1 commits</a:t>
            </a:r>
          </a:p>
        </p:txBody>
      </p:sp>
      <p:sp>
        <p:nvSpPr>
          <p:cNvPr id="53" name="Text Box 18">
            <a:extLst>
              <a:ext uri="{FF2B5EF4-FFF2-40B4-BE49-F238E27FC236}">
                <a16:creationId xmlns:a16="http://schemas.microsoft.com/office/drawing/2014/main" id="{B75E0DDF-6AED-4F4D-9B0C-9EE774355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0988" y="4847017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 dirty="0">
                <a:solidFill>
                  <a:schemeClr val="accent6"/>
                </a:solidFill>
                <a:latin typeface="+mn-lt"/>
              </a:rPr>
              <a:t>Bad!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831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approach: No steal -- atomicity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650815" y="20306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650815" y="24116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7184213" y="20259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7184215" y="24069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650815" y="14877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409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687840" y="3551238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687840" y="14568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102724" y="4127404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7102724" y="4508404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308882" y="3502611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grpSp>
        <p:nvGrpSpPr>
          <p:cNvPr id="31" name="Group 33"/>
          <p:cNvGrpSpPr>
            <a:grpSpLocks/>
          </p:cNvGrpSpPr>
          <p:nvPr/>
        </p:nvGrpSpPr>
        <p:grpSpPr bwMode="auto">
          <a:xfrm>
            <a:off x="7412044" y="4127198"/>
            <a:ext cx="1439864" cy="461962"/>
            <a:chOff x="6111" y="1791"/>
            <a:chExt cx="907" cy="291"/>
          </a:xfrm>
        </p:grpSpPr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V="1">
              <a:off x="6111" y="1855"/>
              <a:ext cx="384" cy="192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6598" y="1791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6"/>
                  </a:solidFill>
                  <a:latin typeface="+mn-lt"/>
                </a:rPr>
                <a:t>700</a:t>
              </a:r>
            </a:p>
          </p:txBody>
        </p:sp>
      </p:grp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287435" y="3632342"/>
            <a:ext cx="557634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No steal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:  Writes of a transaction can only be flushed to disk at commit time: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+mn-lt"/>
              </a:rPr>
              <a:t>e.g. A=700 cannot be flushed to disk before commit.</a:t>
            </a:r>
          </a:p>
        </p:txBody>
      </p:sp>
      <p:sp>
        <p:nvSpPr>
          <p:cNvPr id="35" name="Rectangle 45"/>
          <p:cNvSpPr>
            <a:spLocks noChangeArrowheads="1"/>
          </p:cNvSpPr>
          <p:nvPr/>
        </p:nvSpPr>
        <p:spPr bwMode="auto">
          <a:xfrm>
            <a:off x="347663" y="3276600"/>
            <a:ext cx="9861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commit;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10EB4C-A3B7-439C-9A26-1AAA8C9A1E27}"/>
              </a:ext>
            </a:extLst>
          </p:cNvPr>
          <p:cNvGrpSpPr/>
          <p:nvPr/>
        </p:nvGrpSpPr>
        <p:grpSpPr>
          <a:xfrm>
            <a:off x="443520" y="2187676"/>
            <a:ext cx="4454554" cy="1259115"/>
            <a:chOff x="343949" y="2546991"/>
            <a:chExt cx="4454554" cy="1259115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66FF0A4-0206-4F1D-A45E-FFC7B17C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43949" y="3310970"/>
              <a:ext cx="4454554" cy="11668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2453B535-F456-40D6-93D6-68D438332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874" y="2546991"/>
              <a:ext cx="1273105" cy="1259115"/>
            </a:xfrm>
            <a:prstGeom prst="rect">
              <a:avLst/>
            </a:prstGeom>
          </p:spPr>
        </p:pic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24A977D-5497-4F65-AA3F-C7C57C4E3E4E}"/>
              </a:ext>
            </a:extLst>
          </p:cNvPr>
          <p:cNvSpPr/>
          <p:nvPr/>
        </p:nvSpPr>
        <p:spPr>
          <a:xfrm>
            <a:off x="178219" y="5652652"/>
            <a:ext cx="89657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If system crashes before </a:t>
            </a:r>
            <a:r>
              <a:rPr lang="en-US" sz="2400" i="1" dirty="0">
                <a:solidFill>
                  <a:schemeClr val="accent6"/>
                </a:solidFill>
              </a:rPr>
              <a:t>T1</a:t>
            </a:r>
            <a:r>
              <a:rPr lang="en-US" sz="2400" dirty="0">
                <a:solidFill>
                  <a:schemeClr val="accent6"/>
                </a:solidFill>
              </a:rPr>
              <a:t> commits, there is no way to undo the changes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34EE88-0F23-4A62-B9E7-80B836D6C6D5}"/>
              </a:ext>
            </a:extLst>
          </p:cNvPr>
          <p:cNvSpPr/>
          <p:nvPr/>
        </p:nvSpPr>
        <p:spPr>
          <a:xfrm>
            <a:off x="207043" y="5208935"/>
            <a:ext cx="83916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With steal: some writes are on disk before T commits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DCB38489-C75E-4683-BC3F-B948E57E7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0988" y="4847017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800" dirty="0">
                <a:solidFill>
                  <a:schemeClr val="accent6"/>
                </a:solidFill>
                <a:latin typeface="+mn-lt"/>
              </a:rPr>
              <a:t>Bad!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331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Force</a:t>
            </a:r>
            <a:r>
              <a:rPr lang="en-US" dirty="0"/>
              <a:t>: When a transaction commits, all writes of this transaction must be reflected on disk</a:t>
            </a:r>
          </a:p>
          <a:p>
            <a:pPr lvl="1"/>
            <a:r>
              <a:rPr lang="en-US" dirty="0"/>
              <a:t>Ensures durability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Problem of force: Lots of </a:t>
            </a:r>
            <a:r>
              <a:rPr lang="en-US" dirty="0">
                <a:solidFill>
                  <a:schemeClr val="accent6"/>
                </a:solidFill>
              </a:rPr>
              <a:t>random writes</a:t>
            </a:r>
            <a:r>
              <a:rPr lang="en-US" dirty="0"/>
              <a:t> hurt performance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No steal</a:t>
            </a:r>
            <a:r>
              <a:rPr lang="en-US" dirty="0"/>
              <a:t>: Writes of a transaction can only be flushed to disk at commit time</a:t>
            </a:r>
          </a:p>
          <a:p>
            <a:pPr lvl="1"/>
            <a:r>
              <a:rPr lang="en-US" dirty="0"/>
              <a:t>Ensures atomicity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Problem of no steal: Holding on to all dirty blocks requires lots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04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Database log: </a:t>
            </a:r>
            <a:r>
              <a:rPr lang="en-US" dirty="0"/>
              <a:t>sequence of </a:t>
            </a:r>
            <a:r>
              <a:rPr lang="en-US" dirty="0">
                <a:solidFill>
                  <a:schemeClr val="accent2"/>
                </a:solidFill>
              </a:rPr>
              <a:t>log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records</a:t>
            </a:r>
            <a:r>
              <a:rPr lang="en-US" dirty="0"/>
              <a:t>, recording all changes made to the database, written to stable storage (e.g., disk) during normal operation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Hey, one change turns into two—bad for performance?</a:t>
            </a:r>
          </a:p>
          <a:p>
            <a:pPr lvl="1"/>
            <a:r>
              <a:rPr lang="en-US" dirty="0"/>
              <a:t>But writes are </a:t>
            </a:r>
            <a:r>
              <a:rPr lang="en-US" dirty="0">
                <a:solidFill>
                  <a:schemeClr val="accent2"/>
                </a:solidFill>
              </a:rPr>
              <a:t>sequential</a:t>
            </a:r>
            <a:r>
              <a:rPr lang="en-US" dirty="0"/>
              <a:t> (append to the end of log)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FB896F-38EC-45EF-B0AC-667D72298312}"/>
              </a:ext>
            </a:extLst>
          </p:cNvPr>
          <p:cNvGrpSpPr/>
          <p:nvPr/>
        </p:nvGrpSpPr>
        <p:grpSpPr>
          <a:xfrm>
            <a:off x="1350629" y="2875474"/>
            <a:ext cx="6693325" cy="1534024"/>
            <a:chOff x="1350629" y="2875474"/>
            <a:chExt cx="6693325" cy="153402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65CCB43-6075-4B2B-ABD1-70FBC68A2160}"/>
                </a:ext>
              </a:extLst>
            </p:cNvPr>
            <p:cNvSpPr/>
            <p:nvPr/>
          </p:nvSpPr>
          <p:spPr>
            <a:xfrm>
              <a:off x="3870976" y="3702726"/>
              <a:ext cx="1652631" cy="70677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CA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Update operation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11184CA-B029-4A3E-BAE9-573FFC3410B1}"/>
                </a:ext>
              </a:extLst>
            </p:cNvPr>
            <p:cNvSpPr/>
            <p:nvPr/>
          </p:nvSpPr>
          <p:spPr>
            <a:xfrm>
              <a:off x="1350629" y="3783938"/>
              <a:ext cx="1963023" cy="595115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Old stable database state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7F52B06-6295-4A9E-8883-4685A4DC8617}"/>
                </a:ext>
              </a:extLst>
            </p:cNvPr>
            <p:cNvSpPr/>
            <p:nvPr/>
          </p:nvSpPr>
          <p:spPr>
            <a:xfrm>
              <a:off x="6080931" y="3802617"/>
              <a:ext cx="1963023" cy="595115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New stable database state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B0359F9-13C5-4712-8242-BB783280840D}"/>
                </a:ext>
              </a:extLst>
            </p:cNvPr>
            <p:cNvCxnSpPr>
              <a:cxnSpLocks/>
            </p:cNvCxnSpPr>
            <p:nvPr/>
          </p:nvCxnSpPr>
          <p:spPr>
            <a:xfrm>
              <a:off x="3313652" y="4056112"/>
              <a:ext cx="58079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C2DE21F-8C6E-46F4-8A73-2882869AF8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3607" y="4100174"/>
              <a:ext cx="58079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AutoShape 30">
              <a:extLst>
                <a:ext uri="{FF2B5EF4-FFF2-40B4-BE49-F238E27FC236}">
                  <a16:creationId xmlns:a16="http://schemas.microsoft.com/office/drawing/2014/main" id="{4EE60267-6BE1-47F5-8277-0917D28F3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572" y="2875474"/>
              <a:ext cx="1099657" cy="760602"/>
            </a:xfrm>
            <a:prstGeom prst="can">
              <a:avLst>
                <a:gd name="adj" fmla="val 17816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Database </a:t>
              </a:r>
              <a:br>
                <a:rPr lang="en-US" dirty="0"/>
              </a:br>
              <a:r>
                <a:rPr lang="en-US" dirty="0"/>
                <a:t>log</a:t>
              </a:r>
            </a:p>
          </p:txBody>
        </p: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CC5AE30B-AB88-4DA7-9B2F-37E3D27FFE0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95856" y="3074975"/>
              <a:ext cx="429188" cy="826315"/>
            </a:xfrm>
            <a:prstGeom prst="bentConnector2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6785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1456854"/>
                <a:ext cx="8476118" cy="52646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a transaction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i</a:t>
                </a:r>
                <a:r>
                  <a:rPr lang="en-US" dirty="0"/>
                  <a:t> starts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i="1" baseline="-25000" dirty="0">
                    <a:solidFill>
                      <a:schemeClr val="accent2"/>
                    </a:solidFill>
                  </a:rPr>
                  <a:t>i</a:t>
                </a:r>
                <a:r>
                  <a:rPr lang="en-US" dirty="0">
                    <a:solidFill>
                      <a:schemeClr val="accent2"/>
                    </a:solidFill>
                  </a:rPr>
                  <a:t>, start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br>
                  <a:rPr lang="en-CA" dirty="0"/>
                </a:br>
                <a:endParaRPr lang="en-US" dirty="0"/>
              </a:p>
              <a:p>
                <a:r>
                  <a:rPr lang="en-US" dirty="0"/>
                  <a:t>Record values before and after each modification: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i="1" baseline="-25000" dirty="0">
                    <a:solidFill>
                      <a:schemeClr val="accent2"/>
                    </a:solidFill>
                  </a:rPr>
                  <a:t>i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X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 err="1">
                    <a:solidFill>
                      <a:schemeClr val="accent2"/>
                    </a:solidFill>
                  </a:rPr>
                  <a:t>old_value_of_X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 err="1">
                    <a:solidFill>
                      <a:schemeClr val="accent2"/>
                    </a:solidFill>
                  </a:rPr>
                  <a:t>new_value_of_X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en-US" i="1" dirty="0"/>
                  <a:t>T</a:t>
                </a:r>
                <a:r>
                  <a:rPr lang="en-US" i="1" baseline="-25000" dirty="0"/>
                  <a:t>i</a:t>
                </a:r>
                <a:r>
                  <a:rPr lang="en-US" dirty="0"/>
                  <a:t> is transaction id </a:t>
                </a:r>
              </a:p>
              <a:p>
                <a:pPr lvl="1"/>
                <a:r>
                  <a:rPr lang="en-US" i="1" dirty="0"/>
                  <a:t>X</a:t>
                </a:r>
                <a:r>
                  <a:rPr lang="en-US" dirty="0"/>
                  <a:t> identifies the data item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 transaction </a:t>
                </a:r>
                <a:r>
                  <a:rPr lang="en-US" i="1" dirty="0"/>
                  <a:t>T</a:t>
                </a:r>
                <a:r>
                  <a:rPr lang="en-US" i="1" baseline="-25000" dirty="0"/>
                  <a:t>i</a:t>
                </a:r>
                <a:r>
                  <a:rPr lang="en-US" dirty="0"/>
                  <a:t> is committed </a:t>
                </a:r>
                <a:br>
                  <a:rPr lang="en-US" dirty="0"/>
                </a:br>
                <a:r>
                  <a:rPr lang="en-US" dirty="0"/>
                  <a:t>when its commit log record </a:t>
                </a:r>
                <a:br>
                  <a:rPr lang="en-US" dirty="0"/>
                </a:br>
                <a:r>
                  <a:rPr lang="en-US" dirty="0"/>
                  <a:t>is written to disk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i="1" baseline="-25000" dirty="0">
                    <a:solidFill>
                      <a:schemeClr val="accent2"/>
                    </a:solidFill>
                  </a:rPr>
                  <a:t>i</a:t>
                </a:r>
                <a:r>
                  <a:rPr lang="en-US" dirty="0">
                    <a:solidFill>
                      <a:schemeClr val="accent2"/>
                    </a:solidFill>
                  </a:rPr>
                  <a:t>, commit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1456854"/>
                <a:ext cx="8476118" cy="5264622"/>
              </a:xfrm>
              <a:blipFill>
                <a:blip r:embed="rId6"/>
                <a:stretch>
                  <a:fillRect l="-1294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sp>
        <p:nvSpPr>
          <p:cNvPr id="6" name="AutoShape 30">
            <a:extLst>
              <a:ext uri="{FF2B5EF4-FFF2-40B4-BE49-F238E27FC236}">
                <a16:creationId xmlns:a16="http://schemas.microsoft.com/office/drawing/2014/main" id="{27A4F5B1-88A6-4462-BD73-110F992C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733800"/>
            <a:ext cx="2209800" cy="2362200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7">
                <a:extLst>
                  <a:ext uri="{FF2B5EF4-FFF2-40B4-BE49-F238E27FC236}">
                    <a16:creationId xmlns:a16="http://schemas.microsoft.com/office/drawing/2014/main" id="{629E3FFF-AB01-424E-BF39-0E456AF207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start</a:t>
                </a:r>
                <a:r>
                  <a:rPr lang="en-US" b="0" dirty="0">
                    <a:solidFill>
                      <a:schemeClr val="tx2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Text Box 17">
                <a:extLst>
                  <a:ext uri="{FF2B5EF4-FFF2-40B4-BE49-F238E27FC236}">
                    <a16:creationId xmlns:a16="http://schemas.microsoft.com/office/drawing/2014/main" id="{629E3FFF-AB01-424E-BF39-0E456AF2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blipFill>
                <a:blip r:embed="rId7"/>
                <a:stretch>
                  <a:fillRect l="-3614" t="-10667" r="-2410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8">
                <a:extLst>
                  <a:ext uri="{FF2B5EF4-FFF2-40B4-BE49-F238E27FC236}">
                    <a16:creationId xmlns:a16="http://schemas.microsoft.com/office/drawing/2014/main" id="{2144DD83-40FC-4B8D-A123-B53BFA3D9D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A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800, 700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 Box 18">
                <a:extLst>
                  <a:ext uri="{FF2B5EF4-FFF2-40B4-BE49-F238E27FC236}">
                    <a16:creationId xmlns:a16="http://schemas.microsoft.com/office/drawing/2014/main" id="{2144DD83-40FC-4B8D-A123-B53BFA3D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blipFill>
                <a:blip r:embed="rId8"/>
                <a:stretch>
                  <a:fillRect l="-2671" t="-10526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9">
                <a:extLst>
                  <a:ext uri="{FF2B5EF4-FFF2-40B4-BE49-F238E27FC236}">
                    <a16:creationId xmlns:a16="http://schemas.microsoft.com/office/drawing/2014/main" id="{17EE26AA-C719-42A3-B0A8-BA8D1491A3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B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400, 500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Text Box 19">
                <a:extLst>
                  <a:ext uri="{FF2B5EF4-FFF2-40B4-BE49-F238E27FC236}">
                    <a16:creationId xmlns:a16="http://schemas.microsoft.com/office/drawing/2014/main" id="{17EE26AA-C719-42A3-B0A8-BA8D1491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blipFill>
                <a:blip r:embed="rId9"/>
                <a:stretch>
                  <a:fillRect l="-2695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0">
                <a:extLst>
                  <a:ext uri="{FF2B5EF4-FFF2-40B4-BE49-F238E27FC236}">
                    <a16:creationId xmlns:a16="http://schemas.microsoft.com/office/drawing/2014/main" id="{6B41CD2F-A792-4809-ADB8-F606046E0F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5267325"/>
                <a:ext cx="189186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commit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 Box 20">
                <a:extLst>
                  <a:ext uri="{FF2B5EF4-FFF2-40B4-BE49-F238E27FC236}">
                    <a16:creationId xmlns:a16="http://schemas.microsoft.com/office/drawing/2014/main" id="{6B41CD2F-A792-4809-ADB8-F606046E0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67325"/>
                <a:ext cx="1891865" cy="461665"/>
              </a:xfrm>
              <a:prstGeom prst="rect">
                <a:avLst/>
              </a:prstGeom>
              <a:blipFill>
                <a:blip r:embed="rId10"/>
                <a:stretch>
                  <a:fillRect l="-2903" t="-10526" r="-2581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29">
            <a:extLst>
              <a:ext uri="{FF2B5EF4-FFF2-40B4-BE49-F238E27FC236}">
                <a16:creationId xmlns:a16="http://schemas.microsoft.com/office/drawing/2014/main" id="{036320C2-1FBF-4288-8676-D8E4230C3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713163"/>
            <a:ext cx="673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25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When to write log records into stable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476118" cy="5264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Write-ahead logging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WAL</a:t>
            </a:r>
            <a:r>
              <a:rPr lang="en-US" dirty="0"/>
              <a:t>): Before </a:t>
            </a:r>
            <a:r>
              <a:rPr lang="en-US" i="1" dirty="0"/>
              <a:t>X</a:t>
            </a:r>
            <a:r>
              <a:rPr lang="en-US" dirty="0"/>
              <a:t> is modified on disk, the log record pertaining to </a:t>
            </a:r>
            <a:r>
              <a:rPr lang="en-US" i="1" dirty="0"/>
              <a:t>X</a:t>
            </a:r>
            <a:r>
              <a:rPr lang="en-US" dirty="0"/>
              <a:t> must be flushed</a:t>
            </a:r>
          </a:p>
          <a:p>
            <a:endParaRPr lang="en-US" dirty="0"/>
          </a:p>
          <a:p>
            <a:r>
              <a:rPr lang="en-US" dirty="0"/>
              <a:t>Without WAL, system might crash after </a:t>
            </a:r>
            <a:r>
              <a:rPr lang="en-US" i="1" dirty="0"/>
              <a:t>X</a:t>
            </a:r>
            <a:r>
              <a:rPr lang="en-US" dirty="0"/>
              <a:t> is modified on disk but before its log record is written to disk—no way to undo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29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Undo/redo logging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119688" y="24780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19688" y="28590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5653086" y="24733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53088" y="28543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start</a:t>
                </a:r>
                <a:r>
                  <a:rPr lang="en-US" b="0" dirty="0">
                    <a:solidFill>
                      <a:schemeClr val="tx2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614" t="-10667" r="-2410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A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800, 700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671" t="-10526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B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400, 500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695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119688" y="19351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841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3810000" y="3810000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5156713" y="19042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3810000" y="4429125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3810000" y="4810125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4343400" y="3779838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086600" y="3713163"/>
            <a:ext cx="673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6324600" y="3733800"/>
            <a:ext cx="2209800" cy="2362200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53"/>
          <p:cNvSpPr txBox="1">
            <a:spLocks noChangeArrowheads="1"/>
          </p:cNvSpPr>
          <p:nvPr/>
        </p:nvSpPr>
        <p:spPr bwMode="auto">
          <a:xfrm>
            <a:off x="839445" y="6204247"/>
            <a:ext cx="75244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WAL: Before A,B are modified on disk, their log info must be flushed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434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7" grpId="0" autoUpdateAnimBg="0"/>
      <p:bldP spid="18" grpId="0" autoUpdateAnimBg="0"/>
      <p:bldP spid="19" grpId="0" autoUpdateAnimBg="0"/>
      <p:bldP spid="4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Undo/redo logging example cont.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119688" y="24780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19688" y="28590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5653086" y="24733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53088" y="28543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start</a:t>
                </a:r>
                <a:r>
                  <a:rPr lang="en-US" b="0" dirty="0">
                    <a:solidFill>
                      <a:schemeClr val="tx2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614" t="-10667" r="-2410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A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800, 700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671" t="-10526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B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400, 500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695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119688" y="19351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841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3810000" y="3810000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5156713" y="19042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3810000" y="4429125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3810000" y="4810125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4343400" y="3779838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086600" y="3713163"/>
            <a:ext cx="673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6324600" y="3733800"/>
            <a:ext cx="2209800" cy="2362200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46"/>
          <p:cNvGrpSpPr>
            <a:grpSpLocks/>
          </p:cNvGrpSpPr>
          <p:nvPr/>
        </p:nvGrpSpPr>
        <p:grpSpPr bwMode="auto">
          <a:xfrm>
            <a:off x="1341438" y="4424361"/>
            <a:ext cx="4202113" cy="917574"/>
            <a:chOff x="845" y="2787"/>
            <a:chExt cx="2647" cy="578"/>
          </a:xfrm>
        </p:grpSpPr>
        <p:grpSp>
          <p:nvGrpSpPr>
            <p:cNvPr id="31" name="Group 33"/>
            <p:cNvGrpSpPr>
              <a:grpSpLocks/>
            </p:cNvGrpSpPr>
            <p:nvPr/>
          </p:nvGrpSpPr>
          <p:grpSpPr bwMode="auto">
            <a:xfrm>
              <a:off x="2736" y="2787"/>
              <a:ext cx="756" cy="291"/>
              <a:chOff x="3552" y="1587"/>
              <a:chExt cx="756" cy="291"/>
            </a:xfrm>
          </p:grpSpPr>
          <p:sp>
            <p:nvSpPr>
              <p:cNvPr id="33" name="Line 34"/>
              <p:cNvSpPr>
                <a:spLocks noChangeShapeType="1"/>
              </p:cNvSpPr>
              <p:nvPr/>
            </p:nvSpPr>
            <p:spPr bwMode="auto">
              <a:xfrm flipV="1">
                <a:off x="3552" y="1632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 Box 35"/>
              <p:cNvSpPr txBox="1">
                <a:spLocks noChangeArrowheads="1"/>
              </p:cNvSpPr>
              <p:nvPr/>
            </p:nvSpPr>
            <p:spPr bwMode="auto">
              <a:xfrm>
                <a:off x="3888" y="1587"/>
                <a:ext cx="42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dirty="0">
                    <a:solidFill>
                      <a:schemeClr val="accent2"/>
                    </a:solidFill>
                    <a:latin typeface="+mn-lt"/>
                  </a:rPr>
                  <a:t>700</a:t>
                </a:r>
              </a:p>
            </p:txBody>
          </p:sp>
        </p:grpSp>
        <p:sp>
          <p:nvSpPr>
            <p:cNvPr id="32" name="Text Box 44"/>
            <p:cNvSpPr txBox="1">
              <a:spLocks noChangeArrowheads="1"/>
            </p:cNvSpPr>
            <p:nvPr/>
          </p:nvSpPr>
          <p:spPr bwMode="auto">
            <a:xfrm>
              <a:off x="845" y="2842"/>
              <a:ext cx="134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dirty="0">
                  <a:solidFill>
                    <a:schemeClr val="accent2"/>
                  </a:solidFill>
                  <a:latin typeface="+mn-lt"/>
                </a:rPr>
                <a:t>Steal: can flush</a:t>
              </a:r>
              <a:br>
                <a:rPr lang="en-US" dirty="0">
                  <a:solidFill>
                    <a:schemeClr val="accent2"/>
                  </a:solidFill>
                  <a:latin typeface="+mn-lt"/>
                </a:rPr>
              </a:br>
              <a:r>
                <a:rPr lang="en-US" dirty="0">
                  <a:solidFill>
                    <a:schemeClr val="accent2"/>
                  </a:solidFill>
                  <a:latin typeface="+mn-lt"/>
                </a:rPr>
                <a:t>before commit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F03BF1E-ECCC-4E3C-9171-365853AD619F}"/>
              </a:ext>
            </a:extLst>
          </p:cNvPr>
          <p:cNvGrpSpPr/>
          <p:nvPr/>
        </p:nvGrpSpPr>
        <p:grpSpPr>
          <a:xfrm>
            <a:off x="443520" y="2019850"/>
            <a:ext cx="4454554" cy="1259115"/>
            <a:chOff x="343949" y="2362433"/>
            <a:chExt cx="4454554" cy="125911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42BD377-A5C2-4602-AE2E-133C293427DD}"/>
                </a:ext>
              </a:extLst>
            </p:cNvPr>
            <p:cNvCxnSpPr>
              <a:cxnSpLocks/>
            </p:cNvCxnSpPr>
            <p:nvPr/>
          </p:nvCxnSpPr>
          <p:spPr>
            <a:xfrm>
              <a:off x="343949" y="3310970"/>
              <a:ext cx="4454554" cy="11668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44" name="Picture 43" descr="A close up of a logo&#10;&#10;Description automatically generated">
              <a:extLst>
                <a:ext uri="{FF2B5EF4-FFF2-40B4-BE49-F238E27FC236}">
                  <a16:creationId xmlns:a16="http://schemas.microsoft.com/office/drawing/2014/main" id="{299A3C84-622A-4E7E-8606-A67F62852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874" y="2362433"/>
              <a:ext cx="1273105" cy="1259115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6CD55A-E0D6-4829-AB4E-146CFC86318C}"/>
              </a:ext>
            </a:extLst>
          </p:cNvPr>
          <p:cNvSpPr/>
          <p:nvPr/>
        </p:nvSpPr>
        <p:spPr>
          <a:xfrm>
            <a:off x="6384022" y="4505325"/>
            <a:ext cx="1979919" cy="49817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E39029-0E16-42EF-9373-2A79926619C2}"/>
              </a:ext>
            </a:extLst>
          </p:cNvPr>
          <p:cNvSpPr/>
          <p:nvPr/>
        </p:nvSpPr>
        <p:spPr>
          <a:xfrm>
            <a:off x="178219" y="5652652"/>
            <a:ext cx="61463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If system crashes before </a:t>
            </a:r>
            <a:r>
              <a:rPr lang="en-US" sz="2400" i="1" dirty="0">
                <a:solidFill>
                  <a:schemeClr val="accent6"/>
                </a:solidFill>
              </a:rPr>
              <a:t>T1</a:t>
            </a:r>
            <a:r>
              <a:rPr lang="en-US" sz="2400" dirty="0">
                <a:solidFill>
                  <a:schemeClr val="accent6"/>
                </a:solidFill>
              </a:rPr>
              <a:t> commits, we have the old value of A stored on the log to </a:t>
            </a:r>
            <a:r>
              <a:rPr lang="en-US" sz="2400" b="1" dirty="0">
                <a:solidFill>
                  <a:schemeClr val="accent6"/>
                </a:solidFill>
              </a:rPr>
              <a:t>undo</a:t>
            </a:r>
            <a:r>
              <a:rPr lang="en-US" sz="2400" dirty="0">
                <a:solidFill>
                  <a:schemeClr val="accent6"/>
                </a:solidFill>
              </a:rPr>
              <a:t> T1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669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Undo/redo logging example cont.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313" y="1771650"/>
            <a:ext cx="22974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read(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);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– 100;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1313" y="2179638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A</a:t>
            </a:r>
            <a:r>
              <a:rPr lang="en-US"/>
              <a:t>, </a:t>
            </a:r>
            <a:r>
              <a:rPr lang="en-US" i="1"/>
              <a:t>a</a:t>
            </a:r>
            <a:r>
              <a:rPr lang="en-US"/>
              <a:t>);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41313" y="2560638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read(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 </a:t>
            </a:r>
            <a:r>
              <a:rPr lang="en-US" i="1"/>
              <a:t>b</a:t>
            </a:r>
            <a:r>
              <a:rPr lang="en-US"/>
              <a:t> = </a:t>
            </a:r>
            <a:r>
              <a:rPr lang="en-US" i="1"/>
              <a:t>b</a:t>
            </a:r>
            <a:r>
              <a:rPr lang="en-US"/>
              <a:t> + 100;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1313" y="2941638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write(</a:t>
            </a:r>
            <a:r>
              <a:rPr lang="en-US" i="1"/>
              <a:t>B</a:t>
            </a:r>
            <a:r>
              <a:rPr lang="en-US"/>
              <a:t>, </a:t>
            </a:r>
            <a:r>
              <a:rPr lang="en-US" i="1"/>
              <a:t>b</a:t>
            </a:r>
            <a:r>
              <a:rPr lang="en-US"/>
              <a:t>);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119688" y="2478088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19688" y="2859088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 = 400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5653086" y="2473328"/>
            <a:ext cx="1200149" cy="461963"/>
            <a:chOff x="3552" y="1587"/>
            <a:chExt cx="756" cy="291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88" y="1587"/>
              <a:ext cx="4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700</a:t>
              </a: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53088" y="2854328"/>
            <a:ext cx="1204912" cy="461963"/>
            <a:chOff x="3552" y="1587"/>
            <a:chExt cx="759" cy="291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552" y="1632"/>
              <a:ext cx="3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888" y="1587"/>
              <a:ext cx="4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500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start</a:t>
                </a:r>
                <a:r>
                  <a:rPr lang="en-US" b="0" dirty="0">
                    <a:solidFill>
                      <a:schemeClr val="tx2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124325"/>
                <a:ext cx="152157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614" t="-10667" r="-2410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A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800, 700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505325"/>
                <a:ext cx="2056973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671" t="-10526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i="1" dirty="0">
                    <a:latin typeface="+mn-lt"/>
                  </a:rPr>
                  <a:t>B</a:t>
                </a:r>
                <a:r>
                  <a:rPr kumimoji="0" lang="en-US" dirty="0">
                    <a:latin typeface="+mn-lt"/>
                  </a:rPr>
                  <a:t>, </a:t>
                </a:r>
                <a:r>
                  <a:rPr kumimoji="0" lang="en-US" sz="1600" dirty="0">
                    <a:latin typeface="+mn-lt"/>
                  </a:rPr>
                  <a:t>400, 500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4886325"/>
                <a:ext cx="2039341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695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6324600" y="5267325"/>
                <a:ext cx="189186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 </m:t>
                    </m:r>
                  </m:oMath>
                </a14:m>
                <a:r>
                  <a:rPr kumimoji="0" lang="en-US" i="1" dirty="0">
                    <a:latin typeface="+mn-lt"/>
                  </a:rPr>
                  <a:t>T</a:t>
                </a:r>
                <a:r>
                  <a:rPr kumimoji="0" lang="en-US" baseline="-25000" dirty="0">
                    <a:latin typeface="+mn-lt"/>
                  </a:rPr>
                  <a:t>1</a:t>
                </a:r>
                <a:r>
                  <a:rPr kumimoji="0" lang="en-US" dirty="0">
                    <a:latin typeface="+mn-lt"/>
                  </a:rPr>
                  <a:t>, commit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kumimoji="0"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67325"/>
                <a:ext cx="1891865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903" t="-10526" r="-2581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119688" y="1935163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04800" y="1219200"/>
            <a:ext cx="54841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3200" i="1" dirty="0">
                <a:latin typeface="+mn-lt"/>
              </a:rPr>
              <a:t>T1</a:t>
            </a:r>
            <a:r>
              <a:rPr kumimoji="0" lang="en-US" sz="3200" dirty="0">
                <a:latin typeface="+mn-lt"/>
              </a:rPr>
              <a:t> </a:t>
            </a:r>
            <a:r>
              <a:rPr kumimoji="0" lang="en-US" dirty="0">
                <a:latin typeface="+mn-lt"/>
              </a:rPr>
              <a:t>(balance transfer of $100 from </a:t>
            </a:r>
            <a:r>
              <a:rPr kumimoji="0" lang="en-US" i="1" dirty="0">
                <a:latin typeface="+mn-lt"/>
              </a:rPr>
              <a:t>A</a:t>
            </a:r>
            <a:r>
              <a:rPr kumimoji="0" lang="en-US" dirty="0">
                <a:latin typeface="+mn-lt"/>
              </a:rPr>
              <a:t> to </a:t>
            </a:r>
            <a:r>
              <a:rPr kumimoji="0" lang="en-US" i="1" dirty="0">
                <a:latin typeface="+mn-lt"/>
              </a:rPr>
              <a:t>B</a:t>
            </a:r>
            <a:r>
              <a:rPr kumimoji="0" lang="en-US" dirty="0">
                <a:latin typeface="+mn-lt"/>
              </a:rPr>
              <a:t>)</a:t>
            </a: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3810000" y="3810000"/>
            <a:ext cx="1905000" cy="1524000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5156713" y="1904255"/>
            <a:ext cx="1830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+mn-lt"/>
              </a:rPr>
              <a:t>Memory buffer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3810000" y="4429125"/>
            <a:ext cx="1167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A</a:t>
            </a:r>
            <a:r>
              <a:rPr kumimoji="0" lang="en-US">
                <a:latin typeface="+mn-lt"/>
              </a:rPr>
              <a:t> = 800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3810000" y="4810125"/>
            <a:ext cx="11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i="1">
                <a:latin typeface="+mn-lt"/>
              </a:rPr>
              <a:t>B</a:t>
            </a:r>
            <a:r>
              <a:rPr kumimoji="0" lang="en-US">
                <a:latin typeface="+mn-lt"/>
              </a:rPr>
              <a:t> = 400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4343400" y="3779838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Disk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086600" y="3713163"/>
            <a:ext cx="673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6324600" y="3733800"/>
            <a:ext cx="2209800" cy="2362200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45"/>
          <p:cNvSpPr>
            <a:spLocks noChangeArrowheads="1"/>
          </p:cNvSpPr>
          <p:nvPr/>
        </p:nvSpPr>
        <p:spPr bwMode="auto">
          <a:xfrm>
            <a:off x="347663" y="3276600"/>
            <a:ext cx="9861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/>
              <a:t>commit;</a:t>
            </a:r>
          </a:p>
        </p:txBody>
      </p:sp>
      <p:sp>
        <p:nvSpPr>
          <p:cNvPr id="38" name="Text Box 51"/>
          <p:cNvSpPr txBox="1">
            <a:spLocks noChangeArrowheads="1"/>
          </p:cNvSpPr>
          <p:nvPr/>
        </p:nvSpPr>
        <p:spPr bwMode="auto">
          <a:xfrm>
            <a:off x="1087797" y="4293850"/>
            <a:ext cx="2616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accent2"/>
                </a:solidFill>
                <a:latin typeface="+mn-lt"/>
              </a:rPr>
              <a:t>No force: can flush</a:t>
            </a:r>
            <a:br>
              <a:rPr lang="en-US" dirty="0">
                <a:solidFill>
                  <a:schemeClr val="accent2"/>
                </a:solidFill>
                <a:latin typeface="+mn-lt"/>
              </a:rPr>
            </a:br>
            <a:r>
              <a:rPr lang="en-US" dirty="0">
                <a:solidFill>
                  <a:schemeClr val="accent2"/>
                </a:solidFill>
                <a:latin typeface="+mn-lt"/>
              </a:rPr>
              <a:t>after commit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91BE27-8270-4B77-9210-CFBCB25172F6}"/>
              </a:ext>
            </a:extLst>
          </p:cNvPr>
          <p:cNvGrpSpPr/>
          <p:nvPr/>
        </p:nvGrpSpPr>
        <p:grpSpPr>
          <a:xfrm>
            <a:off x="449870" y="2715157"/>
            <a:ext cx="4454554" cy="1259115"/>
            <a:chOff x="343949" y="2362433"/>
            <a:chExt cx="4454554" cy="1259115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098BA0D-1606-44C8-8147-41BE78A25FFE}"/>
                </a:ext>
              </a:extLst>
            </p:cNvPr>
            <p:cNvCxnSpPr>
              <a:cxnSpLocks/>
            </p:cNvCxnSpPr>
            <p:nvPr/>
          </p:nvCxnSpPr>
          <p:spPr>
            <a:xfrm>
              <a:off x="343949" y="3310970"/>
              <a:ext cx="4454554" cy="11668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47" name="Picture 46" descr="A close up of a logo&#10;&#10;Description automatically generated">
              <a:extLst>
                <a:ext uri="{FF2B5EF4-FFF2-40B4-BE49-F238E27FC236}">
                  <a16:creationId xmlns:a16="http://schemas.microsoft.com/office/drawing/2014/main" id="{7A0CBECA-CAAC-4D3E-B3EB-E9B0AF31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874" y="2362433"/>
              <a:ext cx="1273105" cy="1259115"/>
            </a:xfrm>
            <a:prstGeom prst="rect">
              <a:avLst/>
            </a:prstGeom>
          </p:spPr>
        </p:pic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5FA6D7-2A18-4980-B9A8-AD26D44292B6}"/>
              </a:ext>
            </a:extLst>
          </p:cNvPr>
          <p:cNvSpPr/>
          <p:nvPr/>
        </p:nvSpPr>
        <p:spPr>
          <a:xfrm>
            <a:off x="6384022" y="4505324"/>
            <a:ext cx="1979919" cy="129985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98DC22-9ADC-4B48-949A-E72D43F8DE0B}"/>
              </a:ext>
            </a:extLst>
          </p:cNvPr>
          <p:cNvSpPr/>
          <p:nvPr/>
        </p:nvSpPr>
        <p:spPr>
          <a:xfrm>
            <a:off x="116304" y="5447466"/>
            <a:ext cx="61463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If system crashes before we flush the changes of A, B to the disk, we have their new committed values on the log to </a:t>
            </a:r>
            <a:r>
              <a:rPr lang="en-US" sz="2400" b="1" dirty="0">
                <a:solidFill>
                  <a:schemeClr val="accent6"/>
                </a:solidFill>
              </a:rPr>
              <a:t>redo</a:t>
            </a:r>
            <a:r>
              <a:rPr lang="en-US" sz="2400" dirty="0">
                <a:solidFill>
                  <a:schemeClr val="accent6"/>
                </a:solidFill>
              </a:rPr>
              <a:t> T1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91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35" grpId="0" autoUpdateAnimBg="0"/>
      <p:bldP spid="48" grpId="0" animBg="1"/>
      <p:bldP spid="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CA6CF-E423-41C4-8680-11257AEC8BA8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>
            <a:off x="5167473" y="2439898"/>
            <a:ext cx="0" cy="2673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Redo phase: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AC06FA-BB7F-4C52-A240-6BD4ACE4FC75}"/>
              </a:ext>
            </a:extLst>
          </p:cNvPr>
          <p:cNvSpPr txBox="1"/>
          <p:nvPr/>
        </p:nvSpPr>
        <p:spPr>
          <a:xfrm flipH="1">
            <a:off x="5409720" y="208689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411042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22E9F-C479-4D6B-814E-FF63FC728E5A}"/>
              </a:ext>
            </a:extLst>
          </p:cNvPr>
          <p:cNvSpPr txBox="1"/>
          <p:nvPr/>
        </p:nvSpPr>
        <p:spPr>
          <a:xfrm flipH="1">
            <a:off x="5420829" y="266746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CAC7D4-D0F4-446A-8F44-3E73E17CE0A0}"/>
              </a:ext>
            </a:extLst>
          </p:cNvPr>
          <p:cNvSpPr txBox="1"/>
          <p:nvPr/>
        </p:nvSpPr>
        <p:spPr>
          <a:xfrm flipH="1">
            <a:off x="5445996" y="2986248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3C2C0C-46DD-40D9-BCEF-77BDA66949A3}"/>
              </a:ext>
            </a:extLst>
          </p:cNvPr>
          <p:cNvSpPr txBox="1"/>
          <p:nvPr/>
        </p:nvSpPr>
        <p:spPr>
          <a:xfrm flipH="1">
            <a:off x="5455783" y="3281261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5" name="Group 11">
            <a:extLst>
              <a:ext uri="{FF2B5EF4-FFF2-40B4-BE49-F238E27FC236}">
                <a16:creationId xmlns:a16="http://schemas.microsoft.com/office/drawing/2014/main" id="{E49A229E-A379-44AF-B284-26DC4F770124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6979BCFC-2044-4322-B1EE-2ACBE9D4B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F243831B-4AD3-438B-A1B4-4FE2AFC21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286B732-83C4-4BE1-900F-D21AEE286BA9}"/>
              </a:ext>
            </a:extLst>
          </p:cNvPr>
          <p:cNvSpPr txBox="1"/>
          <p:nvPr/>
        </p:nvSpPr>
        <p:spPr>
          <a:xfrm flipH="1">
            <a:off x="5455783" y="358326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1F8FD6-EA39-4571-85EF-85918B915621}"/>
              </a:ext>
            </a:extLst>
          </p:cNvPr>
          <p:cNvSpPr txBox="1"/>
          <p:nvPr/>
        </p:nvSpPr>
        <p:spPr>
          <a:xfrm flipH="1">
            <a:off x="5455783" y="385171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4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29" grpId="0"/>
      <p:bldP spid="33" grpId="0"/>
      <p:bldP spid="34" grpId="0"/>
      <p:bldP spid="38" grpId="0"/>
      <p:bldP spid="42" grpId="0"/>
      <p:bldP spid="50" grpId="0"/>
      <p:bldP spid="52" grpId="0"/>
      <p:bldP spid="5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>
            <a:off x="5167473" y="2439898"/>
            <a:ext cx="0" cy="2673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Redo phase: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AC06FA-BB7F-4C52-A240-6BD4ACE4FC75}"/>
              </a:ext>
            </a:extLst>
          </p:cNvPr>
          <p:cNvSpPr txBox="1"/>
          <p:nvPr/>
        </p:nvSpPr>
        <p:spPr>
          <a:xfrm flipH="1">
            <a:off x="5409720" y="208689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411042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22E9F-C479-4D6B-814E-FF63FC728E5A}"/>
              </a:ext>
            </a:extLst>
          </p:cNvPr>
          <p:cNvSpPr txBox="1"/>
          <p:nvPr/>
        </p:nvSpPr>
        <p:spPr>
          <a:xfrm flipH="1">
            <a:off x="5420829" y="266746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CAC7D4-D0F4-446A-8F44-3E73E17CE0A0}"/>
              </a:ext>
            </a:extLst>
          </p:cNvPr>
          <p:cNvSpPr txBox="1"/>
          <p:nvPr/>
        </p:nvSpPr>
        <p:spPr>
          <a:xfrm flipH="1">
            <a:off x="5445996" y="2986248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3C2C0C-46DD-40D9-BCEF-77BDA66949A3}"/>
              </a:ext>
            </a:extLst>
          </p:cNvPr>
          <p:cNvSpPr txBox="1"/>
          <p:nvPr/>
        </p:nvSpPr>
        <p:spPr>
          <a:xfrm flipH="1">
            <a:off x="5455783" y="3281261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5" name="Group 11">
            <a:extLst>
              <a:ext uri="{FF2B5EF4-FFF2-40B4-BE49-F238E27FC236}">
                <a16:creationId xmlns:a16="http://schemas.microsoft.com/office/drawing/2014/main" id="{E49A229E-A379-44AF-B284-26DC4F770124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6979BCFC-2044-4322-B1EE-2ACBE9D4B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F243831B-4AD3-438B-A1B4-4FE2AFC21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286B732-83C4-4BE1-900F-D21AEE286BA9}"/>
              </a:ext>
            </a:extLst>
          </p:cNvPr>
          <p:cNvSpPr txBox="1"/>
          <p:nvPr/>
        </p:nvSpPr>
        <p:spPr>
          <a:xfrm flipH="1">
            <a:off x="5455783" y="358326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1F8FD6-EA39-4571-85EF-85918B915621}"/>
              </a:ext>
            </a:extLst>
          </p:cNvPr>
          <p:cNvSpPr txBox="1"/>
          <p:nvPr/>
        </p:nvSpPr>
        <p:spPr>
          <a:xfrm flipH="1">
            <a:off x="5455783" y="385171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  <p:sp>
        <p:nvSpPr>
          <p:cNvPr id="43" name="Line 12">
            <a:extLst>
              <a:ext uri="{FF2B5EF4-FFF2-40B4-BE49-F238E27FC236}">
                <a16:creationId xmlns:a16="http://schemas.microsoft.com/office/drawing/2014/main" id="{738AD0D2-6930-43A3-B569-2503BDC96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204" y="4998536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EB383-87D9-4239-81EB-28ED0DBFEC52}"/>
              </a:ext>
            </a:extLst>
          </p:cNvPr>
          <p:cNvSpPr txBox="1"/>
          <p:nvPr/>
        </p:nvSpPr>
        <p:spPr>
          <a:xfrm flipH="1">
            <a:off x="5448792" y="4163504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9969F6-CA36-46E7-8427-9242867D3711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869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>
            <a:off x="5167473" y="2439898"/>
            <a:ext cx="0" cy="2673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Redo phase: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AC06FA-BB7F-4C52-A240-6BD4ACE4FC75}"/>
              </a:ext>
            </a:extLst>
          </p:cNvPr>
          <p:cNvSpPr txBox="1"/>
          <p:nvPr/>
        </p:nvSpPr>
        <p:spPr>
          <a:xfrm flipH="1">
            <a:off x="5409720" y="208689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411042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22E9F-C479-4D6B-814E-FF63FC728E5A}"/>
              </a:ext>
            </a:extLst>
          </p:cNvPr>
          <p:cNvSpPr txBox="1"/>
          <p:nvPr/>
        </p:nvSpPr>
        <p:spPr>
          <a:xfrm flipH="1">
            <a:off x="5420829" y="266746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CAC7D4-D0F4-446A-8F44-3E73E17CE0A0}"/>
              </a:ext>
            </a:extLst>
          </p:cNvPr>
          <p:cNvSpPr txBox="1"/>
          <p:nvPr/>
        </p:nvSpPr>
        <p:spPr>
          <a:xfrm flipH="1">
            <a:off x="5445996" y="2986248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3C2C0C-46DD-40D9-BCEF-77BDA66949A3}"/>
              </a:ext>
            </a:extLst>
          </p:cNvPr>
          <p:cNvSpPr txBox="1"/>
          <p:nvPr/>
        </p:nvSpPr>
        <p:spPr>
          <a:xfrm flipH="1">
            <a:off x="5455783" y="3281261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5" name="Group 11">
            <a:extLst>
              <a:ext uri="{FF2B5EF4-FFF2-40B4-BE49-F238E27FC236}">
                <a16:creationId xmlns:a16="http://schemas.microsoft.com/office/drawing/2014/main" id="{E49A229E-A379-44AF-B284-26DC4F770124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6979BCFC-2044-4322-B1EE-2ACBE9D4B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F243831B-4AD3-438B-A1B4-4FE2AFC21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286B732-83C4-4BE1-900F-D21AEE286BA9}"/>
              </a:ext>
            </a:extLst>
          </p:cNvPr>
          <p:cNvSpPr txBox="1"/>
          <p:nvPr/>
        </p:nvSpPr>
        <p:spPr>
          <a:xfrm flipH="1">
            <a:off x="5455783" y="358326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1F8FD6-EA39-4571-85EF-85918B915621}"/>
              </a:ext>
            </a:extLst>
          </p:cNvPr>
          <p:cNvSpPr txBox="1"/>
          <p:nvPr/>
        </p:nvSpPr>
        <p:spPr>
          <a:xfrm flipH="1">
            <a:off x="5455783" y="385171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EB383-87D9-4239-81EB-28ED0DBFEC52}"/>
              </a:ext>
            </a:extLst>
          </p:cNvPr>
          <p:cNvSpPr txBox="1"/>
          <p:nvPr/>
        </p:nvSpPr>
        <p:spPr>
          <a:xfrm flipH="1">
            <a:off x="5448792" y="4163504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C842F-691E-4174-97A9-B78111571FDB}"/>
              </a:ext>
            </a:extLst>
          </p:cNvPr>
          <p:cNvSpPr txBox="1"/>
          <p:nvPr/>
        </p:nvSpPr>
        <p:spPr>
          <a:xfrm flipH="1">
            <a:off x="5455783" y="447470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0DA303-B8B8-4632-8758-8F0E84E392EF}"/>
              </a:ext>
            </a:extLst>
          </p:cNvPr>
          <p:cNvSpPr/>
          <p:nvPr/>
        </p:nvSpPr>
        <p:spPr>
          <a:xfrm>
            <a:off x="1638073" y="4903348"/>
            <a:ext cx="505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T4</a:t>
            </a:r>
          </a:p>
        </p:txBody>
      </p:sp>
      <p:sp>
        <p:nvSpPr>
          <p:cNvPr id="48" name="Line 12">
            <a:extLst>
              <a:ext uri="{FF2B5EF4-FFF2-40B4-BE49-F238E27FC236}">
                <a16:creationId xmlns:a16="http://schemas.microsoft.com/office/drawing/2014/main" id="{C09FF06D-85E4-4D30-B074-8410429D9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204" y="4998536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B64D0B6-ACEF-47BB-BBA6-EA794018E2FE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882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>
            <a:off x="5167473" y="2439898"/>
            <a:ext cx="0" cy="2673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Redo phase: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 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AC06FA-BB7F-4C52-A240-6BD4ACE4FC75}"/>
              </a:ext>
            </a:extLst>
          </p:cNvPr>
          <p:cNvSpPr txBox="1"/>
          <p:nvPr/>
        </p:nvSpPr>
        <p:spPr>
          <a:xfrm flipH="1">
            <a:off x="5409720" y="208689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411042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22E9F-C479-4D6B-814E-FF63FC728E5A}"/>
              </a:ext>
            </a:extLst>
          </p:cNvPr>
          <p:cNvSpPr txBox="1"/>
          <p:nvPr/>
        </p:nvSpPr>
        <p:spPr>
          <a:xfrm flipH="1">
            <a:off x="5420829" y="266746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CAC7D4-D0F4-446A-8F44-3E73E17CE0A0}"/>
              </a:ext>
            </a:extLst>
          </p:cNvPr>
          <p:cNvSpPr txBox="1"/>
          <p:nvPr/>
        </p:nvSpPr>
        <p:spPr>
          <a:xfrm flipH="1">
            <a:off x="5445996" y="2986248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3C2C0C-46DD-40D9-BCEF-77BDA66949A3}"/>
              </a:ext>
            </a:extLst>
          </p:cNvPr>
          <p:cNvSpPr txBox="1"/>
          <p:nvPr/>
        </p:nvSpPr>
        <p:spPr>
          <a:xfrm flipH="1">
            <a:off x="5455783" y="3281261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86B732-83C4-4BE1-900F-D21AEE286BA9}"/>
              </a:ext>
            </a:extLst>
          </p:cNvPr>
          <p:cNvSpPr txBox="1"/>
          <p:nvPr/>
        </p:nvSpPr>
        <p:spPr>
          <a:xfrm flipH="1">
            <a:off x="5455783" y="358326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1F8FD6-EA39-4571-85EF-85918B915621}"/>
              </a:ext>
            </a:extLst>
          </p:cNvPr>
          <p:cNvSpPr txBox="1"/>
          <p:nvPr/>
        </p:nvSpPr>
        <p:spPr>
          <a:xfrm flipH="1">
            <a:off x="5455783" y="385171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EB383-87D9-4239-81EB-28ED0DBFEC52}"/>
              </a:ext>
            </a:extLst>
          </p:cNvPr>
          <p:cNvSpPr txBox="1"/>
          <p:nvPr/>
        </p:nvSpPr>
        <p:spPr>
          <a:xfrm flipH="1">
            <a:off x="5448792" y="4163504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C842F-691E-4174-97A9-B78111571FDB}"/>
              </a:ext>
            </a:extLst>
          </p:cNvPr>
          <p:cNvSpPr txBox="1"/>
          <p:nvPr/>
        </p:nvSpPr>
        <p:spPr>
          <a:xfrm flipH="1">
            <a:off x="5455783" y="447470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A17E5B-E4E7-47BE-A2B8-C15AE073AFBE}"/>
              </a:ext>
            </a:extLst>
          </p:cNvPr>
          <p:cNvSpPr txBox="1"/>
          <p:nvPr/>
        </p:nvSpPr>
        <p:spPr>
          <a:xfrm flipH="1">
            <a:off x="5473959" y="477810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8" name="Line 12">
            <a:extLst>
              <a:ext uri="{FF2B5EF4-FFF2-40B4-BE49-F238E27FC236}">
                <a16:creationId xmlns:a16="http://schemas.microsoft.com/office/drawing/2014/main" id="{C09FF06D-85E4-4D30-B074-8410429D9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204" y="4998536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2">
            <a:extLst>
              <a:ext uri="{FF2B5EF4-FFF2-40B4-BE49-F238E27FC236}">
                <a16:creationId xmlns:a16="http://schemas.microsoft.com/office/drawing/2014/main" id="{8880AAD6-4FDC-4B13-8D57-4103EC62E7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0828" y="5041879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B64D0B6-ACEF-47BB-BBA6-EA794018E2FE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  <p:grpSp>
        <p:nvGrpSpPr>
          <p:cNvPr id="51" name="Group 11">
            <a:extLst>
              <a:ext uri="{FF2B5EF4-FFF2-40B4-BE49-F238E27FC236}">
                <a16:creationId xmlns:a16="http://schemas.microsoft.com/office/drawing/2014/main" id="{AD603E2D-E0F3-4226-8F6E-9C9EF4C96F5A}"/>
              </a:ext>
            </a:extLst>
          </p:cNvPr>
          <p:cNvGrpSpPr>
            <a:grpSpLocks/>
          </p:cNvGrpSpPr>
          <p:nvPr/>
        </p:nvGrpSpPr>
        <p:grpSpPr bwMode="auto">
          <a:xfrm>
            <a:off x="1795645" y="3379152"/>
            <a:ext cx="760413" cy="400050"/>
            <a:chOff x="3552" y="1612"/>
            <a:chExt cx="479" cy="252"/>
          </a:xfrm>
        </p:grpSpPr>
        <p:sp>
          <p:nvSpPr>
            <p:cNvPr id="54" name="Line 12">
              <a:extLst>
                <a:ext uri="{FF2B5EF4-FFF2-40B4-BE49-F238E27FC236}">
                  <a16:creationId xmlns:a16="http://schemas.microsoft.com/office/drawing/2014/main" id="{9A03986E-5D68-4CB3-9123-36951207B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55" name="Text Box 13">
              <a:extLst>
                <a:ext uri="{FF2B5EF4-FFF2-40B4-BE49-F238E27FC236}">
                  <a16:creationId xmlns:a16="http://schemas.microsoft.com/office/drawing/2014/main" id="{0E30A704-61BA-4DFD-BE44-DD60169B4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6"/>
                  </a:solidFill>
                  <a:latin typeface="+mn-lt"/>
                </a:rPr>
                <a:t>51</a:t>
              </a:r>
            </a:p>
          </p:txBody>
        </p:sp>
      </p:grpSp>
      <p:grpSp>
        <p:nvGrpSpPr>
          <p:cNvPr id="56" name="Group 11">
            <a:extLst>
              <a:ext uri="{FF2B5EF4-FFF2-40B4-BE49-F238E27FC236}">
                <a16:creationId xmlns:a16="http://schemas.microsoft.com/office/drawing/2014/main" id="{9C99517C-81A1-4A99-8D14-CAE9E0031FB6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62" name="Line 12">
              <a:extLst>
                <a:ext uri="{FF2B5EF4-FFF2-40B4-BE49-F238E27FC236}">
                  <a16:creationId xmlns:a16="http://schemas.microsoft.com/office/drawing/2014/main" id="{FB8F73A9-220F-468A-B1AD-571832445D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6846B098-7748-43A3-9F4F-F003C9D7E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B579BAF5-C9D7-4C41-A920-06B8AFA7F6A7}"/>
              </a:ext>
            </a:extLst>
          </p:cNvPr>
          <p:cNvSpPr/>
          <p:nvPr/>
        </p:nvSpPr>
        <p:spPr>
          <a:xfrm>
            <a:off x="1702964" y="4899172"/>
            <a:ext cx="6544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T4</a:t>
            </a:r>
          </a:p>
        </p:txBody>
      </p:sp>
    </p:spTree>
    <p:extLst>
      <p:ext uri="{BB962C8B-B14F-4D97-AF65-F5344CB8AC3E}">
        <p14:creationId xmlns:p14="http://schemas.microsoft.com/office/powerpoint/2010/main" val="2238186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>
            <a:off x="5167473" y="2439898"/>
            <a:ext cx="0" cy="2673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Redo phase: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 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AC06FA-BB7F-4C52-A240-6BD4ACE4FC75}"/>
              </a:ext>
            </a:extLst>
          </p:cNvPr>
          <p:cNvSpPr txBox="1"/>
          <p:nvPr/>
        </p:nvSpPr>
        <p:spPr>
          <a:xfrm flipH="1">
            <a:off x="5409720" y="208689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411042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22E9F-C479-4D6B-814E-FF63FC728E5A}"/>
              </a:ext>
            </a:extLst>
          </p:cNvPr>
          <p:cNvSpPr txBox="1"/>
          <p:nvPr/>
        </p:nvSpPr>
        <p:spPr>
          <a:xfrm flipH="1">
            <a:off x="5420829" y="266746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CAC7D4-D0F4-446A-8F44-3E73E17CE0A0}"/>
              </a:ext>
            </a:extLst>
          </p:cNvPr>
          <p:cNvSpPr txBox="1"/>
          <p:nvPr/>
        </p:nvSpPr>
        <p:spPr>
          <a:xfrm flipH="1">
            <a:off x="5445996" y="2986248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3C2C0C-46DD-40D9-BCEF-77BDA66949A3}"/>
              </a:ext>
            </a:extLst>
          </p:cNvPr>
          <p:cNvSpPr txBox="1"/>
          <p:nvPr/>
        </p:nvSpPr>
        <p:spPr>
          <a:xfrm flipH="1">
            <a:off x="5455783" y="3281261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86B732-83C4-4BE1-900F-D21AEE286BA9}"/>
              </a:ext>
            </a:extLst>
          </p:cNvPr>
          <p:cNvSpPr txBox="1"/>
          <p:nvPr/>
        </p:nvSpPr>
        <p:spPr>
          <a:xfrm flipH="1">
            <a:off x="5455783" y="358326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1F8FD6-EA39-4571-85EF-85918B915621}"/>
              </a:ext>
            </a:extLst>
          </p:cNvPr>
          <p:cNvSpPr txBox="1"/>
          <p:nvPr/>
        </p:nvSpPr>
        <p:spPr>
          <a:xfrm flipH="1">
            <a:off x="5455783" y="385171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EB383-87D9-4239-81EB-28ED0DBFEC52}"/>
              </a:ext>
            </a:extLst>
          </p:cNvPr>
          <p:cNvSpPr txBox="1"/>
          <p:nvPr/>
        </p:nvSpPr>
        <p:spPr>
          <a:xfrm flipH="1">
            <a:off x="5448792" y="4163504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C842F-691E-4174-97A9-B78111571FDB}"/>
              </a:ext>
            </a:extLst>
          </p:cNvPr>
          <p:cNvSpPr txBox="1"/>
          <p:nvPr/>
        </p:nvSpPr>
        <p:spPr>
          <a:xfrm flipH="1">
            <a:off x="5455783" y="4474703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A17E5B-E4E7-47BE-A2B8-C15AE073AFBE}"/>
              </a:ext>
            </a:extLst>
          </p:cNvPr>
          <p:cNvSpPr txBox="1"/>
          <p:nvPr/>
        </p:nvSpPr>
        <p:spPr>
          <a:xfrm flipH="1">
            <a:off x="5473959" y="4778105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sp>
        <p:nvSpPr>
          <p:cNvPr id="48" name="Line 12">
            <a:extLst>
              <a:ext uri="{FF2B5EF4-FFF2-40B4-BE49-F238E27FC236}">
                <a16:creationId xmlns:a16="http://schemas.microsoft.com/office/drawing/2014/main" id="{C09FF06D-85E4-4D30-B074-8410429D9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204" y="4998536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2">
            <a:extLst>
              <a:ext uri="{FF2B5EF4-FFF2-40B4-BE49-F238E27FC236}">
                <a16:creationId xmlns:a16="http://schemas.microsoft.com/office/drawing/2014/main" id="{8880AAD6-4FDC-4B13-8D57-4103EC62E7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0828" y="5041879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8689F5-A376-4FC6-8218-8EBDF0803FE8}"/>
              </a:ext>
            </a:extLst>
          </p:cNvPr>
          <p:cNvSpPr txBox="1"/>
          <p:nvPr/>
        </p:nvSpPr>
        <p:spPr>
          <a:xfrm flipH="1">
            <a:off x="5450190" y="5123452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redo</a:t>
            </a:r>
          </a:p>
        </p:txBody>
      </p:sp>
      <p:grpSp>
        <p:nvGrpSpPr>
          <p:cNvPr id="58" name="Group 11">
            <a:extLst>
              <a:ext uri="{FF2B5EF4-FFF2-40B4-BE49-F238E27FC236}">
                <a16:creationId xmlns:a16="http://schemas.microsoft.com/office/drawing/2014/main" id="{D832584F-8029-4334-B92B-50297A67E2DC}"/>
              </a:ext>
            </a:extLst>
          </p:cNvPr>
          <p:cNvGrpSpPr>
            <a:grpSpLocks/>
          </p:cNvGrpSpPr>
          <p:nvPr/>
        </p:nvGrpSpPr>
        <p:grpSpPr bwMode="auto">
          <a:xfrm>
            <a:off x="1952431" y="3106412"/>
            <a:ext cx="811213" cy="400050"/>
            <a:chOff x="3552" y="1612"/>
            <a:chExt cx="511" cy="252"/>
          </a:xfrm>
        </p:grpSpPr>
        <p:sp>
          <p:nvSpPr>
            <p:cNvPr id="59" name="Line 12">
              <a:extLst>
                <a:ext uri="{FF2B5EF4-FFF2-40B4-BE49-F238E27FC236}">
                  <a16:creationId xmlns:a16="http://schemas.microsoft.com/office/drawing/2014/main" id="{9B950C96-96EA-438D-B709-AFC807318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Box 13">
              <a:extLst>
                <a:ext uri="{FF2B5EF4-FFF2-40B4-BE49-F238E27FC236}">
                  <a16:creationId xmlns:a16="http://schemas.microsoft.com/office/drawing/2014/main" id="{940AB7E4-F186-44BE-A542-B384A748C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8B64D0B6-ACEF-47BB-BBA6-EA794018E2FE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  <p:grpSp>
        <p:nvGrpSpPr>
          <p:cNvPr id="51" name="Group 11">
            <a:extLst>
              <a:ext uri="{FF2B5EF4-FFF2-40B4-BE49-F238E27FC236}">
                <a16:creationId xmlns:a16="http://schemas.microsoft.com/office/drawing/2014/main" id="{AD603E2D-E0F3-4226-8F6E-9C9EF4C96F5A}"/>
              </a:ext>
            </a:extLst>
          </p:cNvPr>
          <p:cNvGrpSpPr>
            <a:grpSpLocks/>
          </p:cNvGrpSpPr>
          <p:nvPr/>
        </p:nvGrpSpPr>
        <p:grpSpPr bwMode="auto">
          <a:xfrm>
            <a:off x="1795645" y="3379152"/>
            <a:ext cx="760413" cy="400050"/>
            <a:chOff x="3552" y="1612"/>
            <a:chExt cx="479" cy="252"/>
          </a:xfrm>
        </p:grpSpPr>
        <p:sp>
          <p:nvSpPr>
            <p:cNvPr id="54" name="Line 12">
              <a:extLst>
                <a:ext uri="{FF2B5EF4-FFF2-40B4-BE49-F238E27FC236}">
                  <a16:creationId xmlns:a16="http://schemas.microsoft.com/office/drawing/2014/main" id="{9A03986E-5D68-4CB3-9123-36951207B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55" name="Text Box 13">
              <a:extLst>
                <a:ext uri="{FF2B5EF4-FFF2-40B4-BE49-F238E27FC236}">
                  <a16:creationId xmlns:a16="http://schemas.microsoft.com/office/drawing/2014/main" id="{0E30A704-61BA-4DFD-BE44-DD60169B4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6"/>
                  </a:solidFill>
                  <a:latin typeface="+mn-lt"/>
                </a:rPr>
                <a:t>51</a:t>
              </a:r>
            </a:p>
          </p:txBody>
        </p:sp>
      </p:grpSp>
      <p:grpSp>
        <p:nvGrpSpPr>
          <p:cNvPr id="56" name="Group 11">
            <a:extLst>
              <a:ext uri="{FF2B5EF4-FFF2-40B4-BE49-F238E27FC236}">
                <a16:creationId xmlns:a16="http://schemas.microsoft.com/office/drawing/2014/main" id="{9C99517C-81A1-4A99-8D14-CAE9E0031FB6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62" name="Line 12">
              <a:extLst>
                <a:ext uri="{FF2B5EF4-FFF2-40B4-BE49-F238E27FC236}">
                  <a16:creationId xmlns:a16="http://schemas.microsoft.com/office/drawing/2014/main" id="{FB8F73A9-220F-468A-B1AD-571832445D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6846B098-7748-43A3-9F4F-F003C9D7E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B579BAF5-C9D7-4C41-A920-06B8AFA7F6A7}"/>
              </a:ext>
            </a:extLst>
          </p:cNvPr>
          <p:cNvSpPr/>
          <p:nvPr/>
        </p:nvSpPr>
        <p:spPr>
          <a:xfrm>
            <a:off x="1702964" y="4899172"/>
            <a:ext cx="6544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T4</a:t>
            </a:r>
          </a:p>
        </p:txBody>
      </p:sp>
    </p:spTree>
    <p:extLst>
      <p:ext uri="{BB962C8B-B14F-4D97-AF65-F5344CB8AC3E}">
        <p14:creationId xmlns:p14="http://schemas.microsoft.com/office/powerpoint/2010/main" val="4132983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B252-65BC-4788-8CDF-A55622A3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C0-5310-40AC-8FF5-2B5B54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47F4-3294-4A60-9B4C-A29B964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45813-1BB4-4031-9F9F-727A29917DE4}"/>
              </a:ext>
            </a:extLst>
          </p:cNvPr>
          <p:cNvSpPr/>
          <p:nvPr/>
        </p:nvSpPr>
        <p:spPr>
          <a:xfrm>
            <a:off x="6123797" y="2037010"/>
            <a:ext cx="21009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1</a:t>
            </a:r>
            <a:r>
              <a:rPr lang="en-CA" sz="2000" dirty="0"/>
              <a:t>, </a:t>
            </a:r>
            <a:r>
              <a:rPr lang="en-CA" sz="2000" i="1" dirty="0"/>
              <a:t>x</a:t>
            </a:r>
            <a:r>
              <a:rPr lang="en-CA" sz="2000" dirty="0"/>
              <a:t>, 99, 100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199, 200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</a:t>
            </a:r>
            <a:r>
              <a:rPr lang="en-CA" sz="2000" i="1" dirty="0"/>
              <a:t>z</a:t>
            </a:r>
            <a:r>
              <a:rPr lang="en-CA" sz="2000" dirty="0"/>
              <a:t>, 51, 50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</a:t>
            </a:r>
            <a:r>
              <a:rPr lang="en-CA" sz="2000" i="1" dirty="0"/>
              <a:t>w</a:t>
            </a:r>
            <a:r>
              <a:rPr lang="en-CA" sz="2000" dirty="0"/>
              <a:t>, 1000, 10</a:t>
            </a:r>
          </a:p>
          <a:p>
            <a:r>
              <a:rPr lang="en-CA" sz="2000" i="1" dirty="0"/>
              <a:t>T</a:t>
            </a:r>
            <a:r>
              <a:rPr lang="en-CA" sz="1050" dirty="0"/>
              <a:t>2</a:t>
            </a:r>
            <a:r>
              <a:rPr lang="en-CA" sz="2000" dirty="0"/>
              <a:t>, commit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start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3</a:t>
            </a:r>
            <a:r>
              <a:rPr lang="en-CA" sz="2000" dirty="0"/>
              <a:t>, abort</a:t>
            </a:r>
          </a:p>
          <a:p>
            <a:r>
              <a:rPr lang="en-CA" sz="2000" i="1" dirty="0"/>
              <a:t>T</a:t>
            </a:r>
            <a:r>
              <a:rPr lang="en-CA" sz="1050" dirty="0"/>
              <a:t>4</a:t>
            </a:r>
            <a:r>
              <a:rPr lang="en-CA" sz="2000" dirty="0"/>
              <a:t>, </a:t>
            </a:r>
            <a:r>
              <a:rPr lang="en-CA" sz="2000" i="1" dirty="0"/>
              <a:t>y</a:t>
            </a:r>
            <a:r>
              <a:rPr lang="en-CA" sz="2000" dirty="0"/>
              <a:t>, 200, 50</a:t>
            </a:r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2965D333-A99E-41C9-9919-2AB85167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763" y="1414909"/>
            <a:ext cx="2391562" cy="4960724"/>
          </a:xfrm>
          <a:prstGeom prst="can">
            <a:avLst>
              <a:gd name="adj" fmla="val 17816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7007EA7C-12EE-4D9C-B4EC-1AA01E1B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763" y="1436217"/>
            <a:ext cx="728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>
                <a:latin typeface="+mn-lt"/>
              </a:rPr>
              <a:t>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52D84-7312-47AE-85EB-C599F52F8E7F}"/>
              </a:ext>
            </a:extLst>
          </p:cNvPr>
          <p:cNvSpPr/>
          <p:nvPr/>
        </p:nvSpPr>
        <p:spPr>
          <a:xfrm>
            <a:off x="4208729" y="5231582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End of log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535E7-AEFD-4827-99B3-312A85A289CE}"/>
              </a:ext>
            </a:extLst>
          </p:cNvPr>
          <p:cNvCxnSpPr>
            <a:cxnSpLocks/>
          </p:cNvCxnSpPr>
          <p:nvPr/>
        </p:nvCxnSpPr>
        <p:spPr>
          <a:xfrm>
            <a:off x="5384477" y="2043992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FFAA30-A3E4-498D-9BA8-C4ADA951EEF4}"/>
              </a:ext>
            </a:extLst>
          </p:cNvPr>
          <p:cNvCxnSpPr>
            <a:cxnSpLocks/>
          </p:cNvCxnSpPr>
          <p:nvPr/>
        </p:nvCxnSpPr>
        <p:spPr>
          <a:xfrm>
            <a:off x="5384477" y="5482764"/>
            <a:ext cx="580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D0D9A-77F5-4EA7-8BBC-C82E30FB3E4F}"/>
              </a:ext>
            </a:extLst>
          </p:cNvPr>
          <p:cNvCxnSpPr>
            <a:cxnSpLocks/>
          </p:cNvCxnSpPr>
          <p:nvPr/>
        </p:nvCxnSpPr>
        <p:spPr>
          <a:xfrm flipH="1" flipV="1">
            <a:off x="4915924" y="2332700"/>
            <a:ext cx="0" cy="28147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2F2C04-13CA-4045-A0BA-B0C093AB25E5}"/>
              </a:ext>
            </a:extLst>
          </p:cNvPr>
          <p:cNvGrpSpPr/>
          <p:nvPr/>
        </p:nvGrpSpPr>
        <p:grpSpPr>
          <a:xfrm>
            <a:off x="2712112" y="5200788"/>
            <a:ext cx="5528416" cy="1024720"/>
            <a:chOff x="-1399070" y="2676997"/>
            <a:chExt cx="5528416" cy="102472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869B78-7524-47C9-8237-638EE2ADF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99070" y="3311925"/>
              <a:ext cx="5528416" cy="16793"/>
            </a:xfrm>
            <a:prstGeom prst="line">
              <a:avLst/>
            </a:prstGeom>
            <a:ln w="28575">
              <a:solidFill>
                <a:schemeClr val="accent6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 descr="A close up of a logo&#10;&#10;Description automatically generated">
              <a:extLst>
                <a:ext uri="{FF2B5EF4-FFF2-40B4-BE49-F238E27FC236}">
                  <a16:creationId xmlns:a16="http://schemas.microsoft.com/office/drawing/2014/main" id="{AA5F40D9-DECB-453D-8C1A-27B582DB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72605" y="2676997"/>
              <a:ext cx="1036106" cy="1024720"/>
            </a:xfrm>
            <a:prstGeom prst="rect">
              <a:avLst/>
            </a:prstGeom>
          </p:spPr>
        </p:pic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F4699F8-3587-4894-81F0-C1C4E9645761}"/>
              </a:ext>
            </a:extLst>
          </p:cNvPr>
          <p:cNvSpPr txBox="1">
            <a:spLocks/>
          </p:cNvSpPr>
          <p:nvPr/>
        </p:nvSpPr>
        <p:spPr>
          <a:xfrm>
            <a:off x="494736" y="1609254"/>
            <a:ext cx="8173014" cy="526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Undo phase: T1, T4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930EB81-2A91-44DD-A7E3-8B48AFA4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49" y="2167776"/>
            <a:ext cx="2117315" cy="2306927"/>
          </a:xfrm>
          <a:prstGeom prst="can">
            <a:avLst>
              <a:gd name="adj" fmla="val 25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 dirty="0"/>
              <a:t>x: 99 </a:t>
            </a:r>
          </a:p>
          <a:p>
            <a:r>
              <a:rPr lang="en-US" sz="2000" dirty="0"/>
              <a:t>y: 199</a:t>
            </a:r>
          </a:p>
          <a:p>
            <a:r>
              <a:rPr lang="en-US" sz="2000" dirty="0"/>
              <a:t>z: 51</a:t>
            </a:r>
          </a:p>
          <a:p>
            <a:r>
              <a:rPr lang="en-US" sz="2000" dirty="0"/>
              <a:t>w: 1000 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BC334CED-8930-40F8-B874-06E05E296B39}"/>
              </a:ext>
            </a:extLst>
          </p:cNvPr>
          <p:cNvGrpSpPr>
            <a:grpSpLocks/>
          </p:cNvGrpSpPr>
          <p:nvPr/>
        </p:nvGrpSpPr>
        <p:grpSpPr bwMode="auto">
          <a:xfrm>
            <a:off x="1320460" y="2801612"/>
            <a:ext cx="915988" cy="400050"/>
            <a:chOff x="3552" y="1612"/>
            <a:chExt cx="577" cy="252"/>
          </a:xfrm>
        </p:grpSpPr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919814-8B05-45CB-8720-538917BEA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B67156B-9525-4977-AC0B-00586109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100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5BA27CD-2FA5-4A72-A140-38A5D7018E84}"/>
              </a:ext>
            </a:extLst>
          </p:cNvPr>
          <p:cNvSpPr txBox="1"/>
          <p:nvPr/>
        </p:nvSpPr>
        <p:spPr>
          <a:xfrm flipH="1">
            <a:off x="5369097" y="2347286"/>
            <a:ext cx="68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undo</a:t>
            </a: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01BD100F-40C1-41F7-8521-EB9CCD9D802E}"/>
              </a:ext>
            </a:extLst>
          </p:cNvPr>
          <p:cNvGrpSpPr>
            <a:grpSpLocks/>
          </p:cNvGrpSpPr>
          <p:nvPr/>
        </p:nvGrpSpPr>
        <p:grpSpPr bwMode="auto">
          <a:xfrm>
            <a:off x="1363803" y="3121792"/>
            <a:ext cx="944563" cy="400050"/>
            <a:chOff x="3552" y="1612"/>
            <a:chExt cx="595" cy="252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B6D03290-F7D5-4ACC-B230-8154701EB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09401A7C-9DE5-4063-AF4B-728A5D26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200</a:t>
              </a:r>
            </a:p>
          </p:txBody>
        </p:sp>
      </p:grpSp>
      <p:grpSp>
        <p:nvGrpSpPr>
          <p:cNvPr id="39" name="Group 11">
            <a:extLst>
              <a:ext uri="{FF2B5EF4-FFF2-40B4-BE49-F238E27FC236}">
                <a16:creationId xmlns:a16="http://schemas.microsoft.com/office/drawing/2014/main" id="{0E30E960-CFB8-4294-B941-D0F9C3D7604E}"/>
              </a:ext>
            </a:extLst>
          </p:cNvPr>
          <p:cNvGrpSpPr>
            <a:grpSpLocks/>
          </p:cNvGrpSpPr>
          <p:nvPr/>
        </p:nvGrpSpPr>
        <p:grpSpPr bwMode="auto">
          <a:xfrm>
            <a:off x="1356822" y="3693642"/>
            <a:ext cx="885827" cy="400050"/>
            <a:chOff x="3552" y="1612"/>
            <a:chExt cx="558" cy="252"/>
          </a:xfrm>
        </p:grpSpPr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B2C4D98-B8C1-4D5A-826B-CA5814FD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B634477C-3B9E-416F-8909-87C78CD5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  10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8107D-54E8-47C2-9138-8A36035A381F}"/>
              </a:ext>
            </a:extLst>
          </p:cNvPr>
          <p:cNvSpPr/>
          <p:nvPr/>
        </p:nvSpPr>
        <p:spPr>
          <a:xfrm>
            <a:off x="213874" y="4550519"/>
            <a:ext cx="4660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 of active transactions at crash: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4519A-D065-4037-A153-B30EAE25D3D7}"/>
              </a:ext>
            </a:extLst>
          </p:cNvPr>
          <p:cNvSpPr/>
          <p:nvPr/>
        </p:nvSpPr>
        <p:spPr>
          <a:xfrm>
            <a:off x="483124" y="4898752"/>
            <a:ext cx="516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A58B6D-2200-4377-940D-EC4A2B47B642}"/>
              </a:ext>
            </a:extLst>
          </p:cNvPr>
          <p:cNvSpPr/>
          <p:nvPr/>
        </p:nvSpPr>
        <p:spPr>
          <a:xfrm>
            <a:off x="938990" y="4892163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650F53-CF11-4EDA-B087-3C38F1C6421B}"/>
              </a:ext>
            </a:extLst>
          </p:cNvPr>
          <p:cNvSpPr/>
          <p:nvPr/>
        </p:nvSpPr>
        <p:spPr>
          <a:xfrm>
            <a:off x="1267559" y="4893561"/>
            <a:ext cx="490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0DA303-B8B8-4632-8758-8F0E84E392EF}"/>
              </a:ext>
            </a:extLst>
          </p:cNvPr>
          <p:cNvSpPr/>
          <p:nvPr/>
        </p:nvSpPr>
        <p:spPr>
          <a:xfrm>
            <a:off x="1638073" y="4903348"/>
            <a:ext cx="505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T4</a:t>
            </a:r>
          </a:p>
        </p:txBody>
      </p:sp>
      <p:sp>
        <p:nvSpPr>
          <p:cNvPr id="48" name="Line 12">
            <a:extLst>
              <a:ext uri="{FF2B5EF4-FFF2-40B4-BE49-F238E27FC236}">
                <a16:creationId xmlns:a16="http://schemas.microsoft.com/office/drawing/2014/main" id="{C09FF06D-85E4-4D30-B074-8410429D9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204" y="4998536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2">
            <a:extLst>
              <a:ext uri="{FF2B5EF4-FFF2-40B4-BE49-F238E27FC236}">
                <a16:creationId xmlns:a16="http://schemas.microsoft.com/office/drawing/2014/main" id="{8880AAD6-4FDC-4B13-8D57-4103EC62E7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0828" y="5041879"/>
            <a:ext cx="381001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8689F5-A376-4FC6-8218-8EBDF0803FE8}"/>
              </a:ext>
            </a:extLst>
          </p:cNvPr>
          <p:cNvSpPr txBox="1"/>
          <p:nvPr/>
        </p:nvSpPr>
        <p:spPr>
          <a:xfrm flipH="1">
            <a:off x="5355115" y="5115063"/>
            <a:ext cx="79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undo</a:t>
            </a:r>
          </a:p>
        </p:txBody>
      </p:sp>
      <p:grpSp>
        <p:nvGrpSpPr>
          <p:cNvPr id="58" name="Group 11">
            <a:extLst>
              <a:ext uri="{FF2B5EF4-FFF2-40B4-BE49-F238E27FC236}">
                <a16:creationId xmlns:a16="http://schemas.microsoft.com/office/drawing/2014/main" id="{D832584F-8029-4334-B92B-50297A67E2DC}"/>
              </a:ext>
            </a:extLst>
          </p:cNvPr>
          <p:cNvGrpSpPr>
            <a:grpSpLocks/>
          </p:cNvGrpSpPr>
          <p:nvPr/>
        </p:nvGrpSpPr>
        <p:grpSpPr bwMode="auto">
          <a:xfrm>
            <a:off x="1952431" y="3106412"/>
            <a:ext cx="811213" cy="400050"/>
            <a:chOff x="3552" y="1612"/>
            <a:chExt cx="511" cy="252"/>
          </a:xfrm>
        </p:grpSpPr>
        <p:sp>
          <p:nvSpPr>
            <p:cNvPr id="59" name="Line 12">
              <a:extLst>
                <a:ext uri="{FF2B5EF4-FFF2-40B4-BE49-F238E27FC236}">
                  <a16:creationId xmlns:a16="http://schemas.microsoft.com/office/drawing/2014/main" id="{9B950C96-96EA-438D-B709-AFC807318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Box 13">
              <a:extLst>
                <a:ext uri="{FF2B5EF4-FFF2-40B4-BE49-F238E27FC236}">
                  <a16:creationId xmlns:a16="http://schemas.microsoft.com/office/drawing/2014/main" id="{940AB7E4-F186-44BE-A542-B384A748C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2722D3C3-4D7A-4C14-8792-5C0C0BE8A089}"/>
              </a:ext>
            </a:extLst>
          </p:cNvPr>
          <p:cNvSpPr/>
          <p:nvPr/>
        </p:nvSpPr>
        <p:spPr>
          <a:xfrm>
            <a:off x="4063377" y="19371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of log</a:t>
            </a:r>
            <a:endParaRPr lang="en-CA" dirty="0"/>
          </a:p>
        </p:txBody>
      </p:sp>
      <p:grpSp>
        <p:nvGrpSpPr>
          <p:cNvPr id="55" name="Group 11">
            <a:extLst>
              <a:ext uri="{FF2B5EF4-FFF2-40B4-BE49-F238E27FC236}">
                <a16:creationId xmlns:a16="http://schemas.microsoft.com/office/drawing/2014/main" id="{90325D39-A276-4433-A69D-1259B7CCD00A}"/>
              </a:ext>
            </a:extLst>
          </p:cNvPr>
          <p:cNvGrpSpPr>
            <a:grpSpLocks/>
          </p:cNvGrpSpPr>
          <p:nvPr/>
        </p:nvGrpSpPr>
        <p:grpSpPr bwMode="auto">
          <a:xfrm>
            <a:off x="1883925" y="2794621"/>
            <a:ext cx="825501" cy="400050"/>
            <a:chOff x="3552" y="1612"/>
            <a:chExt cx="520" cy="252"/>
          </a:xfrm>
        </p:grpSpPr>
        <p:sp>
          <p:nvSpPr>
            <p:cNvPr id="56" name="Line 12">
              <a:extLst>
                <a:ext uri="{FF2B5EF4-FFF2-40B4-BE49-F238E27FC236}">
                  <a16:creationId xmlns:a16="http://schemas.microsoft.com/office/drawing/2014/main" id="{F5BE2925-83AD-4C09-A18B-3480E6B05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61" name="Text Box 13">
              <a:extLst>
                <a:ext uri="{FF2B5EF4-FFF2-40B4-BE49-F238E27FC236}">
                  <a16:creationId xmlns:a16="http://schemas.microsoft.com/office/drawing/2014/main" id="{DE9D6F2F-0D9A-4C07-976A-3CCD95AF8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1"/>
                  </a:solidFill>
                  <a:latin typeface="+mn-lt"/>
                </a:rPr>
                <a:t>99</a:t>
              </a:r>
            </a:p>
          </p:txBody>
        </p:sp>
      </p:grpSp>
      <p:grpSp>
        <p:nvGrpSpPr>
          <p:cNvPr id="62" name="Group 11">
            <a:extLst>
              <a:ext uri="{FF2B5EF4-FFF2-40B4-BE49-F238E27FC236}">
                <a16:creationId xmlns:a16="http://schemas.microsoft.com/office/drawing/2014/main" id="{F593BE59-5492-4651-BDA2-3E9DB898D636}"/>
              </a:ext>
            </a:extLst>
          </p:cNvPr>
          <p:cNvGrpSpPr>
            <a:grpSpLocks/>
          </p:cNvGrpSpPr>
          <p:nvPr/>
        </p:nvGrpSpPr>
        <p:grpSpPr bwMode="auto">
          <a:xfrm>
            <a:off x="2314620" y="3106412"/>
            <a:ext cx="944564" cy="400050"/>
            <a:chOff x="3552" y="1612"/>
            <a:chExt cx="595" cy="252"/>
          </a:xfrm>
        </p:grpSpPr>
        <p:sp>
          <p:nvSpPr>
            <p:cNvPr id="63" name="Line 12">
              <a:extLst>
                <a:ext uri="{FF2B5EF4-FFF2-40B4-BE49-F238E27FC236}">
                  <a16:creationId xmlns:a16="http://schemas.microsoft.com/office/drawing/2014/main" id="{5D9214AA-43FA-4070-9F14-98D4C093A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4" name="Text Box 13">
              <a:extLst>
                <a:ext uri="{FF2B5EF4-FFF2-40B4-BE49-F238E27FC236}">
                  <a16:creationId xmlns:a16="http://schemas.microsoft.com/office/drawing/2014/main" id="{BA7C026D-4ADB-4155-97D7-CF12D07F4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369" cy="252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1"/>
                  </a:solidFill>
                  <a:latin typeface="+mn-lt"/>
                </a:rPr>
                <a:t>200</a:t>
              </a:r>
            </a:p>
          </p:txBody>
        </p:sp>
      </p:grpSp>
      <p:grpSp>
        <p:nvGrpSpPr>
          <p:cNvPr id="65" name="Group 11">
            <a:extLst>
              <a:ext uri="{FF2B5EF4-FFF2-40B4-BE49-F238E27FC236}">
                <a16:creationId xmlns:a16="http://schemas.microsoft.com/office/drawing/2014/main" id="{BA90CE0E-23A1-4621-B0E7-1C9EAB2709A7}"/>
              </a:ext>
            </a:extLst>
          </p:cNvPr>
          <p:cNvGrpSpPr>
            <a:grpSpLocks/>
          </p:cNvGrpSpPr>
          <p:nvPr/>
        </p:nvGrpSpPr>
        <p:grpSpPr bwMode="auto">
          <a:xfrm>
            <a:off x="1348423" y="3391638"/>
            <a:ext cx="811213" cy="400050"/>
            <a:chOff x="3552" y="1612"/>
            <a:chExt cx="511" cy="252"/>
          </a:xfrm>
        </p:grpSpPr>
        <p:sp>
          <p:nvSpPr>
            <p:cNvPr id="66" name="Line 12">
              <a:extLst>
                <a:ext uri="{FF2B5EF4-FFF2-40B4-BE49-F238E27FC236}">
                  <a16:creationId xmlns:a16="http://schemas.microsoft.com/office/drawing/2014/main" id="{E68E0757-AB50-4D12-90C9-FF20D73698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Box 13">
              <a:extLst>
                <a:ext uri="{FF2B5EF4-FFF2-40B4-BE49-F238E27FC236}">
                  <a16:creationId xmlns:a16="http://schemas.microsoft.com/office/drawing/2014/main" id="{C3C2422D-501A-4CE0-9011-FFB7BE010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2"/>
                  </a:solidFill>
                  <a:latin typeface="+mn-lt"/>
                </a:rPr>
                <a:t>50</a:t>
              </a:r>
            </a:p>
          </p:txBody>
        </p:sp>
      </p:grpSp>
      <p:grpSp>
        <p:nvGrpSpPr>
          <p:cNvPr id="68" name="Group 11">
            <a:extLst>
              <a:ext uri="{FF2B5EF4-FFF2-40B4-BE49-F238E27FC236}">
                <a16:creationId xmlns:a16="http://schemas.microsoft.com/office/drawing/2014/main" id="{8C560FD6-DCBD-487E-A05E-07B850307952}"/>
              </a:ext>
            </a:extLst>
          </p:cNvPr>
          <p:cNvGrpSpPr>
            <a:grpSpLocks/>
          </p:cNvGrpSpPr>
          <p:nvPr/>
        </p:nvGrpSpPr>
        <p:grpSpPr bwMode="auto">
          <a:xfrm>
            <a:off x="1795645" y="3379152"/>
            <a:ext cx="760413" cy="400050"/>
            <a:chOff x="3552" y="1612"/>
            <a:chExt cx="479" cy="252"/>
          </a:xfrm>
        </p:grpSpPr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905B08E5-739C-4684-9085-1FAF649FCB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688"/>
              <a:ext cx="240" cy="136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70" name="Text Box 13">
              <a:extLst>
                <a:ext uri="{FF2B5EF4-FFF2-40B4-BE49-F238E27FC236}">
                  <a16:creationId xmlns:a16="http://schemas.microsoft.com/office/drawing/2014/main" id="{92F29720-78E0-4E32-86EE-289A59CEF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1612"/>
              <a:ext cx="2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solidFill>
                    <a:schemeClr val="accent6"/>
                  </a:solidFill>
                  <a:latin typeface="+mn-lt"/>
                </a:rPr>
                <a:t>51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3AFC0-104D-4098-A84D-5E1284ECE16F}"/>
              </a:ext>
            </a:extLst>
          </p:cNvPr>
          <p:cNvSpPr/>
          <p:nvPr/>
        </p:nvSpPr>
        <p:spPr>
          <a:xfrm>
            <a:off x="6183670" y="5785389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i="1" dirty="0"/>
              <a:t>T</a:t>
            </a:r>
            <a:r>
              <a:rPr lang="en-CA" sz="1000" i="1" dirty="0"/>
              <a:t>4</a:t>
            </a:r>
            <a:r>
              <a:rPr lang="en-CA" dirty="0"/>
              <a:t>, abort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9895DF0-202E-42C8-9FC2-6CAD288DFEB6}"/>
              </a:ext>
            </a:extLst>
          </p:cNvPr>
          <p:cNvSpPr/>
          <p:nvPr/>
        </p:nvSpPr>
        <p:spPr>
          <a:xfrm>
            <a:off x="6203048" y="5988674"/>
            <a:ext cx="987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i="1" dirty="0"/>
              <a:t>T</a:t>
            </a:r>
            <a:r>
              <a:rPr lang="en-CA" sz="1000" i="1" dirty="0"/>
              <a:t>1</a:t>
            </a:r>
            <a:r>
              <a:rPr lang="en-CA" dirty="0"/>
              <a:t>, abort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373309-C8E8-450B-986F-C211053AD0A1}"/>
              </a:ext>
            </a:extLst>
          </p:cNvPr>
          <p:cNvSpPr txBox="1"/>
          <p:nvPr/>
        </p:nvSpPr>
        <p:spPr>
          <a:xfrm flipH="1">
            <a:off x="5552790" y="4503799"/>
            <a:ext cx="79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*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849E85-FD9F-4D9D-B320-6F9048525775}"/>
              </a:ext>
            </a:extLst>
          </p:cNvPr>
          <p:cNvSpPr txBox="1"/>
          <p:nvPr/>
        </p:nvSpPr>
        <p:spPr>
          <a:xfrm flipH="1">
            <a:off x="5552790" y="2116581"/>
            <a:ext cx="79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*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087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3" grpId="0"/>
      <p:bldP spid="72" grpId="0"/>
      <p:bldP spid="74" grpId="0"/>
      <p:bldP spid="7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648D-837B-4648-9621-4A9ADA93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Undo/redo logging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89C33-E55F-4E2D-9574-A6E35FB4BF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U: used to track the set of active transactions at crash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Redo phase: scan </a:t>
                </a:r>
                <a:r>
                  <a:rPr lang="en-US" dirty="0">
                    <a:solidFill>
                      <a:schemeClr val="accent2"/>
                    </a:solidFill>
                  </a:rPr>
                  <a:t>forward</a:t>
                </a:r>
                <a:r>
                  <a:rPr lang="en-US" dirty="0"/>
                  <a:t> to end of the log</a:t>
                </a:r>
              </a:p>
              <a:p>
                <a:pPr lvl="1"/>
                <a:r>
                  <a:rPr lang="en-US" dirty="0"/>
                  <a:t>For a log record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dirty="0">
                    <a:solidFill>
                      <a:schemeClr val="accent2"/>
                    </a:solidFill>
                  </a:rPr>
                  <a:t>, start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en-US" dirty="0"/>
                  <a:t>, add </a:t>
                </a:r>
                <a:r>
                  <a:rPr lang="en-US" i="1" dirty="0"/>
                  <a:t>T</a:t>
                </a:r>
                <a:r>
                  <a:rPr lang="en-US" dirty="0"/>
                  <a:t> to </a:t>
                </a:r>
                <a:r>
                  <a:rPr lang="en-US" i="1" dirty="0"/>
                  <a:t>U</a:t>
                </a:r>
              </a:p>
              <a:p>
                <a:pPr lvl="1"/>
                <a:r>
                  <a:rPr lang="en-US" dirty="0"/>
                  <a:t>For a log record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dirty="0">
                    <a:solidFill>
                      <a:schemeClr val="accent2"/>
                    </a:solidFill>
                  </a:rPr>
                  <a:t>, commit | abort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en-US" dirty="0"/>
                  <a:t>, remove </a:t>
                </a:r>
                <a:r>
                  <a:rPr lang="en-US" i="1" dirty="0"/>
                  <a:t>T</a:t>
                </a:r>
                <a:r>
                  <a:rPr lang="en-US" dirty="0"/>
                  <a:t> from </a:t>
                </a:r>
                <a:r>
                  <a:rPr lang="en-US" i="1" dirty="0"/>
                  <a:t>U</a:t>
                </a:r>
              </a:p>
              <a:p>
                <a:pPr lvl="1"/>
                <a:r>
                  <a:rPr lang="en-US" dirty="0"/>
                  <a:t>For a log record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X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old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new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en-US" dirty="0"/>
                  <a:t>, issue write(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new</a:t>
                </a:r>
                <a:r>
                  <a:rPr lang="en-US" dirty="0"/>
                  <a:t>)</a:t>
                </a:r>
              </a:p>
              <a:p>
                <a:pPr lvl="1">
                  <a:buFont typeface="Wingdings" pitchFamily="2" charset="2"/>
                  <a:buChar char="F"/>
                </a:pPr>
                <a:r>
                  <a:rPr lang="en-US" dirty="0">
                    <a:solidFill>
                      <a:schemeClr val="accent2"/>
                    </a:solidFill>
                  </a:rPr>
                  <a:t>Basically repeats history!</a:t>
                </a:r>
              </a:p>
              <a:p>
                <a:endParaRPr lang="en-CA" dirty="0"/>
              </a:p>
              <a:p>
                <a:r>
                  <a:rPr lang="en-US" dirty="0"/>
                  <a:t>Undo phase: scan log </a:t>
                </a:r>
                <a:r>
                  <a:rPr lang="en-US" dirty="0">
                    <a:solidFill>
                      <a:schemeClr val="accent2"/>
                    </a:solidFill>
                  </a:rPr>
                  <a:t>backward</a:t>
                </a:r>
              </a:p>
              <a:p>
                <a:pPr lvl="1"/>
                <a:r>
                  <a:rPr lang="en-US" dirty="0"/>
                  <a:t>Undo the effects of transactions in </a:t>
                </a:r>
                <a:r>
                  <a:rPr lang="en-US" i="1" dirty="0"/>
                  <a:t>U</a:t>
                </a:r>
              </a:p>
              <a:p>
                <a:pPr lvl="1"/>
                <a:r>
                  <a:rPr lang="en-US" dirty="0"/>
                  <a:t>That is, for each log record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X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old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i="1" dirty="0">
                    <a:solidFill>
                      <a:schemeClr val="accent2"/>
                    </a:solidFill>
                  </a:rPr>
                  <a:t>new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  <a:r>
                  <a:rPr lang="en-US" i="1" dirty="0"/>
                  <a:t>T</a:t>
                </a:r>
                <a:r>
                  <a:rPr lang="en-US" dirty="0"/>
                  <a:t> is in </a:t>
                </a:r>
                <a:r>
                  <a:rPr lang="en-US" i="1" dirty="0"/>
                  <a:t>U</a:t>
                </a:r>
                <a:r>
                  <a:rPr lang="en-US" dirty="0"/>
                  <a:t>, issue write(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old</a:t>
                </a:r>
                <a:r>
                  <a:rPr lang="en-US" dirty="0"/>
                  <a:t>), and log this operation too (part of the “repeating-history” paradigm)</a:t>
                </a:r>
              </a:p>
              <a:p>
                <a:pPr lvl="1"/>
                <a:r>
                  <a:rPr lang="en-US" dirty="0"/>
                  <a:t>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dirty="0">
                    <a:solidFill>
                      <a:schemeClr val="accent2"/>
                    </a:solidFill>
                  </a:rPr>
                  <a:t>, abort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en-US" dirty="0"/>
                  <a:t> when all effects of </a:t>
                </a:r>
                <a:r>
                  <a:rPr lang="en-US" i="1" dirty="0"/>
                  <a:t>T</a:t>
                </a:r>
                <a:r>
                  <a:rPr lang="en-US" dirty="0"/>
                  <a:t> have been undone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89C33-E55F-4E2D-9574-A6E35FB4B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119" t="-23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FFB18-2E45-41D6-8348-4216931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01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6EEE-EFEF-420A-A136-91AF9426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Checkpointing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27A2-A669-40A3-8B89-8FB2149F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Shortens the amount of log that need to be undone or redone when a </a:t>
            </a:r>
            <a:r>
              <a:rPr lang="en-CA" dirty="0"/>
              <a:t>failure occurs</a:t>
            </a:r>
          </a:p>
          <a:p>
            <a:endParaRPr lang="en-CA" dirty="0"/>
          </a:p>
          <a:p>
            <a:r>
              <a:rPr lang="en-US" dirty="0"/>
              <a:t>A checkpoint record contains a list of active transactions</a:t>
            </a:r>
          </a:p>
          <a:p>
            <a:endParaRPr lang="en-US" dirty="0"/>
          </a:p>
          <a:p>
            <a:r>
              <a:rPr lang="en-CA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Write 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begin_checkpoint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record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into the log	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Collect the checkpoint data into the stable storage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Write an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end_checkpoint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dirty="0"/>
              <a:t>record into the log</a:t>
            </a:r>
          </a:p>
          <a:p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72EA3-4211-4561-8F92-8545B037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82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control</a:t>
            </a:r>
          </a:p>
          <a:p>
            <a:pPr lvl="1"/>
            <a:r>
              <a:rPr lang="en-US" dirty="0"/>
              <a:t>2PL: guarantees a conflict-serializable schedule</a:t>
            </a:r>
          </a:p>
          <a:p>
            <a:pPr lvl="1"/>
            <a:r>
              <a:rPr lang="en-US" dirty="0"/>
              <a:t>Deadlock problem</a:t>
            </a:r>
          </a:p>
          <a:p>
            <a:pPr lvl="1"/>
            <a:endParaRPr lang="en-US" dirty="0"/>
          </a:p>
          <a:p>
            <a:r>
              <a:rPr lang="en-US" dirty="0"/>
              <a:t>Recovery: undo/redo logging</a:t>
            </a:r>
          </a:p>
          <a:p>
            <a:pPr lvl="1"/>
            <a:r>
              <a:rPr lang="en-US" dirty="0"/>
              <a:t>Normal operation: write-ahead logging, no force, steal</a:t>
            </a:r>
          </a:p>
          <a:p>
            <a:pPr lvl="1"/>
            <a:r>
              <a:rPr lang="en-US" dirty="0"/>
              <a:t>Recovery: first redo (forward), and then undo (backward)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/>
          </a:p>
        </p:txBody>
      </p:sp>
      <p:pic>
        <p:nvPicPr>
          <p:cNvPr id="1028" name="Picture 4" descr="The End - Word Hanging On Rope. 3d Illustration Stock Photo, Picture And  Royalty Free Image. Image 65005501.">
            <a:extLst>
              <a:ext uri="{FF2B5EF4-FFF2-40B4-BE49-F238E27FC236}">
                <a16:creationId xmlns:a16="http://schemas.microsoft.com/office/drawing/2014/main" id="{4E844E3D-6CD0-462D-87DC-00D1C679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360" y="5072691"/>
            <a:ext cx="2770989" cy="138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887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4.7|4.7|4.8|4.3|6|3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5|4.4|6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8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5|20|1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42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.1|13.7|0.6|1.6|3.5|4.5|2.3|1.8|3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4.6|14.2|8.9|14.3|2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6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|4.2|16.8|26|14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3.2|0.8|4.5|7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18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5.2|8.8|6.2|1.5|2.8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|11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2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8|9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5.7|17|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4.2|0.4|3.8|2.1|12.6|0.3|3|1|23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2.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.5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27.3|8|10.3|7.2|7.3|4.6|5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4|7.1|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3407</Words>
  <Application>Microsoft Office PowerPoint</Application>
  <PresentationFormat>On-screen Show (4:3)</PresentationFormat>
  <Paragraphs>788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AmeriGarmnd BT</vt:lpstr>
      <vt:lpstr>Prestige12 BT</vt:lpstr>
      <vt:lpstr>TimesNewRomanPSMT</vt:lpstr>
      <vt:lpstr>Arial</vt:lpstr>
      <vt:lpstr>Calibri</vt:lpstr>
      <vt:lpstr>Cambria Math</vt:lpstr>
      <vt:lpstr>Candara</vt:lpstr>
      <vt:lpstr>Wingdings</vt:lpstr>
      <vt:lpstr>Office Theme</vt:lpstr>
      <vt:lpstr>Concurrency control &amp; recovery system Transaction Processing</vt:lpstr>
      <vt:lpstr>Review</vt:lpstr>
      <vt:lpstr>Outline </vt:lpstr>
      <vt:lpstr>Concurrency control</vt:lpstr>
      <vt:lpstr>Good versus bad execution histories</vt:lpstr>
      <vt:lpstr>Good versus bad execution histories</vt:lpstr>
      <vt:lpstr>Good versus bad execution histories</vt:lpstr>
      <vt:lpstr>Concurrency control</vt:lpstr>
      <vt:lpstr>Locking</vt:lpstr>
      <vt:lpstr>Basic locking is not enough</vt:lpstr>
      <vt:lpstr>Basic locking is not enough</vt:lpstr>
      <vt:lpstr>Two-phase locking (2PL)</vt:lpstr>
      <vt:lpstr>Remaining problems of 2PL</vt:lpstr>
      <vt:lpstr>Deadlocks </vt:lpstr>
      <vt:lpstr>Strict 2PL</vt:lpstr>
      <vt:lpstr>Outline </vt:lpstr>
      <vt:lpstr>Execution model</vt:lpstr>
      <vt:lpstr>Failures</vt:lpstr>
      <vt:lpstr>Naïve approach: Force -- durability</vt:lpstr>
      <vt:lpstr>Naïve approach: Force -- durability</vt:lpstr>
      <vt:lpstr>Naïve approach: No steal -- atomicity</vt:lpstr>
      <vt:lpstr>Naïve approach</vt:lpstr>
      <vt:lpstr>Logging</vt:lpstr>
      <vt:lpstr>Log format</vt:lpstr>
      <vt:lpstr>When to write log records into stable store?</vt:lpstr>
      <vt:lpstr>Undo/redo logging example</vt:lpstr>
      <vt:lpstr>Undo/redo logging example cont.</vt:lpstr>
      <vt:lpstr>Undo/redo logging example cont.</vt:lpstr>
      <vt:lpstr>Log example</vt:lpstr>
      <vt:lpstr>Log example</vt:lpstr>
      <vt:lpstr>Log example</vt:lpstr>
      <vt:lpstr>Log example</vt:lpstr>
      <vt:lpstr>Log example</vt:lpstr>
      <vt:lpstr>Log example</vt:lpstr>
      <vt:lpstr>Undo/redo logging</vt:lpstr>
      <vt:lpstr>Checkpointing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2021-07-27T02:25:58Z</dcterms:created>
  <dcterms:modified xsi:type="dcterms:W3CDTF">2021-07-27T02:26:08Z</dcterms:modified>
</cp:coreProperties>
</file>