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.xml" ContentType="application/vnd.openxmlformats-officedocument.presentationml.tags+xml"/>
  <Override PartName="/ppt/notesSlides/notesSlide37.xml" ContentType="application/vnd.openxmlformats-officedocument.presentationml.notesSlide+xml"/>
  <Override PartName="/ppt/tags/tag2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320" r:id="rId2"/>
    <p:sldId id="455" r:id="rId3"/>
    <p:sldId id="258" r:id="rId4"/>
    <p:sldId id="401" r:id="rId5"/>
    <p:sldId id="449" r:id="rId6"/>
    <p:sldId id="450" r:id="rId7"/>
    <p:sldId id="327" r:id="rId8"/>
    <p:sldId id="402" r:id="rId9"/>
    <p:sldId id="410" r:id="rId10"/>
    <p:sldId id="403" r:id="rId11"/>
    <p:sldId id="404" r:id="rId12"/>
    <p:sldId id="405" r:id="rId13"/>
    <p:sldId id="411" r:id="rId14"/>
    <p:sldId id="406" r:id="rId15"/>
    <p:sldId id="407" r:id="rId16"/>
    <p:sldId id="408" r:id="rId17"/>
    <p:sldId id="412" r:id="rId18"/>
    <p:sldId id="409" r:id="rId19"/>
    <p:sldId id="413" r:id="rId20"/>
    <p:sldId id="414" r:id="rId21"/>
    <p:sldId id="415" r:id="rId22"/>
    <p:sldId id="416" r:id="rId23"/>
    <p:sldId id="417" r:id="rId24"/>
    <p:sldId id="418" r:id="rId25"/>
    <p:sldId id="419" r:id="rId26"/>
    <p:sldId id="420" r:id="rId27"/>
    <p:sldId id="421" r:id="rId28"/>
    <p:sldId id="422" r:id="rId29"/>
    <p:sldId id="423" r:id="rId30"/>
    <p:sldId id="451" r:id="rId31"/>
    <p:sldId id="429" r:id="rId32"/>
    <p:sldId id="427" r:id="rId33"/>
    <p:sldId id="425" r:id="rId34"/>
    <p:sldId id="428" r:id="rId35"/>
    <p:sldId id="452" r:id="rId36"/>
    <p:sldId id="430" r:id="rId37"/>
    <p:sldId id="262" r:id="rId38"/>
    <p:sldId id="432" r:id="rId39"/>
    <p:sldId id="431" r:id="rId40"/>
    <p:sldId id="433" r:id="rId41"/>
    <p:sldId id="434" r:id="rId42"/>
    <p:sldId id="435" r:id="rId43"/>
    <p:sldId id="453" r:id="rId44"/>
    <p:sldId id="436" r:id="rId45"/>
    <p:sldId id="437" r:id="rId46"/>
    <p:sldId id="438" r:id="rId47"/>
    <p:sldId id="439" r:id="rId48"/>
    <p:sldId id="440" r:id="rId49"/>
    <p:sldId id="454" r:id="rId50"/>
    <p:sldId id="442" r:id="rId51"/>
    <p:sldId id="441" r:id="rId52"/>
    <p:sldId id="443" r:id="rId53"/>
    <p:sldId id="446" r:id="rId54"/>
    <p:sldId id="444" r:id="rId55"/>
    <p:sldId id="44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10"/>
    <p:restoredTop sz="87755" autoAdjust="0"/>
  </p:normalViewPr>
  <p:slideViewPr>
    <p:cSldViewPr snapToGrid="0" snapToObjects="1">
      <p:cViewPr varScale="1">
        <p:scale>
          <a:sx n="112" d="100"/>
          <a:sy n="112" d="100"/>
        </p:scale>
        <p:origin x="4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2/9/22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3529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9305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6520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3789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239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4496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1807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7420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7218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1462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473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7605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8828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2435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0065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5280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1486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09775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93836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70170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78547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0848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20401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47245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16295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tuples flowing from leaves to root.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84065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379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64765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73053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physical operator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66156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physical operator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68512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29200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90816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72047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79059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910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804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019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07795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39447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45176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12788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34379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29419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56377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94330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79406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9177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067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914175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6078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66499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17348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869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hyperlink" Target="https://people.freebsd.org/~lstewart/articles/cpumemory.pdf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://citeseerx.ist.psu.edu/viewdoc/summary?doi=10.1.1.21.8416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06878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4565"/>
            <a:ext cx="9144001" cy="2549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 Lecture 11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DBMS Architecture Overview &amp; 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Physical Data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77" y="2551191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 10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 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9" y="4395915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632588" y="3105835"/>
            <a:ext cx="78788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latin typeface="Arial" panose="020B0604020202020204" pitchFamily="34" charset="0"/>
                <a:cs typeface="Arial" panose="020B0604020202020204" pitchFamily="34" charset="0"/>
              </a:rPr>
              <a:t>Welcome Back!</a:t>
            </a:r>
          </a:p>
        </p:txBody>
      </p:sp>
    </p:spTree>
    <p:extLst>
      <p:ext uri="{BB962C8B-B14F-4D97-AF65-F5344CB8AC3E}">
        <p14:creationId xmlns:p14="http://schemas.microsoft.com/office/powerpoint/2010/main" val="28252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16691" y="1137154"/>
            <a:ext cx="8007179" cy="287715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16691" y="4087284"/>
            <a:ext cx="3990463" cy="177736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91339" y="1210129"/>
            <a:ext cx="553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User/Administrator Perspective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657" y="4122965"/>
            <a:ext cx="3547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DBMS Architect/Implementer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29" y="1579461"/>
            <a:ext cx="37743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Primary Database Management System Features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Data Model: Relational Model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High Level Query Language: Relational Algebra &amp; SQL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Integrity Constraints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Indexes/Views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180" y="4638050"/>
            <a:ext cx="3916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92024">
              <a:buFont typeface="Arial"/>
              <a:buChar char="•"/>
            </a:pPr>
            <a:r>
              <a:rPr lang="en-US" dirty="0"/>
              <a:t>Physical Record Design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Query Planning and Optimization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Indexes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1157" y="4079018"/>
            <a:ext cx="3725004" cy="147409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940417" y="4101391"/>
            <a:ext cx="314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Other (Last 1/2 Lectures)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9077" y="4414571"/>
            <a:ext cx="36741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92024">
              <a:buFont typeface="Arial"/>
              <a:buChar char="•"/>
            </a:pPr>
            <a:r>
              <a:rPr lang="en-US" dirty="0"/>
              <a:t>Graph DBMSs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MapReduce: Distributed Data Processing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CS 348 Diagram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6C098F-ABA0-EE4A-9035-553F708C2449}"/>
              </a:ext>
            </a:extLst>
          </p:cNvPr>
          <p:cNvSpPr txBox="1"/>
          <p:nvPr/>
        </p:nvSpPr>
        <p:spPr>
          <a:xfrm>
            <a:off x="4618323" y="1592745"/>
            <a:ext cx="3774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Relational Database Design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E/R Models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Normal Forms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57804-943E-4144-8C4C-1CEA51607891}"/>
              </a:ext>
            </a:extLst>
          </p:cNvPr>
          <p:cNvSpPr txBox="1"/>
          <p:nvPr/>
        </p:nvSpPr>
        <p:spPr>
          <a:xfrm>
            <a:off x="4261751" y="2928263"/>
            <a:ext cx="4418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How To Program A DBMS (0.5-1 lecture)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Embedded vs Dynamic SQL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Frameworks</a:t>
            </a:r>
          </a:p>
        </p:txBody>
      </p:sp>
    </p:spTree>
    <p:extLst>
      <p:ext uri="{BB962C8B-B14F-4D97-AF65-F5344CB8AC3E}">
        <p14:creationId xmlns:p14="http://schemas.microsoft.com/office/powerpoint/2010/main" val="1634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Announcements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Assignment 3: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 Feb 14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night (next Monday).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Due Feb 15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midnight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lecture on Tuesday (Feb 15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to not distract you. </a:t>
            </a:r>
          </a:p>
        </p:txBody>
      </p:sp>
    </p:spTree>
    <p:extLst>
      <p:ext uri="{BB962C8B-B14F-4D97-AF65-F5344CB8AC3E}">
        <p14:creationId xmlns:p14="http://schemas.microsoft.com/office/powerpoint/2010/main" val="391116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20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High-level DBMS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Storage Manager and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Physical Operators/Storage Interface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Fundamental Property of Storage Devices &amp; Potential Goals of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Row-oriented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1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20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High-level DBMS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Manager and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Operators/Storage Interface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Property of Storage Devices &amp; Potential Goals of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3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High-level DBMS Architecture Overview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7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176D71-CF3C-C842-B6FD-77564B545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8" y="842669"/>
            <a:ext cx="6273800" cy="4673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43D43C5-7686-8648-95E1-9DB25F290283}"/>
              </a:ext>
            </a:extLst>
          </p:cNvPr>
          <p:cNvSpPr txBox="1"/>
          <p:nvPr/>
        </p:nvSpPr>
        <p:spPr>
          <a:xfrm>
            <a:off x="0" y="6516701"/>
            <a:ext cx="8943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Figure from Database Management Systems, Ramakrishnan &amp;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Gehrke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edition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794BF4-E209-C349-87BF-DC23708EE738}"/>
              </a:ext>
            </a:extLst>
          </p:cNvPr>
          <p:cNvSpPr txBox="1"/>
          <p:nvPr/>
        </p:nvSpPr>
        <p:spPr>
          <a:xfrm>
            <a:off x="-9074" y="5669532"/>
            <a:ext cx="9060548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Captures overall structure. Many details are system-specific.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5D6CA1-EC9B-C843-82F9-1BFF2A862E59}"/>
              </a:ext>
            </a:extLst>
          </p:cNvPr>
          <p:cNvSpPr/>
          <p:nvPr/>
        </p:nvSpPr>
        <p:spPr>
          <a:xfrm>
            <a:off x="2178445" y="1422722"/>
            <a:ext cx="1942146" cy="381964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25050A-6CD8-5B40-B8D0-060192FCCA21}"/>
              </a:ext>
            </a:extLst>
          </p:cNvPr>
          <p:cNvSpPr txBox="1"/>
          <p:nvPr/>
        </p:nvSpPr>
        <p:spPr>
          <a:xfrm>
            <a:off x="6072528" y="770444"/>
            <a:ext cx="3094943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Transformations of Query’s Structure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 In-Memory Representation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FA6028A-BE32-9F48-9A11-207CEF47BE47}"/>
              </a:ext>
            </a:extLst>
          </p:cNvPr>
          <p:cNvSpPr/>
          <p:nvPr/>
        </p:nvSpPr>
        <p:spPr>
          <a:xfrm>
            <a:off x="3194935" y="1939620"/>
            <a:ext cx="1942146" cy="29429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EFD9390-1187-8449-B56D-96B1E6E3A4DD}"/>
              </a:ext>
            </a:extLst>
          </p:cNvPr>
          <p:cNvSpPr/>
          <p:nvPr/>
        </p:nvSpPr>
        <p:spPr>
          <a:xfrm>
            <a:off x="3194935" y="2344006"/>
            <a:ext cx="1942146" cy="29429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468D574-0142-0942-A28D-38A0BD6BBAE4}"/>
              </a:ext>
            </a:extLst>
          </p:cNvPr>
          <p:cNvSpPr/>
          <p:nvPr/>
        </p:nvSpPr>
        <p:spPr>
          <a:xfrm>
            <a:off x="1129327" y="2320353"/>
            <a:ext cx="1942146" cy="29429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2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Example From </a:t>
            </a:r>
            <a:r>
              <a:rPr 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GraphflowDB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C0689-42F1-6749-83A5-CE558CF9465C}"/>
              </a:ext>
            </a:extLst>
          </p:cNvPr>
          <p:cNvSpPr txBox="1"/>
          <p:nvPr/>
        </p:nvSpPr>
        <p:spPr>
          <a:xfrm>
            <a:off x="1554466" y="819113"/>
            <a:ext cx="6067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4" name="Table 21">
            <a:extLst>
              <a:ext uri="{FF2B5EF4-FFF2-40B4-BE49-F238E27FC236}">
                <a16:creationId xmlns:a16="http://schemas.microsoft.com/office/drawing/2014/main" id="{6E5A0B45-04A1-B741-AE45-581F96C50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14127"/>
              </p:ext>
            </p:extLst>
          </p:nvPr>
        </p:nvGraphicFramePr>
        <p:xfrm>
          <a:off x="3529099" y="2687320"/>
          <a:ext cx="217138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31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48609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06730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70243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oid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pid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P2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464386"/>
                  </a:ext>
                </a:extLst>
              </a:tr>
            </a:tbl>
          </a:graphicData>
        </a:graphic>
      </p:graphicFrame>
      <p:graphicFrame>
        <p:nvGraphicFramePr>
          <p:cNvPr id="16" name="Table 21">
            <a:extLst>
              <a:ext uri="{FF2B5EF4-FFF2-40B4-BE49-F238E27FC236}">
                <a16:creationId xmlns:a16="http://schemas.microsoft.com/office/drawing/2014/main" id="{74FD5528-2621-D146-9C42-AFB714237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810783"/>
              </p:ext>
            </p:extLst>
          </p:nvPr>
        </p:nvGraphicFramePr>
        <p:xfrm>
          <a:off x="867901" y="2687320"/>
          <a:ext cx="1808481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31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13001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Alice Munro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464386"/>
                  </a:ext>
                </a:extLst>
              </a:tr>
            </a:tbl>
          </a:graphicData>
        </a:graphic>
      </p:graphicFrame>
      <p:graphicFrame>
        <p:nvGraphicFramePr>
          <p:cNvPr id="17" name="Table 21">
            <a:extLst>
              <a:ext uri="{FF2B5EF4-FFF2-40B4-BE49-F238E27FC236}">
                <a16:creationId xmlns:a16="http://schemas.microsoft.com/office/drawing/2014/main" id="{D6A904F3-0522-7143-90FC-2418A65F5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075076"/>
              </p:ext>
            </p:extLst>
          </p:nvPr>
        </p:nvGraphicFramePr>
        <p:xfrm>
          <a:off x="6553200" y="2687320"/>
          <a:ext cx="1418781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31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9104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pid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dirty="0"/>
                        <a:t>P1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 err="1"/>
                        <a:t>WatchB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46438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68F6BEC-3875-3E42-B87D-71AB10FB2F9D}"/>
              </a:ext>
            </a:extLst>
          </p:cNvPr>
          <p:cNvSpPr txBox="1"/>
          <p:nvPr/>
        </p:nvSpPr>
        <p:spPr>
          <a:xfrm>
            <a:off x="42791" y="4686411"/>
            <a:ext cx="9144000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Following example is a read-only query. 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Updates &amp; transactions require additional steps &amp; system components 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925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9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297286"/>
              </p:ext>
            </p:extLst>
          </p:nvPr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CB216474-A6D6-ED4F-B769-C1C5DE419CD2}"/>
              </a:ext>
            </a:extLst>
          </p:cNvPr>
          <p:cNvSpPr/>
          <p:nvPr/>
        </p:nvSpPr>
        <p:spPr>
          <a:xfrm>
            <a:off x="1924071" y="1422722"/>
            <a:ext cx="1054388" cy="496930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AE18236F-8A40-7F4D-9C88-0E8F9F7EF85E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4BDE5981-F42E-E843-892A-50BCACD01E72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225" name="Rounded Rectangle 224">
                <a:extLst>
                  <a:ext uri="{FF2B5EF4-FFF2-40B4-BE49-F238E27FC236}">
                    <a16:creationId xmlns:a16="http://schemas.microsoft.com/office/drawing/2014/main" id="{24248049-F0AE-7A4F-B958-9C6F54273656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6" name="Rounded Rectangle 225">
                <a:extLst>
                  <a:ext uri="{FF2B5EF4-FFF2-40B4-BE49-F238E27FC236}">
                    <a16:creationId xmlns:a16="http://schemas.microsoft.com/office/drawing/2014/main" id="{AB785425-B0CF-6A4A-8DEE-62C8E3529AAC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FE0A2D00-03E1-7741-9081-84915034887B}"/>
                  </a:ext>
                </a:extLst>
              </p:cNvPr>
              <p:cNvCxnSpPr>
                <a:cxnSpLocks/>
                <a:stCxn id="225" idx="2"/>
                <a:endCxn id="226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B8DF3779-49CD-204A-BBF2-DA4403C08452}"/>
                  </a:ext>
                </a:extLst>
              </p:cNvPr>
              <p:cNvCxnSpPr>
                <a:cxnSpLocks/>
                <a:stCxn id="225" idx="2"/>
                <a:endCxn id="224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5D3B7EFB-E733-0A43-B8BC-9CCF463712DF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B0071DE-CA7F-8544-8592-2CBAFB2F3EB5}"/>
                  </a:ext>
                </a:extLst>
              </p:cNvPr>
              <p:cNvCxnSpPr>
                <a:cxnSpLocks/>
                <a:stCxn id="229" idx="2"/>
                <a:endCxn id="225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4" name="Rounded Rectangle 223">
              <a:extLst>
                <a:ext uri="{FF2B5EF4-FFF2-40B4-BE49-F238E27FC236}">
                  <a16:creationId xmlns:a16="http://schemas.microsoft.com/office/drawing/2014/main" id="{8EF8B94D-4D03-344C-842F-73A07E96EE8B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0896CEE8-40AC-F44C-97E7-B40E8FC9209C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232" name="Rounded Rectangle 231">
              <a:extLst>
                <a:ext uri="{FF2B5EF4-FFF2-40B4-BE49-F238E27FC236}">
                  <a16:creationId xmlns:a16="http://schemas.microsoft.com/office/drawing/2014/main" id="{209776B4-59D8-1048-ADE8-E466C20EF3D5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38597988-22E3-7641-9E95-66785425FCFD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234" name="Rounded Rectangle 233">
              <a:extLst>
                <a:ext uri="{FF2B5EF4-FFF2-40B4-BE49-F238E27FC236}">
                  <a16:creationId xmlns:a16="http://schemas.microsoft.com/office/drawing/2014/main" id="{7419D018-C279-5646-B981-77230E34F615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Rounded Rectangle 234">
              <a:extLst>
                <a:ext uri="{FF2B5EF4-FFF2-40B4-BE49-F238E27FC236}">
                  <a16:creationId xmlns:a16="http://schemas.microsoft.com/office/drawing/2014/main" id="{8CD00AED-46A7-E14B-A190-95CAFCC12177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AD8AC49C-2D4D-4246-B2CE-6019F38D2C69}"/>
                </a:ext>
              </a:extLst>
            </p:cNvPr>
            <p:cNvCxnSpPr>
              <a:cxnSpLocks/>
              <a:stCxn id="232" idx="2"/>
              <a:endCxn id="233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E816DA63-9FD5-424D-B52C-2ECD77EC653E}"/>
                </a:ext>
              </a:extLst>
            </p:cNvPr>
            <p:cNvCxnSpPr>
              <a:cxnSpLocks/>
              <a:stCxn id="233" idx="2"/>
              <a:endCxn id="234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473E14BB-92D9-B44B-A530-6AC601DA3F6A}"/>
                </a:ext>
              </a:extLst>
            </p:cNvPr>
            <p:cNvCxnSpPr>
              <a:cxnSpLocks/>
              <a:stCxn id="232" idx="2"/>
              <a:endCxn id="235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Rounded Rectangle 238">
              <a:extLst>
                <a:ext uri="{FF2B5EF4-FFF2-40B4-BE49-F238E27FC236}">
                  <a16:creationId xmlns:a16="http://schemas.microsoft.com/office/drawing/2014/main" id="{D7D531F4-1EEA-704C-B987-1B97673E42C7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ECDFA83F-8485-B342-9F94-40EFC29AA3C4}"/>
                </a:ext>
              </a:extLst>
            </p:cNvPr>
            <p:cNvCxnSpPr>
              <a:cxnSpLocks/>
              <a:stCxn id="239" idx="2"/>
              <a:endCxn id="232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282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6C3107D-3290-3A4C-9E34-64D6BC22E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8" y="1863078"/>
            <a:ext cx="4086022" cy="3544501"/>
          </a:xfrm>
          <a:prstGeom prst="rect">
            <a:avLst/>
          </a:prstGeom>
        </p:spPr>
      </p:pic>
      <p:pic>
        <p:nvPicPr>
          <p:cNvPr id="10" name="Picture 9" descr="Graphical user interface, text, application&#10;&#10;Description automatically generated with medium confidence">
            <a:extLst>
              <a:ext uri="{FF2B5EF4-FFF2-40B4-BE49-F238E27FC236}">
                <a16:creationId xmlns:a16="http://schemas.microsoft.com/office/drawing/2014/main" id="{B3C78357-6EA1-4647-8BB1-3D6B3896C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0" y="1863078"/>
            <a:ext cx="3517900" cy="2709961"/>
          </a:xfrm>
          <a:prstGeom prst="rect">
            <a:avLst/>
          </a:prstGeom>
        </p:spPr>
      </p:pic>
      <p:pic>
        <p:nvPicPr>
          <p:cNvPr id="12" name="Picture 1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DD90582-3C9D-374B-9F85-0CE0C90CA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28" y="5585467"/>
            <a:ext cx="6067222" cy="9827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BAF28E-09F9-0049-82AB-2DC6FE826150}"/>
              </a:ext>
            </a:extLst>
          </p:cNvPr>
          <p:cNvSpPr txBox="1"/>
          <p:nvPr/>
        </p:nvSpPr>
        <p:spPr>
          <a:xfrm>
            <a:off x="0" y="733057"/>
            <a:ext cx="9144000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Parses text query into an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abstract syntax tree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based on SQL grammar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Ex: Snippets from MySQL’s SQL grammar</a:t>
            </a:r>
          </a:p>
        </p:txBody>
      </p:sp>
    </p:spTree>
    <p:extLst>
      <p:ext uri="{BB962C8B-B14F-4D97-AF65-F5344CB8AC3E}">
        <p14:creationId xmlns:p14="http://schemas.microsoft.com/office/powerpoint/2010/main" val="2094797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11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C0689-42F1-6749-83A5-CE558CF9465C}"/>
              </a:ext>
            </a:extLst>
          </p:cNvPr>
          <p:cNvSpPr txBox="1"/>
          <p:nvPr/>
        </p:nvSpPr>
        <p:spPr>
          <a:xfrm>
            <a:off x="16078" y="769759"/>
            <a:ext cx="60672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O.cid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DEDF1-D490-C045-BD4E-60A8E277001D}"/>
              </a:ext>
            </a:extLst>
          </p:cNvPr>
          <p:cNvGrpSpPr/>
          <p:nvPr/>
        </p:nvGrpSpPr>
        <p:grpSpPr>
          <a:xfrm>
            <a:off x="67310" y="1739690"/>
            <a:ext cx="8959215" cy="4970952"/>
            <a:chOff x="67310" y="1739690"/>
            <a:chExt cx="8959215" cy="4970952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DF3E86F8-BDCC-DF4C-86C5-30FB233EA81D}"/>
                </a:ext>
              </a:extLst>
            </p:cNvPr>
            <p:cNvSpPr/>
            <p:nvPr/>
          </p:nvSpPr>
          <p:spPr>
            <a:xfrm>
              <a:off x="3759200" y="1739690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CE96761-B737-B84B-A577-A3867F6EC466}"/>
                </a:ext>
              </a:extLst>
            </p:cNvPr>
            <p:cNvSpPr/>
            <p:nvPr/>
          </p:nvSpPr>
          <p:spPr>
            <a:xfrm>
              <a:off x="67310" y="2591803"/>
              <a:ext cx="125476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51A86AE-6720-164E-82E3-E2D8359C4E95}"/>
                </a:ext>
              </a:extLst>
            </p:cNvPr>
            <p:cNvSpPr/>
            <p:nvPr/>
          </p:nvSpPr>
          <p:spPr>
            <a:xfrm>
              <a:off x="1385570" y="2591803"/>
              <a:ext cx="110109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FIELDS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1A1E1DC-1FDC-2749-9CCD-6419C111C322}"/>
                </a:ext>
              </a:extLst>
            </p:cNvPr>
            <p:cNvSpPr/>
            <p:nvPr/>
          </p:nvSpPr>
          <p:spPr>
            <a:xfrm>
              <a:off x="2548890" y="2591803"/>
              <a:ext cx="90932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AB3B73A-EC29-5942-A16C-BCE1DDEF1027}"/>
                </a:ext>
              </a:extLst>
            </p:cNvPr>
            <p:cNvSpPr/>
            <p:nvPr/>
          </p:nvSpPr>
          <p:spPr>
            <a:xfrm>
              <a:off x="3637280" y="2591803"/>
              <a:ext cx="12065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0DD19A0-B46A-F249-B1E5-AA8597610783}"/>
                </a:ext>
              </a:extLst>
            </p:cNvPr>
            <p:cNvSpPr/>
            <p:nvPr/>
          </p:nvSpPr>
          <p:spPr>
            <a:xfrm>
              <a:off x="5273040" y="2591803"/>
              <a:ext cx="12065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WHERE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56800C31-5C97-2C4F-97CD-2145ABBC3D60}"/>
                </a:ext>
              </a:extLst>
            </p:cNvPr>
            <p:cNvSpPr/>
            <p:nvPr/>
          </p:nvSpPr>
          <p:spPr>
            <a:xfrm>
              <a:off x="6705600" y="2591803"/>
              <a:ext cx="16764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CONDITIONS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2CB015B1-DBAA-CF44-83A8-1E6DDCC06B65}"/>
                </a:ext>
              </a:extLst>
            </p:cNvPr>
            <p:cNvSpPr/>
            <p:nvPr/>
          </p:nvSpPr>
          <p:spPr>
            <a:xfrm>
              <a:off x="1552575" y="3436620"/>
              <a:ext cx="767080" cy="48260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6B4E17F2-5C3B-5741-B446-166C1BE1FBB3}"/>
                </a:ext>
              </a:extLst>
            </p:cNvPr>
            <p:cNvSpPr/>
            <p:nvPr/>
          </p:nvSpPr>
          <p:spPr>
            <a:xfrm>
              <a:off x="2799080" y="3436620"/>
              <a:ext cx="130810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DD8F80BE-3539-814F-B44C-8E65933AE366}"/>
                </a:ext>
              </a:extLst>
            </p:cNvPr>
            <p:cNvSpPr/>
            <p:nvPr/>
          </p:nvSpPr>
          <p:spPr>
            <a:xfrm>
              <a:off x="3578225" y="3958253"/>
              <a:ext cx="130810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8272501-E320-4C4A-8FE1-A0B4D05CC1AD}"/>
                </a:ext>
              </a:extLst>
            </p:cNvPr>
            <p:cNvSpPr/>
            <p:nvPr/>
          </p:nvSpPr>
          <p:spPr>
            <a:xfrm>
              <a:off x="4500880" y="3436620"/>
              <a:ext cx="130810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32659235-2478-5E4A-A863-6A671234E42A}"/>
                </a:ext>
              </a:extLst>
            </p:cNvPr>
            <p:cNvSpPr/>
            <p:nvPr/>
          </p:nvSpPr>
          <p:spPr>
            <a:xfrm>
              <a:off x="6896114" y="3436620"/>
              <a:ext cx="13081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28194F70-53F4-7744-936E-C1FAED902C21}"/>
                </a:ext>
              </a:extLst>
            </p:cNvPr>
            <p:cNvSpPr/>
            <p:nvPr/>
          </p:nvSpPr>
          <p:spPr>
            <a:xfrm>
              <a:off x="4745990" y="4486656"/>
              <a:ext cx="13081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78FD6B54-78E0-3D44-B420-C7AFB9896730}"/>
                </a:ext>
              </a:extLst>
            </p:cNvPr>
            <p:cNvSpPr/>
            <p:nvPr/>
          </p:nvSpPr>
          <p:spPr>
            <a:xfrm>
              <a:off x="7785100" y="4486656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5B2B8723-591C-1145-997F-5B9BA1502108}"/>
                </a:ext>
              </a:extLst>
            </p:cNvPr>
            <p:cNvSpPr/>
            <p:nvPr/>
          </p:nvSpPr>
          <p:spPr>
            <a:xfrm>
              <a:off x="6826250" y="5333492"/>
              <a:ext cx="10287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P.name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9A53B263-1F66-0D4E-B90C-CA131C973310}"/>
                </a:ext>
              </a:extLst>
            </p:cNvPr>
            <p:cNvSpPr/>
            <p:nvPr/>
          </p:nvSpPr>
          <p:spPr>
            <a:xfrm>
              <a:off x="7945755" y="5333492"/>
              <a:ext cx="108077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`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`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F27CEC0F-9DC5-A744-9DF5-00BE61E88DC3}"/>
                </a:ext>
              </a:extLst>
            </p:cNvPr>
            <p:cNvSpPr/>
            <p:nvPr/>
          </p:nvSpPr>
          <p:spPr>
            <a:xfrm>
              <a:off x="3840480" y="5333492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98C8FC30-F41E-424D-BE40-3B99CC7064E9}"/>
                </a:ext>
              </a:extLst>
            </p:cNvPr>
            <p:cNvSpPr/>
            <p:nvPr/>
          </p:nvSpPr>
          <p:spPr>
            <a:xfrm>
              <a:off x="5951538" y="5333492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25DD019-E7B7-5A4D-A798-B464731F1CDE}"/>
                </a:ext>
              </a:extLst>
            </p:cNvPr>
            <p:cNvSpPr/>
            <p:nvPr/>
          </p:nvSpPr>
          <p:spPr>
            <a:xfrm>
              <a:off x="5273040" y="6228042"/>
              <a:ext cx="10287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2388B6FC-28EF-8D4E-8040-909693472881}"/>
                </a:ext>
              </a:extLst>
            </p:cNvPr>
            <p:cNvSpPr/>
            <p:nvPr/>
          </p:nvSpPr>
          <p:spPr>
            <a:xfrm>
              <a:off x="6412230" y="6228042"/>
              <a:ext cx="108077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8BF201FF-24D0-614B-BD0D-E9BD7DEC9549}"/>
                </a:ext>
              </a:extLst>
            </p:cNvPr>
            <p:cNvSpPr/>
            <p:nvPr/>
          </p:nvSpPr>
          <p:spPr>
            <a:xfrm>
              <a:off x="3000375" y="6228042"/>
              <a:ext cx="10287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D64F117B-AE9D-1A43-8055-E716ED4C9C0B}"/>
                </a:ext>
              </a:extLst>
            </p:cNvPr>
            <p:cNvSpPr/>
            <p:nvPr/>
          </p:nvSpPr>
          <p:spPr>
            <a:xfrm>
              <a:off x="4119880" y="6228042"/>
              <a:ext cx="108077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AA2D85D-4916-9E49-B847-6EFEDE893066}"/>
                </a:ext>
              </a:extLst>
            </p:cNvPr>
            <p:cNvCxnSpPr>
              <a:cxnSpLocks/>
              <a:stCxn id="3" idx="2"/>
              <a:endCxn id="11" idx="0"/>
            </p:cNvCxnSpPr>
            <p:nvPr/>
          </p:nvCxnSpPr>
          <p:spPr>
            <a:xfrm flipH="1">
              <a:off x="694690" y="2222290"/>
              <a:ext cx="3591560" cy="36951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58A4E0-7957-6449-AF20-0041C2B6A42A}"/>
                </a:ext>
              </a:extLst>
            </p:cNvPr>
            <p:cNvCxnSpPr>
              <a:cxnSpLocks/>
              <a:stCxn id="3" idx="2"/>
              <a:endCxn id="14" idx="0"/>
            </p:cNvCxnSpPr>
            <p:nvPr/>
          </p:nvCxnSpPr>
          <p:spPr>
            <a:xfrm flipH="1">
              <a:off x="1936115" y="2222290"/>
              <a:ext cx="2350135" cy="36951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5F6C1F-E9AF-0546-A37E-F070012A1CE8}"/>
                </a:ext>
              </a:extLst>
            </p:cNvPr>
            <p:cNvCxnSpPr>
              <a:cxnSpLocks/>
              <a:stCxn id="3" idx="2"/>
              <a:endCxn id="15" idx="0"/>
            </p:cNvCxnSpPr>
            <p:nvPr/>
          </p:nvCxnSpPr>
          <p:spPr>
            <a:xfrm flipH="1">
              <a:off x="3003550" y="2222290"/>
              <a:ext cx="1282700" cy="36951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4DB2E27-9014-C748-910E-C5BD7E752A1C}"/>
                </a:ext>
              </a:extLst>
            </p:cNvPr>
            <p:cNvCxnSpPr>
              <a:cxnSpLocks/>
              <a:stCxn id="3" idx="2"/>
              <a:endCxn id="16" idx="0"/>
            </p:cNvCxnSpPr>
            <p:nvPr/>
          </p:nvCxnSpPr>
          <p:spPr>
            <a:xfrm flipH="1">
              <a:off x="4240530" y="2222290"/>
              <a:ext cx="45720" cy="36951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B9C6167-AA4A-654B-9D56-21A8ECA1DA9C}"/>
                </a:ext>
              </a:extLst>
            </p:cNvPr>
            <p:cNvCxnSpPr>
              <a:cxnSpLocks/>
              <a:stCxn id="3" idx="2"/>
              <a:endCxn id="17" idx="0"/>
            </p:cNvCxnSpPr>
            <p:nvPr/>
          </p:nvCxnSpPr>
          <p:spPr>
            <a:xfrm>
              <a:off x="4286250" y="2222290"/>
              <a:ext cx="1590040" cy="36951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3F6469-3C82-9743-9F82-681061DBE0E6}"/>
                </a:ext>
              </a:extLst>
            </p:cNvPr>
            <p:cNvCxnSpPr>
              <a:cxnSpLocks/>
              <a:stCxn id="3" idx="2"/>
              <a:endCxn id="18" idx="0"/>
            </p:cNvCxnSpPr>
            <p:nvPr/>
          </p:nvCxnSpPr>
          <p:spPr>
            <a:xfrm>
              <a:off x="4286250" y="2222290"/>
              <a:ext cx="3257550" cy="36951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D5895F9-ADED-0D40-9221-F003357C471A}"/>
                </a:ext>
              </a:extLst>
            </p:cNvPr>
            <p:cNvCxnSpPr>
              <a:cxnSpLocks/>
              <a:stCxn id="14" idx="2"/>
              <a:endCxn id="19" idx="0"/>
            </p:cNvCxnSpPr>
            <p:nvPr/>
          </p:nvCxnSpPr>
          <p:spPr>
            <a:xfrm>
              <a:off x="1936115" y="3074403"/>
              <a:ext cx="0" cy="36221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FF7543-CD1D-2144-A54B-39DAE3D38D07}"/>
                </a:ext>
              </a:extLst>
            </p:cNvPr>
            <p:cNvCxnSpPr>
              <a:cxnSpLocks/>
              <a:stCxn id="16" idx="2"/>
              <a:endCxn id="21" idx="0"/>
            </p:cNvCxnSpPr>
            <p:nvPr/>
          </p:nvCxnSpPr>
          <p:spPr>
            <a:xfrm flipH="1">
              <a:off x="4232275" y="3074403"/>
              <a:ext cx="8255" cy="88385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89FDB05-21E2-B749-B35E-B31C5775C87D}"/>
                </a:ext>
              </a:extLst>
            </p:cNvPr>
            <p:cNvCxnSpPr>
              <a:cxnSpLocks/>
              <a:stCxn id="16" idx="2"/>
              <a:endCxn id="20" idx="0"/>
            </p:cNvCxnSpPr>
            <p:nvPr/>
          </p:nvCxnSpPr>
          <p:spPr>
            <a:xfrm flipH="1">
              <a:off x="3453130" y="3074403"/>
              <a:ext cx="787400" cy="36221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1BB1DBF-0A96-0D47-9065-32A044A41F10}"/>
                </a:ext>
              </a:extLst>
            </p:cNvPr>
            <p:cNvCxnSpPr>
              <a:cxnSpLocks/>
              <a:stCxn id="16" idx="2"/>
              <a:endCxn id="22" idx="0"/>
            </p:cNvCxnSpPr>
            <p:nvPr/>
          </p:nvCxnSpPr>
          <p:spPr>
            <a:xfrm>
              <a:off x="4240530" y="3074403"/>
              <a:ext cx="914400" cy="36221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94E3767-074C-844B-A5EF-371CB5FFD5A6}"/>
                </a:ext>
              </a:extLst>
            </p:cNvPr>
            <p:cNvCxnSpPr>
              <a:cxnSpLocks/>
              <a:stCxn id="18" idx="2"/>
              <a:endCxn id="23" idx="0"/>
            </p:cNvCxnSpPr>
            <p:nvPr/>
          </p:nvCxnSpPr>
          <p:spPr>
            <a:xfrm>
              <a:off x="7543800" y="3074403"/>
              <a:ext cx="6364" cy="36221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2A3D6B6-2BFF-A447-849A-67ECBC56F515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400040" y="3919220"/>
              <a:ext cx="2150124" cy="56743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42A0DEE-DC97-C643-BE20-04660A120408}"/>
                </a:ext>
              </a:extLst>
            </p:cNvPr>
            <p:cNvCxnSpPr>
              <a:cxnSpLocks/>
              <a:stCxn id="23" idx="2"/>
              <a:endCxn id="26" idx="0"/>
            </p:cNvCxnSpPr>
            <p:nvPr/>
          </p:nvCxnSpPr>
          <p:spPr>
            <a:xfrm>
              <a:off x="7550164" y="3919220"/>
              <a:ext cx="514336" cy="56743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BC37305-CE0A-4749-BBC5-4884B066AD92}"/>
                </a:ext>
              </a:extLst>
            </p:cNvPr>
            <p:cNvCxnSpPr>
              <a:cxnSpLocks/>
              <a:stCxn id="24" idx="2"/>
              <a:endCxn id="30" idx="0"/>
            </p:cNvCxnSpPr>
            <p:nvPr/>
          </p:nvCxnSpPr>
          <p:spPr>
            <a:xfrm flipH="1">
              <a:off x="4119880" y="4969256"/>
              <a:ext cx="1280160" cy="36423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F30E12D-17D2-794A-99BE-72A751268709}"/>
                </a:ext>
              </a:extLst>
            </p:cNvPr>
            <p:cNvCxnSpPr>
              <a:cxnSpLocks/>
              <a:stCxn id="24" idx="2"/>
              <a:endCxn id="31" idx="0"/>
            </p:cNvCxnSpPr>
            <p:nvPr/>
          </p:nvCxnSpPr>
          <p:spPr>
            <a:xfrm>
              <a:off x="5400040" y="4969256"/>
              <a:ext cx="830898" cy="36423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A9206D8-353B-DF44-A794-94BA0B57AE34}"/>
                </a:ext>
              </a:extLst>
            </p:cNvPr>
            <p:cNvCxnSpPr>
              <a:cxnSpLocks/>
              <a:stCxn id="30" idx="2"/>
              <a:endCxn id="34" idx="0"/>
            </p:cNvCxnSpPr>
            <p:nvPr/>
          </p:nvCxnSpPr>
          <p:spPr>
            <a:xfrm flipH="1">
              <a:off x="3514725" y="5816092"/>
              <a:ext cx="605155" cy="41195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2D7AC2A-DADD-B64A-B1D5-2159A697229A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119880" y="5816092"/>
              <a:ext cx="540385" cy="41195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8B6D7C7-6056-1247-9D4F-241571F56211}"/>
                </a:ext>
              </a:extLst>
            </p:cNvPr>
            <p:cNvCxnSpPr>
              <a:cxnSpLocks/>
              <a:stCxn id="31" idx="2"/>
              <a:endCxn id="32" idx="0"/>
            </p:cNvCxnSpPr>
            <p:nvPr/>
          </p:nvCxnSpPr>
          <p:spPr>
            <a:xfrm flipH="1">
              <a:off x="5787390" y="5816092"/>
              <a:ext cx="443548" cy="41195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9C32442-7394-3445-807F-0DC52061BD8A}"/>
                </a:ext>
              </a:extLst>
            </p:cNvPr>
            <p:cNvCxnSpPr>
              <a:cxnSpLocks/>
              <a:stCxn id="31" idx="2"/>
              <a:endCxn id="33" idx="0"/>
            </p:cNvCxnSpPr>
            <p:nvPr/>
          </p:nvCxnSpPr>
          <p:spPr>
            <a:xfrm>
              <a:off x="6230938" y="5816092"/>
              <a:ext cx="721677" cy="41195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F118457-642E-454B-B984-60B56695211D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 flipH="1">
              <a:off x="7340600" y="4969256"/>
              <a:ext cx="723900" cy="36423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576A3B1-7E53-AE49-9A60-C083A013818B}"/>
                </a:ext>
              </a:extLst>
            </p:cNvPr>
            <p:cNvCxnSpPr>
              <a:cxnSpLocks/>
              <a:stCxn id="26" idx="2"/>
              <a:endCxn id="28" idx="0"/>
            </p:cNvCxnSpPr>
            <p:nvPr/>
          </p:nvCxnSpPr>
          <p:spPr>
            <a:xfrm>
              <a:off x="8064500" y="4969256"/>
              <a:ext cx="421640" cy="36423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86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12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C0689-42F1-6749-83A5-CE558CF9465C}"/>
              </a:ext>
            </a:extLst>
          </p:cNvPr>
          <p:cNvSpPr txBox="1"/>
          <p:nvPr/>
        </p:nvSpPr>
        <p:spPr>
          <a:xfrm>
            <a:off x="173139" y="1490343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3F7BAE-DFF1-D543-883E-229CE86D01BA}"/>
              </a:ext>
            </a:extLst>
          </p:cNvPr>
          <p:cNvSpPr txBox="1"/>
          <p:nvPr/>
        </p:nvSpPr>
        <p:spPr>
          <a:xfrm>
            <a:off x="0" y="733057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Catches syntax errors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0D5637-36CD-4F46-91C3-D1B5C787F237}"/>
              </a:ext>
            </a:extLst>
          </p:cNvPr>
          <p:cNvSpPr/>
          <p:nvPr/>
        </p:nvSpPr>
        <p:spPr>
          <a:xfrm>
            <a:off x="173139" y="2721570"/>
            <a:ext cx="3913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BC5B4F"/>
                </a:solidFill>
                <a:latin typeface="Arial" panose="020B0604020202020204" pitchFamily="34" charset="0"/>
              </a:rPr>
              <a:t>42601 syntax error at or near "from"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57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13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/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B583BE9-4C00-C442-BC20-2CAD4C229617}"/>
              </a:ext>
            </a:extLst>
          </p:cNvPr>
          <p:cNvSpPr/>
          <p:nvPr/>
        </p:nvSpPr>
        <p:spPr>
          <a:xfrm>
            <a:off x="5618513" y="1447897"/>
            <a:ext cx="1054388" cy="496930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D8EC79E-9B66-2147-BDF4-E9B30F31B93F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0F25DB7-9063-E04E-9772-5C806BB7186E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EC1E1ACD-FDB2-7A43-AFD7-001A59FD8FE2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40C46237-A644-ED43-9144-BB869372D165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B7CD611-3E01-3844-B2EF-2CACA5D88A88}"/>
                  </a:ext>
                </a:extLst>
              </p:cNvPr>
              <p:cNvCxnSpPr>
                <a:cxnSpLocks/>
                <a:stCxn id="76" idx="2"/>
                <a:endCxn id="77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8B6A3AE-224C-8B45-945B-B900280C1DBD}"/>
                  </a:ext>
                </a:extLst>
              </p:cNvPr>
              <p:cNvCxnSpPr>
                <a:cxnSpLocks/>
                <a:stCxn id="76" idx="2"/>
                <a:endCxn id="75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ounded Rectangle 79">
                <a:extLst>
                  <a:ext uri="{FF2B5EF4-FFF2-40B4-BE49-F238E27FC236}">
                    <a16:creationId xmlns:a16="http://schemas.microsoft.com/office/drawing/2014/main" id="{D09A2618-8A28-414C-AFF0-8080D00A1117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A0ECE97-7767-A344-AAC2-24D577048D20}"/>
                  </a:ext>
                </a:extLst>
              </p:cNvPr>
              <p:cNvCxnSpPr>
                <a:cxnSpLocks/>
                <a:stCxn id="80" idx="2"/>
                <a:endCxn id="76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4607BB33-B30F-144E-8D99-CCDD3A8C2A8D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1E2F325-F24E-AE4A-9A1C-5E3FCB018BF6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780AFDFE-4C4B-EB43-B560-19FC780E8ED1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A50C8556-2A8B-CE4B-8BD1-F4C066647473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B6A49C26-7FF4-004E-B8EF-45C4E5CAFCDD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E2B67FDD-7DD3-E948-8A53-D44746ADDE08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25AD071-4E35-9C4E-97A2-AAA2B935AD1B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E141435-6DFF-4840-8346-66C9E9D1AE7C}"/>
                </a:ext>
              </a:extLst>
            </p:cNvPr>
            <p:cNvCxnSpPr>
              <a:cxnSpLocks/>
              <a:stCxn id="84" idx="2"/>
              <a:endCxn id="85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98D0D33-6558-6042-82A8-849FE01E479E}"/>
                </a:ext>
              </a:extLst>
            </p:cNvPr>
            <p:cNvCxnSpPr>
              <a:cxnSpLocks/>
              <a:stCxn id="83" idx="2"/>
              <a:endCxn id="86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9503BDDD-2EFD-D948-8779-1D41F63DCD18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00AA5B0-CCA0-584F-823E-DB32A2CCAF8A}"/>
                </a:ext>
              </a:extLst>
            </p:cNvPr>
            <p:cNvCxnSpPr>
              <a:cxnSpLocks/>
              <a:stCxn id="90" idx="2"/>
              <a:endCxn id="83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5915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14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3F7BAE-DFF1-D543-883E-229CE86D01BA}"/>
              </a:ext>
            </a:extLst>
          </p:cNvPr>
          <p:cNvSpPr txBox="1"/>
          <p:nvPr/>
        </p:nvSpPr>
        <p:spPr>
          <a:xfrm>
            <a:off x="0" y="710267"/>
            <a:ext cx="9144000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Binds type information to columns and expressions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Uses a system component called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Database Catalog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Keeps “metadata” about database tables and indexes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Ex Metadata: Column names and types, constraints, etc.</a:t>
            </a:r>
          </a:p>
        </p:txBody>
      </p:sp>
    </p:spTree>
    <p:extLst>
      <p:ext uri="{BB962C8B-B14F-4D97-AF65-F5344CB8AC3E}">
        <p14:creationId xmlns:p14="http://schemas.microsoft.com/office/powerpoint/2010/main" val="175846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15</a:t>
            </a:fld>
            <a:endParaRPr lang="en-US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5515649-7551-324C-89B3-998B2C05E163}"/>
              </a:ext>
            </a:extLst>
          </p:cNvPr>
          <p:cNvSpPr/>
          <p:nvPr/>
        </p:nvSpPr>
        <p:spPr>
          <a:xfrm>
            <a:off x="3823327" y="1091990"/>
            <a:ext cx="1034278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07C9BA5-87B2-754B-AD7C-82CC016CC642}"/>
              </a:ext>
            </a:extLst>
          </p:cNvPr>
          <p:cNvSpPr/>
          <p:nvPr/>
        </p:nvSpPr>
        <p:spPr>
          <a:xfrm>
            <a:off x="200863" y="1944103"/>
            <a:ext cx="123116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F8DDAE6C-A47E-FF47-A44D-666566EB4D9D}"/>
              </a:ext>
            </a:extLst>
          </p:cNvPr>
          <p:cNvSpPr/>
          <p:nvPr/>
        </p:nvSpPr>
        <p:spPr>
          <a:xfrm>
            <a:off x="1494333" y="1944103"/>
            <a:ext cx="108038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FIELDS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354B7975-06A1-3C41-A668-747F6C855978}"/>
              </a:ext>
            </a:extLst>
          </p:cNvPr>
          <p:cNvSpPr/>
          <p:nvPr/>
        </p:nvSpPr>
        <p:spPr>
          <a:xfrm>
            <a:off x="2635776" y="1944103"/>
            <a:ext cx="989431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A320DE0-A3AC-D843-99BF-EFAF4C7570DB}"/>
              </a:ext>
            </a:extLst>
          </p:cNvPr>
          <p:cNvSpPr/>
          <p:nvPr/>
        </p:nvSpPr>
        <p:spPr>
          <a:xfrm>
            <a:off x="3703700" y="1944103"/>
            <a:ext cx="1183812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D920B88D-4085-6841-B99C-F41700B6A0C9}"/>
              </a:ext>
            </a:extLst>
          </p:cNvPr>
          <p:cNvSpPr/>
          <p:nvPr/>
        </p:nvSpPr>
        <p:spPr>
          <a:xfrm>
            <a:off x="5308700" y="1944103"/>
            <a:ext cx="1183812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E4B1E76-0BCA-974E-AA7D-CA39099EDBC9}"/>
              </a:ext>
            </a:extLst>
          </p:cNvPr>
          <p:cNvSpPr/>
          <p:nvPr/>
        </p:nvSpPr>
        <p:spPr>
          <a:xfrm>
            <a:off x="6714321" y="1944103"/>
            <a:ext cx="1747057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A5DE5E2-414A-4646-AF3D-557D906ED657}"/>
              </a:ext>
            </a:extLst>
          </p:cNvPr>
          <p:cNvSpPr/>
          <p:nvPr/>
        </p:nvSpPr>
        <p:spPr>
          <a:xfrm>
            <a:off x="1658198" y="2788920"/>
            <a:ext cx="752655" cy="64008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9FAD175-F531-8348-9A90-8A9B1BB794BA}"/>
              </a:ext>
            </a:extLst>
          </p:cNvPr>
          <p:cNvSpPr/>
          <p:nvPr/>
        </p:nvSpPr>
        <p:spPr>
          <a:xfrm>
            <a:off x="2881262" y="2788920"/>
            <a:ext cx="1283501" cy="4826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36BEB21-D8C0-BC46-97E9-E727E0FC2E16}"/>
              </a:ext>
            </a:extLst>
          </p:cNvPr>
          <p:cNvSpPr/>
          <p:nvPr/>
        </p:nvSpPr>
        <p:spPr>
          <a:xfrm>
            <a:off x="3645756" y="3310553"/>
            <a:ext cx="1283501" cy="4826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ADD7586-960E-814E-8678-1326F3390531}"/>
              </a:ext>
            </a:extLst>
          </p:cNvPr>
          <p:cNvSpPr/>
          <p:nvPr/>
        </p:nvSpPr>
        <p:spPr>
          <a:xfrm>
            <a:off x="4551060" y="2788920"/>
            <a:ext cx="1283501" cy="4826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960B0613-F2CD-7B42-AC79-6E50C4B6B51B}"/>
              </a:ext>
            </a:extLst>
          </p:cNvPr>
          <p:cNvSpPr/>
          <p:nvPr/>
        </p:nvSpPr>
        <p:spPr>
          <a:xfrm>
            <a:off x="6901252" y="2788920"/>
            <a:ext cx="1283501" cy="482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6475C95C-DD3E-D542-B9D5-4183F75CF48D}"/>
              </a:ext>
            </a:extLst>
          </p:cNvPr>
          <p:cNvSpPr/>
          <p:nvPr/>
        </p:nvSpPr>
        <p:spPr>
          <a:xfrm>
            <a:off x="4791561" y="3838956"/>
            <a:ext cx="1283501" cy="482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D1AF4288-029C-B748-A748-68513F366B51}"/>
              </a:ext>
            </a:extLst>
          </p:cNvPr>
          <p:cNvSpPr/>
          <p:nvPr/>
        </p:nvSpPr>
        <p:spPr>
          <a:xfrm>
            <a:off x="7773521" y="3838956"/>
            <a:ext cx="548292" cy="482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93EC0F0B-CB57-E545-96B2-A02412BD6BE1}"/>
              </a:ext>
            </a:extLst>
          </p:cNvPr>
          <p:cNvSpPr/>
          <p:nvPr/>
        </p:nvSpPr>
        <p:spPr>
          <a:xfrm>
            <a:off x="6753264" y="4598289"/>
            <a:ext cx="1088794" cy="88765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6C45336-BEEC-E342-820D-197E513B6FE5}"/>
              </a:ext>
            </a:extLst>
          </p:cNvPr>
          <p:cNvSpPr/>
          <p:nvPr/>
        </p:nvSpPr>
        <p:spPr>
          <a:xfrm>
            <a:off x="7931155" y="4598291"/>
            <a:ext cx="1165588" cy="88764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BookA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Literal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683D4BE-FEC5-6A4B-8F6B-0179BFE39768}"/>
              </a:ext>
            </a:extLst>
          </p:cNvPr>
          <p:cNvSpPr/>
          <p:nvPr/>
        </p:nvSpPr>
        <p:spPr>
          <a:xfrm>
            <a:off x="3903079" y="4685792"/>
            <a:ext cx="548292" cy="482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029D5EB6-B5B2-BB49-8834-068643FC781E}"/>
              </a:ext>
            </a:extLst>
          </p:cNvPr>
          <p:cNvSpPr/>
          <p:nvPr/>
        </p:nvSpPr>
        <p:spPr>
          <a:xfrm>
            <a:off x="5974439" y="4685792"/>
            <a:ext cx="548292" cy="482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549C234-F871-754C-B94A-B2D500DE276D}"/>
              </a:ext>
            </a:extLst>
          </p:cNvPr>
          <p:cNvSpPr/>
          <p:nvPr/>
        </p:nvSpPr>
        <p:spPr>
          <a:xfrm>
            <a:off x="5308700" y="5720041"/>
            <a:ext cx="1009355" cy="89903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O.Pid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7241F0E4-AD57-BE4A-933A-58660EFCC2DC}"/>
              </a:ext>
            </a:extLst>
          </p:cNvPr>
          <p:cNvSpPr/>
          <p:nvPr/>
        </p:nvSpPr>
        <p:spPr>
          <a:xfrm>
            <a:off x="6426468" y="5720042"/>
            <a:ext cx="1060446" cy="8990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P.Pid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2B573A7-F32F-044B-87CF-C34838595E91}"/>
              </a:ext>
            </a:extLst>
          </p:cNvPr>
          <p:cNvSpPr/>
          <p:nvPr/>
        </p:nvSpPr>
        <p:spPr>
          <a:xfrm>
            <a:off x="3078772" y="5720042"/>
            <a:ext cx="1009355" cy="8990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C.cid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Cust.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4C40396D-E73E-DE4C-B2CD-506BFDB86FC1}"/>
              </a:ext>
            </a:extLst>
          </p:cNvPr>
          <p:cNvSpPr/>
          <p:nvPr/>
        </p:nvSpPr>
        <p:spPr>
          <a:xfrm>
            <a:off x="4177225" y="5720042"/>
            <a:ext cx="1060446" cy="8990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O.cid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5ADEBB6-685E-FE42-8DE8-72C004E1379C}"/>
              </a:ext>
            </a:extLst>
          </p:cNvPr>
          <p:cNvCxnSpPr>
            <a:cxnSpLocks/>
            <a:stCxn id="66" idx="2"/>
            <a:endCxn id="67" idx="0"/>
          </p:cNvCxnSpPr>
          <p:nvPr/>
        </p:nvCxnSpPr>
        <p:spPr>
          <a:xfrm flipH="1">
            <a:off x="816445" y="1574590"/>
            <a:ext cx="3524021" cy="36951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C2309B6-BFB4-3B46-8E25-772BE31DD9A3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2034525" y="1574590"/>
            <a:ext cx="2305941" cy="36951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1F5101C-6A41-B447-A713-37B3193F0880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 flipH="1">
            <a:off x="3130492" y="1574590"/>
            <a:ext cx="1209974" cy="36951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CB371EC-9987-2043-B61C-F34C54E541CB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4295606" y="1574590"/>
            <a:ext cx="44860" cy="36951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0963D3A-D3F2-BC40-B965-A253DC3224C9}"/>
              </a:ext>
            </a:extLst>
          </p:cNvPr>
          <p:cNvCxnSpPr>
            <a:cxnSpLocks/>
            <a:stCxn id="66" idx="2"/>
            <a:endCxn id="71" idx="0"/>
          </p:cNvCxnSpPr>
          <p:nvPr/>
        </p:nvCxnSpPr>
        <p:spPr>
          <a:xfrm>
            <a:off x="4340466" y="1574590"/>
            <a:ext cx="1560139" cy="36951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F0511DB-67C3-1246-978C-FA34881CF53B}"/>
              </a:ext>
            </a:extLst>
          </p:cNvPr>
          <p:cNvCxnSpPr>
            <a:cxnSpLocks/>
            <a:stCxn id="66" idx="2"/>
            <a:endCxn id="72" idx="0"/>
          </p:cNvCxnSpPr>
          <p:nvPr/>
        </p:nvCxnSpPr>
        <p:spPr>
          <a:xfrm>
            <a:off x="4340466" y="1574590"/>
            <a:ext cx="3247384" cy="36951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E64A7D5-2E29-D549-8CA1-C56E8E70CEE1}"/>
              </a:ext>
            </a:extLst>
          </p:cNvPr>
          <p:cNvCxnSpPr>
            <a:cxnSpLocks/>
            <a:stCxn id="68" idx="2"/>
            <a:endCxn id="73" idx="0"/>
          </p:cNvCxnSpPr>
          <p:nvPr/>
        </p:nvCxnSpPr>
        <p:spPr>
          <a:xfrm>
            <a:off x="2034525" y="2426703"/>
            <a:ext cx="1" cy="36221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BFD0BC9-4D2C-3E48-BAC0-D0C30663086D}"/>
              </a:ext>
            </a:extLst>
          </p:cNvPr>
          <p:cNvCxnSpPr>
            <a:cxnSpLocks/>
            <a:stCxn id="70" idx="2"/>
            <a:endCxn id="75" idx="0"/>
          </p:cNvCxnSpPr>
          <p:nvPr/>
        </p:nvCxnSpPr>
        <p:spPr>
          <a:xfrm flipH="1">
            <a:off x="4287506" y="2426703"/>
            <a:ext cx="8100" cy="88385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19E99FC-B573-904F-A645-0340700DCEAE}"/>
              </a:ext>
            </a:extLst>
          </p:cNvPr>
          <p:cNvCxnSpPr>
            <a:cxnSpLocks/>
            <a:stCxn id="70" idx="2"/>
            <a:endCxn id="74" idx="0"/>
          </p:cNvCxnSpPr>
          <p:nvPr/>
        </p:nvCxnSpPr>
        <p:spPr>
          <a:xfrm flipH="1">
            <a:off x="3523013" y="2426703"/>
            <a:ext cx="772593" cy="36221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B9395C2-C77B-954E-96F9-4370D2D619D9}"/>
              </a:ext>
            </a:extLst>
          </p:cNvPr>
          <p:cNvCxnSpPr>
            <a:cxnSpLocks/>
            <a:stCxn id="70" idx="2"/>
            <a:endCxn id="76" idx="0"/>
          </p:cNvCxnSpPr>
          <p:nvPr/>
        </p:nvCxnSpPr>
        <p:spPr>
          <a:xfrm>
            <a:off x="4295606" y="2426703"/>
            <a:ext cx="897205" cy="36221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A7B6518-7AC0-0F48-8639-33E4AC0DC634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 flipH="1">
            <a:off x="7543003" y="2426703"/>
            <a:ext cx="44847" cy="36221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EABEC21-83BF-0A46-B8CE-23AD5ED31C56}"/>
              </a:ext>
            </a:extLst>
          </p:cNvPr>
          <p:cNvCxnSpPr>
            <a:cxnSpLocks/>
            <a:stCxn id="77" idx="2"/>
            <a:endCxn id="78" idx="0"/>
          </p:cNvCxnSpPr>
          <p:nvPr/>
        </p:nvCxnSpPr>
        <p:spPr>
          <a:xfrm flipH="1">
            <a:off x="5433312" y="3271520"/>
            <a:ext cx="2109691" cy="56743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4DBFFDA-3833-404F-A808-20757214F337}"/>
              </a:ext>
            </a:extLst>
          </p:cNvPr>
          <p:cNvCxnSpPr>
            <a:cxnSpLocks/>
            <a:stCxn id="77" idx="2"/>
            <a:endCxn id="79" idx="0"/>
          </p:cNvCxnSpPr>
          <p:nvPr/>
        </p:nvCxnSpPr>
        <p:spPr>
          <a:xfrm>
            <a:off x="7543003" y="3271520"/>
            <a:ext cx="504664" cy="56743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652F924-9D49-454A-B711-D9F47D824390}"/>
              </a:ext>
            </a:extLst>
          </p:cNvPr>
          <p:cNvCxnSpPr>
            <a:cxnSpLocks/>
            <a:stCxn id="78" idx="2"/>
            <a:endCxn id="82" idx="0"/>
          </p:cNvCxnSpPr>
          <p:nvPr/>
        </p:nvCxnSpPr>
        <p:spPr>
          <a:xfrm flipH="1">
            <a:off x="4177225" y="4321556"/>
            <a:ext cx="1256087" cy="36423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6FABAA3-3F64-6947-9BD9-8C2D8156769B}"/>
              </a:ext>
            </a:extLst>
          </p:cNvPr>
          <p:cNvCxnSpPr>
            <a:cxnSpLocks/>
            <a:stCxn id="78" idx="2"/>
            <a:endCxn id="83" idx="0"/>
          </p:cNvCxnSpPr>
          <p:nvPr/>
        </p:nvCxnSpPr>
        <p:spPr>
          <a:xfrm>
            <a:off x="5433312" y="4321556"/>
            <a:ext cx="815273" cy="36423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11FD1FB-C163-E443-A86F-4264164732B9}"/>
              </a:ext>
            </a:extLst>
          </p:cNvPr>
          <p:cNvCxnSpPr>
            <a:cxnSpLocks/>
            <a:stCxn id="82" idx="2"/>
            <a:endCxn id="86" idx="0"/>
          </p:cNvCxnSpPr>
          <p:nvPr/>
        </p:nvCxnSpPr>
        <p:spPr>
          <a:xfrm flipH="1">
            <a:off x="3583450" y="5168392"/>
            <a:ext cx="593775" cy="55165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7B3C036-367F-D74B-98FB-800F17623818}"/>
              </a:ext>
            </a:extLst>
          </p:cNvPr>
          <p:cNvCxnSpPr>
            <a:cxnSpLocks/>
            <a:stCxn id="82" idx="2"/>
            <a:endCxn id="87" idx="0"/>
          </p:cNvCxnSpPr>
          <p:nvPr/>
        </p:nvCxnSpPr>
        <p:spPr>
          <a:xfrm>
            <a:off x="4177225" y="5168392"/>
            <a:ext cx="530223" cy="55165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8E79DED-77B0-7C45-A521-52562CFCE369}"/>
              </a:ext>
            </a:extLst>
          </p:cNvPr>
          <p:cNvCxnSpPr>
            <a:cxnSpLocks/>
            <a:stCxn id="83" idx="2"/>
            <a:endCxn id="84" idx="0"/>
          </p:cNvCxnSpPr>
          <p:nvPr/>
        </p:nvCxnSpPr>
        <p:spPr>
          <a:xfrm flipH="1">
            <a:off x="5813378" y="5168392"/>
            <a:ext cx="435207" cy="551649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8F699DE-2A36-5E4D-B0A4-CF6726A9319D}"/>
              </a:ext>
            </a:extLst>
          </p:cNvPr>
          <p:cNvCxnSpPr>
            <a:cxnSpLocks/>
            <a:stCxn id="83" idx="2"/>
            <a:endCxn id="85" idx="0"/>
          </p:cNvCxnSpPr>
          <p:nvPr/>
        </p:nvCxnSpPr>
        <p:spPr>
          <a:xfrm>
            <a:off x="6248585" y="5168392"/>
            <a:ext cx="708106" cy="55165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CC5E2E1-D9E1-7E42-843B-DBCC53C241B2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 flipH="1">
            <a:off x="7297661" y="4321556"/>
            <a:ext cx="750006" cy="27673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92C62BD-A4CE-9949-A801-019EA758FC61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>
            <a:off x="8047667" y="4321556"/>
            <a:ext cx="466282" cy="27673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515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16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3F7BAE-DFF1-D543-883E-229CE86D01BA}"/>
              </a:ext>
            </a:extLst>
          </p:cNvPr>
          <p:cNvSpPr txBox="1"/>
          <p:nvPr/>
        </p:nvSpPr>
        <p:spPr>
          <a:xfrm>
            <a:off x="0" y="710267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Catches type errors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465BE-084E-C544-B542-73FD8DCB6C44}"/>
              </a:ext>
            </a:extLst>
          </p:cNvPr>
          <p:cNvSpPr txBox="1"/>
          <p:nvPr/>
        </p:nvSpPr>
        <p:spPr>
          <a:xfrm>
            <a:off x="173139" y="1490343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328AB71-DAE3-DB41-BBCF-36B6CE994F54}"/>
              </a:ext>
            </a:extLst>
          </p:cNvPr>
          <p:cNvSpPr/>
          <p:nvPr/>
        </p:nvSpPr>
        <p:spPr>
          <a:xfrm>
            <a:off x="971945" y="2070099"/>
            <a:ext cx="742555" cy="330201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962090-35B5-2A40-81E2-76E0CCC07F7B}"/>
              </a:ext>
            </a:extLst>
          </p:cNvPr>
          <p:cNvSpPr txBox="1"/>
          <p:nvPr/>
        </p:nvSpPr>
        <p:spPr>
          <a:xfrm>
            <a:off x="173139" y="3418453"/>
            <a:ext cx="5922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false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90A4BD-411C-6748-BC94-93DD10AD833C}"/>
              </a:ext>
            </a:extLst>
          </p:cNvPr>
          <p:cNvSpPr/>
          <p:nvPr/>
        </p:nvSpPr>
        <p:spPr>
          <a:xfrm>
            <a:off x="236638" y="4612534"/>
            <a:ext cx="63292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C5B4F"/>
                </a:solidFill>
                <a:latin typeface="Arial" panose="020B0604020202020204" pitchFamily="34" charset="0"/>
              </a:rPr>
              <a:t>42883 operator does not exist: integer + </a:t>
            </a:r>
            <a:r>
              <a:rPr lang="en-US" dirty="0" err="1">
                <a:solidFill>
                  <a:srgbClr val="BC5B4F"/>
                </a:solidFill>
                <a:latin typeface="Arial" panose="020B0604020202020204" pitchFamily="34" charset="0"/>
              </a:rPr>
              <a:t>boolean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918F76-FBB8-784C-9745-3FC41C6FC51D}"/>
              </a:ext>
            </a:extLst>
          </p:cNvPr>
          <p:cNvSpPr/>
          <p:nvPr/>
        </p:nvSpPr>
        <p:spPr>
          <a:xfrm>
            <a:off x="198538" y="2773739"/>
            <a:ext cx="71166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C5B4F"/>
                </a:solidFill>
                <a:latin typeface="Arial" panose="020B0604020202020204" pitchFamily="34" charset="0"/>
              </a:rPr>
              <a:t>42804 argument of WHERE must be type </a:t>
            </a:r>
            <a:r>
              <a:rPr lang="en-US" dirty="0" err="1">
                <a:solidFill>
                  <a:srgbClr val="BC5B4F"/>
                </a:solidFill>
                <a:latin typeface="Arial" panose="020B0604020202020204" pitchFamily="34" charset="0"/>
              </a:rPr>
              <a:t>boolean</a:t>
            </a:r>
            <a:r>
              <a:rPr lang="en-US" dirty="0">
                <a:solidFill>
                  <a:srgbClr val="BC5B4F"/>
                </a:solidFill>
                <a:latin typeface="Arial" panose="020B0604020202020204" pitchFamily="34" charset="0"/>
              </a:rPr>
              <a:t>, not type integer</a:t>
            </a:r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B895273-ABDB-F342-8E08-D243041AC08B}"/>
              </a:ext>
            </a:extLst>
          </p:cNvPr>
          <p:cNvSpPr/>
          <p:nvPr/>
        </p:nvSpPr>
        <p:spPr>
          <a:xfrm>
            <a:off x="971945" y="3957137"/>
            <a:ext cx="1741275" cy="369331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3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/>
      <p:bldP spid="4" grpId="0"/>
      <p:bldP spid="5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17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/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B583BE9-4C00-C442-BC20-2CAD4C229617}"/>
              </a:ext>
            </a:extLst>
          </p:cNvPr>
          <p:cNvSpPr/>
          <p:nvPr/>
        </p:nvSpPr>
        <p:spPr>
          <a:xfrm>
            <a:off x="7444786" y="1448393"/>
            <a:ext cx="1393611" cy="496930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19A24FC-DA48-024B-A203-B150075471D6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C3032B88-4583-CA4F-9066-43B49B0B025E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66AA67C6-EAEE-2047-9F40-9B65E2B51921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05A7DA3E-C4CD-F54C-BC49-E16849B9736E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F262110-6FB3-5E49-98B2-707EF08360BD}"/>
                  </a:ext>
                </a:extLst>
              </p:cNvPr>
              <p:cNvCxnSpPr>
                <a:cxnSpLocks/>
                <a:stCxn id="76" idx="2"/>
                <a:endCxn id="77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41C3B6B-CD15-564F-9554-2AEF4C1CCB35}"/>
                  </a:ext>
                </a:extLst>
              </p:cNvPr>
              <p:cNvCxnSpPr>
                <a:cxnSpLocks/>
                <a:stCxn id="76" idx="2"/>
                <a:endCxn id="75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ounded Rectangle 79">
                <a:extLst>
                  <a:ext uri="{FF2B5EF4-FFF2-40B4-BE49-F238E27FC236}">
                    <a16:creationId xmlns:a16="http://schemas.microsoft.com/office/drawing/2014/main" id="{C63C803A-3450-B741-AF4C-8FB9BE23D87B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70DD6D3-BD4C-E34F-AEB4-FBF66D6F9CAD}"/>
                  </a:ext>
                </a:extLst>
              </p:cNvPr>
              <p:cNvCxnSpPr>
                <a:cxnSpLocks/>
                <a:stCxn id="80" idx="2"/>
                <a:endCxn id="76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914DC57B-19FD-E64C-A849-5AAC11690184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6DD092F-A32C-6F42-9505-B6A12EC8A32A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EDFECE2F-53E7-3A4B-B6EF-45427E2FD1D5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AD1D2904-C7DF-E647-96CE-8A130F98688D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551A5A26-9F63-834C-A5BC-13FCA91499B5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1AE2A8E4-4C91-7E47-9370-28F9B6935994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51C1F9E-4E93-7A4A-8182-E7CD7CF21859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F1E5623-A8FB-3E4F-BB67-1C18DDB8745C}"/>
                </a:ext>
              </a:extLst>
            </p:cNvPr>
            <p:cNvCxnSpPr>
              <a:cxnSpLocks/>
              <a:stCxn id="84" idx="2"/>
              <a:endCxn id="85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6B959B4-CA43-974D-8082-DB828562A9DC}"/>
                </a:ext>
              </a:extLst>
            </p:cNvPr>
            <p:cNvCxnSpPr>
              <a:cxnSpLocks/>
              <a:stCxn id="83" idx="2"/>
              <a:endCxn id="86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93A0A59-6DB1-9147-B7E6-CE0057F31219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C348F25-15D5-AE47-A5F8-119B4A92C53C}"/>
                </a:ext>
              </a:extLst>
            </p:cNvPr>
            <p:cNvCxnSpPr>
              <a:cxnSpLocks/>
              <a:stCxn id="90" idx="2"/>
              <a:endCxn id="83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2228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18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39F73B-C212-5245-BE68-95C03E9EC7A2}"/>
              </a:ext>
            </a:extLst>
          </p:cNvPr>
          <p:cNvGrpSpPr/>
          <p:nvPr/>
        </p:nvGrpSpPr>
        <p:grpSpPr>
          <a:xfrm>
            <a:off x="1542542" y="4912139"/>
            <a:ext cx="2474091" cy="1646992"/>
            <a:chOff x="399058" y="5020056"/>
            <a:chExt cx="2474091" cy="1646992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3FCA9DD7-60FE-E540-B581-74AE78020824}"/>
                </a:ext>
              </a:extLst>
            </p:cNvPr>
            <p:cNvSpPr/>
            <p:nvPr/>
          </p:nvSpPr>
          <p:spPr>
            <a:xfrm>
              <a:off x="1461621" y="5020056"/>
              <a:ext cx="54829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CE36AB9D-F7BD-AA48-8F3A-B50B9440DDA1}"/>
                </a:ext>
              </a:extLst>
            </p:cNvPr>
            <p:cNvSpPr/>
            <p:nvPr/>
          </p:nvSpPr>
          <p:spPr>
            <a:xfrm>
              <a:off x="399058" y="5779389"/>
              <a:ext cx="1296200" cy="88765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AA6190EC-146B-5246-8E49-BD547EB98C06}"/>
                </a:ext>
              </a:extLst>
            </p:cNvPr>
            <p:cNvSpPr/>
            <p:nvPr/>
          </p:nvSpPr>
          <p:spPr>
            <a:xfrm>
              <a:off x="1784354" y="5779391"/>
              <a:ext cx="1088795" cy="88764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Literal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CB3D152-5673-5B47-9999-3040E309A43B}"/>
                </a:ext>
              </a:extLst>
            </p:cNvPr>
            <p:cNvCxnSpPr>
              <a:cxnSpLocks/>
              <a:stCxn id="48" idx="2"/>
              <a:endCxn id="49" idx="0"/>
            </p:cNvCxnSpPr>
            <p:nvPr/>
          </p:nvCxnSpPr>
          <p:spPr>
            <a:xfrm flipH="1">
              <a:off x="1047158" y="5502656"/>
              <a:ext cx="688609" cy="27673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6CBA4D4-EE34-3B46-801A-F32322DB5EBD}"/>
                </a:ext>
              </a:extLst>
            </p:cNvPr>
            <p:cNvCxnSpPr>
              <a:cxnSpLocks/>
              <a:stCxn id="48" idx="2"/>
              <a:endCxn id="50" idx="0"/>
            </p:cNvCxnSpPr>
            <p:nvPr/>
          </p:nvCxnSpPr>
          <p:spPr>
            <a:xfrm>
              <a:off x="1735767" y="5502656"/>
              <a:ext cx="592985" cy="27673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B1E107-7C61-0942-A49C-35B73683AD88}"/>
              </a:ext>
            </a:extLst>
          </p:cNvPr>
          <p:cNvGrpSpPr/>
          <p:nvPr/>
        </p:nvGrpSpPr>
        <p:grpSpPr>
          <a:xfrm>
            <a:off x="5040633" y="4987020"/>
            <a:ext cx="2659141" cy="1572111"/>
            <a:chOff x="3878026" y="5033645"/>
            <a:chExt cx="2659141" cy="1572111"/>
          </a:xfrm>
        </p:grpSpPr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8AC052DB-B27B-6848-AAA7-A24C3D0150B9}"/>
                </a:ext>
              </a:extLst>
            </p:cNvPr>
            <p:cNvSpPr/>
            <p:nvPr/>
          </p:nvSpPr>
          <p:spPr>
            <a:xfrm>
              <a:off x="4966821" y="5033645"/>
              <a:ext cx="54829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</a:t>
              </a:r>
            </a:p>
          </p:txBody>
        </p:sp>
        <p:sp>
          <p:nvSpPr>
            <p:cNvPr id="112" name="Rounded Rectangle 111">
              <a:extLst>
                <a:ext uri="{FF2B5EF4-FFF2-40B4-BE49-F238E27FC236}">
                  <a16:creationId xmlns:a16="http://schemas.microsoft.com/office/drawing/2014/main" id="{8B91CCEB-6EDF-5E45-861E-A0ABF60A0DF5}"/>
                </a:ext>
              </a:extLst>
            </p:cNvPr>
            <p:cNvSpPr/>
            <p:nvPr/>
          </p:nvSpPr>
          <p:spPr>
            <a:xfrm>
              <a:off x="5240967" y="5718097"/>
              <a:ext cx="1296200" cy="88765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</a:p>
          </p:txBody>
        </p:sp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28C51C73-A1BE-BC48-A0CA-E8B52C912F22}"/>
                </a:ext>
              </a:extLst>
            </p:cNvPr>
            <p:cNvSpPr/>
            <p:nvPr/>
          </p:nvSpPr>
          <p:spPr>
            <a:xfrm>
              <a:off x="3878026" y="5718111"/>
              <a:ext cx="1088795" cy="88764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Literal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4B37771-322C-E140-AFB6-E30E441008EA}"/>
                </a:ext>
              </a:extLst>
            </p:cNvPr>
            <p:cNvCxnSpPr>
              <a:cxnSpLocks/>
              <a:stCxn id="111" idx="2"/>
              <a:endCxn id="112" idx="0"/>
            </p:cNvCxnSpPr>
            <p:nvPr/>
          </p:nvCxnSpPr>
          <p:spPr>
            <a:xfrm>
              <a:off x="5240967" y="5516245"/>
              <a:ext cx="648100" cy="20185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9320084-84F7-5B43-99CA-AD039CDA5F6B}"/>
                </a:ext>
              </a:extLst>
            </p:cNvPr>
            <p:cNvCxnSpPr>
              <a:cxnSpLocks/>
              <a:stCxn id="111" idx="2"/>
              <a:endCxn id="113" idx="0"/>
            </p:cNvCxnSpPr>
            <p:nvPr/>
          </p:nvCxnSpPr>
          <p:spPr>
            <a:xfrm flipH="1">
              <a:off x="4422424" y="5516245"/>
              <a:ext cx="818543" cy="20186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08718F7B-897C-6A41-8D9F-BEE6BCA74CD0}"/>
              </a:ext>
            </a:extLst>
          </p:cNvPr>
          <p:cNvSpPr txBox="1"/>
          <p:nvPr/>
        </p:nvSpPr>
        <p:spPr>
          <a:xfrm>
            <a:off x="0" y="710267"/>
            <a:ext cx="9144000" cy="4092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Normalizes 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according to several rules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Convert all comparisons to &lt; or &lt;=.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Perform all constant arithmetic: 5 + 10 =&gt; 15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Simplify bool expressions that are guaranteed to be true or false.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Convert WHERE expression to Conjunctive Normal Form (ANDs of ORs)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D73DD68-B16F-BB47-B778-79F0B0FD0E33}"/>
              </a:ext>
            </a:extLst>
          </p:cNvPr>
          <p:cNvCxnSpPr>
            <a:cxnSpLocks/>
          </p:cNvCxnSpPr>
          <p:nvPr/>
        </p:nvCxnSpPr>
        <p:spPr>
          <a:xfrm flipH="1">
            <a:off x="4291057" y="51376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28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19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E76A1E6-F531-7244-9663-7AF6AD403507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171" name="Rounded Rectangle 170">
              <a:extLst>
                <a:ext uri="{FF2B5EF4-FFF2-40B4-BE49-F238E27FC236}">
                  <a16:creationId xmlns:a16="http://schemas.microsoft.com/office/drawing/2014/main" id="{2D25B0FB-E8F9-6D48-9D3A-D0D5A8D22308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172" name="Rounded Rectangle 171">
              <a:extLst>
                <a:ext uri="{FF2B5EF4-FFF2-40B4-BE49-F238E27FC236}">
                  <a16:creationId xmlns:a16="http://schemas.microsoft.com/office/drawing/2014/main" id="{4572D1C6-31D7-AE40-8B7D-7E9FD5C2DACD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173" name="Rounded Rectangle 172">
              <a:extLst>
                <a:ext uri="{FF2B5EF4-FFF2-40B4-BE49-F238E27FC236}">
                  <a16:creationId xmlns:a16="http://schemas.microsoft.com/office/drawing/2014/main" id="{8E334471-06DF-7741-A6DA-C85968D4F64A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ounded Rectangle 173">
              <a:extLst>
                <a:ext uri="{FF2B5EF4-FFF2-40B4-BE49-F238E27FC236}">
                  <a16:creationId xmlns:a16="http://schemas.microsoft.com/office/drawing/2014/main" id="{3F2911E1-F192-4A4F-8747-D66BAA91F27C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1BC5AEB-274C-9D49-9DE5-097EEAD97E6E}"/>
                </a:ext>
              </a:extLst>
            </p:cNvPr>
            <p:cNvCxnSpPr>
              <a:cxnSpLocks/>
              <a:stCxn id="171" idx="2"/>
              <a:endCxn id="172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DFD5A79E-BA34-E345-9A1E-38F5A3FF603D}"/>
                </a:ext>
              </a:extLst>
            </p:cNvPr>
            <p:cNvCxnSpPr>
              <a:cxnSpLocks/>
              <a:stCxn id="172" idx="2"/>
              <a:endCxn id="173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3E94FDC-A11B-AF4B-AB62-EA5D2B1003A2}"/>
                </a:ext>
              </a:extLst>
            </p:cNvPr>
            <p:cNvCxnSpPr>
              <a:cxnSpLocks/>
              <a:stCxn id="171" idx="2"/>
              <a:endCxn id="174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ounded Rectangle 177">
              <a:extLst>
                <a:ext uri="{FF2B5EF4-FFF2-40B4-BE49-F238E27FC236}">
                  <a16:creationId xmlns:a16="http://schemas.microsoft.com/office/drawing/2014/main" id="{49E5B390-6334-2846-BF6C-84EF54A42AD7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4D31E3A-C057-664E-95A0-B5D447BB88FA}"/>
                </a:ext>
              </a:extLst>
            </p:cNvPr>
            <p:cNvCxnSpPr>
              <a:cxnSpLocks/>
              <a:stCxn id="178" idx="2"/>
              <a:endCxn id="171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stCxn id="178" idx="0"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/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B583BE9-4C00-C442-BC20-2CAD4C229617}"/>
              </a:ext>
            </a:extLst>
          </p:cNvPr>
          <p:cNvSpPr/>
          <p:nvPr/>
        </p:nvSpPr>
        <p:spPr>
          <a:xfrm>
            <a:off x="7320504" y="3428999"/>
            <a:ext cx="1642161" cy="64632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80A762D-1C2F-3B43-A727-B7F955D575C0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8DAFD28-AE76-3843-889B-F0056E71431D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47D88072-E780-CF4F-A21F-102359847A7A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Rounded Rectangle 142">
                <a:extLst>
                  <a:ext uri="{FF2B5EF4-FFF2-40B4-BE49-F238E27FC236}">
                    <a16:creationId xmlns:a16="http://schemas.microsoft.com/office/drawing/2014/main" id="{B4E44538-E356-6D4A-9B47-B4A3069B02CA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AD9A2943-1788-E448-858B-B70AEF4793BD}"/>
                  </a:ext>
                </a:extLst>
              </p:cNvPr>
              <p:cNvCxnSpPr>
                <a:cxnSpLocks/>
                <a:stCxn id="141" idx="2"/>
                <a:endCxn id="143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66475F7-D605-0D47-871E-D64C06233295}"/>
                  </a:ext>
                </a:extLst>
              </p:cNvPr>
              <p:cNvCxnSpPr>
                <a:cxnSpLocks/>
                <a:stCxn id="141" idx="2"/>
                <a:endCxn id="77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Rounded Rectangle 147">
                <a:extLst>
                  <a:ext uri="{FF2B5EF4-FFF2-40B4-BE49-F238E27FC236}">
                    <a16:creationId xmlns:a16="http://schemas.microsoft.com/office/drawing/2014/main" id="{0A2D63E4-B1E1-464D-AE28-606580BF762F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43CEA16-7355-2E49-8262-3FF9CEB5509F}"/>
                  </a:ext>
                </a:extLst>
              </p:cNvPr>
              <p:cNvCxnSpPr>
                <a:cxnSpLocks/>
                <a:stCxn id="148" idx="2"/>
                <a:endCxn id="141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7CF5DE52-3C0B-1A49-ABF4-6688099CCF69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4637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20</a:t>
            </a:fld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718F7B-897C-6A41-8D9F-BEE6BCA74CD0}"/>
              </a:ext>
            </a:extLst>
          </p:cNvPr>
          <p:cNvSpPr txBox="1"/>
          <p:nvPr/>
        </p:nvSpPr>
        <p:spPr>
          <a:xfrm>
            <a:off x="0" y="710267"/>
            <a:ext cx="9144000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Maps normalized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or other in-memory representation to an initial (unoptimized) logical query plan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Logical Query Plan: Consists of “high-level” operators: 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Table Scan, Filter, Projection, Join, Group By-And Aggregate, etc.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Many but not all operators are based on relational algebra but correspond to SQL clauses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Some are not: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LIMIT, SKIP, Order By, etc.</a:t>
            </a:r>
          </a:p>
        </p:txBody>
      </p:sp>
    </p:spTree>
    <p:extLst>
      <p:ext uri="{BB962C8B-B14F-4D97-AF65-F5344CB8AC3E}">
        <p14:creationId xmlns:p14="http://schemas.microsoft.com/office/powerpoint/2010/main" val="361410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21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E6BFC-0D80-DE46-B7F8-85C8052329C0}"/>
              </a:ext>
            </a:extLst>
          </p:cNvPr>
          <p:cNvSpPr txBox="1"/>
          <p:nvPr/>
        </p:nvSpPr>
        <p:spPr>
          <a:xfrm>
            <a:off x="16078" y="833252"/>
            <a:ext cx="6067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O.cid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01338C-3CF3-F749-9546-7A62CD9056CB}"/>
              </a:ext>
            </a:extLst>
          </p:cNvPr>
          <p:cNvSpPr/>
          <p:nvPr/>
        </p:nvSpPr>
        <p:spPr>
          <a:xfrm>
            <a:off x="2915312" y="4831623"/>
            <a:ext cx="1453023" cy="66589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  <a:p>
            <a:pPr algn="ctr"/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P.pid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O.pid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F8A3943-EC82-5148-854A-9336BC16B1DE}"/>
              </a:ext>
            </a:extLst>
          </p:cNvPr>
          <p:cNvSpPr/>
          <p:nvPr/>
        </p:nvSpPr>
        <p:spPr>
          <a:xfrm>
            <a:off x="1752601" y="5644630"/>
            <a:ext cx="1672708" cy="7381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Table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3E555EE-8875-464B-9DB2-A687106C7986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2588955" y="5497520"/>
            <a:ext cx="1052869" cy="14711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A147EF-3B1B-FC4F-9423-E85BDFE3AF61}"/>
              </a:ext>
            </a:extLst>
          </p:cNvPr>
          <p:cNvCxnSpPr>
            <a:cxnSpLocks/>
            <a:stCxn id="23" idx="2"/>
            <a:endCxn id="22" idx="0"/>
          </p:cNvCxnSpPr>
          <p:nvPr/>
        </p:nvCxnSpPr>
        <p:spPr>
          <a:xfrm>
            <a:off x="3641824" y="5497520"/>
            <a:ext cx="726512" cy="13224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26DB0D6-E0C6-9D4A-89B9-EA25473834E5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flipH="1">
            <a:off x="3641824" y="4619731"/>
            <a:ext cx="1180582" cy="21189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EA50265-3043-5548-8EEB-71E650C10529}"/>
              </a:ext>
            </a:extLst>
          </p:cNvPr>
          <p:cNvSpPr/>
          <p:nvPr/>
        </p:nvSpPr>
        <p:spPr>
          <a:xfrm>
            <a:off x="3693279" y="5629762"/>
            <a:ext cx="1350113" cy="7381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Table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EFB50E4-FC23-B94F-B24D-EB45923E83F6}"/>
              </a:ext>
            </a:extLst>
          </p:cNvPr>
          <p:cNvSpPr/>
          <p:nvPr/>
        </p:nvSpPr>
        <p:spPr>
          <a:xfrm>
            <a:off x="4095894" y="3953834"/>
            <a:ext cx="1453023" cy="66589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  <a:p>
            <a:pPr algn="ctr"/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C.cid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O.cid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B868565-D469-B74D-8D81-656C0CF8C129}"/>
              </a:ext>
            </a:extLst>
          </p:cNvPr>
          <p:cNvSpPr/>
          <p:nvPr/>
        </p:nvSpPr>
        <p:spPr>
          <a:xfrm>
            <a:off x="5276475" y="4836614"/>
            <a:ext cx="1350113" cy="7381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Table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82E140E-F7D3-3046-B1C0-954D8BC02D56}"/>
              </a:ext>
            </a:extLst>
          </p:cNvPr>
          <p:cNvSpPr/>
          <p:nvPr/>
        </p:nvSpPr>
        <p:spPr>
          <a:xfrm>
            <a:off x="4039069" y="2186474"/>
            <a:ext cx="1559235" cy="66589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  <a:p>
            <a:pPr algn="ctr"/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3FB50CA-ECB0-394D-8FFB-1DAA71780FB1}"/>
              </a:ext>
            </a:extLst>
          </p:cNvPr>
          <p:cNvSpPr/>
          <p:nvPr/>
        </p:nvSpPr>
        <p:spPr>
          <a:xfrm>
            <a:off x="4039069" y="3043611"/>
            <a:ext cx="1559235" cy="66589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name=</a:t>
            </a:r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BookA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E3C1194-6660-3249-A095-A68CCEAA6742}"/>
              </a:ext>
            </a:extLst>
          </p:cNvPr>
          <p:cNvCxnSpPr>
            <a:cxnSpLocks/>
            <a:stCxn id="18" idx="2"/>
            <a:endCxn id="29" idx="0"/>
          </p:cNvCxnSpPr>
          <p:nvPr/>
        </p:nvCxnSpPr>
        <p:spPr>
          <a:xfrm>
            <a:off x="4822406" y="4619731"/>
            <a:ext cx="1129126" cy="21688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541EBB-A948-F343-A4B8-68C42BB7E3B8}"/>
              </a:ext>
            </a:extLst>
          </p:cNvPr>
          <p:cNvCxnSpPr>
            <a:cxnSpLocks/>
            <a:stCxn id="45" idx="2"/>
            <a:endCxn id="18" idx="0"/>
          </p:cNvCxnSpPr>
          <p:nvPr/>
        </p:nvCxnSpPr>
        <p:spPr>
          <a:xfrm>
            <a:off x="4818687" y="3709508"/>
            <a:ext cx="3719" cy="24432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088523E-2F1F-5940-BCF7-E202D39ED86D}"/>
              </a:ext>
            </a:extLst>
          </p:cNvPr>
          <p:cNvCxnSpPr>
            <a:cxnSpLocks/>
            <a:stCxn id="34" idx="2"/>
            <a:endCxn id="45" idx="0"/>
          </p:cNvCxnSpPr>
          <p:nvPr/>
        </p:nvCxnSpPr>
        <p:spPr>
          <a:xfrm>
            <a:off x="4818687" y="2852371"/>
            <a:ext cx="0" cy="19124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34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2" grpId="0" animBg="1"/>
      <p:bldP spid="18" grpId="0" animBg="1"/>
      <p:bldP spid="29" grpId="0" animBg="1"/>
      <p:bldP spid="34" grpId="0" animBg="1"/>
      <p:bldP spid="4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22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E76A1E6-F531-7244-9663-7AF6AD403507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171" name="Rounded Rectangle 170">
              <a:extLst>
                <a:ext uri="{FF2B5EF4-FFF2-40B4-BE49-F238E27FC236}">
                  <a16:creationId xmlns:a16="http://schemas.microsoft.com/office/drawing/2014/main" id="{2D25B0FB-E8F9-6D48-9D3A-D0D5A8D22308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172" name="Rounded Rectangle 171">
              <a:extLst>
                <a:ext uri="{FF2B5EF4-FFF2-40B4-BE49-F238E27FC236}">
                  <a16:creationId xmlns:a16="http://schemas.microsoft.com/office/drawing/2014/main" id="{4572D1C6-31D7-AE40-8B7D-7E9FD5C2DACD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173" name="Rounded Rectangle 172">
              <a:extLst>
                <a:ext uri="{FF2B5EF4-FFF2-40B4-BE49-F238E27FC236}">
                  <a16:creationId xmlns:a16="http://schemas.microsoft.com/office/drawing/2014/main" id="{8E334471-06DF-7741-A6DA-C85968D4F64A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ounded Rectangle 173">
              <a:extLst>
                <a:ext uri="{FF2B5EF4-FFF2-40B4-BE49-F238E27FC236}">
                  <a16:creationId xmlns:a16="http://schemas.microsoft.com/office/drawing/2014/main" id="{3F2911E1-F192-4A4F-8747-D66BAA91F27C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1BC5AEB-274C-9D49-9DE5-097EEAD97E6E}"/>
                </a:ext>
              </a:extLst>
            </p:cNvPr>
            <p:cNvCxnSpPr>
              <a:cxnSpLocks/>
              <a:stCxn id="171" idx="2"/>
              <a:endCxn id="172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DFD5A79E-BA34-E345-9A1E-38F5A3FF603D}"/>
                </a:ext>
              </a:extLst>
            </p:cNvPr>
            <p:cNvCxnSpPr>
              <a:cxnSpLocks/>
              <a:stCxn id="172" idx="2"/>
              <a:endCxn id="173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3E94FDC-A11B-AF4B-AB62-EA5D2B1003A2}"/>
                </a:ext>
              </a:extLst>
            </p:cNvPr>
            <p:cNvCxnSpPr>
              <a:cxnSpLocks/>
              <a:stCxn id="171" idx="2"/>
              <a:endCxn id="174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ounded Rectangle 177">
              <a:extLst>
                <a:ext uri="{FF2B5EF4-FFF2-40B4-BE49-F238E27FC236}">
                  <a16:creationId xmlns:a16="http://schemas.microsoft.com/office/drawing/2014/main" id="{49E5B390-6334-2846-BF6C-84EF54A42AD7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4D31E3A-C057-664E-95A0-B5D447BB88FA}"/>
                </a:ext>
              </a:extLst>
            </p:cNvPr>
            <p:cNvCxnSpPr>
              <a:cxnSpLocks/>
              <a:stCxn id="178" idx="2"/>
              <a:endCxn id="171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stCxn id="178" idx="0"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/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80A762D-1C2F-3B43-A727-B7F955D575C0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8DAFD28-AE76-3843-889B-F0056E71431D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47D88072-E780-CF4F-A21F-102359847A7A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Rounded Rectangle 142">
                <a:extLst>
                  <a:ext uri="{FF2B5EF4-FFF2-40B4-BE49-F238E27FC236}">
                    <a16:creationId xmlns:a16="http://schemas.microsoft.com/office/drawing/2014/main" id="{B4E44538-E356-6D4A-9B47-B4A3069B02CA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AD9A2943-1788-E448-858B-B70AEF4793BD}"/>
                  </a:ext>
                </a:extLst>
              </p:cNvPr>
              <p:cNvCxnSpPr>
                <a:cxnSpLocks/>
                <a:stCxn id="141" idx="2"/>
                <a:endCxn id="143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66475F7-D605-0D47-871E-D64C06233295}"/>
                  </a:ext>
                </a:extLst>
              </p:cNvPr>
              <p:cNvCxnSpPr>
                <a:cxnSpLocks/>
                <a:stCxn id="141" idx="2"/>
                <a:endCxn id="77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Rounded Rectangle 147">
                <a:extLst>
                  <a:ext uri="{FF2B5EF4-FFF2-40B4-BE49-F238E27FC236}">
                    <a16:creationId xmlns:a16="http://schemas.microsoft.com/office/drawing/2014/main" id="{0A2D63E4-B1E1-464D-AE28-606580BF762F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43CEA16-7355-2E49-8262-3FF9CEB5509F}"/>
                  </a:ext>
                </a:extLst>
              </p:cNvPr>
              <p:cNvCxnSpPr>
                <a:cxnSpLocks/>
                <a:stCxn id="148" idx="2"/>
                <a:endCxn id="141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7CF5DE52-3C0B-1A49-ABF4-6688099CCF69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2250592-BBCF-7946-94F7-91ED8BE9082F}"/>
              </a:ext>
            </a:extLst>
          </p:cNvPr>
          <p:cNvSpPr/>
          <p:nvPr/>
        </p:nvSpPr>
        <p:spPr>
          <a:xfrm>
            <a:off x="3257402" y="3428999"/>
            <a:ext cx="1642161" cy="64632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63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23</a:t>
            </a:fld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718F7B-897C-6A41-8D9F-BEE6BCA74CD0}"/>
              </a:ext>
            </a:extLst>
          </p:cNvPr>
          <p:cNvSpPr txBox="1"/>
          <p:nvPr/>
        </p:nvSpPr>
        <p:spPr>
          <a:xfrm>
            <a:off x="0" y="710267"/>
            <a:ext cx="9144000" cy="4092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Optimizes initial logical plan using a set of rules and estimated costs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 Optimizations: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Pushing filters down in the query plan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Pushing projections down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Changing the order of the joins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Replacing sub-plans with views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Identifying and reusing common sub-plans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etc..</a:t>
            </a:r>
          </a:p>
        </p:txBody>
      </p:sp>
    </p:spTree>
    <p:extLst>
      <p:ext uri="{BB962C8B-B14F-4D97-AF65-F5344CB8AC3E}">
        <p14:creationId xmlns:p14="http://schemas.microsoft.com/office/powerpoint/2010/main" val="275658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Example Optimization: Filter Pushdown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24</a:t>
            </a:fld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01338C-3CF3-F749-9546-7A62CD9056CB}"/>
              </a:ext>
            </a:extLst>
          </p:cNvPr>
          <p:cNvSpPr/>
          <p:nvPr/>
        </p:nvSpPr>
        <p:spPr>
          <a:xfrm>
            <a:off x="899389" y="4547971"/>
            <a:ext cx="1453023" cy="66589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  <a:p>
            <a:pPr algn="ctr"/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P.pid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O.pid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F8A3943-EC82-5148-854A-9336BC16B1DE}"/>
              </a:ext>
            </a:extLst>
          </p:cNvPr>
          <p:cNvSpPr/>
          <p:nvPr/>
        </p:nvSpPr>
        <p:spPr>
          <a:xfrm>
            <a:off x="59272" y="5360978"/>
            <a:ext cx="1350113" cy="7381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Table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3E555EE-8875-464B-9DB2-A687106C7986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734329" y="5213868"/>
            <a:ext cx="891572" cy="14711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A147EF-3B1B-FC4F-9423-E85BDFE3AF61}"/>
              </a:ext>
            </a:extLst>
          </p:cNvPr>
          <p:cNvCxnSpPr>
            <a:cxnSpLocks/>
            <a:stCxn id="23" idx="2"/>
            <a:endCxn id="22" idx="0"/>
          </p:cNvCxnSpPr>
          <p:nvPr/>
        </p:nvCxnSpPr>
        <p:spPr>
          <a:xfrm>
            <a:off x="1625901" y="5213868"/>
            <a:ext cx="726512" cy="13224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26DB0D6-E0C6-9D4A-89B9-EA25473834E5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flipH="1">
            <a:off x="1625901" y="4336079"/>
            <a:ext cx="1002782" cy="21189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EA50265-3043-5548-8EEB-71E650C10529}"/>
              </a:ext>
            </a:extLst>
          </p:cNvPr>
          <p:cNvSpPr/>
          <p:nvPr/>
        </p:nvSpPr>
        <p:spPr>
          <a:xfrm>
            <a:off x="1677356" y="5346110"/>
            <a:ext cx="1350113" cy="7381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Table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EFB50E4-FC23-B94F-B24D-EB45923E83F6}"/>
              </a:ext>
            </a:extLst>
          </p:cNvPr>
          <p:cNvSpPr/>
          <p:nvPr/>
        </p:nvSpPr>
        <p:spPr>
          <a:xfrm>
            <a:off x="1902171" y="3670182"/>
            <a:ext cx="1453023" cy="66589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  <a:p>
            <a:pPr algn="ctr"/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C.cid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O.cid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B868565-D469-B74D-8D81-656C0CF8C129}"/>
              </a:ext>
            </a:extLst>
          </p:cNvPr>
          <p:cNvSpPr/>
          <p:nvPr/>
        </p:nvSpPr>
        <p:spPr>
          <a:xfrm>
            <a:off x="2943052" y="4552962"/>
            <a:ext cx="1350113" cy="7381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Table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82E140E-F7D3-3046-B1C0-954D8BC02D56}"/>
              </a:ext>
            </a:extLst>
          </p:cNvPr>
          <p:cNvSpPr/>
          <p:nvPr/>
        </p:nvSpPr>
        <p:spPr>
          <a:xfrm>
            <a:off x="1845346" y="1902822"/>
            <a:ext cx="1559235" cy="66589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  <a:p>
            <a:pPr algn="ctr"/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3FB50CA-ECB0-394D-8FFB-1DAA71780FB1}"/>
              </a:ext>
            </a:extLst>
          </p:cNvPr>
          <p:cNvSpPr/>
          <p:nvPr/>
        </p:nvSpPr>
        <p:spPr>
          <a:xfrm>
            <a:off x="1845346" y="2759959"/>
            <a:ext cx="1559235" cy="66589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name=</a:t>
            </a:r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BookA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E3C1194-6660-3249-A095-A68CCEAA6742}"/>
              </a:ext>
            </a:extLst>
          </p:cNvPr>
          <p:cNvCxnSpPr>
            <a:cxnSpLocks/>
            <a:stCxn id="18" idx="2"/>
            <a:endCxn id="29" idx="0"/>
          </p:cNvCxnSpPr>
          <p:nvPr/>
        </p:nvCxnSpPr>
        <p:spPr>
          <a:xfrm>
            <a:off x="2628683" y="4336079"/>
            <a:ext cx="989426" cy="21688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541EBB-A948-F343-A4B8-68C42BB7E3B8}"/>
              </a:ext>
            </a:extLst>
          </p:cNvPr>
          <p:cNvCxnSpPr>
            <a:cxnSpLocks/>
            <a:stCxn id="45" idx="2"/>
            <a:endCxn id="18" idx="0"/>
          </p:cNvCxnSpPr>
          <p:nvPr/>
        </p:nvCxnSpPr>
        <p:spPr>
          <a:xfrm>
            <a:off x="2624964" y="3425856"/>
            <a:ext cx="3719" cy="24432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088523E-2F1F-5940-BCF7-E202D39ED86D}"/>
              </a:ext>
            </a:extLst>
          </p:cNvPr>
          <p:cNvCxnSpPr>
            <a:cxnSpLocks/>
            <a:stCxn id="34" idx="2"/>
            <a:endCxn id="45" idx="0"/>
          </p:cNvCxnSpPr>
          <p:nvPr/>
        </p:nvCxnSpPr>
        <p:spPr>
          <a:xfrm>
            <a:off x="2624964" y="2568719"/>
            <a:ext cx="0" cy="19124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E5AF4D-6111-2641-8EE7-EA45770544C0}"/>
              </a:ext>
            </a:extLst>
          </p:cNvPr>
          <p:cNvGrpSpPr/>
          <p:nvPr/>
        </p:nvGrpSpPr>
        <p:grpSpPr>
          <a:xfrm>
            <a:off x="4279307" y="1902822"/>
            <a:ext cx="4666351" cy="4196322"/>
            <a:chOff x="4279307" y="1902822"/>
            <a:chExt cx="4666351" cy="4196322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B552A4C9-CAFA-EA4C-BD1E-E1A758AA3EA6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6AF66AE-EC7F-6742-B578-D2195C1D4C3C}"/>
                </a:ext>
              </a:extLst>
            </p:cNvPr>
            <p:cNvSpPr/>
            <p:nvPr/>
          </p:nvSpPr>
          <p:spPr>
            <a:xfrm>
              <a:off x="4279307" y="5360978"/>
              <a:ext cx="1350114" cy="7381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9531C77-16AD-E441-8842-34A10A2E3C23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 flipH="1">
              <a:off x="4954364" y="5213868"/>
              <a:ext cx="891572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F2CADEF-7263-BA4B-9030-3697678FA8F0}"/>
                </a:ext>
              </a:extLst>
            </p:cNvPr>
            <p:cNvCxnSpPr>
              <a:cxnSpLocks/>
              <a:stCxn id="20" idx="2"/>
              <a:endCxn id="32" idx="0"/>
            </p:cNvCxnSpPr>
            <p:nvPr/>
          </p:nvCxnSpPr>
          <p:spPr>
            <a:xfrm>
              <a:off x="5845936" y="5213868"/>
              <a:ext cx="726512" cy="13224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B16D70F-1057-9A4B-8A18-865A933435CA}"/>
                </a:ext>
              </a:extLst>
            </p:cNvPr>
            <p:cNvCxnSpPr>
              <a:cxnSpLocks/>
              <a:stCxn id="33" idx="2"/>
              <a:endCxn id="20" idx="0"/>
            </p:cNvCxnSpPr>
            <p:nvPr/>
          </p:nvCxnSpPr>
          <p:spPr>
            <a:xfrm flipH="1">
              <a:off x="5845936" y="3840779"/>
              <a:ext cx="1066282" cy="70719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109AD926-84DC-FB47-82D2-7FF3A1D64F72}"/>
                </a:ext>
              </a:extLst>
            </p:cNvPr>
            <p:cNvSpPr/>
            <p:nvPr/>
          </p:nvSpPr>
          <p:spPr>
            <a:xfrm>
              <a:off x="5897391" y="5346110"/>
              <a:ext cx="1350113" cy="738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C6587B02-1881-4846-B489-F3F71D95BCAB}"/>
                </a:ext>
              </a:extLst>
            </p:cNvPr>
            <p:cNvSpPr/>
            <p:nvPr/>
          </p:nvSpPr>
          <p:spPr>
            <a:xfrm>
              <a:off x="6185706" y="3174882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7CACED43-A67C-774C-8ADC-FA71C06851AD}"/>
                </a:ext>
              </a:extLst>
            </p:cNvPr>
            <p:cNvSpPr/>
            <p:nvPr/>
          </p:nvSpPr>
          <p:spPr>
            <a:xfrm>
              <a:off x="7362462" y="5328635"/>
              <a:ext cx="1583196" cy="738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C1975B9E-B802-FD48-9F07-8C4213952026}"/>
                </a:ext>
              </a:extLst>
            </p:cNvPr>
            <p:cNvSpPr/>
            <p:nvPr/>
          </p:nvSpPr>
          <p:spPr>
            <a:xfrm>
              <a:off x="6128881" y="1902822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442F798-0C54-AF48-909F-2E8359EC81A6}"/>
                </a:ext>
              </a:extLst>
            </p:cNvPr>
            <p:cNvCxnSpPr>
              <a:cxnSpLocks/>
              <a:stCxn id="41" idx="2"/>
              <a:endCxn id="35" idx="0"/>
            </p:cNvCxnSpPr>
            <p:nvPr/>
          </p:nvCxnSpPr>
          <p:spPr>
            <a:xfrm>
              <a:off x="8154060" y="5182225"/>
              <a:ext cx="0" cy="1464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1FBEAE5-2E02-4546-B96B-B5F7C6D86902}"/>
                </a:ext>
              </a:extLst>
            </p:cNvPr>
            <p:cNvCxnSpPr>
              <a:cxnSpLocks/>
              <a:stCxn id="36" idx="2"/>
              <a:endCxn id="33" idx="0"/>
            </p:cNvCxnSpPr>
            <p:nvPr/>
          </p:nvCxnSpPr>
          <p:spPr>
            <a:xfrm>
              <a:off x="6908499" y="2568719"/>
              <a:ext cx="3719" cy="6061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74BDD3A9-0089-EC4D-8176-DAA7F84B93EB}"/>
                </a:ext>
              </a:extLst>
            </p:cNvPr>
            <p:cNvSpPr/>
            <p:nvPr/>
          </p:nvSpPr>
          <p:spPr>
            <a:xfrm>
              <a:off x="7374442" y="4516328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F1AED17-FFA5-0F40-A087-BEDB18C5DEEC}"/>
                </a:ext>
              </a:extLst>
            </p:cNvPr>
            <p:cNvCxnSpPr>
              <a:cxnSpLocks/>
              <a:stCxn id="33" idx="2"/>
              <a:endCxn id="41" idx="0"/>
            </p:cNvCxnSpPr>
            <p:nvPr/>
          </p:nvCxnSpPr>
          <p:spPr>
            <a:xfrm>
              <a:off x="6912218" y="3840779"/>
              <a:ext cx="1241842" cy="67554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5C9A63-2FE2-DD45-A93A-F9577B27407D}"/>
              </a:ext>
            </a:extLst>
          </p:cNvPr>
          <p:cNvCxnSpPr>
            <a:cxnSpLocks/>
          </p:cNvCxnSpPr>
          <p:nvPr/>
        </p:nvCxnSpPr>
        <p:spPr>
          <a:xfrm flipH="1">
            <a:off x="4293165" y="3399963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99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25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E76A1E6-F531-7244-9663-7AF6AD403507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171" name="Rounded Rectangle 170">
              <a:extLst>
                <a:ext uri="{FF2B5EF4-FFF2-40B4-BE49-F238E27FC236}">
                  <a16:creationId xmlns:a16="http://schemas.microsoft.com/office/drawing/2014/main" id="{2D25B0FB-E8F9-6D48-9D3A-D0D5A8D22308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172" name="Rounded Rectangle 171">
              <a:extLst>
                <a:ext uri="{FF2B5EF4-FFF2-40B4-BE49-F238E27FC236}">
                  <a16:creationId xmlns:a16="http://schemas.microsoft.com/office/drawing/2014/main" id="{4572D1C6-31D7-AE40-8B7D-7E9FD5C2DACD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173" name="Rounded Rectangle 172">
              <a:extLst>
                <a:ext uri="{FF2B5EF4-FFF2-40B4-BE49-F238E27FC236}">
                  <a16:creationId xmlns:a16="http://schemas.microsoft.com/office/drawing/2014/main" id="{8E334471-06DF-7741-A6DA-C85968D4F64A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ounded Rectangle 173">
              <a:extLst>
                <a:ext uri="{FF2B5EF4-FFF2-40B4-BE49-F238E27FC236}">
                  <a16:creationId xmlns:a16="http://schemas.microsoft.com/office/drawing/2014/main" id="{3F2911E1-F192-4A4F-8747-D66BAA91F27C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1BC5AEB-274C-9D49-9DE5-097EEAD97E6E}"/>
                </a:ext>
              </a:extLst>
            </p:cNvPr>
            <p:cNvCxnSpPr>
              <a:cxnSpLocks/>
              <a:stCxn id="171" idx="2"/>
              <a:endCxn id="172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DFD5A79E-BA34-E345-9A1E-38F5A3FF603D}"/>
                </a:ext>
              </a:extLst>
            </p:cNvPr>
            <p:cNvCxnSpPr>
              <a:cxnSpLocks/>
              <a:stCxn id="172" idx="2"/>
              <a:endCxn id="173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3E94FDC-A11B-AF4B-AB62-EA5D2B1003A2}"/>
                </a:ext>
              </a:extLst>
            </p:cNvPr>
            <p:cNvCxnSpPr>
              <a:cxnSpLocks/>
              <a:stCxn id="171" idx="2"/>
              <a:endCxn id="174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ounded Rectangle 177">
              <a:extLst>
                <a:ext uri="{FF2B5EF4-FFF2-40B4-BE49-F238E27FC236}">
                  <a16:creationId xmlns:a16="http://schemas.microsoft.com/office/drawing/2014/main" id="{49E5B390-6334-2846-BF6C-84EF54A42AD7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4D31E3A-C057-664E-95A0-B5D447BB88FA}"/>
                </a:ext>
              </a:extLst>
            </p:cNvPr>
            <p:cNvCxnSpPr>
              <a:cxnSpLocks/>
              <a:stCxn id="178" idx="2"/>
              <a:endCxn id="171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stCxn id="178" idx="0"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/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80A762D-1C2F-3B43-A727-B7F955D575C0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8DAFD28-AE76-3843-889B-F0056E71431D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47D88072-E780-CF4F-A21F-102359847A7A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Rounded Rectangle 142">
                <a:extLst>
                  <a:ext uri="{FF2B5EF4-FFF2-40B4-BE49-F238E27FC236}">
                    <a16:creationId xmlns:a16="http://schemas.microsoft.com/office/drawing/2014/main" id="{B4E44538-E356-6D4A-9B47-B4A3069B02CA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AD9A2943-1788-E448-858B-B70AEF4793BD}"/>
                  </a:ext>
                </a:extLst>
              </p:cNvPr>
              <p:cNvCxnSpPr>
                <a:cxnSpLocks/>
                <a:stCxn id="141" idx="2"/>
                <a:endCxn id="143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66475F7-D605-0D47-871E-D64C06233295}"/>
                  </a:ext>
                </a:extLst>
              </p:cNvPr>
              <p:cNvCxnSpPr>
                <a:cxnSpLocks/>
                <a:stCxn id="141" idx="2"/>
                <a:endCxn id="77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Rounded Rectangle 147">
                <a:extLst>
                  <a:ext uri="{FF2B5EF4-FFF2-40B4-BE49-F238E27FC236}">
                    <a16:creationId xmlns:a16="http://schemas.microsoft.com/office/drawing/2014/main" id="{0A2D63E4-B1E1-464D-AE28-606580BF762F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43CEA16-7355-2E49-8262-3FF9CEB5509F}"/>
                  </a:ext>
                </a:extLst>
              </p:cNvPr>
              <p:cNvCxnSpPr>
                <a:cxnSpLocks/>
                <a:stCxn id="148" idx="2"/>
                <a:endCxn id="141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7CF5DE52-3C0B-1A49-ABF4-6688099CCF69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2250592-BBCF-7946-94F7-91ED8BE9082F}"/>
              </a:ext>
            </a:extLst>
          </p:cNvPr>
          <p:cNvSpPr/>
          <p:nvPr/>
        </p:nvSpPr>
        <p:spPr>
          <a:xfrm>
            <a:off x="590651" y="3429000"/>
            <a:ext cx="1642161" cy="64632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73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26</a:t>
            </a:fld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718F7B-897C-6A41-8D9F-BEE6BCA74CD0}"/>
              </a:ext>
            </a:extLst>
          </p:cNvPr>
          <p:cNvSpPr txBox="1"/>
          <p:nvPr/>
        </p:nvSpPr>
        <p:spPr>
          <a:xfrm>
            <a:off x="0" y="710267"/>
            <a:ext cx="9309100" cy="460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Translates logical operators into physical operators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Logical operators: placeholders to describe the overall query processing algorithm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Physical operators: classes in the implementation language of DBMS (e.g. C++) that have functions that operate on in-memory tuples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logical op might be implemented with multiple physical ops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Scan Table =&gt;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FileScan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IndexFileScan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Join =&gt; Hash Join, Merge Join, Index Nested Loop Join, etc.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Might implicitly do some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06738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833E97-366B-BB46-9A73-9F369ADD80AD}"/>
              </a:ext>
            </a:extLst>
          </p:cNvPr>
          <p:cNvGrpSpPr/>
          <p:nvPr/>
        </p:nvGrpSpPr>
        <p:grpSpPr>
          <a:xfrm>
            <a:off x="128201" y="1582442"/>
            <a:ext cx="4214524" cy="3709450"/>
            <a:chOff x="4279307" y="1902822"/>
            <a:chExt cx="4666351" cy="431073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BFB74BA-5330-D442-85AB-E0F032C64993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6E21448-12FA-894C-A322-547D45968B87}"/>
                </a:ext>
              </a:extLst>
            </p:cNvPr>
            <p:cNvSpPr/>
            <p:nvPr/>
          </p:nvSpPr>
          <p:spPr>
            <a:xfrm>
              <a:off x="4279307" y="5360976"/>
              <a:ext cx="1350114" cy="85257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C9C16B-E8AC-B64D-9168-90A551136D77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4954365" y="5213869"/>
              <a:ext cx="891571" cy="14710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04C55-3E57-FA44-B16D-0C8F95DDD189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>
              <a:off x="5845935" y="5213869"/>
              <a:ext cx="706409" cy="14706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0E870C0-84EE-724F-97A6-AC429FE0B2A8}"/>
                </a:ext>
              </a:extLst>
            </p:cNvPr>
            <p:cNvCxnSpPr>
              <a:cxnSpLocks/>
              <a:stCxn id="13" idx="2"/>
              <a:endCxn id="7" idx="0"/>
            </p:cNvCxnSpPr>
            <p:nvPr/>
          </p:nvCxnSpPr>
          <p:spPr>
            <a:xfrm flipH="1">
              <a:off x="5845936" y="3840779"/>
              <a:ext cx="1066282" cy="70719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C7C17F3-9D51-FD4C-8C4B-BDD39651E424}"/>
                </a:ext>
              </a:extLst>
            </p:cNvPr>
            <p:cNvSpPr/>
            <p:nvPr/>
          </p:nvSpPr>
          <p:spPr>
            <a:xfrm>
              <a:off x="5877288" y="5360937"/>
              <a:ext cx="1350113" cy="8526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41EA86-5297-2E4C-B9B9-4B979107399A}"/>
                </a:ext>
              </a:extLst>
            </p:cNvPr>
            <p:cNvSpPr/>
            <p:nvPr/>
          </p:nvSpPr>
          <p:spPr>
            <a:xfrm>
              <a:off x="6185706" y="3174882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93C8B32-67A9-CD44-AB62-C2830DF462B8}"/>
                </a:ext>
              </a:extLst>
            </p:cNvPr>
            <p:cNvSpPr/>
            <p:nvPr/>
          </p:nvSpPr>
          <p:spPr>
            <a:xfrm>
              <a:off x="7362463" y="5328635"/>
              <a:ext cx="1583195" cy="8849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77ACDB8-D73E-7648-ADD1-2351951B5FF7}"/>
                </a:ext>
              </a:extLst>
            </p:cNvPr>
            <p:cNvSpPr/>
            <p:nvPr/>
          </p:nvSpPr>
          <p:spPr>
            <a:xfrm>
              <a:off x="6128881" y="1902822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310915-789A-4945-A649-2341F4A8D85F}"/>
                </a:ext>
              </a:extLst>
            </p:cNvPr>
            <p:cNvCxnSpPr>
              <a:cxnSpLocks/>
              <a:stCxn id="18" idx="2"/>
              <a:endCxn id="14" idx="0"/>
            </p:cNvCxnSpPr>
            <p:nvPr/>
          </p:nvCxnSpPr>
          <p:spPr>
            <a:xfrm>
              <a:off x="8154060" y="5182225"/>
              <a:ext cx="0" cy="1464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EC4CD6C-F3DF-9446-A27A-EF08248F68AF}"/>
                </a:ext>
              </a:extLst>
            </p:cNvPr>
            <p:cNvCxnSpPr>
              <a:cxnSpLocks/>
              <a:stCxn id="15" idx="2"/>
              <a:endCxn id="13" idx="0"/>
            </p:cNvCxnSpPr>
            <p:nvPr/>
          </p:nvCxnSpPr>
          <p:spPr>
            <a:xfrm>
              <a:off x="6908499" y="2568719"/>
              <a:ext cx="3719" cy="6061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ABA23E0E-D6AA-464D-B27F-0F1AC0DCA047}"/>
                </a:ext>
              </a:extLst>
            </p:cNvPr>
            <p:cNvSpPr/>
            <p:nvPr/>
          </p:nvSpPr>
          <p:spPr>
            <a:xfrm>
              <a:off x="7374442" y="4516328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6E9692-FE92-924A-BEAA-6AB9DE590C36}"/>
                </a:ext>
              </a:extLst>
            </p:cNvPr>
            <p:cNvCxnSpPr>
              <a:cxnSpLocks/>
              <a:stCxn id="13" idx="2"/>
              <a:endCxn id="18" idx="0"/>
            </p:cNvCxnSpPr>
            <p:nvPr/>
          </p:nvCxnSpPr>
          <p:spPr>
            <a:xfrm>
              <a:off x="6912218" y="3840779"/>
              <a:ext cx="1241842" cy="67554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6909D0-7DD7-524F-B1CC-98040D3B6E74}"/>
              </a:ext>
            </a:extLst>
          </p:cNvPr>
          <p:cNvGrpSpPr/>
          <p:nvPr/>
        </p:nvGrpSpPr>
        <p:grpSpPr>
          <a:xfrm>
            <a:off x="4511453" y="1582442"/>
            <a:ext cx="4248390" cy="3765231"/>
            <a:chOff x="4279307" y="1902822"/>
            <a:chExt cx="4666351" cy="4196322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6FEC05D-9C2F-F24B-9C17-D0B28FE3BDF1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L.$3=R.2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22E3966D-70DD-B849-B629-4517A933D5E8}"/>
                </a:ext>
              </a:extLst>
            </p:cNvPr>
            <p:cNvSpPr/>
            <p:nvPr/>
          </p:nvSpPr>
          <p:spPr>
            <a:xfrm>
              <a:off x="4279307" y="5360978"/>
              <a:ext cx="1350114" cy="7381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C15BCA-D283-7E4D-9275-5CE62147EB47}"/>
                </a:ext>
              </a:extLst>
            </p:cNvPr>
            <p:cNvCxnSpPr>
              <a:cxnSpLocks/>
              <a:stCxn id="21" idx="2"/>
              <a:endCxn id="22" idx="0"/>
            </p:cNvCxnSpPr>
            <p:nvPr/>
          </p:nvCxnSpPr>
          <p:spPr>
            <a:xfrm flipH="1">
              <a:off x="4954364" y="5213868"/>
              <a:ext cx="891572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C6DE7F2-BD13-074A-ACFB-922841D572E2}"/>
                </a:ext>
              </a:extLst>
            </p:cNvPr>
            <p:cNvCxnSpPr>
              <a:cxnSpLocks/>
              <a:stCxn id="21" idx="2"/>
              <a:endCxn id="26" idx="0"/>
            </p:cNvCxnSpPr>
            <p:nvPr/>
          </p:nvCxnSpPr>
          <p:spPr>
            <a:xfrm>
              <a:off x="5845936" y="5213868"/>
              <a:ext cx="726512" cy="13224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B05E43-6A0A-334B-8631-0D3A3F6F5863}"/>
                </a:ext>
              </a:extLst>
            </p:cNvPr>
            <p:cNvCxnSpPr>
              <a:cxnSpLocks/>
              <a:stCxn id="27" idx="2"/>
              <a:endCxn id="21" idx="0"/>
            </p:cNvCxnSpPr>
            <p:nvPr/>
          </p:nvCxnSpPr>
          <p:spPr>
            <a:xfrm flipH="1">
              <a:off x="5845936" y="3840779"/>
              <a:ext cx="1066282" cy="70719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52083AAF-F684-E74F-BA41-F42DDB7546B2}"/>
                </a:ext>
              </a:extLst>
            </p:cNvPr>
            <p:cNvSpPr/>
            <p:nvPr/>
          </p:nvSpPr>
          <p:spPr>
            <a:xfrm>
              <a:off x="5897391" y="5346110"/>
              <a:ext cx="1350113" cy="738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30777C20-92DA-AD41-B475-086E1DFDDB8B}"/>
                </a:ext>
              </a:extLst>
            </p:cNvPr>
            <p:cNvSpPr/>
            <p:nvPr/>
          </p:nvSpPr>
          <p:spPr>
            <a:xfrm>
              <a:off x="6185706" y="3174882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L.$3=R.$3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CB05441C-81F6-AD4F-AD15-8344E597C27C}"/>
                </a:ext>
              </a:extLst>
            </p:cNvPr>
            <p:cNvSpPr/>
            <p:nvPr/>
          </p:nvSpPr>
          <p:spPr>
            <a:xfrm>
              <a:off x="7362462" y="5328635"/>
              <a:ext cx="1583196" cy="738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3CC22092-BA53-8842-B88E-5D8A5ACB3EA7}"/>
                </a:ext>
              </a:extLst>
            </p:cNvPr>
            <p:cNvSpPr/>
            <p:nvPr/>
          </p:nvSpPr>
          <p:spPr>
            <a:xfrm>
              <a:off x="6128881" y="1902822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1FB8F85-88FB-2B49-8962-4D8DED63745A}"/>
                </a:ext>
              </a:extLst>
            </p:cNvPr>
            <p:cNvCxnSpPr>
              <a:cxnSpLocks/>
              <a:stCxn id="29" idx="2"/>
              <a:endCxn id="27" idx="0"/>
            </p:cNvCxnSpPr>
            <p:nvPr/>
          </p:nvCxnSpPr>
          <p:spPr>
            <a:xfrm>
              <a:off x="6908499" y="2568719"/>
              <a:ext cx="3719" cy="6061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DACEF7B-C213-4A4C-8FA2-9CC05F5BA23F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6912218" y="3840779"/>
              <a:ext cx="1241843" cy="14878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F6B0B56-5BE2-3F49-9CCA-A9C7FF255FB7}"/>
              </a:ext>
            </a:extLst>
          </p:cNvPr>
          <p:cNvCxnSpPr>
            <a:cxnSpLocks/>
          </p:cNvCxnSpPr>
          <p:nvPr/>
        </p:nvCxnSpPr>
        <p:spPr>
          <a:xfrm flipH="1">
            <a:off x="4342725" y="29205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73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28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E76A1E6-F531-7244-9663-7AF6AD403507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171" name="Rounded Rectangle 170">
              <a:extLst>
                <a:ext uri="{FF2B5EF4-FFF2-40B4-BE49-F238E27FC236}">
                  <a16:creationId xmlns:a16="http://schemas.microsoft.com/office/drawing/2014/main" id="{2D25B0FB-E8F9-6D48-9D3A-D0D5A8D22308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172" name="Rounded Rectangle 171">
              <a:extLst>
                <a:ext uri="{FF2B5EF4-FFF2-40B4-BE49-F238E27FC236}">
                  <a16:creationId xmlns:a16="http://schemas.microsoft.com/office/drawing/2014/main" id="{4572D1C6-31D7-AE40-8B7D-7E9FD5C2DACD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173" name="Rounded Rectangle 172">
              <a:extLst>
                <a:ext uri="{FF2B5EF4-FFF2-40B4-BE49-F238E27FC236}">
                  <a16:creationId xmlns:a16="http://schemas.microsoft.com/office/drawing/2014/main" id="{8E334471-06DF-7741-A6DA-C85968D4F64A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ounded Rectangle 173">
              <a:extLst>
                <a:ext uri="{FF2B5EF4-FFF2-40B4-BE49-F238E27FC236}">
                  <a16:creationId xmlns:a16="http://schemas.microsoft.com/office/drawing/2014/main" id="{3F2911E1-F192-4A4F-8747-D66BAA91F27C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1BC5AEB-274C-9D49-9DE5-097EEAD97E6E}"/>
                </a:ext>
              </a:extLst>
            </p:cNvPr>
            <p:cNvCxnSpPr>
              <a:cxnSpLocks/>
              <a:stCxn id="171" idx="2"/>
              <a:endCxn id="172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DFD5A79E-BA34-E345-9A1E-38F5A3FF603D}"/>
                </a:ext>
              </a:extLst>
            </p:cNvPr>
            <p:cNvCxnSpPr>
              <a:cxnSpLocks/>
              <a:stCxn id="172" idx="2"/>
              <a:endCxn id="173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3E94FDC-A11B-AF4B-AB62-EA5D2B1003A2}"/>
                </a:ext>
              </a:extLst>
            </p:cNvPr>
            <p:cNvCxnSpPr>
              <a:cxnSpLocks/>
              <a:stCxn id="171" idx="2"/>
              <a:endCxn id="174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ounded Rectangle 177">
              <a:extLst>
                <a:ext uri="{FF2B5EF4-FFF2-40B4-BE49-F238E27FC236}">
                  <a16:creationId xmlns:a16="http://schemas.microsoft.com/office/drawing/2014/main" id="{49E5B390-6334-2846-BF6C-84EF54A42AD7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4D31E3A-C057-664E-95A0-B5D447BB88FA}"/>
                </a:ext>
              </a:extLst>
            </p:cNvPr>
            <p:cNvCxnSpPr>
              <a:cxnSpLocks/>
              <a:stCxn id="178" idx="2"/>
              <a:endCxn id="171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stCxn id="178" idx="0"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/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80A762D-1C2F-3B43-A727-B7F955D575C0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8DAFD28-AE76-3843-889B-F0056E71431D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47D88072-E780-CF4F-A21F-102359847A7A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Rounded Rectangle 142">
                <a:extLst>
                  <a:ext uri="{FF2B5EF4-FFF2-40B4-BE49-F238E27FC236}">
                    <a16:creationId xmlns:a16="http://schemas.microsoft.com/office/drawing/2014/main" id="{B4E44538-E356-6D4A-9B47-B4A3069B02CA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AD9A2943-1788-E448-858B-B70AEF4793BD}"/>
                  </a:ext>
                </a:extLst>
              </p:cNvPr>
              <p:cNvCxnSpPr>
                <a:cxnSpLocks/>
                <a:stCxn id="141" idx="2"/>
                <a:endCxn id="143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66475F7-D605-0D47-871E-D64C06233295}"/>
                  </a:ext>
                </a:extLst>
              </p:cNvPr>
              <p:cNvCxnSpPr>
                <a:cxnSpLocks/>
                <a:stCxn id="141" idx="2"/>
                <a:endCxn id="77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Rounded Rectangle 147">
                <a:extLst>
                  <a:ext uri="{FF2B5EF4-FFF2-40B4-BE49-F238E27FC236}">
                    <a16:creationId xmlns:a16="http://schemas.microsoft.com/office/drawing/2014/main" id="{0A2D63E4-B1E1-464D-AE28-606580BF762F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43CEA16-7355-2E49-8262-3FF9CEB5509F}"/>
                  </a:ext>
                </a:extLst>
              </p:cNvPr>
              <p:cNvCxnSpPr>
                <a:cxnSpLocks/>
                <a:stCxn id="148" idx="2"/>
                <a:endCxn id="141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7CF5DE52-3C0B-1A49-ABF4-6688099CCF69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2250592-BBCF-7946-94F7-91ED8BE9082F}"/>
              </a:ext>
            </a:extLst>
          </p:cNvPr>
          <p:cNvSpPr/>
          <p:nvPr/>
        </p:nvSpPr>
        <p:spPr>
          <a:xfrm>
            <a:off x="3430584" y="5737873"/>
            <a:ext cx="1406324" cy="64632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13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29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68BDEA-4776-E542-82A7-F0D70C8BA4DB}"/>
              </a:ext>
            </a:extLst>
          </p:cNvPr>
          <p:cNvSpPr txBox="1"/>
          <p:nvPr/>
        </p:nvSpPr>
        <p:spPr>
          <a:xfrm>
            <a:off x="0" y="710267"/>
            <a:ext cx="9143999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Executes physical plans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Implements a task scheduling mechanism: 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Can have a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threadpool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of “workers” 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Workers execute physical plans in parallel and coordinate</a:t>
            </a:r>
          </a:p>
        </p:txBody>
      </p:sp>
    </p:spTree>
    <p:extLst>
      <p:ext uri="{BB962C8B-B14F-4D97-AF65-F5344CB8AC3E}">
        <p14:creationId xmlns:p14="http://schemas.microsoft.com/office/powerpoint/2010/main" val="186643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20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High-level DBMS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Storage Manager and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Physical Operators/Storage Interface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Property of Storage Devices &amp; Potential Goals of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889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Persistent Data Storage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31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922C8A-A3B2-D848-82E9-612DDD610F3E}"/>
              </a:ext>
            </a:extLst>
          </p:cNvPr>
          <p:cNvSpPr txBox="1"/>
          <p:nvPr/>
        </p:nvSpPr>
        <p:spPr>
          <a:xfrm>
            <a:off x="0" y="710267"/>
            <a:ext cx="8929688" cy="256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DBMSs store data persistently on durable storage devices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Hard disks or flash disks or more recently non-volatile memory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Hence our drawing of DBMSs as disks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query processing is computation and all computation ultimately happens in memory.</a:t>
            </a:r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F1ED4971-A455-B94B-9783-84195EBF6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782" y="1749452"/>
            <a:ext cx="685800" cy="609600"/>
          </a:xfrm>
          <a:prstGeom prst="can">
            <a:avLst>
              <a:gd name="adj" fmla="val 25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3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Physical Operator/Storage Interface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32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922C8A-A3B2-D848-82E9-612DDD610F3E}"/>
              </a:ext>
            </a:extLst>
          </p:cNvPr>
          <p:cNvSpPr txBox="1"/>
          <p:nvPr/>
        </p:nvSpPr>
        <p:spPr>
          <a:xfrm>
            <a:off x="0" y="710267"/>
            <a:ext cx="9309100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RDBMSs store data in table/index files on disk (indices next lecture)</a:t>
            </a:r>
          </a:p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Several physical operators access data in files</a:t>
            </a:r>
          </a:p>
          <a:p>
            <a:pPr marL="548640" lvl="1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Most importantly scans but sometimes also joins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3668B0-1248-8441-92FA-93AE199754C0}"/>
              </a:ext>
            </a:extLst>
          </p:cNvPr>
          <p:cNvGrpSpPr/>
          <p:nvPr/>
        </p:nvGrpSpPr>
        <p:grpSpPr>
          <a:xfrm>
            <a:off x="4552600" y="2270135"/>
            <a:ext cx="4100983" cy="2966069"/>
            <a:chOff x="1003272" y="2309124"/>
            <a:chExt cx="4100983" cy="296606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0F72DF7-E68D-7348-9C5A-C0C436C11BFE}"/>
                </a:ext>
              </a:extLst>
            </p:cNvPr>
            <p:cNvSpPr/>
            <p:nvPr/>
          </p:nvSpPr>
          <p:spPr>
            <a:xfrm>
              <a:off x="1620733" y="3896716"/>
              <a:ext cx="1322877" cy="59748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L.$3=R.2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5BEFF9A-5A49-3B4C-9F28-F0ECA90C072D}"/>
                </a:ext>
              </a:extLst>
            </p:cNvPr>
            <p:cNvSpPr/>
            <p:nvPr/>
          </p:nvSpPr>
          <p:spPr>
            <a:xfrm>
              <a:off x="1003272" y="4626202"/>
              <a:ext cx="1081778" cy="6489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BA351F4-8D19-5A4A-B317-FAE9DAB218B0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1544161" y="4494205"/>
              <a:ext cx="738011" cy="13199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FC5CCE8-CD5D-DF41-A22D-D4C2E85F4F07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>
              <a:off x="2282172" y="4494205"/>
              <a:ext cx="661439" cy="1186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A962541-8927-3D4A-83FD-23F32886BDB7}"/>
                </a:ext>
              </a:extLst>
            </p:cNvPr>
            <p:cNvCxnSpPr>
              <a:cxnSpLocks/>
              <a:stCxn id="14" idx="2"/>
              <a:endCxn id="8" idx="0"/>
            </p:cNvCxnSpPr>
            <p:nvPr/>
          </p:nvCxnSpPr>
          <p:spPr>
            <a:xfrm flipH="1">
              <a:off x="2282172" y="3662225"/>
              <a:ext cx="970776" cy="2344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15B7B78-3E9B-5A47-A013-0118D0B4172D}"/>
                </a:ext>
              </a:extLst>
            </p:cNvPr>
            <p:cNvSpPr/>
            <p:nvPr/>
          </p:nvSpPr>
          <p:spPr>
            <a:xfrm>
              <a:off x="2329019" y="4612862"/>
              <a:ext cx="1229185" cy="6623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8E8B15B-C6F3-9440-839C-2AE9FF81B511}"/>
                </a:ext>
              </a:extLst>
            </p:cNvPr>
            <p:cNvSpPr/>
            <p:nvPr/>
          </p:nvSpPr>
          <p:spPr>
            <a:xfrm>
              <a:off x="2591509" y="3064736"/>
              <a:ext cx="1322877" cy="59748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36FA4B81-B776-3B4C-A252-024CF586A477}"/>
                </a:ext>
              </a:extLst>
            </p:cNvPr>
            <p:cNvSpPr/>
            <p:nvPr/>
          </p:nvSpPr>
          <p:spPr>
            <a:xfrm>
              <a:off x="3662864" y="4597182"/>
              <a:ext cx="1441391" cy="6623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9E72DC9-6A6C-9D45-BB38-C4D69C0513E1}"/>
                </a:ext>
              </a:extLst>
            </p:cNvPr>
            <p:cNvSpPr/>
            <p:nvPr/>
          </p:nvSpPr>
          <p:spPr>
            <a:xfrm>
              <a:off x="2539774" y="2309124"/>
              <a:ext cx="1419576" cy="59748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4246FE-1751-DE4A-993C-8B8875234C70}"/>
                </a:ext>
              </a:extLst>
            </p:cNvPr>
            <p:cNvCxnSpPr>
              <a:cxnSpLocks/>
              <a:stCxn id="16" idx="2"/>
              <a:endCxn id="14" idx="0"/>
            </p:cNvCxnSpPr>
            <p:nvPr/>
          </p:nvCxnSpPr>
          <p:spPr>
            <a:xfrm>
              <a:off x="3249562" y="2906613"/>
              <a:ext cx="3386" cy="15812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46E7A82-EEB2-4B45-BDF8-6B54A1D145BE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3252948" y="3662225"/>
              <a:ext cx="1130612" cy="9349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Can 19">
            <a:extLst>
              <a:ext uri="{FF2B5EF4-FFF2-40B4-BE49-F238E27FC236}">
                <a16:creationId xmlns:a16="http://schemas.microsoft.com/office/drawing/2014/main" id="{715CF430-6D21-C845-B2D0-F9B8E3682F4D}"/>
              </a:ext>
            </a:extLst>
          </p:cNvPr>
          <p:cNvSpPr/>
          <p:nvPr/>
        </p:nvSpPr>
        <p:spPr>
          <a:xfrm>
            <a:off x="4229104" y="5493150"/>
            <a:ext cx="4614861" cy="1244556"/>
          </a:xfrm>
          <a:prstGeom prst="can">
            <a:avLst>
              <a:gd name="adj" fmla="val 20978"/>
            </a:avLst>
          </a:prstGeom>
          <a:noFill/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70D913-CEAF-D74E-9E6E-113A6BB06EAD}"/>
              </a:ext>
            </a:extLst>
          </p:cNvPr>
          <p:cNvSpPr/>
          <p:nvPr/>
        </p:nvSpPr>
        <p:spPr>
          <a:xfrm>
            <a:off x="4229104" y="2207092"/>
            <a:ext cx="4614861" cy="3113946"/>
          </a:xfrm>
          <a:prstGeom prst="roundRect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D522C-FF36-4A45-893B-6B56B8F75765}"/>
              </a:ext>
            </a:extLst>
          </p:cNvPr>
          <p:cNvSpPr txBox="1"/>
          <p:nvPr/>
        </p:nvSpPr>
        <p:spPr>
          <a:xfrm>
            <a:off x="5723428" y="6068398"/>
            <a:ext cx="2913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Table files, index files </a:t>
            </a:r>
          </a:p>
        </p:txBody>
      </p:sp>
      <p:pic>
        <p:nvPicPr>
          <p:cNvPr id="24" name="Graphic 23" descr="Document outline">
            <a:extLst>
              <a:ext uri="{FF2B5EF4-FFF2-40B4-BE49-F238E27FC236}">
                <a16:creationId xmlns:a16="http://schemas.microsoft.com/office/drawing/2014/main" id="{953CBC65-36AE-BD44-A8E5-969482700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6626" y="5844226"/>
            <a:ext cx="648871" cy="648871"/>
          </a:xfrm>
          <a:prstGeom prst="rect">
            <a:avLst/>
          </a:prstGeom>
        </p:spPr>
      </p:pic>
      <p:pic>
        <p:nvPicPr>
          <p:cNvPr id="25" name="Graphic 24" descr="Document outline">
            <a:extLst>
              <a:ext uri="{FF2B5EF4-FFF2-40B4-BE49-F238E27FC236}">
                <a16:creationId xmlns:a16="http://schemas.microsoft.com/office/drawing/2014/main" id="{3F93F438-D3C7-814E-8F72-111A0B6CB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0479" y="6002010"/>
            <a:ext cx="648871" cy="648871"/>
          </a:xfrm>
          <a:prstGeom prst="rect">
            <a:avLst/>
          </a:prstGeom>
        </p:spPr>
      </p:pic>
      <p:pic>
        <p:nvPicPr>
          <p:cNvPr id="26" name="Graphic 25" descr="Document outline">
            <a:extLst>
              <a:ext uri="{FF2B5EF4-FFF2-40B4-BE49-F238E27FC236}">
                <a16:creationId xmlns:a16="http://schemas.microsoft.com/office/drawing/2014/main" id="{519C30E4-0A1C-D14F-B0A2-B5FAC048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2334" y="6144829"/>
            <a:ext cx="648871" cy="64887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AE2922-9A44-314A-93E0-F02F74FDF08F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329352" y="5236204"/>
            <a:ext cx="1163588" cy="76580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5C3655-6180-6C44-BF96-81F554D09D3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910113" y="5236204"/>
            <a:ext cx="183376" cy="60802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02195F4-615C-E34B-812A-AFE3623F947F}"/>
              </a:ext>
            </a:extLst>
          </p:cNvPr>
          <p:cNvSpPr/>
          <p:nvPr/>
        </p:nvSpPr>
        <p:spPr>
          <a:xfrm>
            <a:off x="82192" y="2309124"/>
            <a:ext cx="4146553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Recall: Physical operators: classes in the implementation language of DBMS (e.g. C++) that have functions that operate on in-memory tuples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5D44A9-DDC2-AB45-AC10-3D78C6107006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5481752" y="5220524"/>
            <a:ext cx="2451136" cy="93388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D32D5EB-8CBB-0B49-B93F-F83FF9592146}"/>
              </a:ext>
            </a:extLst>
          </p:cNvPr>
          <p:cNvCxnSpPr>
            <a:cxnSpLocks/>
          </p:cNvCxnSpPr>
          <p:nvPr/>
        </p:nvCxnSpPr>
        <p:spPr>
          <a:xfrm flipV="1">
            <a:off x="3920975" y="5475037"/>
            <a:ext cx="884361" cy="1"/>
          </a:xfrm>
          <a:prstGeom prst="line">
            <a:avLst/>
          </a:prstGeom>
          <a:ln w="19050">
            <a:solidFill>
              <a:srgbClr val="FF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317347C-EF82-9347-8BF7-484773DF3D72}"/>
              </a:ext>
            </a:extLst>
          </p:cNvPr>
          <p:cNvSpPr/>
          <p:nvPr/>
        </p:nvSpPr>
        <p:spPr>
          <a:xfrm>
            <a:off x="53575" y="4746504"/>
            <a:ext cx="4105929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File accesses happen via classes implemented in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StorageManager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component (aka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FileManager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FileAccessMethods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etc.)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D3413A-8BDB-9442-A364-5ED211E0CCA8}"/>
              </a:ext>
            </a:extLst>
          </p:cNvPr>
          <p:cNvSpPr txBox="1"/>
          <p:nvPr/>
        </p:nvSpPr>
        <p:spPr>
          <a:xfrm>
            <a:off x="4309113" y="2326449"/>
            <a:ext cx="116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1CCA61-47BF-9C4D-A4FF-FB49060E0346}"/>
              </a:ext>
            </a:extLst>
          </p:cNvPr>
          <p:cNvSpPr txBox="1"/>
          <p:nvPr/>
        </p:nvSpPr>
        <p:spPr>
          <a:xfrm>
            <a:off x="7946823" y="6319452"/>
            <a:ext cx="116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</a:t>
            </a:r>
          </a:p>
        </p:txBody>
      </p:sp>
    </p:spTree>
    <p:extLst>
      <p:ext uri="{BB962C8B-B14F-4D97-AF65-F5344CB8AC3E}">
        <p14:creationId xmlns:p14="http://schemas.microsoft.com/office/powerpoint/2010/main" val="176328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5" grpId="0" animBg="1"/>
      <p:bldP spid="6" grpId="0"/>
      <p:bldP spid="30" grpId="0"/>
      <p:bldP spid="46" grpId="0"/>
      <p:bldP spid="4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Physical Operator/Storage Interface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33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08DFBE-BA9F-3E44-AAFD-DD21F743EFFC}"/>
              </a:ext>
            </a:extLst>
          </p:cNvPr>
          <p:cNvSpPr txBox="1"/>
          <p:nvPr/>
        </p:nvSpPr>
        <p:spPr>
          <a:xfrm>
            <a:off x="16078" y="853249"/>
            <a:ext cx="87596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ScanTable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PhysicalOperator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tableFilename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DBFileHandle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dbFH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// Interface to access storage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nextRecordID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Assume parent operator has access to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outTuple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as well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Tuple*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outTuple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dbFH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DBFileHandle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tableFilename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 // e.g.,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order.mkd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nextRecordID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each operator in the tree calls its child to get next Tuple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Tuple*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getNextTuple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if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nextRecordId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dbFH.maxRecordID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dbFH.readRecord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outTuple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nextRecordID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nextRecordID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&amp;tuple;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BE55CFB-9976-BC41-9645-CE1818D2175F}"/>
              </a:ext>
            </a:extLst>
          </p:cNvPr>
          <p:cNvSpPr/>
          <p:nvPr/>
        </p:nvSpPr>
        <p:spPr>
          <a:xfrm>
            <a:off x="584617" y="5003356"/>
            <a:ext cx="5306518" cy="30316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A55D62-8CDE-8144-A63C-365257CA5B23}"/>
              </a:ext>
            </a:extLst>
          </p:cNvPr>
          <p:cNvCxnSpPr>
            <a:cxnSpLocks/>
          </p:cNvCxnSpPr>
          <p:nvPr/>
        </p:nvCxnSpPr>
        <p:spPr>
          <a:xfrm>
            <a:off x="3897443" y="5306518"/>
            <a:ext cx="1049311" cy="40473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5F40A2E-640A-584B-9998-528C34F54B70}"/>
              </a:ext>
            </a:extLst>
          </p:cNvPr>
          <p:cNvSpPr/>
          <p:nvPr/>
        </p:nvSpPr>
        <p:spPr>
          <a:xfrm>
            <a:off x="3365291" y="5562453"/>
            <a:ext cx="4518425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will show a sample pseudocode later</a:t>
            </a:r>
          </a:p>
        </p:txBody>
      </p:sp>
    </p:spTree>
    <p:extLst>
      <p:ext uri="{BB962C8B-B14F-4D97-AF65-F5344CB8AC3E}">
        <p14:creationId xmlns:p14="http://schemas.microsoft.com/office/powerpoint/2010/main" val="111511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File Access Functions 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710267"/>
            <a:ext cx="930910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Functions such as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readRecord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DBFileHandle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-like classes that form the operator/storage interface know about physical data organizations (and operators don’t):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Record layout in files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Page/Block layout of records in files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Other Possible operator/storage interface functions: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 err="1"/>
              <a:t>readRecords</a:t>
            </a:r>
            <a:r>
              <a:rPr lang="en-US" sz="2400" dirty="0"/>
              <a:t>(int </a:t>
            </a:r>
            <a:r>
              <a:rPr lang="en-US" sz="2400" dirty="0" err="1"/>
              <a:t>beginRecordID</a:t>
            </a:r>
            <a:r>
              <a:rPr lang="en-US" sz="2400" dirty="0"/>
              <a:t>, int </a:t>
            </a:r>
            <a:r>
              <a:rPr lang="en-US" sz="2400" dirty="0" err="1"/>
              <a:t>endRecordID</a:t>
            </a:r>
            <a:r>
              <a:rPr lang="en-US" sz="2400" dirty="0"/>
              <a:t>)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 err="1"/>
              <a:t>readRecordsInNextPage</a:t>
            </a:r>
            <a:r>
              <a:rPr lang="en-US" sz="2400" dirty="0"/>
              <a:t>(int </a:t>
            </a:r>
            <a:r>
              <a:rPr lang="en-US" sz="2400" dirty="0" err="1"/>
              <a:t>pageID</a:t>
            </a:r>
            <a:r>
              <a:rPr lang="en-US" sz="2400" dirty="0"/>
              <a:t>) (see next slide)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  <a:p>
            <a:r>
              <a:rPr lang="en-US" sz="2400" dirty="0"/>
              <a:t>Question 1: Why is there another unit of data called page/block?</a:t>
            </a:r>
          </a:p>
          <a:p>
            <a:r>
              <a:rPr lang="en-US" sz="2400" dirty="0"/>
              <a:t>Question 2: Potential goals of DBMS implementors when designing physical layouts?</a:t>
            </a:r>
          </a:p>
          <a:p>
            <a:r>
              <a:rPr lang="en-US" sz="2400" dirty="0"/>
              <a:t>Question 3: Common record and page layouts?</a:t>
            </a:r>
          </a:p>
        </p:txBody>
      </p:sp>
    </p:spTree>
    <p:extLst>
      <p:ext uri="{BB962C8B-B14F-4D97-AF65-F5344CB8AC3E}">
        <p14:creationId xmlns:p14="http://schemas.microsoft.com/office/powerpoint/2010/main" val="185552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20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High-level DBMS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Storage Manager and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Operators/Storage Interface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Fundamental Property of Storage Devices &amp; Potential Goals of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68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Fundamental Property of Storage Devices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6123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reads is slow! 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Sequential reads is fast!</a:t>
            </a:r>
          </a:p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Take this very seriously!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Holds for RAM, magnetic disks, or flash disks.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Examples: Read 1GB of 64bit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ints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randomly in RAM vs sequentially and you might get ~10x difference.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Exercise: Test this and let me know the exact answer.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Worse diff. depending on read size in hard/flash disks (e.g. ~1000x)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Question 1: Why is there another unit of data called page/block?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Important Consequences: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OS reads/writes data from/to disk in pages (e.g., 4K)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DBMS should also read/write data in pages (multiple of OS page sizes, 4K, 8K, 12K etc. but not 2K) </a:t>
            </a:r>
          </a:p>
        </p:txBody>
      </p:sp>
    </p:spTree>
    <p:extLst>
      <p:ext uri="{BB962C8B-B14F-4D97-AF65-F5344CB8AC3E}">
        <p14:creationId xmlns:p14="http://schemas.microsoft.com/office/powerpoint/2010/main" val="38588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37</a:t>
            </a:fld>
            <a:endParaRPr lang="en-US" dirty="0"/>
          </a:p>
        </p:txBody>
      </p: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2286000" y="785801"/>
            <a:ext cx="5121275" cy="4803775"/>
            <a:chOff x="1440" y="819"/>
            <a:chExt cx="3226" cy="3026"/>
          </a:xfrm>
        </p:grpSpPr>
        <p:sp>
          <p:nvSpPr>
            <p:cNvPr id="6" name="Rectangle 20"/>
            <p:cNvSpPr>
              <a:spLocks noChangeArrowheads="1"/>
            </p:cNvSpPr>
            <p:nvPr/>
          </p:nvSpPr>
          <p:spPr bwMode="auto">
            <a:xfrm>
              <a:off x="2220" y="3593"/>
              <a:ext cx="12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/>
                <a:t>Spindle rotation</a:t>
              </a: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2688" y="3024"/>
              <a:ext cx="144" cy="480"/>
            </a:xfrm>
            <a:prstGeom prst="can">
              <a:avLst>
                <a:gd name="adj" fmla="val 40278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1440" y="2640"/>
              <a:ext cx="3226" cy="624"/>
              <a:chOff x="1440" y="1056"/>
              <a:chExt cx="3226" cy="624"/>
            </a:xfrm>
          </p:grpSpPr>
          <p:sp>
            <p:nvSpPr>
              <p:cNvPr id="27" name="Oval 7"/>
              <p:cNvSpPr>
                <a:spLocks noChangeArrowheads="1"/>
              </p:cNvSpPr>
              <p:nvPr/>
            </p:nvSpPr>
            <p:spPr bwMode="auto">
              <a:xfrm>
                <a:off x="1440" y="1056"/>
                <a:ext cx="2640" cy="62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Text Box 8"/>
              <p:cNvSpPr txBox="1">
                <a:spLocks noChangeArrowheads="1"/>
              </p:cNvSpPr>
              <p:nvPr/>
            </p:nvSpPr>
            <p:spPr bwMode="auto">
              <a:xfrm>
                <a:off x="4088" y="1234"/>
                <a:ext cx="57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sz="2000">
                    <a:latin typeface="+mn-lt"/>
                  </a:rPr>
                  <a:t>Platter</a:t>
                </a:r>
              </a:p>
            </p:txBody>
          </p:sp>
          <p:sp>
            <p:nvSpPr>
              <p:cNvPr id="29" name="Oval 9"/>
              <p:cNvSpPr>
                <a:spLocks noChangeArrowheads="1"/>
              </p:cNvSpPr>
              <p:nvPr/>
            </p:nvSpPr>
            <p:spPr bwMode="auto">
              <a:xfrm>
                <a:off x="1648" y="1152"/>
                <a:ext cx="2208" cy="384"/>
              </a:xfrm>
              <a:prstGeom prst="ellipse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Oval 10"/>
              <p:cNvSpPr>
                <a:spLocks noChangeArrowheads="1"/>
              </p:cNvSpPr>
              <p:nvPr/>
            </p:nvSpPr>
            <p:spPr bwMode="auto">
              <a:xfrm>
                <a:off x="1824" y="1224"/>
                <a:ext cx="1872" cy="224"/>
              </a:xfrm>
              <a:prstGeom prst="ellipse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" name="AutoShape 11"/>
            <p:cNvSpPr>
              <a:spLocks noChangeArrowheads="1"/>
            </p:cNvSpPr>
            <p:nvPr/>
          </p:nvSpPr>
          <p:spPr bwMode="auto">
            <a:xfrm>
              <a:off x="2688" y="1968"/>
              <a:ext cx="144" cy="1008"/>
            </a:xfrm>
            <a:prstGeom prst="can">
              <a:avLst>
                <a:gd name="adj" fmla="val 4653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1440" y="1488"/>
              <a:ext cx="3226" cy="624"/>
              <a:chOff x="1440" y="1056"/>
              <a:chExt cx="3226" cy="624"/>
            </a:xfrm>
          </p:grpSpPr>
          <p:sp>
            <p:nvSpPr>
              <p:cNvPr id="23" name="Oval 13"/>
              <p:cNvSpPr>
                <a:spLocks noChangeArrowheads="1"/>
              </p:cNvSpPr>
              <p:nvPr/>
            </p:nvSpPr>
            <p:spPr bwMode="auto">
              <a:xfrm>
                <a:off x="1440" y="1056"/>
                <a:ext cx="2640" cy="62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Text Box 14"/>
              <p:cNvSpPr txBox="1">
                <a:spLocks noChangeArrowheads="1"/>
              </p:cNvSpPr>
              <p:nvPr/>
            </p:nvSpPr>
            <p:spPr bwMode="auto">
              <a:xfrm>
                <a:off x="4088" y="1234"/>
                <a:ext cx="57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sz="2000">
                    <a:latin typeface="+mn-lt"/>
                  </a:rPr>
                  <a:t>Platter</a:t>
                </a:r>
              </a:p>
            </p:txBody>
          </p:sp>
          <p:sp>
            <p:nvSpPr>
              <p:cNvPr id="25" name="Oval 15"/>
              <p:cNvSpPr>
                <a:spLocks noChangeArrowheads="1"/>
              </p:cNvSpPr>
              <p:nvPr/>
            </p:nvSpPr>
            <p:spPr bwMode="auto">
              <a:xfrm>
                <a:off x="1648" y="1152"/>
                <a:ext cx="2208" cy="384"/>
              </a:xfrm>
              <a:prstGeom prst="ellipse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Oval 16"/>
              <p:cNvSpPr>
                <a:spLocks noChangeArrowheads="1"/>
              </p:cNvSpPr>
              <p:nvPr/>
            </p:nvSpPr>
            <p:spPr bwMode="auto">
              <a:xfrm>
                <a:off x="1824" y="1224"/>
                <a:ext cx="1872" cy="224"/>
              </a:xfrm>
              <a:prstGeom prst="ellipse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" name="AutoShape 17"/>
            <p:cNvSpPr>
              <a:spLocks noChangeArrowheads="1"/>
            </p:cNvSpPr>
            <p:nvPr/>
          </p:nvSpPr>
          <p:spPr bwMode="auto">
            <a:xfrm>
              <a:off x="2688" y="1344"/>
              <a:ext cx="144" cy="480"/>
            </a:xfrm>
            <a:prstGeom prst="can">
              <a:avLst>
                <a:gd name="adj" fmla="val 40278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2626" y="2142"/>
              <a:ext cx="291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800">
                  <a:latin typeface="+mn-lt"/>
                </a:rPr>
                <a:t>Spindle</a:t>
              </a:r>
            </a:p>
          </p:txBody>
        </p:sp>
        <p:sp>
          <p:nvSpPr>
            <p:cNvPr id="13" name="Freeform 19"/>
            <p:cNvSpPr>
              <a:spLocks/>
            </p:cNvSpPr>
            <p:nvPr/>
          </p:nvSpPr>
          <p:spPr bwMode="auto">
            <a:xfrm>
              <a:off x="2464" y="3408"/>
              <a:ext cx="592" cy="192"/>
            </a:xfrm>
            <a:custGeom>
              <a:avLst/>
              <a:gdLst>
                <a:gd name="T0" fmla="*/ 432 w 592"/>
                <a:gd name="T1" fmla="*/ 0 h 192"/>
                <a:gd name="T2" fmla="*/ 576 w 592"/>
                <a:gd name="T3" fmla="*/ 48 h 192"/>
                <a:gd name="T4" fmla="*/ 528 w 592"/>
                <a:gd name="T5" fmla="*/ 144 h 192"/>
                <a:gd name="T6" fmla="*/ 288 w 592"/>
                <a:gd name="T7" fmla="*/ 192 h 192"/>
                <a:gd name="T8" fmla="*/ 0 w 592"/>
                <a:gd name="T9" fmla="*/ 144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2"/>
                <a:gd name="T16" fmla="*/ 0 h 192"/>
                <a:gd name="T17" fmla="*/ 592 w 592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2" h="192">
                  <a:moveTo>
                    <a:pt x="432" y="0"/>
                  </a:moveTo>
                  <a:cubicBezTo>
                    <a:pt x="496" y="12"/>
                    <a:pt x="560" y="24"/>
                    <a:pt x="576" y="48"/>
                  </a:cubicBezTo>
                  <a:cubicBezTo>
                    <a:pt x="592" y="72"/>
                    <a:pt x="576" y="120"/>
                    <a:pt x="528" y="144"/>
                  </a:cubicBezTo>
                  <a:cubicBezTo>
                    <a:pt x="480" y="168"/>
                    <a:pt x="376" y="192"/>
                    <a:pt x="288" y="192"/>
                  </a:cubicBezTo>
                  <a:cubicBezTo>
                    <a:pt x="200" y="192"/>
                    <a:pt x="100" y="168"/>
                    <a:pt x="0" y="144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" name="Group 21"/>
            <p:cNvGrpSpPr>
              <a:grpSpLocks/>
            </p:cNvGrpSpPr>
            <p:nvPr/>
          </p:nvGrpSpPr>
          <p:grpSpPr bwMode="auto">
            <a:xfrm>
              <a:off x="1440" y="1056"/>
              <a:ext cx="3226" cy="624"/>
              <a:chOff x="1440" y="1056"/>
              <a:chExt cx="3226" cy="624"/>
            </a:xfrm>
          </p:grpSpPr>
          <p:sp>
            <p:nvSpPr>
              <p:cNvPr id="19" name="Oval 22"/>
              <p:cNvSpPr>
                <a:spLocks noChangeArrowheads="1"/>
              </p:cNvSpPr>
              <p:nvPr/>
            </p:nvSpPr>
            <p:spPr bwMode="auto">
              <a:xfrm>
                <a:off x="1440" y="1056"/>
                <a:ext cx="2640" cy="62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Text Box 23"/>
              <p:cNvSpPr txBox="1">
                <a:spLocks noChangeArrowheads="1"/>
              </p:cNvSpPr>
              <p:nvPr/>
            </p:nvSpPr>
            <p:spPr bwMode="auto">
              <a:xfrm>
                <a:off x="4088" y="1234"/>
                <a:ext cx="57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sz="2000">
                    <a:latin typeface="+mn-lt"/>
                  </a:rPr>
                  <a:t>Platter</a:t>
                </a:r>
              </a:p>
            </p:txBody>
          </p:sp>
          <p:sp>
            <p:nvSpPr>
              <p:cNvPr id="21" name="Oval 24"/>
              <p:cNvSpPr>
                <a:spLocks noChangeArrowheads="1"/>
              </p:cNvSpPr>
              <p:nvPr/>
            </p:nvSpPr>
            <p:spPr bwMode="auto">
              <a:xfrm>
                <a:off x="1648" y="1152"/>
                <a:ext cx="2208" cy="384"/>
              </a:xfrm>
              <a:prstGeom prst="ellipse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Oval 25"/>
              <p:cNvSpPr>
                <a:spLocks noChangeArrowheads="1"/>
              </p:cNvSpPr>
              <p:nvPr/>
            </p:nvSpPr>
            <p:spPr bwMode="auto">
              <a:xfrm>
                <a:off x="1824" y="1224"/>
                <a:ext cx="1872" cy="224"/>
              </a:xfrm>
              <a:prstGeom prst="ellipse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" name="AutoShape 26"/>
            <p:cNvSpPr>
              <a:spLocks noChangeArrowheads="1"/>
            </p:cNvSpPr>
            <p:nvPr/>
          </p:nvSpPr>
          <p:spPr bwMode="auto">
            <a:xfrm>
              <a:off x="2688" y="912"/>
              <a:ext cx="144" cy="480"/>
            </a:xfrm>
            <a:prstGeom prst="can">
              <a:avLst>
                <a:gd name="adj" fmla="val 40278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H="1">
              <a:off x="3360" y="960"/>
              <a:ext cx="624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 flipH="1">
              <a:off x="3600" y="960"/>
              <a:ext cx="384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29"/>
            <p:cNvSpPr txBox="1">
              <a:spLocks noChangeArrowheads="1"/>
            </p:cNvSpPr>
            <p:nvPr/>
          </p:nvSpPr>
          <p:spPr bwMode="auto">
            <a:xfrm>
              <a:off x="3980" y="819"/>
              <a:ext cx="5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>
                  <a:latin typeface="+mn-lt"/>
                </a:rPr>
                <a:t>Tracks</a:t>
              </a:r>
            </a:p>
          </p:txBody>
        </p:sp>
      </p:grpSp>
      <p:grpSp>
        <p:nvGrpSpPr>
          <p:cNvPr id="31" name="Group 66"/>
          <p:cNvGrpSpPr>
            <a:grpSpLocks/>
          </p:cNvGrpSpPr>
          <p:nvPr/>
        </p:nvGrpSpPr>
        <p:grpSpPr bwMode="auto">
          <a:xfrm>
            <a:off x="609600" y="1543038"/>
            <a:ext cx="2681288" cy="4035425"/>
            <a:chOff x="384" y="1296"/>
            <a:chExt cx="1689" cy="2542"/>
          </a:xfrm>
        </p:grpSpPr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960" y="3024"/>
              <a:ext cx="528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960" y="1872"/>
              <a:ext cx="528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960" y="1440"/>
              <a:ext cx="528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960" y="1296"/>
              <a:ext cx="0" cy="216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960" y="1728"/>
              <a:ext cx="1056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960" y="2880"/>
              <a:ext cx="1056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72" y="1728"/>
              <a:ext cx="144" cy="48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accent4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872" y="2880"/>
              <a:ext cx="144" cy="48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accent4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960" y="1296"/>
              <a:ext cx="1056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1872" y="1296"/>
              <a:ext cx="144" cy="48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accent4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768" y="3552"/>
              <a:ext cx="38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Box 42"/>
            <p:cNvSpPr txBox="1">
              <a:spLocks noChangeArrowheads="1"/>
            </p:cNvSpPr>
            <p:nvPr/>
          </p:nvSpPr>
          <p:spPr bwMode="auto">
            <a:xfrm>
              <a:off x="384" y="3586"/>
              <a:ext cx="11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>
                  <a:latin typeface="+mn-lt"/>
                </a:rPr>
                <a:t>Arm movement</a:t>
              </a:r>
            </a:p>
          </p:txBody>
        </p:sp>
        <p:sp>
          <p:nvSpPr>
            <p:cNvPr id="44" name="Text Box 43"/>
            <p:cNvSpPr txBox="1">
              <a:spLocks noChangeArrowheads="1"/>
            </p:cNvSpPr>
            <p:nvPr/>
          </p:nvSpPr>
          <p:spPr bwMode="auto">
            <a:xfrm>
              <a:off x="912" y="2633"/>
              <a:ext cx="7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>
                  <a:latin typeface="+mn-lt"/>
                </a:rPr>
                <a:t>Disk arm</a:t>
              </a:r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>
              <a:off x="1488" y="3024"/>
              <a:ext cx="528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872" y="2976"/>
              <a:ext cx="144" cy="48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  <a:prstDash val="sysDot"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>
              <a:off x="1775" y="2592"/>
              <a:ext cx="137" cy="32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Box 47"/>
            <p:cNvSpPr txBox="1">
              <a:spLocks noChangeArrowheads="1"/>
            </p:cNvSpPr>
            <p:nvPr/>
          </p:nvSpPr>
          <p:spPr bwMode="auto">
            <a:xfrm>
              <a:off x="1296" y="2387"/>
              <a:ext cx="77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>
                  <a:latin typeface="+mn-lt"/>
                </a:rPr>
                <a:t>Disk head</a:t>
              </a:r>
            </a:p>
          </p:txBody>
        </p:sp>
      </p:grpSp>
      <p:grpSp>
        <p:nvGrpSpPr>
          <p:cNvPr id="57" name="Group 68"/>
          <p:cNvGrpSpPr>
            <a:grpSpLocks/>
          </p:cNvGrpSpPr>
          <p:nvPr/>
        </p:nvGrpSpPr>
        <p:grpSpPr bwMode="auto">
          <a:xfrm>
            <a:off x="1447800" y="4954572"/>
            <a:ext cx="7472363" cy="741362"/>
            <a:chOff x="912" y="3517"/>
            <a:chExt cx="4707" cy="467"/>
          </a:xfrm>
        </p:grpSpPr>
        <p:sp>
          <p:nvSpPr>
            <p:cNvPr id="58" name="Text Box 57"/>
            <p:cNvSpPr txBox="1">
              <a:spLocks noChangeArrowheads="1"/>
            </p:cNvSpPr>
            <p:nvPr/>
          </p:nvSpPr>
          <p:spPr bwMode="auto">
            <a:xfrm>
              <a:off x="3493" y="3517"/>
              <a:ext cx="21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>
                  <a:latin typeface="+mn-lt"/>
                </a:rPr>
                <a:t>“Moving parts” are slow</a:t>
              </a:r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 flipV="1">
              <a:off x="912" y="3840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 flipV="1">
              <a:off x="2736" y="3840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912" y="3984"/>
              <a:ext cx="336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>
              <a:off x="4272" y="3840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96FC0C84-569B-9643-8FD9-E0F05315E73D}"/>
              </a:ext>
            </a:extLst>
          </p:cNvPr>
          <p:cNvSpPr txBox="1"/>
          <p:nvPr/>
        </p:nvSpPr>
        <p:spPr>
          <a:xfrm>
            <a:off x="-76200" y="49407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Why Random Reads Are Slow on Disks?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4B77E3A-71BC-2442-8ADC-BB33971EA29C}"/>
              </a:ext>
            </a:extLst>
          </p:cNvPr>
          <p:cNvCxnSpPr/>
          <p:nvPr/>
        </p:nvCxnSpPr>
        <p:spPr>
          <a:xfrm>
            <a:off x="0" y="80175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BBE8F263-B535-2444-906B-4A1A6F4E73A5}"/>
              </a:ext>
            </a:extLst>
          </p:cNvPr>
          <p:cNvSpPr/>
          <p:nvPr/>
        </p:nvSpPr>
        <p:spPr>
          <a:xfrm>
            <a:off x="424458" y="5845530"/>
            <a:ext cx="841255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Time To Read X bytes: Seek time + rotational delay + transfer time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BCFB8F7-1E2C-2B44-BA1D-1CA79328F982}"/>
              </a:ext>
            </a:extLst>
          </p:cNvPr>
          <p:cNvSpPr/>
          <p:nvPr/>
        </p:nvSpPr>
        <p:spPr>
          <a:xfrm>
            <a:off x="3319465" y="5833330"/>
            <a:ext cx="1281111" cy="430887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EF280AEE-A24E-134D-8F55-4FC884B3D498}"/>
              </a:ext>
            </a:extLst>
          </p:cNvPr>
          <p:cNvSpPr/>
          <p:nvPr/>
        </p:nvSpPr>
        <p:spPr>
          <a:xfrm>
            <a:off x="4915103" y="5876908"/>
            <a:ext cx="1994783" cy="39950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6352354-FEF7-3E41-BB6F-8BE742314DB9}"/>
              </a:ext>
            </a:extLst>
          </p:cNvPr>
          <p:cNvSpPr/>
          <p:nvPr/>
        </p:nvSpPr>
        <p:spPr>
          <a:xfrm>
            <a:off x="3954396" y="6440476"/>
            <a:ext cx="18261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~4-5ms each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7276B74-F22E-1B41-8B6D-4973C9988B36}"/>
              </a:ext>
            </a:extLst>
          </p:cNvPr>
          <p:cNvSpPr/>
          <p:nvPr/>
        </p:nvSpPr>
        <p:spPr>
          <a:xfrm>
            <a:off x="7048982" y="6440475"/>
            <a:ext cx="209223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1MB in ~3-4ms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07B2E93-1815-4147-85A5-831925F1632E}"/>
              </a:ext>
            </a:extLst>
          </p:cNvPr>
          <p:cNvSpPr/>
          <p:nvPr/>
        </p:nvSpPr>
        <p:spPr>
          <a:xfrm>
            <a:off x="7140574" y="5859806"/>
            <a:ext cx="1682155" cy="39950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91B0322-B44F-1A42-8327-D1A11BBAA9E8}"/>
              </a:ext>
            </a:extLst>
          </p:cNvPr>
          <p:cNvCxnSpPr>
            <a:cxnSpLocks/>
            <a:stCxn id="69" idx="0"/>
            <a:endCxn id="68" idx="2"/>
          </p:cNvCxnSpPr>
          <p:nvPr/>
        </p:nvCxnSpPr>
        <p:spPr>
          <a:xfrm flipV="1">
            <a:off x="4867467" y="6276417"/>
            <a:ext cx="1045028" cy="16405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B1AF97E-4DD8-6145-8A1A-450FB7C99B06}"/>
              </a:ext>
            </a:extLst>
          </p:cNvPr>
          <p:cNvCxnSpPr>
            <a:cxnSpLocks/>
            <a:stCxn id="69" idx="0"/>
            <a:endCxn id="67" idx="2"/>
          </p:cNvCxnSpPr>
          <p:nvPr/>
        </p:nvCxnSpPr>
        <p:spPr>
          <a:xfrm flipH="1" flipV="1">
            <a:off x="3960021" y="6264217"/>
            <a:ext cx="907446" cy="17625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AD9E49E-9B45-2B41-9A62-500C6E1E63B5}"/>
              </a:ext>
            </a:extLst>
          </p:cNvPr>
          <p:cNvCxnSpPr>
            <a:cxnSpLocks/>
            <a:stCxn id="70" idx="0"/>
            <a:endCxn id="71" idx="2"/>
          </p:cNvCxnSpPr>
          <p:nvPr/>
        </p:nvCxnSpPr>
        <p:spPr>
          <a:xfrm flipH="1" flipV="1">
            <a:off x="7981652" y="6259315"/>
            <a:ext cx="113450" cy="1811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5854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6" grpId="1"/>
      <p:bldP spid="67" grpId="0" animBg="1"/>
      <p:bldP spid="68" grpId="0" animBg="1"/>
      <p:bldP spid="69" grpId="0"/>
      <p:bldP spid="70" grpId="0"/>
      <p:bldP spid="7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38</a:t>
            </a:fld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FC0C84-569B-9643-8FD9-E0F05315E73D}"/>
              </a:ext>
            </a:extLst>
          </p:cNvPr>
          <p:cNvSpPr txBox="1"/>
          <p:nvPr/>
        </p:nvSpPr>
        <p:spPr>
          <a:xfrm>
            <a:off x="-76200" y="49407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Why Random Reads Are Slow for RAM?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4B77E3A-71BC-2442-8ADC-BB33971EA29C}"/>
              </a:ext>
            </a:extLst>
          </p:cNvPr>
          <p:cNvCxnSpPr/>
          <p:nvPr/>
        </p:nvCxnSpPr>
        <p:spPr>
          <a:xfrm>
            <a:off x="0" y="80175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ext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F21272BB-A7DC-FF4B-AEBA-F7B5423AE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51" y="953948"/>
            <a:ext cx="4394449" cy="5683304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89FD2C97-C222-9F45-932E-36C139B285EC}"/>
              </a:ext>
            </a:extLst>
          </p:cNvPr>
          <p:cNvSpPr txBox="1"/>
          <p:nvPr/>
        </p:nvSpPr>
        <p:spPr>
          <a:xfrm>
            <a:off x="4167266" y="4410958"/>
            <a:ext cx="4976734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Fundamentally because of better CPU cache utilization, i.e., L1/L2 caches in modern CPUs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384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2295"/>
            <a:ext cx="9144000" cy="4710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AC217F-B755-5A48-8CE2-7E847D05D95A}"/>
              </a:ext>
            </a:extLst>
          </p:cNvPr>
          <p:cNvSpPr txBox="1"/>
          <p:nvPr/>
        </p:nvSpPr>
        <p:spPr>
          <a:xfrm>
            <a:off x="-1" y="-54541"/>
            <a:ext cx="9143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Latency Numbers Every Programmer Should Know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C1CBE0-873E-FB45-B2D3-A1D95E31884B}"/>
              </a:ext>
            </a:extLst>
          </p:cNvPr>
          <p:cNvCxnSpPr/>
          <p:nvPr/>
        </p:nvCxnSpPr>
        <p:spPr>
          <a:xfrm>
            <a:off x="-1" y="114578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551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Q2: Potential Goals of Physical Data Design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4152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Minimize I/O!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 files to pack records/columns into few number of pages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Keep related data close in storage devices!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Cache pages of data that is likely to be used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Maximize sequential reads from storage devices!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Simplicity/speed of accessing values</a:t>
            </a:r>
          </a:p>
          <a:p>
            <a:pPr marL="971550" lvl="1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E.g., don’t compress using a complex compression scheme</a:t>
            </a:r>
          </a:p>
          <a:p>
            <a:pPr algn="ctr">
              <a:lnSpc>
                <a:spcPct val="150000"/>
              </a:lnSpc>
            </a:pP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These are general guidelines and not necessarily independent.</a:t>
            </a:r>
          </a:p>
        </p:txBody>
      </p:sp>
    </p:spTree>
    <p:extLst>
      <p:ext uri="{BB962C8B-B14F-4D97-AF65-F5344CB8AC3E}">
        <p14:creationId xmlns:p14="http://schemas.microsoft.com/office/powerpoint/2010/main" val="255513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Q3: Common Record and Page Layouts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2906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Row-oriented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Column-oriented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Hybrid (PAX) Row &amp; Column-oriented Fixed-length Values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Designs for Variable-length Values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Designs for NULL Values</a:t>
            </a:r>
          </a:p>
        </p:txBody>
      </p:sp>
    </p:spTree>
    <p:extLst>
      <p:ext uri="{BB962C8B-B14F-4D97-AF65-F5344CB8AC3E}">
        <p14:creationId xmlns:p14="http://schemas.microsoft.com/office/powerpoint/2010/main" val="1667592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Several Simplification Assumptions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3076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field/column is of constant size</a:t>
            </a: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 compression</a:t>
            </a: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Assume files are broken into pages of size H (e.g., 4K)</a:t>
            </a: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Assume each field and entire rows of each table easily fit into a page &lt;&lt; H (e.g., fields ~10s of bytes rows 100s of bytes)</a:t>
            </a:r>
          </a:p>
          <a:p>
            <a:pPr marL="971550" lvl="1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Assume each row takes T many bytes</a:t>
            </a:r>
          </a:p>
        </p:txBody>
      </p:sp>
    </p:spTree>
    <p:extLst>
      <p:ext uri="{BB962C8B-B14F-4D97-AF65-F5344CB8AC3E}">
        <p14:creationId xmlns:p14="http://schemas.microsoft.com/office/powerpoint/2010/main" val="32304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20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High-level DBMS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Manager and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Operators/Storage Interface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Property of Storage Devices &amp; Potential Goals of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Row-oriented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383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Row-Oriented N-</a:t>
            </a:r>
            <a:r>
              <a:rPr 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Storage Model (NSM)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page contains ~ H/T many rows and all fields of each row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1C75C-1D2F-1F4F-A4CD-94782ED20BCF}"/>
              </a:ext>
            </a:extLst>
          </p:cNvPr>
          <p:cNvSpPr/>
          <p:nvPr/>
        </p:nvSpPr>
        <p:spPr>
          <a:xfrm>
            <a:off x="1367852" y="2427333"/>
            <a:ext cx="6434623" cy="20196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82560C30-2DB3-7A46-A369-FA7EF6A56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385352"/>
              </p:ext>
            </p:extLst>
          </p:nvPr>
        </p:nvGraphicFramePr>
        <p:xfrm>
          <a:off x="1068769" y="1422555"/>
          <a:ext cx="7006463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699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288159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281260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r>
                        <a:rPr lang="en-US" sz="1700" dirty="0"/>
                        <a:t> : int64 (8 bytes)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name : string (60 chars)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isGoldMember</a:t>
                      </a:r>
                      <a:r>
                        <a:rPr lang="en-US" sz="1700" dirty="0"/>
                        <a:t> : bool (1 byte)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EAB8B42F-3C02-6347-8D13-86E33082C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046810"/>
              </p:ext>
            </p:extLst>
          </p:nvPr>
        </p:nvGraphicFramePr>
        <p:xfrm>
          <a:off x="1373679" y="2442060"/>
          <a:ext cx="321439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3120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Alice Munro\0\0\0….\0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10" name="Table 21">
            <a:extLst>
              <a:ext uri="{FF2B5EF4-FFF2-40B4-BE49-F238E27FC236}">
                <a16:creationId xmlns:a16="http://schemas.microsoft.com/office/drawing/2014/main" id="{06283AFD-2076-6846-987D-A25A75E1C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549218"/>
              </p:ext>
            </p:extLst>
          </p:nvPr>
        </p:nvGraphicFramePr>
        <p:xfrm>
          <a:off x="4588077" y="2442060"/>
          <a:ext cx="321439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3120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Carl Sagan\0\0\0…\0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11" name="Table 21">
            <a:extLst>
              <a:ext uri="{FF2B5EF4-FFF2-40B4-BE49-F238E27FC236}">
                <a16:creationId xmlns:a16="http://schemas.microsoft.com/office/drawing/2014/main" id="{8533D873-F2D1-7B46-ADA7-E84DDD235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831"/>
              </p:ext>
            </p:extLst>
          </p:nvPr>
        </p:nvGraphicFramePr>
        <p:xfrm>
          <a:off x="1373679" y="2827627"/>
          <a:ext cx="321439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3120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12" name="Table 21">
            <a:extLst>
              <a:ext uri="{FF2B5EF4-FFF2-40B4-BE49-F238E27FC236}">
                <a16:creationId xmlns:a16="http://schemas.microsoft.com/office/drawing/2014/main" id="{23FE03D2-B5FD-414B-9371-DA2245D50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514215"/>
              </p:ext>
            </p:extLst>
          </p:nvPr>
        </p:nvGraphicFramePr>
        <p:xfrm>
          <a:off x="4593904" y="2827627"/>
          <a:ext cx="321439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3120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9B41968-45D1-934C-B41A-F632B366C6B4}"/>
              </a:ext>
            </a:extLst>
          </p:cNvPr>
          <p:cNvSpPr txBox="1"/>
          <p:nvPr/>
        </p:nvSpPr>
        <p:spPr>
          <a:xfrm>
            <a:off x="0" y="4544764"/>
            <a:ext cx="9144000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Note: because records are fixed length, can read any field with simple arithmetic (*not a consequence of NSM*)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5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records name field at offsets: 4*(8+60+1) + 8 = 284 to 344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70A130-CED7-424A-A4EF-28F6C6A7F2DB}"/>
              </a:ext>
            </a:extLst>
          </p:cNvPr>
          <p:cNvSpPr txBox="1"/>
          <p:nvPr/>
        </p:nvSpPr>
        <p:spPr>
          <a:xfrm>
            <a:off x="1341525" y="3868990"/>
            <a:ext cx="6434623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(Example Disk Page, e.g., in file 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customer.mkd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290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Pros/Cons of NSM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41968-45D1-934C-B41A-F632B366C6B4}"/>
              </a:ext>
            </a:extLst>
          </p:cNvPr>
          <p:cNvSpPr txBox="1"/>
          <p:nvPr/>
        </p:nvSpPr>
        <p:spPr>
          <a:xfrm>
            <a:off x="-26328" y="771622"/>
            <a:ext cx="9144000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Good for queries that access multiple or all fields of tuples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If queries access a single field, e.g., counting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numGoldMembers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“effective read size” can be small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 1/69 bytes read is useful, in columnar storage you can do 69x less I/O to do the same count.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For some workloads higher # I/O =&gt; lower (buffer) cache utilization (next slide)</a:t>
            </a:r>
          </a:p>
        </p:txBody>
      </p:sp>
    </p:spTree>
    <p:extLst>
      <p:ext uri="{BB962C8B-B14F-4D97-AF65-F5344CB8AC3E}">
        <p14:creationId xmlns:p14="http://schemas.microsoft.com/office/powerpoint/2010/main" val="190722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Buffer Manager &amp; Ex Op/Storage Interface Code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41968-45D1-934C-B41A-F632B366C6B4}"/>
              </a:ext>
            </a:extLst>
          </p:cNvPr>
          <p:cNvSpPr txBox="1"/>
          <p:nvPr/>
        </p:nvSpPr>
        <p:spPr>
          <a:xfrm>
            <a:off x="-26328" y="771622"/>
            <a:ext cx="9144000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DBMSs have a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buffer manager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(BM) component that keeps a set of file pages in memory to reduce I/O.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Goal of BM: keep pages that are likely to be accessed in memory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Implement a caching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alg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e.g., Least-Recently Used (LRU)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D0DD2610-677C-7A40-8F00-2426A77AC547}"/>
              </a:ext>
            </a:extLst>
          </p:cNvPr>
          <p:cNvSpPr/>
          <p:nvPr/>
        </p:nvSpPr>
        <p:spPr>
          <a:xfrm>
            <a:off x="7174447" y="3985268"/>
            <a:ext cx="1910331" cy="2060885"/>
          </a:xfrm>
          <a:prstGeom prst="can">
            <a:avLst>
              <a:gd name="adj" fmla="val 10876"/>
            </a:avLst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600D20F-C034-AA4B-839D-AD30D9F8C3AE}"/>
              </a:ext>
            </a:extLst>
          </p:cNvPr>
          <p:cNvGrpSpPr/>
          <p:nvPr/>
        </p:nvGrpSpPr>
        <p:grpSpPr>
          <a:xfrm>
            <a:off x="7372067" y="4409371"/>
            <a:ext cx="1545209" cy="1583303"/>
            <a:chOff x="6067184" y="5201888"/>
            <a:chExt cx="1545209" cy="15833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A928AC-0FBC-8845-890D-FFE04F65CEA8}"/>
                </a:ext>
              </a:extLst>
            </p:cNvPr>
            <p:cNvSpPr/>
            <p:nvPr/>
          </p:nvSpPr>
          <p:spPr>
            <a:xfrm>
              <a:off x="6209674" y="5284611"/>
              <a:ext cx="365760" cy="36576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EEB33F-C78C-E945-B07B-F9E550E51204}"/>
                </a:ext>
              </a:extLst>
            </p:cNvPr>
            <p:cNvSpPr/>
            <p:nvPr/>
          </p:nvSpPr>
          <p:spPr>
            <a:xfrm>
              <a:off x="6209674" y="5664440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B80C6A-0A87-EF44-BD7A-4D9DE1128F12}"/>
                </a:ext>
              </a:extLst>
            </p:cNvPr>
            <p:cNvSpPr/>
            <p:nvPr/>
          </p:nvSpPr>
          <p:spPr>
            <a:xfrm>
              <a:off x="6209674" y="6056769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P7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76EE1E-3FD7-174A-9474-4AE0F7FB6E94}"/>
                </a:ext>
              </a:extLst>
            </p:cNvPr>
            <p:cNvSpPr/>
            <p:nvPr/>
          </p:nvSpPr>
          <p:spPr>
            <a:xfrm>
              <a:off x="6626652" y="5284611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7A8091-DA76-6145-99A6-61A09123EAA4}"/>
                </a:ext>
              </a:extLst>
            </p:cNvPr>
            <p:cNvSpPr/>
            <p:nvPr/>
          </p:nvSpPr>
          <p:spPr>
            <a:xfrm>
              <a:off x="7038894" y="5284611"/>
              <a:ext cx="365760" cy="36576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FC347F-1D14-7A4D-982D-4D5574602C6F}"/>
                </a:ext>
              </a:extLst>
            </p:cNvPr>
            <p:cNvSpPr/>
            <p:nvPr/>
          </p:nvSpPr>
          <p:spPr>
            <a:xfrm>
              <a:off x="6626408" y="5664440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4ED3F77-A40D-3C4D-A81E-BE5AB1C21F97}"/>
                </a:ext>
              </a:extLst>
            </p:cNvPr>
            <p:cNvSpPr/>
            <p:nvPr/>
          </p:nvSpPr>
          <p:spPr>
            <a:xfrm>
              <a:off x="7038894" y="5664440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P6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AAC9CE-9BBE-1F4F-8F3F-161F8F610BEA}"/>
                </a:ext>
              </a:extLst>
            </p:cNvPr>
            <p:cNvSpPr/>
            <p:nvPr/>
          </p:nvSpPr>
          <p:spPr>
            <a:xfrm>
              <a:off x="6620918" y="6056769"/>
              <a:ext cx="365760" cy="36576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P8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782A8D-EDFB-2D41-99A7-77A741C2911A}"/>
                </a:ext>
              </a:extLst>
            </p:cNvPr>
            <p:cNvSpPr/>
            <p:nvPr/>
          </p:nvSpPr>
          <p:spPr>
            <a:xfrm>
              <a:off x="7038894" y="6056769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P9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447183-831F-BA4A-B68E-5EA3952D086B}"/>
                </a:ext>
              </a:extLst>
            </p:cNvPr>
            <p:cNvSpPr txBox="1"/>
            <p:nvPr/>
          </p:nvSpPr>
          <p:spPr>
            <a:xfrm>
              <a:off x="6067184" y="6415859"/>
              <a:ext cx="1473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order.mkd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FCB7C8-2197-AC45-A410-D36A054AEBDA}"/>
                </a:ext>
              </a:extLst>
            </p:cNvPr>
            <p:cNvSpPr/>
            <p:nvPr/>
          </p:nvSpPr>
          <p:spPr>
            <a:xfrm>
              <a:off x="6076816" y="5201888"/>
              <a:ext cx="1535577" cy="15018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F002BD1-E711-394A-9C47-24859342EA55}"/>
              </a:ext>
            </a:extLst>
          </p:cNvPr>
          <p:cNvSpPr txBox="1"/>
          <p:nvPr/>
        </p:nvSpPr>
        <p:spPr>
          <a:xfrm>
            <a:off x="6324187" y="4954750"/>
            <a:ext cx="98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28F60A-4D87-2C47-88C4-08F028F1DD06}"/>
              </a:ext>
            </a:extLst>
          </p:cNvPr>
          <p:cNvSpPr txBox="1"/>
          <p:nvPr/>
        </p:nvSpPr>
        <p:spPr>
          <a:xfrm>
            <a:off x="6514717" y="3398343"/>
            <a:ext cx="693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BBC67E-9DEC-6246-9B39-B9740251983B}"/>
              </a:ext>
            </a:extLst>
          </p:cNvPr>
          <p:cNvSpPr txBox="1"/>
          <p:nvPr/>
        </p:nvSpPr>
        <p:spPr>
          <a:xfrm>
            <a:off x="6907862" y="2910060"/>
            <a:ext cx="214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Buffer Pool/Frames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5DC34B-3AC1-8845-9E9C-CB3462E869FE}"/>
              </a:ext>
            </a:extLst>
          </p:cNvPr>
          <p:cNvSpPr/>
          <p:nvPr/>
        </p:nvSpPr>
        <p:spPr>
          <a:xfrm>
            <a:off x="7262905" y="3256880"/>
            <a:ext cx="1535577" cy="57479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3BD699-5FB4-7849-BF21-CE431534B73B}"/>
              </a:ext>
            </a:extLst>
          </p:cNvPr>
          <p:cNvSpPr/>
          <p:nvPr/>
        </p:nvSpPr>
        <p:spPr>
          <a:xfrm>
            <a:off x="7401221" y="3352807"/>
            <a:ext cx="365760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AE52C9-216C-9644-88A8-877711E367E7}"/>
              </a:ext>
            </a:extLst>
          </p:cNvPr>
          <p:cNvSpPr/>
          <p:nvPr/>
        </p:nvSpPr>
        <p:spPr>
          <a:xfrm>
            <a:off x="7815357" y="3352807"/>
            <a:ext cx="365760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0B7F4E-185F-204E-A320-5F4D7218EDB7}"/>
              </a:ext>
            </a:extLst>
          </p:cNvPr>
          <p:cNvSpPr/>
          <p:nvPr/>
        </p:nvSpPr>
        <p:spPr>
          <a:xfrm>
            <a:off x="8227929" y="3356437"/>
            <a:ext cx="365760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82ED43-BF27-D042-B296-B041D7CB267F}"/>
              </a:ext>
            </a:extLst>
          </p:cNvPr>
          <p:cNvSpPr/>
          <p:nvPr/>
        </p:nvSpPr>
        <p:spPr>
          <a:xfrm>
            <a:off x="47078" y="2832507"/>
            <a:ext cx="649153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DatabaseFileHandle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filename; // e.g.,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order.mkd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tupleLen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// e.g., 69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BufferManager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bm;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readRecord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(Tuple*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outTuple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pageIdx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offset)=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calculatePageInfo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Frame* frame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bm.pinPage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pageIdx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memcpy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outTuple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frame&gt;bytes[offset],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tupleLen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bm.unpin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(frame); 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83DE5E-CFCC-5A4A-81DF-B07965D146F4}"/>
              </a:ext>
            </a:extLst>
          </p:cNvPr>
          <p:cNvSpPr txBox="1"/>
          <p:nvPr/>
        </p:nvSpPr>
        <p:spPr>
          <a:xfrm>
            <a:off x="-29286" y="5268402"/>
            <a:ext cx="9114064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Pin: put disk page into buffer pool until further notice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possibly evicts an existing page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Unpin: can now remove the page from buffer pool if needed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52024-ABC6-AC49-BE07-E7FE17CD2FBE}"/>
              </a:ext>
            </a:extLst>
          </p:cNvPr>
          <p:cNvSpPr txBox="1"/>
          <p:nvPr/>
        </p:nvSpPr>
        <p:spPr>
          <a:xfrm>
            <a:off x="7121396" y="4104016"/>
            <a:ext cx="1910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 File/Pages</a:t>
            </a:r>
          </a:p>
        </p:txBody>
      </p:sp>
    </p:spTree>
    <p:extLst>
      <p:ext uri="{BB962C8B-B14F-4D97-AF65-F5344CB8AC3E}">
        <p14:creationId xmlns:p14="http://schemas.microsoft.com/office/powerpoint/2010/main" val="272212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/>
      <p:bldP spid="20" grpId="0"/>
      <p:bldP spid="21" grpId="0"/>
      <p:bldP spid="22" grpId="0" animBg="1"/>
      <p:bldP spid="25" grpId="0" animBg="1"/>
      <p:bldP spid="26" grpId="0" animBg="1"/>
      <p:bldP spid="27" grpId="0" animBg="1"/>
      <p:bldP spid="2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Column-Oriented Storage Design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One file for each field of table (~H/field-size rows worth of data):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1C75C-1D2F-1F4F-A4CD-94782ED20BCF}"/>
              </a:ext>
            </a:extLst>
          </p:cNvPr>
          <p:cNvSpPr/>
          <p:nvPr/>
        </p:nvSpPr>
        <p:spPr>
          <a:xfrm>
            <a:off x="1046743" y="1557906"/>
            <a:ext cx="2248646" cy="16762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EAB8B42F-3C02-6347-8D13-86E33082C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27645"/>
              </p:ext>
            </p:extLst>
          </p:nvPr>
        </p:nvGraphicFramePr>
        <p:xfrm>
          <a:off x="1052569" y="1572633"/>
          <a:ext cx="22428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670A130-CED7-424A-A4EF-28F6C6A7F2DB}"/>
              </a:ext>
            </a:extLst>
          </p:cNvPr>
          <p:cNvSpPr txBox="1"/>
          <p:nvPr/>
        </p:nvSpPr>
        <p:spPr>
          <a:xfrm>
            <a:off x="1017930" y="2696738"/>
            <a:ext cx="2242821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cID.mkd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21">
            <a:extLst>
              <a:ext uri="{FF2B5EF4-FFF2-40B4-BE49-F238E27FC236}">
                <a16:creationId xmlns:a16="http://schemas.microsoft.com/office/drawing/2014/main" id="{55AB9E92-16DE-E743-AF4F-320C1A560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982893"/>
              </p:ext>
            </p:extLst>
          </p:nvPr>
        </p:nvGraphicFramePr>
        <p:xfrm>
          <a:off x="1043405" y="1915827"/>
          <a:ext cx="22428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B3727B1-ABC8-EE4A-A98C-618DEB0A13D9}"/>
              </a:ext>
            </a:extLst>
          </p:cNvPr>
          <p:cNvSpPr/>
          <p:nvPr/>
        </p:nvSpPr>
        <p:spPr>
          <a:xfrm>
            <a:off x="3597569" y="1557906"/>
            <a:ext cx="2248646" cy="16762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B0A42-FC09-6E4A-B55B-21198A166B86}"/>
              </a:ext>
            </a:extLst>
          </p:cNvPr>
          <p:cNvSpPr txBox="1"/>
          <p:nvPr/>
        </p:nvSpPr>
        <p:spPr>
          <a:xfrm>
            <a:off x="3574581" y="2696739"/>
            <a:ext cx="2242821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name.mkd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Table 21">
            <a:extLst>
              <a:ext uri="{FF2B5EF4-FFF2-40B4-BE49-F238E27FC236}">
                <a16:creationId xmlns:a16="http://schemas.microsoft.com/office/drawing/2014/main" id="{DBB24C7B-2E61-6648-BD43-8ED7E6FB0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02499"/>
              </p:ext>
            </p:extLst>
          </p:nvPr>
        </p:nvGraphicFramePr>
        <p:xfrm>
          <a:off x="3612559" y="1964708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Carl Sagan\0\0\0….\0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CB2B5CE1-02D8-B64D-B364-E7A4560F9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789722"/>
              </p:ext>
            </p:extLst>
          </p:nvPr>
        </p:nvGraphicFramePr>
        <p:xfrm>
          <a:off x="3613646" y="1572633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793D3D3-084E-DD43-92E2-D721BDD53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647010"/>
              </p:ext>
            </p:extLst>
          </p:nvPr>
        </p:nvGraphicFramePr>
        <p:xfrm>
          <a:off x="3612559" y="2355879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90853AB7-D325-B140-A2C2-7BB175065F43}"/>
              </a:ext>
            </a:extLst>
          </p:cNvPr>
          <p:cNvSpPr/>
          <p:nvPr/>
        </p:nvSpPr>
        <p:spPr>
          <a:xfrm>
            <a:off x="6096594" y="1557906"/>
            <a:ext cx="2029476" cy="16762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Table 21">
            <a:extLst>
              <a:ext uri="{FF2B5EF4-FFF2-40B4-BE49-F238E27FC236}">
                <a16:creationId xmlns:a16="http://schemas.microsoft.com/office/drawing/2014/main" id="{86C9D793-25C0-DF43-8F86-DA4415FEB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472975"/>
              </p:ext>
            </p:extLst>
          </p:nvPr>
        </p:nvGraphicFramePr>
        <p:xfrm>
          <a:off x="6162380" y="1572633"/>
          <a:ext cx="192797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21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20577068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789978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92472CD-63F9-E841-8184-941F3F977D4D}"/>
              </a:ext>
            </a:extLst>
          </p:cNvPr>
          <p:cNvSpPr txBox="1"/>
          <p:nvPr/>
        </p:nvSpPr>
        <p:spPr>
          <a:xfrm>
            <a:off x="6096593" y="2769839"/>
            <a:ext cx="2133600" cy="436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700" i="1" dirty="0" err="1">
                <a:latin typeface="Arial" panose="020B0604020202020204" pitchFamily="34" charset="0"/>
                <a:cs typeface="Arial" panose="020B0604020202020204" pitchFamily="34" charset="0"/>
              </a:rPr>
              <a:t>isGoldMember.mkd</a:t>
            </a:r>
            <a:endParaRPr lang="en-US" sz="1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2" name="Table 21">
            <a:extLst>
              <a:ext uri="{FF2B5EF4-FFF2-40B4-BE49-F238E27FC236}">
                <a16:creationId xmlns:a16="http://schemas.microsoft.com/office/drawing/2014/main" id="{52F1DA37-EFE7-6745-8F20-0FCDAAA8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84335"/>
              </p:ext>
            </p:extLst>
          </p:nvPr>
        </p:nvGraphicFramePr>
        <p:xfrm>
          <a:off x="6156554" y="1964708"/>
          <a:ext cx="192797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21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20577068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789978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F892F76-241B-1A4A-A51E-724AF43CC667}"/>
              </a:ext>
            </a:extLst>
          </p:cNvPr>
          <p:cNvSpPr txBox="1"/>
          <p:nvPr/>
        </p:nvSpPr>
        <p:spPr>
          <a:xfrm>
            <a:off x="16078" y="3223227"/>
            <a:ext cx="9144000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Good for queries that access few columns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reduce I/O significantly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Better sequential reads when pages are in memory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Easier to apply compression because each page is very “homogenous”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Bad for queries that access all columns (1 I/O in row-oriented storage could be done with # cols I/O).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D355F0-DC0A-8548-8168-7269EA9A4392}"/>
              </a:ext>
            </a:extLst>
          </p:cNvPr>
          <p:cNvSpPr/>
          <p:nvPr/>
        </p:nvSpPr>
        <p:spPr>
          <a:xfrm>
            <a:off x="6663642" y="3343073"/>
            <a:ext cx="25220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count(*)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customer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isGoldMember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80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  <p:bldP spid="16" grpId="0" animBg="1"/>
      <p:bldP spid="18" grpId="0"/>
      <p:bldP spid="28" grpId="0" animBg="1"/>
      <p:bldP spid="30" grpId="0"/>
      <p:bldP spid="3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PAX Hybrid Storage Design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48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PAX: Partition Attributes Across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Ailamaki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et al. VLDB 2001)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 fields of a row in the same page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pages internally organized by columns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46E4C8-E3AA-D84C-82B8-79EDE89BE60B}"/>
              </a:ext>
            </a:extLst>
          </p:cNvPr>
          <p:cNvSpPr/>
          <p:nvPr/>
        </p:nvSpPr>
        <p:spPr>
          <a:xfrm>
            <a:off x="781098" y="3037866"/>
            <a:ext cx="7044105" cy="2128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2064CB-8EEE-6B44-A77A-D8C4E3A69DD0}"/>
              </a:ext>
            </a:extLst>
          </p:cNvPr>
          <p:cNvSpPr/>
          <p:nvPr/>
        </p:nvSpPr>
        <p:spPr>
          <a:xfrm>
            <a:off x="3298254" y="4797069"/>
            <a:ext cx="1625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customer.mkd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1919B-7169-9B48-8472-C432C5D7B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88" y="1336024"/>
            <a:ext cx="1282700" cy="1574800"/>
          </a:xfrm>
          <a:prstGeom prst="rect">
            <a:avLst/>
          </a:prstGeom>
        </p:spPr>
      </p:pic>
      <p:pic>
        <p:nvPicPr>
          <p:cNvPr id="8" name="Picture 7" descr="A black and white photo of a document&#10;&#10;Description automatically generated with low confidence">
            <a:hlinkClick r:id="rId4"/>
            <a:extLst>
              <a:ext uri="{FF2B5EF4-FFF2-40B4-BE49-F238E27FC236}">
                <a16:creationId xmlns:a16="http://schemas.microsoft.com/office/drawing/2014/main" id="{F5A435BD-4E64-D142-B25E-A2E8D3067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100" y="1323176"/>
            <a:ext cx="1426104" cy="1626433"/>
          </a:xfrm>
          <a:prstGeom prst="rect">
            <a:avLst/>
          </a:prstGeom>
        </p:spPr>
      </p:pic>
      <p:graphicFrame>
        <p:nvGraphicFramePr>
          <p:cNvPr id="25" name="Table 21">
            <a:extLst>
              <a:ext uri="{FF2B5EF4-FFF2-40B4-BE49-F238E27FC236}">
                <a16:creationId xmlns:a16="http://schemas.microsoft.com/office/drawing/2014/main" id="{646C58E2-3DF5-F747-AFA8-7EDB3AB7E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894749"/>
              </p:ext>
            </p:extLst>
          </p:nvPr>
        </p:nvGraphicFramePr>
        <p:xfrm>
          <a:off x="806868" y="3037867"/>
          <a:ext cx="306884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639124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  <a:gridCol w="373803">
                  <a:extLst>
                    <a:ext uri="{9D8B030D-6E8A-4147-A177-3AD203B41FA5}">
                      <a16:colId xmlns:a16="http://schemas.microsoft.com/office/drawing/2014/main" val="2346353247"/>
                    </a:ext>
                  </a:extLst>
                </a:gridCol>
                <a:gridCol w="373803">
                  <a:extLst>
                    <a:ext uri="{9D8B030D-6E8A-4147-A177-3AD203B41FA5}">
                      <a16:colId xmlns:a16="http://schemas.microsoft.com/office/drawing/2014/main" val="2599246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6" name="Table 21">
            <a:extLst>
              <a:ext uri="{FF2B5EF4-FFF2-40B4-BE49-F238E27FC236}">
                <a16:creationId xmlns:a16="http://schemas.microsoft.com/office/drawing/2014/main" id="{2EB4347D-6081-D54B-8D3F-D5C34C8C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959199"/>
              </p:ext>
            </p:extLst>
          </p:nvPr>
        </p:nvGraphicFramePr>
        <p:xfrm>
          <a:off x="3000932" y="3698737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Carl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7" name="Table 21">
            <a:extLst>
              <a:ext uri="{FF2B5EF4-FFF2-40B4-BE49-F238E27FC236}">
                <a16:creationId xmlns:a16="http://schemas.microsoft.com/office/drawing/2014/main" id="{76BA9A08-E5B4-DA4A-B380-C344C3A7F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22753"/>
              </p:ext>
            </p:extLst>
          </p:nvPr>
        </p:nvGraphicFramePr>
        <p:xfrm>
          <a:off x="782186" y="3695117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6E6F69D-F4DA-1044-9988-9CD20B229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174039"/>
              </p:ext>
            </p:extLst>
          </p:nvPr>
        </p:nvGraphicFramePr>
        <p:xfrm>
          <a:off x="5220765" y="3702357"/>
          <a:ext cx="26011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81317">
                  <a:extLst>
                    <a:ext uri="{9D8B030D-6E8A-4147-A177-3AD203B41FA5}">
                      <a16:colId xmlns:a16="http://schemas.microsoft.com/office/drawing/2014/main" val="25161014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34" name="Table 21">
            <a:extLst>
              <a:ext uri="{FF2B5EF4-FFF2-40B4-BE49-F238E27FC236}">
                <a16:creationId xmlns:a16="http://schemas.microsoft.com/office/drawing/2014/main" id="{A3D83CC3-A9E6-AE45-BE5E-5E6FE3646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93623"/>
              </p:ext>
            </p:extLst>
          </p:nvPr>
        </p:nvGraphicFramePr>
        <p:xfrm>
          <a:off x="781098" y="4385338"/>
          <a:ext cx="2896549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869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450869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450869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  <a:gridCol w="300578">
                  <a:extLst>
                    <a:ext uri="{9D8B030D-6E8A-4147-A177-3AD203B41FA5}">
                      <a16:colId xmlns:a16="http://schemas.microsoft.com/office/drawing/2014/main" val="2346353247"/>
                    </a:ext>
                  </a:extLst>
                </a:gridCol>
                <a:gridCol w="300578">
                  <a:extLst>
                    <a:ext uri="{9D8B030D-6E8A-4147-A177-3AD203B41FA5}">
                      <a16:colId xmlns:a16="http://schemas.microsoft.com/office/drawing/2014/main" val="2599246833"/>
                    </a:ext>
                  </a:extLst>
                </a:gridCol>
                <a:gridCol w="300578">
                  <a:extLst>
                    <a:ext uri="{9D8B030D-6E8A-4147-A177-3AD203B41FA5}">
                      <a16:colId xmlns:a16="http://schemas.microsoft.com/office/drawing/2014/main" val="789191821"/>
                    </a:ext>
                  </a:extLst>
                </a:gridCol>
                <a:gridCol w="300578">
                  <a:extLst>
                    <a:ext uri="{9D8B030D-6E8A-4147-A177-3AD203B41FA5}">
                      <a16:colId xmlns:a16="http://schemas.microsoft.com/office/drawing/2014/main" val="660729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828F69D-2F44-BE42-9BEE-6D54457CC47D}"/>
              </a:ext>
            </a:extLst>
          </p:cNvPr>
          <p:cNvSpPr txBox="1"/>
          <p:nvPr/>
        </p:nvSpPr>
        <p:spPr>
          <a:xfrm>
            <a:off x="0" y="5190235"/>
            <a:ext cx="9144000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Better sequential reads for queries that read a single column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Gives the advantage of having all fields of a row in the same page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still more I/O than pure columnar storage for some queries</a:t>
            </a:r>
          </a:p>
        </p:txBody>
      </p:sp>
    </p:spTree>
    <p:extLst>
      <p:ext uri="{BB962C8B-B14F-4D97-AF65-F5344CB8AC3E}">
        <p14:creationId xmlns:p14="http://schemas.microsoft.com/office/powerpoint/2010/main" val="272327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 animBg="1"/>
      <p:bldP spid="4" grpId="0"/>
      <p:bldP spid="3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20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High-level DBMS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Manager and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Operators/Storage Interface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Property of Storage Devices &amp; Potential Goals of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902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Variable-length Values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50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Pages are often more complex than examples in these slides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One complexity: variable-length fields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Assume row-oriented NSM storage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Approaches to encode var-length fields, e.g., var-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strings, in pages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Delimiters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Field Offsets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Pointers to Overflow Pages</a:t>
            </a:r>
          </a:p>
        </p:txBody>
      </p:sp>
      <p:sp>
        <p:nvSpPr>
          <p:cNvPr id="3" name="Right Bracket 2">
            <a:extLst>
              <a:ext uri="{FF2B5EF4-FFF2-40B4-BE49-F238E27FC236}">
                <a16:creationId xmlns:a16="http://schemas.microsoft.com/office/drawing/2014/main" id="{95996CA0-EC3C-C546-BA14-3B26842ED4E1}"/>
              </a:ext>
            </a:extLst>
          </p:cNvPr>
          <p:cNvSpPr/>
          <p:nvPr/>
        </p:nvSpPr>
        <p:spPr>
          <a:xfrm>
            <a:off x="2533337" y="3028013"/>
            <a:ext cx="134911" cy="1094282"/>
          </a:xfrm>
          <a:prstGeom prst="rightBracket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4698A7-1ABF-9040-9E9F-58B754DA1909}"/>
              </a:ext>
            </a:extLst>
          </p:cNvPr>
          <p:cNvCxnSpPr>
            <a:cxnSpLocks/>
            <a:stCxn id="3" idx="2"/>
          </p:cNvCxnSpPr>
          <p:nvPr/>
        </p:nvCxnSpPr>
        <p:spPr>
          <a:xfrm flipV="1">
            <a:off x="2668248" y="3464566"/>
            <a:ext cx="884420" cy="11058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829232A-70DC-C64D-8FC2-996B23B22AE7}"/>
              </a:ext>
            </a:extLst>
          </p:cNvPr>
          <p:cNvSpPr/>
          <p:nvPr/>
        </p:nvSpPr>
        <p:spPr>
          <a:xfrm>
            <a:off x="3503618" y="2734889"/>
            <a:ext cx="5696262" cy="1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Both: </a:t>
            </a:r>
          </a:p>
          <a:p>
            <a:pPr>
              <a:lnSpc>
                <a:spcPts val="28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put first fixed-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 and then var-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 when encoding each row</a:t>
            </a:r>
          </a:p>
          <a:p>
            <a:pPr>
              <a:lnSpc>
                <a:spcPts val="28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(ii) require storing page-level offset of each row</a:t>
            </a:r>
          </a:p>
        </p:txBody>
      </p:sp>
    </p:spTree>
    <p:extLst>
      <p:ext uri="{BB962C8B-B14F-4D97-AF65-F5344CB8AC3E}">
        <p14:creationId xmlns:p14="http://schemas.microsoft.com/office/powerpoint/2010/main" val="116312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Delimiter Approach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51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700355-DCEB-FC46-A47E-FE3B2A32EC29}"/>
              </a:ext>
            </a:extLst>
          </p:cNvPr>
          <p:cNvSpPr/>
          <p:nvPr/>
        </p:nvSpPr>
        <p:spPr>
          <a:xfrm>
            <a:off x="1474609" y="1448724"/>
            <a:ext cx="4776290" cy="20196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21">
            <a:extLst>
              <a:ext uri="{FF2B5EF4-FFF2-40B4-BE49-F238E27FC236}">
                <a16:creationId xmlns:a16="http://schemas.microsoft.com/office/drawing/2014/main" id="{48219579-BAA0-3D4D-B84E-726CF9D8C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467537"/>
              </p:ext>
            </p:extLst>
          </p:nvPr>
        </p:nvGraphicFramePr>
        <p:xfrm>
          <a:off x="1474608" y="1713226"/>
          <a:ext cx="239617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493837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19" name="Table 21">
            <a:extLst>
              <a:ext uri="{FF2B5EF4-FFF2-40B4-BE49-F238E27FC236}">
                <a16:creationId xmlns:a16="http://schemas.microsoft.com/office/drawing/2014/main" id="{5326495D-3FAC-7846-AAEA-5FE0F68F2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120601"/>
              </p:ext>
            </p:extLst>
          </p:nvPr>
        </p:nvGraphicFramePr>
        <p:xfrm>
          <a:off x="4646694" y="3107243"/>
          <a:ext cx="160420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704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3821104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0" name="Table 21">
            <a:extLst>
              <a:ext uri="{FF2B5EF4-FFF2-40B4-BE49-F238E27FC236}">
                <a16:creationId xmlns:a16="http://schemas.microsoft.com/office/drawing/2014/main" id="{3742C7BD-1558-BF41-AFBA-180DDA986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986947"/>
              </p:ext>
            </p:extLst>
          </p:nvPr>
        </p:nvGraphicFramePr>
        <p:xfrm>
          <a:off x="3173525" y="2333589"/>
          <a:ext cx="294246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270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1562772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6642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8B67E27-9A8F-D746-B0D0-F6D9E537748A}"/>
              </a:ext>
            </a:extLst>
          </p:cNvPr>
          <p:cNvSpPr txBox="1"/>
          <p:nvPr/>
        </p:nvSpPr>
        <p:spPr>
          <a:xfrm>
            <a:off x="1573967" y="3370141"/>
            <a:ext cx="4961744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customer.mkd</a:t>
            </a:r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9" name="Table 21">
            <a:extLst>
              <a:ext uri="{FF2B5EF4-FFF2-40B4-BE49-F238E27FC236}">
                <a16:creationId xmlns:a16="http://schemas.microsoft.com/office/drawing/2014/main" id="{6770DDBD-2DA4-0F4A-8D8A-265403E67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209954"/>
              </p:ext>
            </p:extLst>
          </p:nvPr>
        </p:nvGraphicFramePr>
        <p:xfrm>
          <a:off x="3914706" y="1713226"/>
          <a:ext cx="172021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Carl\0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0" y="4085560"/>
            <a:ext cx="9127921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Why are page offsets at the end and fields in the beginning of pages?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grow them separately without sliding data within pages.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Advantage of storing fixed-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 and then var-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fields: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read fixed-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 w/ page-level offsets +arithmetic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isGoldMember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rowID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2: offset[2]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+ 8 = 35+8=43.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need to scan over var-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</a:t>
            </a:r>
          </a:p>
        </p:txBody>
      </p:sp>
      <p:graphicFrame>
        <p:nvGraphicFramePr>
          <p:cNvPr id="32" name="Table 21">
            <a:extLst>
              <a:ext uri="{FF2B5EF4-FFF2-40B4-BE49-F238E27FC236}">
                <a16:creationId xmlns:a16="http://schemas.microsoft.com/office/drawing/2014/main" id="{AE5BD894-0D77-4C45-91A0-9CE45D57C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088576"/>
              </p:ext>
            </p:extLst>
          </p:nvPr>
        </p:nvGraphicFramePr>
        <p:xfrm>
          <a:off x="1474608" y="2330419"/>
          <a:ext cx="167259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5C433F-1DC1-904A-B17E-283D68576B2C}"/>
              </a:ext>
            </a:extLst>
          </p:cNvPr>
          <p:cNvSpPr txBox="1"/>
          <p:nvPr/>
        </p:nvSpPr>
        <p:spPr>
          <a:xfrm>
            <a:off x="1474608" y="1439053"/>
            <a:ext cx="309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CF6A94-E855-AD42-A6D1-A2FED43A40DB}"/>
              </a:ext>
            </a:extLst>
          </p:cNvPr>
          <p:cNvSpPr txBox="1"/>
          <p:nvPr/>
        </p:nvSpPr>
        <p:spPr>
          <a:xfrm>
            <a:off x="3842541" y="1427099"/>
            <a:ext cx="45963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A64D80-CCDE-6147-8333-901DDF583844}"/>
              </a:ext>
            </a:extLst>
          </p:cNvPr>
          <p:cNvSpPr txBox="1"/>
          <p:nvPr/>
        </p:nvSpPr>
        <p:spPr>
          <a:xfrm>
            <a:off x="1391730" y="2065872"/>
            <a:ext cx="4749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608920-7B32-C344-A85F-2007D042136C}"/>
              </a:ext>
            </a:extLst>
          </p:cNvPr>
          <p:cNvSpPr txBox="1"/>
          <p:nvPr/>
        </p:nvSpPr>
        <p:spPr>
          <a:xfrm>
            <a:off x="3083824" y="2051864"/>
            <a:ext cx="4749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48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10F9D0-B184-2048-A55E-E30F30F77E53}"/>
              </a:ext>
            </a:extLst>
          </p:cNvPr>
          <p:cNvCxnSpPr>
            <a:cxnSpLocks/>
          </p:cNvCxnSpPr>
          <p:nvPr/>
        </p:nvCxnSpPr>
        <p:spPr>
          <a:xfrm>
            <a:off x="6250899" y="3238915"/>
            <a:ext cx="2848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55B1779-C7A1-3246-99FE-DF8C34352C24}"/>
              </a:ext>
            </a:extLst>
          </p:cNvPr>
          <p:cNvSpPr/>
          <p:nvPr/>
        </p:nvSpPr>
        <p:spPr>
          <a:xfrm>
            <a:off x="6531631" y="2953509"/>
            <a:ext cx="2207635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page-level offsets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B85390-DEF2-1D47-8355-CDEBDABC6864}"/>
              </a:ext>
            </a:extLst>
          </p:cNvPr>
          <p:cNvSpPr/>
          <p:nvPr/>
        </p:nvSpPr>
        <p:spPr>
          <a:xfrm>
            <a:off x="103268" y="752916"/>
            <a:ext cx="5169954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 Delimiter: \0 character</a:t>
            </a:r>
          </a:p>
        </p:txBody>
      </p:sp>
    </p:spTree>
    <p:extLst>
      <p:ext uri="{BB962C8B-B14F-4D97-AF65-F5344CB8AC3E}">
        <p14:creationId xmlns:p14="http://schemas.microsoft.com/office/powerpoint/2010/main" val="324077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Field Offsets Approach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52</a:t>
            </a:fld>
            <a:endParaRPr lang="en-US"/>
          </a:p>
        </p:txBody>
      </p:sp>
      <p:graphicFrame>
        <p:nvGraphicFramePr>
          <p:cNvPr id="17" name="Table 21">
            <a:extLst>
              <a:ext uri="{FF2B5EF4-FFF2-40B4-BE49-F238E27FC236}">
                <a16:creationId xmlns:a16="http://schemas.microsoft.com/office/drawing/2014/main" id="{48219579-BAA0-3D4D-B84E-726CF9D8C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288378"/>
              </p:ext>
            </p:extLst>
          </p:nvPr>
        </p:nvGraphicFramePr>
        <p:xfrm>
          <a:off x="1706574" y="3252510"/>
          <a:ext cx="5690423" cy="35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58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415512">
                  <a:extLst>
                    <a:ext uri="{9D8B030D-6E8A-4147-A177-3AD203B41FA5}">
                      <a16:colId xmlns:a16="http://schemas.microsoft.com/office/drawing/2014/main" val="3349899810"/>
                    </a:ext>
                  </a:extLst>
                </a:gridCol>
                <a:gridCol w="449645">
                  <a:extLst>
                    <a:ext uri="{9D8B030D-6E8A-4147-A177-3AD203B41FA5}">
                      <a16:colId xmlns:a16="http://schemas.microsoft.com/office/drawing/2014/main" val="226036532"/>
                    </a:ext>
                  </a:extLst>
                </a:gridCol>
                <a:gridCol w="449645">
                  <a:extLst>
                    <a:ext uri="{9D8B030D-6E8A-4147-A177-3AD203B41FA5}">
                      <a16:colId xmlns:a16="http://schemas.microsoft.com/office/drawing/2014/main" val="339983680"/>
                    </a:ext>
                  </a:extLst>
                </a:gridCol>
                <a:gridCol w="1295779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2000974">
                  <a:extLst>
                    <a:ext uri="{9D8B030D-6E8A-4147-A177-3AD203B41FA5}">
                      <a16:colId xmlns:a16="http://schemas.microsoft.com/office/drawing/2014/main" val="371611251"/>
                    </a:ext>
                  </a:extLst>
                </a:gridCol>
              </a:tblGrid>
              <a:tr h="35298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Univ. Ave. Waterloo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-12174" y="775678"/>
            <a:ext cx="9127921" cy="958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Suppose there is a second var-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 called address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Page structure stays same except each row would be encoded as: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11ED38-D701-0F40-85B7-3625120F6907}"/>
              </a:ext>
            </a:extLst>
          </p:cNvPr>
          <p:cNvCxnSpPr>
            <a:cxnSpLocks/>
          </p:cNvCxnSpPr>
          <p:nvPr/>
        </p:nvCxnSpPr>
        <p:spPr>
          <a:xfrm>
            <a:off x="2130118" y="3605490"/>
            <a:ext cx="0" cy="480629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2592D9-7CC6-BF44-BF72-AFC5A4EFC514}"/>
              </a:ext>
            </a:extLst>
          </p:cNvPr>
          <p:cNvCxnSpPr>
            <a:cxnSpLocks/>
          </p:cNvCxnSpPr>
          <p:nvPr/>
        </p:nvCxnSpPr>
        <p:spPr>
          <a:xfrm>
            <a:off x="2675938" y="3620168"/>
            <a:ext cx="0" cy="853526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E42DB17-68C8-7340-B22E-30E4FAF97304}"/>
              </a:ext>
            </a:extLst>
          </p:cNvPr>
          <p:cNvSpPr/>
          <p:nvPr/>
        </p:nvSpPr>
        <p:spPr>
          <a:xfrm>
            <a:off x="1663995" y="3918342"/>
            <a:ext cx="847089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E9307B-8767-4C43-AA6B-DDBB71093391}"/>
              </a:ext>
            </a:extLst>
          </p:cNvPr>
          <p:cNvSpPr/>
          <p:nvPr/>
        </p:nvSpPr>
        <p:spPr>
          <a:xfrm>
            <a:off x="1694082" y="4473694"/>
            <a:ext cx="199369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isGoldMember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614805-BED2-0C4E-B997-EFE43805918B}"/>
              </a:ext>
            </a:extLst>
          </p:cNvPr>
          <p:cNvCxnSpPr>
            <a:cxnSpLocks/>
            <a:endCxn id="39" idx="2"/>
          </p:cNvCxnSpPr>
          <p:nvPr/>
        </p:nvCxnSpPr>
        <p:spPr>
          <a:xfrm flipH="1" flipV="1">
            <a:off x="2687798" y="2771881"/>
            <a:ext cx="340216" cy="367658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0FB66E4-FB0D-AE4B-BA0B-A56EE05F7D03}"/>
              </a:ext>
            </a:extLst>
          </p:cNvPr>
          <p:cNvSpPr/>
          <p:nvPr/>
        </p:nvSpPr>
        <p:spPr>
          <a:xfrm>
            <a:off x="1852712" y="2063995"/>
            <a:ext cx="16701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offset of name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6B734D1-3FB7-5744-AB0E-30DDD23914BB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3387777" y="2568846"/>
            <a:ext cx="729119" cy="570692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94C436F-EFAF-9041-A385-094602072DCD}"/>
              </a:ext>
            </a:extLst>
          </p:cNvPr>
          <p:cNvSpPr/>
          <p:nvPr/>
        </p:nvSpPr>
        <p:spPr>
          <a:xfrm>
            <a:off x="3281810" y="1860960"/>
            <a:ext cx="16701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offset of address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76D492-F7DF-014A-BA68-A7B507E52D3F}"/>
              </a:ext>
            </a:extLst>
          </p:cNvPr>
          <p:cNvSpPr/>
          <p:nvPr/>
        </p:nvSpPr>
        <p:spPr>
          <a:xfrm>
            <a:off x="4668256" y="1836189"/>
            <a:ext cx="16701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end of address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3A6B283-1F8F-ED47-A258-75D17ABEB1D0}"/>
              </a:ext>
            </a:extLst>
          </p:cNvPr>
          <p:cNvCxnSpPr>
            <a:cxnSpLocks/>
          </p:cNvCxnSpPr>
          <p:nvPr/>
        </p:nvCxnSpPr>
        <p:spPr>
          <a:xfrm flipV="1">
            <a:off x="3752336" y="2563061"/>
            <a:ext cx="1614143" cy="689449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7465176-3787-B44B-A833-5619EA2515C2}"/>
              </a:ext>
            </a:extLst>
          </p:cNvPr>
          <p:cNvCxnSpPr>
            <a:cxnSpLocks/>
          </p:cNvCxnSpPr>
          <p:nvPr/>
        </p:nvCxnSpPr>
        <p:spPr>
          <a:xfrm flipH="1">
            <a:off x="4668256" y="3646294"/>
            <a:ext cx="1374" cy="439825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61061FA-4559-1942-B61E-4CCCD899B854}"/>
              </a:ext>
            </a:extLst>
          </p:cNvPr>
          <p:cNvSpPr/>
          <p:nvPr/>
        </p:nvSpPr>
        <p:spPr>
          <a:xfrm>
            <a:off x="4233593" y="4003833"/>
            <a:ext cx="1003346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9ACB067-1037-454D-A343-56898B80076E}"/>
              </a:ext>
            </a:extLst>
          </p:cNvPr>
          <p:cNvCxnSpPr>
            <a:cxnSpLocks/>
          </p:cNvCxnSpPr>
          <p:nvPr/>
        </p:nvCxnSpPr>
        <p:spPr>
          <a:xfrm flipH="1">
            <a:off x="6254203" y="3619224"/>
            <a:ext cx="1374" cy="439825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4896AAA7-BB43-9A45-B05F-F8E142F8FE77}"/>
              </a:ext>
            </a:extLst>
          </p:cNvPr>
          <p:cNvSpPr/>
          <p:nvPr/>
        </p:nvSpPr>
        <p:spPr>
          <a:xfrm>
            <a:off x="5609680" y="3976763"/>
            <a:ext cx="1405594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5F2EE5-A8EE-6441-9EDD-E701E8A857F5}"/>
              </a:ext>
            </a:extLst>
          </p:cNvPr>
          <p:cNvSpPr/>
          <p:nvPr/>
        </p:nvSpPr>
        <p:spPr>
          <a:xfrm>
            <a:off x="1596414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840FB70-4396-424A-8EB9-B1F138D6D083}"/>
              </a:ext>
            </a:extLst>
          </p:cNvPr>
          <p:cNvSpPr/>
          <p:nvPr/>
        </p:nvSpPr>
        <p:spPr>
          <a:xfrm>
            <a:off x="2377556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991DCC8-F214-9A43-82F7-F4954D2B9188}"/>
              </a:ext>
            </a:extLst>
          </p:cNvPr>
          <p:cNvSpPr/>
          <p:nvPr/>
        </p:nvSpPr>
        <p:spPr>
          <a:xfrm>
            <a:off x="2667817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DC4DBA-D965-C248-B9DD-EBF712067E87}"/>
              </a:ext>
            </a:extLst>
          </p:cNvPr>
          <p:cNvSpPr/>
          <p:nvPr/>
        </p:nvSpPr>
        <p:spPr>
          <a:xfrm>
            <a:off x="3071811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2A5CB5-3673-F044-A16D-87B4F339DD84}"/>
              </a:ext>
            </a:extLst>
          </p:cNvPr>
          <p:cNvSpPr/>
          <p:nvPr/>
        </p:nvSpPr>
        <p:spPr>
          <a:xfrm>
            <a:off x="3479877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95F77DC-8158-E94E-BA16-0EECAF06ADA3}"/>
              </a:ext>
            </a:extLst>
          </p:cNvPr>
          <p:cNvSpPr/>
          <p:nvPr/>
        </p:nvSpPr>
        <p:spPr>
          <a:xfrm>
            <a:off x="3942286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3112D7-8562-0246-A828-CEE6AFF00DE1}"/>
              </a:ext>
            </a:extLst>
          </p:cNvPr>
          <p:cNvSpPr/>
          <p:nvPr/>
        </p:nvSpPr>
        <p:spPr>
          <a:xfrm>
            <a:off x="5333620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0591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39" grpId="0"/>
      <p:bldP spid="43" grpId="0"/>
      <p:bldP spid="44" grpId="0"/>
      <p:bldP spid="59" grpId="0"/>
      <p:bldP spid="62" grpId="0"/>
      <p:bldP spid="65" grpId="0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Overflow Pages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53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-12174" y="775678"/>
            <a:ext cx="9127921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Keep variable length fields, in particular strings, fixed length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Any overflow points to separate overflow pages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Strings 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Graphflow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(originally by Thomas Neumann)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16 bytes fixed part with 2 possible cases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original pages are simpler;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More I/O for reading large strings</a:t>
            </a:r>
          </a:p>
        </p:txBody>
      </p:sp>
      <p:pic>
        <p:nvPicPr>
          <p:cNvPr id="7" name="Picture 6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4DE1017-3C96-0348-8321-4798F07A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611" y="1207266"/>
            <a:ext cx="1518938" cy="1448968"/>
          </a:xfrm>
          <a:prstGeom prst="rect">
            <a:avLst/>
          </a:prstGeom>
        </p:spPr>
      </p:pic>
      <p:graphicFrame>
        <p:nvGraphicFramePr>
          <p:cNvPr id="29" name="Table 21">
            <a:extLst>
              <a:ext uri="{FF2B5EF4-FFF2-40B4-BE49-F238E27FC236}">
                <a16:creationId xmlns:a16="http://schemas.microsoft.com/office/drawing/2014/main" id="{A3C3442A-7008-324C-99A7-9A1CFB134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7703"/>
              </p:ext>
            </p:extLst>
          </p:nvPr>
        </p:nvGraphicFramePr>
        <p:xfrm>
          <a:off x="1244600" y="6116321"/>
          <a:ext cx="2024708" cy="35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167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691684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81857">
                  <a:extLst>
                    <a:ext uri="{9D8B030D-6E8A-4147-A177-3AD203B41FA5}">
                      <a16:colId xmlns:a16="http://schemas.microsoft.com/office/drawing/2014/main" val="226036532"/>
                    </a:ext>
                  </a:extLst>
                </a:gridCol>
              </a:tblGrid>
              <a:tr h="35298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Univ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 err="1"/>
                        <a:t>ptr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32" name="Table 21">
            <a:extLst>
              <a:ext uri="{FF2B5EF4-FFF2-40B4-BE49-F238E27FC236}">
                <a16:creationId xmlns:a16="http://schemas.microsoft.com/office/drawing/2014/main" id="{D8F05D1F-FEE3-9E40-ADC2-6B6BC3CDF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400988"/>
              </p:ext>
            </p:extLst>
          </p:nvPr>
        </p:nvGraphicFramePr>
        <p:xfrm>
          <a:off x="1136524" y="4045893"/>
          <a:ext cx="1995804" cy="35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967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1493837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5298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6185905-4A67-ED4A-8783-10C6308E8200}"/>
              </a:ext>
            </a:extLst>
          </p:cNvPr>
          <p:cNvSpPr txBox="1"/>
          <p:nvPr/>
        </p:nvSpPr>
        <p:spPr>
          <a:xfrm>
            <a:off x="1768611" y="3166317"/>
            <a:ext cx="2350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12-byte value </a:t>
            </a:r>
          </a:p>
          <a:p>
            <a:pPr algn="ctr"/>
            <a:r>
              <a:rPr lang="en-US" dirty="0"/>
              <a:t>(w/ possible padding)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AB93E2-C675-3B40-9794-600969D822F5}"/>
              </a:ext>
            </a:extLst>
          </p:cNvPr>
          <p:cNvSpPr txBox="1"/>
          <p:nvPr/>
        </p:nvSpPr>
        <p:spPr>
          <a:xfrm>
            <a:off x="956644" y="3155006"/>
            <a:ext cx="86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4-byte</a:t>
            </a:r>
          </a:p>
          <a:p>
            <a:pPr algn="ctr"/>
            <a:r>
              <a:rPr lang="en-US" dirty="0" err="1"/>
              <a:t>len</a:t>
            </a: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1244EC6-72E7-E246-B2EA-4B0D582802A5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320749" y="3812648"/>
            <a:ext cx="623342" cy="135198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842862-1713-074B-A254-052E3C429404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1391359" y="3801337"/>
            <a:ext cx="0" cy="244558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B5D031E-3B26-544A-A382-12377C522C14}"/>
              </a:ext>
            </a:extLst>
          </p:cNvPr>
          <p:cNvSpPr/>
          <p:nvPr/>
        </p:nvSpPr>
        <p:spPr>
          <a:xfrm>
            <a:off x="1377936" y="4326798"/>
            <a:ext cx="128134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Case 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50B11E-003B-BD44-BC73-A517060F30D3}"/>
              </a:ext>
            </a:extLst>
          </p:cNvPr>
          <p:cNvSpPr/>
          <p:nvPr/>
        </p:nvSpPr>
        <p:spPr>
          <a:xfrm>
            <a:off x="1616283" y="6324479"/>
            <a:ext cx="128134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Case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EF4368-A9CB-4145-8511-680A864C6BFD}"/>
              </a:ext>
            </a:extLst>
          </p:cNvPr>
          <p:cNvSpPr txBox="1"/>
          <p:nvPr/>
        </p:nvSpPr>
        <p:spPr>
          <a:xfrm>
            <a:off x="1016604" y="5122981"/>
            <a:ext cx="86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4-byte</a:t>
            </a:r>
          </a:p>
          <a:p>
            <a:pPr algn="ctr"/>
            <a:r>
              <a:rPr lang="en-US" dirty="0" err="1"/>
              <a:t>len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3DB4FEA-6525-7F40-A13F-69F15AE938AF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1451319" y="5769312"/>
            <a:ext cx="0" cy="244558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EF7596F-7639-6C4E-94EC-C825B5E49DB1}"/>
              </a:ext>
            </a:extLst>
          </p:cNvPr>
          <p:cNvSpPr txBox="1"/>
          <p:nvPr/>
        </p:nvSpPr>
        <p:spPr>
          <a:xfrm>
            <a:off x="1852222" y="5122981"/>
            <a:ext cx="86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4-char</a:t>
            </a:r>
          </a:p>
          <a:p>
            <a:pPr algn="ctr"/>
            <a:r>
              <a:rPr lang="en-US" dirty="0"/>
              <a:t>prefix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C405C0C-6B9F-0445-8608-FD259D27CB99}"/>
              </a:ext>
            </a:extLst>
          </p:cNvPr>
          <p:cNvCxnSpPr>
            <a:cxnSpLocks/>
          </p:cNvCxnSpPr>
          <p:nvPr/>
        </p:nvCxnSpPr>
        <p:spPr>
          <a:xfrm flipV="1">
            <a:off x="2124030" y="5743360"/>
            <a:ext cx="0" cy="280282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6406BFB-B8D8-C543-9993-D6419755496F}"/>
              </a:ext>
            </a:extLst>
          </p:cNvPr>
          <p:cNvSpPr txBox="1"/>
          <p:nvPr/>
        </p:nvSpPr>
        <p:spPr>
          <a:xfrm>
            <a:off x="2724155" y="4763769"/>
            <a:ext cx="1691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8-byte</a:t>
            </a:r>
          </a:p>
          <a:p>
            <a:pPr algn="ctr"/>
            <a:r>
              <a:rPr lang="en-US" dirty="0"/>
              <a:t>pointer to overflow pages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5A23448-9271-0344-9AC9-B1E1D1F79965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2871763" y="5687099"/>
            <a:ext cx="698084" cy="412045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98D079E-E533-7A45-97AD-6F05039A0732}"/>
              </a:ext>
            </a:extLst>
          </p:cNvPr>
          <p:cNvSpPr/>
          <p:nvPr/>
        </p:nvSpPr>
        <p:spPr>
          <a:xfrm>
            <a:off x="5401269" y="3810955"/>
            <a:ext cx="2248646" cy="22703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" name="Table 21">
            <a:extLst>
              <a:ext uri="{FF2B5EF4-FFF2-40B4-BE49-F238E27FC236}">
                <a16:creationId xmlns:a16="http://schemas.microsoft.com/office/drawing/2014/main" id="{29BEB187-FBDF-9E43-ADBD-D4E2E1243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5527"/>
              </p:ext>
            </p:extLst>
          </p:nvPr>
        </p:nvGraphicFramePr>
        <p:xfrm>
          <a:off x="5417346" y="3825682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201828EB-934C-0B45-B665-2D9FE7466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160692"/>
              </p:ext>
            </p:extLst>
          </p:nvPr>
        </p:nvGraphicFramePr>
        <p:xfrm>
          <a:off x="5430082" y="4211249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Univ. Ave. Waterloo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93694B09-9B8C-B641-AB87-D9B38126CD64}"/>
              </a:ext>
            </a:extLst>
          </p:cNvPr>
          <p:cNvSpPr txBox="1"/>
          <p:nvPr/>
        </p:nvSpPr>
        <p:spPr>
          <a:xfrm>
            <a:off x="5802267" y="6008001"/>
            <a:ext cx="1632841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address.ovf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2" name="Table 21">
            <a:extLst>
              <a:ext uri="{FF2B5EF4-FFF2-40B4-BE49-F238E27FC236}">
                <a16:creationId xmlns:a16="http://schemas.microsoft.com/office/drawing/2014/main" id="{5C0CA959-48BE-D149-A8A1-CC433F9F6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943782"/>
              </p:ext>
            </p:extLst>
          </p:nvPr>
        </p:nvGraphicFramePr>
        <p:xfrm>
          <a:off x="5430082" y="4589321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099BFD9E-53F3-6F48-A966-B324FBC45EF1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269308" y="4398873"/>
            <a:ext cx="2211291" cy="189393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96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3" grpId="0"/>
      <p:bldP spid="40" grpId="0"/>
      <p:bldP spid="41" grpId="0"/>
      <p:bldP spid="49" grpId="0"/>
      <p:bldP spid="51" grpId="0"/>
      <p:bldP spid="53" grpId="0"/>
      <p:bldP spid="60" grpId="0" animBg="1"/>
      <p:bldP spid="7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NULL Values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54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-12174" y="775678"/>
            <a:ext cx="9127921" cy="3266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Several possible approaches.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Store special NULL values for each data type as regular values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E.g.: -2^63 for 8-byte int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Store NULL bits in the page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columnar storage and (fixed-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name can be NULL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 means NULL 0 means NULL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Other alternatives are possible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003F51-52BF-C249-B95B-951B09C9B186}"/>
              </a:ext>
            </a:extLst>
          </p:cNvPr>
          <p:cNvSpPr/>
          <p:nvPr/>
        </p:nvSpPr>
        <p:spPr>
          <a:xfrm>
            <a:off x="2788100" y="4199616"/>
            <a:ext cx="2248646" cy="22703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9DF2BC-0397-774A-B588-0FA4DA6EA54D}"/>
              </a:ext>
            </a:extLst>
          </p:cNvPr>
          <p:cNvSpPr txBox="1"/>
          <p:nvPr/>
        </p:nvSpPr>
        <p:spPr>
          <a:xfrm>
            <a:off x="2683977" y="6335975"/>
            <a:ext cx="2242821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name.mkd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Table 21">
            <a:extLst>
              <a:ext uri="{FF2B5EF4-FFF2-40B4-BE49-F238E27FC236}">
                <a16:creationId xmlns:a16="http://schemas.microsoft.com/office/drawing/2014/main" id="{4EC55D79-CDCE-274F-9B86-7CFC7BDAB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525135"/>
              </p:ext>
            </p:extLst>
          </p:nvPr>
        </p:nvGraphicFramePr>
        <p:xfrm>
          <a:off x="2803090" y="4606418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 err="1"/>
                        <a:t>xxxxxxxxxxxxxxxxxxxx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4" name="Table 21">
            <a:extLst>
              <a:ext uri="{FF2B5EF4-FFF2-40B4-BE49-F238E27FC236}">
                <a16:creationId xmlns:a16="http://schemas.microsoft.com/office/drawing/2014/main" id="{DD396B58-3D5D-5949-98DD-32320ED52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855303"/>
              </p:ext>
            </p:extLst>
          </p:nvPr>
        </p:nvGraphicFramePr>
        <p:xfrm>
          <a:off x="2804177" y="4214343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A898CB5-4A39-2D47-B1CE-63CCDC052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733540"/>
              </p:ext>
            </p:extLst>
          </p:nvPr>
        </p:nvGraphicFramePr>
        <p:xfrm>
          <a:off x="2803090" y="5017350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36" name="Table 21">
            <a:extLst>
              <a:ext uri="{FF2B5EF4-FFF2-40B4-BE49-F238E27FC236}">
                <a16:creationId xmlns:a16="http://schemas.microsoft.com/office/drawing/2014/main" id="{88DA105A-0D8F-E544-A25A-1058CA063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337976"/>
              </p:ext>
            </p:extLst>
          </p:nvPr>
        </p:nvGraphicFramePr>
        <p:xfrm>
          <a:off x="4097310" y="6099092"/>
          <a:ext cx="90308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21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15C909-67FD-DE43-AD1D-748BA7C228CB}"/>
              </a:ext>
            </a:extLst>
          </p:cNvPr>
          <p:cNvCxnSpPr>
            <a:cxnSpLocks/>
          </p:cNvCxnSpPr>
          <p:nvPr/>
        </p:nvCxnSpPr>
        <p:spPr>
          <a:xfrm>
            <a:off x="5078709" y="6291005"/>
            <a:ext cx="2848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EF43D8E-E3DF-754C-80EF-303901900E04}"/>
              </a:ext>
            </a:extLst>
          </p:cNvPr>
          <p:cNvSpPr/>
          <p:nvPr/>
        </p:nvSpPr>
        <p:spPr>
          <a:xfrm>
            <a:off x="5363521" y="5970487"/>
            <a:ext cx="2207635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NULL bits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280D551-74ED-3841-B7E3-1E600FEFEEF0}"/>
              </a:ext>
            </a:extLst>
          </p:cNvPr>
          <p:cNvCxnSpPr>
            <a:cxnSpLocks/>
          </p:cNvCxnSpPr>
          <p:nvPr/>
        </p:nvCxnSpPr>
        <p:spPr>
          <a:xfrm>
            <a:off x="5048729" y="4805825"/>
            <a:ext cx="2848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DECFEF2-37EE-E64A-9B6E-1FBF0517ABD3}"/>
              </a:ext>
            </a:extLst>
          </p:cNvPr>
          <p:cNvSpPr/>
          <p:nvPr/>
        </p:nvSpPr>
        <p:spPr>
          <a:xfrm>
            <a:off x="5329461" y="4520419"/>
            <a:ext cx="2207635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arbitrary value</a:t>
            </a:r>
          </a:p>
        </p:txBody>
      </p:sp>
    </p:spTree>
    <p:extLst>
      <p:ext uri="{BB962C8B-B14F-4D97-AF65-F5344CB8AC3E}">
        <p14:creationId xmlns:p14="http://schemas.microsoft.com/office/powerpoint/2010/main" val="245715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38" grpId="0"/>
      <p:bldP spid="4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Summary of Physical Data Design Alternatives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55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0" y="758856"/>
            <a:ext cx="9127921" cy="6036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High-level: row-oriented vs columnar but row-oriented can be hybrid (PAX)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Variable-length fields and fields that can be NULL require more sophisticated design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any physical design we showed, other alternatives are possible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practice physical design is principled art!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tradeoff, choices, and complications exist: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Deletions of tuples (can leave gaps in pages or shift tuples)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Fields larger than page sizes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Tuple versions (some systems, e.g., Postgres, support multiple version of tuples so users can keep track of how each record changed)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Some crazy ideas put rows from multiple tables into same pages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other designs</a:t>
            </a:r>
          </a:p>
        </p:txBody>
      </p:sp>
    </p:spTree>
    <p:extLst>
      <p:ext uri="{BB962C8B-B14F-4D97-AF65-F5344CB8AC3E}">
        <p14:creationId xmlns:p14="http://schemas.microsoft.com/office/powerpoint/2010/main" val="100339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9|37|6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9|37|6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40893</TotalTime>
  <Words>3982</Words>
  <Application>Microsoft Macintosh PowerPoint</Application>
  <PresentationFormat>On-screen Show (4:3)</PresentationFormat>
  <Paragraphs>1097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Chalkboard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1667</cp:revision>
  <dcterms:created xsi:type="dcterms:W3CDTF">2016-04-06T14:30:24Z</dcterms:created>
  <dcterms:modified xsi:type="dcterms:W3CDTF">2022-02-10T22:37:17Z</dcterms:modified>
</cp:coreProperties>
</file>