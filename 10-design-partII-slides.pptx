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7.xml" ContentType="application/vnd.openxmlformats-officedocument.presentationml.tags+xml"/>
  <Override PartName="/ppt/notesSlides/notesSlide20.xml" ContentType="application/vnd.openxmlformats-officedocument.presentationml.notesSlide+xml"/>
  <Override PartName="/ppt/tags/tag18.xml" ContentType="application/vnd.openxmlformats-officedocument.presentationml.tags+xml"/>
  <Override PartName="/ppt/notesSlides/notesSlide21.xml" ContentType="application/vnd.openxmlformats-officedocument.presentationml.notesSlide+xml"/>
  <Override PartName="/ppt/tags/tag19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1"/>
  </p:sldMasterIdLst>
  <p:notesMasterIdLst>
    <p:notesMasterId r:id="rId26"/>
  </p:notesMasterIdLst>
  <p:handoutMasterIdLst>
    <p:handoutMasterId r:id="rId27"/>
  </p:handoutMasterIdLst>
  <p:sldIdLst>
    <p:sldId id="256" r:id="rId2"/>
    <p:sldId id="317" r:id="rId3"/>
    <p:sldId id="261" r:id="rId4"/>
    <p:sldId id="263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318" r:id="rId14"/>
    <p:sldId id="271" r:id="rId15"/>
    <p:sldId id="272" r:id="rId16"/>
    <p:sldId id="273" r:id="rId17"/>
    <p:sldId id="275" r:id="rId18"/>
    <p:sldId id="319" r:id="rId19"/>
    <p:sldId id="276" r:id="rId20"/>
    <p:sldId id="277" r:id="rId21"/>
    <p:sldId id="327" r:id="rId22"/>
    <p:sldId id="328" r:id="rId23"/>
    <p:sldId id="330" r:id="rId24"/>
    <p:sldId id="33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63776" autoAdjust="0"/>
  </p:normalViewPr>
  <p:slideViewPr>
    <p:cSldViewPr snapToGrid="0">
      <p:cViewPr varScale="1">
        <p:scale>
          <a:sx n="63" d="100"/>
          <a:sy n="63" d="100"/>
        </p:scale>
        <p:origin x="21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824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C5AA8B-F067-482E-84A6-DE3E36A670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D993D9-2DCD-4C03-836F-A949F103ED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552E4-3CBC-48A8-AD4B-F85D515D00FF}" type="datetimeFigureOut">
              <a:rPr lang="en-CA" smtClean="0"/>
              <a:t>2021-07-26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1535A-DFCD-4376-97ED-C3C66112B9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D36C1-5EE0-44B4-9A9F-2667D96EF8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E3155-30CB-46FC-8A0D-BE8CED24E3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51672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69ED9-CB95-4DAD-9B9B-E560A3321DC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470F9-3B63-4A29-A4D2-E4DBA5B3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0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44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85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71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51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30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17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45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04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68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3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00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28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51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00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24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96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05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63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015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180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054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8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70884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8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6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8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5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8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3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50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9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Relational Database Design: </a:t>
            </a:r>
            <a:br>
              <a:rPr lang="en-US" sz="4800" dirty="0"/>
            </a:br>
            <a:r>
              <a:rPr lang="en-US" sz="4800" dirty="0"/>
              <a:t>E/R-Relational Translation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Database Management</a:t>
            </a:r>
          </a:p>
          <a:p>
            <a:r>
              <a:rPr lang="en-US" dirty="0"/>
              <a:t>CS348 Spring 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28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E/R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E/R Concepts </a:t>
            </a:r>
          </a:p>
          <a:p>
            <a:r>
              <a:rPr lang="en-US" dirty="0"/>
              <a:t>E/R Schema Design </a:t>
            </a:r>
          </a:p>
          <a:p>
            <a:r>
              <a:rPr lang="en-CA" dirty="0">
                <a:solidFill>
                  <a:schemeClr val="accent2"/>
                </a:solidFill>
              </a:rPr>
              <a:t>Next: Translating E/R to relational schema </a:t>
            </a:r>
          </a:p>
          <a:p>
            <a:endParaRPr lang="en-CA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ADA5D-4CFD-4733-82DD-AF72E8C19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450" y="34290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Rooms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5A3787CC-FAF5-4CF7-B197-152F86E75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335280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7C4DEBE5-890C-4C23-9942-1876D36DC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7050" y="3657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0C816C19-5B3C-47CC-81CB-FBC1A9DFE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7250" y="3657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5EFA66-2299-4578-9CF8-19F347F1A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34290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Buildings</a:t>
            </a: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74428D1A-10B2-4711-90A5-15DCFA0E3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42900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4F1AB44E-A343-4F3A-B59D-83DEDCC72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350520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3C115841-6AD5-445C-BE58-075861F38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450" y="3124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B9DED0D5-F4A5-4560-A2D0-DD78654D0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450" y="3733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year</a:t>
            </a:r>
          </a:p>
        </p:txBody>
      </p:sp>
      <p:sp>
        <p:nvSpPr>
          <p:cNvPr id="14" name="Oval 18">
            <a:extLst>
              <a:ext uri="{FF2B5EF4-FFF2-40B4-BE49-F238E27FC236}">
                <a16:creationId xmlns:a16="http://schemas.microsoft.com/office/drawing/2014/main" id="{F5FAB5F1-E14A-42C7-BF69-E3FA4FF61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3124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/>
              <a:t>Rnumber</a:t>
            </a:r>
            <a:endParaRPr lang="en-US" i="1" dirty="0"/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C5C95A99-0694-4F62-BF33-348283523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37338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capacity</a:t>
            </a:r>
          </a:p>
        </p:txBody>
      </p:sp>
      <p:sp>
        <p:nvSpPr>
          <p:cNvPr id="16" name="Line 20">
            <a:extLst>
              <a:ext uri="{FF2B5EF4-FFF2-40B4-BE49-F238E27FC236}">
                <a16:creationId xmlns:a16="http://schemas.microsoft.com/office/drawing/2014/main" id="{BA78EF7F-B04F-4153-A9A6-C584103EB1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5450" y="33528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1">
            <a:extLst>
              <a:ext uri="{FF2B5EF4-FFF2-40B4-BE49-F238E27FC236}">
                <a16:creationId xmlns:a16="http://schemas.microsoft.com/office/drawing/2014/main" id="{69FD2743-957B-404A-881E-A7B6478565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37338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4">
            <a:extLst>
              <a:ext uri="{FF2B5EF4-FFF2-40B4-BE49-F238E27FC236}">
                <a16:creationId xmlns:a16="http://schemas.microsoft.com/office/drawing/2014/main" id="{86597AF2-0886-4148-855E-5ACF8AE425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3650" y="33528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C7252884-B1DF-4DF9-95E4-41442627B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3650" y="37338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AutoShape 26">
            <a:extLst>
              <a:ext uri="{FF2B5EF4-FFF2-40B4-BE49-F238E27FC236}">
                <a16:creationId xmlns:a16="http://schemas.microsoft.com/office/drawing/2014/main" id="{E351C0BF-CA33-430E-AF4C-3A1A9BC33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34340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21" name="AutoShape 27">
            <a:extLst>
              <a:ext uri="{FF2B5EF4-FFF2-40B4-BE49-F238E27FC236}">
                <a16:creationId xmlns:a16="http://schemas.microsoft.com/office/drawing/2014/main" id="{3164AE9A-E058-4860-B466-AA7686FBC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441960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373A03-7811-4FDF-9DE9-679E7B7D3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450" y="54102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Seats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72BC1C-B176-4894-9D7F-C4702311F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548640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30">
            <a:extLst>
              <a:ext uri="{FF2B5EF4-FFF2-40B4-BE49-F238E27FC236}">
                <a16:creationId xmlns:a16="http://schemas.microsoft.com/office/drawing/2014/main" id="{0233F07F-9610-4931-AE62-F0F7722DD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6513" y="3886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8A9E37DE-0327-46B9-8A2C-F870C6924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8100" y="49530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34">
            <a:extLst>
              <a:ext uri="{FF2B5EF4-FFF2-40B4-BE49-F238E27FC236}">
                <a16:creationId xmlns:a16="http://schemas.microsoft.com/office/drawing/2014/main" id="{A38735B4-F16E-4BDB-A41D-56432C89A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5105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/>
              <a:t>Snumber</a:t>
            </a:r>
            <a:endParaRPr lang="en-US" i="1" dirty="0"/>
          </a:p>
        </p:txBody>
      </p:sp>
      <p:sp>
        <p:nvSpPr>
          <p:cNvPr id="27" name="Oval 35">
            <a:extLst>
              <a:ext uri="{FF2B5EF4-FFF2-40B4-BE49-F238E27FC236}">
                <a16:creationId xmlns:a16="http://schemas.microsoft.com/office/drawing/2014/main" id="{BBA0E317-6C5E-4A17-B430-5238AFFF0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5715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L/R?</a:t>
            </a:r>
          </a:p>
        </p:txBody>
      </p:sp>
      <p:sp>
        <p:nvSpPr>
          <p:cNvPr id="28" name="Line 36">
            <a:extLst>
              <a:ext uri="{FF2B5EF4-FFF2-40B4-BE49-F238E27FC236}">
                <a16:creationId xmlns:a16="http://schemas.microsoft.com/office/drawing/2014/main" id="{5E3400C8-5BFF-4594-AD82-CDF37D14E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5450" y="53340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37">
            <a:extLst>
              <a:ext uri="{FF2B5EF4-FFF2-40B4-BE49-F238E27FC236}">
                <a16:creationId xmlns:a16="http://schemas.microsoft.com/office/drawing/2014/main" id="{39FA4C70-6910-4A58-B0E6-8FA2AE6D0E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5450" y="57150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67E2D9-67ED-492A-89B3-AEF38AE45618}"/>
              </a:ext>
            </a:extLst>
          </p:cNvPr>
          <p:cNvCxnSpPr>
            <a:stCxn id="7" idx="0"/>
            <a:endCxn id="6" idx="1"/>
          </p:cNvCxnSpPr>
          <p:nvPr/>
        </p:nvCxnSpPr>
        <p:spPr>
          <a:xfrm>
            <a:off x="3067050" y="36576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0FB7B2-F402-411B-8A76-B3B0DE9AD8EC}"/>
              </a:ext>
            </a:extLst>
          </p:cNvPr>
          <p:cNvCxnSpPr>
            <a:stCxn id="25" idx="1"/>
            <a:endCxn id="20" idx="2"/>
          </p:cNvCxnSpPr>
          <p:nvPr/>
        </p:nvCxnSpPr>
        <p:spPr>
          <a:xfrm flipH="1" flipV="1">
            <a:off x="2571750" y="4953000"/>
            <a:ext cx="6351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DC400F-AFD5-427C-9C23-C324A1F6D93F}"/>
              </a:ext>
            </a:extLst>
          </p:cNvPr>
          <p:cNvCxnSpPr>
            <a:cxnSpLocks/>
          </p:cNvCxnSpPr>
          <p:nvPr/>
        </p:nvCxnSpPr>
        <p:spPr>
          <a:xfrm flipV="1">
            <a:off x="801207" y="3489953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F2B4D6-1A8A-47B3-AE68-8420BEBD597C}"/>
              </a:ext>
            </a:extLst>
          </p:cNvPr>
          <p:cNvCxnSpPr>
            <a:cxnSpLocks/>
          </p:cNvCxnSpPr>
          <p:nvPr/>
        </p:nvCxnSpPr>
        <p:spPr>
          <a:xfrm flipV="1">
            <a:off x="822979" y="5462995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96EDB70-7A15-4E16-AE4B-A5530AF93264}"/>
              </a:ext>
            </a:extLst>
          </p:cNvPr>
          <p:cNvSpPr txBox="1"/>
          <p:nvPr/>
        </p:nvSpPr>
        <p:spPr>
          <a:xfrm>
            <a:off x="4030111" y="4876800"/>
            <a:ext cx="4931878" cy="163121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Building </a:t>
            </a:r>
            <a:r>
              <a:rPr lang="en-US" sz="2000" dirty="0"/>
              <a:t>(</a:t>
            </a:r>
            <a:r>
              <a:rPr lang="en-US" sz="2000" i="1" u="sng" dirty="0"/>
              <a:t>name</a:t>
            </a:r>
            <a:r>
              <a:rPr lang="en-US" sz="2000" dirty="0"/>
              <a:t>, </a:t>
            </a:r>
            <a:r>
              <a:rPr lang="en-US" sz="2000" i="1" dirty="0"/>
              <a:t>year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Room</a:t>
            </a:r>
            <a:r>
              <a:rPr lang="en-US" sz="2000" dirty="0"/>
              <a:t> (</a:t>
            </a:r>
            <a:r>
              <a:rPr lang="en-US" sz="2000" i="1" u="sng" dirty="0" err="1"/>
              <a:t>building_name</a:t>
            </a:r>
            <a:r>
              <a:rPr lang="en-US" sz="2000" dirty="0"/>
              <a:t>, </a:t>
            </a:r>
            <a:r>
              <a:rPr lang="en-US" sz="2000" i="1" u="sng" dirty="0" err="1"/>
              <a:t>room_number</a:t>
            </a:r>
            <a:r>
              <a:rPr lang="en-US" sz="2000" dirty="0"/>
              <a:t>, </a:t>
            </a:r>
            <a:r>
              <a:rPr lang="en-US" sz="2000" i="1" dirty="0"/>
              <a:t>capacity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Seat</a:t>
            </a:r>
            <a:r>
              <a:rPr lang="en-US" sz="2000" dirty="0"/>
              <a:t> (</a:t>
            </a:r>
            <a:r>
              <a:rPr lang="en-US" sz="2000" i="1" u="sng" dirty="0" err="1"/>
              <a:t>building_name</a:t>
            </a:r>
            <a:r>
              <a:rPr lang="en-US" sz="2000" dirty="0"/>
              <a:t>, </a:t>
            </a:r>
            <a:r>
              <a:rPr lang="en-US" sz="2000" i="1" u="sng" dirty="0" err="1"/>
              <a:t>room_number</a:t>
            </a:r>
            <a:r>
              <a:rPr lang="en-US" sz="2000" dirty="0"/>
              <a:t>, </a:t>
            </a:r>
            <a:r>
              <a:rPr lang="en-US" sz="2000" i="1" u="sng" dirty="0" err="1"/>
              <a:t>seat_number</a:t>
            </a:r>
            <a:r>
              <a:rPr lang="en-US" sz="2000" dirty="0"/>
              <a:t>, </a:t>
            </a:r>
            <a:r>
              <a:rPr lang="en-US" sz="2000" i="1" dirty="0" err="1"/>
              <a:t>left_or_right</a:t>
            </a:r>
            <a:r>
              <a:rPr lang="en-US" sz="2000" dirty="0"/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745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entity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entity set translates directly to a table</a:t>
                </a:r>
              </a:p>
              <a:p>
                <a:pPr lvl="1"/>
                <a:r>
                  <a:rPr lang="en-US" dirty="0"/>
                  <a:t>Attributes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columns</a:t>
                </a:r>
              </a:p>
              <a:p>
                <a:pPr lvl="1"/>
                <a:r>
                  <a:rPr lang="en-US" dirty="0"/>
                  <a:t>Key attributes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key columns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601342" y="3012434"/>
            <a:ext cx="8001000" cy="1066800"/>
            <a:chOff x="288" y="2112"/>
            <a:chExt cx="5040" cy="672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>
                  <a:solidFill>
                    <a:schemeClr val="accent2"/>
                  </a:solidFill>
                </a:rPr>
                <a:t>Users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>
                  <a:solidFill>
                    <a:schemeClr val="accent2"/>
                  </a:solidFill>
                </a:rPr>
                <a:t>Groups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>
                  <a:solidFill>
                    <a:schemeClr val="accent2"/>
                  </a:solidFill>
                </a:rPr>
                <a:t>gid</a:t>
              </a:r>
              <a:endParaRPr lang="en-US" i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>
                  <a:solidFill>
                    <a:schemeClr val="accent2"/>
                  </a:solidFill>
                </a:rPr>
                <a:t>name</a:t>
              </a: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IsMemberOf</a:t>
              </a:r>
              <a:endParaRPr lang="en-US" i="1" dirty="0"/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>
                  <a:solidFill>
                    <a:schemeClr val="accent2"/>
                  </a:solidFill>
                </a:rPr>
                <a:t>uid</a:t>
              </a:r>
              <a:endParaRPr lang="en-US" i="1" u="sng" dirty="0">
                <a:solidFill>
                  <a:schemeClr val="accent2"/>
                </a:solidFill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>
                  <a:solidFill>
                    <a:schemeClr val="accent2"/>
                  </a:solidFill>
                </a:rPr>
                <a:t>name</a:t>
              </a: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4106542" y="3926834"/>
            <a:ext cx="1066800" cy="609600"/>
            <a:chOff x="2496" y="1872"/>
            <a:chExt cx="672" cy="384"/>
          </a:xfrm>
        </p:grpSpPr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2496" y="1968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fromDate</a:t>
              </a:r>
              <a:endParaRPr lang="en-US" i="1" dirty="0"/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>
              <a:off x="2832" y="187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132580" y="4976789"/>
            <a:ext cx="2281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accent2"/>
                </a:solidFill>
              </a:rPr>
              <a:t>User</a:t>
            </a:r>
            <a:r>
              <a:rPr lang="en-US" sz="2400" dirty="0">
                <a:solidFill>
                  <a:schemeClr val="accent2"/>
                </a:solidFill>
              </a:rPr>
              <a:t> (</a:t>
            </a:r>
            <a:r>
              <a:rPr lang="en-US" sz="2400" i="1" u="sng" dirty="0" err="1">
                <a:solidFill>
                  <a:schemeClr val="accent2"/>
                </a:solidFill>
              </a:rPr>
              <a:t>uid</a:t>
            </a:r>
            <a:r>
              <a:rPr lang="en-US" sz="2400" dirty="0">
                <a:solidFill>
                  <a:schemeClr val="accent2"/>
                </a:solidFill>
              </a:rPr>
              <a:t>, </a:t>
            </a:r>
            <a:r>
              <a:rPr lang="en-US" sz="2400" i="1" dirty="0">
                <a:solidFill>
                  <a:schemeClr val="accent2"/>
                </a:solidFill>
              </a:rPr>
              <a:t>name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5772" y="4976789"/>
            <a:ext cx="2480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accent2"/>
                </a:solidFill>
              </a:rPr>
              <a:t>Group 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en-US" sz="2400" i="1" u="sng" dirty="0" err="1">
                <a:solidFill>
                  <a:schemeClr val="accent2"/>
                </a:solidFill>
              </a:rPr>
              <a:t>gid</a:t>
            </a:r>
            <a:r>
              <a:rPr lang="en-US" sz="2400" dirty="0">
                <a:solidFill>
                  <a:schemeClr val="accent2"/>
                </a:solidFill>
              </a:rPr>
              <a:t>, </a:t>
            </a:r>
            <a:r>
              <a:rPr lang="en-US" sz="2400" i="1" dirty="0">
                <a:solidFill>
                  <a:schemeClr val="accent2"/>
                </a:solidFill>
              </a:rPr>
              <a:t>name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627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weak entity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the “borrowed” key attributes</a:t>
            </a:r>
          </a:p>
          <a:p>
            <a:r>
              <a:rPr lang="en-US" dirty="0"/>
              <a:t>Watch out for attribute name conflicts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67712" y="2999232"/>
            <a:ext cx="990600" cy="4572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Rooms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3715512" y="2923032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3258312" y="3227832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4858512" y="3227832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315712" y="2999232"/>
            <a:ext cx="1219200" cy="4572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Buildings</a:t>
            </a: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3867912" y="2999232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2343912" y="3075432"/>
            <a:ext cx="838200" cy="3048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6839712" y="2694432"/>
            <a:ext cx="1066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>
                <a:solidFill>
                  <a:schemeClr val="accent2"/>
                </a:solidFill>
              </a:rPr>
              <a:t>name</a:t>
            </a: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6839712" y="3304032"/>
            <a:ext cx="1066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year</a:t>
            </a:r>
          </a:p>
        </p:txBody>
      </p:sp>
      <p:sp>
        <p:nvSpPr>
          <p:cNvPr id="14" name="Oval 18"/>
          <p:cNvSpPr>
            <a:spLocks noChangeArrowheads="1"/>
          </p:cNvSpPr>
          <p:nvPr/>
        </p:nvSpPr>
        <p:spPr bwMode="auto">
          <a:xfrm>
            <a:off x="819912" y="2694432"/>
            <a:ext cx="1066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>
                <a:solidFill>
                  <a:schemeClr val="accent2"/>
                </a:solidFill>
              </a:rPr>
              <a:t>Rnumber</a:t>
            </a: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15" name="Oval 19"/>
          <p:cNvSpPr>
            <a:spLocks noChangeArrowheads="1"/>
          </p:cNvSpPr>
          <p:nvPr/>
        </p:nvSpPr>
        <p:spPr bwMode="auto">
          <a:xfrm>
            <a:off x="819912" y="3304032"/>
            <a:ext cx="1066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capacity</a:t>
            </a: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>
            <a:off x="1886712" y="2923032"/>
            <a:ext cx="381000" cy="228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H="1">
            <a:off x="1886712" y="3304032"/>
            <a:ext cx="381000" cy="228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18" name="Line 24"/>
          <p:cNvSpPr>
            <a:spLocks noChangeShapeType="1"/>
          </p:cNvSpPr>
          <p:nvPr/>
        </p:nvSpPr>
        <p:spPr bwMode="auto">
          <a:xfrm flipV="1">
            <a:off x="6534912" y="2923032"/>
            <a:ext cx="304800" cy="228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19" name="Line 25"/>
          <p:cNvSpPr>
            <a:spLocks noChangeShapeType="1"/>
          </p:cNvSpPr>
          <p:nvPr/>
        </p:nvSpPr>
        <p:spPr bwMode="auto">
          <a:xfrm>
            <a:off x="6534912" y="3304032"/>
            <a:ext cx="304800" cy="228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0" name="AutoShape 26"/>
          <p:cNvSpPr>
            <a:spLocks noChangeArrowheads="1"/>
          </p:cNvSpPr>
          <p:nvPr/>
        </p:nvSpPr>
        <p:spPr bwMode="auto">
          <a:xfrm>
            <a:off x="2191512" y="3913632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21" name="AutoShape 27"/>
          <p:cNvSpPr>
            <a:spLocks noChangeArrowheads="1"/>
          </p:cNvSpPr>
          <p:nvPr/>
        </p:nvSpPr>
        <p:spPr bwMode="auto">
          <a:xfrm>
            <a:off x="2343912" y="3989832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22" name="Rectangle 28"/>
          <p:cNvSpPr>
            <a:spLocks noChangeArrowheads="1"/>
          </p:cNvSpPr>
          <p:nvPr/>
        </p:nvSpPr>
        <p:spPr bwMode="auto">
          <a:xfrm>
            <a:off x="2267712" y="4980432"/>
            <a:ext cx="990600" cy="4572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Seats</a:t>
            </a:r>
          </a:p>
        </p:txBody>
      </p:sp>
      <p:sp>
        <p:nvSpPr>
          <p:cNvPr id="23" name="Rectangle 29"/>
          <p:cNvSpPr>
            <a:spLocks noChangeArrowheads="1"/>
          </p:cNvSpPr>
          <p:nvPr/>
        </p:nvSpPr>
        <p:spPr bwMode="auto">
          <a:xfrm>
            <a:off x="2343912" y="5056632"/>
            <a:ext cx="838200" cy="3048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4" name="Line 30"/>
          <p:cNvSpPr>
            <a:spLocks noChangeShapeType="1"/>
          </p:cNvSpPr>
          <p:nvPr/>
        </p:nvSpPr>
        <p:spPr bwMode="auto">
          <a:xfrm>
            <a:off x="2767775" y="3456432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31"/>
          <p:cNvSpPr>
            <a:spLocks noChangeShapeType="1"/>
          </p:cNvSpPr>
          <p:nvPr/>
        </p:nvSpPr>
        <p:spPr bwMode="auto">
          <a:xfrm>
            <a:off x="2769362" y="4523232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34"/>
          <p:cNvSpPr>
            <a:spLocks noChangeArrowheads="1"/>
          </p:cNvSpPr>
          <p:nvPr/>
        </p:nvSpPr>
        <p:spPr bwMode="auto">
          <a:xfrm>
            <a:off x="819912" y="4675632"/>
            <a:ext cx="1066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>
                <a:solidFill>
                  <a:schemeClr val="accent2"/>
                </a:solidFill>
              </a:rPr>
              <a:t>Snumber</a:t>
            </a: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27" name="Oval 35"/>
          <p:cNvSpPr>
            <a:spLocks noChangeArrowheads="1"/>
          </p:cNvSpPr>
          <p:nvPr/>
        </p:nvSpPr>
        <p:spPr bwMode="auto">
          <a:xfrm>
            <a:off x="819912" y="5285232"/>
            <a:ext cx="1066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L/R?</a:t>
            </a:r>
          </a:p>
        </p:txBody>
      </p:sp>
      <p:sp>
        <p:nvSpPr>
          <p:cNvPr id="28" name="Line 36"/>
          <p:cNvSpPr>
            <a:spLocks noChangeShapeType="1"/>
          </p:cNvSpPr>
          <p:nvPr/>
        </p:nvSpPr>
        <p:spPr bwMode="auto">
          <a:xfrm>
            <a:off x="1886712" y="4904232"/>
            <a:ext cx="381000" cy="228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9" name="Line 37"/>
          <p:cNvSpPr>
            <a:spLocks noChangeShapeType="1"/>
          </p:cNvSpPr>
          <p:nvPr/>
        </p:nvSpPr>
        <p:spPr bwMode="auto">
          <a:xfrm flipH="1">
            <a:off x="1886712" y="5285232"/>
            <a:ext cx="381000" cy="228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64056" y="5107769"/>
            <a:ext cx="2428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i="1" dirty="0"/>
              <a:t>Building </a:t>
            </a:r>
            <a:r>
              <a:rPr lang="en-US" sz="2000" dirty="0"/>
              <a:t>(</a:t>
            </a:r>
            <a:r>
              <a:rPr lang="en-US" sz="2000" i="1" u="sng" dirty="0"/>
              <a:t>name</a:t>
            </a:r>
            <a:r>
              <a:rPr lang="en-US" sz="2000" dirty="0"/>
              <a:t>, </a:t>
            </a:r>
            <a:r>
              <a:rPr lang="en-US" sz="2000" i="1" dirty="0"/>
              <a:t>year</a:t>
            </a:r>
            <a:r>
              <a:rPr lang="en-US" sz="2000" dirty="0"/>
              <a:t>)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FE30088-5EC2-4A33-B38E-735E43A91AC2}"/>
              </a:ext>
            </a:extLst>
          </p:cNvPr>
          <p:cNvCxnSpPr>
            <a:cxnSpLocks/>
          </p:cNvCxnSpPr>
          <p:nvPr/>
        </p:nvCxnSpPr>
        <p:spPr>
          <a:xfrm flipV="1">
            <a:off x="996059" y="3037332"/>
            <a:ext cx="687414" cy="1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7B19D8B-BBA5-4741-B1C4-865CBD2CDBE3}"/>
              </a:ext>
            </a:extLst>
          </p:cNvPr>
          <p:cNvCxnSpPr>
            <a:cxnSpLocks/>
          </p:cNvCxnSpPr>
          <p:nvPr/>
        </p:nvCxnSpPr>
        <p:spPr>
          <a:xfrm flipV="1">
            <a:off x="992673" y="5045615"/>
            <a:ext cx="687414" cy="1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CCFCFAF-49B7-764E-9E70-4467185805C3}"/>
              </a:ext>
            </a:extLst>
          </p:cNvPr>
          <p:cNvCxnSpPr>
            <a:stCxn id="25" idx="1"/>
            <a:endCxn id="20" idx="2"/>
          </p:cNvCxnSpPr>
          <p:nvPr/>
        </p:nvCxnSpPr>
        <p:spPr>
          <a:xfrm flipH="1" flipV="1">
            <a:off x="2763012" y="4523232"/>
            <a:ext cx="6351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6FDFFB9-D22F-CD4E-BF1C-3DE373947043}"/>
              </a:ext>
            </a:extLst>
          </p:cNvPr>
          <p:cNvCxnSpPr>
            <a:cxnSpLocks/>
            <a:stCxn id="7" idx="0"/>
            <a:endCxn id="7" idx="1"/>
          </p:cNvCxnSpPr>
          <p:nvPr/>
        </p:nvCxnSpPr>
        <p:spPr>
          <a:xfrm>
            <a:off x="3258312" y="3227832"/>
            <a:ext cx="4572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BE019B0-0010-4295-A6F2-0BE196067828}"/>
              </a:ext>
            </a:extLst>
          </p:cNvPr>
          <p:cNvSpPr txBox="1"/>
          <p:nvPr/>
        </p:nvSpPr>
        <p:spPr>
          <a:xfrm>
            <a:off x="2191512" y="5471940"/>
            <a:ext cx="6931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i="1" dirty="0"/>
              <a:t>Room</a:t>
            </a:r>
            <a:r>
              <a:rPr lang="en-US" sz="2000" dirty="0"/>
              <a:t> (</a:t>
            </a:r>
            <a:r>
              <a:rPr lang="en-US" sz="2000" i="1" u="sng" dirty="0" err="1"/>
              <a:t>building_name</a:t>
            </a:r>
            <a:r>
              <a:rPr lang="en-US" sz="2000" dirty="0"/>
              <a:t>, </a:t>
            </a:r>
            <a:r>
              <a:rPr lang="en-US" sz="2000" i="1" u="sng" dirty="0" err="1"/>
              <a:t>room_number</a:t>
            </a:r>
            <a:r>
              <a:rPr lang="en-US" sz="2000" dirty="0"/>
              <a:t>, </a:t>
            </a:r>
            <a:r>
              <a:rPr lang="en-US" sz="2000" i="1" dirty="0"/>
              <a:t>capacity</a:t>
            </a:r>
            <a:r>
              <a:rPr lang="en-US" sz="2000" dirty="0"/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BC0402-99A2-4DDE-A5CC-E32668FDB6EA}"/>
              </a:ext>
            </a:extLst>
          </p:cNvPr>
          <p:cNvSpPr txBox="1"/>
          <p:nvPr/>
        </p:nvSpPr>
        <p:spPr>
          <a:xfrm>
            <a:off x="1994154" y="5810256"/>
            <a:ext cx="7079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i="1" dirty="0"/>
              <a:t>Seat</a:t>
            </a:r>
            <a:r>
              <a:rPr lang="en-US" sz="2000" dirty="0"/>
              <a:t> (</a:t>
            </a:r>
            <a:r>
              <a:rPr lang="en-US" sz="2000" i="1" u="sng" dirty="0" err="1"/>
              <a:t>building_name</a:t>
            </a:r>
            <a:r>
              <a:rPr lang="en-US" sz="2000" dirty="0"/>
              <a:t>, </a:t>
            </a:r>
            <a:r>
              <a:rPr lang="en-US" sz="2000" i="1" u="sng" dirty="0" err="1"/>
              <a:t>room_number</a:t>
            </a:r>
            <a:r>
              <a:rPr lang="en-US" sz="2000" dirty="0"/>
              <a:t>, </a:t>
            </a:r>
            <a:r>
              <a:rPr lang="en-US" sz="2000" i="1" u="sng" dirty="0" err="1"/>
              <a:t>seat_number</a:t>
            </a:r>
            <a:r>
              <a:rPr lang="en-US" sz="2000" dirty="0"/>
              <a:t>, </a:t>
            </a:r>
            <a:r>
              <a:rPr lang="en-US" sz="2000" i="1" dirty="0" err="1"/>
              <a:t>left_or_right</a:t>
            </a:r>
            <a:r>
              <a:rPr lang="en-US" sz="2000" dirty="0"/>
              <a:t>)</a:t>
            </a:r>
          </a:p>
        </p:txBody>
      </p:sp>
      <p:sp>
        <p:nvSpPr>
          <p:cNvPr id="42" name="Oval 15">
            <a:extLst>
              <a:ext uri="{FF2B5EF4-FFF2-40B4-BE49-F238E27FC236}">
                <a16:creationId xmlns:a16="http://schemas.microsoft.com/office/drawing/2014/main" id="{07FE196E-72F5-4C0D-B477-FF59B83F0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6111" y="5437632"/>
            <a:ext cx="1728207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 u="sng" dirty="0">
              <a:solidFill>
                <a:schemeClr val="accent2"/>
              </a:solidFill>
            </a:endParaRPr>
          </a:p>
        </p:txBody>
      </p:sp>
      <p:sp>
        <p:nvSpPr>
          <p:cNvPr id="43" name="Oval 15">
            <a:extLst>
              <a:ext uri="{FF2B5EF4-FFF2-40B4-BE49-F238E27FC236}">
                <a16:creationId xmlns:a16="http://schemas.microsoft.com/office/drawing/2014/main" id="{1D761C25-CDC5-4809-AF98-CFC7D29DB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636" y="5755392"/>
            <a:ext cx="3297828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 u="sng" dirty="0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566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relationship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relationship set translates to a table</a:t>
                </a:r>
              </a:p>
              <a:p>
                <a:pPr lvl="1"/>
                <a:r>
                  <a:rPr lang="en-US" dirty="0"/>
                  <a:t>Keys of connected entity sets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columns</a:t>
                </a:r>
              </a:p>
              <a:p>
                <a:pPr lvl="1"/>
                <a:r>
                  <a:rPr lang="en-US" dirty="0"/>
                  <a:t>Attributes of the relationship set (if any)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columns</a:t>
                </a:r>
              </a:p>
              <a:p>
                <a:pPr lvl="1"/>
                <a:r>
                  <a:rPr lang="en-US" dirty="0"/>
                  <a:t>Multiplicity of the relationship set determines the key of the table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42" t="-1968" r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</a:t>
            </a:fld>
            <a:endParaRPr lang="en-US"/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601342" y="3511200"/>
            <a:ext cx="8001000" cy="1066800"/>
            <a:chOff x="288" y="2112"/>
            <a:chExt cx="5040" cy="672"/>
          </a:xfrm>
        </p:grpSpPr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Groups</a:t>
              </a: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gid</a:t>
              </a:r>
              <a:endParaRPr lang="en-US" i="1" u="sng" dirty="0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5" name="AutoShape 9"/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>
                  <a:solidFill>
                    <a:schemeClr val="accent2"/>
                  </a:solidFill>
                </a:rPr>
                <a:t>IsMemberOf</a:t>
              </a:r>
              <a:endParaRPr lang="en-US" i="1" dirty="0">
                <a:solidFill>
                  <a:schemeClr val="accent2"/>
                </a:solidFill>
              </a:endParaRP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uid</a:t>
              </a:r>
              <a:endParaRPr lang="en-US" i="1" u="sng" dirty="0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34"/>
          <p:cNvGrpSpPr>
            <a:grpSpLocks/>
          </p:cNvGrpSpPr>
          <p:nvPr/>
        </p:nvGrpSpPr>
        <p:grpSpPr bwMode="auto">
          <a:xfrm>
            <a:off x="4106542" y="4425600"/>
            <a:ext cx="1066800" cy="609600"/>
            <a:chOff x="2496" y="1872"/>
            <a:chExt cx="672" cy="384"/>
          </a:xfrm>
        </p:grpSpPr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2496" y="1968"/>
              <a:ext cx="672" cy="288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>
                  <a:solidFill>
                    <a:schemeClr val="accent2"/>
                  </a:solidFill>
                </a:rPr>
                <a:t>fromDate</a:t>
              </a:r>
              <a:endParaRPr lang="en-US" i="1" dirty="0">
                <a:solidFill>
                  <a:schemeClr val="accent2"/>
                </a:solidFill>
              </a:endParaRPr>
            </a:p>
          </p:txBody>
        </p:sp>
        <p:sp>
          <p:nvSpPr>
            <p:cNvPr id="26" name="Line 32"/>
            <p:cNvSpPr>
              <a:spLocks noChangeShapeType="1"/>
            </p:cNvSpPr>
            <p:nvPr/>
          </p:nvSpPr>
          <p:spPr bwMode="auto">
            <a:xfrm>
              <a:off x="2832" y="1872"/>
              <a:ext cx="0" cy="9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2818813" y="5304605"/>
            <a:ext cx="3826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accent2"/>
                </a:solidFill>
              </a:rPr>
              <a:t>Member 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en-US" sz="2400" i="1" u="sng" dirty="0" err="1">
                <a:solidFill>
                  <a:schemeClr val="accent2"/>
                </a:solidFill>
              </a:rPr>
              <a:t>uid</a:t>
            </a:r>
            <a:r>
              <a:rPr lang="en-US" sz="2400" dirty="0">
                <a:solidFill>
                  <a:schemeClr val="accent2"/>
                </a:solidFill>
              </a:rPr>
              <a:t>, </a:t>
            </a:r>
            <a:r>
              <a:rPr lang="en-US" sz="2400" i="1" u="sng" dirty="0" err="1">
                <a:solidFill>
                  <a:schemeClr val="accent2"/>
                </a:solidFill>
              </a:rPr>
              <a:t>gid</a:t>
            </a:r>
            <a:r>
              <a:rPr lang="en-US" sz="2400" dirty="0">
                <a:solidFill>
                  <a:schemeClr val="accent2"/>
                </a:solidFill>
              </a:rPr>
              <a:t>, </a:t>
            </a:r>
            <a:r>
              <a:rPr lang="en-US" sz="2400" i="1" dirty="0" err="1">
                <a:solidFill>
                  <a:schemeClr val="accent2"/>
                </a:solidFill>
              </a:rPr>
              <a:t>fromDate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52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</a:t>
            </a:fld>
            <a:endParaRPr lang="en-US"/>
          </a:p>
        </p:txBody>
      </p:sp>
      <p:grpSp>
        <p:nvGrpSpPr>
          <p:cNvPr id="21" name="Group 35"/>
          <p:cNvGrpSpPr>
            <a:grpSpLocks/>
          </p:cNvGrpSpPr>
          <p:nvPr/>
        </p:nvGrpSpPr>
        <p:grpSpPr bwMode="auto">
          <a:xfrm>
            <a:off x="1106424" y="2124138"/>
            <a:ext cx="3086100" cy="1350963"/>
            <a:chOff x="2448" y="2988"/>
            <a:chExt cx="1944" cy="851"/>
          </a:xfrm>
        </p:grpSpPr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2448" y="3272"/>
              <a:ext cx="62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23" name="AutoShape 5"/>
            <p:cNvSpPr>
              <a:spLocks noChangeArrowheads="1"/>
            </p:cNvSpPr>
            <p:nvPr/>
          </p:nvSpPr>
          <p:spPr bwMode="auto">
            <a:xfrm>
              <a:off x="3456" y="3224"/>
              <a:ext cx="936" cy="384"/>
            </a:xfrm>
            <a:prstGeom prst="flowChartDecision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>
                  <a:solidFill>
                    <a:schemeClr val="accent2"/>
                  </a:solidFill>
                </a:rPr>
                <a:t>IsParentOf</a:t>
              </a:r>
              <a:endParaRPr lang="en-US" i="1" dirty="0">
                <a:solidFill>
                  <a:schemeClr val="accent2"/>
                </a:solidFill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3072" y="3168"/>
              <a:ext cx="624" cy="152"/>
            </a:xfrm>
            <a:custGeom>
              <a:avLst/>
              <a:gdLst>
                <a:gd name="T0" fmla="*/ 0 w 624"/>
                <a:gd name="T1" fmla="*/ 104 h 152"/>
                <a:gd name="T2" fmla="*/ 288 w 624"/>
                <a:gd name="T3" fmla="*/ 8 h 152"/>
                <a:gd name="T4" fmla="*/ 624 w 624"/>
                <a:gd name="T5" fmla="*/ 152 h 152"/>
                <a:gd name="T6" fmla="*/ 0 60000 65536"/>
                <a:gd name="T7" fmla="*/ 0 60000 65536"/>
                <a:gd name="T8" fmla="*/ 0 60000 65536"/>
                <a:gd name="T9" fmla="*/ 0 w 624"/>
                <a:gd name="T10" fmla="*/ 0 h 152"/>
                <a:gd name="T11" fmla="*/ 624 w 624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152">
                  <a:moveTo>
                    <a:pt x="0" y="104"/>
                  </a:moveTo>
                  <a:cubicBezTo>
                    <a:pt x="92" y="52"/>
                    <a:pt x="184" y="0"/>
                    <a:pt x="288" y="8"/>
                  </a:cubicBezTo>
                  <a:cubicBezTo>
                    <a:pt x="392" y="16"/>
                    <a:pt x="508" y="84"/>
                    <a:pt x="624" y="152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 flipV="1">
              <a:off x="3072" y="3512"/>
              <a:ext cx="624" cy="152"/>
            </a:xfrm>
            <a:custGeom>
              <a:avLst/>
              <a:gdLst>
                <a:gd name="T0" fmla="*/ 0 w 624"/>
                <a:gd name="T1" fmla="*/ 104 h 152"/>
                <a:gd name="T2" fmla="*/ 288 w 624"/>
                <a:gd name="T3" fmla="*/ 8 h 152"/>
                <a:gd name="T4" fmla="*/ 624 w 624"/>
                <a:gd name="T5" fmla="*/ 152 h 152"/>
                <a:gd name="T6" fmla="*/ 0 60000 65536"/>
                <a:gd name="T7" fmla="*/ 0 60000 65536"/>
                <a:gd name="T8" fmla="*/ 0 60000 65536"/>
                <a:gd name="T9" fmla="*/ 0 w 624"/>
                <a:gd name="T10" fmla="*/ 0 h 152"/>
                <a:gd name="T11" fmla="*/ 624 w 624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152">
                  <a:moveTo>
                    <a:pt x="0" y="104"/>
                  </a:moveTo>
                  <a:cubicBezTo>
                    <a:pt x="92" y="52"/>
                    <a:pt x="184" y="0"/>
                    <a:pt x="288" y="8"/>
                  </a:cubicBezTo>
                  <a:cubicBezTo>
                    <a:pt x="392" y="16"/>
                    <a:pt x="508" y="84"/>
                    <a:pt x="624" y="152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Box 9"/>
            <p:cNvSpPr txBox="1">
              <a:spLocks noChangeArrowheads="1"/>
            </p:cNvSpPr>
            <p:nvPr/>
          </p:nvSpPr>
          <p:spPr bwMode="auto">
            <a:xfrm>
              <a:off x="3095" y="2988"/>
              <a:ext cx="515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1800" i="1" dirty="0">
                  <a:solidFill>
                    <a:schemeClr val="accent2"/>
                  </a:solidFill>
                  <a:latin typeface="+mn-lt"/>
                </a:rPr>
                <a:t>parent</a:t>
              </a:r>
            </a:p>
          </p:txBody>
        </p:sp>
        <p:sp>
          <p:nvSpPr>
            <p:cNvPr id="27" name="Text Box 10"/>
            <p:cNvSpPr txBox="1">
              <a:spLocks noChangeArrowheads="1"/>
            </p:cNvSpPr>
            <p:nvPr/>
          </p:nvSpPr>
          <p:spPr bwMode="auto">
            <a:xfrm>
              <a:off x="3165" y="3606"/>
              <a:ext cx="399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1800" i="1" dirty="0">
                  <a:solidFill>
                    <a:schemeClr val="accent2"/>
                  </a:solidFill>
                  <a:latin typeface="+mn-lt"/>
                </a:rPr>
                <a:t>child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793909" y="2530538"/>
            <a:ext cx="4015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accent2"/>
                </a:solidFill>
              </a:rPr>
              <a:t>Parent 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en-US" sz="2400" i="1" u="sng" dirty="0" err="1">
                <a:solidFill>
                  <a:schemeClr val="accent2"/>
                </a:solidFill>
              </a:rPr>
              <a:t>parent_uid</a:t>
            </a:r>
            <a:r>
              <a:rPr lang="en-US" sz="2400" dirty="0">
                <a:solidFill>
                  <a:schemeClr val="accent2"/>
                </a:solidFill>
              </a:rPr>
              <a:t>, </a:t>
            </a:r>
            <a:r>
              <a:rPr lang="en-US" sz="2400" i="1" u="sng" dirty="0" err="1">
                <a:solidFill>
                  <a:schemeClr val="accent2"/>
                </a:solidFill>
              </a:rPr>
              <a:t>child_uid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483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double diamonds?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need to translate because the relationship is implicit in the weak entity set’s translation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11100" y="313279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Rooms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3358900" y="3056590"/>
            <a:ext cx="1143000" cy="609600"/>
          </a:xfrm>
          <a:prstGeom prst="flowChartDecision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In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2901700" y="3361390"/>
            <a:ext cx="457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4501900" y="3361390"/>
            <a:ext cx="4572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959100" y="313279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Buildings</a:t>
            </a: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3511300" y="3132790"/>
            <a:ext cx="838200" cy="457200"/>
          </a:xfrm>
          <a:prstGeom prst="flowChartDecision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>
              <a:solidFill>
                <a:schemeClr val="accent2"/>
              </a:solidFill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987300" y="320899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6483100" y="282799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6483100" y="343759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year</a:t>
            </a:r>
          </a:p>
        </p:txBody>
      </p:sp>
      <p:sp>
        <p:nvSpPr>
          <p:cNvPr id="14" name="Oval 18"/>
          <p:cNvSpPr>
            <a:spLocks noChangeArrowheads="1"/>
          </p:cNvSpPr>
          <p:nvPr/>
        </p:nvSpPr>
        <p:spPr bwMode="auto">
          <a:xfrm>
            <a:off x="463300" y="282799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number</a:t>
            </a:r>
          </a:p>
        </p:txBody>
      </p:sp>
      <p:sp>
        <p:nvSpPr>
          <p:cNvPr id="15" name="Oval 19"/>
          <p:cNvSpPr>
            <a:spLocks noChangeArrowheads="1"/>
          </p:cNvSpPr>
          <p:nvPr/>
        </p:nvSpPr>
        <p:spPr bwMode="auto">
          <a:xfrm>
            <a:off x="463300" y="343759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capacity</a:t>
            </a: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>
            <a:off x="1530100" y="305659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H="1">
            <a:off x="1530100" y="343759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4"/>
          <p:cNvSpPr>
            <a:spLocks noChangeShapeType="1"/>
          </p:cNvSpPr>
          <p:nvPr/>
        </p:nvSpPr>
        <p:spPr bwMode="auto">
          <a:xfrm flipV="1">
            <a:off x="6178300" y="305659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5"/>
          <p:cNvSpPr>
            <a:spLocks noChangeShapeType="1"/>
          </p:cNvSpPr>
          <p:nvPr/>
        </p:nvSpPr>
        <p:spPr bwMode="auto">
          <a:xfrm>
            <a:off x="6178300" y="343759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AutoShape 26"/>
          <p:cNvSpPr>
            <a:spLocks noChangeArrowheads="1"/>
          </p:cNvSpPr>
          <p:nvPr/>
        </p:nvSpPr>
        <p:spPr bwMode="auto">
          <a:xfrm>
            <a:off x="1834900" y="4047190"/>
            <a:ext cx="1143000" cy="6096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In</a:t>
            </a:r>
          </a:p>
        </p:txBody>
      </p:sp>
      <p:sp>
        <p:nvSpPr>
          <p:cNvPr id="21" name="AutoShape 27"/>
          <p:cNvSpPr>
            <a:spLocks noChangeArrowheads="1"/>
          </p:cNvSpPr>
          <p:nvPr/>
        </p:nvSpPr>
        <p:spPr bwMode="auto">
          <a:xfrm>
            <a:off x="1987300" y="4123390"/>
            <a:ext cx="8382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22" name="Rectangle 28"/>
          <p:cNvSpPr>
            <a:spLocks noChangeArrowheads="1"/>
          </p:cNvSpPr>
          <p:nvPr/>
        </p:nvSpPr>
        <p:spPr bwMode="auto">
          <a:xfrm>
            <a:off x="1911100" y="511399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Seats</a:t>
            </a:r>
          </a:p>
        </p:txBody>
      </p:sp>
      <p:sp>
        <p:nvSpPr>
          <p:cNvPr id="23" name="Rectangle 29"/>
          <p:cNvSpPr>
            <a:spLocks noChangeArrowheads="1"/>
          </p:cNvSpPr>
          <p:nvPr/>
        </p:nvSpPr>
        <p:spPr bwMode="auto">
          <a:xfrm>
            <a:off x="1987300" y="5190190"/>
            <a:ext cx="838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30"/>
          <p:cNvSpPr>
            <a:spLocks noChangeShapeType="1"/>
          </p:cNvSpPr>
          <p:nvPr/>
        </p:nvSpPr>
        <p:spPr bwMode="auto">
          <a:xfrm>
            <a:off x="2411163" y="358999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31"/>
          <p:cNvSpPr>
            <a:spLocks noChangeShapeType="1"/>
          </p:cNvSpPr>
          <p:nvPr/>
        </p:nvSpPr>
        <p:spPr bwMode="auto">
          <a:xfrm>
            <a:off x="2412750" y="465679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Oval 34"/>
          <p:cNvSpPr>
            <a:spLocks noChangeArrowheads="1"/>
          </p:cNvSpPr>
          <p:nvPr/>
        </p:nvSpPr>
        <p:spPr bwMode="auto">
          <a:xfrm>
            <a:off x="463300" y="480919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number</a:t>
            </a:r>
          </a:p>
        </p:txBody>
      </p:sp>
      <p:sp>
        <p:nvSpPr>
          <p:cNvPr id="27" name="Oval 35"/>
          <p:cNvSpPr>
            <a:spLocks noChangeArrowheads="1"/>
          </p:cNvSpPr>
          <p:nvPr/>
        </p:nvSpPr>
        <p:spPr bwMode="auto">
          <a:xfrm>
            <a:off x="463300" y="541879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L/R?</a:t>
            </a:r>
          </a:p>
        </p:txBody>
      </p:sp>
      <p:sp>
        <p:nvSpPr>
          <p:cNvPr id="28" name="Line 36"/>
          <p:cNvSpPr>
            <a:spLocks noChangeShapeType="1"/>
          </p:cNvSpPr>
          <p:nvPr/>
        </p:nvSpPr>
        <p:spPr bwMode="auto">
          <a:xfrm>
            <a:off x="1530100" y="503779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37"/>
          <p:cNvSpPr>
            <a:spLocks noChangeShapeType="1"/>
          </p:cNvSpPr>
          <p:nvPr/>
        </p:nvSpPr>
        <p:spPr bwMode="auto">
          <a:xfrm flipH="1">
            <a:off x="1530100" y="541879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3560259" y="4069782"/>
            <a:ext cx="51603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>
                <a:solidFill>
                  <a:schemeClr val="accent2"/>
                </a:solidFill>
              </a:rPr>
              <a:t>RoomInBuilding</a:t>
            </a:r>
            <a:r>
              <a:rPr lang="en-US" sz="2000" i="1" dirty="0">
                <a:solidFill>
                  <a:schemeClr val="accent2"/>
                </a:solidFill>
              </a:rPr>
              <a:t> </a:t>
            </a:r>
            <a:br>
              <a:rPr lang="en-US" sz="2000" i="1" dirty="0">
                <a:solidFill>
                  <a:schemeClr val="accent2"/>
                </a:solidFill>
              </a:rPr>
            </a:br>
            <a:r>
              <a:rPr lang="en-US" sz="2000" i="1" dirty="0">
                <a:solidFill>
                  <a:schemeClr val="accent2"/>
                </a:solidFill>
              </a:rPr>
              <a:t>	</a:t>
            </a:r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i="1" u="sng" dirty="0" err="1">
                <a:solidFill>
                  <a:schemeClr val="accent2"/>
                </a:solidFill>
              </a:rPr>
              <a:t>room_building_name</a:t>
            </a:r>
            <a:r>
              <a:rPr lang="en-US" sz="2000" dirty="0">
                <a:solidFill>
                  <a:schemeClr val="accent2"/>
                </a:solidFill>
              </a:rPr>
              <a:t>, </a:t>
            </a:r>
            <a:r>
              <a:rPr lang="en-US" sz="2000" i="1" u="sng" dirty="0" err="1">
                <a:solidFill>
                  <a:schemeClr val="accent2"/>
                </a:solidFill>
              </a:rPr>
              <a:t>room_number</a:t>
            </a:r>
            <a:r>
              <a:rPr lang="en-US" sz="2000" dirty="0">
                <a:solidFill>
                  <a:schemeClr val="accent2"/>
                </a:solidFill>
              </a:rPr>
              <a:t>,</a:t>
            </a:r>
            <a:br>
              <a:rPr lang="en-US" sz="2000" dirty="0">
                <a:solidFill>
                  <a:schemeClr val="accent2"/>
                </a:solidFill>
              </a:rPr>
            </a:br>
            <a:r>
              <a:rPr lang="en-US" sz="2000" dirty="0">
                <a:solidFill>
                  <a:schemeClr val="accent2"/>
                </a:solidFill>
              </a:rPr>
              <a:t>	  </a:t>
            </a:r>
            <a:r>
              <a:rPr lang="en-US" sz="2000" i="1" dirty="0" err="1">
                <a:solidFill>
                  <a:schemeClr val="accent2"/>
                </a:solidFill>
              </a:rPr>
              <a:t>building_name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54C255-520B-471D-9539-BC45E1E0DF48}"/>
              </a:ext>
            </a:extLst>
          </p:cNvPr>
          <p:cNvCxnSpPr/>
          <p:nvPr/>
        </p:nvCxnSpPr>
        <p:spPr>
          <a:xfrm>
            <a:off x="2901700" y="3361390"/>
            <a:ext cx="45720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DA24BA1-5D8B-4C7E-B18E-B6380DCD0A30}"/>
              </a:ext>
            </a:extLst>
          </p:cNvPr>
          <p:cNvCxnSpPr/>
          <p:nvPr/>
        </p:nvCxnSpPr>
        <p:spPr>
          <a:xfrm flipH="1" flipV="1">
            <a:off x="2404390" y="4633883"/>
            <a:ext cx="6351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81F7344-51D6-46F0-BE75-2073C0F56B17}"/>
              </a:ext>
            </a:extLst>
          </p:cNvPr>
          <p:cNvCxnSpPr>
            <a:cxnSpLocks/>
          </p:cNvCxnSpPr>
          <p:nvPr/>
        </p:nvCxnSpPr>
        <p:spPr>
          <a:xfrm flipV="1">
            <a:off x="671887" y="3170890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EE1E181-A4F8-4884-AF3F-0F3A85C1AED9}"/>
              </a:ext>
            </a:extLst>
          </p:cNvPr>
          <p:cNvCxnSpPr>
            <a:cxnSpLocks/>
          </p:cNvCxnSpPr>
          <p:nvPr/>
        </p:nvCxnSpPr>
        <p:spPr>
          <a:xfrm flipV="1">
            <a:off x="626714" y="5152090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2730BA4-A486-41F6-A3EC-EF96A3EF3F91}"/>
              </a:ext>
            </a:extLst>
          </p:cNvPr>
          <p:cNvSpPr txBox="1"/>
          <p:nvPr/>
        </p:nvSpPr>
        <p:spPr>
          <a:xfrm>
            <a:off x="3690751" y="5135094"/>
            <a:ext cx="55846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is subsumed by</a:t>
            </a:r>
          </a:p>
          <a:p>
            <a:r>
              <a:rPr lang="en-US" sz="2000" i="1" dirty="0">
                <a:solidFill>
                  <a:schemeClr val="accent2"/>
                </a:solidFill>
              </a:rPr>
              <a:t>Room</a:t>
            </a:r>
            <a:r>
              <a:rPr lang="en-US" sz="2000" dirty="0">
                <a:solidFill>
                  <a:schemeClr val="accent2"/>
                </a:solidFill>
              </a:rPr>
              <a:t> (</a:t>
            </a:r>
            <a:r>
              <a:rPr lang="en-US" sz="2000" i="1" u="sng" dirty="0" err="1">
                <a:solidFill>
                  <a:schemeClr val="accent2"/>
                </a:solidFill>
              </a:rPr>
              <a:t>building_name</a:t>
            </a:r>
            <a:r>
              <a:rPr lang="en-US" sz="2000" dirty="0">
                <a:solidFill>
                  <a:schemeClr val="accent2"/>
                </a:solidFill>
              </a:rPr>
              <a:t>, </a:t>
            </a:r>
            <a:r>
              <a:rPr lang="en-US" sz="2000" i="1" u="sng" dirty="0" err="1">
                <a:solidFill>
                  <a:schemeClr val="accent2"/>
                </a:solidFill>
              </a:rPr>
              <a:t>room_number</a:t>
            </a:r>
            <a:r>
              <a:rPr lang="en-US" sz="2000" dirty="0">
                <a:solidFill>
                  <a:schemeClr val="accent2"/>
                </a:solidFill>
              </a:rPr>
              <a:t>, </a:t>
            </a:r>
            <a:r>
              <a:rPr lang="en-US" sz="2000" i="1" dirty="0">
                <a:solidFill>
                  <a:schemeClr val="accent2"/>
                </a:solidFill>
              </a:rPr>
              <a:t>capacity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054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Translating subclasses &amp; ISA: </a:t>
            </a:r>
            <a:r>
              <a:rPr lang="en-US" sz="2800" dirty="0"/>
              <a:t>approach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Entity-in-all-</a:t>
            </a:r>
            <a:r>
              <a:rPr lang="en-US" dirty="0" err="1">
                <a:solidFill>
                  <a:schemeClr val="accent2"/>
                </a:solidFill>
              </a:rPr>
              <a:t>superclasses</a:t>
            </a:r>
            <a:r>
              <a:rPr lang="en-US" dirty="0"/>
              <a:t> approach (</a:t>
            </a:r>
            <a:r>
              <a:rPr lang="en-US" dirty="0">
                <a:solidFill>
                  <a:schemeClr val="accent2"/>
                </a:solidFill>
              </a:rPr>
              <a:t>“E/R style”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 entity is represented in the table for each subclass to which it belongs</a:t>
            </a:r>
          </a:p>
          <a:p>
            <a:pPr lvl="1"/>
            <a:r>
              <a:rPr lang="en-US" dirty="0"/>
              <a:t>A table includes only the attributes directly attached to the corresponding entity set, plus the inherited key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621197" y="3582211"/>
            <a:ext cx="8001000" cy="1066800"/>
            <a:chOff x="288" y="2112"/>
            <a:chExt cx="5040" cy="672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Groups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gid</a:t>
              </a:r>
              <a:endParaRPr lang="en-US" i="1" u="sng" dirty="0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IsMemberOf</a:t>
              </a:r>
              <a:endParaRPr lang="en-US" i="1" dirty="0"/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uid</a:t>
              </a:r>
              <a:endParaRPr lang="en-US" i="1" u="sng" dirty="0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4126397" y="4496611"/>
            <a:ext cx="1066800" cy="609600"/>
            <a:chOff x="2496" y="1872"/>
            <a:chExt cx="672" cy="384"/>
          </a:xfrm>
        </p:grpSpPr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2496" y="1968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fromDate</a:t>
              </a:r>
              <a:endParaRPr lang="en-US" i="1" dirty="0"/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>
              <a:off x="2832" y="187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Oval 18"/>
          <p:cNvSpPr>
            <a:spLocks noChangeArrowheads="1"/>
          </p:cNvSpPr>
          <p:nvPr/>
        </p:nvSpPr>
        <p:spPr bwMode="auto">
          <a:xfrm>
            <a:off x="598005" y="5258675"/>
            <a:ext cx="1066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>
                <a:solidFill>
                  <a:schemeClr val="accent2"/>
                </a:solidFill>
              </a:rPr>
              <a:t>avatar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1947380" y="5182475"/>
            <a:ext cx="1600200" cy="6096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>
                <a:solidFill>
                  <a:schemeClr val="accent2"/>
                </a:solidFill>
              </a:rPr>
              <a:t>PaidUsers</a:t>
            </a: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24" name="AutoShape 21"/>
          <p:cNvSpPr>
            <a:spLocks noChangeArrowheads="1"/>
          </p:cNvSpPr>
          <p:nvPr/>
        </p:nvSpPr>
        <p:spPr bwMode="auto">
          <a:xfrm>
            <a:off x="2274405" y="4572875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ISA</a:t>
            </a: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664805" y="5487275"/>
            <a:ext cx="304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V="1">
            <a:off x="2731605" y="4420475"/>
            <a:ext cx="0" cy="152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 flipV="1">
            <a:off x="2731605" y="5030075"/>
            <a:ext cx="0" cy="152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5763490" y="5298018"/>
            <a:ext cx="338051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 i="1" dirty="0"/>
              <a:t>Group</a:t>
            </a:r>
            <a:r>
              <a:rPr lang="en-US" sz="2000" dirty="0"/>
              <a:t> (</a:t>
            </a:r>
            <a:r>
              <a:rPr lang="en-US" sz="2000" i="1" u="sng" dirty="0" err="1"/>
              <a:t>gid</a:t>
            </a:r>
            <a:r>
              <a:rPr lang="en-US" sz="2000" dirty="0"/>
              <a:t>, </a:t>
            </a:r>
            <a:r>
              <a:rPr lang="en-US" sz="2000" i="1" dirty="0"/>
              <a:t>name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User</a:t>
            </a:r>
            <a:r>
              <a:rPr lang="en-US" sz="2000" dirty="0"/>
              <a:t> (</a:t>
            </a:r>
            <a:r>
              <a:rPr lang="en-US" sz="2000" i="1" u="sng" dirty="0" err="1"/>
              <a:t>uid</a:t>
            </a:r>
            <a:r>
              <a:rPr lang="en-US" sz="2000" dirty="0"/>
              <a:t>, </a:t>
            </a:r>
            <a:r>
              <a:rPr lang="en-US" sz="2000" i="1" dirty="0"/>
              <a:t>name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Member</a:t>
            </a:r>
            <a:r>
              <a:rPr lang="en-US" sz="2000" dirty="0"/>
              <a:t> (</a:t>
            </a:r>
            <a:r>
              <a:rPr lang="en-US" sz="2000" i="1" u="sng" dirty="0" err="1"/>
              <a:t>uid</a:t>
            </a:r>
            <a:r>
              <a:rPr lang="en-US" sz="2000" dirty="0"/>
              <a:t>, </a:t>
            </a:r>
            <a:r>
              <a:rPr lang="en-US" sz="2000" i="1" u="sng" dirty="0"/>
              <a:t>gid</a:t>
            </a:r>
            <a:r>
              <a:rPr lang="en-US" sz="2000" dirty="0"/>
              <a:t>, </a:t>
            </a:r>
            <a:r>
              <a:rPr lang="en-US" sz="2000" i="1" dirty="0" err="1"/>
              <a:t>from_date</a:t>
            </a:r>
            <a:r>
              <a:rPr lang="en-US" sz="2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20856" y="5497486"/>
                <a:ext cx="15744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142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Bart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dirty="0"/>
              </a:p>
              <a:p>
                <a:pPr algn="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456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Ralph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856" y="5497486"/>
                <a:ext cx="1574470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163" t="-6604" r="-116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614970" y="5659983"/>
                <a:ext cx="193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970" y="5659983"/>
                <a:ext cx="193963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21875" r="-25000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659797" y="6209801"/>
                <a:ext cx="1071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456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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797" y="6209801"/>
                <a:ext cx="1071127" cy="369332"/>
              </a:xfrm>
              <a:prstGeom prst="rect">
                <a:avLst/>
              </a:prstGeom>
              <a:blipFill>
                <a:blip r:embed="rId8"/>
                <a:stretch>
                  <a:fillRect l="-1705" t="-11667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619680" y="6255968"/>
                <a:ext cx="193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680" y="6255968"/>
                <a:ext cx="193963" cy="276999"/>
              </a:xfrm>
              <a:prstGeom prst="rect">
                <a:avLst/>
              </a:prstGeom>
              <a:blipFill>
                <a:blip r:embed="rId9"/>
                <a:stretch>
                  <a:fillRect l="-25000" r="-21875" b="-217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0E8BA464-66CD-4FEE-9E27-4909D5ED4419}"/>
              </a:ext>
            </a:extLst>
          </p:cNvPr>
          <p:cNvSpPr txBox="1"/>
          <p:nvPr/>
        </p:nvSpPr>
        <p:spPr>
          <a:xfrm>
            <a:off x="5763490" y="6197511"/>
            <a:ext cx="4599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 i="1" dirty="0" err="1">
                <a:solidFill>
                  <a:schemeClr val="accent2"/>
                </a:solidFill>
              </a:rPr>
              <a:t>PaidUser</a:t>
            </a:r>
            <a:r>
              <a:rPr lang="en-US" sz="2000" dirty="0">
                <a:solidFill>
                  <a:schemeClr val="accent2"/>
                </a:solidFill>
              </a:rPr>
              <a:t> (</a:t>
            </a:r>
            <a:r>
              <a:rPr lang="en-US" sz="2000" i="1" u="sng" dirty="0" err="1">
                <a:solidFill>
                  <a:schemeClr val="accent2"/>
                </a:solidFill>
              </a:rPr>
              <a:t>uid</a:t>
            </a:r>
            <a:r>
              <a:rPr lang="en-US" sz="2000" dirty="0">
                <a:solidFill>
                  <a:schemeClr val="accent2"/>
                </a:solidFill>
              </a:rPr>
              <a:t>, </a:t>
            </a:r>
            <a:r>
              <a:rPr lang="en-US" sz="2000" i="1" dirty="0">
                <a:solidFill>
                  <a:schemeClr val="accent2"/>
                </a:solidFill>
              </a:rPr>
              <a:t>avatar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657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0" grpId="0"/>
      <p:bldP spid="32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subclasses &amp; ISA: </a:t>
            </a:r>
            <a:r>
              <a:rPr lang="en-US" sz="2800" dirty="0"/>
              <a:t>approach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Entity-in-most-specific-class</a:t>
            </a:r>
            <a:r>
              <a:rPr lang="en-US" dirty="0"/>
              <a:t> approach (</a:t>
            </a:r>
            <a:r>
              <a:rPr lang="en-US" dirty="0">
                <a:solidFill>
                  <a:schemeClr val="accent2"/>
                </a:solidFill>
              </a:rPr>
              <a:t>“OO style”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lvl="1"/>
            <a:r>
              <a:rPr lang="en-US" dirty="0"/>
              <a:t>An entity is only represented in one table (the most specific entity set to which the entity belongs)</a:t>
            </a:r>
          </a:p>
          <a:p>
            <a:pPr lvl="1"/>
            <a:r>
              <a:rPr lang="en-US" dirty="0"/>
              <a:t>A table includes the attributes attached to the corresponding entity set, plus all inherited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9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621197" y="3582211"/>
            <a:ext cx="8001000" cy="1066800"/>
            <a:chOff x="288" y="2112"/>
            <a:chExt cx="5040" cy="672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Groups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gid</a:t>
              </a:r>
              <a:endParaRPr lang="en-US" i="1" u="sng" dirty="0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IsMemberOf</a:t>
              </a:r>
              <a:endParaRPr lang="en-US" i="1" dirty="0"/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uid</a:t>
              </a:r>
              <a:endParaRPr lang="en-US" i="1" u="sng" dirty="0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4126397" y="4496611"/>
            <a:ext cx="1066800" cy="609600"/>
            <a:chOff x="2496" y="1872"/>
            <a:chExt cx="672" cy="384"/>
          </a:xfrm>
        </p:grpSpPr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2496" y="1968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fromDate</a:t>
              </a:r>
              <a:endParaRPr lang="en-US" i="1" dirty="0"/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>
              <a:off x="2832" y="187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Oval 18"/>
          <p:cNvSpPr>
            <a:spLocks noChangeArrowheads="1"/>
          </p:cNvSpPr>
          <p:nvPr/>
        </p:nvSpPr>
        <p:spPr bwMode="auto">
          <a:xfrm>
            <a:off x="598005" y="5258675"/>
            <a:ext cx="1066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>
                <a:solidFill>
                  <a:schemeClr val="accent2"/>
                </a:solidFill>
              </a:rPr>
              <a:t>avatar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1947380" y="5182475"/>
            <a:ext cx="1600200" cy="6096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>
                <a:solidFill>
                  <a:schemeClr val="accent2"/>
                </a:solidFill>
              </a:rPr>
              <a:t>PaidUsers</a:t>
            </a: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24" name="AutoShape 21"/>
          <p:cNvSpPr>
            <a:spLocks noChangeArrowheads="1"/>
          </p:cNvSpPr>
          <p:nvPr/>
        </p:nvSpPr>
        <p:spPr bwMode="auto">
          <a:xfrm>
            <a:off x="2274405" y="4572875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ISA</a:t>
            </a: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664805" y="5487275"/>
            <a:ext cx="304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V="1">
            <a:off x="2731605" y="4420475"/>
            <a:ext cx="0" cy="152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 flipV="1">
            <a:off x="2731605" y="5030075"/>
            <a:ext cx="0" cy="152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5763490" y="5298018"/>
            <a:ext cx="338051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 i="1" dirty="0"/>
              <a:t>Group</a:t>
            </a:r>
            <a:r>
              <a:rPr lang="en-US" sz="2000" dirty="0"/>
              <a:t> (</a:t>
            </a:r>
            <a:r>
              <a:rPr lang="en-US" sz="2000" i="1" u="sng" dirty="0" err="1"/>
              <a:t>gid</a:t>
            </a:r>
            <a:r>
              <a:rPr lang="en-US" sz="2000" dirty="0"/>
              <a:t>, </a:t>
            </a:r>
            <a:r>
              <a:rPr lang="en-US" sz="2000" i="1" dirty="0"/>
              <a:t>name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User</a:t>
            </a:r>
            <a:r>
              <a:rPr lang="en-US" sz="2000" dirty="0"/>
              <a:t> (</a:t>
            </a:r>
            <a:r>
              <a:rPr lang="en-US" sz="2000" i="1" u="sng" dirty="0" err="1"/>
              <a:t>uid</a:t>
            </a:r>
            <a:r>
              <a:rPr lang="en-US" sz="2000" dirty="0"/>
              <a:t>, </a:t>
            </a:r>
            <a:r>
              <a:rPr lang="en-US" sz="2000" i="1" dirty="0"/>
              <a:t>name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Member</a:t>
            </a:r>
            <a:r>
              <a:rPr lang="en-US" sz="2000" dirty="0"/>
              <a:t> (</a:t>
            </a:r>
            <a:r>
              <a:rPr lang="en-US" sz="2000" i="1" u="sng" dirty="0" err="1"/>
              <a:t>uid</a:t>
            </a:r>
            <a:r>
              <a:rPr lang="en-US" sz="2000" dirty="0"/>
              <a:t>, </a:t>
            </a:r>
            <a:r>
              <a:rPr lang="en-US" sz="2000" i="1" u="sng" dirty="0" err="1"/>
              <a:t>gid</a:t>
            </a:r>
            <a:r>
              <a:rPr lang="en-US" sz="2000" dirty="0"/>
              <a:t>, </a:t>
            </a:r>
            <a:r>
              <a:rPr lang="en-US" sz="2000" i="1" dirty="0" err="1"/>
              <a:t>from_date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000" i="1" dirty="0" err="1">
                <a:solidFill>
                  <a:schemeClr val="accent2"/>
                </a:solidFill>
              </a:rPr>
              <a:t>PaidUser</a:t>
            </a:r>
            <a:r>
              <a:rPr lang="en-US" sz="2000" dirty="0">
                <a:solidFill>
                  <a:schemeClr val="accent2"/>
                </a:solidFill>
              </a:rPr>
              <a:t> (</a:t>
            </a:r>
            <a:r>
              <a:rPr lang="en-US" sz="2000" i="1" u="sng" dirty="0" err="1">
                <a:solidFill>
                  <a:schemeClr val="accent2"/>
                </a:solidFill>
              </a:rPr>
              <a:t>uid</a:t>
            </a:r>
            <a:r>
              <a:rPr lang="en-US" sz="2000" dirty="0">
                <a:solidFill>
                  <a:schemeClr val="accent2"/>
                </a:solidFill>
              </a:rPr>
              <a:t>, </a:t>
            </a:r>
            <a:r>
              <a:rPr lang="en-US" sz="2000" i="1" dirty="0">
                <a:solidFill>
                  <a:schemeClr val="accent2"/>
                </a:solidFill>
              </a:rPr>
              <a:t>name</a:t>
            </a:r>
            <a:r>
              <a:rPr lang="en-US" sz="2000" dirty="0">
                <a:solidFill>
                  <a:schemeClr val="accent2"/>
                </a:solidFill>
              </a:rPr>
              <a:t>, </a:t>
            </a:r>
            <a:r>
              <a:rPr lang="en-US" sz="2000" i="1" dirty="0">
                <a:solidFill>
                  <a:schemeClr val="accent2"/>
                </a:solidFill>
              </a:rPr>
              <a:t>avatar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60318" y="5632720"/>
                <a:ext cx="1435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142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Bart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318" y="5632720"/>
                <a:ext cx="1435008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277" t="-9836" r="-127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839062" y="6209801"/>
                <a:ext cx="1875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456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Ralph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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062" y="6209801"/>
                <a:ext cx="1875835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977" t="-13333" r="-65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614970" y="5659983"/>
                <a:ext cx="193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970" y="5659983"/>
                <a:ext cx="193963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21875" r="-25000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619680" y="6255968"/>
                <a:ext cx="193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680" y="6255968"/>
                <a:ext cx="193963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25000" r="-21875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9505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subclasses &amp; ISA: </a:t>
            </a:r>
            <a:r>
              <a:rPr lang="en-US" sz="2800" dirty="0"/>
              <a:t>approach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All-entities-in-one-table</a:t>
            </a:r>
            <a:r>
              <a:rPr lang="en-US" dirty="0"/>
              <a:t> approach (</a:t>
            </a:r>
            <a:r>
              <a:rPr lang="en-US" dirty="0">
                <a:solidFill>
                  <a:schemeClr val="accent2"/>
                </a:solidFill>
              </a:rPr>
              <a:t>“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NULL</a:t>
            </a:r>
            <a:r>
              <a:rPr lang="en-US" dirty="0">
                <a:solidFill>
                  <a:schemeClr val="accent2"/>
                </a:solidFill>
              </a:rPr>
              <a:t> style”</a:t>
            </a:r>
            <a:r>
              <a:rPr lang="en-US" dirty="0"/>
              <a:t>)</a:t>
            </a:r>
          </a:p>
          <a:p>
            <a:pPr lvl="1"/>
            <a:r>
              <a:rPr lang="en-US" sz="2200" dirty="0"/>
              <a:t>One relation for the root entity set, with all attributes found in the network of subclasses </a:t>
            </a:r>
          </a:p>
          <a:p>
            <a:pPr lvl="2"/>
            <a:r>
              <a:rPr lang="en-US" sz="1800" dirty="0"/>
              <a:t>(plus a “type” attribute when needed)</a:t>
            </a:r>
          </a:p>
          <a:p>
            <a:pPr lvl="1"/>
            <a:r>
              <a:rPr lang="en-US" sz="2200" dirty="0"/>
              <a:t>Use a special </a:t>
            </a:r>
            <a:r>
              <a:rPr lang="en-US" sz="2200" dirty="0">
                <a:latin typeface="Prestige12 BT" panose="02070509030506020304" pitchFamily="49" charset="0"/>
              </a:rPr>
              <a:t>NULL</a:t>
            </a:r>
            <a:r>
              <a:rPr lang="en-US" sz="2200" dirty="0"/>
              <a:t> value in columns that are not relevant for a particular entity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10</a:t>
            </a:fld>
            <a:endParaRPr lang="en-US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621197" y="3582211"/>
            <a:ext cx="8001000" cy="1066800"/>
            <a:chOff x="288" y="2112"/>
            <a:chExt cx="5040" cy="672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Groups</a:t>
              </a: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gid</a:t>
              </a:r>
              <a:endParaRPr lang="en-US" i="1" u="sng" dirty="0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IsMemberOf</a:t>
              </a:r>
              <a:endParaRPr lang="en-US" i="1" dirty="0"/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uid</a:t>
              </a:r>
              <a:endParaRPr lang="en-US" i="1" u="sng" dirty="0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34"/>
          <p:cNvGrpSpPr>
            <a:grpSpLocks/>
          </p:cNvGrpSpPr>
          <p:nvPr/>
        </p:nvGrpSpPr>
        <p:grpSpPr bwMode="auto">
          <a:xfrm>
            <a:off x="4126397" y="4496611"/>
            <a:ext cx="1066800" cy="609600"/>
            <a:chOff x="2496" y="1872"/>
            <a:chExt cx="672" cy="384"/>
          </a:xfrm>
        </p:grpSpPr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2496" y="1968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/>
                <a:t>fromDate</a:t>
              </a:r>
              <a:endParaRPr lang="en-US" i="1" dirty="0"/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>
              <a:off x="2832" y="1872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Oval 18"/>
          <p:cNvSpPr>
            <a:spLocks noChangeArrowheads="1"/>
          </p:cNvSpPr>
          <p:nvPr/>
        </p:nvSpPr>
        <p:spPr bwMode="auto">
          <a:xfrm>
            <a:off x="598005" y="5258675"/>
            <a:ext cx="1066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>
                <a:solidFill>
                  <a:schemeClr val="accent2"/>
                </a:solidFill>
              </a:rPr>
              <a:t>avatar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1947380" y="5182475"/>
            <a:ext cx="1600200" cy="6096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 err="1">
                <a:solidFill>
                  <a:schemeClr val="accent2"/>
                </a:solidFill>
              </a:rPr>
              <a:t>PaidUsers</a:t>
            </a: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24" name="AutoShape 21"/>
          <p:cNvSpPr>
            <a:spLocks noChangeArrowheads="1"/>
          </p:cNvSpPr>
          <p:nvPr/>
        </p:nvSpPr>
        <p:spPr bwMode="auto">
          <a:xfrm>
            <a:off x="2274405" y="4572875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>
                <a:solidFill>
                  <a:schemeClr val="accent2"/>
                </a:solidFill>
              </a:rPr>
              <a:t>ISA</a:t>
            </a: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664805" y="5487275"/>
            <a:ext cx="304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 flipV="1">
            <a:off x="2731605" y="4420475"/>
            <a:ext cx="0" cy="152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 flipV="1">
            <a:off x="2731605" y="5030075"/>
            <a:ext cx="0" cy="152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5763490" y="5298018"/>
            <a:ext cx="338051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 i="1" dirty="0"/>
              <a:t>Group</a:t>
            </a:r>
            <a:r>
              <a:rPr lang="en-US" sz="2000" dirty="0"/>
              <a:t> (</a:t>
            </a:r>
            <a:r>
              <a:rPr lang="en-US" sz="2000" i="1" u="sng" dirty="0" err="1"/>
              <a:t>gid</a:t>
            </a:r>
            <a:r>
              <a:rPr lang="en-US" sz="2000" dirty="0"/>
              <a:t>, </a:t>
            </a:r>
            <a:r>
              <a:rPr lang="en-US" sz="2000" i="1" dirty="0"/>
              <a:t>name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User</a:t>
            </a:r>
            <a:r>
              <a:rPr lang="en-US" sz="2000" dirty="0"/>
              <a:t> (</a:t>
            </a:r>
            <a:r>
              <a:rPr lang="en-US" sz="2000" i="1" u="sng" dirty="0" err="1"/>
              <a:t>uid</a:t>
            </a:r>
            <a:r>
              <a:rPr lang="en-US" sz="2000" dirty="0"/>
              <a:t>, </a:t>
            </a:r>
            <a:r>
              <a:rPr lang="en-US" sz="2000" i="1" dirty="0"/>
              <a:t>name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Member</a:t>
            </a:r>
            <a:r>
              <a:rPr lang="en-US" sz="2000" dirty="0"/>
              <a:t> (</a:t>
            </a:r>
            <a:r>
              <a:rPr lang="en-US" sz="2000" i="1" u="sng" dirty="0" err="1"/>
              <a:t>uid</a:t>
            </a:r>
            <a:r>
              <a:rPr lang="en-US" sz="2000" dirty="0"/>
              <a:t>, </a:t>
            </a:r>
            <a:r>
              <a:rPr lang="en-US" sz="2000" i="1" u="sng" dirty="0" err="1"/>
              <a:t>gid</a:t>
            </a:r>
            <a:r>
              <a:rPr lang="en-US" sz="2000" dirty="0"/>
              <a:t>, </a:t>
            </a:r>
            <a:r>
              <a:rPr lang="en-US" sz="2000" i="1" dirty="0" err="1"/>
              <a:t>from_date</a:t>
            </a:r>
            <a:r>
              <a:rPr lang="en-US" sz="2000" dirty="0"/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562003" y="5488631"/>
                <a:ext cx="214994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latin typeface="Prestige12 BT" panose="02070509030506020304" pitchFamily="49" charset="0"/>
                  </a:rPr>
                  <a:t>142</a:t>
                </a:r>
                <a:r>
                  <a:rPr lang="en-US" dirty="0"/>
                  <a:t>, </a:t>
                </a:r>
                <a:r>
                  <a:rPr lang="en-US" dirty="0">
                    <a:latin typeface="Prestige12 BT" panose="02070509030506020304" pitchFamily="49" charset="0"/>
                  </a:rPr>
                  <a:t>Bart</a:t>
                </a:r>
                <a:r>
                  <a:rPr lang="en-US" dirty="0">
                    <a:solidFill>
                      <a:schemeClr val="accent2"/>
                    </a:solidFill>
                  </a:rPr>
                  <a:t> ,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NULL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b="0" dirty="0">
                  <a:latin typeface="Prestige12 BT" panose="02070509030506020304" pitchFamily="49" charset="0"/>
                </a:endParaRPr>
              </a:p>
              <a:p>
                <a:pPr algn="r"/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〈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456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Ralph</a:t>
                </a:r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:r>
                  <a:rPr lang="en-US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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003" y="5488631"/>
                <a:ext cx="2149949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567" t="-5660" r="-85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625222" y="5650544"/>
                <a:ext cx="1939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222" y="5650544"/>
                <a:ext cx="193963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25000" r="-21875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23">
            <a:extLst>
              <a:ext uri="{FF2B5EF4-FFF2-40B4-BE49-F238E27FC236}">
                <a16:creationId xmlns:a16="http://schemas.microsoft.com/office/drawing/2014/main" id="{93AD457F-514E-4007-80A0-4B7829C7A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185" y="5312282"/>
            <a:ext cx="3380510" cy="1015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 i="1" dirty="0"/>
              <a:t>Group</a:t>
            </a:r>
            <a:r>
              <a:rPr lang="en-US" sz="2000" dirty="0"/>
              <a:t> (</a:t>
            </a:r>
            <a:r>
              <a:rPr lang="en-US" sz="2000" i="1" u="sng" dirty="0" err="1"/>
              <a:t>gid</a:t>
            </a:r>
            <a:r>
              <a:rPr lang="en-US" sz="2000" dirty="0"/>
              <a:t>, </a:t>
            </a:r>
            <a:r>
              <a:rPr lang="en-US" sz="2000" i="1" dirty="0"/>
              <a:t>name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User</a:t>
            </a:r>
            <a:r>
              <a:rPr lang="en-US" sz="2000" dirty="0"/>
              <a:t> (</a:t>
            </a:r>
            <a:r>
              <a:rPr lang="en-US" sz="2000" i="1" u="sng" dirty="0" err="1"/>
              <a:t>uid</a:t>
            </a:r>
            <a:r>
              <a:rPr lang="en-US" sz="2000" dirty="0"/>
              <a:t>, </a:t>
            </a:r>
            <a:r>
              <a:rPr lang="en-US" sz="2000" i="1" dirty="0"/>
              <a:t>name</a:t>
            </a:r>
            <a:r>
              <a:rPr lang="en-US" sz="2000" dirty="0"/>
              <a:t>, </a:t>
            </a:r>
            <a:r>
              <a:rPr lang="en-US" sz="2000" i="1" dirty="0">
                <a:solidFill>
                  <a:schemeClr val="accent2"/>
                </a:solidFill>
              </a:rPr>
              <a:t>avatar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Member</a:t>
            </a:r>
            <a:r>
              <a:rPr lang="en-US" sz="2000" dirty="0"/>
              <a:t> (</a:t>
            </a:r>
            <a:r>
              <a:rPr lang="en-US" sz="2000" i="1" u="sng" dirty="0" err="1"/>
              <a:t>uid</a:t>
            </a:r>
            <a:r>
              <a:rPr lang="en-US" sz="2000" dirty="0"/>
              <a:t>, </a:t>
            </a:r>
            <a:r>
              <a:rPr lang="en-US" sz="2000" i="1" u="sng" dirty="0" err="1"/>
              <a:t>gid</a:t>
            </a:r>
            <a:r>
              <a:rPr lang="en-US" sz="2000" dirty="0"/>
              <a:t>, </a:t>
            </a:r>
            <a:r>
              <a:rPr lang="en-US" sz="2000" i="1" dirty="0" err="1"/>
              <a:t>from_date</a:t>
            </a:r>
            <a:r>
              <a:rPr lang="en-US" sz="2000" dirty="0"/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116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three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Entity-in-all-</a:t>
            </a:r>
            <a:r>
              <a:rPr lang="en-US" dirty="0" err="1"/>
              <a:t>superclasses</a:t>
            </a:r>
            <a:endParaRPr lang="en-US" dirty="0"/>
          </a:p>
          <a:p>
            <a:pPr lvl="1"/>
            <a:r>
              <a:rPr lang="en-US" i="1" dirty="0"/>
              <a:t>User </a:t>
            </a:r>
            <a:r>
              <a:rPr lang="en-US" dirty="0"/>
              <a:t>(</a:t>
            </a:r>
            <a:r>
              <a:rPr lang="en-US" i="1" u="sng" dirty="0" err="1"/>
              <a:t>uid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), </a:t>
            </a:r>
            <a:r>
              <a:rPr lang="en-US" i="1" dirty="0" err="1"/>
              <a:t>PaidUser</a:t>
            </a:r>
            <a:r>
              <a:rPr lang="en-US" dirty="0"/>
              <a:t> (</a:t>
            </a:r>
            <a:r>
              <a:rPr lang="en-US" i="1" u="sng" dirty="0" err="1"/>
              <a:t>uid</a:t>
            </a:r>
            <a:r>
              <a:rPr lang="en-US" dirty="0"/>
              <a:t>, </a:t>
            </a:r>
            <a:r>
              <a:rPr lang="en-US" i="1" dirty="0"/>
              <a:t>avatar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Pro: </a:t>
            </a:r>
          </a:p>
          <a:p>
            <a:pPr lvl="1"/>
            <a:r>
              <a:rPr lang="en-US" dirty="0"/>
              <a:t>Con:</a:t>
            </a:r>
          </a:p>
          <a:p>
            <a:r>
              <a:rPr lang="en-US" dirty="0"/>
              <a:t>Entity-in-most-specific-class</a:t>
            </a:r>
          </a:p>
          <a:p>
            <a:pPr lvl="1"/>
            <a:r>
              <a:rPr lang="en-US" i="1" dirty="0"/>
              <a:t>User </a:t>
            </a:r>
            <a:r>
              <a:rPr lang="en-US" dirty="0"/>
              <a:t>(</a:t>
            </a:r>
            <a:r>
              <a:rPr lang="en-US" i="1" u="sng" dirty="0" err="1"/>
              <a:t>uid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), </a:t>
            </a:r>
            <a:r>
              <a:rPr lang="en-US" i="1" dirty="0" err="1"/>
              <a:t>PaidUser</a:t>
            </a:r>
            <a:r>
              <a:rPr lang="en-US" dirty="0"/>
              <a:t> (</a:t>
            </a:r>
            <a:r>
              <a:rPr lang="en-US" i="1" u="sng" dirty="0" err="1"/>
              <a:t>uid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avatar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Pro:</a:t>
            </a:r>
          </a:p>
          <a:p>
            <a:pPr lvl="1"/>
            <a:r>
              <a:rPr lang="en-US" dirty="0"/>
              <a:t>Con:</a:t>
            </a:r>
          </a:p>
          <a:p>
            <a:r>
              <a:rPr lang="en-US" dirty="0"/>
              <a:t>All-entities-in-one-table</a:t>
            </a:r>
          </a:p>
          <a:p>
            <a:pPr lvl="1"/>
            <a:r>
              <a:rPr lang="en-US" i="1" dirty="0"/>
              <a:t>User</a:t>
            </a:r>
            <a:r>
              <a:rPr lang="en-US" dirty="0"/>
              <a:t> (</a:t>
            </a:r>
            <a:r>
              <a:rPr lang="en-US" i="1" u="sng" dirty="0" err="1"/>
              <a:t>uid</a:t>
            </a:r>
            <a:r>
              <a:rPr lang="en-US" dirty="0"/>
              <a:t>, [</a:t>
            </a:r>
            <a:r>
              <a:rPr lang="en-US" i="1" dirty="0"/>
              <a:t>type</a:t>
            </a:r>
            <a:r>
              <a:rPr lang="en-US" dirty="0"/>
              <a:t>, ]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avatar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Pro:</a:t>
            </a:r>
          </a:p>
          <a:p>
            <a:pPr lvl="1"/>
            <a:r>
              <a:rPr lang="en-US" dirty="0"/>
              <a:t>Con: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11</a:t>
            </a:fld>
            <a:endParaRPr lang="en-US"/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1627188" y="2313449"/>
            <a:ext cx="7446964" cy="820738"/>
            <a:chOff x="1025" y="1448"/>
            <a:chExt cx="4691" cy="517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025" y="1448"/>
              <a:ext cx="2644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  <a:buFont typeface="Wingdings" pitchFamily="2" charset="2"/>
                <a:buNone/>
              </a:pPr>
              <a:r>
                <a:rPr lang="en-US" sz="2400" dirty="0">
                  <a:solidFill>
                    <a:schemeClr val="accent2"/>
                  </a:solidFill>
                </a:rPr>
                <a:t>All users are found in one table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057" y="1674"/>
              <a:ext cx="465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400" dirty="0">
                  <a:solidFill>
                    <a:schemeClr val="accent2"/>
                  </a:solidFill>
                </a:rPr>
                <a:t>Attributes of paid users are scattered in different tables</a:t>
              </a:r>
            </a:p>
          </p:txBody>
        </p:sp>
      </p:grpSp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1616104" y="3961689"/>
            <a:ext cx="6516690" cy="854076"/>
            <a:chOff x="960" y="2400"/>
            <a:chExt cx="4105" cy="538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960" y="2400"/>
              <a:ext cx="41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400" dirty="0">
                  <a:solidFill>
                    <a:schemeClr val="accent2"/>
                  </a:solidFill>
                </a:rPr>
                <a:t>All attributes of paid users are found in one table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008" y="2647"/>
              <a:ext cx="32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400" dirty="0">
                  <a:solidFill>
                    <a:schemeClr val="accent2"/>
                  </a:solidFill>
                </a:rPr>
                <a:t>Users are scattered in different tables</a:t>
              </a:r>
            </a:p>
          </p:txBody>
        </p:sp>
      </p:grpSp>
      <p:grpSp>
        <p:nvGrpSpPr>
          <p:cNvPr id="11" name="Group 12"/>
          <p:cNvGrpSpPr>
            <a:grpSpLocks/>
          </p:cNvGrpSpPr>
          <p:nvPr/>
        </p:nvGrpSpPr>
        <p:grpSpPr bwMode="auto">
          <a:xfrm>
            <a:off x="1611163" y="5646627"/>
            <a:ext cx="7535863" cy="857251"/>
            <a:chOff x="986" y="3459"/>
            <a:chExt cx="4747" cy="540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986" y="3459"/>
              <a:ext cx="216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400" dirty="0">
                  <a:solidFill>
                    <a:schemeClr val="accent2"/>
                  </a:solidFill>
                </a:rPr>
                <a:t>Everything is in one table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008" y="3708"/>
              <a:ext cx="472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sz="2400" dirty="0">
                  <a:solidFill>
                    <a:schemeClr val="accent2"/>
                  </a:solidFill>
                </a:rPr>
                <a:t>Lots of </a:t>
              </a:r>
              <a:r>
                <a:rPr lang="en-US" sz="2400" dirty="0">
                  <a:solidFill>
                    <a:schemeClr val="accent2"/>
                  </a:solidFill>
                  <a:latin typeface="Prestige12 BT" panose="02070509030506020304" pitchFamily="49" charset="0"/>
                </a:rPr>
                <a:t>NULL</a:t>
              </a:r>
              <a:r>
                <a:rPr lang="en-US" sz="2400" dirty="0">
                  <a:solidFill>
                    <a:schemeClr val="accent2"/>
                  </a:solidFill>
                </a:rPr>
                <a:t>’s; complicated if class hierarchy is complex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3612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complete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0200" y="19812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Trains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248400" y="19812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Stations</a:t>
            </a: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77724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77724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address</a:t>
            </a:r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2286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number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V="1">
            <a:off x="74676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74676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2286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engineer</a:t>
            </a: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H="1" flipV="1">
            <a:off x="12954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H="1">
            <a:off x="12954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21"/>
          <p:cNvSpPr>
            <a:spLocks noChangeArrowheads="1"/>
          </p:cNvSpPr>
          <p:nvPr/>
        </p:nvSpPr>
        <p:spPr bwMode="auto">
          <a:xfrm>
            <a:off x="3406775" y="13716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time</a:t>
            </a:r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960813" y="1828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2133600" y="39624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ExpressTrains</a:t>
            </a:r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2133600" y="32766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LocalTrains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5181600" y="32766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LocalStations</a:t>
            </a: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5181600" y="39624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ExpressStations</a:t>
            </a:r>
          </a:p>
        </p:txBody>
      </p:sp>
      <p:sp>
        <p:nvSpPr>
          <p:cNvPr id="21" name="AutoShape 30"/>
          <p:cNvSpPr>
            <a:spLocks noChangeArrowheads="1"/>
          </p:cNvSpPr>
          <p:nvPr/>
        </p:nvSpPr>
        <p:spPr bwMode="auto">
          <a:xfrm>
            <a:off x="1643063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2" name="Rectangle 31"/>
          <p:cNvSpPr>
            <a:spLocks noChangeArrowheads="1"/>
          </p:cNvSpPr>
          <p:nvPr/>
        </p:nvSpPr>
        <p:spPr bwMode="auto">
          <a:xfrm>
            <a:off x="2971800" y="1981200"/>
            <a:ext cx="1981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LocalTrainStops</a:t>
            </a: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3048000" y="2057400"/>
            <a:ext cx="18288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utoShape 33"/>
          <p:cNvSpPr>
            <a:spLocks noChangeArrowheads="1"/>
          </p:cNvSpPr>
          <p:nvPr/>
        </p:nvSpPr>
        <p:spPr bwMode="auto">
          <a:xfrm>
            <a:off x="6400800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5" name="Line 34"/>
          <p:cNvSpPr>
            <a:spLocks noChangeShapeType="1"/>
          </p:cNvSpPr>
          <p:nvPr/>
        </p:nvSpPr>
        <p:spPr bwMode="auto">
          <a:xfrm>
            <a:off x="2111375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35"/>
          <p:cNvSpPr>
            <a:spLocks noChangeShapeType="1"/>
          </p:cNvSpPr>
          <p:nvPr/>
        </p:nvSpPr>
        <p:spPr bwMode="auto">
          <a:xfrm>
            <a:off x="6858000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reeform 36"/>
          <p:cNvSpPr>
            <a:spLocks/>
          </p:cNvSpPr>
          <p:nvPr/>
        </p:nvSpPr>
        <p:spPr bwMode="auto">
          <a:xfrm>
            <a:off x="1955800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37"/>
          <p:cNvSpPr>
            <a:spLocks/>
          </p:cNvSpPr>
          <p:nvPr/>
        </p:nvSpPr>
        <p:spPr bwMode="auto">
          <a:xfrm>
            <a:off x="1701800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8"/>
          <p:cNvSpPr>
            <a:spLocks/>
          </p:cNvSpPr>
          <p:nvPr/>
        </p:nvSpPr>
        <p:spPr bwMode="auto">
          <a:xfrm flipH="1">
            <a:off x="6861175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39"/>
          <p:cNvSpPr>
            <a:spLocks/>
          </p:cNvSpPr>
          <p:nvPr/>
        </p:nvSpPr>
        <p:spPr bwMode="auto">
          <a:xfrm flipH="1">
            <a:off x="6861175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AutoShape 40"/>
          <p:cNvSpPr>
            <a:spLocks noChangeArrowheads="1"/>
          </p:cNvSpPr>
          <p:nvPr/>
        </p:nvSpPr>
        <p:spPr bwMode="auto">
          <a:xfrm>
            <a:off x="3048000" y="2590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2" name="AutoShape 41"/>
          <p:cNvSpPr>
            <a:spLocks noChangeArrowheads="1"/>
          </p:cNvSpPr>
          <p:nvPr/>
        </p:nvSpPr>
        <p:spPr bwMode="auto">
          <a:xfrm>
            <a:off x="3200400" y="26670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3" name="AutoShape 42"/>
          <p:cNvSpPr>
            <a:spLocks noChangeArrowheads="1"/>
          </p:cNvSpPr>
          <p:nvPr/>
        </p:nvSpPr>
        <p:spPr bwMode="auto">
          <a:xfrm>
            <a:off x="5105400" y="19812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4" name="Line 44"/>
          <p:cNvSpPr>
            <a:spLocks noChangeShapeType="1"/>
          </p:cNvSpPr>
          <p:nvPr/>
        </p:nvSpPr>
        <p:spPr bwMode="auto">
          <a:xfrm>
            <a:off x="3505200" y="2438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5"/>
          <p:cNvSpPr>
            <a:spLocks noChangeShapeType="1"/>
          </p:cNvSpPr>
          <p:nvPr/>
        </p:nvSpPr>
        <p:spPr bwMode="auto">
          <a:xfrm>
            <a:off x="3505200" y="3048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6"/>
          <p:cNvSpPr>
            <a:spLocks noChangeShapeType="1"/>
          </p:cNvSpPr>
          <p:nvPr/>
        </p:nvSpPr>
        <p:spPr bwMode="auto">
          <a:xfrm>
            <a:off x="4953000" y="22098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47"/>
          <p:cNvSpPr>
            <a:spLocks noChangeShapeType="1"/>
          </p:cNvSpPr>
          <p:nvPr/>
        </p:nvSpPr>
        <p:spPr bwMode="auto">
          <a:xfrm>
            <a:off x="6019800" y="22098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Oval 48"/>
          <p:cNvSpPr>
            <a:spLocks noChangeArrowheads="1"/>
          </p:cNvSpPr>
          <p:nvPr/>
        </p:nvSpPr>
        <p:spPr bwMode="auto">
          <a:xfrm>
            <a:off x="3917950" y="4267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time</a:t>
            </a:r>
          </a:p>
        </p:txBody>
      </p:sp>
      <p:sp>
        <p:nvSpPr>
          <p:cNvPr id="39" name="Line 49"/>
          <p:cNvSpPr>
            <a:spLocks noChangeShapeType="1"/>
          </p:cNvSpPr>
          <p:nvPr/>
        </p:nvSpPr>
        <p:spPr bwMode="auto">
          <a:xfrm>
            <a:off x="4471988" y="4724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40" name="Rectangle 50"/>
          <p:cNvSpPr>
            <a:spLocks noChangeArrowheads="1"/>
          </p:cNvSpPr>
          <p:nvPr/>
        </p:nvSpPr>
        <p:spPr bwMode="auto">
          <a:xfrm>
            <a:off x="3429000" y="4876800"/>
            <a:ext cx="2133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sz="1600" i="1"/>
              <a:t>ExpressTrainStops</a:t>
            </a:r>
          </a:p>
        </p:txBody>
      </p:sp>
      <p:sp>
        <p:nvSpPr>
          <p:cNvPr id="41" name="Rectangle 51"/>
          <p:cNvSpPr>
            <a:spLocks noChangeArrowheads="1"/>
          </p:cNvSpPr>
          <p:nvPr/>
        </p:nvSpPr>
        <p:spPr bwMode="auto">
          <a:xfrm>
            <a:off x="3505200" y="4953000"/>
            <a:ext cx="1981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42" name="Line 53"/>
          <p:cNvSpPr>
            <a:spLocks noChangeShapeType="1"/>
          </p:cNvSpPr>
          <p:nvPr/>
        </p:nvSpPr>
        <p:spPr bwMode="auto">
          <a:xfrm>
            <a:off x="5562600" y="5105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43" name="AutoShape 54"/>
          <p:cNvSpPr>
            <a:spLocks noChangeArrowheads="1"/>
          </p:cNvSpPr>
          <p:nvPr/>
        </p:nvSpPr>
        <p:spPr bwMode="auto">
          <a:xfrm>
            <a:off x="5715000" y="4876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sz="1600" i="1"/>
          </a:p>
        </p:txBody>
      </p:sp>
      <p:sp>
        <p:nvSpPr>
          <p:cNvPr id="47" name="Line 57"/>
          <p:cNvSpPr>
            <a:spLocks noChangeShapeType="1"/>
          </p:cNvSpPr>
          <p:nvPr/>
        </p:nvSpPr>
        <p:spPr bwMode="auto">
          <a:xfrm flipV="1">
            <a:off x="6172200" y="4419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58"/>
          <p:cNvSpPr>
            <a:spLocks noChangeShapeType="1"/>
          </p:cNvSpPr>
          <p:nvPr/>
        </p:nvSpPr>
        <p:spPr bwMode="auto">
          <a:xfrm flipH="1">
            <a:off x="3276600" y="5105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49" name="AutoShape 59"/>
          <p:cNvSpPr>
            <a:spLocks noChangeArrowheads="1"/>
          </p:cNvSpPr>
          <p:nvPr/>
        </p:nvSpPr>
        <p:spPr bwMode="auto">
          <a:xfrm flipH="1">
            <a:off x="2362200" y="4876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50" name="AutoShape 60"/>
          <p:cNvSpPr>
            <a:spLocks noChangeArrowheads="1"/>
          </p:cNvSpPr>
          <p:nvPr/>
        </p:nvSpPr>
        <p:spPr bwMode="auto">
          <a:xfrm flipH="1">
            <a:off x="2514600" y="49530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51" name="Line 61"/>
          <p:cNvSpPr>
            <a:spLocks noChangeShapeType="1"/>
          </p:cNvSpPr>
          <p:nvPr/>
        </p:nvSpPr>
        <p:spPr bwMode="auto">
          <a:xfrm flipH="1" flipV="1">
            <a:off x="2819400" y="4419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11AF3D5-898D-354D-8DAF-92EF3E6BF6CA}"/>
              </a:ext>
            </a:extLst>
          </p:cNvPr>
          <p:cNvCxnSpPr>
            <a:cxnSpLocks/>
            <a:stCxn id="36" idx="0"/>
            <a:endCxn id="36" idx="1"/>
          </p:cNvCxnSpPr>
          <p:nvPr/>
        </p:nvCxnSpPr>
        <p:spPr>
          <a:xfrm>
            <a:off x="4953000" y="2209800"/>
            <a:ext cx="1524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157116C-EB5A-5E44-AC92-5AA6FF9E804F}"/>
              </a:ext>
            </a:extLst>
          </p:cNvPr>
          <p:cNvCxnSpPr>
            <a:cxnSpLocks/>
            <a:stCxn id="34" idx="0"/>
            <a:endCxn id="34" idx="1"/>
          </p:cNvCxnSpPr>
          <p:nvPr/>
        </p:nvCxnSpPr>
        <p:spPr>
          <a:xfrm>
            <a:off x="3505200" y="2438400"/>
            <a:ext cx="1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FFB585A-8921-704E-A5BA-A5BD3105C65A}"/>
              </a:ext>
            </a:extLst>
          </p:cNvPr>
          <p:cNvCxnSpPr>
            <a:cxnSpLocks/>
            <a:stCxn id="48" idx="0"/>
            <a:endCxn id="49" idx="1"/>
          </p:cNvCxnSpPr>
          <p:nvPr/>
        </p:nvCxnSpPr>
        <p:spPr>
          <a:xfrm flipH="1">
            <a:off x="3276600" y="51054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F668FDB-9CBE-4947-A1AD-4F06028F2909}"/>
              </a:ext>
            </a:extLst>
          </p:cNvPr>
          <p:cNvCxnSpPr>
            <a:cxnSpLocks/>
            <a:stCxn id="42" idx="0"/>
            <a:endCxn id="43" idx="1"/>
          </p:cNvCxnSpPr>
          <p:nvPr/>
        </p:nvCxnSpPr>
        <p:spPr>
          <a:xfrm>
            <a:off x="5562600" y="51054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74C7449-9765-074B-A5F0-0C0C95B3AA76}"/>
              </a:ext>
            </a:extLst>
          </p:cNvPr>
          <p:cNvCxnSpPr>
            <a:cxnSpLocks/>
          </p:cNvCxnSpPr>
          <p:nvPr/>
        </p:nvCxnSpPr>
        <p:spPr>
          <a:xfrm flipV="1">
            <a:off x="3590673" y="1742799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C1F4915-4DC2-B745-B7D9-5025B9B29322}"/>
              </a:ext>
            </a:extLst>
          </p:cNvPr>
          <p:cNvCxnSpPr>
            <a:cxnSpLocks/>
          </p:cNvCxnSpPr>
          <p:nvPr/>
        </p:nvCxnSpPr>
        <p:spPr>
          <a:xfrm flipV="1">
            <a:off x="4107643" y="4607307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418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complete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00200" y="1981200"/>
            <a:ext cx="990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Trains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248400" y="1981200"/>
            <a:ext cx="1219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Stations</a:t>
            </a: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77724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name</a:t>
            </a: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77724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address</a:t>
            </a:r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228600" y="1676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u="sng"/>
              <a:t>number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V="1">
            <a:off x="74676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74676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228600" y="2286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engineer</a:t>
            </a: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H="1" flipV="1">
            <a:off x="1295400" y="1905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 flipH="1">
            <a:off x="1295400" y="2286000"/>
            <a:ext cx="304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21"/>
          <p:cNvSpPr>
            <a:spLocks noChangeArrowheads="1"/>
          </p:cNvSpPr>
          <p:nvPr/>
        </p:nvSpPr>
        <p:spPr bwMode="auto">
          <a:xfrm>
            <a:off x="3406775" y="13716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time</a:t>
            </a:r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960813" y="1828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2133600" y="39624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ExpressTrains</a:t>
            </a:r>
          </a:p>
        </p:txBody>
      </p:sp>
      <p:sp>
        <p:nvSpPr>
          <p:cNvPr id="18" name="Rectangle 24"/>
          <p:cNvSpPr>
            <a:spLocks noChangeArrowheads="1"/>
          </p:cNvSpPr>
          <p:nvPr/>
        </p:nvSpPr>
        <p:spPr bwMode="auto">
          <a:xfrm>
            <a:off x="2133600" y="3276600"/>
            <a:ext cx="1600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LocalTrains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5181600" y="32766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LocalStations</a:t>
            </a: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5181600" y="3962400"/>
            <a:ext cx="16764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ExpressStations</a:t>
            </a:r>
          </a:p>
        </p:txBody>
      </p:sp>
      <p:sp>
        <p:nvSpPr>
          <p:cNvPr id="21" name="AutoShape 30"/>
          <p:cNvSpPr>
            <a:spLocks noChangeArrowheads="1"/>
          </p:cNvSpPr>
          <p:nvPr/>
        </p:nvSpPr>
        <p:spPr bwMode="auto">
          <a:xfrm>
            <a:off x="1643063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2" name="Rectangle 31"/>
          <p:cNvSpPr>
            <a:spLocks noChangeArrowheads="1"/>
          </p:cNvSpPr>
          <p:nvPr/>
        </p:nvSpPr>
        <p:spPr bwMode="auto">
          <a:xfrm>
            <a:off x="2971800" y="1981200"/>
            <a:ext cx="19812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LocalTrainStops</a:t>
            </a: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3048000" y="2057400"/>
            <a:ext cx="18288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utoShape 33"/>
          <p:cNvSpPr>
            <a:spLocks noChangeArrowheads="1"/>
          </p:cNvSpPr>
          <p:nvPr/>
        </p:nvSpPr>
        <p:spPr bwMode="auto">
          <a:xfrm>
            <a:off x="6400800" y="2667000"/>
            <a:ext cx="914400" cy="4572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/>
              <a:t>ISA</a:t>
            </a:r>
          </a:p>
        </p:txBody>
      </p:sp>
      <p:sp>
        <p:nvSpPr>
          <p:cNvPr id="25" name="Line 34"/>
          <p:cNvSpPr>
            <a:spLocks noChangeShapeType="1"/>
          </p:cNvSpPr>
          <p:nvPr/>
        </p:nvSpPr>
        <p:spPr bwMode="auto">
          <a:xfrm>
            <a:off x="2111375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35"/>
          <p:cNvSpPr>
            <a:spLocks noChangeShapeType="1"/>
          </p:cNvSpPr>
          <p:nvPr/>
        </p:nvSpPr>
        <p:spPr bwMode="auto">
          <a:xfrm>
            <a:off x="6858000" y="2438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reeform 36"/>
          <p:cNvSpPr>
            <a:spLocks/>
          </p:cNvSpPr>
          <p:nvPr/>
        </p:nvSpPr>
        <p:spPr bwMode="auto">
          <a:xfrm>
            <a:off x="1955800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37"/>
          <p:cNvSpPr>
            <a:spLocks/>
          </p:cNvSpPr>
          <p:nvPr/>
        </p:nvSpPr>
        <p:spPr bwMode="auto">
          <a:xfrm>
            <a:off x="1701800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Freeform 38"/>
          <p:cNvSpPr>
            <a:spLocks/>
          </p:cNvSpPr>
          <p:nvPr/>
        </p:nvSpPr>
        <p:spPr bwMode="auto">
          <a:xfrm flipH="1">
            <a:off x="6861175" y="3124200"/>
            <a:ext cx="177800" cy="381000"/>
          </a:xfrm>
          <a:custGeom>
            <a:avLst/>
            <a:gdLst>
              <a:gd name="T0" fmla="*/ 2147483647 w 112"/>
              <a:gd name="T1" fmla="*/ 0 h 288"/>
              <a:gd name="T2" fmla="*/ 2147483647 w 112"/>
              <a:gd name="T3" fmla="*/ 2147483647 h 288"/>
              <a:gd name="T4" fmla="*/ 2147483647 w 112"/>
              <a:gd name="T5" fmla="*/ 2147483647 h 288"/>
              <a:gd name="T6" fmla="*/ 0 60000 65536"/>
              <a:gd name="T7" fmla="*/ 0 60000 65536"/>
              <a:gd name="T8" fmla="*/ 0 60000 65536"/>
              <a:gd name="T9" fmla="*/ 0 w 112"/>
              <a:gd name="T10" fmla="*/ 0 h 288"/>
              <a:gd name="T11" fmla="*/ 112 w 11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288">
                <a:moveTo>
                  <a:pt x="16" y="0"/>
                </a:moveTo>
                <a:cubicBezTo>
                  <a:pt x="8" y="48"/>
                  <a:pt x="0" y="96"/>
                  <a:pt x="16" y="144"/>
                </a:cubicBezTo>
                <a:cubicBezTo>
                  <a:pt x="32" y="192"/>
                  <a:pt x="72" y="240"/>
                  <a:pt x="112" y="2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Freeform 39"/>
          <p:cNvSpPr>
            <a:spLocks/>
          </p:cNvSpPr>
          <p:nvPr/>
        </p:nvSpPr>
        <p:spPr bwMode="auto">
          <a:xfrm flipH="1">
            <a:off x="6861175" y="3124200"/>
            <a:ext cx="431800" cy="1066800"/>
          </a:xfrm>
          <a:custGeom>
            <a:avLst/>
            <a:gdLst>
              <a:gd name="T0" fmla="*/ 2147483647 w 272"/>
              <a:gd name="T1" fmla="*/ 0 h 672"/>
              <a:gd name="T2" fmla="*/ 2147483647 w 272"/>
              <a:gd name="T3" fmla="*/ 2147483647 h 672"/>
              <a:gd name="T4" fmla="*/ 2147483647 w 272"/>
              <a:gd name="T5" fmla="*/ 2147483647 h 672"/>
              <a:gd name="T6" fmla="*/ 0 60000 65536"/>
              <a:gd name="T7" fmla="*/ 0 60000 65536"/>
              <a:gd name="T8" fmla="*/ 0 60000 65536"/>
              <a:gd name="T9" fmla="*/ 0 w 272"/>
              <a:gd name="T10" fmla="*/ 0 h 672"/>
              <a:gd name="T11" fmla="*/ 272 w 272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672">
                <a:moveTo>
                  <a:pt x="80" y="0"/>
                </a:moveTo>
                <a:cubicBezTo>
                  <a:pt x="40" y="160"/>
                  <a:pt x="0" y="320"/>
                  <a:pt x="32" y="432"/>
                </a:cubicBezTo>
                <a:cubicBezTo>
                  <a:pt x="64" y="544"/>
                  <a:pt x="168" y="608"/>
                  <a:pt x="272" y="672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AutoShape 40"/>
          <p:cNvSpPr>
            <a:spLocks noChangeArrowheads="1"/>
          </p:cNvSpPr>
          <p:nvPr/>
        </p:nvSpPr>
        <p:spPr bwMode="auto">
          <a:xfrm>
            <a:off x="3048000" y="2590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2" name="AutoShape 41"/>
          <p:cNvSpPr>
            <a:spLocks noChangeArrowheads="1"/>
          </p:cNvSpPr>
          <p:nvPr/>
        </p:nvSpPr>
        <p:spPr bwMode="auto">
          <a:xfrm>
            <a:off x="3200400" y="26670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3" name="AutoShape 42"/>
          <p:cNvSpPr>
            <a:spLocks noChangeArrowheads="1"/>
          </p:cNvSpPr>
          <p:nvPr/>
        </p:nvSpPr>
        <p:spPr bwMode="auto">
          <a:xfrm>
            <a:off x="5105400" y="19812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34" name="Line 44"/>
          <p:cNvSpPr>
            <a:spLocks noChangeShapeType="1"/>
          </p:cNvSpPr>
          <p:nvPr/>
        </p:nvSpPr>
        <p:spPr bwMode="auto">
          <a:xfrm>
            <a:off x="3505200" y="2438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5"/>
          <p:cNvSpPr>
            <a:spLocks noChangeShapeType="1"/>
          </p:cNvSpPr>
          <p:nvPr/>
        </p:nvSpPr>
        <p:spPr bwMode="auto">
          <a:xfrm>
            <a:off x="3505200" y="3048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6"/>
          <p:cNvSpPr>
            <a:spLocks noChangeShapeType="1"/>
          </p:cNvSpPr>
          <p:nvPr/>
        </p:nvSpPr>
        <p:spPr bwMode="auto">
          <a:xfrm>
            <a:off x="4953000" y="22098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47"/>
          <p:cNvSpPr>
            <a:spLocks noChangeShapeType="1"/>
          </p:cNvSpPr>
          <p:nvPr/>
        </p:nvSpPr>
        <p:spPr bwMode="auto">
          <a:xfrm>
            <a:off x="6019800" y="22098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Oval 48"/>
          <p:cNvSpPr>
            <a:spLocks noChangeArrowheads="1"/>
          </p:cNvSpPr>
          <p:nvPr/>
        </p:nvSpPr>
        <p:spPr bwMode="auto">
          <a:xfrm>
            <a:off x="3917950" y="4267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i="1" dirty="0"/>
              <a:t>time</a:t>
            </a:r>
          </a:p>
        </p:txBody>
      </p:sp>
      <p:sp>
        <p:nvSpPr>
          <p:cNvPr id="39" name="Line 49"/>
          <p:cNvSpPr>
            <a:spLocks noChangeShapeType="1"/>
          </p:cNvSpPr>
          <p:nvPr/>
        </p:nvSpPr>
        <p:spPr bwMode="auto">
          <a:xfrm>
            <a:off x="4471988" y="4724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40" name="Rectangle 50"/>
          <p:cNvSpPr>
            <a:spLocks noChangeArrowheads="1"/>
          </p:cNvSpPr>
          <p:nvPr/>
        </p:nvSpPr>
        <p:spPr bwMode="auto">
          <a:xfrm>
            <a:off x="3429000" y="4876800"/>
            <a:ext cx="2133600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r>
              <a:rPr lang="en-US" sz="1600" i="1"/>
              <a:t>ExpressTrainStops</a:t>
            </a:r>
          </a:p>
        </p:txBody>
      </p:sp>
      <p:sp>
        <p:nvSpPr>
          <p:cNvPr id="41" name="Rectangle 51"/>
          <p:cNvSpPr>
            <a:spLocks noChangeArrowheads="1"/>
          </p:cNvSpPr>
          <p:nvPr/>
        </p:nvSpPr>
        <p:spPr bwMode="auto">
          <a:xfrm>
            <a:off x="3505200" y="4953000"/>
            <a:ext cx="1981200" cy="304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42" name="Line 53"/>
          <p:cNvSpPr>
            <a:spLocks noChangeShapeType="1"/>
          </p:cNvSpPr>
          <p:nvPr/>
        </p:nvSpPr>
        <p:spPr bwMode="auto">
          <a:xfrm>
            <a:off x="5562600" y="5105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43" name="AutoShape 54"/>
          <p:cNvSpPr>
            <a:spLocks noChangeArrowheads="1"/>
          </p:cNvSpPr>
          <p:nvPr/>
        </p:nvSpPr>
        <p:spPr bwMode="auto">
          <a:xfrm>
            <a:off x="5715000" y="4876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sz="1600" i="1"/>
          </a:p>
        </p:txBody>
      </p:sp>
      <p:sp>
        <p:nvSpPr>
          <p:cNvPr id="47" name="Line 57"/>
          <p:cNvSpPr>
            <a:spLocks noChangeShapeType="1"/>
          </p:cNvSpPr>
          <p:nvPr/>
        </p:nvSpPr>
        <p:spPr bwMode="auto">
          <a:xfrm flipV="1">
            <a:off x="6172200" y="4419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58"/>
          <p:cNvSpPr>
            <a:spLocks noChangeShapeType="1"/>
          </p:cNvSpPr>
          <p:nvPr/>
        </p:nvSpPr>
        <p:spPr bwMode="auto">
          <a:xfrm flipH="1">
            <a:off x="3276600" y="5105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49" name="AutoShape 59"/>
          <p:cNvSpPr>
            <a:spLocks noChangeArrowheads="1"/>
          </p:cNvSpPr>
          <p:nvPr/>
        </p:nvSpPr>
        <p:spPr bwMode="auto">
          <a:xfrm flipH="1">
            <a:off x="2362200" y="4876800"/>
            <a:ext cx="914400" cy="4572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50" name="AutoShape 60"/>
          <p:cNvSpPr>
            <a:spLocks noChangeArrowheads="1"/>
          </p:cNvSpPr>
          <p:nvPr/>
        </p:nvSpPr>
        <p:spPr bwMode="auto">
          <a:xfrm flipH="1">
            <a:off x="2514600" y="4953000"/>
            <a:ext cx="609600" cy="30480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Wingdings" pitchFamily="2" charset="2"/>
              <a:buNone/>
            </a:pPr>
            <a:endParaRPr lang="en-US" i="1"/>
          </a:p>
        </p:txBody>
      </p:sp>
      <p:sp>
        <p:nvSpPr>
          <p:cNvPr id="51" name="Line 61"/>
          <p:cNvSpPr>
            <a:spLocks noChangeShapeType="1"/>
          </p:cNvSpPr>
          <p:nvPr/>
        </p:nvSpPr>
        <p:spPr bwMode="auto">
          <a:xfrm flipH="1" flipV="1">
            <a:off x="2819400" y="4419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Text Box 50"/>
          <p:cNvSpPr txBox="1">
            <a:spLocks noChangeArrowheads="1"/>
          </p:cNvSpPr>
          <p:nvPr/>
        </p:nvSpPr>
        <p:spPr bwMode="auto">
          <a:xfrm>
            <a:off x="84036" y="4572000"/>
            <a:ext cx="254486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800" i="1">
                <a:solidFill>
                  <a:schemeClr val="accent5"/>
                </a:solidFill>
                <a:latin typeface="+mn-lt"/>
              </a:rPr>
              <a:t>Train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800" i="1" u="sng">
                <a:solidFill>
                  <a:schemeClr val="accent5"/>
                </a:solidFill>
                <a:latin typeface="+mn-lt"/>
              </a:rPr>
              <a:t>number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, </a:t>
            </a:r>
            <a:r>
              <a:rPr lang="en-US" sz="1800" i="1">
                <a:solidFill>
                  <a:schemeClr val="accent5"/>
                </a:solidFill>
                <a:latin typeface="+mn-lt"/>
              </a:rPr>
              <a:t>engineer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en-US" sz="1800" i="1">
                <a:solidFill>
                  <a:schemeClr val="accent5"/>
                </a:solidFill>
                <a:latin typeface="+mn-lt"/>
              </a:rPr>
              <a:t>LocalTrain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800" i="1" u="sng">
                <a:solidFill>
                  <a:schemeClr val="accent5"/>
                </a:solidFill>
                <a:latin typeface="+mn-lt"/>
              </a:rPr>
              <a:t>number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en-US" sz="1800" i="1">
                <a:solidFill>
                  <a:schemeClr val="accent5"/>
                </a:solidFill>
                <a:latin typeface="+mn-lt"/>
              </a:rPr>
              <a:t>ExpressTrain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800" i="1" u="sng">
                <a:solidFill>
                  <a:schemeClr val="accent5"/>
                </a:solidFill>
                <a:latin typeface="+mn-lt"/>
              </a:rPr>
              <a:t>number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)</a:t>
            </a:r>
          </a:p>
        </p:txBody>
      </p:sp>
      <p:sp>
        <p:nvSpPr>
          <p:cNvPr id="71" name="Text Box 51"/>
          <p:cNvSpPr txBox="1">
            <a:spLocks noChangeArrowheads="1"/>
          </p:cNvSpPr>
          <p:nvPr/>
        </p:nvSpPr>
        <p:spPr bwMode="auto">
          <a:xfrm>
            <a:off x="84036" y="5715000"/>
            <a:ext cx="245131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800" i="1">
                <a:solidFill>
                  <a:schemeClr val="accent5"/>
                </a:solidFill>
                <a:latin typeface="+mn-lt"/>
              </a:rPr>
              <a:t>Station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800" i="1" u="sng">
                <a:solidFill>
                  <a:schemeClr val="accent5"/>
                </a:solidFill>
                <a:latin typeface="+mn-lt"/>
              </a:rPr>
              <a:t>name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, </a:t>
            </a:r>
            <a:r>
              <a:rPr lang="en-US" sz="1800" i="1">
                <a:solidFill>
                  <a:schemeClr val="accent5"/>
                </a:solidFill>
                <a:latin typeface="+mn-lt"/>
              </a:rPr>
              <a:t>address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en-US" sz="1800" i="1">
                <a:solidFill>
                  <a:schemeClr val="accent5"/>
                </a:solidFill>
                <a:latin typeface="+mn-lt"/>
              </a:rPr>
              <a:t>LocalStation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800" i="1" u="sng">
                <a:solidFill>
                  <a:schemeClr val="accent5"/>
                </a:solidFill>
                <a:latin typeface="+mn-lt"/>
              </a:rPr>
              <a:t>name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en-US" sz="1800" i="1">
                <a:solidFill>
                  <a:schemeClr val="accent5"/>
                </a:solidFill>
                <a:latin typeface="+mn-lt"/>
              </a:rPr>
              <a:t>ExpressStation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800" i="1" u="sng">
                <a:solidFill>
                  <a:schemeClr val="accent5"/>
                </a:solidFill>
                <a:latin typeface="+mn-lt"/>
              </a:rPr>
              <a:t>name</a:t>
            </a:r>
            <a:r>
              <a:rPr lang="en-US" sz="1800">
                <a:solidFill>
                  <a:schemeClr val="accent5"/>
                </a:solidFill>
                <a:latin typeface="+mn-lt"/>
              </a:rPr>
              <a:t>)</a:t>
            </a:r>
          </a:p>
        </p:txBody>
      </p:sp>
      <p:sp>
        <p:nvSpPr>
          <p:cNvPr id="72" name="Text Box 54"/>
          <p:cNvSpPr txBox="1">
            <a:spLocks noChangeArrowheads="1"/>
          </p:cNvSpPr>
          <p:nvPr/>
        </p:nvSpPr>
        <p:spPr bwMode="auto">
          <a:xfrm>
            <a:off x="2590800" y="5399115"/>
            <a:ext cx="37641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 i="1" dirty="0" err="1">
                <a:solidFill>
                  <a:schemeClr val="accent5"/>
                </a:solidFill>
                <a:latin typeface="+mn-lt"/>
              </a:rPr>
              <a:t>LocalTrainStop</a:t>
            </a:r>
            <a:r>
              <a:rPr lang="en-US" sz="1600" dirty="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600" i="1" u="sng" dirty="0" err="1">
                <a:solidFill>
                  <a:schemeClr val="accent5"/>
                </a:solidFill>
                <a:latin typeface="+mn-lt"/>
              </a:rPr>
              <a:t>local_train_number</a:t>
            </a:r>
            <a:r>
              <a:rPr lang="en-US" sz="1600" dirty="0">
                <a:solidFill>
                  <a:schemeClr val="accent5"/>
                </a:solidFill>
                <a:latin typeface="+mn-lt"/>
              </a:rPr>
              <a:t>, </a:t>
            </a:r>
            <a:r>
              <a:rPr lang="en-US" sz="1600" i="1" u="sng" dirty="0">
                <a:solidFill>
                  <a:schemeClr val="accent5"/>
                </a:solidFill>
                <a:latin typeface="+mn-lt"/>
              </a:rPr>
              <a:t>time</a:t>
            </a:r>
            <a:r>
              <a:rPr lang="en-US" sz="1600" dirty="0">
                <a:solidFill>
                  <a:schemeClr val="accent5"/>
                </a:solidFill>
                <a:latin typeface="+mn-lt"/>
              </a:rPr>
              <a:t>)</a:t>
            </a:r>
          </a:p>
        </p:txBody>
      </p:sp>
      <p:sp>
        <p:nvSpPr>
          <p:cNvPr id="73" name="Text Box 55"/>
          <p:cNvSpPr txBox="1">
            <a:spLocks noChangeArrowheads="1"/>
          </p:cNvSpPr>
          <p:nvPr/>
        </p:nvSpPr>
        <p:spPr bwMode="auto">
          <a:xfrm>
            <a:off x="2590800" y="6008715"/>
            <a:ext cx="42322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 i="1">
                <a:solidFill>
                  <a:schemeClr val="accent5"/>
                </a:solidFill>
                <a:latin typeface="+mn-lt"/>
              </a:rPr>
              <a:t>ExpressTrainStop</a:t>
            </a:r>
            <a:r>
              <a:rPr lang="en-US" sz="160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600" i="1" u="sng">
                <a:solidFill>
                  <a:schemeClr val="accent5"/>
                </a:solidFill>
                <a:latin typeface="+mn-lt"/>
              </a:rPr>
              <a:t>express_train_number</a:t>
            </a:r>
            <a:r>
              <a:rPr lang="en-US" sz="1600">
                <a:solidFill>
                  <a:schemeClr val="accent5"/>
                </a:solidFill>
                <a:latin typeface="+mn-lt"/>
              </a:rPr>
              <a:t>, </a:t>
            </a:r>
            <a:r>
              <a:rPr lang="en-US" sz="1600" i="1" u="sng">
                <a:solidFill>
                  <a:schemeClr val="accent5"/>
                </a:solidFill>
                <a:latin typeface="+mn-lt"/>
              </a:rPr>
              <a:t>time</a:t>
            </a:r>
            <a:r>
              <a:rPr lang="en-US" sz="1600">
                <a:solidFill>
                  <a:schemeClr val="accent5"/>
                </a:solidFill>
                <a:latin typeface="+mn-lt"/>
              </a:rPr>
              <a:t>)</a:t>
            </a:r>
          </a:p>
        </p:txBody>
      </p:sp>
      <p:sp>
        <p:nvSpPr>
          <p:cNvPr id="74" name="Text Box 54"/>
          <p:cNvSpPr txBox="1">
            <a:spLocks noChangeArrowheads="1"/>
          </p:cNvSpPr>
          <p:nvPr/>
        </p:nvSpPr>
        <p:spPr bwMode="auto">
          <a:xfrm>
            <a:off x="2590800" y="5703915"/>
            <a:ext cx="59154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 i="1">
                <a:solidFill>
                  <a:schemeClr val="accent5"/>
                </a:solidFill>
                <a:latin typeface="+mn-lt"/>
              </a:rPr>
              <a:t>LocalTrainStopsAtStation</a:t>
            </a:r>
            <a:r>
              <a:rPr lang="en-US" sz="160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600" i="1" u="sng">
                <a:solidFill>
                  <a:schemeClr val="accent5"/>
                </a:solidFill>
                <a:latin typeface="+mn-lt"/>
              </a:rPr>
              <a:t>local_train_number</a:t>
            </a:r>
            <a:r>
              <a:rPr lang="en-US" sz="1600">
                <a:solidFill>
                  <a:schemeClr val="accent5"/>
                </a:solidFill>
                <a:latin typeface="+mn-lt"/>
              </a:rPr>
              <a:t>, </a:t>
            </a:r>
            <a:r>
              <a:rPr lang="en-US" sz="1600" i="1" u="sng">
                <a:solidFill>
                  <a:schemeClr val="accent5"/>
                </a:solidFill>
                <a:latin typeface="+mn-lt"/>
              </a:rPr>
              <a:t>time</a:t>
            </a:r>
            <a:r>
              <a:rPr lang="en-US" sz="1600" i="1">
                <a:solidFill>
                  <a:schemeClr val="accent5"/>
                </a:solidFill>
                <a:latin typeface="+mn-lt"/>
              </a:rPr>
              <a:t>, station_name</a:t>
            </a:r>
            <a:r>
              <a:rPr lang="en-US" sz="1600">
                <a:solidFill>
                  <a:schemeClr val="accent5"/>
                </a:solidFill>
                <a:latin typeface="+mn-lt"/>
              </a:rPr>
              <a:t>)</a:t>
            </a:r>
          </a:p>
        </p:txBody>
      </p:sp>
      <p:sp>
        <p:nvSpPr>
          <p:cNvPr id="75" name="Text Box 55"/>
          <p:cNvSpPr txBox="1">
            <a:spLocks noChangeArrowheads="1"/>
          </p:cNvSpPr>
          <p:nvPr/>
        </p:nvSpPr>
        <p:spPr bwMode="auto">
          <a:xfrm>
            <a:off x="2590800" y="6313515"/>
            <a:ext cx="51058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1600" i="1" dirty="0" err="1">
                <a:solidFill>
                  <a:schemeClr val="accent5"/>
                </a:solidFill>
                <a:latin typeface="+mn-lt"/>
              </a:rPr>
              <a:t>ExpressTrainStopsAtStation</a:t>
            </a:r>
            <a:r>
              <a:rPr lang="en-US" sz="1600" dirty="0">
                <a:solidFill>
                  <a:schemeClr val="accent5"/>
                </a:solidFill>
                <a:latin typeface="+mn-lt"/>
              </a:rPr>
              <a:t> (</a:t>
            </a:r>
            <a:r>
              <a:rPr lang="en-US" sz="1600" i="1" u="sng" dirty="0" err="1">
                <a:solidFill>
                  <a:schemeClr val="accent5"/>
                </a:solidFill>
                <a:latin typeface="+mn-lt"/>
              </a:rPr>
              <a:t>express_train_number</a:t>
            </a:r>
            <a:r>
              <a:rPr lang="en-US" sz="1600" dirty="0">
                <a:solidFill>
                  <a:schemeClr val="accent5"/>
                </a:solidFill>
                <a:latin typeface="+mn-lt"/>
              </a:rPr>
              <a:t>, </a:t>
            </a:r>
            <a:r>
              <a:rPr lang="en-US" sz="1600" i="1" u="sng" dirty="0">
                <a:solidFill>
                  <a:schemeClr val="accent5"/>
                </a:solidFill>
                <a:latin typeface="+mn-lt"/>
              </a:rPr>
              <a:t>time</a:t>
            </a:r>
            <a:r>
              <a:rPr lang="en-US" sz="1600" dirty="0">
                <a:solidFill>
                  <a:schemeClr val="accent5"/>
                </a:solidFill>
                <a:latin typeface="+mn-lt"/>
              </a:rPr>
              <a:t>,</a:t>
            </a:r>
            <a:br>
              <a:rPr lang="en-US" sz="1600" dirty="0">
                <a:solidFill>
                  <a:schemeClr val="accent5"/>
                </a:solidFill>
                <a:latin typeface="+mn-lt"/>
              </a:rPr>
            </a:br>
            <a:r>
              <a:rPr lang="en-US" sz="1600" dirty="0">
                <a:solidFill>
                  <a:schemeClr val="accent5"/>
                </a:solidFill>
                <a:latin typeface="+mn-lt"/>
              </a:rPr>
              <a:t>		</a:t>
            </a:r>
            <a:r>
              <a:rPr lang="en-US" sz="1600" i="1" dirty="0">
                <a:solidFill>
                  <a:schemeClr val="accent5"/>
                </a:solidFill>
                <a:latin typeface="+mn-lt"/>
              </a:rPr>
              <a:t>               </a:t>
            </a:r>
            <a:r>
              <a:rPr lang="en-US" sz="1600" i="1" dirty="0" err="1">
                <a:solidFill>
                  <a:schemeClr val="accent5"/>
                </a:solidFill>
                <a:latin typeface="+mn-lt"/>
              </a:rPr>
              <a:t>express_station_name</a:t>
            </a:r>
            <a:r>
              <a:rPr lang="en-US" sz="1600" dirty="0">
                <a:solidFill>
                  <a:schemeClr val="accent5"/>
                </a:solidFill>
                <a:latin typeface="+mn-lt"/>
              </a:rPr>
              <a:t>)</a:t>
            </a:r>
          </a:p>
        </p:txBody>
      </p:sp>
      <p:grpSp>
        <p:nvGrpSpPr>
          <p:cNvPr id="76" name="Group 75"/>
          <p:cNvGrpSpPr>
            <a:grpSpLocks/>
          </p:cNvGrpSpPr>
          <p:nvPr/>
        </p:nvGrpSpPr>
        <p:grpSpPr bwMode="auto">
          <a:xfrm>
            <a:off x="6298794" y="5041418"/>
            <a:ext cx="2260600" cy="801688"/>
            <a:chOff x="6490307" y="4800600"/>
            <a:chExt cx="2259386" cy="801100"/>
          </a:xfrm>
        </p:grpSpPr>
        <p:sp>
          <p:nvSpPr>
            <p:cNvPr id="77" name="TextBox 71"/>
            <p:cNvSpPr txBox="1">
              <a:spLocks noChangeArrowheads="1"/>
            </p:cNvSpPr>
            <p:nvPr/>
          </p:nvSpPr>
          <p:spPr bwMode="auto">
            <a:xfrm>
              <a:off x="7312361" y="4800600"/>
              <a:ext cx="886305" cy="399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+mn-lt"/>
                </a:rPr>
                <a:t>merge</a:t>
              </a:r>
            </a:p>
          </p:txBody>
        </p:sp>
        <p:sp>
          <p:nvSpPr>
            <p:cNvPr id="78" name="Arc 77"/>
            <p:cNvSpPr/>
            <p:nvPr/>
          </p:nvSpPr>
          <p:spPr bwMode="auto">
            <a:xfrm rot="441438">
              <a:off x="6490307" y="5247947"/>
              <a:ext cx="2259386" cy="353753"/>
            </a:xfrm>
            <a:prstGeom prst="arc">
              <a:avLst>
                <a:gd name="adj1" fmla="val 10849213"/>
                <a:gd name="adj2" fmla="val 0"/>
              </a:avLst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600">
                <a:solidFill>
                  <a:schemeClr val="accent2"/>
                </a:solidFill>
              </a:endParaRPr>
            </a:p>
          </p:txBody>
        </p:sp>
      </p:grpSp>
      <p:grpSp>
        <p:nvGrpSpPr>
          <p:cNvPr id="79" name="Group 76"/>
          <p:cNvGrpSpPr>
            <a:grpSpLocks/>
          </p:cNvGrpSpPr>
          <p:nvPr/>
        </p:nvGrpSpPr>
        <p:grpSpPr bwMode="auto">
          <a:xfrm>
            <a:off x="6910851" y="6096000"/>
            <a:ext cx="1648932" cy="762000"/>
            <a:chOff x="7162801" y="5867400"/>
            <a:chExt cx="1648602" cy="761999"/>
          </a:xfrm>
        </p:grpSpPr>
        <p:sp>
          <p:nvSpPr>
            <p:cNvPr id="80" name="Arc 79"/>
            <p:cNvSpPr/>
            <p:nvPr/>
          </p:nvSpPr>
          <p:spPr bwMode="auto">
            <a:xfrm rot="5400000">
              <a:off x="7172248" y="5857953"/>
              <a:ext cx="761999" cy="780893"/>
            </a:xfrm>
            <a:prstGeom prst="arc">
              <a:avLst>
                <a:gd name="adj1" fmla="val 12799101"/>
                <a:gd name="adj2" fmla="val 19097928"/>
              </a:avLst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81" name="TextBox 74"/>
            <p:cNvSpPr txBox="1">
              <a:spLocks noChangeArrowheads="1"/>
            </p:cNvSpPr>
            <p:nvPr/>
          </p:nvSpPr>
          <p:spPr bwMode="auto">
            <a:xfrm>
              <a:off x="7924800" y="5939135"/>
              <a:ext cx="886603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en-US" sz="2000" dirty="0">
                  <a:solidFill>
                    <a:schemeClr val="accent2"/>
                  </a:solidFill>
                  <a:latin typeface="+mn-lt"/>
                </a:rPr>
                <a:t>merge</a:t>
              </a:r>
            </a:p>
          </p:txBody>
        </p: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11AF3D5-898D-354D-8DAF-92EF3E6BF6CA}"/>
              </a:ext>
            </a:extLst>
          </p:cNvPr>
          <p:cNvCxnSpPr>
            <a:cxnSpLocks/>
            <a:stCxn id="36" idx="0"/>
            <a:endCxn id="36" idx="1"/>
          </p:cNvCxnSpPr>
          <p:nvPr/>
        </p:nvCxnSpPr>
        <p:spPr>
          <a:xfrm>
            <a:off x="4953000" y="2209800"/>
            <a:ext cx="1524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157116C-EB5A-5E44-AC92-5AA6FF9E804F}"/>
              </a:ext>
            </a:extLst>
          </p:cNvPr>
          <p:cNvCxnSpPr>
            <a:cxnSpLocks/>
            <a:stCxn id="34" idx="0"/>
            <a:endCxn id="34" idx="1"/>
          </p:cNvCxnSpPr>
          <p:nvPr/>
        </p:nvCxnSpPr>
        <p:spPr>
          <a:xfrm>
            <a:off x="3505200" y="2438400"/>
            <a:ext cx="1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FFB585A-8921-704E-A5BA-A5BD3105C65A}"/>
              </a:ext>
            </a:extLst>
          </p:cNvPr>
          <p:cNvCxnSpPr>
            <a:cxnSpLocks/>
            <a:stCxn id="48" idx="0"/>
            <a:endCxn id="49" idx="1"/>
          </p:cNvCxnSpPr>
          <p:nvPr/>
        </p:nvCxnSpPr>
        <p:spPr>
          <a:xfrm flipH="1">
            <a:off x="3276600" y="51054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F668FDB-9CBE-4947-A1AD-4F06028F2909}"/>
              </a:ext>
            </a:extLst>
          </p:cNvPr>
          <p:cNvCxnSpPr>
            <a:cxnSpLocks/>
            <a:stCxn id="42" idx="0"/>
            <a:endCxn id="43" idx="1"/>
          </p:cNvCxnSpPr>
          <p:nvPr/>
        </p:nvCxnSpPr>
        <p:spPr>
          <a:xfrm>
            <a:off x="5562600" y="51054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74C7449-9765-074B-A5F0-0C0C95B3AA76}"/>
              </a:ext>
            </a:extLst>
          </p:cNvPr>
          <p:cNvCxnSpPr>
            <a:cxnSpLocks/>
          </p:cNvCxnSpPr>
          <p:nvPr/>
        </p:nvCxnSpPr>
        <p:spPr>
          <a:xfrm flipV="1">
            <a:off x="3590673" y="1742799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C1F4915-4DC2-B745-B7D9-5025B9B29322}"/>
              </a:ext>
            </a:extLst>
          </p:cNvPr>
          <p:cNvCxnSpPr>
            <a:cxnSpLocks/>
          </p:cNvCxnSpPr>
          <p:nvPr/>
        </p:nvCxnSpPr>
        <p:spPr>
          <a:xfrm flipV="1">
            <a:off x="4107643" y="4607307"/>
            <a:ext cx="687414" cy="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7190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3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build="p" autoUpdateAnimBg="0"/>
      <p:bldP spid="71" grpId="0" uiExpand="1" build="p" autoUpdateAnimBg="0"/>
      <p:bldP spid="72" grpId="0" autoUpdateAnimBg="0"/>
      <p:bldP spid="73" grpId="0" autoUpdateAnimBg="0"/>
      <p:bldP spid="74" grpId="0" autoUpdateAnimBg="0"/>
      <p:bldP spid="7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Simplifications and refinements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SzTx/>
                  <a:buFont typeface="Wingdings" pitchFamily="2" charset="2"/>
                  <a:buNone/>
                </a:pPr>
                <a:r>
                  <a:rPr lang="en-US" sz="2000" i="1" dirty="0">
                    <a:solidFill>
                      <a:schemeClr val="tx2"/>
                    </a:solidFill>
                  </a:rPr>
                  <a:t>	</a:t>
                </a:r>
                <a:r>
                  <a:rPr lang="en-US" sz="2000" i="1" dirty="0">
                    <a:solidFill>
                      <a:schemeClr val="accent5"/>
                    </a:solidFill>
                  </a:rPr>
                  <a:t>Train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 (</a:t>
                </a:r>
                <a:r>
                  <a:rPr lang="en-US" sz="2000" i="1" u="sng" dirty="0">
                    <a:solidFill>
                      <a:schemeClr val="accent5"/>
                    </a:solidFill>
                  </a:rPr>
                  <a:t>number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, </a:t>
                </a:r>
                <a:r>
                  <a:rPr lang="en-US" sz="2000" i="1" dirty="0">
                    <a:solidFill>
                      <a:schemeClr val="accent5"/>
                    </a:solidFill>
                  </a:rPr>
                  <a:t>engineer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), </a:t>
                </a:r>
                <a:r>
                  <a:rPr lang="en-US" sz="2000" i="1" dirty="0" err="1">
                    <a:solidFill>
                      <a:schemeClr val="accent5"/>
                    </a:solidFill>
                  </a:rPr>
                  <a:t>LocalTrain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 (</a:t>
                </a:r>
                <a:r>
                  <a:rPr lang="en-US" sz="2000" i="1" u="sng" dirty="0">
                    <a:solidFill>
                      <a:schemeClr val="accent5"/>
                    </a:solidFill>
                  </a:rPr>
                  <a:t>number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), </a:t>
                </a:r>
                <a:r>
                  <a:rPr lang="en-US" sz="2000" i="1" dirty="0" err="1">
                    <a:solidFill>
                      <a:schemeClr val="accent5"/>
                    </a:solidFill>
                  </a:rPr>
                  <a:t>ExpressTrain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 (</a:t>
                </a:r>
                <a:r>
                  <a:rPr lang="en-US" sz="2000" i="1" u="sng" dirty="0">
                    <a:solidFill>
                      <a:schemeClr val="accent5"/>
                    </a:solidFill>
                  </a:rPr>
                  <a:t>number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)</a:t>
                </a:r>
                <a:br>
                  <a:rPr lang="en-US" sz="2000" dirty="0">
                    <a:solidFill>
                      <a:schemeClr val="accent5"/>
                    </a:solidFill>
                  </a:rPr>
                </a:br>
                <a:r>
                  <a:rPr lang="en-US" sz="2000" i="1" dirty="0">
                    <a:solidFill>
                      <a:schemeClr val="accent5"/>
                    </a:solidFill>
                  </a:rPr>
                  <a:t>Station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 (</a:t>
                </a:r>
                <a:r>
                  <a:rPr lang="en-US" sz="2000" i="1" u="sng" dirty="0">
                    <a:solidFill>
                      <a:schemeClr val="accent5"/>
                    </a:solidFill>
                  </a:rPr>
                  <a:t>name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, </a:t>
                </a:r>
                <a:r>
                  <a:rPr lang="en-US" sz="2000" i="1" dirty="0">
                    <a:solidFill>
                      <a:schemeClr val="accent5"/>
                    </a:solidFill>
                  </a:rPr>
                  <a:t>address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)</a:t>
                </a:r>
                <a:r>
                  <a:rPr lang="en-US" sz="2000" i="1" dirty="0">
                    <a:solidFill>
                      <a:schemeClr val="accent5"/>
                    </a:solidFill>
                  </a:rPr>
                  <a:t>, </a:t>
                </a:r>
                <a:r>
                  <a:rPr lang="en-US" sz="2000" i="1" dirty="0" err="1">
                    <a:solidFill>
                      <a:schemeClr val="accent5"/>
                    </a:solidFill>
                  </a:rPr>
                  <a:t>LocalStation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 (</a:t>
                </a:r>
                <a:r>
                  <a:rPr lang="en-US" sz="2000" i="1" u="sng" dirty="0">
                    <a:solidFill>
                      <a:schemeClr val="accent5"/>
                    </a:solidFill>
                  </a:rPr>
                  <a:t>name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)</a:t>
                </a:r>
                <a:r>
                  <a:rPr lang="en-US" sz="2000" i="1" dirty="0">
                    <a:solidFill>
                      <a:schemeClr val="accent5"/>
                    </a:solidFill>
                  </a:rPr>
                  <a:t>, </a:t>
                </a:r>
                <a:r>
                  <a:rPr lang="en-US" sz="2000" i="1" dirty="0" err="1">
                    <a:solidFill>
                      <a:schemeClr val="accent5"/>
                    </a:solidFill>
                  </a:rPr>
                  <a:t>ExpressStation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 (</a:t>
                </a:r>
                <a:r>
                  <a:rPr lang="en-US" sz="2000" i="1" u="sng" dirty="0">
                    <a:solidFill>
                      <a:schemeClr val="accent5"/>
                    </a:solidFill>
                  </a:rPr>
                  <a:t>name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)</a:t>
                </a:r>
                <a:br>
                  <a:rPr lang="en-US" sz="2000" i="1" dirty="0">
                    <a:solidFill>
                      <a:schemeClr val="accent5"/>
                    </a:solidFill>
                  </a:rPr>
                </a:br>
                <a:r>
                  <a:rPr lang="en-US" sz="2000" i="1" dirty="0" err="1">
                    <a:solidFill>
                      <a:schemeClr val="accent5"/>
                    </a:solidFill>
                  </a:rPr>
                  <a:t>LocalTrainStop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 (</a:t>
                </a:r>
                <a:r>
                  <a:rPr lang="en-US" sz="2000" i="1" u="sng" dirty="0" err="1">
                    <a:solidFill>
                      <a:schemeClr val="accent5"/>
                    </a:solidFill>
                  </a:rPr>
                  <a:t>local_train_number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, </a:t>
                </a:r>
                <a:r>
                  <a:rPr lang="en-US" sz="2000" i="1" dirty="0" err="1">
                    <a:solidFill>
                      <a:schemeClr val="accent5"/>
                    </a:solidFill>
                  </a:rPr>
                  <a:t>station_name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, </a:t>
                </a:r>
                <a:r>
                  <a:rPr lang="en-US" sz="2000" i="1" u="sng" dirty="0">
                    <a:solidFill>
                      <a:schemeClr val="accent5"/>
                    </a:solidFill>
                  </a:rPr>
                  <a:t>time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)</a:t>
                </a:r>
                <a:br>
                  <a:rPr lang="en-US" sz="2000" dirty="0">
                    <a:solidFill>
                      <a:schemeClr val="accent5"/>
                    </a:solidFill>
                  </a:rPr>
                </a:br>
                <a:r>
                  <a:rPr lang="en-US" sz="2000" i="1" dirty="0" err="1">
                    <a:solidFill>
                      <a:schemeClr val="accent5"/>
                    </a:solidFill>
                  </a:rPr>
                  <a:t>ExpressTrainStop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 (</a:t>
                </a:r>
                <a:r>
                  <a:rPr lang="en-US" sz="2000" i="1" u="sng" dirty="0" err="1">
                    <a:solidFill>
                      <a:schemeClr val="accent5"/>
                    </a:solidFill>
                  </a:rPr>
                  <a:t>express_train_number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, </a:t>
                </a:r>
                <a:r>
                  <a:rPr lang="en-US" sz="2000" i="1" dirty="0" err="1">
                    <a:solidFill>
                      <a:schemeClr val="accent5"/>
                    </a:solidFill>
                  </a:rPr>
                  <a:t>express_station_name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, </a:t>
                </a:r>
                <a:r>
                  <a:rPr lang="en-US" sz="2000" i="1" u="sng" dirty="0">
                    <a:solidFill>
                      <a:schemeClr val="accent5"/>
                    </a:solidFill>
                  </a:rPr>
                  <a:t>time</a:t>
                </a:r>
                <a:r>
                  <a:rPr lang="en-US" sz="2000" dirty="0">
                    <a:solidFill>
                      <a:schemeClr val="accent5"/>
                    </a:solidFill>
                  </a:rPr>
                  <a:t>)</a:t>
                </a:r>
                <a:endParaRPr lang="en-US" dirty="0">
                  <a:solidFill>
                    <a:schemeClr val="accent5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Eliminate </a:t>
                </a:r>
                <a:r>
                  <a:rPr lang="en-US" i="1" dirty="0" err="1"/>
                  <a:t>LocalTrain</a:t>
                </a:r>
                <a:r>
                  <a:rPr lang="en-US" dirty="0"/>
                  <a:t> table</a:t>
                </a:r>
              </a:p>
              <a:p>
                <a:pPr lvl="1"/>
                <a:r>
                  <a:rPr lang="en-US" dirty="0"/>
                  <a:t>Redundant: can be computed as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𝑛𝑢𝑚𝑏𝑒𝑟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𝑇𝑟𝑎𝑖𝑛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𝐸𝑥𝑝𝑟𝑒𝑠𝑠𝑇𝑟𝑎𝑖𝑛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Slightly harder to check that </a:t>
                </a:r>
                <a:r>
                  <a:rPr lang="en-US" i="1" dirty="0" err="1"/>
                  <a:t>local_train_number</a:t>
                </a:r>
                <a:r>
                  <a:rPr lang="en-US" dirty="0"/>
                  <a:t> is indeed a local train number</a:t>
                </a:r>
              </a:p>
              <a:p>
                <a:r>
                  <a:rPr lang="en-US" dirty="0"/>
                  <a:t>Eliminate </a:t>
                </a:r>
                <a:r>
                  <a:rPr lang="en-US" i="1" dirty="0" err="1"/>
                  <a:t>LocalStation</a:t>
                </a:r>
                <a:r>
                  <a:rPr lang="en-US" dirty="0"/>
                  <a:t> table</a:t>
                </a:r>
              </a:p>
              <a:p>
                <a:pPr lvl="1"/>
                <a:r>
                  <a:rPr lang="en-US" dirty="0"/>
                  <a:t>It can be computed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𝑛𝑢𝑚𝑏𝑒𝑟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𝑆𝑡𝑎𝑡𝑖𝑜𝑛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𝐸𝑥𝑝𝑟𝑒𝑠𝑠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𝑆𝑡𝑎𝑡𝑖𝑜𝑛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27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456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alternative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Tx/>
              <a:buFont typeface="Wingdings" pitchFamily="2" charset="2"/>
              <a:buNone/>
            </a:pPr>
            <a:r>
              <a:rPr lang="en-US" sz="2000" i="1" dirty="0">
                <a:solidFill>
                  <a:schemeClr val="accent5"/>
                </a:solidFill>
              </a:rPr>
              <a:t>Train</a:t>
            </a:r>
            <a:r>
              <a:rPr lang="en-US" sz="2000" dirty="0">
                <a:solidFill>
                  <a:schemeClr val="accent5"/>
                </a:solidFill>
              </a:rPr>
              <a:t> (</a:t>
            </a:r>
            <a:r>
              <a:rPr lang="en-US" sz="2000" i="1" u="sng" dirty="0">
                <a:solidFill>
                  <a:schemeClr val="accent5"/>
                </a:solidFill>
              </a:rPr>
              <a:t>number</a:t>
            </a:r>
            <a:r>
              <a:rPr lang="en-US" sz="2000" dirty="0">
                <a:solidFill>
                  <a:schemeClr val="accent5"/>
                </a:solidFill>
              </a:rPr>
              <a:t>, </a:t>
            </a:r>
            <a:r>
              <a:rPr lang="en-US" sz="2000" i="1" dirty="0">
                <a:solidFill>
                  <a:schemeClr val="accent5"/>
                </a:solidFill>
              </a:rPr>
              <a:t>engineer</a:t>
            </a:r>
            <a:r>
              <a:rPr lang="en-US" sz="2000" dirty="0">
                <a:solidFill>
                  <a:schemeClr val="accent5"/>
                </a:solidFill>
              </a:rPr>
              <a:t>, </a:t>
            </a:r>
            <a:r>
              <a:rPr lang="en-US" sz="2000" i="1" dirty="0">
                <a:solidFill>
                  <a:schemeClr val="accent5"/>
                </a:solidFill>
              </a:rPr>
              <a:t>type</a:t>
            </a:r>
            <a:r>
              <a:rPr lang="en-US" sz="2000" dirty="0">
                <a:solidFill>
                  <a:schemeClr val="accent5"/>
                </a:solidFill>
              </a:rPr>
              <a:t>)</a:t>
            </a:r>
          </a:p>
          <a:p>
            <a:pPr>
              <a:buSzTx/>
              <a:buFont typeface="Wingdings" pitchFamily="2" charset="2"/>
              <a:buNone/>
            </a:pPr>
            <a:r>
              <a:rPr lang="en-US" sz="2000" i="1" dirty="0">
                <a:solidFill>
                  <a:schemeClr val="accent5"/>
                </a:solidFill>
              </a:rPr>
              <a:t>Station</a:t>
            </a:r>
            <a:r>
              <a:rPr lang="en-US" sz="2000" dirty="0">
                <a:solidFill>
                  <a:schemeClr val="accent5"/>
                </a:solidFill>
              </a:rPr>
              <a:t> (</a:t>
            </a:r>
            <a:r>
              <a:rPr lang="en-US" sz="2000" i="1" u="sng" dirty="0">
                <a:solidFill>
                  <a:schemeClr val="accent5"/>
                </a:solidFill>
              </a:rPr>
              <a:t>name</a:t>
            </a:r>
            <a:r>
              <a:rPr lang="en-US" sz="2000" dirty="0">
                <a:solidFill>
                  <a:schemeClr val="accent5"/>
                </a:solidFill>
              </a:rPr>
              <a:t>, </a:t>
            </a:r>
            <a:r>
              <a:rPr lang="en-US" sz="2000" i="1" dirty="0">
                <a:solidFill>
                  <a:schemeClr val="accent5"/>
                </a:solidFill>
              </a:rPr>
              <a:t>address</a:t>
            </a:r>
            <a:r>
              <a:rPr lang="en-US" sz="2000" dirty="0">
                <a:solidFill>
                  <a:schemeClr val="accent5"/>
                </a:solidFill>
              </a:rPr>
              <a:t>, </a:t>
            </a:r>
            <a:r>
              <a:rPr lang="en-US" sz="2000" i="1" dirty="0">
                <a:solidFill>
                  <a:schemeClr val="accent5"/>
                </a:solidFill>
              </a:rPr>
              <a:t>type</a:t>
            </a:r>
            <a:r>
              <a:rPr lang="en-US" sz="2000" dirty="0">
                <a:solidFill>
                  <a:schemeClr val="accent5"/>
                </a:solidFill>
              </a:rPr>
              <a:t>)</a:t>
            </a:r>
            <a:endParaRPr lang="en-US" sz="2000" i="1" dirty="0">
              <a:solidFill>
                <a:schemeClr val="accent5"/>
              </a:solidFill>
            </a:endParaRPr>
          </a:p>
          <a:p>
            <a:pPr>
              <a:buSzTx/>
              <a:buFont typeface="Wingdings" pitchFamily="2" charset="2"/>
              <a:buNone/>
            </a:pPr>
            <a:r>
              <a:rPr lang="en-US" sz="2000" i="1" dirty="0" err="1">
                <a:solidFill>
                  <a:schemeClr val="accent5"/>
                </a:solidFill>
              </a:rPr>
              <a:t>TrainStop</a:t>
            </a:r>
            <a:r>
              <a:rPr lang="en-US" sz="2000" dirty="0">
                <a:solidFill>
                  <a:schemeClr val="accent5"/>
                </a:solidFill>
              </a:rPr>
              <a:t> (</a:t>
            </a:r>
            <a:r>
              <a:rPr lang="en-US" sz="2000" i="1" u="sng" dirty="0" err="1">
                <a:solidFill>
                  <a:schemeClr val="accent5"/>
                </a:solidFill>
              </a:rPr>
              <a:t>train_number</a:t>
            </a:r>
            <a:r>
              <a:rPr lang="en-US" sz="2000" dirty="0">
                <a:solidFill>
                  <a:schemeClr val="accent5"/>
                </a:solidFill>
              </a:rPr>
              <a:t>, </a:t>
            </a:r>
            <a:r>
              <a:rPr lang="en-US" sz="2000" i="1" dirty="0" err="1">
                <a:solidFill>
                  <a:schemeClr val="accent5"/>
                </a:solidFill>
              </a:rPr>
              <a:t>station_name</a:t>
            </a:r>
            <a:r>
              <a:rPr lang="en-US" sz="2000" dirty="0">
                <a:solidFill>
                  <a:schemeClr val="accent5"/>
                </a:solidFill>
              </a:rPr>
              <a:t>, </a:t>
            </a:r>
            <a:r>
              <a:rPr lang="en-US" sz="2000" i="1" u="sng" dirty="0">
                <a:solidFill>
                  <a:schemeClr val="accent5"/>
                </a:solidFill>
              </a:rPr>
              <a:t>time</a:t>
            </a:r>
            <a:r>
              <a:rPr lang="en-US" sz="2000" dirty="0">
                <a:solidFill>
                  <a:schemeClr val="accent5"/>
                </a:solidFill>
              </a:rPr>
              <a:t>)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/>
              <a:t>Encode the type of train/station as a column rather than creating subclasses</a:t>
            </a:r>
          </a:p>
          <a:p>
            <a:r>
              <a:rPr lang="en-US" dirty="0"/>
              <a:t>What about the following constraints?</a:t>
            </a:r>
          </a:p>
          <a:p>
            <a:pPr lvl="1"/>
            <a:r>
              <a:rPr lang="en-US" dirty="0"/>
              <a:t>Type must be either “local” or “express”</a:t>
            </a:r>
          </a:p>
          <a:p>
            <a:pPr lvl="1"/>
            <a:r>
              <a:rPr lang="en-US" dirty="0"/>
              <a:t>Express trains only stop at express stations</a:t>
            </a:r>
          </a:p>
          <a:p>
            <a:pPr lvl="1">
              <a:buFont typeface="Wingdings" pitchFamily="2" charset="2"/>
              <a:buChar char="F"/>
            </a:pPr>
            <a:r>
              <a:rPr lang="en-US" dirty="0"/>
              <a:t>They can be expressed/declared explicitly as database constraints in SQL </a:t>
            </a:r>
          </a:p>
          <a:p>
            <a:pPr lvl="1">
              <a:buFont typeface="Wingdings" pitchFamily="2" charset="2"/>
              <a:buChar char="F"/>
            </a:pPr>
            <a:r>
              <a:rPr lang="en-US" dirty="0"/>
              <a:t>Arguably a better design because it is simpler!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398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KISS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Keep It Simple, Stupid</a:t>
            </a:r>
            <a:br>
              <a:rPr lang="en-US" dirty="0">
                <a:solidFill>
                  <a:schemeClr val="accent2"/>
                </a:solidFill>
              </a:rPr>
            </a:b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Avoid redundancy</a:t>
            </a:r>
            <a:br>
              <a:rPr lang="en-US" dirty="0"/>
            </a:br>
            <a:endParaRPr lang="en-US" dirty="0"/>
          </a:p>
          <a:p>
            <a:r>
              <a:rPr lang="en-US" dirty="0"/>
              <a:t>Capture essential constraints, but don’t introduce unnecessary restrictions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Use your common sense</a:t>
            </a:r>
          </a:p>
          <a:p>
            <a:pPr lvl="1"/>
            <a:r>
              <a:rPr lang="en-US" dirty="0"/>
              <a:t>Warning: mechanical translation procedures given in this lecture are no substitute for your own judgment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611779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latin typeface="Prestige12 BT" panose="02070509030506020304" pitchFamily="49" charset="0"/>
              </a:rPr>
              <a:t>http://ungenius.files.wordpress.com/2010/03/thehomer.jpg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843" y="265703"/>
            <a:ext cx="4173251" cy="23823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21122066">
            <a:off x="6264600" y="2244538"/>
            <a:ext cx="2416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POOR DESIGN!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151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FB4D-0DF0-F44E-8CF8-4EFB39C8A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aggregation </a:t>
            </a:r>
          </a:p>
          <a:p>
            <a:pPr lvl="1"/>
            <a:r>
              <a:rPr lang="en-CA" sz="2000" dirty="0"/>
              <a:t>Tabular representation of aggregation of </a:t>
            </a:r>
            <a:r>
              <a:rPr lang="en-CA" sz="2000" i="1" dirty="0"/>
              <a:t>R =</a:t>
            </a:r>
            <a:br>
              <a:rPr lang="en-CA" sz="2000" i="1" dirty="0"/>
            </a:br>
            <a:r>
              <a:rPr lang="en-CA" sz="2000" dirty="0"/>
              <a:t>tabular representation for relationship set </a:t>
            </a:r>
            <a:r>
              <a:rPr lang="en-CA" sz="2000" i="1" dirty="0"/>
              <a:t>R </a:t>
            </a:r>
            <a:endParaRPr lang="en-CA" sz="2000" dirty="0"/>
          </a:p>
          <a:p>
            <a:pPr lvl="1"/>
            <a:r>
              <a:rPr lang="en-CA" sz="2000" dirty="0"/>
              <a:t>To represent relationship set involving aggregation of </a:t>
            </a:r>
            <a:r>
              <a:rPr lang="en-CA" sz="2000" i="1" dirty="0"/>
              <a:t>R</a:t>
            </a:r>
            <a:r>
              <a:rPr lang="en-CA" sz="2000" dirty="0"/>
              <a:t>, treat the aggregation like an entity set whose primary key is the primary key of the table for </a:t>
            </a:r>
            <a:r>
              <a:rPr lang="en-CA" sz="2000" i="1" dirty="0"/>
              <a:t>R </a:t>
            </a:r>
            <a:endParaRPr lang="en-CA" sz="2000" dirty="0"/>
          </a:p>
          <a:p>
            <a:pPr lvl="1"/>
            <a:endParaRPr lang="en-US" dirty="0"/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23EE8-6FDD-8944-9D83-3EDADD00C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500" y="3259152"/>
            <a:ext cx="3947700" cy="2323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64CB97-BB7A-7942-A778-D6A68987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C939E-8A60-6E4A-ADD4-FE9137D8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982EB3-36C7-7F4F-A712-625FBE2D5CB0}"/>
              </a:ext>
            </a:extLst>
          </p:cNvPr>
          <p:cNvSpPr/>
          <p:nvPr/>
        </p:nvSpPr>
        <p:spPr>
          <a:xfrm>
            <a:off x="462855" y="5265760"/>
            <a:ext cx="77226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i="1" dirty="0" err="1">
                <a:solidFill>
                  <a:schemeClr val="accent5"/>
                </a:solidFill>
              </a:rPr>
              <a:t>EnrolledIn</a:t>
            </a:r>
            <a:r>
              <a:rPr lang="en-US" sz="2000" i="1" dirty="0">
                <a:solidFill>
                  <a:schemeClr val="accent5"/>
                </a:solidFill>
              </a:rPr>
              <a:t>(</a:t>
            </a:r>
            <a:r>
              <a:rPr lang="en-US" sz="2000" i="1" u="sng" dirty="0" err="1">
                <a:solidFill>
                  <a:schemeClr val="accent5"/>
                </a:solidFill>
              </a:rPr>
              <a:t>StudentNum,CouseNum</a:t>
            </a:r>
            <a:r>
              <a:rPr lang="en-US" sz="2000" i="1" dirty="0">
                <a:solidFill>
                  <a:schemeClr val="accent5"/>
                </a:solidFill>
              </a:rPr>
              <a:t>)</a:t>
            </a:r>
            <a:endParaRPr lang="en-US" sz="20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047CC-06DF-45A3-BD60-6E827A2D0E46}"/>
              </a:ext>
            </a:extLst>
          </p:cNvPr>
          <p:cNvSpPr txBox="1"/>
          <p:nvPr/>
        </p:nvSpPr>
        <p:spPr>
          <a:xfrm>
            <a:off x="946728" y="4268868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accent5"/>
                </a:solidFill>
              </a:rPr>
              <a:t>Student (</a:t>
            </a:r>
            <a:r>
              <a:rPr lang="en-US" sz="2000" i="1" u="sng" dirty="0" err="1">
                <a:solidFill>
                  <a:schemeClr val="accent5"/>
                </a:solidFill>
              </a:rPr>
              <a:t>StudentNum</a:t>
            </a:r>
            <a:r>
              <a:rPr lang="en-US" sz="2000" i="1" dirty="0">
                <a:solidFill>
                  <a:schemeClr val="accent5"/>
                </a:solidFill>
              </a:rPr>
              <a:t>)</a:t>
            </a:r>
            <a:br>
              <a:rPr lang="en-US" sz="2000" i="1" dirty="0">
                <a:solidFill>
                  <a:schemeClr val="accent5"/>
                </a:solidFill>
              </a:rPr>
            </a:br>
            <a:r>
              <a:rPr lang="en-US" sz="2000" i="1" dirty="0">
                <a:solidFill>
                  <a:schemeClr val="accent5"/>
                </a:solidFill>
              </a:rPr>
              <a:t>Couse(</a:t>
            </a:r>
            <a:r>
              <a:rPr lang="en-US" sz="2000" i="1" u="sng" dirty="0" err="1">
                <a:solidFill>
                  <a:schemeClr val="accent5"/>
                </a:solidFill>
              </a:rPr>
              <a:t>CourseNum</a:t>
            </a:r>
            <a:r>
              <a:rPr lang="en-US" sz="2000" i="1" dirty="0">
                <a:solidFill>
                  <a:schemeClr val="accent5"/>
                </a:solidFill>
              </a:rPr>
              <a:t>)</a:t>
            </a:r>
            <a:br>
              <a:rPr lang="en-US" sz="2000" i="1" dirty="0">
                <a:solidFill>
                  <a:schemeClr val="accent5"/>
                </a:solidFill>
              </a:rPr>
            </a:br>
            <a:r>
              <a:rPr lang="en-US" sz="2000" i="1" dirty="0">
                <a:solidFill>
                  <a:schemeClr val="accent5"/>
                </a:solidFill>
              </a:rPr>
              <a:t>Account(</a:t>
            </a:r>
            <a:r>
              <a:rPr lang="en-US" sz="2000" i="1" u="sng" dirty="0" err="1">
                <a:solidFill>
                  <a:schemeClr val="accent5"/>
                </a:solidFill>
              </a:rPr>
              <a:t>UserID</a:t>
            </a:r>
            <a:r>
              <a:rPr lang="en-US" sz="2000" i="1" dirty="0">
                <a:solidFill>
                  <a:schemeClr val="accent5"/>
                </a:solidFill>
              </a:rPr>
              <a:t>)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6DF010-E479-41A1-93CD-48FDD18357AA}"/>
              </a:ext>
            </a:extLst>
          </p:cNvPr>
          <p:cNvSpPr txBox="1"/>
          <p:nvPr/>
        </p:nvSpPr>
        <p:spPr>
          <a:xfrm>
            <a:off x="449431" y="5641289"/>
            <a:ext cx="84174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i="1" dirty="0" err="1">
                <a:solidFill>
                  <a:schemeClr val="accent5"/>
                </a:solidFill>
              </a:rPr>
              <a:t>CouseAccount</a:t>
            </a:r>
            <a:r>
              <a:rPr lang="en-US" sz="2000" i="1" dirty="0">
                <a:solidFill>
                  <a:schemeClr val="accent5"/>
                </a:solidFill>
              </a:rPr>
              <a:t>(</a:t>
            </a:r>
            <a:r>
              <a:rPr lang="en-US" sz="2000" i="1" u="sng" dirty="0" err="1">
                <a:solidFill>
                  <a:schemeClr val="accent5"/>
                </a:solidFill>
              </a:rPr>
              <a:t>UserId</a:t>
            </a:r>
            <a:r>
              <a:rPr lang="en-US" sz="2000" i="1" dirty="0">
                <a:solidFill>
                  <a:schemeClr val="accent5"/>
                </a:solidFill>
              </a:rPr>
              <a:t>, </a:t>
            </a:r>
            <a:r>
              <a:rPr lang="en-US" sz="2000" i="1" dirty="0" err="1">
                <a:solidFill>
                  <a:schemeClr val="accent5"/>
                </a:solidFill>
              </a:rPr>
              <a:t>StudentNum</a:t>
            </a:r>
            <a:r>
              <a:rPr lang="en-US" sz="2000" i="1" dirty="0">
                <a:solidFill>
                  <a:schemeClr val="accent5"/>
                </a:solidFill>
              </a:rPr>
              <a:t>, </a:t>
            </a:r>
            <a:r>
              <a:rPr lang="en-US" sz="2000" i="1" dirty="0" err="1">
                <a:solidFill>
                  <a:schemeClr val="accent5"/>
                </a:solidFill>
              </a:rPr>
              <a:t>CourseNum</a:t>
            </a:r>
            <a:r>
              <a:rPr lang="en-US" sz="2000" i="1" dirty="0">
                <a:solidFill>
                  <a:schemeClr val="accent5"/>
                </a:solidFill>
              </a:rPr>
              <a:t>, ExpirationDate)</a:t>
            </a:r>
            <a:endParaRPr lang="en-US" sz="2000" i="1" dirty="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0FCF5D62-ACDC-4B75-B5DB-FCF7CECF84F9}"/>
              </a:ext>
            </a:extLst>
          </p:cNvPr>
          <p:cNvSpPr/>
          <p:nvPr/>
        </p:nvSpPr>
        <p:spPr>
          <a:xfrm>
            <a:off x="5421745" y="4608945"/>
            <a:ext cx="1219200" cy="400110"/>
          </a:xfrm>
          <a:prstGeom prst="diamond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94AFD-9192-4480-A3AC-B4D96414116B}"/>
              </a:ext>
            </a:extLst>
          </p:cNvPr>
          <p:cNvSpPr/>
          <p:nvPr/>
        </p:nvSpPr>
        <p:spPr>
          <a:xfrm>
            <a:off x="4164565" y="3796145"/>
            <a:ext cx="3704818" cy="55609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BB2728-20A1-42B2-B952-0A943A1E9DC9}"/>
              </a:ext>
            </a:extLst>
          </p:cNvPr>
          <p:cNvSpPr/>
          <p:nvPr/>
        </p:nvSpPr>
        <p:spPr>
          <a:xfrm>
            <a:off x="5645963" y="5284531"/>
            <a:ext cx="754837" cy="24222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954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830D-3548-FF41-92BF-F877A53D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(Exercise)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AC06-B88D-F442-9D6B-21A07DE5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EBB86-3853-AB49-9C9A-7C3D1E96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0752C0-2B80-C140-B55E-203C20187A47}"/>
              </a:ext>
            </a:extLst>
          </p:cNvPr>
          <p:cNvSpPr/>
          <p:nvPr/>
        </p:nvSpPr>
        <p:spPr>
          <a:xfrm>
            <a:off x="4618760" y="1456854"/>
            <a:ext cx="4052489" cy="49190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Relational Schema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?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B610437-F4CC-0F4C-9B55-D1B832B67403}"/>
              </a:ext>
            </a:extLst>
          </p:cNvPr>
          <p:cNvSpPr/>
          <p:nvPr/>
        </p:nvSpPr>
        <p:spPr>
          <a:xfrm>
            <a:off x="4341845" y="3429000"/>
            <a:ext cx="401323" cy="47119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641BD7-33B3-0E42-BE95-3CB77E8B1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30" y="2139726"/>
            <a:ext cx="3654522" cy="326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37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830D-3548-FF41-92BF-F877A53D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AC06-B88D-F442-9D6B-21A07DE5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EBB86-3853-AB49-9C9A-7C3D1E96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0752C0-2B80-C140-B55E-203C20187A47}"/>
              </a:ext>
            </a:extLst>
          </p:cNvPr>
          <p:cNvSpPr/>
          <p:nvPr/>
        </p:nvSpPr>
        <p:spPr>
          <a:xfrm>
            <a:off x="4618760" y="1456854"/>
            <a:ext cx="4052489" cy="49190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Relational Diagram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B610437-F4CC-0F4C-9B55-D1B832B67403}"/>
              </a:ext>
            </a:extLst>
          </p:cNvPr>
          <p:cNvSpPr/>
          <p:nvPr/>
        </p:nvSpPr>
        <p:spPr>
          <a:xfrm>
            <a:off x="4341845" y="3429000"/>
            <a:ext cx="401323" cy="47119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FDFFB4-103A-974D-8141-1015A6DEC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349" y="2091154"/>
            <a:ext cx="3432212" cy="36180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641BD7-33B3-0E42-BE95-3CB77E8B1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30" y="2139726"/>
            <a:ext cx="3654522" cy="326142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819CAF-0248-4016-AF3A-4D7D1CEF8CD0}"/>
              </a:ext>
            </a:extLst>
          </p:cNvPr>
          <p:cNvSpPr/>
          <p:nvPr/>
        </p:nvSpPr>
        <p:spPr>
          <a:xfrm>
            <a:off x="6997275" y="3352800"/>
            <a:ext cx="1029125" cy="11684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9853EA5D-A1AF-484E-B167-136406FFBA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36638" y="3596640"/>
            <a:ext cx="879861" cy="0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28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830D-3548-FF41-92BF-F877A53D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AC06-B88D-F442-9D6B-21A07DE5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EBB86-3853-AB49-9C9A-7C3D1E96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930D3-6925-EC48-8FDB-3AF9A1993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30" y="2139726"/>
            <a:ext cx="3654522" cy="32614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0752C0-2B80-C140-B55E-203C20187A47}"/>
              </a:ext>
            </a:extLst>
          </p:cNvPr>
          <p:cNvSpPr/>
          <p:nvPr/>
        </p:nvSpPr>
        <p:spPr>
          <a:xfrm>
            <a:off x="3908552" y="1456854"/>
            <a:ext cx="4762698" cy="51860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Relational DDL Commands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B610437-F4CC-0F4C-9B55-D1B832B67403}"/>
              </a:ext>
            </a:extLst>
          </p:cNvPr>
          <p:cNvSpPr/>
          <p:nvPr/>
        </p:nvSpPr>
        <p:spPr>
          <a:xfrm>
            <a:off x="3428311" y="3000407"/>
            <a:ext cx="401323" cy="471196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82268B-7E6B-424D-9636-68ADA476C292}"/>
              </a:ext>
            </a:extLst>
          </p:cNvPr>
          <p:cNvSpPr/>
          <p:nvPr/>
        </p:nvSpPr>
        <p:spPr>
          <a:xfrm>
            <a:off x="3911135" y="1727325"/>
            <a:ext cx="26154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CREATE TABLE </a:t>
            </a:r>
            <a:r>
              <a:rPr lang="en-US" sz="1000" dirty="0">
                <a:solidFill>
                  <a:schemeClr val="accent2"/>
                </a:solidFill>
              </a:rPr>
              <a:t>Course</a:t>
            </a:r>
            <a:r>
              <a:rPr lang="en-US" sz="1000" dirty="0"/>
              <a:t> </a:t>
            </a:r>
          </a:p>
          <a:p>
            <a:r>
              <a:rPr lang="en-US" sz="1000" dirty="0"/>
              <a:t>(</a:t>
            </a:r>
            <a:r>
              <a:rPr lang="en-US" sz="1000" dirty="0" err="1"/>
              <a:t>CourseNum</a:t>
            </a:r>
            <a:r>
              <a:rPr lang="en-US" sz="1000" dirty="0"/>
              <a:t> INTEGER PRIMARY KEY,</a:t>
            </a:r>
          </a:p>
          <a:p>
            <a:r>
              <a:rPr lang="en-US" sz="1000" dirty="0"/>
              <a:t>  </a:t>
            </a:r>
            <a:r>
              <a:rPr lang="en-US" sz="1000" dirty="0" err="1"/>
              <a:t>CourseName</a:t>
            </a:r>
            <a:r>
              <a:rPr lang="en-US" sz="1000" dirty="0"/>
              <a:t> CHAR(50));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13D5EF-22B3-C346-88F8-BA5608084C5A}"/>
              </a:ext>
            </a:extLst>
          </p:cNvPr>
          <p:cNvSpPr/>
          <p:nvPr/>
        </p:nvSpPr>
        <p:spPr>
          <a:xfrm>
            <a:off x="3920610" y="2289752"/>
            <a:ext cx="24704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CREATE TABLE </a:t>
            </a:r>
            <a:r>
              <a:rPr lang="en-US" sz="1000" dirty="0">
                <a:solidFill>
                  <a:schemeClr val="accent2"/>
                </a:solidFill>
              </a:rPr>
              <a:t>Professor</a:t>
            </a:r>
          </a:p>
          <a:p>
            <a:r>
              <a:rPr lang="en-US" sz="1000" dirty="0"/>
              <a:t>(</a:t>
            </a:r>
            <a:r>
              <a:rPr lang="en-US" sz="1000" dirty="0" err="1"/>
              <a:t>ProfNum</a:t>
            </a:r>
            <a:r>
              <a:rPr lang="en-US" sz="1000" dirty="0"/>
              <a:t> INTEGER PRIMARY KEY,</a:t>
            </a:r>
          </a:p>
          <a:p>
            <a:r>
              <a:rPr lang="en-US" sz="1000" dirty="0"/>
              <a:t>  </a:t>
            </a:r>
            <a:r>
              <a:rPr lang="en-US" sz="1000" dirty="0" err="1"/>
              <a:t>ProfName</a:t>
            </a:r>
            <a:r>
              <a:rPr lang="en-US" sz="1000" dirty="0"/>
              <a:t> CHAR(50));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882711-9CCA-B248-AB70-7EC3C3DDE481}"/>
              </a:ext>
            </a:extLst>
          </p:cNvPr>
          <p:cNvSpPr/>
          <p:nvPr/>
        </p:nvSpPr>
        <p:spPr>
          <a:xfrm>
            <a:off x="6269037" y="1727324"/>
            <a:ext cx="2470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CREATE TABLE </a:t>
            </a:r>
            <a:r>
              <a:rPr lang="en-US" sz="1000" dirty="0">
                <a:solidFill>
                  <a:schemeClr val="accent2"/>
                </a:solidFill>
              </a:rPr>
              <a:t>Student</a:t>
            </a:r>
          </a:p>
          <a:p>
            <a:r>
              <a:rPr lang="en-US" sz="1000" dirty="0"/>
              <a:t>(</a:t>
            </a:r>
            <a:r>
              <a:rPr lang="en-US" sz="1000" dirty="0" err="1"/>
              <a:t>StudentNum</a:t>
            </a:r>
            <a:r>
              <a:rPr lang="en-US" sz="1000" dirty="0"/>
              <a:t> INTEGER PRIMARY KEY,</a:t>
            </a:r>
          </a:p>
          <a:p>
            <a:r>
              <a:rPr lang="en-US" sz="1000" dirty="0" err="1"/>
              <a:t>StudentName</a:t>
            </a:r>
            <a:r>
              <a:rPr lang="en-US" sz="1000" dirty="0"/>
              <a:t> CHAR(50),</a:t>
            </a:r>
          </a:p>
          <a:p>
            <a:r>
              <a:rPr lang="en-US" sz="1000" dirty="0"/>
              <a:t>GPA FLOAT);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C69358-DA62-274B-915F-189F5809A3CE}"/>
              </a:ext>
            </a:extLst>
          </p:cNvPr>
          <p:cNvSpPr/>
          <p:nvPr/>
        </p:nvSpPr>
        <p:spPr>
          <a:xfrm>
            <a:off x="3920610" y="2835913"/>
            <a:ext cx="4572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CREATE TABLE </a:t>
            </a:r>
            <a:r>
              <a:rPr lang="en-US" sz="1000" dirty="0">
                <a:solidFill>
                  <a:schemeClr val="accent2"/>
                </a:solidFill>
              </a:rPr>
              <a:t>Section</a:t>
            </a:r>
            <a:br>
              <a:rPr lang="en-US" sz="1000" dirty="0"/>
            </a:br>
            <a:r>
              <a:rPr lang="en-US" sz="1000" dirty="0"/>
              <a:t>(</a:t>
            </a:r>
            <a:r>
              <a:rPr lang="en-US" sz="1000" dirty="0" err="1"/>
              <a:t>CourseNum</a:t>
            </a:r>
            <a:r>
              <a:rPr lang="en-US" sz="1000" dirty="0"/>
              <a:t> INTEGER  NOT NULL REFERENCES Course(</a:t>
            </a:r>
            <a:r>
              <a:rPr lang="en-US" sz="1000" dirty="0" err="1"/>
              <a:t>CourseNum</a:t>
            </a:r>
            <a:r>
              <a:rPr lang="en-US" sz="1000" dirty="0"/>
              <a:t>),</a:t>
            </a:r>
          </a:p>
          <a:p>
            <a:r>
              <a:rPr lang="en-US" sz="1000" dirty="0" err="1"/>
              <a:t>SectionNum</a:t>
            </a:r>
            <a:r>
              <a:rPr lang="en-US" sz="1000" dirty="0"/>
              <a:t> INTEGER  NOT NULL, </a:t>
            </a:r>
          </a:p>
          <a:p>
            <a:r>
              <a:rPr lang="en-US" sz="1000" dirty="0"/>
              <a:t>Term INTEGER  NOT NULL,</a:t>
            </a:r>
          </a:p>
          <a:p>
            <a:r>
              <a:rPr lang="en-US" sz="1000" dirty="0"/>
              <a:t>PRIMARY KEY(</a:t>
            </a:r>
            <a:r>
              <a:rPr lang="en-US" sz="1000" dirty="0" err="1"/>
              <a:t>CourseNum</a:t>
            </a:r>
            <a:r>
              <a:rPr lang="en-US" sz="1000" dirty="0"/>
              <a:t>, </a:t>
            </a:r>
            <a:r>
              <a:rPr lang="en-US" sz="1000" dirty="0" err="1"/>
              <a:t>SectionNum</a:t>
            </a:r>
            <a:r>
              <a:rPr lang="en-US" sz="1000" dirty="0"/>
              <a:t>, Term), </a:t>
            </a:r>
          </a:p>
          <a:p>
            <a:r>
              <a:rPr lang="en-US" sz="1000" dirty="0" err="1"/>
              <a:t>ProfNum</a:t>
            </a:r>
            <a:r>
              <a:rPr lang="en-US" sz="1000" dirty="0"/>
              <a:t> INTEGER NOT NULL REFERENCES Professor(</a:t>
            </a:r>
            <a:r>
              <a:rPr lang="en-US" sz="1000" dirty="0" err="1"/>
              <a:t>ProfNum</a:t>
            </a:r>
            <a:r>
              <a:rPr lang="en-US" sz="1000" dirty="0"/>
              <a:t>));</a:t>
            </a:r>
          </a:p>
          <a:p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9ACCC5-0732-FF43-830C-3274CCB9F2AD}"/>
              </a:ext>
            </a:extLst>
          </p:cNvPr>
          <p:cNvSpPr/>
          <p:nvPr/>
        </p:nvSpPr>
        <p:spPr>
          <a:xfrm>
            <a:off x="3920610" y="3821391"/>
            <a:ext cx="449295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CREATE TABLE </a:t>
            </a:r>
            <a:r>
              <a:rPr lang="en-US" sz="1000" dirty="0">
                <a:solidFill>
                  <a:schemeClr val="accent2"/>
                </a:solidFill>
              </a:rPr>
              <a:t>Off-</a:t>
            </a:r>
            <a:r>
              <a:rPr lang="en-US" sz="1000" dirty="0" err="1">
                <a:solidFill>
                  <a:schemeClr val="accent2"/>
                </a:solidFill>
              </a:rPr>
              <a:t>SiteSection</a:t>
            </a:r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000" dirty="0"/>
              <a:t>(</a:t>
            </a:r>
            <a:r>
              <a:rPr lang="en-US" sz="1000" dirty="0" err="1"/>
              <a:t>CourseNum</a:t>
            </a:r>
            <a:r>
              <a:rPr lang="en-US" sz="1000" dirty="0"/>
              <a:t> INTEGER  NOT NULL,</a:t>
            </a:r>
          </a:p>
          <a:p>
            <a:r>
              <a:rPr lang="en-US" sz="1000" dirty="0" err="1"/>
              <a:t>SectionNum</a:t>
            </a:r>
            <a:r>
              <a:rPr lang="en-US" sz="1000" dirty="0"/>
              <a:t> INTEGER NOT NULL, </a:t>
            </a:r>
          </a:p>
          <a:p>
            <a:r>
              <a:rPr lang="en-US" sz="1000" dirty="0"/>
              <a:t>Term INTEGER NOT NULL,</a:t>
            </a:r>
          </a:p>
          <a:p>
            <a:r>
              <a:rPr lang="en-US" sz="1000" dirty="0"/>
              <a:t>FOREIGN KEY(</a:t>
            </a:r>
            <a:r>
              <a:rPr lang="en-US" sz="1000" dirty="0" err="1"/>
              <a:t>CouseNum,SectionNum,Term</a:t>
            </a:r>
            <a:r>
              <a:rPr lang="en-US" sz="1000" dirty="0"/>
              <a:t>) REFERENCES  </a:t>
            </a:r>
            <a:br>
              <a:rPr lang="en-US" sz="1000" dirty="0"/>
            </a:br>
            <a:r>
              <a:rPr lang="en-US" sz="1000" dirty="0"/>
              <a:t>                                     Section(</a:t>
            </a:r>
            <a:r>
              <a:rPr lang="en-US" sz="1000" dirty="0" err="1"/>
              <a:t>CouseNum,SectionNum,Term</a:t>
            </a:r>
            <a:r>
              <a:rPr lang="en-US" sz="1000" dirty="0"/>
              <a:t>),</a:t>
            </a:r>
          </a:p>
          <a:p>
            <a:r>
              <a:rPr lang="en-US" sz="1000" dirty="0"/>
              <a:t>Location CHAR(50));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26AB09-A609-3442-9FD7-071A2DFB5015}"/>
              </a:ext>
            </a:extLst>
          </p:cNvPr>
          <p:cNvSpPr/>
          <p:nvPr/>
        </p:nvSpPr>
        <p:spPr>
          <a:xfrm>
            <a:off x="3943937" y="5011695"/>
            <a:ext cx="46597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CREATE TABLE </a:t>
            </a:r>
            <a:r>
              <a:rPr lang="en-US" sz="1000" dirty="0" err="1">
                <a:solidFill>
                  <a:schemeClr val="accent2"/>
                </a:solidFill>
              </a:rPr>
              <a:t>EnrolledIn</a:t>
            </a:r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000" dirty="0"/>
              <a:t>(</a:t>
            </a:r>
            <a:r>
              <a:rPr lang="en-US" sz="1000" dirty="0" err="1"/>
              <a:t>CourseNum</a:t>
            </a:r>
            <a:r>
              <a:rPr lang="en-US" sz="1000" dirty="0"/>
              <a:t> INTEGER  NOT NULL,</a:t>
            </a:r>
          </a:p>
          <a:p>
            <a:r>
              <a:rPr lang="en-US" sz="1000" dirty="0" err="1"/>
              <a:t>SectionNum</a:t>
            </a:r>
            <a:r>
              <a:rPr lang="en-US" sz="1000" dirty="0"/>
              <a:t> INTEGER NOT NULL, </a:t>
            </a:r>
          </a:p>
          <a:p>
            <a:r>
              <a:rPr lang="en-US" sz="1000" dirty="0"/>
              <a:t>Term INTEGER NOT NULL,</a:t>
            </a:r>
          </a:p>
          <a:p>
            <a:r>
              <a:rPr lang="en-US" sz="1000" dirty="0" err="1"/>
              <a:t>StudentNum</a:t>
            </a:r>
            <a:r>
              <a:rPr lang="en-US" sz="1000" dirty="0"/>
              <a:t> INTEGER NOT NULL REFERENCES Student(</a:t>
            </a:r>
            <a:r>
              <a:rPr lang="en-US" sz="1000" dirty="0" err="1"/>
              <a:t>StudentNum</a:t>
            </a:r>
            <a:r>
              <a:rPr lang="en-US" sz="1000" dirty="0"/>
              <a:t>),</a:t>
            </a:r>
          </a:p>
          <a:p>
            <a:r>
              <a:rPr lang="en-US" sz="1000" dirty="0"/>
              <a:t>FOREIGN KEY(</a:t>
            </a:r>
            <a:r>
              <a:rPr lang="en-US" sz="1000" dirty="0" err="1"/>
              <a:t>CouseNum,SectionNum,Term</a:t>
            </a:r>
            <a:r>
              <a:rPr lang="en-US" sz="1000" dirty="0"/>
              <a:t>) REFERENCES  </a:t>
            </a:r>
            <a:br>
              <a:rPr lang="en-US" sz="1000" dirty="0"/>
            </a:br>
            <a:r>
              <a:rPr lang="en-US" sz="1000" dirty="0"/>
              <a:t>                                     Section(</a:t>
            </a:r>
            <a:r>
              <a:rPr lang="en-US" sz="1000" dirty="0" err="1"/>
              <a:t>CouseNum,SectionNum,Term</a:t>
            </a:r>
            <a:r>
              <a:rPr lang="en-US" sz="1000" dirty="0"/>
              <a:t>),</a:t>
            </a:r>
          </a:p>
          <a:p>
            <a:r>
              <a:rPr lang="en-US" sz="1000"/>
              <a:t>Primary </a:t>
            </a:r>
            <a:r>
              <a:rPr lang="en-US" sz="1000" dirty="0"/>
              <a:t>Key(</a:t>
            </a:r>
            <a:r>
              <a:rPr lang="en-US" sz="1000" dirty="0" err="1"/>
              <a:t>CouseNum,SectionNum,Term,StudentNum</a:t>
            </a:r>
            <a:r>
              <a:rPr lang="en-US" sz="1000" dirty="0"/>
              <a:t>),</a:t>
            </a:r>
          </a:p>
          <a:p>
            <a:r>
              <a:rPr lang="en-US" sz="1000" dirty="0"/>
              <a:t>Mark INTEGER);</a:t>
            </a:r>
          </a:p>
        </p:txBody>
      </p:sp>
    </p:spTree>
    <p:extLst>
      <p:ext uri="{BB962C8B-B14F-4D97-AF65-F5344CB8AC3E}">
        <p14:creationId xmlns:p14="http://schemas.microsoft.com/office/powerpoint/2010/main" val="4075252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2491-E6A4-45B3-A518-04BB9933E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7E7AC-A277-416C-8F6D-A81074479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Entity-Relationship (E/R) model</a:t>
            </a:r>
          </a:p>
          <a:p>
            <a:endParaRPr lang="en-CA" dirty="0"/>
          </a:p>
          <a:p>
            <a:r>
              <a:rPr lang="en-CA" dirty="0"/>
              <a:t>Translating E/R to relational schema </a:t>
            </a:r>
          </a:p>
          <a:p>
            <a:endParaRPr lang="en-CA" dirty="0"/>
          </a:p>
          <a:p>
            <a:r>
              <a:rPr lang="en-CA" dirty="0">
                <a:solidFill>
                  <a:schemeClr val="accent2"/>
                </a:solidFill>
              </a:rPr>
              <a:t>Next week: Relational design principles </a:t>
            </a:r>
          </a:p>
          <a:p>
            <a:pPr marL="457200" lvl="1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3146B-BC59-4366-9069-37588581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466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E44404-310B-4CB0-BF83-06C1F3EC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Clarifications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2006B2-67A9-4995-82EA-CEB0D075D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June 03,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AFAF2-7F43-40E4-9B9D-B5218B42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24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(slide 5) Translating relationship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relationship set translates to a table</a:t>
                </a:r>
              </a:p>
              <a:p>
                <a:pPr lvl="1"/>
                <a:r>
                  <a:rPr lang="en-US" dirty="0"/>
                  <a:t>Keys of connected entity sets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columns</a:t>
                </a:r>
              </a:p>
              <a:p>
                <a:pPr lvl="1"/>
                <a:r>
                  <a:rPr lang="en-US" dirty="0"/>
                  <a:t>Attributes of the relationship set (if any)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→</m:t>
                    </m:r>
                  </m:oMath>
                </a14:m>
                <a:r>
                  <a:rPr lang="en-US" dirty="0"/>
                  <a:t> columns</a:t>
                </a:r>
              </a:p>
              <a:p>
                <a:pPr lvl="1"/>
                <a:r>
                  <a:rPr lang="en-US" dirty="0"/>
                  <a:t>Multiplicity of the relationship set determines the key of the table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42" t="-1968" r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23</a:t>
            </a:fld>
            <a:endParaRPr lang="en-US"/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601342" y="3511200"/>
            <a:ext cx="8001000" cy="1066800"/>
            <a:chOff x="288" y="2112"/>
            <a:chExt cx="5040" cy="672"/>
          </a:xfrm>
        </p:grpSpPr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2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Users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600" y="2256"/>
              <a:ext cx="864" cy="3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Groups</a:t>
              </a: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4656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gid</a:t>
              </a:r>
              <a:endParaRPr lang="en-US" i="1" u="sng" dirty="0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4656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5" name="AutoShape 9"/>
            <p:cNvSpPr>
              <a:spLocks noChangeArrowheads="1"/>
            </p:cNvSpPr>
            <p:nvPr/>
          </p:nvSpPr>
          <p:spPr bwMode="auto">
            <a:xfrm>
              <a:off x="2352" y="2208"/>
              <a:ext cx="960" cy="480"/>
            </a:xfrm>
            <a:prstGeom prst="flowChartDecision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>
                  <a:solidFill>
                    <a:schemeClr val="accent2"/>
                  </a:solidFill>
                </a:rPr>
                <a:t>IsMemberOf</a:t>
              </a:r>
              <a:endParaRPr lang="en-US" i="1" dirty="0">
                <a:solidFill>
                  <a:schemeClr val="accent2"/>
                </a:solidFill>
              </a:endParaRP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288" y="2112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u="sng" dirty="0" err="1"/>
                <a:t>uid</a:t>
              </a:r>
              <a:endParaRPr lang="en-US" i="1" u="sng" dirty="0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288" y="2496"/>
              <a:ext cx="672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/>
                <a:t>name</a:t>
              </a: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960" y="225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 flipH="1">
              <a:off x="960" y="2496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2064" y="2448"/>
              <a:ext cx="28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>
              <a:off x="3312" y="2448"/>
              <a:ext cx="288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 flipV="1">
              <a:off x="4464" y="225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4464" y="2496"/>
              <a:ext cx="192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34"/>
          <p:cNvGrpSpPr>
            <a:grpSpLocks/>
          </p:cNvGrpSpPr>
          <p:nvPr/>
        </p:nvGrpSpPr>
        <p:grpSpPr bwMode="auto">
          <a:xfrm>
            <a:off x="4106542" y="4425600"/>
            <a:ext cx="1066800" cy="609600"/>
            <a:chOff x="2496" y="1872"/>
            <a:chExt cx="672" cy="384"/>
          </a:xfrm>
        </p:grpSpPr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2496" y="1968"/>
              <a:ext cx="672" cy="288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buFont typeface="Wingdings" pitchFamily="2" charset="2"/>
                <a:buNone/>
              </a:pPr>
              <a:r>
                <a:rPr lang="en-US" i="1" dirty="0" err="1">
                  <a:solidFill>
                    <a:schemeClr val="accent2"/>
                  </a:solidFill>
                </a:rPr>
                <a:t>fromDate</a:t>
              </a:r>
              <a:endParaRPr lang="en-US" i="1" dirty="0">
                <a:solidFill>
                  <a:schemeClr val="accent2"/>
                </a:solidFill>
              </a:endParaRPr>
            </a:p>
          </p:txBody>
        </p:sp>
        <p:sp>
          <p:nvSpPr>
            <p:cNvPr id="26" name="Line 32"/>
            <p:cNvSpPr>
              <a:spLocks noChangeShapeType="1"/>
            </p:cNvSpPr>
            <p:nvPr/>
          </p:nvSpPr>
          <p:spPr bwMode="auto">
            <a:xfrm>
              <a:off x="2832" y="1872"/>
              <a:ext cx="0" cy="9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2829823" y="5032087"/>
            <a:ext cx="3826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accent2"/>
                </a:solidFill>
              </a:rPr>
              <a:t>Member 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en-US" sz="2400" i="1" u="sng" dirty="0" err="1">
                <a:solidFill>
                  <a:schemeClr val="accent2"/>
                </a:solidFill>
              </a:rPr>
              <a:t>uid</a:t>
            </a:r>
            <a:r>
              <a:rPr lang="en-US" sz="2400" dirty="0">
                <a:solidFill>
                  <a:schemeClr val="accent2"/>
                </a:solidFill>
              </a:rPr>
              <a:t>, </a:t>
            </a:r>
            <a:r>
              <a:rPr lang="en-US" sz="2400" i="1" u="sng" dirty="0" err="1">
                <a:solidFill>
                  <a:schemeClr val="accent2"/>
                </a:solidFill>
              </a:rPr>
              <a:t>gid</a:t>
            </a:r>
            <a:r>
              <a:rPr lang="en-US" sz="2400" dirty="0">
                <a:solidFill>
                  <a:schemeClr val="accent2"/>
                </a:solidFill>
              </a:rPr>
              <a:t>, </a:t>
            </a:r>
            <a:r>
              <a:rPr lang="en-US" sz="2400" i="1" dirty="0" err="1">
                <a:solidFill>
                  <a:schemeClr val="accent2"/>
                </a:solidFill>
              </a:rPr>
              <a:t>fromDate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679ACE-1594-43C7-BBC2-F76C8956BAEC}"/>
              </a:ext>
            </a:extLst>
          </p:cNvPr>
          <p:cNvSpPr txBox="1"/>
          <p:nvPr/>
        </p:nvSpPr>
        <p:spPr>
          <a:xfrm>
            <a:off x="501468" y="5551019"/>
            <a:ext cx="8461378" cy="10156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If we can deduce the general cardinality constraint (0,1) for a component entity set E, then take the primary key attributes for 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</a:rPr>
              <a:t>Otherwise, choose primary key attributes of each component entity</a:t>
            </a:r>
            <a:endParaRPr lang="en-CA" sz="20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1396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FB4D-0DF0-F44E-8CF8-4EFB39C8A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aggregation </a:t>
            </a:r>
          </a:p>
          <a:p>
            <a:pPr lvl="1"/>
            <a:r>
              <a:rPr lang="en-CA" sz="2000" dirty="0"/>
              <a:t>Tabular representation of aggregation of </a:t>
            </a:r>
            <a:r>
              <a:rPr lang="en-CA" sz="2000" i="1" dirty="0"/>
              <a:t>R =</a:t>
            </a:r>
            <a:br>
              <a:rPr lang="en-CA" sz="2000" i="1" dirty="0"/>
            </a:br>
            <a:r>
              <a:rPr lang="en-CA" sz="2000" dirty="0"/>
              <a:t>tabular representation for relationship set </a:t>
            </a:r>
            <a:r>
              <a:rPr lang="en-CA" sz="2000" i="1" dirty="0"/>
              <a:t>R </a:t>
            </a:r>
            <a:endParaRPr lang="en-CA" sz="2000" dirty="0"/>
          </a:p>
          <a:p>
            <a:pPr lvl="1"/>
            <a:r>
              <a:rPr lang="en-CA" sz="2000" dirty="0"/>
              <a:t>To represent relationship set involving aggregation of </a:t>
            </a:r>
            <a:r>
              <a:rPr lang="en-CA" sz="2000" i="1" dirty="0"/>
              <a:t>R</a:t>
            </a:r>
            <a:r>
              <a:rPr lang="en-CA" sz="2000" dirty="0"/>
              <a:t>, treat the aggregation like an entity set whose primary key is the primary key of the table for </a:t>
            </a:r>
            <a:r>
              <a:rPr lang="en-CA" sz="2000" i="1" dirty="0"/>
              <a:t>R </a:t>
            </a:r>
            <a:endParaRPr lang="en-CA" sz="2000" dirty="0"/>
          </a:p>
          <a:p>
            <a:pPr lvl="1"/>
            <a:endParaRPr lang="en-US" dirty="0"/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lvl="1"/>
            <a:endParaRPr lang="en-US" i="1" dirty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23EE8-6FDD-8944-9D83-3EDADD00C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500" y="3259152"/>
            <a:ext cx="3947700" cy="2323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64CB97-BB7A-7942-A778-D6A68987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(Slide 17) More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C939E-8A60-6E4A-ADD4-FE9137D8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982EB3-36C7-7F4F-A712-625FBE2D5CB0}"/>
              </a:ext>
            </a:extLst>
          </p:cNvPr>
          <p:cNvSpPr/>
          <p:nvPr/>
        </p:nvSpPr>
        <p:spPr>
          <a:xfrm>
            <a:off x="462855" y="5265760"/>
            <a:ext cx="77226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i="1" dirty="0" err="1">
                <a:solidFill>
                  <a:schemeClr val="accent5"/>
                </a:solidFill>
              </a:rPr>
              <a:t>EnrolledIn</a:t>
            </a:r>
            <a:r>
              <a:rPr lang="en-US" sz="2000" i="1" dirty="0">
                <a:solidFill>
                  <a:schemeClr val="accent5"/>
                </a:solidFill>
              </a:rPr>
              <a:t>(</a:t>
            </a:r>
            <a:r>
              <a:rPr lang="en-US" sz="2000" i="1" u="sng" dirty="0" err="1">
                <a:solidFill>
                  <a:schemeClr val="accent5"/>
                </a:solidFill>
              </a:rPr>
              <a:t>StudentNum,CouseNum</a:t>
            </a:r>
            <a:r>
              <a:rPr lang="en-US" sz="2000" i="1" dirty="0">
                <a:solidFill>
                  <a:schemeClr val="accent5"/>
                </a:solidFill>
              </a:rPr>
              <a:t>)</a:t>
            </a:r>
            <a:endParaRPr lang="en-US" sz="20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047CC-06DF-45A3-BD60-6E827A2D0E46}"/>
              </a:ext>
            </a:extLst>
          </p:cNvPr>
          <p:cNvSpPr txBox="1"/>
          <p:nvPr/>
        </p:nvSpPr>
        <p:spPr>
          <a:xfrm>
            <a:off x="946728" y="4268868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accent5"/>
                </a:solidFill>
              </a:rPr>
              <a:t>Student (</a:t>
            </a:r>
            <a:r>
              <a:rPr lang="en-US" sz="2000" i="1" u="sng" dirty="0" err="1">
                <a:solidFill>
                  <a:schemeClr val="accent5"/>
                </a:solidFill>
              </a:rPr>
              <a:t>StudentNum</a:t>
            </a:r>
            <a:r>
              <a:rPr lang="en-US" sz="2000" i="1" dirty="0">
                <a:solidFill>
                  <a:schemeClr val="accent5"/>
                </a:solidFill>
              </a:rPr>
              <a:t>)</a:t>
            </a:r>
            <a:br>
              <a:rPr lang="en-US" sz="2000" i="1" dirty="0">
                <a:solidFill>
                  <a:schemeClr val="accent5"/>
                </a:solidFill>
              </a:rPr>
            </a:br>
            <a:r>
              <a:rPr lang="en-US" sz="2000" i="1" dirty="0">
                <a:solidFill>
                  <a:schemeClr val="accent5"/>
                </a:solidFill>
              </a:rPr>
              <a:t>Couse(</a:t>
            </a:r>
            <a:r>
              <a:rPr lang="en-US" sz="2000" i="1" u="sng" dirty="0" err="1">
                <a:solidFill>
                  <a:schemeClr val="accent5"/>
                </a:solidFill>
              </a:rPr>
              <a:t>CourseNum</a:t>
            </a:r>
            <a:r>
              <a:rPr lang="en-US" sz="2000" i="1" dirty="0">
                <a:solidFill>
                  <a:schemeClr val="accent5"/>
                </a:solidFill>
              </a:rPr>
              <a:t>)</a:t>
            </a:r>
            <a:br>
              <a:rPr lang="en-US" sz="2000" i="1" dirty="0">
                <a:solidFill>
                  <a:schemeClr val="accent5"/>
                </a:solidFill>
              </a:rPr>
            </a:br>
            <a:r>
              <a:rPr lang="en-US" sz="2000" i="1" dirty="0">
                <a:solidFill>
                  <a:schemeClr val="accent5"/>
                </a:solidFill>
              </a:rPr>
              <a:t>Account(</a:t>
            </a:r>
            <a:r>
              <a:rPr lang="en-US" sz="2000" i="1" u="sng" dirty="0" err="1">
                <a:solidFill>
                  <a:schemeClr val="accent5"/>
                </a:solidFill>
              </a:rPr>
              <a:t>UserID</a:t>
            </a:r>
            <a:r>
              <a:rPr lang="en-US" sz="2000" i="1" dirty="0">
                <a:solidFill>
                  <a:schemeClr val="accent5"/>
                </a:solidFill>
              </a:rPr>
              <a:t>)</a:t>
            </a:r>
            <a:endParaRPr lang="en-CA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6DF010-E479-41A1-93CD-48FDD18357AA}"/>
              </a:ext>
            </a:extLst>
          </p:cNvPr>
          <p:cNvSpPr txBox="1"/>
          <p:nvPr/>
        </p:nvSpPr>
        <p:spPr>
          <a:xfrm>
            <a:off x="449431" y="5641289"/>
            <a:ext cx="84174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i="1" dirty="0" err="1">
                <a:solidFill>
                  <a:schemeClr val="accent5"/>
                </a:solidFill>
              </a:rPr>
              <a:t>CouseAccount</a:t>
            </a:r>
            <a:r>
              <a:rPr lang="en-US" sz="2000" i="1" dirty="0">
                <a:solidFill>
                  <a:schemeClr val="accent5"/>
                </a:solidFill>
              </a:rPr>
              <a:t>(</a:t>
            </a:r>
            <a:r>
              <a:rPr lang="en-US" sz="2000" i="1" u="sng" dirty="0" err="1">
                <a:solidFill>
                  <a:schemeClr val="accent5"/>
                </a:solidFill>
              </a:rPr>
              <a:t>UserId</a:t>
            </a:r>
            <a:r>
              <a:rPr lang="en-US" sz="2000" i="1" dirty="0">
                <a:solidFill>
                  <a:schemeClr val="accent5"/>
                </a:solidFill>
              </a:rPr>
              <a:t>, </a:t>
            </a:r>
            <a:r>
              <a:rPr lang="en-US" sz="2000" i="1" dirty="0" err="1">
                <a:solidFill>
                  <a:schemeClr val="accent5"/>
                </a:solidFill>
              </a:rPr>
              <a:t>StudentNum</a:t>
            </a:r>
            <a:r>
              <a:rPr lang="en-US" sz="2000" i="1" dirty="0">
                <a:solidFill>
                  <a:schemeClr val="accent5"/>
                </a:solidFill>
              </a:rPr>
              <a:t>, </a:t>
            </a:r>
            <a:r>
              <a:rPr lang="en-US" sz="2000" i="1" dirty="0" err="1">
                <a:solidFill>
                  <a:schemeClr val="accent5"/>
                </a:solidFill>
              </a:rPr>
              <a:t>CourseNum</a:t>
            </a:r>
            <a:r>
              <a:rPr lang="en-US" sz="2000" i="1" dirty="0">
                <a:solidFill>
                  <a:schemeClr val="accent5"/>
                </a:solidFill>
              </a:rPr>
              <a:t>, ExpirationDate)</a:t>
            </a:r>
            <a:endParaRPr lang="en-US" sz="2000" i="1" dirty="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0FCF5D62-ACDC-4B75-B5DB-FCF7CECF84F9}"/>
              </a:ext>
            </a:extLst>
          </p:cNvPr>
          <p:cNvSpPr/>
          <p:nvPr/>
        </p:nvSpPr>
        <p:spPr>
          <a:xfrm>
            <a:off x="5421745" y="4608945"/>
            <a:ext cx="1219200" cy="400110"/>
          </a:xfrm>
          <a:prstGeom prst="diamond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94AFD-9192-4480-A3AC-B4D96414116B}"/>
              </a:ext>
            </a:extLst>
          </p:cNvPr>
          <p:cNvSpPr/>
          <p:nvPr/>
        </p:nvSpPr>
        <p:spPr>
          <a:xfrm>
            <a:off x="4164565" y="3796145"/>
            <a:ext cx="3704818" cy="55609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BB2728-20A1-42B2-B952-0A943A1E9DC9}"/>
              </a:ext>
            </a:extLst>
          </p:cNvPr>
          <p:cNvSpPr/>
          <p:nvPr/>
        </p:nvSpPr>
        <p:spPr>
          <a:xfrm>
            <a:off x="5645963" y="5284531"/>
            <a:ext cx="754837" cy="24222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0421CC76-8BE8-48F1-8F9D-6FA312211816}"/>
              </a:ext>
            </a:extLst>
          </p:cNvPr>
          <p:cNvSpPr/>
          <p:nvPr/>
        </p:nvSpPr>
        <p:spPr>
          <a:xfrm>
            <a:off x="2956560" y="6041399"/>
            <a:ext cx="5088640" cy="680077"/>
          </a:xfrm>
          <a:prstGeom prst="wedgeRectCallout">
            <a:avLst>
              <a:gd name="adj1" fmla="val -46842"/>
              <a:gd name="adj2" fmla="val -6598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One-to-one relationships </a:t>
            </a:r>
            <a:r>
              <a:rPr lang="en-CA" dirty="0">
                <a:sym typeface="Wingdings" panose="05000000000000000000" pitchFamily="2" charset="2"/>
              </a:rPr>
              <a:t> We can simply take </a:t>
            </a:r>
            <a:r>
              <a:rPr lang="en-CA" dirty="0" err="1">
                <a:sym typeface="Wingdings" panose="05000000000000000000" pitchFamily="2" charset="2"/>
              </a:rPr>
              <a:t>UserId</a:t>
            </a:r>
            <a:r>
              <a:rPr lang="en-CA" dirty="0">
                <a:sym typeface="Wingdings" panose="05000000000000000000" pitchFamily="2" charset="2"/>
              </a:rPr>
              <a:t>   or (</a:t>
            </a:r>
            <a:r>
              <a:rPr lang="en-CA" dirty="0" err="1">
                <a:sym typeface="Wingdings" panose="05000000000000000000" pitchFamily="2" charset="2"/>
              </a:rPr>
              <a:t>StudentNum</a:t>
            </a:r>
            <a:r>
              <a:rPr lang="en-CA" dirty="0">
                <a:sym typeface="Wingdings" panose="05000000000000000000" pitchFamily="2" charset="2"/>
              </a:rPr>
              <a:t>, </a:t>
            </a:r>
            <a:r>
              <a:rPr lang="en-CA" dirty="0" err="1">
                <a:sym typeface="Wingdings" panose="05000000000000000000" pitchFamily="2" charset="2"/>
              </a:rPr>
              <a:t>CourseNum</a:t>
            </a:r>
            <a:r>
              <a:rPr lang="en-CA" dirty="0">
                <a:sym typeface="Wingdings" panose="05000000000000000000" pitchFamily="2" charset="2"/>
              </a:rPr>
              <a:t>) as the </a:t>
            </a:r>
            <a:r>
              <a:rPr lang="en-CA" dirty="0" err="1">
                <a:sym typeface="Wingdings" panose="05000000000000000000" pitchFamily="2" charset="2"/>
              </a:rPr>
              <a:t>eky</a:t>
            </a:r>
            <a:r>
              <a:rPr lang="en-CA" dirty="0">
                <a:sym typeface="Wingdings" panose="05000000000000000000" pitchFamily="2" charset="2"/>
              </a:rPr>
              <a:t> 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84520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12.6|1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6|1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16.7|25.7|16.4|1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5|16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|21.2|9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6|21.1|6.4|13.8|16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9|11.6|9|5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18.5|23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25.7|6.7|12.7|27|13.8|21.2|6.3|23.5|9.2|2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16.2|1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1|10|12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6.2|8.5|10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6.7|6.8|18.2|18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2|14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5|16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6.7|6.8|18.2|18.8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1715</Words>
  <Application>Microsoft Office PowerPoint</Application>
  <PresentationFormat>On-screen Show (4:3)</PresentationFormat>
  <Paragraphs>429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Prestige12 BT</vt:lpstr>
      <vt:lpstr>Arial</vt:lpstr>
      <vt:lpstr>Calibri</vt:lpstr>
      <vt:lpstr>Cambria Math</vt:lpstr>
      <vt:lpstr>Candara</vt:lpstr>
      <vt:lpstr>Wingdings</vt:lpstr>
      <vt:lpstr>Office Theme</vt:lpstr>
      <vt:lpstr>Relational Database Design:  E/R-Relational Translation</vt:lpstr>
      <vt:lpstr>E/R Model</vt:lpstr>
      <vt:lpstr>Translating entity sets</vt:lpstr>
      <vt:lpstr>Translating weak entity sets</vt:lpstr>
      <vt:lpstr>Translating relationship sets</vt:lpstr>
      <vt:lpstr>More examples</vt:lpstr>
      <vt:lpstr>Translating double diamonds?</vt:lpstr>
      <vt:lpstr>Translating subclasses &amp; ISA: approach 1</vt:lpstr>
      <vt:lpstr>Translating subclasses &amp; ISA: approach 2</vt:lpstr>
      <vt:lpstr>Translating subclasses &amp; ISA: approach 3</vt:lpstr>
      <vt:lpstr>Comparison of three approaches</vt:lpstr>
      <vt:lpstr>A complete example</vt:lpstr>
      <vt:lpstr>A complete example</vt:lpstr>
      <vt:lpstr>Simplifications and refinements</vt:lpstr>
      <vt:lpstr>An alternative design</vt:lpstr>
      <vt:lpstr>Design principles</vt:lpstr>
      <vt:lpstr>More examples</vt:lpstr>
      <vt:lpstr>More examples (Exercise)</vt:lpstr>
      <vt:lpstr>More examples</vt:lpstr>
      <vt:lpstr>More examples </vt:lpstr>
      <vt:lpstr>Database Design</vt:lpstr>
      <vt:lpstr>Clarifications</vt:lpstr>
      <vt:lpstr>(slide 5) Translating relationship sets</vt:lpstr>
      <vt:lpstr>(Slide 17) More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2021-07-27T02:21:40Z</dcterms:created>
  <dcterms:modified xsi:type="dcterms:W3CDTF">2021-07-27T02:21:48Z</dcterms:modified>
</cp:coreProperties>
</file>